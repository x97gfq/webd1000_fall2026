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Last class we styled the Harbourside page from scratch: selectors, colour, fonts, the box model and the cascade.
Today has two halves. First, some more powerful selectors, so we can pick out exactly the element we want (and play a quick game). Then the fun part: CSS animation. By the end of class, everyone will have a page full of rolling balls, spinning pinwheels and pulsing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attendance. While you do, have students git pull and open the 06_Selectors_and_Animation folder in VS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 plan: 5 min intro, about 35 min of selectors (five quick examples and a game), about 30 min on animation concepts with demos, then about 40 min in the Animation Playground, and 10 min of show and tell at the end.
The selector half is quicker and lighter than last class: no Try Its, just examples to open and poke at in DevTools. Save the energy for the playground.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01–05 are selectors, 06–12 are animation. Every example is a single file with its CSS in a &lt;style&gt; block, so students can open one and change things straight away.
The activity folder has two CSS files. stage.css draws the stages and objects (they shouldn't need to touch it). style.css is theirs, with a heading for each challenge.
Ask students not to open activity/answer until they're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class's selectors (element, .class, #id, groups and descendants) get you a long way. Today's selectors let you pick things out without adding a class to every element: the third row of a table, every link to a PDF, the paragraph right after a heading.
The pace here is quick: one example per selector family, then the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next five slides. Each family has a symbol to look for.
: (one colon) = a pseudo-class. It matches an element in a certain state or position.
[ ] = an attribute selector. It matches by what's inside the HTML tag.
&gt; + ~ = combinators. They match by how elements are related in the HTML.
:: (two colons) = a pseudo-element. It styles a PART of an element, or adds content that isn't in the HTML at all.
You don't need to memorize them. You need to know they exist, so you can look them up (MDN is the best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01_pseudo_classes_example.html. Hover the links and buttons, click and hold a button (:active), then click in the page and press Tab. The orange outline follows the keyboard.
Accessibility: people who can't use a mouse move around with Tab. If the focus outline is removed (outline: none, sadly common), they have no idea where they are on the page. That fails WCAG 2.4.7 Focus Visible. :focus-visible only shows the outline for keyboard users, so mouse users don't see it on every click. Best of both.
Link order matters (the cascade again): :link, :visited, :hover, :active. Memory trick: LoVe HAte. If :hover comes before :visited, visited links never show their hover colour.
:visited is limited for privacy: browsers only let you change colours, so sites can't detect your browsing history.
DevTools: in Styles, the ':hov' button lets you force a state (hover, focus, active) so you can inspect it without holding the mouse still.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need a class in the HTML. The browser works out the position for you, so if you add a row to the table, the stripes still alternate correctly. With classes, you'd have to renumber every row by hand.
nth-child counts from 1, not 0 (unlike JavaScript arrays, which students will meet later).
'tr:first-child' targets the header row here because it's the first tr in the table. In a real table you'd use &lt;thead&gt; and &lt;th&gt; (Class 4's accessible table), but this shows the idea.
Try in class: change even to odd, then to 3n, and save. Ask: what would li:nth-child(2) pick?
:not() is handy with lists: 'li:not(:last-child)' adds a border between items but not after the last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read the HTML attributes we already write, so again, no extra classes.
Memory trick: ^ is the start of a line and $ is the end in 'regular expressions', which students will see again in programming courses. * means 'anywhere'.
Real uses: a little icon after every external link or PDF link (with ::after, coming up), styling form fields by type, and [aria-current="page"] to highlight the current page in the nav. Our Harbourside nav already has aria-current="page" on the Menu link from Class 4!
Why tell people a link is a PDF? It's an accessibility and usability point: a PDF can be big, and it opens differently from a web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Family-tree language: the article is the PARENT of the h2 and the two p's directly inside it. They're CHILDREN of the article and SIBLINGS of each other. The p inside the div is a grandchild (a descendant, but not a child).
Walk through the result:
- All three p's in the article are blue (descendant: any depth).
- Only the first two have the left border. The nested one is inside a div, so it isn't a direct child.
- 'Fresh lobster…' is big and bold: it comes straight after the h2.
- Both p's after the h3 are orange: ~ picks every later sibling, not just the next one.
VS Code tip: hover over any selector in a .css file and it shows a tiny HTML example of what it matches, and its specificity.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example and highlight some text with the mouse to see ::selection.
::before and ::after create a little 'fake' element inside the real one, at the start or end. Without the content property, nothing appears at all. That's the number one bug with these.
What to use them for: decoration. Badges, icons, quote marks, arrows on links. Don't put important information in them: some screen readers read the content, some don't, and it can't be selected or copied.
They're also how a lot of fancy CSS shapes and effects are made, with content: "" and a background colour.
One colon vs two: : is a state (pseudo-class), :: is a part (pseudo-element). Older code sometimes uses one colon for :before. Browsers still accept it, but two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a game: teams of 2–3, a minute or two per card (or all six at once with a 6-minute timer). Teams write their answers on paper or in a Teams chat, then reveal on the next slide. One point per correct selector, a bonus point for #6 if they also write the content line.
Answers (also on the next slide):
1. tr:nth-child(odd)
2. button:hover
3. a[href$=".docx"]
4. .menu &gt; li
5. h2 + p
6. .favourite::before { content: "★ "; }
Tiebreaker: 'Every button except .cancel' → button:not(.cancel)
Accept reasonable alternatives: e.g. #1 could be tr:nth-child(2n+1), and #2 could include :focus-visible too (a nice touch).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one and ask a team that got it right to explain it.
#6 needs the content property to actually show the star:
.favourite::before { content: "★ "; }
Tiebreaker answer: button:not(.cancel).
Celebrate the winning team, then move on to the fun part: animation.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Animation is the fun part of CSS, and it's used everywhere: buttons that react when you hover, loading spinners, things that fade in as the page loads.
The plan: first the transform property (how to move, spin and resize things), then transitions (a smooth change on hover), then @keyframes (animations that run on their own). Lots of demos, then the Animation Playground.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every animation uses transform. It moves, spins or resizes an element without changing the page layout: the other elements don't get pushed around, the element is just drawn somewhere else.
translate(x, y) moves. Positive x goes right, positive y goes DOWN (screen coordinates start at the top left, unlike in maths class).
rotate() spins, in degrees: 360deg is one full turn. Positive is clockwise.
scale() resizes: 1 is normal, 2 is double, 0.5 is half. scale(1.3, 0.7) stretches wide and squashes flat. That's how cartoon bounces are made.
Combine them in one transform, separated by spaces. Two transform declarations on the same element don't add up: the second replaces the first (the cascade again).
Why transform and not margin or width? The browser can animate transform and opacity very smoothly (on the graphics card). Animating margin, width or top makes the browser redo the whole page layout every frame, which can stutter.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06_transition_example.html and hover the card. Then comment out the transition line, save, and hover again: it snaps. That's the whole difference.
transition: [property] [duration] [timing];
'transition: all 0.3s' works too, but naming the properties is clearer and avoids surprises.
Where to put it: on the normal rule (.card), not on .card:hover. If it's only on the hover rule, it animates when you mouse over, but snaps back when you leave.
Good durations for UI: 0.15s to 0.4s. Longer feels sluggish.
This ties back to Selectors 1: transitions are what make :hover and :focus feel polished. Next: what if we want something to move all by itself, or with more than two steps? That's @keyframes.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steps, every time.
1. Describe the animation with @keyframes and give it a name. from = 0% (the start), to = 100% (the end). Inside each step, ordinary CSS declarations.
2. Play it: put the animation property on the element, using the same name and a duration.
Read it out loud: 'Slide the ball from 0 to 300 pixels, over 2 seconds, easing in and out, forever.'
Transition vs animation:
- A transition needs a trigger (hover, focus) and goes from A to B.
- An animation runs by itself as soon as the page loads, can have as many steps as you like (0%, 25%, 50%…), and can loop forever.
The name is yours to choose: lower case and hyphens, like a class name. The most common bug is a typo, so the name in animation doesn't match the name in @keyframes. CSS fails silently: nothing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07_ball_around_example.html and resize the browser while it runs: the ball still finds the corners, because the keyframes use vw and vh.
The pictures are the same page, paused at 0, 1, 2 and 3 seconds: the four corners. The colour changes too: you can animate colours as well as positions.
Why 'minus 80px'? translate moves the ball's top-left corner. If it moved the full 100vw, the ball would end up just past the right edge, out of sight.
Try in class (pick one or two):
- Change 4s to 1s. Whoa.
- Change linear to ease-in-out: now it pauses at every corner.
- Delete the 50% step: it cuts diagonally across the screen.
- Add a rotate: transform: translate(…) rotate(360deg) at 100%.
DevTools: More tools → Animations shows a timeline you can slow down to 10% and scrub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shorthand on the left is what we'll use most of the time. Every part has a long-hand property too, which is handy when you only want to change one thing (like Example 08, where only the timing function differs).
The order in the shorthand is flexible, with one rule: the first time value is the duration, and the second is the delay.
iteration-count: a number or infinite.
direction: alternate plays forwards then backwards (ping-pong). reverse plays backwards.
fill-mode: forwards keeps the last keyframe when the animation finishes, instead of jumping back to the start.
delay: a negative delay starts the animation part-way through, handy for making several copies out of step with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opening it: 'Six balls, same race, same 3 seconds. Which one wins?' Take bets. Then open 08_timing_race_example.html. Spoiler: it's always a tie. They all start and finish together.
The picture is paused at 1 second: ease-out (green) is way ahead because it starts fast; ease-in (purple) is still near the start.
When to use which:
- ease-out: things arriving on screen (a menu sliding in). Feels responsive.
- ease-in: things leaving, and things falling (gravity speeds them up).
- ease-in-out: things going back and forth.
- linear: spinning (so each turn joins smoothly onto the next) and constant motion like a car or conveyor belt.
- steps(): ticking clocks, sprite animations, typewriter effects.
ease is the default if you don't say anything.
Bonus: cubic-bezier.com lets you design your own curve, including ones that overshoot and bounce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09_bounce_example.html. This is the most 'real' looking of the demos, and it's because of two tricks animators have used since the first cartoons:
1. Timing. Real things speed up as they fall (ease-in) and slow down as they rise (ease-out). With linear, it looks robotic. Try it: change both to linear and watch.
2. Squash and stretch. For a split second at the bottom, the ball squashes flat. It's only 10% of the animation and you barely notice it, but delete the 50% step and it suddenly feels like a hard plastic ball.
transform-origin: center bottom means 'squash towards the floor'. Without it, the ball squashes towards its middle and floats above the floor for a moment.
Try: change 1.2s to 0.6s (a super ball) or 2.5s (on the moon).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10_morph_square_example.html.
The morph keyframes have no 0%, so the animation starts from the square's normal style: purple, square corners, no rotation. Halfway through it's a big blue circle. At 100% only transform is listed, so border-radius and colour go back to normal, and it has spun one full turn: rotate(360deg) looks exactly like the start, so the loop is seamless.
Try: change scale(1.5) to scale(0.2), or rotate(180deg) to rotate(720deg) at 50%. Swap ease-in-out for linear and see how the 'breathing' feel disappears.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11_car_example.html.
The .car element drives across the screen, from off the left edge (-200px) to off the right edge (100vw). Each wheel has its own spin animation, and because the wheels are inside the car, they turn AND travel with it.
position: relative / absolute is a sneak peek: it lets us put the roof, body and wheels exactly where we want them inside the car (left, bottom). We'll cover position properly with layout.
Try: make the drive 2s (faster) without changing the spin. It looks like the wheels are skidding! Real animators match the two speeds.
Challenge for fast finishers later: add a sun, a cloud that drifts slower than the car, or headlights with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12_real_world_example.html (reload to see the heading fade in).
prefers-reduced-motion: people with vestibular (inner-ear) disorders, migraines or some kinds of epilepsy can feel sick from big moving things. They switch animations off in their operating system: Windows Settings → Accessibility → Visual effects → Animation effects. The @media rule asks 'has this person turned motion off?' and if so, switches our animations off. It's WCAG 2.3.3.
Demo it: turn Animation effects off in Windows, then reload the example: nothing moves. Turn it back on.
IMPORTANT for the playground: if a student's animations don't work AT ALL, check that setting first. Some lab images have it turned off.
Flashing: WCAG 2.3.1 says nothing should flash more than 3 times per second. It can trigger seizures. So no strobing backgrounds, however fun it seems.
Good taste: animation should help the user (show something is loading, draw the eye to a sale) and not get in the way. If everything on a page moves, nothing stands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event, and it's meant to be fun and very doable. Four stages, each with an object that doesn't move yet. Each challenge gives students the full code to type, then asks them to change one thing and watch what happens.
Every challenge uses the same recipe: @keyframes with from and to, then an animation line. By the fourth one, it should feel easy. That's the point.
Fast finishers: the Bonus (Around the Block) uses percentages like Example 07, then 'Make it yours'.
Walk around and celebrate the first person to get each challenge working. The moment something first moves, people cheer.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one together, typing it live. Make sure everyone has a rolling ball before moving on.
Read it out loud: 'Roll from 0 to 540 pixels, over 2 seconds, forever.' Why 540? The stage is 600px wide and the ball is 60px wide, so 540 puts it right at the edge.
The usual problems:
- The name is spelled differently in the two places (roll vs Roll).
- No unit on the duration: '2' does nothing; it must be 2s.
- Nothing moves at all, anywhere, even in the examples: check Windows Settings → Accessibility → Visual effects → Animation effects is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shortest challenge, and a nice confidence boost.
Compare the two balls: Roll jumps back to the start at the end of each run. Ping-pong rolls back smoothly, because alternate plays the animation forwards, then backwards.
If anyone asks why it slows down at each end: that's the default timing function, ease. Try linear for a robotic ping-pong.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recipe, a new kind of move. Instead of translateX (move), it's rotate (spin).
The pinwheel trick: a box with width 0 and height 0, and a thick border in four different colours. The borders meet at the corners in diagonal lines, which makes four triangles. Show stage.css if anyone's curious.
linear vs ease: with ease (the default), the pinwheel slows down at the end of every turn and speeds up again, so it looks like it's stuttering. linear keeps it smooth.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core challenge. By now the recipe should feel familiar: keyframes with from and to, then an animation line.
New ideas: scale (resize), and changing two properties in the same keyframe. alternate again, so it grows and shrinks smoothly.
The border-radius suggestion turns the square into a circle at the big end. Students love it.
At this point everyone has four things moving on their page. Celebrate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anyone who finishes early, or as homework.
The bonus is Example 07 at playground size: 600 − 60 = 540 across, 200 − 60 = 140 down. Percentages are checkpoints along the way.
What to collect on Brightspace: their style.css, and a screenshot (or a short screen recording: Windows 11's Snipping Tool can record the screen). Anyone who has the four challenges moving has done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two or three students to put their page on the projector. Applaud generously!
Common bugs: the name doesn't match between animation and @keyframes, a missing s on the duration, and @keyframes typed inside another rule.
Real-world animation they've probably seen: loading spinners, the 'typing…' dots in chat apps, notification badges that pulse, buttons that change on hover, menus that slide in on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from the first half, in one place. It's in the README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from the second half, in one place. Students can keep this slide open while they finish the playground.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class: page layout. We've had sneak peeks of display and position today and last class; next time we look at them properly, then Flexbox for laying out navigation bars and menu cards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274320" y="274320"/>
            <a:ext cx="2743200" cy="365760"/>
          </a:xfrm>
          <a:prstGeom prst="rect">
            <a:avLst/>
          </a:prstGeom>
          <a:noFill/>
          <a:ln/>
        </p:spPr>
        <p:txBody>
          <a:bodyPr wrap="square" lIns="0" tIns="0" rIns="0" bIns="0" rtlCol="0" anchor="ctr"/>
          <a:lstStyle/>
          <a:p>
            <a:pPr indent="0" marL="0">
              <a:buNone/>
            </a:pPr>
            <a:r>
              <a:rPr lang="en-US" sz="1600" dirty="0">
                <a:solidFill>
                  <a:srgbClr val="000000"/>
                </a:solidFill>
                <a:latin typeface="Aptos" pitchFamily="34" charset="0"/>
                <a:ea typeface="Aptos" pitchFamily="34" charset="-122"/>
                <a:cs typeface="Aptos" pitchFamily="34" charset="-120"/>
              </a:rPr>
              <a:t>WEBD 1000</a:t>
            </a:r>
            <a:endParaRPr lang="en-US" sz="1600" dirty="0"/>
          </a:p>
        </p:txBody>
      </p:sp>
      <p:sp>
        <p:nvSpPr>
          <p:cNvPr id="3" name="Shape 1"/>
          <p:cNvSpPr/>
          <p:nvPr/>
        </p:nvSpPr>
        <p:spPr>
          <a:xfrm>
            <a:off x="502920" y="1005840"/>
            <a:ext cx="5120640" cy="5120640"/>
          </a:xfrm>
          <a:prstGeom prst="ellipse">
            <a:avLst/>
          </a:prstGeom>
          <a:solidFill>
            <a:srgbClr val="E97132"/>
          </a:solidFill>
          <a:ln w="12700">
            <a:solidFill>
              <a:srgbClr val="E97132"/>
            </a:solidFill>
            <a:prstDash val="solid"/>
          </a:ln>
        </p:spPr>
      </p:sp>
      <p:sp>
        <p:nvSpPr>
          <p:cNvPr id="4" name="Text 2"/>
          <p:cNvSpPr txBox="1"/>
          <p:nvPr/>
        </p:nvSpPr>
        <p:spPr>
          <a:xfrm>
            <a:off x="1325880" y="2194560"/>
            <a:ext cx="3840480" cy="2651760"/>
          </a:xfrm>
          <a:prstGeom prst="rect">
            <a:avLst/>
          </a:prstGeom>
          <a:noFill/>
          <a:ln/>
        </p:spPr>
        <p:txBody>
          <a:bodyPr wrap="square" lIns="0" tIns="0" rIns="0" bIns="0" rtlCol="0" anchor="ctr"/>
          <a:lstStyle/>
          <a:p>
            <a:pPr indent="0" marL="0">
              <a:buNone/>
            </a:pPr>
            <a:r>
              <a:rPr lang="en-US" sz="4600" dirty="0">
                <a:solidFill>
                  <a:srgbClr val="FFFFFF"/>
                </a:solidFill>
                <a:latin typeface="Aptos" pitchFamily="34" charset="0"/>
                <a:ea typeface="Aptos" pitchFamily="34" charset="-122"/>
                <a:cs typeface="Aptos" pitchFamily="34" charset="-120"/>
              </a:rPr>
              <a:t>HTML/CSS Techniques</a:t>
            </a:r>
            <a:endParaRPr lang="en-US" sz="4600" dirty="0"/>
          </a:p>
        </p:txBody>
      </p:sp>
      <p:sp>
        <p:nvSpPr>
          <p:cNvPr id="5" name="Shape 3"/>
          <p:cNvSpPr/>
          <p:nvPr/>
        </p:nvSpPr>
        <p:spPr>
          <a:xfrm>
            <a:off x="914400" y="5257800"/>
            <a:ext cx="566928" cy="566928"/>
          </a:xfrm>
          <a:prstGeom prst="ellipse">
            <a:avLst/>
          </a:prstGeom>
          <a:solidFill>
            <a:srgbClr val="A02B93"/>
          </a:solidFill>
          <a:ln w="12700">
            <a:solidFill>
              <a:srgbClr val="A02B93"/>
            </a:solidFill>
            <a:prstDash val="solid"/>
          </a:ln>
        </p:spPr>
      </p:sp>
      <p:sp>
        <p:nvSpPr>
          <p:cNvPr id="6" name="Shape 4"/>
          <p:cNvSpPr/>
          <p:nvPr/>
        </p:nvSpPr>
        <p:spPr>
          <a:xfrm>
            <a:off x="8778240" y="685800"/>
            <a:ext cx="3017520" cy="3017520"/>
          </a:xfrm>
          <a:prstGeom prst="arc">
            <a:avLst>
              <a:gd name="adj1" fmla="val 12000000"/>
              <a:gd name="adj2" fmla="val 1200000"/>
            </a:avLst>
          </a:prstGeom>
          <a:noFill/>
          <a:ln w="88900">
            <a:solidFill>
              <a:srgbClr val="0F9ED5"/>
            </a:solidFill>
            <a:prstDash val="dash"/>
          </a:ln>
        </p:spPr>
      </p:sp>
      <p:sp>
        <p:nvSpPr>
          <p:cNvPr id="7" name="Text 5"/>
          <p:cNvSpPr txBox="1"/>
          <p:nvPr/>
        </p:nvSpPr>
        <p:spPr>
          <a:xfrm>
            <a:off x="6263640" y="1737360"/>
            <a:ext cx="5120640" cy="2194560"/>
          </a:xfrm>
          <a:prstGeom prst="rect">
            <a:avLst/>
          </a:prstGeom>
          <a:noFill/>
          <a:ln/>
        </p:spPr>
        <p:txBody>
          <a:bodyPr wrap="square" lIns="0" tIns="0" rIns="0" bIns="0" rtlCol="0" anchor="t"/>
          <a:lstStyle/>
          <a:p>
            <a:pPr marL="342900" indent="-342900">
              <a:buSzPct val="100000"/>
              <a:buChar char="•"/>
            </a:pPr>
            <a:r>
              <a:rPr lang="en-US" sz="3000" dirty="0">
                <a:solidFill>
                  <a:srgbClr val="000000"/>
                </a:solidFill>
                <a:latin typeface="Aptos" pitchFamily="34" charset="0"/>
                <a:ea typeface="Aptos" pitchFamily="34" charset="-122"/>
                <a:cs typeface="Aptos" pitchFamily="34" charset="-120"/>
              </a:rPr>
              <a:t>Class 9:</a:t>
            </a:r>
            <a:endParaRPr lang="en-US" sz="3000" dirty="0"/>
          </a:p>
          <a:p>
            <a:pPr lvl="1" marL="685800" indent="-342900">
              <a:spcBef>
                <a:spcPts val="600"/>
              </a:spcBef>
              <a:buSzPct val="100000"/>
              <a:buChar char="○"/>
            </a:pPr>
            <a:r>
              <a:rPr lang="en-US" sz="2600" dirty="0">
                <a:solidFill>
                  <a:srgbClr val="000000"/>
                </a:solidFill>
                <a:latin typeface="Aptos" pitchFamily="34" charset="0"/>
                <a:ea typeface="Aptos" pitchFamily="34" charset="-122"/>
                <a:cs typeface="Aptos" pitchFamily="34" charset="-120"/>
              </a:rPr>
              <a:t>Advanced selectors, and making things move with CSS animation.</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5840" y="685800"/>
            <a:ext cx="7315200" cy="822960"/>
          </a:xfrm>
          <a:prstGeom prst="rect">
            <a:avLst/>
          </a:prstGeom>
          <a:noFill/>
          <a:ln/>
        </p:spPr>
        <p:txBody>
          <a:bodyPr wrap="square" lIns="0" tIns="0" rIns="0" bIns="0" rtlCol="0" anchor="ctr"/>
          <a:lstStyle/>
          <a:p>
            <a:pPr indent="0" marL="0">
              <a:buNone/>
            </a:pPr>
            <a:r>
              <a:rPr lang="en-US" sz="4400" dirty="0">
                <a:solidFill>
                  <a:srgbClr val="000000"/>
                </a:solidFill>
                <a:latin typeface="Aptos" pitchFamily="34" charset="0"/>
                <a:ea typeface="Aptos" pitchFamily="34" charset="-122"/>
                <a:cs typeface="Aptos" pitchFamily="34" charset="-120"/>
              </a:rPr>
              <a:t>Attendance</a:t>
            </a:r>
            <a:endParaRPr lang="en-US" sz="4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Class 9: Class Overview</a:t>
            </a:r>
            <a:endParaRPr lang="en-US" sz="2800" dirty="0"/>
          </a:p>
        </p:txBody>
      </p:sp>
      <p:sp>
        <p:nvSpPr>
          <p:cNvPr id="7" name="Text 4"/>
          <p:cNvSpPr txBox="1"/>
          <p:nvPr/>
        </p:nvSpPr>
        <p:spPr>
          <a:xfrm>
            <a:off x="4754880" y="1783080"/>
            <a:ext cx="6903720" cy="3291840"/>
          </a:xfrm>
          <a:prstGeom prst="rect">
            <a:avLst/>
          </a:prstGeom>
          <a:noFill/>
          <a:ln/>
        </p:spPr>
        <p:txBody>
          <a:bodyPr wrap="square" lIns="0" tIns="0" rIns="0" bIns="0" rtlCol="0" anchor="t"/>
          <a:lstStyle/>
          <a:p>
            <a:pPr marL="342900" indent="-342900">
              <a:buSzPct val="100000"/>
              <a:buChar char="•"/>
            </a:pPr>
            <a:r>
              <a:rPr lang="en-US" sz="2200" b="1" dirty="0">
                <a:solidFill>
                  <a:srgbClr val="000000"/>
                </a:solidFill>
                <a:latin typeface="Aptos" pitchFamily="34" charset="0"/>
                <a:ea typeface="Aptos" pitchFamily="34" charset="-122"/>
                <a:cs typeface="Aptos" pitchFamily="34" charset="-120"/>
              </a:rPr>
              <a:t>Title: </a:t>
            </a:r>
            <a:pPr indent="0" marL="0">
              <a:buNone/>
            </a:pPr>
            <a:r>
              <a:rPr lang="en-US" sz="2200" dirty="0">
                <a:solidFill>
                  <a:srgbClr val="000000"/>
                </a:solidFill>
                <a:latin typeface="Aptos" pitchFamily="34" charset="0"/>
                <a:ea typeface="Aptos" pitchFamily="34" charset="-122"/>
                <a:cs typeface="Aptos" pitchFamily="34" charset="-120"/>
              </a:rPr>
              <a:t>Advanced Selectors and CSS Animation</a:t>
            </a:r>
            <a:endParaRPr lang="en-US" sz="2200" dirty="0"/>
          </a:p>
          <a:p>
            <a:pPr indent="0" marL="0">
              <a:buNone/>
            </a:pPr>
            <a:r>
              <a:rPr lang="en-US" sz="1000" dirty="0">
                <a:solidFill>
                  <a:srgbClr val="000000"/>
                </a:solidFill>
                <a:latin typeface="Aptos" pitchFamily="34" charset="0"/>
                <a:ea typeface="Aptos" pitchFamily="34" charset="-122"/>
                <a:cs typeface="Aptos" pitchFamily="34" charset="-120"/>
              </a:rPr>
              <a:t> </a:t>
            </a:r>
            <a:endParaRPr lang="en-US" sz="2200" dirty="0"/>
          </a:p>
          <a:p>
            <a:pPr marL="342900" indent="-342900">
              <a:buSzPct val="100000"/>
              <a:buChar char="•"/>
            </a:pPr>
            <a:r>
              <a:rPr lang="en-US" sz="2200" b="1" dirty="0">
                <a:solidFill>
                  <a:srgbClr val="000000"/>
                </a:solidFill>
                <a:latin typeface="Aptos" pitchFamily="34" charset="0"/>
                <a:ea typeface="Aptos" pitchFamily="34" charset="-122"/>
                <a:cs typeface="Aptos" pitchFamily="34" charset="-120"/>
              </a:rPr>
              <a:t>Agenda:</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Advanced selectors, and a game: Name That Selector!</a:t>
            </a:r>
            <a:endParaRPr lang="en-US" sz="2200" dirty="0"/>
          </a:p>
          <a:p>
            <a:pPr lvl="2" marL="1028700" indent="-342900">
              <a:spcBef>
                <a:spcPts val="200"/>
              </a:spcBef>
              <a:buSzPct val="100000"/>
              <a:buChar char="•"/>
            </a:pPr>
            <a:r>
              <a:rPr lang="en-US" sz="1500" dirty="0">
                <a:solidFill>
                  <a:srgbClr val="595959"/>
                </a:solidFill>
                <a:latin typeface="Aptos" pitchFamily="34" charset="0"/>
                <a:ea typeface="Aptos" pitchFamily="34" charset="-122"/>
                <a:cs typeface="Aptos" pitchFamily="34" charset="-120"/>
              </a:rPr>
              <a:t>states · positions · attributes · relationships · parts of an element</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CSS animation: transitions, @keyframes, and lots of demos</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The Animation Playground: four challenges</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Show and tell</a:t>
            </a:r>
            <a:endParaRPr lang="en-US" sz="2200" dirty="0"/>
          </a:p>
        </p:txBody>
      </p:sp>
      <p:sp>
        <p:nvSpPr>
          <p:cNvPr id="8" name="Shape 5"/>
          <p:cNvSpPr/>
          <p:nvPr/>
        </p:nvSpPr>
        <p:spPr>
          <a:xfrm>
            <a:off x="4754880" y="5120640"/>
            <a:ext cx="2011680" cy="1051560"/>
          </a:xfrm>
          <a:prstGeom prst="roundRect">
            <a:avLst>
              <a:gd name="adj" fmla="val 10435"/>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937760" y="5212080"/>
            <a:ext cx="1645920" cy="41148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Select</a:t>
            </a:r>
            <a:endParaRPr lang="en-US" sz="1700" dirty="0"/>
          </a:p>
        </p:txBody>
      </p:sp>
      <p:sp>
        <p:nvSpPr>
          <p:cNvPr id="10" name="Text 7"/>
          <p:cNvSpPr txBox="1"/>
          <p:nvPr/>
        </p:nvSpPr>
        <p:spPr>
          <a:xfrm>
            <a:off x="4937760" y="5623560"/>
            <a:ext cx="1645920" cy="457200"/>
          </a:xfrm>
          <a:prstGeom prst="rect">
            <a:avLst/>
          </a:prstGeom>
          <a:noFill/>
          <a:ln/>
        </p:spPr>
        <p:txBody>
          <a:bodyPr wrap="square" lIns="0" tIns="0" rIns="0" bIns="0" rtlCol="0" anchor="t"/>
          <a:lstStyle/>
          <a:p>
            <a:pPr indent="0" marL="0">
              <a:buNone/>
            </a:pPr>
            <a:r>
              <a:rPr lang="en-US" sz="1250" dirty="0">
                <a:solidFill>
                  <a:srgbClr val="595959"/>
                </a:solidFill>
                <a:latin typeface="Aptos" pitchFamily="34" charset="0"/>
                <a:ea typeface="Aptos" pitchFamily="34" charset="-122"/>
                <a:cs typeface="Aptos" pitchFamily="34" charset="-120"/>
              </a:rPr>
              <a:t>Pick exactly the element you want</a:t>
            </a:r>
            <a:endParaRPr lang="en-US" sz="1250" dirty="0"/>
          </a:p>
        </p:txBody>
      </p:sp>
      <p:sp>
        <p:nvSpPr>
          <p:cNvPr id="11" name="Text 8"/>
          <p:cNvSpPr txBox="1"/>
          <p:nvPr/>
        </p:nvSpPr>
        <p:spPr>
          <a:xfrm>
            <a:off x="6766560" y="5120640"/>
            <a:ext cx="365760" cy="1051560"/>
          </a:xfrm>
          <a:prstGeom prst="rect">
            <a:avLst/>
          </a:prstGeom>
          <a:noFill/>
          <a:ln/>
        </p:spPr>
        <p:txBody>
          <a:bodyPr wrap="square" lIns="0" tIns="0" rIns="0" bIns="0" rtlCol="0" anchor="ctr"/>
          <a:lstStyle/>
          <a:p>
            <a:pPr algn="ctr" indent="0" marL="0">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12" name="Shape 9"/>
          <p:cNvSpPr/>
          <p:nvPr/>
        </p:nvSpPr>
        <p:spPr>
          <a:xfrm>
            <a:off x="7132320" y="5120640"/>
            <a:ext cx="2011680" cy="1051560"/>
          </a:xfrm>
          <a:prstGeom prst="roundRect">
            <a:avLst>
              <a:gd name="adj" fmla="val 10435"/>
            </a:avLst>
          </a:prstGeom>
          <a:solidFill>
            <a:srgbClr val="E97132"/>
          </a:solidFill>
          <a:ln w="9525">
            <a:solidFill>
              <a:srgbClr val="E97132"/>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7315200" y="5212080"/>
            <a:ext cx="1645920" cy="411480"/>
          </a:xfrm>
          <a:prstGeom prst="rect">
            <a:avLst/>
          </a:prstGeom>
          <a:noFill/>
          <a:ln/>
        </p:spPr>
        <p:txBody>
          <a:bodyPr wrap="square" lIns="0" tIns="0" rIns="0" bIns="0" rtlCol="0" anchor="ctr"/>
          <a:lstStyle/>
          <a:p>
            <a:pPr indent="0" marL="0">
              <a:buNone/>
            </a:pPr>
            <a:r>
              <a:rPr lang="en-US" sz="1700" b="1" dirty="0">
                <a:solidFill>
                  <a:srgbClr val="FFFFFF"/>
                </a:solidFill>
                <a:latin typeface="Aptos" pitchFamily="34" charset="0"/>
                <a:ea typeface="Aptos" pitchFamily="34" charset="-122"/>
                <a:cs typeface="Aptos" pitchFamily="34" charset="-120"/>
              </a:rPr>
              <a:t>Animate</a:t>
            </a:r>
            <a:endParaRPr lang="en-US" sz="1700" dirty="0"/>
          </a:p>
        </p:txBody>
      </p:sp>
      <p:sp>
        <p:nvSpPr>
          <p:cNvPr id="14" name="Text 11"/>
          <p:cNvSpPr txBox="1"/>
          <p:nvPr/>
        </p:nvSpPr>
        <p:spPr>
          <a:xfrm>
            <a:off x="7315200" y="5623560"/>
            <a:ext cx="1645920" cy="457200"/>
          </a:xfrm>
          <a:prstGeom prst="rect">
            <a:avLst/>
          </a:prstGeom>
          <a:noFill/>
          <a:ln/>
        </p:spPr>
        <p:txBody>
          <a:bodyPr wrap="square" lIns="0" tIns="0" rIns="0" bIns="0" rtlCol="0" anchor="t"/>
          <a:lstStyle/>
          <a:p>
            <a:pPr indent="0" marL="0">
              <a:buNone/>
            </a:pPr>
            <a:r>
              <a:rPr lang="en-US" sz="1250" dirty="0">
                <a:solidFill>
                  <a:srgbClr val="FFFFFF"/>
                </a:solidFill>
                <a:latin typeface="Aptos" pitchFamily="34" charset="0"/>
                <a:ea typeface="Aptos" pitchFamily="34" charset="-122"/>
                <a:cs typeface="Aptos" pitchFamily="34" charset="-120"/>
              </a:rPr>
              <a:t>Make it move with @keyframes</a:t>
            </a:r>
            <a:endParaRPr lang="en-US" sz="1250" dirty="0"/>
          </a:p>
        </p:txBody>
      </p:sp>
      <p:sp>
        <p:nvSpPr>
          <p:cNvPr id="15" name="Text 12"/>
          <p:cNvSpPr txBox="1"/>
          <p:nvPr/>
        </p:nvSpPr>
        <p:spPr>
          <a:xfrm>
            <a:off x="9144000" y="5120640"/>
            <a:ext cx="365760" cy="1051560"/>
          </a:xfrm>
          <a:prstGeom prst="rect">
            <a:avLst/>
          </a:prstGeom>
          <a:noFill/>
          <a:ln/>
        </p:spPr>
        <p:txBody>
          <a:bodyPr wrap="square" lIns="0" tIns="0" rIns="0" bIns="0" rtlCol="0" anchor="ctr"/>
          <a:lstStyle/>
          <a:p>
            <a:pPr algn="ctr" indent="0" marL="0">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16" name="Shape 13"/>
          <p:cNvSpPr/>
          <p:nvPr/>
        </p:nvSpPr>
        <p:spPr>
          <a:xfrm>
            <a:off x="9509760" y="5120640"/>
            <a:ext cx="2011680" cy="1051560"/>
          </a:xfrm>
          <a:prstGeom prst="roundRect">
            <a:avLst>
              <a:gd name="adj" fmla="val 10435"/>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7" name="Text 14"/>
          <p:cNvSpPr txBox="1"/>
          <p:nvPr/>
        </p:nvSpPr>
        <p:spPr>
          <a:xfrm>
            <a:off x="9692640" y="5212080"/>
            <a:ext cx="1645920" cy="41148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Play</a:t>
            </a:r>
            <a:endParaRPr lang="en-US" sz="1700" dirty="0"/>
          </a:p>
        </p:txBody>
      </p:sp>
      <p:sp>
        <p:nvSpPr>
          <p:cNvPr id="18" name="Text 15"/>
          <p:cNvSpPr txBox="1"/>
          <p:nvPr/>
        </p:nvSpPr>
        <p:spPr>
          <a:xfrm>
            <a:off x="9692640" y="5623560"/>
            <a:ext cx="1645920" cy="457200"/>
          </a:xfrm>
          <a:prstGeom prst="rect">
            <a:avLst/>
          </a:prstGeom>
          <a:noFill/>
          <a:ln/>
        </p:spPr>
        <p:txBody>
          <a:bodyPr wrap="square" lIns="0" tIns="0" rIns="0" bIns="0" rtlCol="0" anchor="t"/>
          <a:lstStyle/>
          <a:p>
            <a:pPr indent="0" marL="0">
              <a:buNone/>
            </a:pPr>
            <a:r>
              <a:rPr lang="en-US" sz="1250" dirty="0">
                <a:solidFill>
                  <a:srgbClr val="595959"/>
                </a:solidFill>
                <a:latin typeface="Aptos" pitchFamily="34" charset="0"/>
                <a:ea typeface="Aptos" pitchFamily="34" charset="-122"/>
                <a:cs typeface="Aptos" pitchFamily="34" charset="-120"/>
              </a:rPr>
              <a:t>Four challenges, lots of motion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Before We Start: Get the Code</a:t>
            </a:r>
            <a:endParaRPr lang="en-US" sz="2800" dirty="0"/>
          </a:p>
        </p:txBody>
      </p:sp>
      <p:sp>
        <p:nvSpPr>
          <p:cNvPr id="7" name="Text 4"/>
          <p:cNvSpPr txBox="1"/>
          <p:nvPr/>
        </p:nvSpPr>
        <p:spPr>
          <a:xfrm>
            <a:off x="4754880" y="1783080"/>
            <a:ext cx="6903720" cy="36576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1.  Pull this week's examples</a:t>
            </a:r>
            <a:endParaRPr lang="en-US" sz="1800" dirty="0"/>
          </a:p>
        </p:txBody>
      </p:sp>
      <p:sp>
        <p:nvSpPr>
          <p:cNvPr id="8" name="Shape 5"/>
          <p:cNvSpPr/>
          <p:nvPr/>
        </p:nvSpPr>
        <p:spPr>
          <a:xfrm>
            <a:off x="4754880" y="2240280"/>
            <a:ext cx="4754880" cy="6400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9" name="Text 6"/>
          <p:cNvSpPr txBox="1"/>
          <p:nvPr/>
        </p:nvSpPr>
        <p:spPr>
          <a:xfrm>
            <a:off x="4870094" y="2355494"/>
            <a:ext cx="4524451" cy="409651"/>
          </a:xfrm>
          <a:prstGeom prst="rect">
            <a:avLst/>
          </a:prstGeom>
          <a:noFill/>
          <a:ln/>
        </p:spPr>
        <p:txBody>
          <a:bodyPr wrap="square" lIns="0" tIns="0" rIns="0" bIns="0" rtlCol="0" anchor="t"/>
          <a:lstStyle/>
          <a:p>
            <a:pPr indent="0" marL="0">
              <a:lnSpc>
                <a:spcPct val="100000"/>
              </a:lnSpc>
              <a:buNone/>
            </a:pPr>
            <a:r>
              <a:rPr lang="en-US" sz="1600" dirty="0">
                <a:solidFill>
                  <a:srgbClr val="D4D4D4"/>
                </a:solidFill>
                <a:latin typeface="Consolas" pitchFamily="34" charset="0"/>
                <a:ea typeface="Consolas" pitchFamily="34" charset="-122"/>
                <a:cs typeface="Consolas" pitchFamily="34" charset="-120"/>
              </a:rPr>
              <a:t>git pull</a:t>
            </a:r>
            <a:endParaRPr lang="en-US" sz="1600" dirty="0"/>
          </a:p>
        </p:txBody>
      </p:sp>
      <p:sp>
        <p:nvSpPr>
          <p:cNvPr id="10" name="Text 7"/>
          <p:cNvSpPr txBox="1"/>
          <p:nvPr/>
        </p:nvSpPr>
        <p:spPr>
          <a:xfrm>
            <a:off x="4754880" y="2971800"/>
            <a:ext cx="6903720" cy="457200"/>
          </a:xfrm>
          <a:prstGeom prst="rect">
            <a:avLst/>
          </a:prstGeom>
          <a:noFill/>
          <a:ln/>
        </p:spPr>
        <p:txBody>
          <a:bodyPr wrap="square" lIns="0" tIns="0" rIns="0" bIns="0" rtlCol="0" anchor="ctr"/>
          <a:lstStyle/>
          <a:p>
            <a:pPr indent="0" marL="0">
              <a:buNone/>
            </a:pPr>
            <a:r>
              <a:rPr lang="en-US" sz="1500" dirty="0">
                <a:solidFill>
                  <a:srgbClr val="262626"/>
                </a:solidFill>
                <a:latin typeface="Aptos" pitchFamily="34" charset="0"/>
                <a:ea typeface="Aptos" pitchFamily="34" charset="-122"/>
                <a:cs typeface="Aptos" pitchFamily="34" charset="-120"/>
              </a:rPr>
              <a:t>New folder: 06_Selectors_and_Animation (examples 01–12, and the activity folder).</a:t>
            </a:r>
            <a:endParaRPr lang="en-US" sz="1500" dirty="0"/>
          </a:p>
        </p:txBody>
      </p:sp>
      <p:sp>
        <p:nvSpPr>
          <p:cNvPr id="11" name="Text 8"/>
          <p:cNvSpPr txBox="1"/>
          <p:nvPr/>
        </p:nvSpPr>
        <p:spPr>
          <a:xfrm>
            <a:off x="4754880" y="3611880"/>
            <a:ext cx="6903720" cy="36576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2.  Open each example with Live Server as we go</a:t>
            </a:r>
            <a:endParaRPr lang="en-US" sz="1800" dirty="0"/>
          </a:p>
        </p:txBody>
      </p:sp>
      <p:sp>
        <p:nvSpPr>
          <p:cNvPr id="12" name="Text 9"/>
          <p:cNvSpPr txBox="1"/>
          <p:nvPr/>
        </p:nvSpPr>
        <p:spPr>
          <a:xfrm>
            <a:off x="4754880" y="4023360"/>
            <a:ext cx="6903720" cy="731520"/>
          </a:xfrm>
          <a:prstGeom prst="rect">
            <a:avLst/>
          </a:prstGeom>
          <a:noFill/>
          <a:ln/>
        </p:spPr>
        <p:txBody>
          <a:bodyPr wrap="square" lIns="0" tIns="0" rIns="0" bIns="0" rtlCol="0" anchor="ctr"/>
          <a:lstStyle/>
          <a:p>
            <a:pPr indent="0" marL="0">
              <a:buNone/>
            </a:pPr>
            <a:r>
              <a:rPr lang="en-US" sz="1500" dirty="0">
                <a:solidFill>
                  <a:srgbClr val="262626"/>
                </a:solidFill>
                <a:latin typeface="Aptos" pitchFamily="34" charset="0"/>
                <a:ea typeface="Aptos" pitchFamily="34" charset="-122"/>
                <a:cs typeface="Aptos" pitchFamily="34" charset="-120"/>
              </a:rPr>
              <a:t>Animations only move in a real browser, so open them! Change a number, save, and watch what happens.</a:t>
            </a:r>
            <a:endParaRPr lang="en-US" sz="1500" dirty="0"/>
          </a:p>
        </p:txBody>
      </p:sp>
      <p:sp>
        <p:nvSpPr>
          <p:cNvPr id="13" name="Text 10"/>
          <p:cNvSpPr txBox="1"/>
          <p:nvPr/>
        </p:nvSpPr>
        <p:spPr>
          <a:xfrm>
            <a:off x="4754880" y="4937760"/>
            <a:ext cx="6903720" cy="36576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3.  Keep DevTools handy</a:t>
            </a:r>
            <a:endParaRPr lang="en-US" sz="1800" dirty="0"/>
          </a:p>
        </p:txBody>
      </p:sp>
      <p:sp>
        <p:nvSpPr>
          <p:cNvPr id="14" name="Text 11"/>
          <p:cNvSpPr txBox="1"/>
          <p:nvPr/>
        </p:nvSpPr>
        <p:spPr>
          <a:xfrm>
            <a:off x="4754880" y="5349240"/>
            <a:ext cx="6903720" cy="731520"/>
          </a:xfrm>
          <a:prstGeom prst="rect">
            <a:avLst/>
          </a:prstGeom>
          <a:noFill/>
          <a:ln/>
        </p:spPr>
        <p:txBody>
          <a:bodyPr wrap="square" lIns="0" tIns="0" rIns="0" bIns="0" rtlCol="0" anchor="ctr"/>
          <a:lstStyle/>
          <a:p>
            <a:pPr indent="0" marL="0">
              <a:buNone/>
            </a:pPr>
            <a:r>
              <a:rPr lang="en-US" sz="1500" dirty="0">
                <a:solidFill>
                  <a:srgbClr val="262626"/>
                </a:solidFill>
                <a:latin typeface="Aptos" pitchFamily="34" charset="0"/>
                <a:ea typeface="Aptos" pitchFamily="34" charset="-122"/>
                <a:cs typeface="Aptos" pitchFamily="34" charset="-120"/>
              </a:rPr>
              <a:t>F12 → Elements → Styles shows which rule picked each element. There's an Animations panel too (later).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926080" y="640080"/>
            <a:ext cx="8412480" cy="4206240"/>
          </a:xfrm>
          <a:prstGeom prst="rect">
            <a:avLst/>
          </a:prstGeom>
          <a:noFill/>
          <a:ln/>
        </p:spPr>
        <p:txBody>
          <a:bodyPr wrap="square" lIns="0" tIns="0" rIns="0" bIns="0" rtlCol="0" anchor="ctr"/>
          <a:lstStyle/>
          <a:p>
            <a:pPr algn="r" indent="0" marL="0">
              <a:buNone/>
            </a:pPr>
            <a:r>
              <a:rPr lang="en-US" sz="6000" dirty="0">
                <a:solidFill>
                  <a:srgbClr val="FFFFFF"/>
                </a:solidFill>
                <a:latin typeface="Aptos" pitchFamily="34" charset="0"/>
                <a:ea typeface="Aptos" pitchFamily="34" charset="-122"/>
                <a:cs typeface="Aptos" pitchFamily="34" charset="-120"/>
              </a:rPr>
              <a:t>Advanced Selectors</a:t>
            </a:r>
            <a:endParaRPr lang="en-US" sz="6000" dirty="0"/>
          </a:p>
        </p:txBody>
      </p:sp>
      <p:sp>
        <p:nvSpPr>
          <p:cNvPr id="3" name="Text 1"/>
          <p:cNvSpPr txBox="1"/>
          <p:nvPr/>
        </p:nvSpPr>
        <p:spPr>
          <a:xfrm>
            <a:off x="1417320" y="5989320"/>
            <a:ext cx="10058400" cy="411480"/>
          </a:xfrm>
          <a:prstGeom prst="rect">
            <a:avLst/>
          </a:prstGeom>
          <a:noFill/>
          <a:ln/>
        </p:spPr>
        <p:txBody>
          <a:bodyPr wrap="square" lIns="0" tIns="0" rIns="0" bIns="0" rtlCol="0" anchor="ctr"/>
          <a:lstStyle/>
          <a:p>
            <a:pPr indent="0" marL="0">
              <a:buNone/>
            </a:pPr>
            <a:r>
              <a:rPr lang="en-US" sz="1800" dirty="0">
                <a:solidFill>
                  <a:srgbClr val="FFFFFF"/>
                </a:solidFill>
                <a:latin typeface="Aptos" pitchFamily="34" charset="0"/>
                <a:ea typeface="Aptos" pitchFamily="34" charset="-122"/>
                <a:cs typeface="Aptos" pitchFamily="34" charset="-120"/>
              </a:rPr>
              <a:t>States   ·   positions   ·   attributes   ·   relationships   ·   parts</a:t>
            </a:r>
            <a:endParaRPr lang="en-US" sz="1800" dirty="0"/>
          </a:p>
        </p:txBody>
      </p:sp>
      <p:sp>
        <p:nvSpPr>
          <p:cNvPr id="4" name="Shape 2"/>
          <p:cNvSpPr/>
          <p:nvPr/>
        </p:nvSpPr>
        <p:spPr>
          <a:xfrm>
            <a:off x="914400" y="3840480"/>
            <a:ext cx="0" cy="3017520"/>
          </a:xfrm>
          <a:prstGeom prst="line">
            <a:avLst/>
          </a:prstGeom>
          <a:noFill/>
          <a:ln w="25400">
            <a:solidFill>
              <a:srgbClr val="FFFFFF"/>
            </a:solidFill>
            <a:prstDash val="solid"/>
          </a:ln>
        </p:spPr>
      </p:sp>
      <p:sp>
        <p:nvSpPr>
          <p:cNvPr id="5" name="Text 3"/>
          <p:cNvSpPr txBox="1"/>
          <p:nvPr/>
        </p:nvSpPr>
        <p:spPr>
          <a:xfrm>
            <a:off x="3794760" y="5029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6" name="Text 4"/>
          <p:cNvSpPr txBox="1"/>
          <p:nvPr/>
        </p:nvSpPr>
        <p:spPr>
          <a:xfrm>
            <a:off x="4160520" y="7315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7" name="Text 5"/>
          <p:cNvSpPr txBox="1"/>
          <p:nvPr/>
        </p:nvSpPr>
        <p:spPr>
          <a:xfrm>
            <a:off x="3749040" y="914400"/>
            <a:ext cx="3657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Aptos" pitchFamily="34" charset="0"/>
                <a:ea typeface="Aptos" pitchFamily="34" charset="-122"/>
                <a:cs typeface="Aptos" pitchFamily="34" charset="-120"/>
              </a:rPr>
              <a:t>○</a:t>
            </a:r>
            <a:endParaRPr lang="en-US" sz="1600" dirty="0"/>
          </a:p>
        </p:txBody>
      </p:sp>
      <p:sp>
        <p:nvSpPr>
          <p:cNvPr id="8" name="Text 6"/>
          <p:cNvSpPr txBox="1"/>
          <p:nvPr/>
        </p:nvSpPr>
        <p:spPr>
          <a:xfrm>
            <a:off x="11521440" y="57607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9" name="Text 7"/>
          <p:cNvSpPr txBox="1"/>
          <p:nvPr/>
        </p:nvSpPr>
        <p:spPr>
          <a:xfrm>
            <a:off x="11292840" y="626364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10" name="Text 8"/>
          <p:cNvSpPr txBox="1"/>
          <p:nvPr/>
        </p:nvSpPr>
        <p:spPr>
          <a:xfrm>
            <a:off x="11887200" y="6263640"/>
            <a:ext cx="36576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Aptos" pitchFamily="34" charset="0"/>
                <a:ea typeface="Aptos" pitchFamily="34" charset="-122"/>
                <a:cs typeface="Aptos" pitchFamily="34" charset="-120"/>
              </a:rPr>
              <a: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Five New Kinds of Selector</a:t>
            </a:r>
            <a:endParaRPr lang="en-US" sz="2800" dirty="0"/>
          </a:p>
        </p:txBody>
      </p:sp>
      <p:sp>
        <p:nvSpPr>
          <p:cNvPr id="7" name="Text 4"/>
          <p:cNvSpPr txBox="1"/>
          <p:nvPr/>
        </p:nvSpPr>
        <p:spPr>
          <a:xfrm>
            <a:off x="4754880" y="1737360"/>
            <a:ext cx="1463040" cy="365760"/>
          </a:xfrm>
          <a:prstGeom prst="rect">
            <a:avLst/>
          </a:prstGeom>
          <a:noFill/>
          <a:ln/>
        </p:spPr>
        <p:txBody>
          <a:bodyPr wrap="square" lIns="0" tIns="0" rIns="0" bIns="0" rtlCol="0" anchor="ctr"/>
          <a:lstStyle/>
          <a:p>
            <a:pPr indent="0" marL="0">
              <a:buNone/>
            </a:pPr>
            <a:r>
              <a:rPr lang="en-US" sz="1500" b="1" dirty="0">
                <a:solidFill>
                  <a:srgbClr val="595959"/>
                </a:solidFill>
                <a:latin typeface="Aptos" pitchFamily="34" charset="0"/>
                <a:ea typeface="Aptos" pitchFamily="34" charset="-122"/>
                <a:cs typeface="Aptos" pitchFamily="34" charset="-120"/>
              </a:rPr>
              <a:t>Last class:</a:t>
            </a:r>
            <a:endParaRPr lang="en-US" sz="1500" dirty="0"/>
          </a:p>
        </p:txBody>
      </p:sp>
      <p:sp>
        <p:nvSpPr>
          <p:cNvPr id="8" name="Shape 5"/>
          <p:cNvSpPr/>
          <p:nvPr/>
        </p:nvSpPr>
        <p:spPr>
          <a:xfrm>
            <a:off x="6263640" y="1764792"/>
            <a:ext cx="914400" cy="310896"/>
          </a:xfrm>
          <a:prstGeom prst="roundRect">
            <a:avLst>
              <a:gd name="adj" fmla="val 50000"/>
            </a:avLst>
          </a:prstGeom>
          <a:solidFill>
            <a:srgbClr val="7F7F7F"/>
          </a:solidFill>
          <a:ln w="12700">
            <a:solidFill>
              <a:srgbClr val="7F7F7F"/>
            </a:solidFill>
            <a:prstDash val="solid"/>
          </a:ln>
        </p:spPr>
      </p:sp>
      <p:sp>
        <p:nvSpPr>
          <p:cNvPr id="9" name="Text 6"/>
          <p:cNvSpPr txBox="1"/>
          <p:nvPr/>
        </p:nvSpPr>
        <p:spPr>
          <a:xfrm>
            <a:off x="6263640" y="1764792"/>
            <a:ext cx="9144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p</a:t>
            </a:r>
            <a:endParaRPr lang="en-US" sz="1050" dirty="0"/>
          </a:p>
        </p:txBody>
      </p:sp>
      <p:sp>
        <p:nvSpPr>
          <p:cNvPr id="10" name="Shape 7"/>
          <p:cNvSpPr/>
          <p:nvPr/>
        </p:nvSpPr>
        <p:spPr>
          <a:xfrm>
            <a:off x="7315200" y="1764792"/>
            <a:ext cx="914400" cy="310896"/>
          </a:xfrm>
          <a:prstGeom prst="roundRect">
            <a:avLst>
              <a:gd name="adj" fmla="val 50000"/>
            </a:avLst>
          </a:prstGeom>
          <a:solidFill>
            <a:srgbClr val="7F7F7F"/>
          </a:solidFill>
          <a:ln w="12700">
            <a:solidFill>
              <a:srgbClr val="7F7F7F"/>
            </a:solidFill>
            <a:prstDash val="solid"/>
          </a:ln>
        </p:spPr>
      </p:sp>
      <p:sp>
        <p:nvSpPr>
          <p:cNvPr id="11" name="Text 8"/>
          <p:cNvSpPr txBox="1"/>
          <p:nvPr/>
        </p:nvSpPr>
        <p:spPr>
          <a:xfrm>
            <a:off x="7315200" y="1764792"/>
            <a:ext cx="9144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.price</a:t>
            </a:r>
            <a:endParaRPr lang="en-US" sz="1050" dirty="0"/>
          </a:p>
        </p:txBody>
      </p:sp>
      <p:sp>
        <p:nvSpPr>
          <p:cNvPr id="12" name="Shape 9"/>
          <p:cNvSpPr/>
          <p:nvPr/>
        </p:nvSpPr>
        <p:spPr>
          <a:xfrm>
            <a:off x="8366760" y="1764792"/>
            <a:ext cx="914400" cy="310896"/>
          </a:xfrm>
          <a:prstGeom prst="roundRect">
            <a:avLst>
              <a:gd name="adj" fmla="val 50000"/>
            </a:avLst>
          </a:prstGeom>
          <a:solidFill>
            <a:srgbClr val="7F7F7F"/>
          </a:solidFill>
          <a:ln w="12700">
            <a:solidFill>
              <a:srgbClr val="7F7F7F"/>
            </a:solidFill>
            <a:prstDash val="solid"/>
          </a:ln>
        </p:spPr>
      </p:sp>
      <p:sp>
        <p:nvSpPr>
          <p:cNvPr id="13" name="Text 10"/>
          <p:cNvSpPr txBox="1"/>
          <p:nvPr/>
        </p:nvSpPr>
        <p:spPr>
          <a:xfrm>
            <a:off x="8366760" y="1764792"/>
            <a:ext cx="9144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#menu</a:t>
            </a:r>
            <a:endParaRPr lang="en-US" sz="1050" dirty="0"/>
          </a:p>
        </p:txBody>
      </p:sp>
      <p:sp>
        <p:nvSpPr>
          <p:cNvPr id="14" name="Shape 11"/>
          <p:cNvSpPr/>
          <p:nvPr/>
        </p:nvSpPr>
        <p:spPr>
          <a:xfrm>
            <a:off x="9418320" y="1764792"/>
            <a:ext cx="914400" cy="310896"/>
          </a:xfrm>
          <a:prstGeom prst="roundRect">
            <a:avLst>
              <a:gd name="adj" fmla="val 50000"/>
            </a:avLst>
          </a:prstGeom>
          <a:solidFill>
            <a:srgbClr val="7F7F7F"/>
          </a:solidFill>
          <a:ln w="12700">
            <a:solidFill>
              <a:srgbClr val="7F7F7F"/>
            </a:solidFill>
            <a:prstDash val="solid"/>
          </a:ln>
        </p:spPr>
      </p:sp>
      <p:sp>
        <p:nvSpPr>
          <p:cNvPr id="15" name="Text 12"/>
          <p:cNvSpPr txBox="1"/>
          <p:nvPr/>
        </p:nvSpPr>
        <p:spPr>
          <a:xfrm>
            <a:off x="9418320" y="1764792"/>
            <a:ext cx="9144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h1, h2</a:t>
            </a:r>
            <a:endParaRPr lang="en-US" sz="1050" dirty="0"/>
          </a:p>
        </p:txBody>
      </p:sp>
      <p:sp>
        <p:nvSpPr>
          <p:cNvPr id="16" name="Shape 13"/>
          <p:cNvSpPr/>
          <p:nvPr/>
        </p:nvSpPr>
        <p:spPr>
          <a:xfrm>
            <a:off x="10469880" y="1764792"/>
            <a:ext cx="914400" cy="310896"/>
          </a:xfrm>
          <a:prstGeom prst="roundRect">
            <a:avLst>
              <a:gd name="adj" fmla="val 50000"/>
            </a:avLst>
          </a:prstGeom>
          <a:solidFill>
            <a:srgbClr val="7F7F7F"/>
          </a:solidFill>
          <a:ln w="12700">
            <a:solidFill>
              <a:srgbClr val="7F7F7F"/>
            </a:solidFill>
            <a:prstDash val="solid"/>
          </a:ln>
        </p:spPr>
      </p:sp>
      <p:sp>
        <p:nvSpPr>
          <p:cNvPr id="17" name="Text 14"/>
          <p:cNvSpPr txBox="1"/>
          <p:nvPr/>
        </p:nvSpPr>
        <p:spPr>
          <a:xfrm>
            <a:off x="10469880" y="1764792"/>
            <a:ext cx="9144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nav a</a:t>
            </a:r>
            <a:endParaRPr lang="en-US" sz="1050" dirty="0"/>
          </a:p>
        </p:txBody>
      </p:sp>
      <p:sp>
        <p:nvSpPr>
          <p:cNvPr id="18" name="Shape 15"/>
          <p:cNvSpPr/>
          <p:nvPr/>
        </p:nvSpPr>
        <p:spPr>
          <a:xfrm>
            <a:off x="4754880" y="2331720"/>
            <a:ext cx="6903720" cy="694944"/>
          </a:xfrm>
          <a:prstGeom prst="roundRect">
            <a:avLst>
              <a:gd name="adj" fmla="val 1578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9" name="Shape 16"/>
          <p:cNvSpPr/>
          <p:nvPr/>
        </p:nvSpPr>
        <p:spPr>
          <a:xfrm>
            <a:off x="4864608" y="2432304"/>
            <a:ext cx="868680" cy="493776"/>
          </a:xfrm>
          <a:prstGeom prst="roundRect">
            <a:avLst>
              <a:gd name="adj" fmla="val 14815"/>
            </a:avLst>
          </a:prstGeom>
          <a:solidFill>
            <a:srgbClr val="E97132"/>
          </a:solidFill>
          <a:ln w="12700">
            <a:solidFill>
              <a:srgbClr val="E97132"/>
            </a:solidFill>
            <a:prstDash val="solid"/>
          </a:ln>
        </p:spPr>
      </p:sp>
      <p:sp>
        <p:nvSpPr>
          <p:cNvPr id="20" name="Text 17"/>
          <p:cNvSpPr txBox="1"/>
          <p:nvPr/>
        </p:nvSpPr>
        <p:spPr>
          <a:xfrm>
            <a:off x="4864608" y="2432304"/>
            <a:ext cx="868680"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a:t>
            </a:r>
            <a:endParaRPr lang="en-US" sz="1500" dirty="0"/>
          </a:p>
        </p:txBody>
      </p:sp>
      <p:sp>
        <p:nvSpPr>
          <p:cNvPr id="21" name="Text 18"/>
          <p:cNvSpPr txBox="1"/>
          <p:nvPr/>
        </p:nvSpPr>
        <p:spPr>
          <a:xfrm>
            <a:off x="5897880" y="2386584"/>
            <a:ext cx="1463040" cy="329184"/>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State</a:t>
            </a:r>
            <a:endParaRPr lang="en-US" sz="1550" dirty="0"/>
          </a:p>
        </p:txBody>
      </p:sp>
      <p:sp>
        <p:nvSpPr>
          <p:cNvPr id="22" name="Text 19"/>
          <p:cNvSpPr txBox="1"/>
          <p:nvPr/>
        </p:nvSpPr>
        <p:spPr>
          <a:xfrm>
            <a:off x="5897880" y="2697480"/>
            <a:ext cx="2468880" cy="292608"/>
          </a:xfrm>
          <a:prstGeom prst="rect">
            <a:avLst/>
          </a:prstGeom>
          <a:noFill/>
          <a:ln/>
        </p:spPr>
        <p:txBody>
          <a:bodyPr wrap="square" lIns="0" tIns="0" rIns="0" bIns="0" rtlCol="0" anchor="ctr"/>
          <a:lstStyle/>
          <a:p>
            <a:pPr indent="0" marL="0">
              <a:buNone/>
            </a:pPr>
            <a:r>
              <a:rPr lang="en-US" sz="1150" dirty="0">
                <a:solidFill>
                  <a:srgbClr val="595959"/>
                </a:solidFill>
                <a:latin typeface="Aptos" pitchFamily="34" charset="0"/>
                <a:ea typeface="Aptos" pitchFamily="34" charset="-122"/>
                <a:cs typeface="Aptos" pitchFamily="34" charset="-120"/>
              </a:rPr>
              <a:t>What's happening to it right now</a:t>
            </a:r>
            <a:endParaRPr lang="en-US" sz="1150" dirty="0"/>
          </a:p>
        </p:txBody>
      </p:sp>
      <p:sp>
        <p:nvSpPr>
          <p:cNvPr id="23" name="Text 20"/>
          <p:cNvSpPr txBox="1"/>
          <p:nvPr/>
        </p:nvSpPr>
        <p:spPr>
          <a:xfrm>
            <a:off x="8366760" y="2331720"/>
            <a:ext cx="3200400" cy="694944"/>
          </a:xfrm>
          <a:prstGeom prst="rect">
            <a:avLst/>
          </a:prstGeom>
          <a:noFill/>
          <a:ln/>
        </p:spPr>
        <p:txBody>
          <a:bodyPr wrap="square" lIns="0" tIns="0" rIns="0" bIns="0" rtlCol="0" anchor="ctr"/>
          <a:lstStyle/>
          <a:p>
            <a:pPr indent="0" marL="0">
              <a:buNone/>
            </a:pPr>
            <a:r>
              <a:rPr lang="en-US" sz="1150" dirty="0">
                <a:solidFill>
                  <a:srgbClr val="8A2B0B"/>
                </a:solidFill>
                <a:latin typeface="Consolas" pitchFamily="34" charset="0"/>
                <a:ea typeface="Consolas" pitchFamily="34" charset="-122"/>
                <a:cs typeface="Consolas" pitchFamily="34" charset="-120"/>
              </a:rPr>
              <a:t>a:hover   button:focus-visible</a:t>
            </a:r>
            <a:endParaRPr lang="en-US" sz="1150" dirty="0"/>
          </a:p>
        </p:txBody>
      </p:sp>
      <p:sp>
        <p:nvSpPr>
          <p:cNvPr id="24" name="Shape 21"/>
          <p:cNvSpPr/>
          <p:nvPr/>
        </p:nvSpPr>
        <p:spPr>
          <a:xfrm>
            <a:off x="4754880" y="3136392"/>
            <a:ext cx="6903720" cy="694944"/>
          </a:xfrm>
          <a:prstGeom prst="roundRect">
            <a:avLst>
              <a:gd name="adj" fmla="val 1578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5" name="Shape 22"/>
          <p:cNvSpPr/>
          <p:nvPr/>
        </p:nvSpPr>
        <p:spPr>
          <a:xfrm>
            <a:off x="4864608" y="3236976"/>
            <a:ext cx="868680" cy="493776"/>
          </a:xfrm>
          <a:prstGeom prst="roundRect">
            <a:avLst>
              <a:gd name="adj" fmla="val 14815"/>
            </a:avLst>
          </a:prstGeom>
          <a:solidFill>
            <a:srgbClr val="0F9ED5"/>
          </a:solidFill>
          <a:ln w="12700">
            <a:solidFill>
              <a:srgbClr val="0F9ED5"/>
            </a:solidFill>
            <a:prstDash val="solid"/>
          </a:ln>
        </p:spPr>
      </p:sp>
      <p:sp>
        <p:nvSpPr>
          <p:cNvPr id="26" name="Text 23"/>
          <p:cNvSpPr txBox="1"/>
          <p:nvPr/>
        </p:nvSpPr>
        <p:spPr>
          <a:xfrm>
            <a:off x="4864608" y="3236976"/>
            <a:ext cx="868680"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:nth</a:t>
            </a:r>
            <a:endParaRPr lang="en-US" sz="1500" dirty="0"/>
          </a:p>
        </p:txBody>
      </p:sp>
      <p:sp>
        <p:nvSpPr>
          <p:cNvPr id="27" name="Text 24"/>
          <p:cNvSpPr txBox="1"/>
          <p:nvPr/>
        </p:nvSpPr>
        <p:spPr>
          <a:xfrm>
            <a:off x="5897880" y="3191256"/>
            <a:ext cx="1463040" cy="329184"/>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Position</a:t>
            </a:r>
            <a:endParaRPr lang="en-US" sz="1550" dirty="0"/>
          </a:p>
        </p:txBody>
      </p:sp>
      <p:sp>
        <p:nvSpPr>
          <p:cNvPr id="28" name="Text 25"/>
          <p:cNvSpPr txBox="1"/>
          <p:nvPr/>
        </p:nvSpPr>
        <p:spPr>
          <a:xfrm>
            <a:off x="5897880" y="3502152"/>
            <a:ext cx="2468880" cy="292608"/>
          </a:xfrm>
          <a:prstGeom prst="rect">
            <a:avLst/>
          </a:prstGeom>
          <a:noFill/>
          <a:ln/>
        </p:spPr>
        <p:txBody>
          <a:bodyPr wrap="square" lIns="0" tIns="0" rIns="0" bIns="0" rtlCol="0" anchor="ctr"/>
          <a:lstStyle/>
          <a:p>
            <a:pPr indent="0" marL="0">
              <a:buNone/>
            </a:pPr>
            <a:r>
              <a:rPr lang="en-US" sz="1150" dirty="0">
                <a:solidFill>
                  <a:srgbClr val="595959"/>
                </a:solidFill>
                <a:latin typeface="Aptos" pitchFamily="34" charset="0"/>
                <a:ea typeface="Aptos" pitchFamily="34" charset="-122"/>
                <a:cs typeface="Aptos" pitchFamily="34" charset="-120"/>
              </a:rPr>
              <a:t>Where it sits inside its parent</a:t>
            </a:r>
            <a:endParaRPr lang="en-US" sz="1150" dirty="0"/>
          </a:p>
        </p:txBody>
      </p:sp>
      <p:sp>
        <p:nvSpPr>
          <p:cNvPr id="29" name="Text 26"/>
          <p:cNvSpPr txBox="1"/>
          <p:nvPr/>
        </p:nvSpPr>
        <p:spPr>
          <a:xfrm>
            <a:off x="8366760" y="3136392"/>
            <a:ext cx="3200400" cy="694944"/>
          </a:xfrm>
          <a:prstGeom prst="rect">
            <a:avLst/>
          </a:prstGeom>
          <a:noFill/>
          <a:ln/>
        </p:spPr>
        <p:txBody>
          <a:bodyPr wrap="square" lIns="0" tIns="0" rIns="0" bIns="0" rtlCol="0" anchor="ctr"/>
          <a:lstStyle/>
          <a:p>
            <a:pPr indent="0" marL="0">
              <a:buNone/>
            </a:pPr>
            <a:r>
              <a:rPr lang="en-US" sz="1150" dirty="0">
                <a:solidFill>
                  <a:srgbClr val="8A2B0B"/>
                </a:solidFill>
                <a:latin typeface="Consolas" pitchFamily="34" charset="0"/>
                <a:ea typeface="Consolas" pitchFamily="34" charset="-122"/>
                <a:cs typeface="Consolas" pitchFamily="34" charset="-120"/>
              </a:rPr>
              <a:t>tr:nth-child(even)   li:not(.sold-out)</a:t>
            </a:r>
            <a:endParaRPr lang="en-US" sz="1150" dirty="0"/>
          </a:p>
        </p:txBody>
      </p:sp>
      <p:sp>
        <p:nvSpPr>
          <p:cNvPr id="30" name="Shape 27"/>
          <p:cNvSpPr/>
          <p:nvPr/>
        </p:nvSpPr>
        <p:spPr>
          <a:xfrm>
            <a:off x="4754880" y="3941064"/>
            <a:ext cx="6903720" cy="694944"/>
          </a:xfrm>
          <a:prstGeom prst="roundRect">
            <a:avLst>
              <a:gd name="adj" fmla="val 1578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31" name="Shape 28"/>
          <p:cNvSpPr/>
          <p:nvPr/>
        </p:nvSpPr>
        <p:spPr>
          <a:xfrm>
            <a:off x="4864608" y="4041648"/>
            <a:ext cx="868680" cy="493776"/>
          </a:xfrm>
          <a:prstGeom prst="roundRect">
            <a:avLst>
              <a:gd name="adj" fmla="val 14815"/>
            </a:avLst>
          </a:prstGeom>
          <a:solidFill>
            <a:srgbClr val="A02B93"/>
          </a:solidFill>
          <a:ln w="12700">
            <a:solidFill>
              <a:srgbClr val="A02B93"/>
            </a:solidFill>
            <a:prstDash val="solid"/>
          </a:ln>
        </p:spPr>
      </p:sp>
      <p:sp>
        <p:nvSpPr>
          <p:cNvPr id="32" name="Text 29"/>
          <p:cNvSpPr txBox="1"/>
          <p:nvPr/>
        </p:nvSpPr>
        <p:spPr>
          <a:xfrm>
            <a:off x="4864608" y="4041648"/>
            <a:ext cx="868680"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 ]</a:t>
            </a:r>
            <a:endParaRPr lang="en-US" sz="1500" dirty="0"/>
          </a:p>
        </p:txBody>
      </p:sp>
      <p:sp>
        <p:nvSpPr>
          <p:cNvPr id="33" name="Text 30"/>
          <p:cNvSpPr txBox="1"/>
          <p:nvPr/>
        </p:nvSpPr>
        <p:spPr>
          <a:xfrm>
            <a:off x="5897880" y="3995928"/>
            <a:ext cx="1463040" cy="329184"/>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Attribute</a:t>
            </a:r>
            <a:endParaRPr lang="en-US" sz="1550" dirty="0"/>
          </a:p>
        </p:txBody>
      </p:sp>
      <p:sp>
        <p:nvSpPr>
          <p:cNvPr id="34" name="Text 31"/>
          <p:cNvSpPr txBox="1"/>
          <p:nvPr/>
        </p:nvSpPr>
        <p:spPr>
          <a:xfrm>
            <a:off x="5897880" y="4306824"/>
            <a:ext cx="2468880" cy="292608"/>
          </a:xfrm>
          <a:prstGeom prst="rect">
            <a:avLst/>
          </a:prstGeom>
          <a:noFill/>
          <a:ln/>
        </p:spPr>
        <p:txBody>
          <a:bodyPr wrap="square" lIns="0" tIns="0" rIns="0" bIns="0" rtlCol="0" anchor="ctr"/>
          <a:lstStyle/>
          <a:p>
            <a:pPr indent="0" marL="0">
              <a:buNone/>
            </a:pPr>
            <a:r>
              <a:rPr lang="en-US" sz="1150" dirty="0">
                <a:solidFill>
                  <a:srgbClr val="595959"/>
                </a:solidFill>
                <a:latin typeface="Aptos" pitchFamily="34" charset="0"/>
                <a:ea typeface="Aptos" pitchFamily="34" charset="-122"/>
                <a:cs typeface="Aptos" pitchFamily="34" charset="-120"/>
              </a:rPr>
              <a:t>What's written inside its tag</a:t>
            </a:r>
            <a:endParaRPr lang="en-US" sz="1150" dirty="0"/>
          </a:p>
        </p:txBody>
      </p:sp>
      <p:sp>
        <p:nvSpPr>
          <p:cNvPr id="35" name="Text 32"/>
          <p:cNvSpPr txBox="1"/>
          <p:nvPr/>
        </p:nvSpPr>
        <p:spPr>
          <a:xfrm>
            <a:off x="8366760" y="3941064"/>
            <a:ext cx="3200400" cy="694944"/>
          </a:xfrm>
          <a:prstGeom prst="rect">
            <a:avLst/>
          </a:prstGeom>
          <a:noFill/>
          <a:ln/>
        </p:spPr>
        <p:txBody>
          <a:bodyPr wrap="square" lIns="0" tIns="0" rIns="0" bIns="0" rtlCol="0" anchor="ctr"/>
          <a:lstStyle/>
          <a:p>
            <a:pPr indent="0" marL="0">
              <a:buNone/>
            </a:pPr>
            <a:r>
              <a:rPr lang="en-US" sz="1150" dirty="0">
                <a:solidFill>
                  <a:srgbClr val="8A2B0B"/>
                </a:solidFill>
                <a:latin typeface="Consolas" pitchFamily="34" charset="0"/>
                <a:ea typeface="Consolas" pitchFamily="34" charset="-122"/>
                <a:cs typeface="Consolas" pitchFamily="34" charset="-120"/>
              </a:rPr>
              <a:t>a[href$=".pdf"]   input[type="email"]</a:t>
            </a:r>
            <a:endParaRPr lang="en-US" sz="1150" dirty="0"/>
          </a:p>
        </p:txBody>
      </p:sp>
      <p:sp>
        <p:nvSpPr>
          <p:cNvPr id="36" name="Shape 33"/>
          <p:cNvSpPr/>
          <p:nvPr/>
        </p:nvSpPr>
        <p:spPr>
          <a:xfrm>
            <a:off x="4754880" y="4745736"/>
            <a:ext cx="6903720" cy="694944"/>
          </a:xfrm>
          <a:prstGeom prst="roundRect">
            <a:avLst>
              <a:gd name="adj" fmla="val 1578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37" name="Shape 34"/>
          <p:cNvSpPr/>
          <p:nvPr/>
        </p:nvSpPr>
        <p:spPr>
          <a:xfrm>
            <a:off x="4864608" y="4846320"/>
            <a:ext cx="868680" cy="493776"/>
          </a:xfrm>
          <a:prstGeom prst="roundRect">
            <a:avLst>
              <a:gd name="adj" fmla="val 14815"/>
            </a:avLst>
          </a:prstGeom>
          <a:solidFill>
            <a:srgbClr val="2E7D32"/>
          </a:solidFill>
          <a:ln w="12700">
            <a:solidFill>
              <a:srgbClr val="2E7D32"/>
            </a:solidFill>
            <a:prstDash val="solid"/>
          </a:ln>
        </p:spPr>
      </p:sp>
      <p:sp>
        <p:nvSpPr>
          <p:cNvPr id="38" name="Text 35"/>
          <p:cNvSpPr txBox="1"/>
          <p:nvPr/>
        </p:nvSpPr>
        <p:spPr>
          <a:xfrm>
            <a:off x="4864608" y="4846320"/>
            <a:ext cx="868680"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&gt; + ~</a:t>
            </a:r>
            <a:endParaRPr lang="en-US" sz="1500" dirty="0"/>
          </a:p>
        </p:txBody>
      </p:sp>
      <p:sp>
        <p:nvSpPr>
          <p:cNvPr id="39" name="Text 36"/>
          <p:cNvSpPr txBox="1"/>
          <p:nvPr/>
        </p:nvSpPr>
        <p:spPr>
          <a:xfrm>
            <a:off x="5897880" y="4800600"/>
            <a:ext cx="1463040" cy="329184"/>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Relationship</a:t>
            </a:r>
            <a:endParaRPr lang="en-US" sz="1550" dirty="0"/>
          </a:p>
        </p:txBody>
      </p:sp>
      <p:sp>
        <p:nvSpPr>
          <p:cNvPr id="40" name="Text 37"/>
          <p:cNvSpPr txBox="1"/>
          <p:nvPr/>
        </p:nvSpPr>
        <p:spPr>
          <a:xfrm>
            <a:off x="5897880" y="5111496"/>
            <a:ext cx="2468880" cy="292608"/>
          </a:xfrm>
          <a:prstGeom prst="rect">
            <a:avLst/>
          </a:prstGeom>
          <a:noFill/>
          <a:ln/>
        </p:spPr>
        <p:txBody>
          <a:bodyPr wrap="square" lIns="0" tIns="0" rIns="0" bIns="0" rtlCol="0" anchor="ctr"/>
          <a:lstStyle/>
          <a:p>
            <a:pPr indent="0" marL="0">
              <a:buNone/>
            </a:pPr>
            <a:r>
              <a:rPr lang="en-US" sz="1150" dirty="0">
                <a:solidFill>
                  <a:srgbClr val="595959"/>
                </a:solidFill>
                <a:latin typeface="Aptos" pitchFamily="34" charset="0"/>
                <a:ea typeface="Aptos" pitchFamily="34" charset="-122"/>
                <a:cs typeface="Aptos" pitchFamily="34" charset="-120"/>
              </a:rPr>
              <a:t>Who its parent or neighbours are</a:t>
            </a:r>
            <a:endParaRPr lang="en-US" sz="1150" dirty="0"/>
          </a:p>
        </p:txBody>
      </p:sp>
      <p:sp>
        <p:nvSpPr>
          <p:cNvPr id="41" name="Text 38"/>
          <p:cNvSpPr txBox="1"/>
          <p:nvPr/>
        </p:nvSpPr>
        <p:spPr>
          <a:xfrm>
            <a:off x="8366760" y="4745736"/>
            <a:ext cx="3200400" cy="694944"/>
          </a:xfrm>
          <a:prstGeom prst="rect">
            <a:avLst/>
          </a:prstGeom>
          <a:noFill/>
          <a:ln/>
        </p:spPr>
        <p:txBody>
          <a:bodyPr wrap="square" lIns="0" tIns="0" rIns="0" bIns="0" rtlCol="0" anchor="ctr"/>
          <a:lstStyle/>
          <a:p>
            <a:pPr indent="0" marL="0">
              <a:buNone/>
            </a:pPr>
            <a:r>
              <a:rPr lang="en-US" sz="1150" dirty="0">
                <a:solidFill>
                  <a:srgbClr val="8A2B0B"/>
                </a:solidFill>
                <a:latin typeface="Consolas" pitchFamily="34" charset="0"/>
                <a:ea typeface="Consolas" pitchFamily="34" charset="-122"/>
                <a:cs typeface="Consolas" pitchFamily="34" charset="-120"/>
              </a:rPr>
              <a:t>ul &gt; li   h2 + p   h3 ~ p</a:t>
            </a:r>
            <a:endParaRPr lang="en-US" sz="1150" dirty="0"/>
          </a:p>
        </p:txBody>
      </p:sp>
      <p:sp>
        <p:nvSpPr>
          <p:cNvPr id="42" name="Shape 39"/>
          <p:cNvSpPr/>
          <p:nvPr/>
        </p:nvSpPr>
        <p:spPr>
          <a:xfrm>
            <a:off x="4754880" y="5550408"/>
            <a:ext cx="6903720" cy="694944"/>
          </a:xfrm>
          <a:prstGeom prst="roundRect">
            <a:avLst>
              <a:gd name="adj" fmla="val 1578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43" name="Shape 40"/>
          <p:cNvSpPr/>
          <p:nvPr/>
        </p:nvSpPr>
        <p:spPr>
          <a:xfrm>
            <a:off x="4864608" y="5650992"/>
            <a:ext cx="868680" cy="493776"/>
          </a:xfrm>
          <a:prstGeom prst="roundRect">
            <a:avLst>
              <a:gd name="adj" fmla="val 14815"/>
            </a:avLst>
          </a:prstGeom>
          <a:solidFill>
            <a:srgbClr val="C62828"/>
          </a:solidFill>
          <a:ln w="12700">
            <a:solidFill>
              <a:srgbClr val="C62828"/>
            </a:solidFill>
            <a:prstDash val="solid"/>
          </a:ln>
        </p:spPr>
      </p:sp>
      <p:sp>
        <p:nvSpPr>
          <p:cNvPr id="44" name="Text 41"/>
          <p:cNvSpPr txBox="1"/>
          <p:nvPr/>
        </p:nvSpPr>
        <p:spPr>
          <a:xfrm>
            <a:off x="4864608" y="5650992"/>
            <a:ext cx="868680"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a:t>
            </a:r>
            <a:endParaRPr lang="en-US" sz="1500" dirty="0"/>
          </a:p>
        </p:txBody>
      </p:sp>
      <p:sp>
        <p:nvSpPr>
          <p:cNvPr id="45" name="Text 42"/>
          <p:cNvSpPr txBox="1"/>
          <p:nvPr/>
        </p:nvSpPr>
        <p:spPr>
          <a:xfrm>
            <a:off x="5897880" y="5605272"/>
            <a:ext cx="1463040" cy="329184"/>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Part</a:t>
            </a:r>
            <a:endParaRPr lang="en-US" sz="1550" dirty="0"/>
          </a:p>
        </p:txBody>
      </p:sp>
      <p:sp>
        <p:nvSpPr>
          <p:cNvPr id="46" name="Text 43"/>
          <p:cNvSpPr txBox="1"/>
          <p:nvPr/>
        </p:nvSpPr>
        <p:spPr>
          <a:xfrm>
            <a:off x="5897880" y="5916168"/>
            <a:ext cx="2468880" cy="292608"/>
          </a:xfrm>
          <a:prstGeom prst="rect">
            <a:avLst/>
          </a:prstGeom>
          <a:noFill/>
          <a:ln/>
        </p:spPr>
        <p:txBody>
          <a:bodyPr wrap="square" lIns="0" tIns="0" rIns="0" bIns="0" rtlCol="0" anchor="ctr"/>
          <a:lstStyle/>
          <a:p>
            <a:pPr indent="0" marL="0">
              <a:buNone/>
            </a:pPr>
            <a:r>
              <a:rPr lang="en-US" sz="1150" dirty="0">
                <a:solidFill>
                  <a:srgbClr val="595959"/>
                </a:solidFill>
                <a:latin typeface="Aptos" pitchFamily="34" charset="0"/>
                <a:ea typeface="Aptos" pitchFamily="34" charset="-122"/>
                <a:cs typeface="Aptos" pitchFamily="34" charset="-120"/>
              </a:rPr>
              <a:t>Part of an element, or added content</a:t>
            </a:r>
            <a:endParaRPr lang="en-US" sz="1150" dirty="0"/>
          </a:p>
        </p:txBody>
      </p:sp>
      <p:sp>
        <p:nvSpPr>
          <p:cNvPr id="47" name="Text 44"/>
          <p:cNvSpPr txBox="1"/>
          <p:nvPr/>
        </p:nvSpPr>
        <p:spPr>
          <a:xfrm>
            <a:off x="8366760" y="5550408"/>
            <a:ext cx="3200400" cy="694944"/>
          </a:xfrm>
          <a:prstGeom prst="rect">
            <a:avLst/>
          </a:prstGeom>
          <a:noFill/>
          <a:ln/>
        </p:spPr>
        <p:txBody>
          <a:bodyPr wrap="square" lIns="0" tIns="0" rIns="0" bIns="0" rtlCol="0" anchor="ctr"/>
          <a:lstStyle/>
          <a:p>
            <a:pPr indent="0" marL="0">
              <a:buNone/>
            </a:pPr>
            <a:r>
              <a:rPr lang="en-US" sz="1150" dirty="0">
                <a:solidFill>
                  <a:srgbClr val="8A2B0B"/>
                </a:solidFill>
                <a:latin typeface="Consolas" pitchFamily="34" charset="0"/>
                <a:ea typeface="Consolas" pitchFamily="34" charset="-122"/>
                <a:cs typeface="Consolas" pitchFamily="34" charset="-120"/>
              </a:rPr>
              <a:t>p::first-letter   .new::before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Repos\2026-2027\WEBD1000\06_Selectors_and_Anim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397915"/>
            <a:ext cx="5852160" cy="6062171"/>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626515"/>
            <a:ext cx="5394960" cy="5604971"/>
          </a:xfrm>
          <a:prstGeom prst="rect">
            <a:avLst/>
          </a:prstGeom>
          <a:noFill/>
          <a:ln/>
        </p:spPr>
        <p:txBody>
          <a:bodyPr wrap="square" lIns="0" tIns="0" rIns="0" bIns="0" rtlCol="0" anchor="t"/>
          <a:lstStyle/>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body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font-family</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"Segoe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UI",</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Arial,</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sans-serif</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 A pseudo-class (:) styles an element in a certain STATE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a:link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#1B5E82</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   </a:t>
            </a:r>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 not visited yet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a:visited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#A02B93</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   </a:t>
            </a:r>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 already visited */</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 Mouse over it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a:hover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#FBE9DF</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 Tabbed to with the keyboard: never remove this!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a:focus-visible,</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button:focus-visible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outline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3px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solid</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#E97132</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outline-offset</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3px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button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font-size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1rem</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10px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20px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border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border-radius</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6px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button:hover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#1B5E82</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button:active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#B5451B</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 </a:t>
            </a:r>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 while clicking */</a:t>
            </a:r>
            <a:endParaRPr lang="en-US" sz="11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SELECTORS 1 · STATE</a:t>
            </a:r>
            <a:endParaRPr lang="en-US" sz="1400" dirty="0"/>
          </a:p>
        </p:txBody>
      </p:sp>
      <p:sp>
        <p:nvSpPr>
          <p:cNvPr id="6" name="Text 3"/>
          <p:cNvSpPr txBox="1"/>
          <p:nvPr/>
        </p:nvSpPr>
        <p:spPr>
          <a:xfrm>
            <a:off x="6812280" y="731520"/>
            <a:ext cx="4967935" cy="960120"/>
          </a:xfrm>
          <a:prstGeom prst="rect">
            <a:avLst/>
          </a:prstGeom>
          <a:noFill/>
          <a:ln/>
        </p:spPr>
        <p:txBody>
          <a:bodyPr wrap="square" lIns="0" tIns="0" rIns="0" bIns="0" rtlCol="0" anchor="t"/>
          <a:lstStyle/>
          <a:p>
            <a:pPr indent="0" marL="0">
              <a:buNone/>
            </a:pPr>
            <a:r>
              <a:rPr lang="en-US" sz="2600" dirty="0">
                <a:solidFill>
                  <a:srgbClr val="000000"/>
                </a:solidFill>
                <a:latin typeface="Aptos" pitchFamily="34" charset="0"/>
                <a:ea typeface="Aptos" pitchFamily="34" charset="-122"/>
                <a:cs typeface="Aptos" pitchFamily="34" charset="-120"/>
              </a:rPr>
              <a:t>Pseudo-classes: :hover, :focus-visible, :active</a:t>
            </a:r>
            <a:endParaRPr lang="en-US" sz="2600" dirty="0"/>
          </a:p>
        </p:txBody>
      </p:sp>
      <p:pic>
        <p:nvPicPr>
          <p:cNvPr id="7" name="Image 1" descr="C:\Repos\2026-2027\WEBD1000\06_Selectors_and_Animation\_build\shots\ex01.png">    </p:cNvPr>
          <p:cNvPicPr>
            <a:picLocks noChangeAspect="1"/>
          </p:cNvPicPr>
          <p:nvPr/>
        </p:nvPicPr>
        <p:blipFill>
          <a:blip r:embed="rId2"/>
          <a:stretch>
            <a:fillRect/>
          </a:stretch>
        </p:blipFill>
        <p:spPr>
          <a:xfrm>
            <a:off x="6812280" y="4810338"/>
            <a:ext cx="4967935" cy="1407582"/>
          </a:xfrm>
          <a:prstGeom prst="rect">
            <a:avLst/>
          </a:prstGeom>
        </p:spPr>
      </p:pic>
      <p:sp>
        <p:nvSpPr>
          <p:cNvPr id="8" name="Shape 4"/>
          <p:cNvSpPr/>
          <p:nvPr/>
        </p:nvSpPr>
        <p:spPr>
          <a:xfrm>
            <a:off x="6812280" y="4810338"/>
            <a:ext cx="4967935" cy="1407582"/>
          </a:xfrm>
          <a:prstGeom prst="rect">
            <a:avLst/>
          </a:prstGeom>
          <a:ln w="12700">
            <a:solidFill>
              <a:srgbClr val="B0B8BC"/>
            </a:solidFill>
            <a:prstDash val="solid"/>
          </a:ln>
        </p:spPr>
      </p:sp>
      <p:sp>
        <p:nvSpPr>
          <p:cNvPr id="9" name="Text 5"/>
          <p:cNvSpPr txBox="1"/>
          <p:nvPr/>
        </p:nvSpPr>
        <p:spPr>
          <a:xfrm>
            <a:off x="6812280" y="4517730"/>
            <a:ext cx="496793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783080"/>
            <a:ext cx="4967935" cy="2643210"/>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A </a:t>
            </a:r>
            <a:pPr indent="0" marL="0">
              <a:buNone/>
            </a:pPr>
            <a:r>
              <a:rPr lang="en-US" sz="1350" b="1" dirty="0">
                <a:solidFill>
                  <a:srgbClr val="262626"/>
                </a:solidFill>
                <a:latin typeface="Aptos" pitchFamily="34" charset="0"/>
                <a:ea typeface="Aptos" pitchFamily="34" charset="-122"/>
                <a:cs typeface="Aptos" pitchFamily="34" charset="-120"/>
              </a:rPr>
              <a:t>pseudo-class</a:t>
            </a:r>
            <a:pPr indent="0" marL="0">
              <a:buNone/>
            </a:pPr>
            <a:r>
              <a:rPr lang="en-US" sz="1350" dirty="0">
                <a:solidFill>
                  <a:srgbClr val="262626"/>
                </a:solidFill>
                <a:latin typeface="Aptos" pitchFamily="34" charset="0"/>
                <a:ea typeface="Aptos" pitchFamily="34" charset="-122"/>
                <a:cs typeface="Aptos" pitchFamily="34" charset="-120"/>
              </a:rPr>
              <a:t> (one colon) matches an element in a </a:t>
            </a:r>
            <a:pPr indent="0" marL="0">
              <a:buNone/>
            </a:pPr>
            <a:r>
              <a:rPr lang="en-US" sz="1350" b="1" dirty="0">
                <a:solidFill>
                  <a:srgbClr val="262626"/>
                </a:solidFill>
                <a:latin typeface="Aptos" pitchFamily="34" charset="0"/>
                <a:ea typeface="Aptos" pitchFamily="34" charset="-122"/>
                <a:cs typeface="Aptos" pitchFamily="34" charset="-120"/>
              </a:rPr>
              <a:t>state</a:t>
            </a:r>
            <a:pPr indent="0" marL="0">
              <a:buNone/>
            </a:pPr>
            <a:r>
              <a:rPr lang="en-US" sz="1350" dirty="0">
                <a:solidFill>
                  <a:srgbClr val="262626"/>
                </a:solidFill>
                <a:latin typeface="Aptos" pitchFamily="34" charset="0"/>
                <a:ea typeface="Aptos" pitchFamily="34" charset="-122"/>
                <a:cs typeface="Aptos" pitchFamily="34" charset="-120"/>
              </a:rPr>
              <a:t>: </a:t>
            </a:r>
            <a:pPr indent="0" marL="0">
              <a:buNone/>
            </a:pPr>
            <a:r>
              <a:rPr lang="en-US" sz="1350" dirty="0">
                <a:solidFill>
                  <a:srgbClr val="8A2B0B"/>
                </a:solidFill>
                <a:latin typeface="Consolas" pitchFamily="34" charset="0"/>
                <a:ea typeface="Consolas" pitchFamily="34" charset="-122"/>
                <a:cs typeface="Consolas" pitchFamily="34" charset="-120"/>
              </a:rPr>
              <a:t>:hover</a:t>
            </a:r>
            <a:pPr indent="0" marL="0">
              <a:buNone/>
            </a:pPr>
            <a:r>
              <a:rPr lang="en-US" sz="1350" dirty="0">
                <a:solidFill>
                  <a:srgbClr val="262626"/>
                </a:solidFill>
                <a:latin typeface="Aptos" pitchFamily="34" charset="0"/>
                <a:ea typeface="Aptos" pitchFamily="34" charset="-122"/>
                <a:cs typeface="Aptos" pitchFamily="34" charset="-120"/>
              </a:rPr>
              <a:t> mouse over, </a:t>
            </a:r>
            <a:pPr indent="0" marL="0">
              <a:buNone/>
            </a:pPr>
            <a:r>
              <a:rPr lang="en-US" sz="1350" dirty="0">
                <a:solidFill>
                  <a:srgbClr val="8A2B0B"/>
                </a:solidFill>
                <a:latin typeface="Consolas" pitchFamily="34" charset="0"/>
                <a:ea typeface="Consolas" pitchFamily="34" charset="-122"/>
                <a:cs typeface="Consolas" pitchFamily="34" charset="-120"/>
              </a:rPr>
              <a:t>:active</a:t>
            </a:r>
            <a:pPr indent="0" marL="0">
              <a:buNone/>
            </a:pPr>
            <a:r>
              <a:rPr lang="en-US" sz="1350" dirty="0">
                <a:solidFill>
                  <a:srgbClr val="262626"/>
                </a:solidFill>
                <a:latin typeface="Aptos" pitchFamily="34" charset="0"/>
                <a:ea typeface="Aptos" pitchFamily="34" charset="-122"/>
                <a:cs typeface="Aptos" pitchFamily="34" charset="-120"/>
              </a:rPr>
              <a:t> being clicked, </a:t>
            </a:r>
            <a:pPr indent="0" marL="0">
              <a:buNone/>
            </a:pPr>
            <a:r>
              <a:rPr lang="en-US" sz="1350" dirty="0">
                <a:solidFill>
                  <a:srgbClr val="8A2B0B"/>
                </a:solidFill>
                <a:latin typeface="Consolas" pitchFamily="34" charset="0"/>
                <a:ea typeface="Consolas" pitchFamily="34" charset="-122"/>
                <a:cs typeface="Consolas" pitchFamily="34" charset="-120"/>
              </a:rPr>
              <a:t>:visited</a:t>
            </a:r>
            <a:pPr indent="0" marL="0">
              <a:buNone/>
            </a:pPr>
            <a:r>
              <a:rPr lang="en-US" sz="1350" dirty="0">
                <a:solidFill>
                  <a:srgbClr val="262626"/>
                </a:solidFill>
                <a:latin typeface="Aptos" pitchFamily="34" charset="0"/>
                <a:ea typeface="Aptos" pitchFamily="34" charset="-122"/>
                <a:cs typeface="Aptos" pitchFamily="34" charset="-120"/>
              </a:rPr>
              <a:t> link already seen.</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:focus-visible</a:t>
            </a:r>
            <a:pPr indent="0" marL="0">
              <a:buNone/>
            </a:pPr>
            <a:r>
              <a:rPr lang="en-US" sz="1350" dirty="0">
                <a:solidFill>
                  <a:srgbClr val="262626"/>
                </a:solidFill>
                <a:latin typeface="Aptos" pitchFamily="34" charset="0"/>
                <a:ea typeface="Aptos" pitchFamily="34" charset="-122"/>
                <a:cs typeface="Aptos" pitchFamily="34" charset="-120"/>
              </a:rPr>
              <a:t> shows where keyboard users are. </a:t>
            </a:r>
            <a:pPr indent="0" marL="0">
              <a:buNone/>
            </a:pPr>
            <a:r>
              <a:rPr lang="en-US" sz="1350" b="1" dirty="0">
                <a:solidFill>
                  <a:srgbClr val="262626"/>
                </a:solidFill>
                <a:latin typeface="Aptos" pitchFamily="34" charset="0"/>
                <a:ea typeface="Aptos" pitchFamily="34" charset="-122"/>
                <a:cs typeface="Aptos" pitchFamily="34" charset="-120"/>
              </a:rPr>
              <a:t>Never remove the focus outline</a:t>
            </a:r>
            <a:pPr indent="0" marL="0">
              <a:buNone/>
            </a:pPr>
            <a:r>
              <a:rPr lang="en-US" sz="1350" dirty="0">
                <a:solidFill>
                  <a:srgbClr val="262626"/>
                </a:solidFill>
                <a:latin typeface="Aptos" pitchFamily="34" charset="0"/>
                <a:ea typeface="Aptos" pitchFamily="34" charset="-122"/>
                <a:cs typeface="Aptos" pitchFamily="34" charset="-120"/>
              </a:rPr>
              <a:t> without replacing it.</a:t>
            </a:r>
            <a:endParaRPr lang="en-US" sz="135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01_pseudo_classes_example.html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Repos\2026-2027\WEBD1000\06_Selectors_and_Anim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365760"/>
            <a:ext cx="5852160" cy="61264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594360"/>
            <a:ext cx="5394960" cy="5669280"/>
          </a:xfrm>
          <a:prstGeom prst="rect">
            <a:avLst/>
          </a:prstGeom>
          <a:noFill/>
          <a:ln/>
        </p:spPr>
        <p:txBody>
          <a:bodyPr wrap="square" lIns="0" tIns="0" rIns="0" bIns="0" rtlCol="0" anchor="t"/>
          <a:lstStyle/>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body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font-family</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"Segoe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UI",</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Arial,</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sans-serif</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table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border-collapse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collapse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100%</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td, th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8px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12px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text-align</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left</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6A9955"/>
                </a:solidFill>
                <a:latin typeface="Consolas" pitchFamily="34" charset="0"/>
                <a:ea typeface="Consolas" pitchFamily="34" charset="-122"/>
                <a:cs typeface="Consolas" pitchFamily="34" charset="-120"/>
              </a:rPr>
              <a:t>/* Zebra stripes: every even row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tr:nth-child(even)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#E1E8EB</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6A9955"/>
                </a:solidFill>
                <a:latin typeface="Consolas" pitchFamily="34" charset="0"/>
                <a:ea typeface="Consolas" pitchFamily="34" charset="-122"/>
                <a:cs typeface="Consolas" pitchFamily="34" charset="-120"/>
              </a:rPr>
              <a:t>/* The first row (the header row)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tr:first-child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6A9955"/>
                </a:solidFill>
                <a:latin typeface="Consolas" pitchFamily="34" charset="0"/>
                <a:ea typeface="Consolas" pitchFamily="34" charset="-122"/>
                <a:cs typeface="Consolas" pitchFamily="34" charset="-120"/>
              </a:rPr>
              <a:t>/* The last cell in each row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td:last-child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bold</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#B5451B</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6A9955"/>
                </a:solidFill>
                <a:latin typeface="Consolas" pitchFamily="34" charset="0"/>
                <a:ea typeface="Consolas" pitchFamily="34" charset="-122"/>
                <a:cs typeface="Consolas" pitchFamily="34" charset="-120"/>
              </a:rPr>
              <a:t>/* Every li EXCEPT the one with class="sold-out"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li:not(.sold-out)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#2E7D32</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SELECTORS 2 · POSITION</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Structural Pseudo-classes</a:t>
            </a:r>
            <a:endParaRPr lang="en-US" sz="3200" dirty="0"/>
          </a:p>
        </p:txBody>
      </p:sp>
      <p:pic>
        <p:nvPicPr>
          <p:cNvPr id="7" name="Image 1" descr="C:\Repos\2026-2027\WEBD1000\06_Selectors_and_Animation\_build\shots\ex02.png">    </p:cNvPr>
          <p:cNvPicPr>
            <a:picLocks noChangeAspect="1"/>
          </p:cNvPicPr>
          <p:nvPr/>
        </p:nvPicPr>
        <p:blipFill>
          <a:blip r:embed="rId2"/>
          <a:stretch>
            <a:fillRect/>
          </a:stretch>
        </p:blipFill>
        <p:spPr>
          <a:xfrm>
            <a:off x="6812280" y="3429000"/>
            <a:ext cx="4183380" cy="2788920"/>
          </a:xfrm>
          <a:prstGeom prst="rect">
            <a:avLst/>
          </a:prstGeom>
        </p:spPr>
      </p:pic>
      <p:sp>
        <p:nvSpPr>
          <p:cNvPr id="8" name="Shape 4"/>
          <p:cNvSpPr/>
          <p:nvPr/>
        </p:nvSpPr>
        <p:spPr>
          <a:xfrm>
            <a:off x="6812280" y="3429000"/>
            <a:ext cx="4183380" cy="2788920"/>
          </a:xfrm>
          <a:prstGeom prst="rect">
            <a:avLst/>
          </a:prstGeom>
          <a:ln w="12700">
            <a:solidFill>
              <a:srgbClr val="B0B8BC"/>
            </a:solidFill>
            <a:prstDash val="solid"/>
          </a:ln>
        </p:spPr>
      </p:sp>
      <p:sp>
        <p:nvSpPr>
          <p:cNvPr id="9" name="Text 5"/>
          <p:cNvSpPr txBox="1"/>
          <p:nvPr/>
        </p:nvSpPr>
        <p:spPr>
          <a:xfrm>
            <a:off x="6812280" y="3136392"/>
            <a:ext cx="4183380"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1536192"/>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:first-child</a:t>
            </a:r>
            <a:pPr indent="0" marL="0">
              <a:buNone/>
            </a:pPr>
            <a:r>
              <a:rPr lang="en-US" sz="1350" dirty="0">
                <a:solidFill>
                  <a:srgbClr val="262626"/>
                </a:solidFill>
                <a:latin typeface="Aptos" pitchFamily="34" charset="0"/>
                <a:ea typeface="Aptos" pitchFamily="34" charset="-122"/>
                <a:cs typeface="Aptos" pitchFamily="34" charset="-120"/>
              </a:rPr>
              <a:t> / </a:t>
            </a:r>
            <a:pPr indent="0" marL="0">
              <a:buNone/>
            </a:pPr>
            <a:r>
              <a:rPr lang="en-US" sz="1350" dirty="0">
                <a:solidFill>
                  <a:srgbClr val="8A2B0B"/>
                </a:solidFill>
                <a:latin typeface="Consolas" pitchFamily="34" charset="0"/>
                <a:ea typeface="Consolas" pitchFamily="34" charset="-122"/>
                <a:cs typeface="Consolas" pitchFamily="34" charset="-120"/>
              </a:rPr>
              <a:t>:last-child</a:t>
            </a:r>
            <a:pPr indent="0" marL="0">
              <a:buNone/>
            </a:pPr>
            <a:r>
              <a:rPr lang="en-US" sz="1350" dirty="0">
                <a:solidFill>
                  <a:srgbClr val="262626"/>
                </a:solidFill>
                <a:latin typeface="Aptos" pitchFamily="34" charset="0"/>
                <a:ea typeface="Aptos" pitchFamily="34" charset="-122"/>
                <a:cs typeface="Aptos" pitchFamily="34" charset="-120"/>
              </a:rPr>
              <a:t>: the first or last inside its parent.</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:nth-child(even)</a:t>
            </a:r>
            <a:pPr indent="0" marL="0">
              <a:buNone/>
            </a:pPr>
            <a:r>
              <a:rPr lang="en-US" sz="1350" dirty="0">
                <a:solidFill>
                  <a:srgbClr val="262626"/>
                </a:solidFill>
                <a:latin typeface="Aptos" pitchFamily="34" charset="0"/>
                <a:ea typeface="Aptos" pitchFamily="34" charset="-122"/>
                <a:cs typeface="Aptos" pitchFamily="34" charset="-120"/>
              </a:rPr>
              <a:t> zebra stripes. Also </a:t>
            </a:r>
            <a:pPr indent="0" marL="0">
              <a:buNone/>
            </a:pPr>
            <a:r>
              <a:rPr lang="en-US" sz="1350" dirty="0">
                <a:solidFill>
                  <a:srgbClr val="8A2B0B"/>
                </a:solidFill>
                <a:latin typeface="Consolas" pitchFamily="34" charset="0"/>
                <a:ea typeface="Consolas" pitchFamily="34" charset="-122"/>
                <a:cs typeface="Consolas" pitchFamily="34" charset="-120"/>
              </a:rPr>
              <a:t>odd</a:t>
            </a:r>
            <a:pPr indent="0" marL="0">
              <a:buNone/>
            </a:pPr>
            <a:r>
              <a:rPr lang="en-US" sz="1350" dirty="0">
                <a:solidFill>
                  <a:srgbClr val="262626"/>
                </a:solidFill>
                <a:latin typeface="Aptos" pitchFamily="34" charset="0"/>
                <a:ea typeface="Aptos" pitchFamily="34" charset="-122"/>
                <a:cs typeface="Aptos" pitchFamily="34" charset="-120"/>
              </a:rPr>
              <a:t>, </a:t>
            </a:r>
            <a:pPr indent="0" marL="0">
              <a:buNone/>
            </a:pPr>
            <a:r>
              <a:rPr lang="en-US" sz="1350" dirty="0">
                <a:solidFill>
                  <a:srgbClr val="8A2B0B"/>
                </a:solidFill>
                <a:latin typeface="Consolas" pitchFamily="34" charset="0"/>
                <a:ea typeface="Consolas" pitchFamily="34" charset="-122"/>
                <a:cs typeface="Consolas" pitchFamily="34" charset="-120"/>
              </a:rPr>
              <a:t>3</a:t>
            </a:r>
            <a:pPr indent="0" marL="0">
              <a:buNone/>
            </a:pPr>
            <a:r>
              <a:rPr lang="en-US" sz="1350" dirty="0">
                <a:solidFill>
                  <a:srgbClr val="262626"/>
                </a:solidFill>
                <a:latin typeface="Aptos" pitchFamily="34" charset="0"/>
                <a:ea typeface="Aptos" pitchFamily="34" charset="-122"/>
                <a:cs typeface="Aptos" pitchFamily="34" charset="-120"/>
              </a:rPr>
              <a:t> (the third) or </a:t>
            </a:r>
            <a:pPr indent="0" marL="0">
              <a:buNone/>
            </a:pPr>
            <a:r>
              <a:rPr lang="en-US" sz="1350" dirty="0">
                <a:solidFill>
                  <a:srgbClr val="8A2B0B"/>
                </a:solidFill>
                <a:latin typeface="Consolas" pitchFamily="34" charset="0"/>
                <a:ea typeface="Consolas" pitchFamily="34" charset="-122"/>
                <a:cs typeface="Consolas" pitchFamily="34" charset="-120"/>
              </a:rPr>
              <a:t>3n</a:t>
            </a:r>
            <a:pPr indent="0" marL="0">
              <a:buNone/>
            </a:pPr>
            <a:r>
              <a:rPr lang="en-US" sz="1350" dirty="0">
                <a:solidFill>
                  <a:srgbClr val="262626"/>
                </a:solidFill>
                <a:latin typeface="Aptos" pitchFamily="34" charset="0"/>
                <a:ea typeface="Aptos" pitchFamily="34" charset="-122"/>
                <a:cs typeface="Aptos" pitchFamily="34" charset="-120"/>
              </a:rPr>
              <a:t> (every third).</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:not(.sold-out)</a:t>
            </a:r>
            <a:pPr indent="0" marL="0">
              <a:buNone/>
            </a:pPr>
            <a:r>
              <a:rPr lang="en-US" sz="1350" dirty="0">
                <a:solidFill>
                  <a:srgbClr val="262626"/>
                </a:solidFill>
                <a:latin typeface="Aptos" pitchFamily="34" charset="0"/>
                <a:ea typeface="Aptos" pitchFamily="34" charset="-122"/>
                <a:cs typeface="Aptos" pitchFamily="34" charset="-120"/>
              </a:rPr>
              <a:t>: everything </a:t>
            </a:r>
            <a:pPr indent="0" marL="0">
              <a:buNone/>
            </a:pPr>
            <a:r>
              <a:rPr lang="en-US" sz="1350" b="1" dirty="0">
                <a:solidFill>
                  <a:srgbClr val="262626"/>
                </a:solidFill>
                <a:latin typeface="Aptos" pitchFamily="34" charset="0"/>
                <a:ea typeface="Aptos" pitchFamily="34" charset="-122"/>
                <a:cs typeface="Aptos" pitchFamily="34" charset="-120"/>
              </a:rPr>
              <a:t>except</a:t>
            </a:r>
            <a:pPr indent="0" marL="0">
              <a:buNone/>
            </a:pPr>
            <a:r>
              <a:rPr lang="en-US" sz="1350" dirty="0">
                <a:solidFill>
                  <a:srgbClr val="262626"/>
                </a:solidFill>
                <a:latin typeface="Aptos" pitchFamily="34" charset="0"/>
                <a:ea typeface="Aptos" pitchFamily="34" charset="-122"/>
                <a:cs typeface="Aptos" pitchFamily="34" charset="-120"/>
              </a:rPr>
              <a:t> what's in the brackets.</a:t>
            </a:r>
            <a:endParaRPr lang="en-US" sz="135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02_structural_example.html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C:\Repos\2026-2027\WEBD1000\06_Selectors_and_Anim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365760"/>
            <a:ext cx="5852160" cy="61264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594360"/>
            <a:ext cx="5394960" cy="5669280"/>
          </a:xfrm>
          <a:prstGeom prst="rect">
            <a:avLst/>
          </a:prstGeom>
          <a:noFill/>
          <a:ln/>
        </p:spPr>
        <p:txBody>
          <a:bodyPr wrap="square" lIns="0" tIns="0" rIns="0" bIns="0" rtlCol="0" anchor="t"/>
          <a:lstStyle/>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body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font-family</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"Segoe</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UI",</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Arial,</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sans-serif</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line-height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B5CEA8"/>
                </a:solidFill>
                <a:latin typeface="Consolas" pitchFamily="34" charset="0"/>
                <a:ea typeface="Consolas" pitchFamily="34" charset="-122"/>
                <a:cs typeface="Consolas" pitchFamily="34" charset="-120"/>
              </a:rPr>
              <a:t>1.8</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rgbClr val="6A9955"/>
                </a:solidFill>
                <a:latin typeface="Consolas" pitchFamily="34" charset="0"/>
                <a:ea typeface="Consolas" pitchFamily="34" charset="-122"/>
                <a:cs typeface="Consolas" pitchFamily="34" charset="-120"/>
              </a:rPr>
              <a:t>/* [attr="value"]: an exact match */</a:t>
            </a:r>
            <a:endParaRPr lang="en-US" sz="1500" dirty="0"/>
          </a:p>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input[type="email"]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border</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B5CEA8"/>
                </a:solidFill>
                <a:latin typeface="Consolas" pitchFamily="34" charset="0"/>
                <a:ea typeface="Consolas" pitchFamily="34" charset="-122"/>
                <a:cs typeface="Consolas" pitchFamily="34" charset="-120"/>
              </a:rPr>
              <a:t>2px</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solid</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#1B5E82</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rgbClr val="6A9955"/>
                </a:solidFill>
                <a:latin typeface="Consolas" pitchFamily="34" charset="0"/>
                <a:ea typeface="Consolas" pitchFamily="34" charset="-122"/>
                <a:cs typeface="Consolas" pitchFamily="34" charset="-120"/>
              </a:rPr>
              <a:t>/* ^= starts with: links that leave our site */</a:t>
            </a:r>
            <a:endParaRPr lang="en-US" sz="1500" dirty="0"/>
          </a:p>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a[href^="https"]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#A02B93</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rgbClr val="6A9955"/>
                </a:solidFill>
                <a:latin typeface="Consolas" pitchFamily="34" charset="0"/>
                <a:ea typeface="Consolas" pitchFamily="34" charset="-122"/>
                <a:cs typeface="Consolas" pitchFamily="34" charset="-120"/>
              </a:rPr>
              <a:t>/* $= ends with: links to PDF files */</a:t>
            </a:r>
            <a:endParaRPr lang="en-US" sz="1500" dirty="0"/>
          </a:p>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a[href$=".pdf"]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#B5451B</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bold</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rgbClr val="6A9955"/>
                </a:solidFill>
                <a:latin typeface="Consolas" pitchFamily="34" charset="0"/>
                <a:ea typeface="Consolas" pitchFamily="34" charset="-122"/>
                <a:cs typeface="Consolas" pitchFamily="34" charset="-120"/>
              </a:rPr>
              <a:t>/* [attr]: has the attribute at all */</a:t>
            </a:r>
            <a:endParaRPr lang="en-US" sz="1500" dirty="0"/>
          </a:p>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a[target]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text-decoration</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underline</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wavy</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SELECTORS 3 · ATTRIBUTE</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Attribute Selectors</a:t>
            </a:r>
            <a:endParaRPr lang="en-US" sz="3200" dirty="0"/>
          </a:p>
        </p:txBody>
      </p:sp>
      <p:pic>
        <p:nvPicPr>
          <p:cNvPr id="7" name="Image 1" descr="C:\Repos\2026-2027\WEBD1000\06_Selectors_and_Animation\_build\shots\ex03.png">    </p:cNvPr>
          <p:cNvPicPr>
            <a:picLocks noChangeAspect="1"/>
          </p:cNvPicPr>
          <p:nvPr/>
        </p:nvPicPr>
        <p:blipFill>
          <a:blip r:embed="rId2"/>
          <a:stretch>
            <a:fillRect/>
          </a:stretch>
        </p:blipFill>
        <p:spPr>
          <a:xfrm>
            <a:off x="6812280" y="3899550"/>
            <a:ext cx="4967935" cy="2318370"/>
          </a:xfrm>
          <a:prstGeom prst="rect">
            <a:avLst/>
          </a:prstGeom>
        </p:spPr>
      </p:pic>
      <p:sp>
        <p:nvSpPr>
          <p:cNvPr id="8" name="Shape 4"/>
          <p:cNvSpPr/>
          <p:nvPr/>
        </p:nvSpPr>
        <p:spPr>
          <a:xfrm>
            <a:off x="6812280" y="3899550"/>
            <a:ext cx="4967935" cy="2318370"/>
          </a:xfrm>
          <a:prstGeom prst="rect">
            <a:avLst/>
          </a:prstGeom>
          <a:ln w="12700">
            <a:solidFill>
              <a:srgbClr val="B0B8BC"/>
            </a:solidFill>
            <a:prstDash val="solid"/>
          </a:ln>
        </p:spPr>
      </p:sp>
      <p:sp>
        <p:nvSpPr>
          <p:cNvPr id="9" name="Text 5"/>
          <p:cNvSpPr txBox="1"/>
          <p:nvPr/>
        </p:nvSpPr>
        <p:spPr>
          <a:xfrm>
            <a:off x="6812280" y="3606942"/>
            <a:ext cx="496793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2006742"/>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Square brackets match </a:t>
            </a:r>
            <a:pPr indent="0" marL="0">
              <a:buNone/>
            </a:pPr>
            <a:r>
              <a:rPr lang="en-US" sz="1350" b="1" dirty="0">
                <a:solidFill>
                  <a:srgbClr val="262626"/>
                </a:solidFill>
                <a:latin typeface="Aptos" pitchFamily="34" charset="0"/>
                <a:ea typeface="Aptos" pitchFamily="34" charset="-122"/>
                <a:cs typeface="Aptos" pitchFamily="34" charset="-120"/>
              </a:rPr>
              <a:t>what's inside the tag</a:t>
            </a:r>
            <a:pPr indent="0" marL="0">
              <a:buNone/>
            </a:pPr>
            <a:r>
              <a:rPr lang="en-US" sz="1350" dirty="0">
                <a:solidFill>
                  <a:srgbClr val="262626"/>
                </a:solidFill>
                <a:latin typeface="Aptos" pitchFamily="34" charset="0"/>
                <a:ea typeface="Aptos" pitchFamily="34" charset="-122"/>
                <a:cs typeface="Aptos" pitchFamily="34" charset="-120"/>
              </a:rPr>
              <a:t>: </a:t>
            </a:r>
            <a:pPr indent="0" marL="0">
              <a:buNone/>
            </a:pPr>
            <a:r>
              <a:rPr lang="en-US" sz="1350" dirty="0">
                <a:solidFill>
                  <a:srgbClr val="8A2B0B"/>
                </a:solidFill>
                <a:latin typeface="Consolas" pitchFamily="34" charset="0"/>
                <a:ea typeface="Consolas" pitchFamily="34" charset="-122"/>
                <a:cs typeface="Consolas" pitchFamily="34" charset="-120"/>
              </a:rPr>
              <a:t>[type="email"]</a:t>
            </a:r>
            <a:pPr indent="0" marL="0">
              <a:buNone/>
            </a:pPr>
            <a:r>
              <a:rPr lang="en-US" sz="1350" dirty="0">
                <a:solidFill>
                  <a:srgbClr val="262626"/>
                </a:solidFill>
                <a:latin typeface="Aptos" pitchFamily="34" charset="0"/>
                <a:ea typeface="Aptos" pitchFamily="34" charset="-122"/>
                <a:cs typeface="Aptos" pitchFamily="34" charset="-120"/>
              </a:rPr>
              <a:t> is an exact match.</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 starts with, </a:t>
            </a:r>
            <a:pPr indent="0" marL="0">
              <a:buNone/>
            </a:pPr>
            <a:r>
              <a:rPr lang="en-US" sz="1350" dirty="0">
                <a:solidFill>
                  <a:srgbClr val="8A2B0B"/>
                </a:solidFill>
                <a:latin typeface="Consolas" pitchFamily="34" charset="0"/>
                <a:ea typeface="Consolas" pitchFamily="34" charset="-122"/>
                <a:cs typeface="Consola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 ends with, </a:t>
            </a:r>
            <a:pPr indent="0" marL="0">
              <a:buNone/>
            </a:pPr>
            <a:r>
              <a:rPr lang="en-US" sz="1350" dirty="0">
                <a:solidFill>
                  <a:srgbClr val="8A2B0B"/>
                </a:solidFill>
                <a:latin typeface="Consolas" pitchFamily="34" charset="0"/>
                <a:ea typeface="Consolas" pitchFamily="34" charset="-122"/>
                <a:cs typeface="Consola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 contains. </a:t>
            </a:r>
            <a:pPr indent="0" marL="0">
              <a:buNone/>
            </a:pPr>
            <a:r>
              <a:rPr lang="en-US" sz="1350" dirty="0">
                <a:solidFill>
                  <a:srgbClr val="8A2B0B"/>
                </a:solidFill>
                <a:latin typeface="Consolas" pitchFamily="34" charset="0"/>
                <a:ea typeface="Consolas" pitchFamily="34" charset="-122"/>
                <a:cs typeface="Consolas" pitchFamily="34" charset="-120"/>
              </a:rPr>
              <a:t>[target]</a:t>
            </a:r>
            <a:pPr indent="0" marL="0">
              <a:buNone/>
            </a:pPr>
            <a:r>
              <a:rPr lang="en-US" sz="1350" dirty="0">
                <a:solidFill>
                  <a:srgbClr val="262626"/>
                </a:solidFill>
                <a:latin typeface="Aptos" pitchFamily="34" charset="0"/>
                <a:ea typeface="Aptos" pitchFamily="34" charset="-122"/>
                <a:cs typeface="Aptos" pitchFamily="34" charset="-120"/>
              </a:rPr>
              <a:t> just has the attribute.</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Great for links: show which ones go to another site, or download a PDF.</a:t>
            </a:r>
            <a:endParaRPr lang="en-US" sz="135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03_attribute_example.html</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C:\Repos\2026-2027\WEBD1000\06_Selectors_and_Anim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663165"/>
            <a:ext cx="5852160" cy="553167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891765"/>
            <a:ext cx="5394960" cy="5074470"/>
          </a:xfrm>
          <a:prstGeom prst="rect">
            <a:avLst/>
          </a:prstGeom>
          <a:noFill/>
          <a:ln/>
        </p:spPr>
        <p:txBody>
          <a:bodyPr wrap="square" lIns="0" tIns="0" rIns="0" bIns="0" rtlCol="0" anchor="t"/>
          <a:lstStyle/>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body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font-family</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"Segoe</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UI",</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Arial,</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sans-serif</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6A9955"/>
                </a:solidFill>
                <a:latin typeface="Consolas" pitchFamily="34" charset="0"/>
                <a:ea typeface="Consolas" pitchFamily="34" charset="-122"/>
                <a:cs typeface="Consolas" pitchFamily="34" charset="-120"/>
              </a:rPr>
              <a:t>/* space = descendant: ANY p inside article (any depth) */</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article p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#1B5E82</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6A9955"/>
                </a:solidFill>
                <a:latin typeface="Consolas" pitchFamily="34" charset="0"/>
                <a:ea typeface="Consolas" pitchFamily="34" charset="-122"/>
                <a:cs typeface="Consolas" pitchFamily="34" charset="-120"/>
              </a:rPr>
              <a:t>/* &gt; = child: only p's DIRECTLY inside article */</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article &gt; p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border-left</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solid</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#1B5E82</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padding-left</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8px</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6A9955"/>
                </a:solidFill>
                <a:latin typeface="Consolas" pitchFamily="34" charset="0"/>
                <a:ea typeface="Consolas" pitchFamily="34" charset="-122"/>
                <a:cs typeface="Consolas" pitchFamily="34" charset="-120"/>
              </a:rPr>
              <a:t>/* + = adjacent sibling: the p RIGHT AFTER an h2 */</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h2 + p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font-size</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1.2rem</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bold</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6A9955"/>
                </a:solidFill>
                <a:latin typeface="Consolas" pitchFamily="34" charset="0"/>
                <a:ea typeface="Consolas" pitchFamily="34" charset="-122"/>
                <a:cs typeface="Consolas" pitchFamily="34" charset="-120"/>
              </a:rPr>
              <a:t>/* ~ = general sibling: EVERY p after an h3 */</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h3 ~ p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#B5451B</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SELECTORS 4 · RELATIONSHIP</a:t>
            </a:r>
            <a:endParaRPr lang="en-US" sz="1400" dirty="0"/>
          </a:p>
        </p:txBody>
      </p:sp>
      <p:sp>
        <p:nvSpPr>
          <p:cNvPr id="6" name="Text 3"/>
          <p:cNvSpPr txBox="1"/>
          <p:nvPr/>
        </p:nvSpPr>
        <p:spPr>
          <a:xfrm>
            <a:off x="6812280" y="731520"/>
            <a:ext cx="4967935" cy="960120"/>
          </a:xfrm>
          <a:prstGeom prst="rect">
            <a:avLst/>
          </a:prstGeom>
          <a:noFill/>
          <a:ln/>
        </p:spPr>
        <p:txBody>
          <a:bodyPr wrap="square" lIns="0" tIns="0" rIns="0" bIns="0" rtlCol="0" anchor="t"/>
          <a:lstStyle/>
          <a:p>
            <a:pPr indent="0" marL="0">
              <a:buNone/>
            </a:pPr>
            <a:r>
              <a:rPr lang="en-US" sz="2600" dirty="0">
                <a:solidFill>
                  <a:srgbClr val="000000"/>
                </a:solidFill>
                <a:latin typeface="Aptos" pitchFamily="34" charset="0"/>
                <a:ea typeface="Aptos" pitchFamily="34" charset="-122"/>
                <a:cs typeface="Aptos" pitchFamily="34" charset="-120"/>
              </a:rPr>
              <a:t>Combinators: space, &gt;, +, ~</a:t>
            </a:r>
            <a:endParaRPr lang="en-US" sz="2600" dirty="0"/>
          </a:p>
        </p:txBody>
      </p:sp>
      <p:pic>
        <p:nvPicPr>
          <p:cNvPr id="7" name="Image 1" descr="C:\Repos\2026-2027\WEBD1000\06_Selectors_and_Animation\_build\shots\ex04.png">    </p:cNvPr>
          <p:cNvPicPr>
            <a:picLocks noChangeAspect="1"/>
          </p:cNvPicPr>
          <p:nvPr/>
        </p:nvPicPr>
        <p:blipFill>
          <a:blip r:embed="rId2"/>
          <a:stretch>
            <a:fillRect/>
          </a:stretch>
        </p:blipFill>
        <p:spPr>
          <a:xfrm>
            <a:off x="6812280" y="3429000"/>
            <a:ext cx="4183380" cy="2788920"/>
          </a:xfrm>
          <a:prstGeom prst="rect">
            <a:avLst/>
          </a:prstGeom>
        </p:spPr>
      </p:pic>
      <p:sp>
        <p:nvSpPr>
          <p:cNvPr id="8" name="Shape 4"/>
          <p:cNvSpPr/>
          <p:nvPr/>
        </p:nvSpPr>
        <p:spPr>
          <a:xfrm>
            <a:off x="6812280" y="3429000"/>
            <a:ext cx="4183380" cy="2788920"/>
          </a:xfrm>
          <a:prstGeom prst="rect">
            <a:avLst/>
          </a:prstGeom>
          <a:ln w="12700">
            <a:solidFill>
              <a:srgbClr val="B0B8BC"/>
            </a:solidFill>
            <a:prstDash val="solid"/>
          </a:ln>
        </p:spPr>
      </p:sp>
      <p:sp>
        <p:nvSpPr>
          <p:cNvPr id="9" name="Text 5"/>
          <p:cNvSpPr txBox="1"/>
          <p:nvPr/>
        </p:nvSpPr>
        <p:spPr>
          <a:xfrm>
            <a:off x="6812280" y="3136392"/>
            <a:ext cx="4183380"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783080"/>
            <a:ext cx="4967935" cy="1261872"/>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article p</a:t>
            </a:r>
            <a:pPr indent="0" marL="0">
              <a:buNone/>
            </a:pPr>
            <a:r>
              <a:rPr lang="en-US" sz="1350" dirty="0">
                <a:solidFill>
                  <a:srgbClr val="262626"/>
                </a:solidFill>
                <a:latin typeface="Aptos" pitchFamily="34" charset="0"/>
                <a:ea typeface="Aptos" pitchFamily="34" charset="-122"/>
                <a:cs typeface="Aptos" pitchFamily="34" charset="-120"/>
              </a:rPr>
              <a:t> (space): any p inside, </a:t>
            </a:r>
            <a:pPr indent="0" marL="0">
              <a:buNone/>
            </a:pPr>
            <a:r>
              <a:rPr lang="en-US" sz="1350" b="1" dirty="0">
                <a:solidFill>
                  <a:srgbClr val="262626"/>
                </a:solidFill>
                <a:latin typeface="Aptos" pitchFamily="34" charset="0"/>
                <a:ea typeface="Aptos" pitchFamily="34" charset="-122"/>
                <a:cs typeface="Aptos" pitchFamily="34" charset="-120"/>
              </a:rPr>
              <a:t>any depth</a:t>
            </a:r>
            <a:pPr indent="0" marL="0">
              <a:buNone/>
            </a:pPr>
            <a:r>
              <a:rPr lang="en-US" sz="1350" dirty="0">
                <a:solidFill>
                  <a:srgbClr val="262626"/>
                </a:solidFill>
                <a:latin typeface="Aptos" pitchFamily="34" charset="0"/>
                <a:ea typeface="Aptos" pitchFamily="34" charset="-122"/>
                <a:cs typeface="Aptos" pitchFamily="34" charset="-120"/>
              </a:rPr>
              <a:t>. </a:t>
            </a:r>
            <a:pPr indent="0" marL="0">
              <a:buNone/>
            </a:pPr>
            <a:r>
              <a:rPr lang="en-US" sz="1350" dirty="0">
                <a:solidFill>
                  <a:srgbClr val="8A2B0B"/>
                </a:solidFill>
                <a:latin typeface="Consolas" pitchFamily="34" charset="0"/>
                <a:ea typeface="Consolas" pitchFamily="34" charset="-122"/>
                <a:cs typeface="Consolas" pitchFamily="34" charset="-120"/>
              </a:rPr>
              <a:t>article &gt; p</a:t>
            </a:r>
            <a:pPr indent="0" marL="0">
              <a:buNone/>
            </a:pPr>
            <a:r>
              <a:rPr lang="en-US" sz="1350" dirty="0">
                <a:solidFill>
                  <a:srgbClr val="262626"/>
                </a:solidFill>
                <a:latin typeface="Aptos" pitchFamily="34" charset="0"/>
                <a:ea typeface="Aptos" pitchFamily="34" charset="-122"/>
                <a:cs typeface="Aptos" pitchFamily="34" charset="-120"/>
              </a:rPr>
              <a:t>: </a:t>
            </a:r>
            <a:pPr indent="0" marL="0">
              <a:buNone/>
            </a:pPr>
            <a:r>
              <a:rPr lang="en-US" sz="1350" b="1" dirty="0">
                <a:solidFill>
                  <a:srgbClr val="262626"/>
                </a:solidFill>
                <a:latin typeface="Aptos" pitchFamily="34" charset="0"/>
                <a:ea typeface="Aptos" pitchFamily="34" charset="-122"/>
                <a:cs typeface="Aptos" pitchFamily="34" charset="-120"/>
              </a:rPr>
              <a:t>direct children</a:t>
            </a:r>
            <a:pPr indent="0" marL="0">
              <a:buNone/>
            </a:pPr>
            <a:r>
              <a:rPr lang="en-US" sz="1350" dirty="0">
                <a:solidFill>
                  <a:srgbClr val="262626"/>
                </a:solidFill>
                <a:latin typeface="Aptos" pitchFamily="34" charset="0"/>
                <a:ea typeface="Aptos" pitchFamily="34" charset="-122"/>
                <a:cs typeface="Aptos" pitchFamily="34" charset="-120"/>
              </a:rPr>
              <a:t> only.</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h2 + p</a:t>
            </a:r>
            <a:pPr indent="0" marL="0">
              <a:buNone/>
            </a:pPr>
            <a:r>
              <a:rPr lang="en-US" sz="1350" dirty="0">
                <a:solidFill>
                  <a:srgbClr val="262626"/>
                </a:solidFill>
                <a:latin typeface="Aptos" pitchFamily="34" charset="0"/>
                <a:ea typeface="Aptos" pitchFamily="34" charset="-122"/>
                <a:cs typeface="Aptos" pitchFamily="34" charset="-120"/>
              </a:rPr>
              <a:t>: the p </a:t>
            </a:r>
            <a:pPr indent="0" marL="0">
              <a:buNone/>
            </a:pPr>
            <a:r>
              <a:rPr lang="en-US" sz="1350" b="1" dirty="0">
                <a:solidFill>
                  <a:srgbClr val="262626"/>
                </a:solidFill>
                <a:latin typeface="Aptos" pitchFamily="34" charset="0"/>
                <a:ea typeface="Aptos" pitchFamily="34" charset="-122"/>
                <a:cs typeface="Aptos" pitchFamily="34" charset="-120"/>
              </a:rPr>
              <a:t>right after</a:t>
            </a:r>
            <a:pPr indent="0" marL="0">
              <a:buNone/>
            </a:pPr>
            <a:r>
              <a:rPr lang="en-US" sz="1350" dirty="0">
                <a:solidFill>
                  <a:srgbClr val="262626"/>
                </a:solidFill>
                <a:latin typeface="Aptos" pitchFamily="34" charset="0"/>
                <a:ea typeface="Aptos" pitchFamily="34" charset="-122"/>
                <a:cs typeface="Aptos" pitchFamily="34" charset="-120"/>
              </a:rPr>
              <a:t> an h2. </a:t>
            </a:r>
            <a:pPr indent="0" marL="0">
              <a:buNone/>
            </a:pPr>
            <a:r>
              <a:rPr lang="en-US" sz="1350" dirty="0">
                <a:solidFill>
                  <a:srgbClr val="8A2B0B"/>
                </a:solidFill>
                <a:latin typeface="Consolas" pitchFamily="34" charset="0"/>
                <a:ea typeface="Consolas" pitchFamily="34" charset="-122"/>
                <a:cs typeface="Consolas" pitchFamily="34" charset="-120"/>
              </a:rPr>
              <a:t>h3 ~ p</a:t>
            </a:r>
            <a:pPr indent="0" marL="0">
              <a:buNone/>
            </a:pPr>
            <a:r>
              <a:rPr lang="en-US" sz="1350" dirty="0">
                <a:solidFill>
                  <a:srgbClr val="262626"/>
                </a:solidFill>
                <a:latin typeface="Aptos" pitchFamily="34" charset="0"/>
                <a:ea typeface="Aptos" pitchFamily="34" charset="-122"/>
                <a:cs typeface="Aptos" pitchFamily="34" charset="-120"/>
              </a:rPr>
              <a:t>: </a:t>
            </a:r>
            <a:pPr indent="0" marL="0">
              <a:buNone/>
            </a:pPr>
            <a:r>
              <a:rPr lang="en-US" sz="1350" b="1" dirty="0">
                <a:solidFill>
                  <a:srgbClr val="262626"/>
                </a:solidFill>
                <a:latin typeface="Aptos" pitchFamily="34" charset="0"/>
                <a:ea typeface="Aptos" pitchFamily="34" charset="-122"/>
                <a:cs typeface="Aptos" pitchFamily="34" charset="-120"/>
              </a:rPr>
              <a:t>every</a:t>
            </a:r>
            <a:pPr indent="0" marL="0">
              <a:buNone/>
            </a:pPr>
            <a:r>
              <a:rPr lang="en-US" sz="1350" dirty="0">
                <a:solidFill>
                  <a:srgbClr val="262626"/>
                </a:solidFill>
                <a:latin typeface="Aptos" pitchFamily="34" charset="0"/>
                <a:ea typeface="Aptos" pitchFamily="34" charset="-122"/>
                <a:cs typeface="Aptos" pitchFamily="34" charset="-120"/>
              </a:rPr>
              <a:t> p after an h3 (same parent).</a:t>
            </a:r>
            <a:endParaRPr lang="en-US" sz="135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04_combinators_example.html</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C:\Repos\2026-2027\WEBD1000\06_Selectors_and_Anim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365760"/>
            <a:ext cx="5852160" cy="61264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594360"/>
            <a:ext cx="5394960" cy="5669280"/>
          </a:xfrm>
          <a:prstGeom prst="rect">
            <a:avLst/>
          </a:prstGeom>
          <a:noFill/>
          <a:ln/>
        </p:spPr>
        <p:txBody>
          <a:bodyPr wrap="square" lIns="0" tIns="0" rIns="0" bIns="0" rtlCol="0" anchor="t"/>
          <a:lstStyle/>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body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font-family</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"Segoe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UI",</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Arial,</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sans-serif</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line-height</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1.6</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6A9955"/>
                </a:solidFill>
                <a:latin typeface="Consolas" pitchFamily="34" charset="0"/>
                <a:ea typeface="Consolas" pitchFamily="34" charset="-122"/>
                <a:cs typeface="Consolas" pitchFamily="34" charset="-120"/>
              </a:rPr>
              <a:t>/* A pseudo-element (::) styles PART of an element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.intro::first-letter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font-family</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Georgia,</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serif</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font-size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2.5rem</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#B5451B</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6A9955"/>
                </a:solidFill>
                <a:latin typeface="Consolas" pitchFamily="34" charset="0"/>
                <a:ea typeface="Consolas" pitchFamily="34" charset="-122"/>
                <a:cs typeface="Consolas" pitchFamily="34" charset="-120"/>
              </a:rPr>
              <a:t>/* ::before adds content at the start (CSS only, not in the HTML)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.new::before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content</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"NEW</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#E97132</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#1E1E1E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font-size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0.75rem</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bold</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2px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6px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border-radius</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6A9955"/>
                </a:solidFill>
                <a:latin typeface="Consolas" pitchFamily="34" charset="0"/>
                <a:ea typeface="Consolas" pitchFamily="34" charset="-122"/>
                <a:cs typeface="Consolas" pitchFamily="34" charset="-120"/>
              </a:rPr>
              <a:t>/* ::after adds content at the end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.price::after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content</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tax"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#595959</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font-size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0.85rem</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6A9955"/>
                </a:solidFill>
                <a:latin typeface="Consolas" pitchFamily="34" charset="0"/>
                <a:ea typeface="Consolas" pitchFamily="34" charset="-122"/>
                <a:cs typeface="Consolas" pitchFamily="34" charset="-120"/>
              </a:rPr>
              <a:t>/* Text the user highlights with the mouse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::selection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SELECTORS 5 · PART</a:t>
            </a:r>
            <a:endParaRPr lang="en-US" sz="1400" dirty="0"/>
          </a:p>
        </p:txBody>
      </p:sp>
      <p:sp>
        <p:nvSpPr>
          <p:cNvPr id="6" name="Text 3"/>
          <p:cNvSpPr txBox="1"/>
          <p:nvPr/>
        </p:nvSpPr>
        <p:spPr>
          <a:xfrm>
            <a:off x="6812280" y="731520"/>
            <a:ext cx="4967935" cy="960120"/>
          </a:xfrm>
          <a:prstGeom prst="rect">
            <a:avLst/>
          </a:prstGeom>
          <a:noFill/>
          <a:ln/>
        </p:spPr>
        <p:txBody>
          <a:bodyPr wrap="square" lIns="0" tIns="0" rIns="0" bIns="0" rtlCol="0" anchor="t"/>
          <a:lstStyle/>
          <a:p>
            <a:pPr indent="0" marL="0">
              <a:buNone/>
            </a:pPr>
            <a:r>
              <a:rPr lang="en-US" sz="2600" dirty="0">
                <a:solidFill>
                  <a:srgbClr val="000000"/>
                </a:solidFill>
                <a:latin typeface="Aptos" pitchFamily="34" charset="0"/>
                <a:ea typeface="Aptos" pitchFamily="34" charset="-122"/>
                <a:cs typeface="Aptos" pitchFamily="34" charset="-120"/>
              </a:rPr>
              <a:t>Pseudo-elements: ::before, ::after</a:t>
            </a:r>
            <a:endParaRPr lang="en-US" sz="2600" dirty="0"/>
          </a:p>
        </p:txBody>
      </p:sp>
      <p:pic>
        <p:nvPicPr>
          <p:cNvPr id="7" name="Image 1" descr="C:\Repos\2026-2027\WEBD1000\06_Selectors_and_Animation\_build\shots\ex05.png">    </p:cNvPr>
          <p:cNvPicPr>
            <a:picLocks noChangeAspect="1"/>
          </p:cNvPicPr>
          <p:nvPr/>
        </p:nvPicPr>
        <p:blipFill>
          <a:blip r:embed="rId2"/>
          <a:stretch>
            <a:fillRect/>
          </a:stretch>
        </p:blipFill>
        <p:spPr>
          <a:xfrm>
            <a:off x="6812280" y="4147947"/>
            <a:ext cx="4967935" cy="2069973"/>
          </a:xfrm>
          <a:prstGeom prst="rect">
            <a:avLst/>
          </a:prstGeom>
        </p:spPr>
      </p:pic>
      <p:sp>
        <p:nvSpPr>
          <p:cNvPr id="8" name="Shape 4"/>
          <p:cNvSpPr/>
          <p:nvPr/>
        </p:nvSpPr>
        <p:spPr>
          <a:xfrm>
            <a:off x="6812280" y="4147947"/>
            <a:ext cx="4967935" cy="2069973"/>
          </a:xfrm>
          <a:prstGeom prst="rect">
            <a:avLst/>
          </a:prstGeom>
          <a:ln w="12700">
            <a:solidFill>
              <a:srgbClr val="B0B8BC"/>
            </a:solidFill>
            <a:prstDash val="solid"/>
          </a:ln>
        </p:spPr>
      </p:sp>
      <p:sp>
        <p:nvSpPr>
          <p:cNvPr id="9" name="Text 5"/>
          <p:cNvSpPr txBox="1"/>
          <p:nvPr/>
        </p:nvSpPr>
        <p:spPr>
          <a:xfrm>
            <a:off x="6812280" y="3855339"/>
            <a:ext cx="496793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783080"/>
            <a:ext cx="4967935" cy="1980819"/>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b="1" dirty="0">
                <a:solidFill>
                  <a:srgbClr val="262626"/>
                </a:solidFill>
                <a:latin typeface="Aptos" pitchFamily="34" charset="0"/>
                <a:ea typeface="Aptos" pitchFamily="34" charset="-122"/>
                <a:cs typeface="Aptos" pitchFamily="34" charset="-120"/>
              </a:rPr>
              <a:t>Two colons</a:t>
            </a:r>
            <a:pPr indent="0" marL="0">
              <a:buNone/>
            </a:pPr>
            <a:r>
              <a:rPr lang="en-US" sz="1350" dirty="0">
                <a:solidFill>
                  <a:srgbClr val="262626"/>
                </a:solidFill>
                <a:latin typeface="Aptos" pitchFamily="34" charset="0"/>
                <a:ea typeface="Aptos" pitchFamily="34" charset="-122"/>
                <a:cs typeface="Aptos" pitchFamily="34" charset="-120"/>
              </a:rPr>
              <a:t> = part of an element: </a:t>
            </a:r>
            <a:pPr indent="0" marL="0">
              <a:buNone/>
            </a:pPr>
            <a:r>
              <a:rPr lang="en-US" sz="1350" dirty="0">
                <a:solidFill>
                  <a:srgbClr val="8A2B0B"/>
                </a:solidFill>
                <a:latin typeface="Consolas" pitchFamily="34" charset="0"/>
                <a:ea typeface="Consolas" pitchFamily="34" charset="-122"/>
                <a:cs typeface="Consolas" pitchFamily="34" charset="-120"/>
              </a:rPr>
              <a:t>::first-letter</a:t>
            </a:r>
            <a:pPr indent="0" marL="0">
              <a:buNone/>
            </a:pPr>
            <a:r>
              <a:rPr lang="en-US" sz="1350" dirty="0">
                <a:solidFill>
                  <a:srgbClr val="262626"/>
                </a:solidFill>
                <a:latin typeface="Aptos" pitchFamily="34" charset="0"/>
                <a:ea typeface="Aptos" pitchFamily="34" charset="-122"/>
                <a:cs typeface="Aptos" pitchFamily="34" charset="-120"/>
              </a:rPr>
              <a:t>, </a:t>
            </a:r>
            <a:pPr indent="0" marL="0">
              <a:buNone/>
            </a:pPr>
            <a:r>
              <a:rPr lang="en-US" sz="1350" dirty="0">
                <a:solidFill>
                  <a:srgbClr val="8A2B0B"/>
                </a:solidFill>
                <a:latin typeface="Consolas" pitchFamily="34" charset="0"/>
                <a:ea typeface="Consolas" pitchFamily="34" charset="-122"/>
                <a:cs typeface="Consolas" pitchFamily="34" charset="-120"/>
              </a:rPr>
              <a:t>::first-line</a:t>
            </a:r>
            <a:pPr indent="0" marL="0">
              <a:buNone/>
            </a:pPr>
            <a:r>
              <a:rPr lang="en-US" sz="1350" dirty="0">
                <a:solidFill>
                  <a:srgbClr val="262626"/>
                </a:solidFill>
                <a:latin typeface="Aptos" pitchFamily="34" charset="0"/>
                <a:ea typeface="Aptos" pitchFamily="34" charset="-122"/>
                <a:cs typeface="Aptos" pitchFamily="34" charset="-120"/>
              </a:rPr>
              <a:t>, </a:t>
            </a:r>
            <a:pPr indent="0" marL="0">
              <a:buNone/>
            </a:pPr>
            <a:r>
              <a:rPr lang="en-US" sz="1350" dirty="0">
                <a:solidFill>
                  <a:srgbClr val="8A2B0B"/>
                </a:solidFill>
                <a:latin typeface="Consolas" pitchFamily="34" charset="0"/>
                <a:ea typeface="Consolas" pitchFamily="34" charset="-122"/>
                <a:cs typeface="Consolas" pitchFamily="34" charset="-120"/>
              </a:rPr>
              <a:t>::selection</a:t>
            </a:r>
            <a:pPr indent="0" marL="0">
              <a:buNone/>
            </a:pPr>
            <a:r>
              <a:rPr lang="en-US" sz="1350" dirty="0">
                <a:solidFill>
                  <a:srgbClr val="262626"/>
                </a:solidFill>
                <a:latin typeface="Aptos" pitchFamily="34" charset="0"/>
                <a:ea typeface="Aptos" pitchFamily="34" charset="-122"/>
                <a:cs typeface="Aptos" pitchFamily="34" charset="-120"/>
              </a:rPr>
              <a:t>.</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::before</a:t>
            </a:r>
            <a:pPr indent="0" marL="0">
              <a:buNone/>
            </a:pPr>
            <a:r>
              <a:rPr lang="en-US" sz="1350" dirty="0">
                <a:solidFill>
                  <a:srgbClr val="262626"/>
                </a:solidFill>
                <a:latin typeface="Aptos" pitchFamily="34" charset="0"/>
                <a:ea typeface="Aptos" pitchFamily="34" charset="-122"/>
                <a:cs typeface="Aptos" pitchFamily="34" charset="-120"/>
              </a:rPr>
              <a:t> and </a:t>
            </a:r>
            <a:pPr indent="0" marL="0">
              <a:buNone/>
            </a:pPr>
            <a:r>
              <a:rPr lang="en-US" sz="1350" dirty="0">
                <a:solidFill>
                  <a:srgbClr val="8A2B0B"/>
                </a:solidFill>
                <a:latin typeface="Consolas" pitchFamily="34" charset="0"/>
                <a:ea typeface="Consolas" pitchFamily="34" charset="-122"/>
                <a:cs typeface="Consolas" pitchFamily="34" charset="-120"/>
              </a:rPr>
              <a:t>::after</a:t>
            </a:r>
            <a:pPr indent="0" marL="0">
              <a:buNone/>
            </a:pPr>
            <a:r>
              <a:rPr lang="en-US" sz="1350" dirty="0">
                <a:solidFill>
                  <a:srgbClr val="262626"/>
                </a:solidFill>
                <a:latin typeface="Aptos" pitchFamily="34" charset="0"/>
                <a:ea typeface="Aptos" pitchFamily="34" charset="-122"/>
                <a:cs typeface="Aptos" pitchFamily="34" charset="-120"/>
              </a:rPr>
              <a:t> add content with CSS. They </a:t>
            </a:r>
            <a:pPr indent="0" marL="0">
              <a:buNone/>
            </a:pPr>
            <a:r>
              <a:rPr lang="en-US" sz="1350" b="1" dirty="0">
                <a:solidFill>
                  <a:srgbClr val="262626"/>
                </a:solidFill>
                <a:latin typeface="Aptos" pitchFamily="34" charset="0"/>
                <a:ea typeface="Aptos" pitchFamily="34" charset="-122"/>
                <a:cs typeface="Aptos" pitchFamily="34" charset="-120"/>
              </a:rPr>
              <a:t>need</a:t>
            </a:r>
            <a:pPr indent="0" marL="0">
              <a:buNone/>
            </a:pPr>
            <a:r>
              <a:rPr lang="en-US" sz="1350" dirty="0">
                <a:solidFill>
                  <a:srgbClr val="262626"/>
                </a:solidFill>
                <a:latin typeface="Aptos" pitchFamily="34" charset="0"/>
                <a:ea typeface="Aptos" pitchFamily="34" charset="-122"/>
                <a:cs typeface="Aptos" pitchFamily="34" charset="-120"/>
              </a:rPr>
              <a:t> a </a:t>
            </a:r>
            <a:pPr indent="0" marL="0">
              <a:buNone/>
            </a:pPr>
            <a:r>
              <a:rPr lang="en-US" sz="1350" dirty="0">
                <a:solidFill>
                  <a:srgbClr val="8A2B0B"/>
                </a:solidFill>
                <a:latin typeface="Consolas" pitchFamily="34" charset="0"/>
                <a:ea typeface="Consolas" pitchFamily="34" charset="-122"/>
                <a:cs typeface="Consolas" pitchFamily="34" charset="-120"/>
              </a:rPr>
              <a:t>content</a:t>
            </a:r>
            <a:pPr indent="0" marL="0">
              <a:buNone/>
            </a:pPr>
            <a:r>
              <a:rPr lang="en-US" sz="1350" dirty="0">
                <a:solidFill>
                  <a:srgbClr val="262626"/>
                </a:solidFill>
                <a:latin typeface="Aptos" pitchFamily="34" charset="0"/>
                <a:ea typeface="Aptos" pitchFamily="34" charset="-122"/>
                <a:cs typeface="Aptos" pitchFamily="34" charset="-120"/>
              </a:rPr>
              <a:t> property, even if it's empty: </a:t>
            </a:r>
            <a:pPr indent="0" marL="0">
              <a:buNone/>
            </a:pPr>
            <a:r>
              <a:rPr lang="en-US" sz="1350" dirty="0">
                <a:solidFill>
                  <a:srgbClr val="8A2B0B"/>
                </a:solidFill>
                <a:latin typeface="Consolas" pitchFamily="34" charset="0"/>
                <a:ea typeface="Consolas" pitchFamily="34" charset="-122"/>
                <a:cs typeface="Consolas" pitchFamily="34" charset="-120"/>
              </a:rPr>
              <a:t>content: ""</a:t>
            </a:r>
            <a:pPr indent="0" marL="0">
              <a:buNone/>
            </a:pPr>
            <a:r>
              <a:rPr lang="en-US" sz="1350" dirty="0">
                <a:solidFill>
                  <a:srgbClr val="262626"/>
                </a:solidFill>
                <a:latin typeface="Aptos" pitchFamily="34" charset="0"/>
                <a:ea typeface="Aptos" pitchFamily="34" charset="-122"/>
                <a:cs typeface="Aptos" pitchFamily="34" charset="-120"/>
              </a:rPr>
              <a:t>.</a:t>
            </a:r>
            <a:endParaRPr lang="en-US" sz="135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05_pseudo_elements_example.html</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Game: Name That Selector! (10 min)</a:t>
            </a:r>
            <a:endParaRPr lang="en-US" sz="2800" dirty="0"/>
          </a:p>
        </p:txBody>
      </p:sp>
      <p:sp>
        <p:nvSpPr>
          <p:cNvPr id="4" name="Shape 1"/>
          <p:cNvSpPr/>
          <p:nvPr/>
        </p:nvSpPr>
        <p:spPr>
          <a:xfrm>
            <a:off x="685800" y="1371600"/>
            <a:ext cx="3493008" cy="2240280"/>
          </a:xfrm>
          <a:prstGeom prst="roundRect">
            <a:avLst>
              <a:gd name="adj" fmla="val 4898"/>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600200"/>
            <a:ext cx="438912" cy="438912"/>
          </a:xfrm>
          <a:prstGeom prst="ellipse">
            <a:avLst/>
          </a:prstGeom>
          <a:solidFill>
            <a:srgbClr val="E97132"/>
          </a:solidFill>
          <a:ln w="12700">
            <a:solidFill>
              <a:srgbClr val="E97132"/>
            </a:solidFill>
            <a:prstDash val="solid"/>
          </a:ln>
        </p:spPr>
      </p:sp>
      <p:sp>
        <p:nvSpPr>
          <p:cNvPr id="6" name="Text 3"/>
          <p:cNvSpPr txBox="1"/>
          <p:nvPr/>
        </p:nvSpPr>
        <p:spPr>
          <a:xfrm>
            <a:off x="914400" y="1600200"/>
            <a:ext cx="438912"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7" name="Text 4"/>
          <p:cNvSpPr txBox="1"/>
          <p:nvPr/>
        </p:nvSpPr>
        <p:spPr>
          <a:xfrm>
            <a:off x="1508760" y="1554480"/>
            <a:ext cx="2487168" cy="82296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Every odd row of a table</a:t>
            </a:r>
            <a:endParaRPr lang="en-US" sz="1600" dirty="0"/>
          </a:p>
        </p:txBody>
      </p:sp>
      <p:sp>
        <p:nvSpPr>
          <p:cNvPr id="8" name="Shape 5"/>
          <p:cNvSpPr/>
          <p:nvPr/>
        </p:nvSpPr>
        <p:spPr>
          <a:xfrm>
            <a:off x="914400" y="2560320"/>
            <a:ext cx="3035808" cy="777240"/>
          </a:xfrm>
          <a:prstGeom prst="roundRect">
            <a:avLst>
              <a:gd name="adj" fmla="val 9412"/>
            </a:avLst>
          </a:prstGeom>
          <a:solidFill>
            <a:srgbClr val="F4F8FA"/>
          </a:solidFill>
          <a:ln w="12700">
            <a:solidFill>
              <a:srgbClr val="B0B8BC"/>
            </a:solidFill>
            <a:prstDash val="dash"/>
          </a:ln>
        </p:spPr>
      </p:sp>
      <p:sp>
        <p:nvSpPr>
          <p:cNvPr id="9" name="Text 6"/>
          <p:cNvSpPr txBox="1"/>
          <p:nvPr/>
        </p:nvSpPr>
        <p:spPr>
          <a:xfrm>
            <a:off x="914400" y="2560320"/>
            <a:ext cx="3035808" cy="777240"/>
          </a:xfrm>
          <a:prstGeom prst="rect">
            <a:avLst/>
          </a:prstGeom>
          <a:noFill/>
          <a:ln/>
        </p:spPr>
        <p:txBody>
          <a:bodyPr wrap="square" lIns="0" tIns="0" rIns="0" bIns="0" rtlCol="0" anchor="ctr"/>
          <a:lstStyle/>
          <a:p>
            <a:pPr algn="ctr" indent="0" marL="0">
              <a:buNone/>
            </a:pPr>
            <a:r>
              <a:rPr lang="en-US" sz="2800" b="1" dirty="0">
                <a:solidFill>
                  <a:srgbClr val="B0B8BC"/>
                </a:solidFill>
                <a:latin typeface="Aptos" pitchFamily="34" charset="0"/>
                <a:ea typeface="Aptos" pitchFamily="34" charset="-122"/>
                <a:cs typeface="Aptos" pitchFamily="34" charset="-120"/>
              </a:rPr>
              <a:t>?</a:t>
            </a:r>
            <a:endParaRPr lang="en-US" sz="2800" dirty="0"/>
          </a:p>
        </p:txBody>
      </p:sp>
      <p:sp>
        <p:nvSpPr>
          <p:cNvPr id="10" name="Shape 7"/>
          <p:cNvSpPr/>
          <p:nvPr/>
        </p:nvSpPr>
        <p:spPr>
          <a:xfrm>
            <a:off x="4425696" y="1371600"/>
            <a:ext cx="3493008" cy="2240280"/>
          </a:xfrm>
          <a:prstGeom prst="roundRect">
            <a:avLst>
              <a:gd name="adj" fmla="val 4898"/>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4654296" y="1600200"/>
            <a:ext cx="438912" cy="438912"/>
          </a:xfrm>
          <a:prstGeom prst="ellipse">
            <a:avLst/>
          </a:prstGeom>
          <a:solidFill>
            <a:srgbClr val="0F9ED5"/>
          </a:solidFill>
          <a:ln w="12700">
            <a:solidFill>
              <a:srgbClr val="0F9ED5"/>
            </a:solidFill>
            <a:prstDash val="solid"/>
          </a:ln>
        </p:spPr>
      </p:sp>
      <p:sp>
        <p:nvSpPr>
          <p:cNvPr id="12" name="Text 9"/>
          <p:cNvSpPr txBox="1"/>
          <p:nvPr/>
        </p:nvSpPr>
        <p:spPr>
          <a:xfrm>
            <a:off x="4654296" y="1600200"/>
            <a:ext cx="438912"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3" name="Text 10"/>
          <p:cNvSpPr txBox="1"/>
          <p:nvPr/>
        </p:nvSpPr>
        <p:spPr>
          <a:xfrm>
            <a:off x="5248656" y="1554480"/>
            <a:ext cx="2487168" cy="82296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A button while the mouse is over it</a:t>
            </a:r>
            <a:endParaRPr lang="en-US" sz="1600" dirty="0"/>
          </a:p>
        </p:txBody>
      </p:sp>
      <p:sp>
        <p:nvSpPr>
          <p:cNvPr id="14" name="Shape 11"/>
          <p:cNvSpPr/>
          <p:nvPr/>
        </p:nvSpPr>
        <p:spPr>
          <a:xfrm>
            <a:off x="4654296" y="2560320"/>
            <a:ext cx="3035808" cy="777240"/>
          </a:xfrm>
          <a:prstGeom prst="roundRect">
            <a:avLst>
              <a:gd name="adj" fmla="val 9412"/>
            </a:avLst>
          </a:prstGeom>
          <a:solidFill>
            <a:srgbClr val="F4F8FA"/>
          </a:solidFill>
          <a:ln w="12700">
            <a:solidFill>
              <a:srgbClr val="B0B8BC"/>
            </a:solidFill>
            <a:prstDash val="dash"/>
          </a:ln>
        </p:spPr>
      </p:sp>
      <p:sp>
        <p:nvSpPr>
          <p:cNvPr id="15" name="Text 12"/>
          <p:cNvSpPr txBox="1"/>
          <p:nvPr/>
        </p:nvSpPr>
        <p:spPr>
          <a:xfrm>
            <a:off x="4654296" y="2560320"/>
            <a:ext cx="3035808" cy="777240"/>
          </a:xfrm>
          <a:prstGeom prst="rect">
            <a:avLst/>
          </a:prstGeom>
          <a:noFill/>
          <a:ln/>
        </p:spPr>
        <p:txBody>
          <a:bodyPr wrap="square" lIns="0" tIns="0" rIns="0" bIns="0" rtlCol="0" anchor="ctr"/>
          <a:lstStyle/>
          <a:p>
            <a:pPr algn="ctr" indent="0" marL="0">
              <a:buNone/>
            </a:pPr>
            <a:r>
              <a:rPr lang="en-US" sz="2800" b="1" dirty="0">
                <a:solidFill>
                  <a:srgbClr val="B0B8BC"/>
                </a:solidFill>
                <a:latin typeface="Aptos" pitchFamily="34" charset="0"/>
                <a:ea typeface="Aptos" pitchFamily="34" charset="-122"/>
                <a:cs typeface="Aptos" pitchFamily="34" charset="-120"/>
              </a:rPr>
              <a:t>?</a:t>
            </a:r>
            <a:endParaRPr lang="en-US" sz="2800" dirty="0"/>
          </a:p>
        </p:txBody>
      </p:sp>
      <p:sp>
        <p:nvSpPr>
          <p:cNvPr id="16" name="Shape 13"/>
          <p:cNvSpPr/>
          <p:nvPr/>
        </p:nvSpPr>
        <p:spPr>
          <a:xfrm>
            <a:off x="8165592" y="1371600"/>
            <a:ext cx="3493008" cy="2240280"/>
          </a:xfrm>
          <a:prstGeom prst="roundRect">
            <a:avLst>
              <a:gd name="adj" fmla="val 4898"/>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7" name="Shape 14"/>
          <p:cNvSpPr/>
          <p:nvPr/>
        </p:nvSpPr>
        <p:spPr>
          <a:xfrm>
            <a:off x="8394192" y="1600200"/>
            <a:ext cx="438912" cy="438912"/>
          </a:xfrm>
          <a:prstGeom prst="ellipse">
            <a:avLst/>
          </a:prstGeom>
          <a:solidFill>
            <a:srgbClr val="A02B93"/>
          </a:solidFill>
          <a:ln w="12700">
            <a:solidFill>
              <a:srgbClr val="A02B93"/>
            </a:solidFill>
            <a:prstDash val="solid"/>
          </a:ln>
        </p:spPr>
      </p:sp>
      <p:sp>
        <p:nvSpPr>
          <p:cNvPr id="18" name="Text 15"/>
          <p:cNvSpPr txBox="1"/>
          <p:nvPr/>
        </p:nvSpPr>
        <p:spPr>
          <a:xfrm>
            <a:off x="8394192" y="1600200"/>
            <a:ext cx="438912"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19" name="Text 16"/>
          <p:cNvSpPr txBox="1"/>
          <p:nvPr/>
        </p:nvSpPr>
        <p:spPr>
          <a:xfrm>
            <a:off x="8988552" y="1554480"/>
            <a:ext cx="2487168" cy="82296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Every link to a Word file (.docx)</a:t>
            </a:r>
            <a:endParaRPr lang="en-US" sz="1600" dirty="0"/>
          </a:p>
        </p:txBody>
      </p:sp>
      <p:sp>
        <p:nvSpPr>
          <p:cNvPr id="20" name="Shape 17"/>
          <p:cNvSpPr/>
          <p:nvPr/>
        </p:nvSpPr>
        <p:spPr>
          <a:xfrm>
            <a:off x="8394192" y="2560320"/>
            <a:ext cx="3035808" cy="777240"/>
          </a:xfrm>
          <a:prstGeom prst="roundRect">
            <a:avLst>
              <a:gd name="adj" fmla="val 9412"/>
            </a:avLst>
          </a:prstGeom>
          <a:solidFill>
            <a:srgbClr val="F4F8FA"/>
          </a:solidFill>
          <a:ln w="12700">
            <a:solidFill>
              <a:srgbClr val="B0B8BC"/>
            </a:solidFill>
            <a:prstDash val="dash"/>
          </a:ln>
        </p:spPr>
      </p:sp>
      <p:sp>
        <p:nvSpPr>
          <p:cNvPr id="21" name="Text 18"/>
          <p:cNvSpPr txBox="1"/>
          <p:nvPr/>
        </p:nvSpPr>
        <p:spPr>
          <a:xfrm>
            <a:off x="8394192" y="2560320"/>
            <a:ext cx="3035808" cy="777240"/>
          </a:xfrm>
          <a:prstGeom prst="rect">
            <a:avLst/>
          </a:prstGeom>
          <a:noFill/>
          <a:ln/>
        </p:spPr>
        <p:txBody>
          <a:bodyPr wrap="square" lIns="0" tIns="0" rIns="0" bIns="0" rtlCol="0" anchor="ctr"/>
          <a:lstStyle/>
          <a:p>
            <a:pPr algn="ctr" indent="0" marL="0">
              <a:buNone/>
            </a:pPr>
            <a:r>
              <a:rPr lang="en-US" sz="2800" b="1" dirty="0">
                <a:solidFill>
                  <a:srgbClr val="B0B8BC"/>
                </a:solidFill>
                <a:latin typeface="Aptos" pitchFamily="34" charset="0"/>
                <a:ea typeface="Aptos" pitchFamily="34" charset="-122"/>
                <a:cs typeface="Aptos" pitchFamily="34" charset="-120"/>
              </a:rPr>
              <a:t>?</a:t>
            </a:r>
            <a:endParaRPr lang="en-US" sz="2800" dirty="0"/>
          </a:p>
        </p:txBody>
      </p:sp>
      <p:sp>
        <p:nvSpPr>
          <p:cNvPr id="22" name="Shape 19"/>
          <p:cNvSpPr/>
          <p:nvPr/>
        </p:nvSpPr>
        <p:spPr>
          <a:xfrm>
            <a:off x="685800" y="3858768"/>
            <a:ext cx="3493008" cy="2240280"/>
          </a:xfrm>
          <a:prstGeom prst="roundRect">
            <a:avLst>
              <a:gd name="adj" fmla="val 4898"/>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914400" y="4087368"/>
            <a:ext cx="438912" cy="438912"/>
          </a:xfrm>
          <a:prstGeom prst="ellipse">
            <a:avLst/>
          </a:prstGeom>
          <a:solidFill>
            <a:srgbClr val="2E7D32"/>
          </a:solidFill>
          <a:ln w="12700">
            <a:solidFill>
              <a:srgbClr val="2E7D32"/>
            </a:solidFill>
            <a:prstDash val="solid"/>
          </a:ln>
        </p:spPr>
      </p:sp>
      <p:sp>
        <p:nvSpPr>
          <p:cNvPr id="24" name="Text 21"/>
          <p:cNvSpPr txBox="1"/>
          <p:nvPr/>
        </p:nvSpPr>
        <p:spPr>
          <a:xfrm>
            <a:off x="914400" y="4087368"/>
            <a:ext cx="438912"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25" name="Text 22"/>
          <p:cNvSpPr txBox="1"/>
          <p:nvPr/>
        </p:nvSpPr>
        <p:spPr>
          <a:xfrm>
            <a:off x="1508760" y="4041648"/>
            <a:ext cx="2487168" cy="82296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Only the li's directly inside .menu</a:t>
            </a:r>
            <a:endParaRPr lang="en-US" sz="1600" dirty="0"/>
          </a:p>
        </p:txBody>
      </p:sp>
      <p:sp>
        <p:nvSpPr>
          <p:cNvPr id="26" name="Shape 23"/>
          <p:cNvSpPr/>
          <p:nvPr/>
        </p:nvSpPr>
        <p:spPr>
          <a:xfrm>
            <a:off x="914400" y="5047488"/>
            <a:ext cx="3035808" cy="777240"/>
          </a:xfrm>
          <a:prstGeom prst="roundRect">
            <a:avLst>
              <a:gd name="adj" fmla="val 9412"/>
            </a:avLst>
          </a:prstGeom>
          <a:solidFill>
            <a:srgbClr val="F4F8FA"/>
          </a:solidFill>
          <a:ln w="12700">
            <a:solidFill>
              <a:srgbClr val="B0B8BC"/>
            </a:solidFill>
            <a:prstDash val="dash"/>
          </a:ln>
        </p:spPr>
      </p:sp>
      <p:sp>
        <p:nvSpPr>
          <p:cNvPr id="27" name="Text 24"/>
          <p:cNvSpPr txBox="1"/>
          <p:nvPr/>
        </p:nvSpPr>
        <p:spPr>
          <a:xfrm>
            <a:off x="914400" y="5047488"/>
            <a:ext cx="3035808" cy="777240"/>
          </a:xfrm>
          <a:prstGeom prst="rect">
            <a:avLst/>
          </a:prstGeom>
          <a:noFill/>
          <a:ln/>
        </p:spPr>
        <p:txBody>
          <a:bodyPr wrap="square" lIns="0" tIns="0" rIns="0" bIns="0" rtlCol="0" anchor="ctr"/>
          <a:lstStyle/>
          <a:p>
            <a:pPr algn="ctr" indent="0" marL="0">
              <a:buNone/>
            </a:pPr>
            <a:r>
              <a:rPr lang="en-US" sz="2800" b="1" dirty="0">
                <a:solidFill>
                  <a:srgbClr val="B0B8BC"/>
                </a:solidFill>
                <a:latin typeface="Aptos" pitchFamily="34" charset="0"/>
                <a:ea typeface="Aptos" pitchFamily="34" charset="-122"/>
                <a:cs typeface="Aptos" pitchFamily="34" charset="-120"/>
              </a:rPr>
              <a:t>?</a:t>
            </a:r>
            <a:endParaRPr lang="en-US" sz="2800" dirty="0"/>
          </a:p>
        </p:txBody>
      </p:sp>
      <p:sp>
        <p:nvSpPr>
          <p:cNvPr id="28" name="Shape 25"/>
          <p:cNvSpPr/>
          <p:nvPr/>
        </p:nvSpPr>
        <p:spPr>
          <a:xfrm>
            <a:off x="4425696" y="3858768"/>
            <a:ext cx="3493008" cy="2240280"/>
          </a:xfrm>
          <a:prstGeom prst="roundRect">
            <a:avLst>
              <a:gd name="adj" fmla="val 4898"/>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9" name="Shape 26"/>
          <p:cNvSpPr/>
          <p:nvPr/>
        </p:nvSpPr>
        <p:spPr>
          <a:xfrm>
            <a:off x="4654296" y="4087368"/>
            <a:ext cx="438912" cy="438912"/>
          </a:xfrm>
          <a:prstGeom prst="ellipse">
            <a:avLst/>
          </a:prstGeom>
          <a:solidFill>
            <a:srgbClr val="1B5E82"/>
          </a:solidFill>
          <a:ln w="12700">
            <a:solidFill>
              <a:srgbClr val="1B5E82"/>
            </a:solidFill>
            <a:prstDash val="solid"/>
          </a:ln>
        </p:spPr>
      </p:sp>
      <p:sp>
        <p:nvSpPr>
          <p:cNvPr id="30" name="Text 27"/>
          <p:cNvSpPr txBox="1"/>
          <p:nvPr/>
        </p:nvSpPr>
        <p:spPr>
          <a:xfrm>
            <a:off x="4654296" y="4087368"/>
            <a:ext cx="438912"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5</a:t>
            </a:r>
            <a:endParaRPr lang="en-US" sz="1800" dirty="0"/>
          </a:p>
        </p:txBody>
      </p:sp>
      <p:sp>
        <p:nvSpPr>
          <p:cNvPr id="31" name="Text 28"/>
          <p:cNvSpPr txBox="1"/>
          <p:nvPr/>
        </p:nvSpPr>
        <p:spPr>
          <a:xfrm>
            <a:off x="5248656" y="4041648"/>
            <a:ext cx="2487168" cy="82296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The first p right after each h2</a:t>
            </a:r>
            <a:endParaRPr lang="en-US" sz="1600" dirty="0"/>
          </a:p>
        </p:txBody>
      </p:sp>
      <p:sp>
        <p:nvSpPr>
          <p:cNvPr id="32" name="Shape 29"/>
          <p:cNvSpPr/>
          <p:nvPr/>
        </p:nvSpPr>
        <p:spPr>
          <a:xfrm>
            <a:off x="4654296" y="5047488"/>
            <a:ext cx="3035808" cy="777240"/>
          </a:xfrm>
          <a:prstGeom prst="roundRect">
            <a:avLst>
              <a:gd name="adj" fmla="val 9412"/>
            </a:avLst>
          </a:prstGeom>
          <a:solidFill>
            <a:srgbClr val="F4F8FA"/>
          </a:solidFill>
          <a:ln w="12700">
            <a:solidFill>
              <a:srgbClr val="B0B8BC"/>
            </a:solidFill>
            <a:prstDash val="dash"/>
          </a:ln>
        </p:spPr>
      </p:sp>
      <p:sp>
        <p:nvSpPr>
          <p:cNvPr id="33" name="Text 30"/>
          <p:cNvSpPr txBox="1"/>
          <p:nvPr/>
        </p:nvSpPr>
        <p:spPr>
          <a:xfrm>
            <a:off x="4654296" y="5047488"/>
            <a:ext cx="3035808" cy="777240"/>
          </a:xfrm>
          <a:prstGeom prst="rect">
            <a:avLst/>
          </a:prstGeom>
          <a:noFill/>
          <a:ln/>
        </p:spPr>
        <p:txBody>
          <a:bodyPr wrap="square" lIns="0" tIns="0" rIns="0" bIns="0" rtlCol="0" anchor="ctr"/>
          <a:lstStyle/>
          <a:p>
            <a:pPr algn="ctr" indent="0" marL="0">
              <a:buNone/>
            </a:pPr>
            <a:r>
              <a:rPr lang="en-US" sz="2800" b="1" dirty="0">
                <a:solidFill>
                  <a:srgbClr val="B0B8BC"/>
                </a:solidFill>
                <a:latin typeface="Aptos" pitchFamily="34" charset="0"/>
                <a:ea typeface="Aptos" pitchFamily="34" charset="-122"/>
                <a:cs typeface="Aptos" pitchFamily="34" charset="-120"/>
              </a:rPr>
              <a:t>?</a:t>
            </a:r>
            <a:endParaRPr lang="en-US" sz="2800" dirty="0"/>
          </a:p>
        </p:txBody>
      </p:sp>
      <p:sp>
        <p:nvSpPr>
          <p:cNvPr id="34" name="Shape 31"/>
          <p:cNvSpPr/>
          <p:nvPr/>
        </p:nvSpPr>
        <p:spPr>
          <a:xfrm>
            <a:off x="8165592" y="3858768"/>
            <a:ext cx="3493008" cy="2240280"/>
          </a:xfrm>
          <a:prstGeom prst="roundRect">
            <a:avLst>
              <a:gd name="adj" fmla="val 4898"/>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35" name="Shape 32"/>
          <p:cNvSpPr/>
          <p:nvPr/>
        </p:nvSpPr>
        <p:spPr>
          <a:xfrm>
            <a:off x="8394192" y="4087368"/>
            <a:ext cx="438912" cy="438912"/>
          </a:xfrm>
          <a:prstGeom prst="ellipse">
            <a:avLst/>
          </a:prstGeom>
          <a:solidFill>
            <a:srgbClr val="C62828"/>
          </a:solidFill>
          <a:ln w="12700">
            <a:solidFill>
              <a:srgbClr val="C62828"/>
            </a:solidFill>
            <a:prstDash val="solid"/>
          </a:ln>
        </p:spPr>
      </p:sp>
      <p:sp>
        <p:nvSpPr>
          <p:cNvPr id="36" name="Text 33"/>
          <p:cNvSpPr txBox="1"/>
          <p:nvPr/>
        </p:nvSpPr>
        <p:spPr>
          <a:xfrm>
            <a:off x="8394192" y="4087368"/>
            <a:ext cx="438912"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6</a:t>
            </a:r>
            <a:endParaRPr lang="en-US" sz="1800" dirty="0"/>
          </a:p>
        </p:txBody>
      </p:sp>
      <p:sp>
        <p:nvSpPr>
          <p:cNvPr id="37" name="Text 34"/>
          <p:cNvSpPr txBox="1"/>
          <p:nvPr/>
        </p:nvSpPr>
        <p:spPr>
          <a:xfrm>
            <a:off x="8988552" y="4041648"/>
            <a:ext cx="2487168" cy="82296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A ★ before every .favourite</a:t>
            </a:r>
            <a:endParaRPr lang="en-US" sz="1600" dirty="0"/>
          </a:p>
        </p:txBody>
      </p:sp>
      <p:sp>
        <p:nvSpPr>
          <p:cNvPr id="38" name="Shape 35"/>
          <p:cNvSpPr/>
          <p:nvPr/>
        </p:nvSpPr>
        <p:spPr>
          <a:xfrm>
            <a:off x="8394192" y="5047488"/>
            <a:ext cx="3035808" cy="777240"/>
          </a:xfrm>
          <a:prstGeom prst="roundRect">
            <a:avLst>
              <a:gd name="adj" fmla="val 9412"/>
            </a:avLst>
          </a:prstGeom>
          <a:solidFill>
            <a:srgbClr val="F4F8FA"/>
          </a:solidFill>
          <a:ln w="12700">
            <a:solidFill>
              <a:srgbClr val="B0B8BC"/>
            </a:solidFill>
            <a:prstDash val="dash"/>
          </a:ln>
        </p:spPr>
      </p:sp>
      <p:sp>
        <p:nvSpPr>
          <p:cNvPr id="39" name="Text 36"/>
          <p:cNvSpPr txBox="1"/>
          <p:nvPr/>
        </p:nvSpPr>
        <p:spPr>
          <a:xfrm>
            <a:off x="8394192" y="5047488"/>
            <a:ext cx="3035808" cy="777240"/>
          </a:xfrm>
          <a:prstGeom prst="rect">
            <a:avLst/>
          </a:prstGeom>
          <a:noFill/>
          <a:ln/>
        </p:spPr>
        <p:txBody>
          <a:bodyPr wrap="square" lIns="0" tIns="0" rIns="0" bIns="0" rtlCol="0" anchor="ctr"/>
          <a:lstStyle/>
          <a:p>
            <a:pPr algn="ctr" indent="0" marL="0">
              <a:buNone/>
            </a:pPr>
            <a:r>
              <a:rPr lang="en-US" sz="2800" b="1" dirty="0">
                <a:solidFill>
                  <a:srgbClr val="B0B8BC"/>
                </a:solidFill>
                <a:latin typeface="Aptos" pitchFamily="34" charset="0"/>
                <a:ea typeface="Aptos" pitchFamily="34" charset="-122"/>
                <a:cs typeface="Aptos" pitchFamily="34" charset="-120"/>
              </a:rPr>
              <a:t>?</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Name That Selector: Answers</a:t>
            </a:r>
            <a:endParaRPr lang="en-US" sz="2800" dirty="0"/>
          </a:p>
        </p:txBody>
      </p:sp>
      <p:sp>
        <p:nvSpPr>
          <p:cNvPr id="4" name="Shape 1"/>
          <p:cNvSpPr/>
          <p:nvPr/>
        </p:nvSpPr>
        <p:spPr>
          <a:xfrm>
            <a:off x="685800" y="1371600"/>
            <a:ext cx="3493008" cy="2240280"/>
          </a:xfrm>
          <a:prstGeom prst="roundRect">
            <a:avLst>
              <a:gd name="adj" fmla="val 4898"/>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600200"/>
            <a:ext cx="438912" cy="438912"/>
          </a:xfrm>
          <a:prstGeom prst="ellipse">
            <a:avLst/>
          </a:prstGeom>
          <a:solidFill>
            <a:srgbClr val="E97132"/>
          </a:solidFill>
          <a:ln w="12700">
            <a:solidFill>
              <a:srgbClr val="E97132"/>
            </a:solidFill>
            <a:prstDash val="solid"/>
          </a:ln>
        </p:spPr>
      </p:sp>
      <p:sp>
        <p:nvSpPr>
          <p:cNvPr id="6" name="Text 3"/>
          <p:cNvSpPr txBox="1"/>
          <p:nvPr/>
        </p:nvSpPr>
        <p:spPr>
          <a:xfrm>
            <a:off x="914400" y="1600200"/>
            <a:ext cx="438912"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7" name="Text 4"/>
          <p:cNvSpPr txBox="1"/>
          <p:nvPr/>
        </p:nvSpPr>
        <p:spPr>
          <a:xfrm>
            <a:off x="1508760" y="1554480"/>
            <a:ext cx="2487168" cy="82296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Every odd row of a table</a:t>
            </a:r>
            <a:endParaRPr lang="en-US" sz="1600" dirty="0"/>
          </a:p>
        </p:txBody>
      </p:sp>
      <p:sp>
        <p:nvSpPr>
          <p:cNvPr id="8" name="Shape 5"/>
          <p:cNvSpPr/>
          <p:nvPr/>
        </p:nvSpPr>
        <p:spPr>
          <a:xfrm>
            <a:off x="914400" y="2560320"/>
            <a:ext cx="3035808" cy="7772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9" name="Text 6"/>
          <p:cNvSpPr txBox="1"/>
          <p:nvPr/>
        </p:nvSpPr>
        <p:spPr>
          <a:xfrm>
            <a:off x="1054303" y="2700223"/>
            <a:ext cx="2756002" cy="497434"/>
          </a:xfrm>
          <a:prstGeom prst="rect">
            <a:avLst/>
          </a:prstGeom>
          <a:noFill/>
          <a:ln/>
        </p:spPr>
        <p:txBody>
          <a:bodyPr wrap="square" lIns="0" tIns="0" rIns="0" bIns="0" rtlCol="0" anchor="t"/>
          <a:lstStyle/>
          <a:p>
            <a:pPr indent="0" marL="0">
              <a:lnSpc>
                <a:spcPct val="100000"/>
              </a:lnSpc>
              <a:buNone/>
            </a:pPr>
            <a:r>
              <a:rPr lang="en-US" sz="1600" dirty="0">
                <a:solidFill>
                  <a:srgbClr val="D4D4D4"/>
                </a:solidFill>
                <a:latin typeface="Consolas" pitchFamily="34" charset="0"/>
                <a:ea typeface="Consolas" pitchFamily="34" charset="-122"/>
                <a:cs typeface="Consolas" pitchFamily="34" charset="-120"/>
              </a:rPr>
              <a:t>tr:nth-child(odd)</a:t>
            </a:r>
            <a:endParaRPr lang="en-US" sz="1600" dirty="0"/>
          </a:p>
        </p:txBody>
      </p:sp>
      <p:sp>
        <p:nvSpPr>
          <p:cNvPr id="10" name="Shape 7"/>
          <p:cNvSpPr/>
          <p:nvPr/>
        </p:nvSpPr>
        <p:spPr>
          <a:xfrm>
            <a:off x="4425696" y="1371600"/>
            <a:ext cx="3493008" cy="2240280"/>
          </a:xfrm>
          <a:prstGeom prst="roundRect">
            <a:avLst>
              <a:gd name="adj" fmla="val 4898"/>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4654296" y="1600200"/>
            <a:ext cx="438912" cy="438912"/>
          </a:xfrm>
          <a:prstGeom prst="ellipse">
            <a:avLst/>
          </a:prstGeom>
          <a:solidFill>
            <a:srgbClr val="0F9ED5"/>
          </a:solidFill>
          <a:ln w="12700">
            <a:solidFill>
              <a:srgbClr val="0F9ED5"/>
            </a:solidFill>
            <a:prstDash val="solid"/>
          </a:ln>
        </p:spPr>
      </p:sp>
      <p:sp>
        <p:nvSpPr>
          <p:cNvPr id="12" name="Text 9"/>
          <p:cNvSpPr txBox="1"/>
          <p:nvPr/>
        </p:nvSpPr>
        <p:spPr>
          <a:xfrm>
            <a:off x="4654296" y="1600200"/>
            <a:ext cx="438912"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3" name="Text 10"/>
          <p:cNvSpPr txBox="1"/>
          <p:nvPr/>
        </p:nvSpPr>
        <p:spPr>
          <a:xfrm>
            <a:off x="5248656" y="1554480"/>
            <a:ext cx="2487168" cy="82296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A button while the mouse is over it</a:t>
            </a:r>
            <a:endParaRPr lang="en-US" sz="1600" dirty="0"/>
          </a:p>
        </p:txBody>
      </p:sp>
      <p:sp>
        <p:nvSpPr>
          <p:cNvPr id="14" name="Shape 11"/>
          <p:cNvSpPr/>
          <p:nvPr/>
        </p:nvSpPr>
        <p:spPr>
          <a:xfrm>
            <a:off x="4654296" y="2560320"/>
            <a:ext cx="3035808" cy="7772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15" name="Text 12"/>
          <p:cNvSpPr txBox="1"/>
          <p:nvPr/>
        </p:nvSpPr>
        <p:spPr>
          <a:xfrm>
            <a:off x="4794199" y="2700223"/>
            <a:ext cx="2756002" cy="497434"/>
          </a:xfrm>
          <a:prstGeom prst="rect">
            <a:avLst/>
          </a:prstGeom>
          <a:noFill/>
          <a:ln/>
        </p:spPr>
        <p:txBody>
          <a:bodyPr wrap="square" lIns="0" tIns="0" rIns="0" bIns="0" rtlCol="0" anchor="t"/>
          <a:lstStyle/>
          <a:p>
            <a:pPr indent="0" marL="0">
              <a:lnSpc>
                <a:spcPct val="100000"/>
              </a:lnSpc>
              <a:buNone/>
            </a:pPr>
            <a:r>
              <a:rPr lang="en-US" sz="1600" dirty="0">
                <a:solidFill>
                  <a:srgbClr val="D4D4D4"/>
                </a:solidFill>
                <a:latin typeface="Consolas" pitchFamily="34" charset="0"/>
                <a:ea typeface="Consolas" pitchFamily="34" charset="-122"/>
                <a:cs typeface="Consolas" pitchFamily="34" charset="-120"/>
              </a:rPr>
              <a:t>button:hover</a:t>
            </a:r>
            <a:endParaRPr lang="en-US" sz="1600" dirty="0"/>
          </a:p>
        </p:txBody>
      </p:sp>
      <p:sp>
        <p:nvSpPr>
          <p:cNvPr id="16" name="Shape 13"/>
          <p:cNvSpPr/>
          <p:nvPr/>
        </p:nvSpPr>
        <p:spPr>
          <a:xfrm>
            <a:off x="8165592" y="1371600"/>
            <a:ext cx="3493008" cy="2240280"/>
          </a:xfrm>
          <a:prstGeom prst="roundRect">
            <a:avLst>
              <a:gd name="adj" fmla="val 4898"/>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7" name="Shape 14"/>
          <p:cNvSpPr/>
          <p:nvPr/>
        </p:nvSpPr>
        <p:spPr>
          <a:xfrm>
            <a:off x="8394192" y="1600200"/>
            <a:ext cx="438912" cy="438912"/>
          </a:xfrm>
          <a:prstGeom prst="ellipse">
            <a:avLst/>
          </a:prstGeom>
          <a:solidFill>
            <a:srgbClr val="A02B93"/>
          </a:solidFill>
          <a:ln w="12700">
            <a:solidFill>
              <a:srgbClr val="A02B93"/>
            </a:solidFill>
            <a:prstDash val="solid"/>
          </a:ln>
        </p:spPr>
      </p:sp>
      <p:sp>
        <p:nvSpPr>
          <p:cNvPr id="18" name="Text 15"/>
          <p:cNvSpPr txBox="1"/>
          <p:nvPr/>
        </p:nvSpPr>
        <p:spPr>
          <a:xfrm>
            <a:off x="8394192" y="1600200"/>
            <a:ext cx="438912"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19" name="Text 16"/>
          <p:cNvSpPr txBox="1"/>
          <p:nvPr/>
        </p:nvSpPr>
        <p:spPr>
          <a:xfrm>
            <a:off x="8988552" y="1554480"/>
            <a:ext cx="2487168" cy="82296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Every link to a Word file (.docx)</a:t>
            </a:r>
            <a:endParaRPr lang="en-US" sz="1600" dirty="0"/>
          </a:p>
        </p:txBody>
      </p:sp>
      <p:sp>
        <p:nvSpPr>
          <p:cNvPr id="20" name="Shape 17"/>
          <p:cNvSpPr/>
          <p:nvPr/>
        </p:nvSpPr>
        <p:spPr>
          <a:xfrm>
            <a:off x="8394192" y="2560320"/>
            <a:ext cx="3035808" cy="7772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1" name="Text 18"/>
          <p:cNvSpPr txBox="1"/>
          <p:nvPr/>
        </p:nvSpPr>
        <p:spPr>
          <a:xfrm>
            <a:off x="8534095" y="2700223"/>
            <a:ext cx="2756002" cy="497434"/>
          </a:xfrm>
          <a:prstGeom prst="rect">
            <a:avLst/>
          </a:prstGeom>
          <a:noFill/>
          <a:ln/>
        </p:spPr>
        <p:txBody>
          <a:bodyPr wrap="square" lIns="0" tIns="0" rIns="0" bIns="0" rtlCol="0" anchor="t"/>
          <a:lstStyle/>
          <a:p>
            <a:pPr indent="0" marL="0">
              <a:lnSpc>
                <a:spcPct val="100000"/>
              </a:lnSpc>
              <a:buNone/>
            </a:pPr>
            <a:r>
              <a:rPr lang="en-US" sz="1600" dirty="0">
                <a:solidFill>
                  <a:srgbClr val="D4D4D4"/>
                </a:solidFill>
                <a:latin typeface="Consolas" pitchFamily="34" charset="0"/>
                <a:ea typeface="Consolas" pitchFamily="34" charset="-122"/>
                <a:cs typeface="Consolas" pitchFamily="34" charset="-120"/>
              </a:rPr>
              <a:t>a[href$=".docx"]</a:t>
            </a:r>
            <a:endParaRPr lang="en-US" sz="1600" dirty="0"/>
          </a:p>
        </p:txBody>
      </p:sp>
      <p:sp>
        <p:nvSpPr>
          <p:cNvPr id="22" name="Shape 19"/>
          <p:cNvSpPr/>
          <p:nvPr/>
        </p:nvSpPr>
        <p:spPr>
          <a:xfrm>
            <a:off x="685800" y="3858768"/>
            <a:ext cx="3493008" cy="2240280"/>
          </a:xfrm>
          <a:prstGeom prst="roundRect">
            <a:avLst>
              <a:gd name="adj" fmla="val 4898"/>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914400" y="4087368"/>
            <a:ext cx="438912" cy="438912"/>
          </a:xfrm>
          <a:prstGeom prst="ellipse">
            <a:avLst/>
          </a:prstGeom>
          <a:solidFill>
            <a:srgbClr val="2E7D32"/>
          </a:solidFill>
          <a:ln w="12700">
            <a:solidFill>
              <a:srgbClr val="2E7D32"/>
            </a:solidFill>
            <a:prstDash val="solid"/>
          </a:ln>
        </p:spPr>
      </p:sp>
      <p:sp>
        <p:nvSpPr>
          <p:cNvPr id="24" name="Text 21"/>
          <p:cNvSpPr txBox="1"/>
          <p:nvPr/>
        </p:nvSpPr>
        <p:spPr>
          <a:xfrm>
            <a:off x="914400" y="4087368"/>
            <a:ext cx="438912"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25" name="Text 22"/>
          <p:cNvSpPr txBox="1"/>
          <p:nvPr/>
        </p:nvSpPr>
        <p:spPr>
          <a:xfrm>
            <a:off x="1508760" y="4041648"/>
            <a:ext cx="2487168" cy="82296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Only the li's directly inside .menu</a:t>
            </a:r>
            <a:endParaRPr lang="en-US" sz="1600" dirty="0"/>
          </a:p>
        </p:txBody>
      </p:sp>
      <p:sp>
        <p:nvSpPr>
          <p:cNvPr id="26" name="Shape 23"/>
          <p:cNvSpPr/>
          <p:nvPr/>
        </p:nvSpPr>
        <p:spPr>
          <a:xfrm>
            <a:off x="914400" y="5047488"/>
            <a:ext cx="3035808" cy="7772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7" name="Text 24"/>
          <p:cNvSpPr txBox="1"/>
          <p:nvPr/>
        </p:nvSpPr>
        <p:spPr>
          <a:xfrm>
            <a:off x="1054303" y="5187391"/>
            <a:ext cx="2756002" cy="497434"/>
          </a:xfrm>
          <a:prstGeom prst="rect">
            <a:avLst/>
          </a:prstGeom>
          <a:noFill/>
          <a:ln/>
        </p:spPr>
        <p:txBody>
          <a:bodyPr wrap="square" lIns="0" tIns="0" rIns="0" bIns="0" rtlCol="0" anchor="t"/>
          <a:lstStyle/>
          <a:p>
            <a:pPr indent="0" marL="0">
              <a:lnSpc>
                <a:spcPct val="100000"/>
              </a:lnSpc>
              <a:buNone/>
            </a:pPr>
            <a:r>
              <a:rPr lang="en-US" sz="1600" dirty="0">
                <a:solidFill>
                  <a:srgbClr val="D4D4D4"/>
                </a:solidFill>
                <a:latin typeface="Consolas" pitchFamily="34" charset="0"/>
                <a:ea typeface="Consolas" pitchFamily="34" charset="-122"/>
                <a:cs typeface="Consolas" pitchFamily="34" charset="-120"/>
              </a:rPr>
              <a:t>.menu &gt; li</a:t>
            </a:r>
            <a:endParaRPr lang="en-US" sz="1600" dirty="0"/>
          </a:p>
        </p:txBody>
      </p:sp>
      <p:sp>
        <p:nvSpPr>
          <p:cNvPr id="28" name="Shape 25"/>
          <p:cNvSpPr/>
          <p:nvPr/>
        </p:nvSpPr>
        <p:spPr>
          <a:xfrm>
            <a:off x="4425696" y="3858768"/>
            <a:ext cx="3493008" cy="2240280"/>
          </a:xfrm>
          <a:prstGeom prst="roundRect">
            <a:avLst>
              <a:gd name="adj" fmla="val 4898"/>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9" name="Shape 26"/>
          <p:cNvSpPr/>
          <p:nvPr/>
        </p:nvSpPr>
        <p:spPr>
          <a:xfrm>
            <a:off x="4654296" y="4087368"/>
            <a:ext cx="438912" cy="438912"/>
          </a:xfrm>
          <a:prstGeom prst="ellipse">
            <a:avLst/>
          </a:prstGeom>
          <a:solidFill>
            <a:srgbClr val="1B5E82"/>
          </a:solidFill>
          <a:ln w="12700">
            <a:solidFill>
              <a:srgbClr val="1B5E82"/>
            </a:solidFill>
            <a:prstDash val="solid"/>
          </a:ln>
        </p:spPr>
      </p:sp>
      <p:sp>
        <p:nvSpPr>
          <p:cNvPr id="30" name="Text 27"/>
          <p:cNvSpPr txBox="1"/>
          <p:nvPr/>
        </p:nvSpPr>
        <p:spPr>
          <a:xfrm>
            <a:off x="4654296" y="4087368"/>
            <a:ext cx="438912"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5</a:t>
            </a:r>
            <a:endParaRPr lang="en-US" sz="1800" dirty="0"/>
          </a:p>
        </p:txBody>
      </p:sp>
      <p:sp>
        <p:nvSpPr>
          <p:cNvPr id="31" name="Text 28"/>
          <p:cNvSpPr txBox="1"/>
          <p:nvPr/>
        </p:nvSpPr>
        <p:spPr>
          <a:xfrm>
            <a:off x="5248656" y="4041648"/>
            <a:ext cx="2487168" cy="82296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The first p right after each h2</a:t>
            </a:r>
            <a:endParaRPr lang="en-US" sz="1600" dirty="0"/>
          </a:p>
        </p:txBody>
      </p:sp>
      <p:sp>
        <p:nvSpPr>
          <p:cNvPr id="32" name="Shape 29"/>
          <p:cNvSpPr/>
          <p:nvPr/>
        </p:nvSpPr>
        <p:spPr>
          <a:xfrm>
            <a:off x="4654296" y="5047488"/>
            <a:ext cx="3035808" cy="7772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33" name="Text 30"/>
          <p:cNvSpPr txBox="1"/>
          <p:nvPr/>
        </p:nvSpPr>
        <p:spPr>
          <a:xfrm>
            <a:off x="4794199" y="5187391"/>
            <a:ext cx="2756002" cy="497434"/>
          </a:xfrm>
          <a:prstGeom prst="rect">
            <a:avLst/>
          </a:prstGeom>
          <a:noFill/>
          <a:ln/>
        </p:spPr>
        <p:txBody>
          <a:bodyPr wrap="square" lIns="0" tIns="0" rIns="0" bIns="0" rtlCol="0" anchor="t"/>
          <a:lstStyle/>
          <a:p>
            <a:pPr indent="0" marL="0">
              <a:lnSpc>
                <a:spcPct val="100000"/>
              </a:lnSpc>
              <a:buNone/>
            </a:pPr>
            <a:r>
              <a:rPr lang="en-US" sz="1600" dirty="0">
                <a:solidFill>
                  <a:srgbClr val="D4D4D4"/>
                </a:solidFill>
                <a:latin typeface="Consolas" pitchFamily="34" charset="0"/>
                <a:ea typeface="Consolas" pitchFamily="34" charset="-122"/>
                <a:cs typeface="Consolas" pitchFamily="34" charset="-120"/>
              </a:rPr>
              <a:t>h2 + p</a:t>
            </a:r>
            <a:endParaRPr lang="en-US" sz="1600" dirty="0"/>
          </a:p>
        </p:txBody>
      </p:sp>
      <p:sp>
        <p:nvSpPr>
          <p:cNvPr id="34" name="Shape 31"/>
          <p:cNvSpPr/>
          <p:nvPr/>
        </p:nvSpPr>
        <p:spPr>
          <a:xfrm>
            <a:off x="8165592" y="3858768"/>
            <a:ext cx="3493008" cy="2240280"/>
          </a:xfrm>
          <a:prstGeom prst="roundRect">
            <a:avLst>
              <a:gd name="adj" fmla="val 4898"/>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35" name="Shape 32"/>
          <p:cNvSpPr/>
          <p:nvPr/>
        </p:nvSpPr>
        <p:spPr>
          <a:xfrm>
            <a:off x="8394192" y="4087368"/>
            <a:ext cx="438912" cy="438912"/>
          </a:xfrm>
          <a:prstGeom prst="ellipse">
            <a:avLst/>
          </a:prstGeom>
          <a:solidFill>
            <a:srgbClr val="C62828"/>
          </a:solidFill>
          <a:ln w="12700">
            <a:solidFill>
              <a:srgbClr val="C62828"/>
            </a:solidFill>
            <a:prstDash val="solid"/>
          </a:ln>
        </p:spPr>
      </p:sp>
      <p:sp>
        <p:nvSpPr>
          <p:cNvPr id="36" name="Text 33"/>
          <p:cNvSpPr txBox="1"/>
          <p:nvPr/>
        </p:nvSpPr>
        <p:spPr>
          <a:xfrm>
            <a:off x="8394192" y="4087368"/>
            <a:ext cx="438912" cy="438912"/>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6</a:t>
            </a:r>
            <a:endParaRPr lang="en-US" sz="1800" dirty="0"/>
          </a:p>
        </p:txBody>
      </p:sp>
      <p:sp>
        <p:nvSpPr>
          <p:cNvPr id="37" name="Text 34"/>
          <p:cNvSpPr txBox="1"/>
          <p:nvPr/>
        </p:nvSpPr>
        <p:spPr>
          <a:xfrm>
            <a:off x="8988552" y="4041648"/>
            <a:ext cx="2487168" cy="82296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A ★ before every .favourite</a:t>
            </a:r>
            <a:endParaRPr lang="en-US" sz="1600" dirty="0"/>
          </a:p>
        </p:txBody>
      </p:sp>
      <p:sp>
        <p:nvSpPr>
          <p:cNvPr id="38" name="Shape 35"/>
          <p:cNvSpPr/>
          <p:nvPr/>
        </p:nvSpPr>
        <p:spPr>
          <a:xfrm>
            <a:off x="8394192" y="5047488"/>
            <a:ext cx="3035808" cy="7772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39" name="Text 36"/>
          <p:cNvSpPr txBox="1"/>
          <p:nvPr/>
        </p:nvSpPr>
        <p:spPr>
          <a:xfrm>
            <a:off x="8534095" y="5187391"/>
            <a:ext cx="2756002" cy="497434"/>
          </a:xfrm>
          <a:prstGeom prst="rect">
            <a:avLst/>
          </a:prstGeom>
          <a:noFill/>
          <a:ln/>
        </p:spPr>
        <p:txBody>
          <a:bodyPr wrap="square" lIns="0" tIns="0" rIns="0" bIns="0" rtlCol="0" anchor="t"/>
          <a:lstStyle/>
          <a:p>
            <a:pPr indent="0" marL="0">
              <a:lnSpc>
                <a:spcPct val="100000"/>
              </a:lnSpc>
              <a:buNone/>
            </a:pPr>
            <a:r>
              <a:rPr lang="en-US" sz="1600" dirty="0">
                <a:solidFill>
                  <a:srgbClr val="D4D4D4"/>
                </a:solidFill>
                <a:latin typeface="Consolas" pitchFamily="34" charset="0"/>
                <a:ea typeface="Consolas" pitchFamily="34" charset="-122"/>
                <a:cs typeface="Consolas" pitchFamily="34" charset="-120"/>
              </a:rPr>
              <a:t>.favourite::before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926080" y="640080"/>
            <a:ext cx="8412480" cy="4206240"/>
          </a:xfrm>
          <a:prstGeom prst="rect">
            <a:avLst/>
          </a:prstGeom>
          <a:noFill/>
          <a:ln/>
        </p:spPr>
        <p:txBody>
          <a:bodyPr wrap="square" lIns="0" tIns="0" rIns="0" bIns="0" rtlCol="0" anchor="ctr"/>
          <a:lstStyle/>
          <a:p>
            <a:pPr algn="r" indent="0" marL="0">
              <a:buNone/>
            </a:pPr>
            <a:r>
              <a:rPr lang="en-US" sz="6000" dirty="0">
                <a:solidFill>
                  <a:srgbClr val="FFFFFF"/>
                </a:solidFill>
                <a:latin typeface="Aptos" pitchFamily="34" charset="0"/>
                <a:ea typeface="Aptos" pitchFamily="34" charset="-122"/>
                <a:cs typeface="Aptos" pitchFamily="34" charset="-120"/>
              </a:rPr>
              <a:t>Let's Make Things Move!</a:t>
            </a:r>
            <a:endParaRPr lang="en-US" sz="6000" dirty="0"/>
          </a:p>
        </p:txBody>
      </p:sp>
      <p:sp>
        <p:nvSpPr>
          <p:cNvPr id="3" name="Text 1"/>
          <p:cNvSpPr txBox="1"/>
          <p:nvPr/>
        </p:nvSpPr>
        <p:spPr>
          <a:xfrm>
            <a:off x="1417320" y="5989320"/>
            <a:ext cx="10058400" cy="411480"/>
          </a:xfrm>
          <a:prstGeom prst="rect">
            <a:avLst/>
          </a:prstGeom>
          <a:noFill/>
          <a:ln/>
        </p:spPr>
        <p:txBody>
          <a:bodyPr wrap="square" lIns="0" tIns="0" rIns="0" bIns="0" rtlCol="0" anchor="ctr"/>
          <a:lstStyle/>
          <a:p>
            <a:pPr indent="0" marL="0">
              <a:buNone/>
            </a:pPr>
            <a:r>
              <a:rPr lang="en-US" sz="1800" dirty="0">
                <a:solidFill>
                  <a:srgbClr val="FFFFFF"/>
                </a:solidFill>
                <a:latin typeface="Aptos" pitchFamily="34" charset="0"/>
                <a:ea typeface="Aptos" pitchFamily="34" charset="-122"/>
                <a:cs typeface="Aptos" pitchFamily="34" charset="-120"/>
              </a:rPr>
              <a:t>transform   ·   transitions   ·   @keyframes   ·   a ball, a race and a car</a:t>
            </a:r>
            <a:endParaRPr lang="en-US" sz="1800" dirty="0"/>
          </a:p>
        </p:txBody>
      </p:sp>
      <p:sp>
        <p:nvSpPr>
          <p:cNvPr id="4" name="Shape 2"/>
          <p:cNvSpPr/>
          <p:nvPr/>
        </p:nvSpPr>
        <p:spPr>
          <a:xfrm>
            <a:off x="914400" y="3840480"/>
            <a:ext cx="0" cy="3017520"/>
          </a:xfrm>
          <a:prstGeom prst="line">
            <a:avLst/>
          </a:prstGeom>
          <a:noFill/>
          <a:ln w="25400">
            <a:solidFill>
              <a:srgbClr val="FFFFFF"/>
            </a:solidFill>
            <a:prstDash val="solid"/>
          </a:ln>
        </p:spPr>
      </p:sp>
      <p:sp>
        <p:nvSpPr>
          <p:cNvPr id="5" name="Text 3"/>
          <p:cNvSpPr txBox="1"/>
          <p:nvPr/>
        </p:nvSpPr>
        <p:spPr>
          <a:xfrm>
            <a:off x="3794760" y="5029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6" name="Text 4"/>
          <p:cNvSpPr txBox="1"/>
          <p:nvPr/>
        </p:nvSpPr>
        <p:spPr>
          <a:xfrm>
            <a:off x="4160520" y="7315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7" name="Text 5"/>
          <p:cNvSpPr txBox="1"/>
          <p:nvPr/>
        </p:nvSpPr>
        <p:spPr>
          <a:xfrm>
            <a:off x="3749040" y="914400"/>
            <a:ext cx="3657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Aptos" pitchFamily="34" charset="0"/>
                <a:ea typeface="Aptos" pitchFamily="34" charset="-122"/>
                <a:cs typeface="Aptos" pitchFamily="34" charset="-120"/>
              </a:rPr>
              <a:t>○</a:t>
            </a:r>
            <a:endParaRPr lang="en-US" sz="1600" dirty="0"/>
          </a:p>
        </p:txBody>
      </p:sp>
      <p:sp>
        <p:nvSpPr>
          <p:cNvPr id="8" name="Text 6"/>
          <p:cNvSpPr txBox="1"/>
          <p:nvPr/>
        </p:nvSpPr>
        <p:spPr>
          <a:xfrm>
            <a:off x="11521440" y="57607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9" name="Text 7"/>
          <p:cNvSpPr txBox="1"/>
          <p:nvPr/>
        </p:nvSpPr>
        <p:spPr>
          <a:xfrm>
            <a:off x="11292840" y="626364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10" name="Text 8"/>
          <p:cNvSpPr txBox="1"/>
          <p:nvPr/>
        </p:nvSpPr>
        <p:spPr>
          <a:xfrm>
            <a:off x="11887200" y="6263640"/>
            <a:ext cx="36576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Aptos" pitchFamily="34" charset="0"/>
                <a:ea typeface="Aptos" pitchFamily="34" charset="-122"/>
                <a:cs typeface="Aptos" pitchFamily="34" charset="-120"/>
              </a:rPr>
              <a: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Your Moving Toolkit: transform</a:t>
            </a:r>
            <a:endParaRPr lang="en-US" sz="2800" dirty="0"/>
          </a:p>
        </p:txBody>
      </p:sp>
      <p:sp>
        <p:nvSpPr>
          <p:cNvPr id="7" name="Shape 4"/>
          <p:cNvSpPr/>
          <p:nvPr/>
        </p:nvSpPr>
        <p:spPr>
          <a:xfrm>
            <a:off x="4754880" y="1783080"/>
            <a:ext cx="3337560" cy="2194560"/>
          </a:xfrm>
          <a:prstGeom prst="roundRect">
            <a:avLst>
              <a:gd name="adj" fmla="val 5000"/>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4937760" y="1892808"/>
            <a:ext cx="2971800" cy="347472"/>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Move it</a:t>
            </a:r>
            <a:endParaRPr lang="en-US" sz="1600" dirty="0"/>
          </a:p>
        </p:txBody>
      </p:sp>
      <p:sp>
        <p:nvSpPr>
          <p:cNvPr id="9" name="Text 6"/>
          <p:cNvSpPr txBox="1"/>
          <p:nvPr/>
        </p:nvSpPr>
        <p:spPr>
          <a:xfrm>
            <a:off x="4937760" y="2221992"/>
            <a:ext cx="2971800" cy="274320"/>
          </a:xfrm>
          <a:prstGeom prst="rect">
            <a:avLst/>
          </a:prstGeom>
          <a:noFill/>
          <a:ln/>
        </p:spPr>
        <p:txBody>
          <a:bodyPr wrap="square" lIns="0" tIns="0" rIns="0" bIns="0" rtlCol="0" anchor="ctr"/>
          <a:lstStyle/>
          <a:p>
            <a:pPr indent="0" marL="0">
              <a:buNone/>
            </a:pPr>
            <a:r>
              <a:rPr lang="en-US" sz="1250" b="1" dirty="0">
                <a:solidFill>
                  <a:srgbClr val="8A2B0B"/>
                </a:solidFill>
                <a:latin typeface="Consolas" pitchFamily="34" charset="0"/>
                <a:ea typeface="Consolas" pitchFamily="34" charset="-122"/>
                <a:cs typeface="Consolas" pitchFamily="34" charset="-120"/>
              </a:rPr>
              <a:t>translate(x, y)</a:t>
            </a:r>
            <a:endParaRPr lang="en-US" sz="1250" dirty="0"/>
          </a:p>
        </p:txBody>
      </p:sp>
      <p:sp>
        <p:nvSpPr>
          <p:cNvPr id="10" name="Shape 7"/>
          <p:cNvSpPr/>
          <p:nvPr/>
        </p:nvSpPr>
        <p:spPr>
          <a:xfrm>
            <a:off x="5257800" y="2807208"/>
            <a:ext cx="502920" cy="502920"/>
          </a:xfrm>
          <a:prstGeom prst="rect">
            <a:avLst/>
          </a:prstGeom>
          <a:ln w="12700">
            <a:solidFill>
              <a:srgbClr val="9AA0A6"/>
            </a:solidFill>
            <a:prstDash val="dash"/>
          </a:ln>
        </p:spPr>
      </p:sp>
      <p:sp>
        <p:nvSpPr>
          <p:cNvPr id="11" name="Shape 8"/>
          <p:cNvSpPr/>
          <p:nvPr/>
        </p:nvSpPr>
        <p:spPr>
          <a:xfrm>
            <a:off x="5824728" y="2807208"/>
            <a:ext cx="502920" cy="502920"/>
          </a:xfrm>
          <a:prstGeom prst="rect">
            <a:avLst/>
          </a:prstGeom>
          <a:solidFill>
            <a:srgbClr val="E97132">
              <a:alpha val="85000"/>
            </a:srgbClr>
          </a:solidFill>
          <a:ln w="12700">
            <a:solidFill>
              <a:srgbClr val="E97132"/>
            </a:solidFill>
            <a:prstDash val="solid"/>
          </a:ln>
        </p:spPr>
      </p:sp>
      <p:sp>
        <p:nvSpPr>
          <p:cNvPr id="12" name="Text 9"/>
          <p:cNvSpPr txBox="1"/>
          <p:nvPr/>
        </p:nvSpPr>
        <p:spPr>
          <a:xfrm>
            <a:off x="5715000" y="2459736"/>
            <a:ext cx="457200" cy="320040"/>
          </a:xfrm>
          <a:prstGeom prst="rect">
            <a:avLst/>
          </a:prstGeom>
          <a:noFill/>
          <a:ln/>
        </p:spPr>
        <p:txBody>
          <a:bodyPr wrap="square" lIns="0" tIns="0" rIns="0" bIns="0" rtlCol="0" anchor="ctr"/>
          <a:lstStyle/>
          <a:p>
            <a:pPr algn="ctr" indent="0" marL="0">
              <a:buNone/>
            </a:pPr>
            <a:r>
              <a:rPr lang="en-US" sz="1600" b="1" dirty="0">
                <a:solidFill>
                  <a:srgbClr val="E97132"/>
                </a:solidFill>
                <a:latin typeface="Aptos" pitchFamily="34" charset="0"/>
                <a:ea typeface="Aptos" pitchFamily="34" charset="-122"/>
                <a:cs typeface="Aptos" pitchFamily="34" charset="-120"/>
              </a:rPr>
              <a:t>→</a:t>
            </a:r>
            <a:endParaRPr lang="en-US" sz="1600" dirty="0"/>
          </a:p>
        </p:txBody>
      </p:sp>
      <p:sp>
        <p:nvSpPr>
          <p:cNvPr id="13" name="Text 10"/>
          <p:cNvSpPr txBox="1"/>
          <p:nvPr/>
        </p:nvSpPr>
        <p:spPr>
          <a:xfrm>
            <a:off x="4937760" y="3410712"/>
            <a:ext cx="2971800" cy="457200"/>
          </a:xfrm>
          <a:prstGeom prst="rect">
            <a:avLst/>
          </a:prstGeom>
          <a:noFill/>
          <a:ln/>
        </p:spPr>
        <p:txBody>
          <a:bodyPr wrap="square" lIns="0" tIns="0" rIns="0" bIns="0" rtlCol="0" anchor="b"/>
          <a:lstStyle/>
          <a:p>
            <a:pPr indent="0" marL="0">
              <a:buNone/>
            </a:pPr>
            <a:r>
              <a:rPr lang="en-US" sz="1050" dirty="0">
                <a:solidFill>
                  <a:srgbClr val="595959"/>
                </a:solidFill>
                <a:latin typeface="Consolas" pitchFamily="34" charset="0"/>
                <a:ea typeface="Consolas" pitchFamily="34" charset="-122"/>
                <a:cs typeface="Consolas" pitchFamily="34" charset="-120"/>
              </a:rPr>
              <a:t>translateX(60px)</a:t>
            </a:r>
            <a:endParaRPr lang="en-US" sz="1050" dirty="0"/>
          </a:p>
        </p:txBody>
      </p:sp>
      <p:sp>
        <p:nvSpPr>
          <p:cNvPr id="14" name="Shape 11"/>
          <p:cNvSpPr/>
          <p:nvPr/>
        </p:nvSpPr>
        <p:spPr>
          <a:xfrm>
            <a:off x="8321040" y="1783080"/>
            <a:ext cx="3337560" cy="2194560"/>
          </a:xfrm>
          <a:prstGeom prst="roundRect">
            <a:avLst>
              <a:gd name="adj" fmla="val 5000"/>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8503920" y="1892808"/>
            <a:ext cx="2971800" cy="347472"/>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Spin it</a:t>
            </a:r>
            <a:endParaRPr lang="en-US" sz="1600" dirty="0"/>
          </a:p>
        </p:txBody>
      </p:sp>
      <p:sp>
        <p:nvSpPr>
          <p:cNvPr id="16" name="Text 13"/>
          <p:cNvSpPr txBox="1"/>
          <p:nvPr/>
        </p:nvSpPr>
        <p:spPr>
          <a:xfrm>
            <a:off x="8503920" y="2221992"/>
            <a:ext cx="2971800" cy="274320"/>
          </a:xfrm>
          <a:prstGeom prst="rect">
            <a:avLst/>
          </a:prstGeom>
          <a:noFill/>
          <a:ln/>
        </p:spPr>
        <p:txBody>
          <a:bodyPr wrap="square" lIns="0" tIns="0" rIns="0" bIns="0" rtlCol="0" anchor="ctr"/>
          <a:lstStyle/>
          <a:p>
            <a:pPr indent="0" marL="0">
              <a:buNone/>
            </a:pPr>
            <a:r>
              <a:rPr lang="en-US" sz="1250" b="1" dirty="0">
                <a:solidFill>
                  <a:srgbClr val="8A2B0B"/>
                </a:solidFill>
                <a:latin typeface="Consolas" pitchFamily="34" charset="0"/>
                <a:ea typeface="Consolas" pitchFamily="34" charset="-122"/>
                <a:cs typeface="Consolas" pitchFamily="34" charset="-120"/>
              </a:rPr>
              <a:t>rotate(deg)</a:t>
            </a:r>
            <a:endParaRPr lang="en-US" sz="1250" dirty="0"/>
          </a:p>
        </p:txBody>
      </p:sp>
      <p:sp>
        <p:nvSpPr>
          <p:cNvPr id="17" name="Shape 14"/>
          <p:cNvSpPr/>
          <p:nvPr/>
        </p:nvSpPr>
        <p:spPr>
          <a:xfrm>
            <a:off x="8823960" y="2807208"/>
            <a:ext cx="502920" cy="502920"/>
          </a:xfrm>
          <a:prstGeom prst="rect">
            <a:avLst/>
          </a:prstGeom>
          <a:ln w="12700">
            <a:solidFill>
              <a:srgbClr val="9AA0A6"/>
            </a:solidFill>
            <a:prstDash val="dash"/>
          </a:ln>
        </p:spPr>
      </p:sp>
      <p:sp>
        <p:nvSpPr>
          <p:cNvPr id="18" name="Shape 15"/>
          <p:cNvSpPr/>
          <p:nvPr/>
        </p:nvSpPr>
        <p:spPr>
          <a:xfrm rot="2700000">
            <a:off x="8823960" y="2807208"/>
            <a:ext cx="502920" cy="502920"/>
          </a:xfrm>
          <a:prstGeom prst="rect">
            <a:avLst/>
          </a:prstGeom>
          <a:solidFill>
            <a:srgbClr val="0F9ED5">
              <a:alpha val="85000"/>
            </a:srgbClr>
          </a:solidFill>
          <a:ln w="12700">
            <a:solidFill>
              <a:srgbClr val="0F9ED5"/>
            </a:solidFill>
            <a:prstDash val="solid"/>
          </a:ln>
        </p:spPr>
      </p:sp>
      <p:sp>
        <p:nvSpPr>
          <p:cNvPr id="19" name="Text 16"/>
          <p:cNvSpPr txBox="1"/>
          <p:nvPr/>
        </p:nvSpPr>
        <p:spPr>
          <a:xfrm>
            <a:off x="8503920" y="3410712"/>
            <a:ext cx="2971800" cy="457200"/>
          </a:xfrm>
          <a:prstGeom prst="rect">
            <a:avLst/>
          </a:prstGeom>
          <a:noFill/>
          <a:ln/>
        </p:spPr>
        <p:txBody>
          <a:bodyPr wrap="square" lIns="0" tIns="0" rIns="0" bIns="0" rtlCol="0" anchor="b"/>
          <a:lstStyle/>
          <a:p>
            <a:pPr indent="0" marL="0">
              <a:buNone/>
            </a:pPr>
            <a:r>
              <a:rPr lang="en-US" sz="1050" dirty="0">
                <a:solidFill>
                  <a:srgbClr val="595959"/>
                </a:solidFill>
                <a:latin typeface="Consolas" pitchFamily="34" charset="0"/>
                <a:ea typeface="Consolas" pitchFamily="34" charset="-122"/>
                <a:cs typeface="Consolas" pitchFamily="34" charset="-120"/>
              </a:rPr>
              <a:t>rotate(45deg)</a:t>
            </a:r>
            <a:endParaRPr lang="en-US" sz="1050" dirty="0"/>
          </a:p>
        </p:txBody>
      </p:sp>
      <p:sp>
        <p:nvSpPr>
          <p:cNvPr id="20" name="Shape 17"/>
          <p:cNvSpPr/>
          <p:nvPr/>
        </p:nvSpPr>
        <p:spPr>
          <a:xfrm>
            <a:off x="4754880" y="4178808"/>
            <a:ext cx="3337560" cy="2194560"/>
          </a:xfrm>
          <a:prstGeom prst="roundRect">
            <a:avLst>
              <a:gd name="adj" fmla="val 5000"/>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1" name="Text 18"/>
          <p:cNvSpPr txBox="1"/>
          <p:nvPr/>
        </p:nvSpPr>
        <p:spPr>
          <a:xfrm>
            <a:off x="4937760" y="4288536"/>
            <a:ext cx="2971800" cy="347472"/>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Resize it</a:t>
            </a:r>
            <a:endParaRPr lang="en-US" sz="1600" dirty="0"/>
          </a:p>
        </p:txBody>
      </p:sp>
      <p:sp>
        <p:nvSpPr>
          <p:cNvPr id="22" name="Text 19"/>
          <p:cNvSpPr txBox="1"/>
          <p:nvPr/>
        </p:nvSpPr>
        <p:spPr>
          <a:xfrm>
            <a:off x="4937760" y="4617720"/>
            <a:ext cx="2971800" cy="274320"/>
          </a:xfrm>
          <a:prstGeom prst="rect">
            <a:avLst/>
          </a:prstGeom>
          <a:noFill/>
          <a:ln/>
        </p:spPr>
        <p:txBody>
          <a:bodyPr wrap="square" lIns="0" tIns="0" rIns="0" bIns="0" rtlCol="0" anchor="ctr"/>
          <a:lstStyle/>
          <a:p>
            <a:pPr indent="0" marL="0">
              <a:buNone/>
            </a:pPr>
            <a:r>
              <a:rPr lang="en-US" sz="1250" b="1" dirty="0">
                <a:solidFill>
                  <a:srgbClr val="8A2B0B"/>
                </a:solidFill>
                <a:latin typeface="Consolas" pitchFamily="34" charset="0"/>
                <a:ea typeface="Consolas" pitchFamily="34" charset="-122"/>
                <a:cs typeface="Consolas" pitchFamily="34" charset="-120"/>
              </a:rPr>
              <a:t>scale(n)</a:t>
            </a:r>
            <a:endParaRPr lang="en-US" sz="1250" dirty="0"/>
          </a:p>
        </p:txBody>
      </p:sp>
      <p:sp>
        <p:nvSpPr>
          <p:cNvPr id="23" name="Shape 20"/>
          <p:cNvSpPr/>
          <p:nvPr/>
        </p:nvSpPr>
        <p:spPr>
          <a:xfrm>
            <a:off x="5257800" y="5202936"/>
            <a:ext cx="502920" cy="502920"/>
          </a:xfrm>
          <a:prstGeom prst="rect">
            <a:avLst/>
          </a:prstGeom>
          <a:ln w="12700">
            <a:solidFill>
              <a:srgbClr val="9AA0A6"/>
            </a:solidFill>
            <a:prstDash val="dash"/>
          </a:ln>
        </p:spPr>
      </p:sp>
      <p:sp>
        <p:nvSpPr>
          <p:cNvPr id="24" name="Shape 21"/>
          <p:cNvSpPr/>
          <p:nvPr/>
        </p:nvSpPr>
        <p:spPr>
          <a:xfrm>
            <a:off x="5144643" y="5089779"/>
            <a:ext cx="729234" cy="729234"/>
          </a:xfrm>
          <a:prstGeom prst="rect">
            <a:avLst/>
          </a:prstGeom>
          <a:solidFill>
            <a:srgbClr val="A02B93">
              <a:alpha val="85000"/>
            </a:srgbClr>
          </a:solidFill>
          <a:ln w="12700">
            <a:solidFill>
              <a:srgbClr val="A02B93"/>
            </a:solidFill>
            <a:prstDash val="solid"/>
          </a:ln>
        </p:spPr>
      </p:sp>
      <p:sp>
        <p:nvSpPr>
          <p:cNvPr id="25" name="Text 22"/>
          <p:cNvSpPr txBox="1"/>
          <p:nvPr/>
        </p:nvSpPr>
        <p:spPr>
          <a:xfrm>
            <a:off x="4937760" y="5806440"/>
            <a:ext cx="2971800" cy="457200"/>
          </a:xfrm>
          <a:prstGeom prst="rect">
            <a:avLst/>
          </a:prstGeom>
          <a:noFill/>
          <a:ln/>
        </p:spPr>
        <p:txBody>
          <a:bodyPr wrap="square" lIns="0" tIns="0" rIns="0" bIns="0" rtlCol="0" anchor="b"/>
          <a:lstStyle/>
          <a:p>
            <a:pPr indent="0" marL="0">
              <a:buNone/>
            </a:pPr>
            <a:r>
              <a:rPr lang="en-US" sz="1050" dirty="0">
                <a:solidFill>
                  <a:srgbClr val="595959"/>
                </a:solidFill>
                <a:latin typeface="Consolas" pitchFamily="34" charset="0"/>
                <a:ea typeface="Consolas" pitchFamily="34" charset="-122"/>
                <a:cs typeface="Consolas" pitchFamily="34" charset="-120"/>
              </a:rPr>
              <a:t>scale(1.5)</a:t>
            </a:r>
            <a:endParaRPr lang="en-US" sz="1050" dirty="0"/>
          </a:p>
        </p:txBody>
      </p:sp>
      <p:sp>
        <p:nvSpPr>
          <p:cNvPr id="26" name="Shape 23"/>
          <p:cNvSpPr/>
          <p:nvPr/>
        </p:nvSpPr>
        <p:spPr>
          <a:xfrm>
            <a:off x="8321040" y="4178808"/>
            <a:ext cx="3337560" cy="2194560"/>
          </a:xfrm>
          <a:prstGeom prst="roundRect">
            <a:avLst>
              <a:gd name="adj" fmla="val 5000"/>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7" name="Text 24"/>
          <p:cNvSpPr txBox="1"/>
          <p:nvPr/>
        </p:nvSpPr>
        <p:spPr>
          <a:xfrm>
            <a:off x="8503920" y="4288536"/>
            <a:ext cx="2971800" cy="347472"/>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Combine them</a:t>
            </a:r>
            <a:endParaRPr lang="en-US" sz="1600" dirty="0"/>
          </a:p>
        </p:txBody>
      </p:sp>
      <p:sp>
        <p:nvSpPr>
          <p:cNvPr id="28" name="Text 25"/>
          <p:cNvSpPr txBox="1"/>
          <p:nvPr/>
        </p:nvSpPr>
        <p:spPr>
          <a:xfrm>
            <a:off x="8503920" y="4617720"/>
            <a:ext cx="2971800" cy="274320"/>
          </a:xfrm>
          <a:prstGeom prst="rect">
            <a:avLst/>
          </a:prstGeom>
          <a:noFill/>
          <a:ln/>
        </p:spPr>
        <p:txBody>
          <a:bodyPr wrap="square" lIns="0" tIns="0" rIns="0" bIns="0" rtlCol="0" anchor="ctr"/>
          <a:lstStyle/>
          <a:p>
            <a:pPr indent="0" marL="0">
              <a:buNone/>
            </a:pPr>
            <a:r>
              <a:rPr lang="en-US" sz="1250" b="1" dirty="0">
                <a:solidFill>
                  <a:srgbClr val="8A2B0B"/>
                </a:solidFill>
                <a:latin typeface="Consolas" pitchFamily="34" charset="0"/>
                <a:ea typeface="Consolas" pitchFamily="34" charset="-122"/>
                <a:cs typeface="Consolas" pitchFamily="34" charset="-120"/>
              </a:rPr>
              <a:t>spaces between</a:t>
            </a:r>
            <a:endParaRPr lang="en-US" sz="1250" dirty="0"/>
          </a:p>
        </p:txBody>
      </p:sp>
      <p:sp>
        <p:nvSpPr>
          <p:cNvPr id="29" name="Shape 26"/>
          <p:cNvSpPr/>
          <p:nvPr/>
        </p:nvSpPr>
        <p:spPr>
          <a:xfrm>
            <a:off x="8823960" y="5202936"/>
            <a:ext cx="502920" cy="502920"/>
          </a:xfrm>
          <a:prstGeom prst="rect">
            <a:avLst/>
          </a:prstGeom>
          <a:ln w="12700">
            <a:solidFill>
              <a:srgbClr val="9AA0A6"/>
            </a:solidFill>
            <a:prstDash val="dash"/>
          </a:ln>
        </p:spPr>
      </p:sp>
      <p:sp>
        <p:nvSpPr>
          <p:cNvPr id="30" name="Shape 27"/>
          <p:cNvSpPr/>
          <p:nvPr/>
        </p:nvSpPr>
        <p:spPr>
          <a:xfrm rot="1200000">
            <a:off x="9185148" y="5152644"/>
            <a:ext cx="603504" cy="603504"/>
          </a:xfrm>
          <a:prstGeom prst="rect">
            <a:avLst/>
          </a:prstGeom>
          <a:solidFill>
            <a:srgbClr val="2E7D32">
              <a:alpha val="85000"/>
            </a:srgbClr>
          </a:solidFill>
          <a:ln w="12700">
            <a:solidFill>
              <a:srgbClr val="2E7D32"/>
            </a:solidFill>
            <a:prstDash val="solid"/>
          </a:ln>
        </p:spPr>
      </p:sp>
      <p:sp>
        <p:nvSpPr>
          <p:cNvPr id="31" name="Text 28"/>
          <p:cNvSpPr txBox="1"/>
          <p:nvPr/>
        </p:nvSpPr>
        <p:spPr>
          <a:xfrm>
            <a:off x="9281160" y="4855464"/>
            <a:ext cx="457200" cy="320040"/>
          </a:xfrm>
          <a:prstGeom prst="rect">
            <a:avLst/>
          </a:prstGeom>
          <a:noFill/>
          <a:ln/>
        </p:spPr>
        <p:txBody>
          <a:bodyPr wrap="square" lIns="0" tIns="0" rIns="0" bIns="0" rtlCol="0" anchor="ctr"/>
          <a:lstStyle/>
          <a:p>
            <a:pPr algn="ctr" indent="0" marL="0">
              <a:buNone/>
            </a:pPr>
            <a:r>
              <a:rPr lang="en-US" sz="1600" b="1" dirty="0">
                <a:solidFill>
                  <a:srgbClr val="2E7D32"/>
                </a:solidFill>
                <a:latin typeface="Aptos" pitchFamily="34" charset="0"/>
                <a:ea typeface="Aptos" pitchFamily="34" charset="-122"/>
                <a:cs typeface="Aptos" pitchFamily="34" charset="-120"/>
              </a:rPr>
              <a:t>→</a:t>
            </a:r>
            <a:endParaRPr lang="en-US" sz="1600" dirty="0"/>
          </a:p>
        </p:txBody>
      </p:sp>
      <p:sp>
        <p:nvSpPr>
          <p:cNvPr id="32" name="Text 29"/>
          <p:cNvSpPr txBox="1"/>
          <p:nvPr/>
        </p:nvSpPr>
        <p:spPr>
          <a:xfrm>
            <a:off x="8503920" y="5806440"/>
            <a:ext cx="2971800" cy="457200"/>
          </a:xfrm>
          <a:prstGeom prst="rect">
            <a:avLst/>
          </a:prstGeom>
          <a:noFill/>
          <a:ln/>
        </p:spPr>
        <p:txBody>
          <a:bodyPr wrap="square" lIns="0" tIns="0" rIns="0" bIns="0" rtlCol="0" anchor="b"/>
          <a:lstStyle/>
          <a:p>
            <a:pPr indent="0" marL="0">
              <a:buNone/>
            </a:pPr>
            <a:r>
              <a:rPr lang="en-US" sz="1050" dirty="0">
                <a:solidFill>
                  <a:srgbClr val="595959"/>
                </a:solidFill>
                <a:latin typeface="Consolas" pitchFamily="34" charset="0"/>
                <a:ea typeface="Consolas" pitchFamily="34" charset="-122"/>
                <a:cs typeface="Consolas" pitchFamily="34" charset="-120"/>
              </a:rPr>
              <a:t>translateX(40px) rotate(20deg) scale(1.2)</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C:\Repos\2026-2027\WEBD1000\06_Selectors_and_Anim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365760"/>
            <a:ext cx="5852160" cy="61264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594360"/>
            <a:ext cx="5394960" cy="5669280"/>
          </a:xfrm>
          <a:prstGeom prst="rect">
            <a:avLst/>
          </a:prstGeom>
          <a:noFill/>
          <a:ln/>
        </p:spPr>
        <p:txBody>
          <a:bodyPr wrap="square" lIns="0" tIns="0" rIns="0" bIns="0" rtlCol="0" anchor="t"/>
          <a:lstStyle/>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body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font-family</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"Segoe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UI",</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Arial,</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sans-serif</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.card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220px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16px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border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1px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solid</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#D0D7DB</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border-radius</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8px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 WHAT to animate, HOW LONG, and the speed curve */</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transition</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transform</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0.3s</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ease,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background-color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0.3s</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ease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6A9955"/>
                </a:solidFill>
                <a:latin typeface="Consolas" pitchFamily="34" charset="0"/>
                <a:ea typeface="Consolas" pitchFamily="34" charset="-122"/>
                <a:cs typeface="Consolas" pitchFamily="34" charset="-120"/>
              </a:rPr>
              <a:t>/* The END state: the transition fills in the in-between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.card:hover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translateY(-10px)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scale(1.05)</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#FBE9DF</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button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font-size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1rem</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10px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20px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border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border-radius</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6px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transition</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background-color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0.5s</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button:hover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#B5451B</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ANIMATION 1 · TRANSITIONS</a:t>
            </a:r>
            <a:endParaRPr lang="en-US" sz="1400" dirty="0"/>
          </a:p>
        </p:txBody>
      </p:sp>
      <p:sp>
        <p:nvSpPr>
          <p:cNvPr id="6" name="Text 3"/>
          <p:cNvSpPr txBox="1"/>
          <p:nvPr/>
        </p:nvSpPr>
        <p:spPr>
          <a:xfrm>
            <a:off x="6812280" y="731520"/>
            <a:ext cx="4967935" cy="960120"/>
          </a:xfrm>
          <a:prstGeom prst="rect">
            <a:avLst/>
          </a:prstGeom>
          <a:noFill/>
          <a:ln/>
        </p:spPr>
        <p:txBody>
          <a:bodyPr wrap="square" lIns="0" tIns="0" rIns="0" bIns="0" rtlCol="0" anchor="t"/>
          <a:lstStyle/>
          <a:p>
            <a:pPr indent="0" marL="0">
              <a:buNone/>
            </a:pPr>
            <a:r>
              <a:rPr lang="en-US" sz="2600" dirty="0">
                <a:solidFill>
                  <a:srgbClr val="000000"/>
                </a:solidFill>
                <a:latin typeface="Aptos" pitchFamily="34" charset="0"/>
                <a:ea typeface="Aptos" pitchFamily="34" charset="-122"/>
                <a:cs typeface="Aptos" pitchFamily="34" charset="-120"/>
              </a:rPr>
              <a:t>Transitions: Smooth Changes</a:t>
            </a:r>
            <a:endParaRPr lang="en-US" sz="2600" dirty="0"/>
          </a:p>
        </p:txBody>
      </p:sp>
      <p:pic>
        <p:nvPicPr>
          <p:cNvPr id="7" name="Image 1" descr="C:\Repos\2026-2027\WEBD1000\06_Selectors_and_Animation\_build\shots\ex06a.png">    </p:cNvPr>
          <p:cNvPicPr>
            <a:picLocks noChangeAspect="1"/>
          </p:cNvPicPr>
          <p:nvPr/>
        </p:nvPicPr>
        <p:blipFill>
          <a:blip r:embed="rId2"/>
          <a:stretch>
            <a:fillRect/>
          </a:stretch>
        </p:blipFill>
        <p:spPr>
          <a:xfrm>
            <a:off x="6812280" y="5152562"/>
            <a:ext cx="2415388" cy="1111078"/>
          </a:xfrm>
          <a:prstGeom prst="rect">
            <a:avLst/>
          </a:prstGeom>
        </p:spPr>
      </p:pic>
      <p:sp>
        <p:nvSpPr>
          <p:cNvPr id="8" name="Shape 4"/>
          <p:cNvSpPr/>
          <p:nvPr/>
        </p:nvSpPr>
        <p:spPr>
          <a:xfrm>
            <a:off x="6812280" y="5152562"/>
            <a:ext cx="2415388" cy="1111078"/>
          </a:xfrm>
          <a:prstGeom prst="rect">
            <a:avLst/>
          </a:prstGeom>
          <a:ln w="12700">
            <a:solidFill>
              <a:srgbClr val="B0B8BC"/>
            </a:solidFill>
            <a:prstDash val="solid"/>
          </a:ln>
        </p:spPr>
      </p:sp>
      <p:sp>
        <p:nvSpPr>
          <p:cNvPr id="9" name="Text 5"/>
          <p:cNvSpPr txBox="1"/>
          <p:nvPr/>
        </p:nvSpPr>
        <p:spPr>
          <a:xfrm>
            <a:off x="6812280" y="4859954"/>
            <a:ext cx="2415388"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NORMAL</a:t>
            </a:r>
            <a:endParaRPr lang="en-US" sz="1100" dirty="0"/>
          </a:p>
        </p:txBody>
      </p:sp>
      <p:pic>
        <p:nvPicPr>
          <p:cNvPr id="10" name="Image 2" descr="C:\Repos\2026-2027\WEBD1000\06_Selectors_and_Animation\_build\shots\ex06b.png">    </p:cNvPr>
          <p:cNvPicPr>
            <a:picLocks noChangeAspect="1"/>
          </p:cNvPicPr>
          <p:nvPr/>
        </p:nvPicPr>
        <p:blipFill>
          <a:blip r:embed="rId3"/>
          <a:stretch>
            <a:fillRect/>
          </a:stretch>
        </p:blipFill>
        <p:spPr>
          <a:xfrm>
            <a:off x="9364828" y="5152562"/>
            <a:ext cx="2415388" cy="1111078"/>
          </a:xfrm>
          <a:prstGeom prst="rect">
            <a:avLst/>
          </a:prstGeom>
        </p:spPr>
      </p:pic>
      <p:sp>
        <p:nvSpPr>
          <p:cNvPr id="11" name="Shape 6"/>
          <p:cNvSpPr/>
          <p:nvPr/>
        </p:nvSpPr>
        <p:spPr>
          <a:xfrm>
            <a:off x="9364828" y="5152562"/>
            <a:ext cx="2415388" cy="1111078"/>
          </a:xfrm>
          <a:prstGeom prst="rect">
            <a:avLst/>
          </a:prstGeom>
          <a:ln w="12700">
            <a:solidFill>
              <a:srgbClr val="B0B8BC"/>
            </a:solidFill>
            <a:prstDash val="solid"/>
          </a:ln>
        </p:spPr>
      </p:sp>
      <p:sp>
        <p:nvSpPr>
          <p:cNvPr id="12" name="Text 7"/>
          <p:cNvSpPr txBox="1"/>
          <p:nvPr/>
        </p:nvSpPr>
        <p:spPr>
          <a:xfrm>
            <a:off x="9364828" y="4859954"/>
            <a:ext cx="2415388"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:HOVER</a:t>
            </a:r>
            <a:endParaRPr lang="en-US" sz="1100" dirty="0"/>
          </a:p>
        </p:txBody>
      </p:sp>
      <p:sp>
        <p:nvSpPr>
          <p:cNvPr id="13" name="Text 8"/>
          <p:cNvSpPr txBox="1"/>
          <p:nvPr/>
        </p:nvSpPr>
        <p:spPr>
          <a:xfrm>
            <a:off x="6812280" y="1783080"/>
            <a:ext cx="4967935" cy="2985434"/>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Without </a:t>
            </a:r>
            <a:pPr indent="0" marL="0">
              <a:buNone/>
            </a:pPr>
            <a:r>
              <a:rPr lang="en-US" sz="1350" dirty="0">
                <a:solidFill>
                  <a:srgbClr val="8A2B0B"/>
                </a:solidFill>
                <a:latin typeface="Consolas" pitchFamily="34" charset="0"/>
                <a:ea typeface="Consolas" pitchFamily="34" charset="-122"/>
                <a:cs typeface="Consolas" pitchFamily="34" charset="-120"/>
              </a:rPr>
              <a:t>transition</a:t>
            </a:r>
            <a:pPr indent="0" marL="0">
              <a:buNone/>
            </a:pPr>
            <a:r>
              <a:rPr lang="en-US" sz="1350" dirty="0">
                <a:solidFill>
                  <a:srgbClr val="262626"/>
                </a:solidFill>
                <a:latin typeface="Aptos" pitchFamily="34" charset="0"/>
                <a:ea typeface="Aptos" pitchFamily="34" charset="-122"/>
                <a:cs typeface="Aptos" pitchFamily="34" charset="-120"/>
              </a:rPr>
              <a:t>, a </a:t>
            </a:r>
            <a:pPr indent="0" marL="0">
              <a:buNone/>
            </a:pPr>
            <a:r>
              <a:rPr lang="en-US" sz="1350" dirty="0">
                <a:solidFill>
                  <a:srgbClr val="8A2B0B"/>
                </a:solidFill>
                <a:latin typeface="Consolas" pitchFamily="34" charset="0"/>
                <a:ea typeface="Consolas" pitchFamily="34" charset="-122"/>
                <a:cs typeface="Consolas" pitchFamily="34" charset="-120"/>
              </a:rPr>
              <a:t>:hover</a:t>
            </a:r>
            <a:pPr indent="0" marL="0">
              <a:buNone/>
            </a:pPr>
            <a:r>
              <a:rPr lang="en-US" sz="1350" dirty="0">
                <a:solidFill>
                  <a:srgbClr val="262626"/>
                </a:solidFill>
                <a:latin typeface="Aptos" pitchFamily="34" charset="0"/>
                <a:ea typeface="Aptos" pitchFamily="34" charset="-122"/>
                <a:cs typeface="Aptos" pitchFamily="34" charset="-120"/>
              </a:rPr>
              <a:t> change snaps instantly. With it, the browser </a:t>
            </a:r>
            <a:pPr indent="0" marL="0">
              <a:buNone/>
            </a:pPr>
            <a:r>
              <a:rPr lang="en-US" sz="1350" b="1" dirty="0">
                <a:solidFill>
                  <a:srgbClr val="262626"/>
                </a:solidFill>
                <a:latin typeface="Aptos" pitchFamily="34" charset="0"/>
                <a:ea typeface="Aptos" pitchFamily="34" charset="-122"/>
                <a:cs typeface="Aptos" pitchFamily="34" charset="-120"/>
              </a:rPr>
              <a:t>fills in the in-between</a:t>
            </a:r>
            <a:pPr indent="0" marL="0">
              <a:buNone/>
            </a:pPr>
            <a:r>
              <a:rPr lang="en-US" sz="1350" dirty="0">
                <a:solidFill>
                  <a:srgbClr val="262626"/>
                </a:solidFill>
                <a:latin typeface="Aptos" pitchFamily="34" charset="0"/>
                <a:ea typeface="Aptos" pitchFamily="34" charset="-122"/>
                <a:cs typeface="Aptos" pitchFamily="34" charset="-120"/>
              </a:rPr>
              <a:t>.</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Put </a:t>
            </a:r>
            <a:pPr indent="0" marL="0">
              <a:buNone/>
            </a:pPr>
            <a:r>
              <a:rPr lang="en-US" sz="1350" dirty="0">
                <a:solidFill>
                  <a:srgbClr val="8A2B0B"/>
                </a:solidFill>
                <a:latin typeface="Consolas" pitchFamily="34" charset="0"/>
                <a:ea typeface="Consolas" pitchFamily="34" charset="-122"/>
                <a:cs typeface="Consolas" pitchFamily="34" charset="-120"/>
              </a:rPr>
              <a:t>transition</a:t>
            </a:r>
            <a:pPr indent="0" marL="0">
              <a:buNone/>
            </a:pPr>
            <a:r>
              <a:rPr lang="en-US" sz="1350" dirty="0">
                <a:solidFill>
                  <a:srgbClr val="262626"/>
                </a:solidFill>
                <a:latin typeface="Aptos" pitchFamily="34" charset="0"/>
                <a:ea typeface="Aptos" pitchFamily="34" charset="-122"/>
                <a:cs typeface="Aptos" pitchFamily="34" charset="-120"/>
              </a:rPr>
              <a:t> on the </a:t>
            </a:r>
            <a:pPr indent="0" marL="0">
              <a:buNone/>
            </a:pPr>
            <a:r>
              <a:rPr lang="en-US" sz="1350" b="1" dirty="0">
                <a:solidFill>
                  <a:srgbClr val="262626"/>
                </a:solidFill>
                <a:latin typeface="Aptos" pitchFamily="34" charset="0"/>
                <a:ea typeface="Aptos" pitchFamily="34" charset="-122"/>
                <a:cs typeface="Aptos" pitchFamily="34" charset="-120"/>
              </a:rPr>
              <a:t>normal</a:t>
            </a:r>
            <a:pPr indent="0" marL="0">
              <a:buNone/>
            </a:pPr>
            <a:r>
              <a:rPr lang="en-US" sz="1350" dirty="0">
                <a:solidFill>
                  <a:srgbClr val="262626"/>
                </a:solidFill>
                <a:latin typeface="Aptos" pitchFamily="34" charset="0"/>
                <a:ea typeface="Aptos" pitchFamily="34" charset="-122"/>
                <a:cs typeface="Aptos" pitchFamily="34" charset="-120"/>
              </a:rPr>
              <a:t> rule, so it animates both ways: on and off.</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A transition needs a </a:t>
            </a:r>
            <a:pPr indent="0" marL="0">
              <a:buNone/>
            </a:pPr>
            <a:r>
              <a:rPr lang="en-US" sz="1350" b="1" dirty="0">
                <a:solidFill>
                  <a:srgbClr val="262626"/>
                </a:solidFill>
                <a:latin typeface="Aptos" pitchFamily="34" charset="0"/>
                <a:ea typeface="Aptos" pitchFamily="34" charset="-122"/>
                <a:cs typeface="Aptos" pitchFamily="34" charset="-120"/>
              </a:rPr>
              <a:t>trigger</a:t>
            </a:r>
            <a:pPr indent="0" marL="0">
              <a:buNone/>
            </a:pPr>
            <a:r>
              <a:rPr lang="en-US" sz="1350" dirty="0">
                <a:solidFill>
                  <a:srgbClr val="262626"/>
                </a:solidFill>
                <a:latin typeface="Aptos" pitchFamily="34" charset="0"/>
                <a:ea typeface="Aptos" pitchFamily="34" charset="-122"/>
                <a:cs typeface="Aptos" pitchFamily="34" charset="-120"/>
              </a:rPr>
              <a:t> (like hover) and has only two states: start and end.</a:t>
            </a:r>
            <a:endParaRPr lang="en-US" sz="1350" dirty="0"/>
          </a:p>
        </p:txBody>
      </p:sp>
      <p:sp>
        <p:nvSpPr>
          <p:cNvPr id="14" name="Text 9"/>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06_transition_example.html</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@keyframes: Describe It, Then Play It</a:t>
            </a:r>
            <a:endParaRPr lang="en-US" sz="2800" dirty="0"/>
          </a:p>
        </p:txBody>
      </p:sp>
      <p:sp>
        <p:nvSpPr>
          <p:cNvPr id="7" name="Shape 4"/>
          <p:cNvSpPr/>
          <p:nvPr/>
        </p:nvSpPr>
        <p:spPr>
          <a:xfrm>
            <a:off x="4754880" y="1783080"/>
            <a:ext cx="3931920" cy="251460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8" name="Text 5"/>
          <p:cNvSpPr txBox="1"/>
          <p:nvPr/>
        </p:nvSpPr>
        <p:spPr>
          <a:xfrm>
            <a:off x="4983480" y="2011680"/>
            <a:ext cx="3474720" cy="2057400"/>
          </a:xfrm>
          <a:prstGeom prst="rect">
            <a:avLst/>
          </a:prstGeom>
          <a:noFill/>
          <a:ln/>
        </p:spPr>
        <p:txBody>
          <a:bodyPr wrap="square" lIns="0" tIns="0" rIns="0" bIns="0" rtlCol="0" anchor="t"/>
          <a:lstStyle/>
          <a:p>
            <a:pPr indent="0" marL="0">
              <a:lnSpc>
                <a:spcPct val="100000"/>
              </a:lnSpc>
              <a:buNone/>
            </a:pPr>
            <a:r>
              <a:rPr lang="en-US" sz="1100" dirty="0">
                <a:solidFill>
                  <a:srgbClr val="C586C0"/>
                </a:solidFill>
                <a:latin typeface="Consolas" pitchFamily="34" charset="0"/>
                <a:ea typeface="Consolas" pitchFamily="34" charset="-122"/>
                <a:cs typeface="Consolas" pitchFamily="34" charset="-120"/>
              </a:rPr>
              <a:t>@keyframes</a:t>
            </a:r>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 slide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   from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translateX(0)</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   to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translateX(300px)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.ball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animation</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slide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2s</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ease-in-out</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infinite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p:txBody>
      </p:sp>
      <p:sp>
        <p:nvSpPr>
          <p:cNvPr id="9" name="Shape 6"/>
          <p:cNvSpPr/>
          <p:nvPr/>
        </p:nvSpPr>
        <p:spPr>
          <a:xfrm>
            <a:off x="8915400" y="1783080"/>
            <a:ext cx="2743200" cy="658368"/>
          </a:xfrm>
          <a:prstGeom prst="roundRect">
            <a:avLst>
              <a:gd name="adj" fmla="val 16667"/>
            </a:avLst>
          </a:prstGeom>
          <a:solidFill>
            <a:srgbClr val="1E1E1E"/>
          </a:solidFill>
          <a:ln w="9525">
            <a:solidFill>
              <a:srgbClr val="1E1E1E"/>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9052560" y="1819656"/>
            <a:ext cx="2468880" cy="274320"/>
          </a:xfrm>
          <a:prstGeom prst="rect">
            <a:avLst/>
          </a:prstGeom>
          <a:noFill/>
          <a:ln/>
        </p:spPr>
        <p:txBody>
          <a:bodyPr wrap="square" lIns="0" tIns="0" rIns="0" bIns="0" rtlCol="0" anchor="ctr"/>
          <a:lstStyle/>
          <a:p>
            <a:pPr indent="0" marL="0">
              <a:buNone/>
            </a:pPr>
            <a:r>
              <a:rPr lang="en-US" sz="1150" b="1" dirty="0">
                <a:solidFill>
                  <a:srgbClr val="C586C0"/>
                </a:solidFill>
                <a:latin typeface="Consolas" pitchFamily="34" charset="0"/>
                <a:ea typeface="Consolas" pitchFamily="34" charset="-122"/>
                <a:cs typeface="Consolas" pitchFamily="34" charset="-120"/>
              </a:rPr>
              <a:t>@keyframes slide</a:t>
            </a:r>
            <a:endParaRPr lang="en-US" sz="1150" dirty="0"/>
          </a:p>
        </p:txBody>
      </p:sp>
      <p:sp>
        <p:nvSpPr>
          <p:cNvPr id="11" name="Text 8"/>
          <p:cNvSpPr txBox="1"/>
          <p:nvPr/>
        </p:nvSpPr>
        <p:spPr>
          <a:xfrm>
            <a:off x="9052560" y="2093976"/>
            <a:ext cx="2468880" cy="292608"/>
          </a:xfrm>
          <a:prstGeom prst="rect">
            <a:avLst/>
          </a:prstGeom>
          <a:noFill/>
          <a:ln/>
        </p:spPr>
        <p:txBody>
          <a:bodyPr wrap="square" lIns="0" tIns="0" rIns="0" bIns="0" rtlCol="0" anchor="ctr"/>
          <a:lstStyle/>
          <a:p>
            <a:pPr indent="0" marL="0">
              <a:buNone/>
            </a:pPr>
            <a:r>
              <a:rPr lang="en-US" sz="1150" b="1" dirty="0">
                <a:solidFill>
                  <a:srgbClr val="FFFFFF"/>
                </a:solidFill>
                <a:latin typeface="Aptos" pitchFamily="34" charset="0"/>
                <a:ea typeface="Aptos" pitchFamily="34" charset="-122"/>
                <a:cs typeface="Aptos" pitchFamily="34" charset="-120"/>
              </a:rPr>
              <a:t>1. Describe it </a:t>
            </a:r>
            <a:pPr indent="0" marL="0">
              <a:buNone/>
            </a:pPr>
            <a:r>
              <a:rPr lang="en-US" sz="1150" dirty="0">
                <a:solidFill>
                  <a:srgbClr val="BFBFBF"/>
                </a:solidFill>
                <a:latin typeface="Aptos" pitchFamily="34" charset="0"/>
                <a:ea typeface="Aptos" pitchFamily="34" charset="-122"/>
                <a:cs typeface="Aptos" pitchFamily="34" charset="-120"/>
              </a:rPr>
              <a:t>and give it a name</a:t>
            </a:r>
            <a:endParaRPr lang="en-US" sz="1150" dirty="0"/>
          </a:p>
        </p:txBody>
      </p:sp>
      <p:sp>
        <p:nvSpPr>
          <p:cNvPr id="12" name="Shape 9"/>
          <p:cNvSpPr/>
          <p:nvPr/>
        </p:nvSpPr>
        <p:spPr>
          <a:xfrm>
            <a:off x="8915400" y="2542032"/>
            <a:ext cx="2743200" cy="658368"/>
          </a:xfrm>
          <a:prstGeom prst="roundRect">
            <a:avLst>
              <a:gd name="adj" fmla="val 16667"/>
            </a:avLst>
          </a:prstGeom>
          <a:solidFill>
            <a:srgbClr val="1E1E1E"/>
          </a:solidFill>
          <a:ln w="9525">
            <a:solidFill>
              <a:srgbClr val="1E1E1E"/>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9052560" y="2578608"/>
            <a:ext cx="2468880" cy="274320"/>
          </a:xfrm>
          <a:prstGeom prst="rect">
            <a:avLst/>
          </a:prstGeom>
          <a:noFill/>
          <a:ln/>
        </p:spPr>
        <p:txBody>
          <a:bodyPr wrap="square" lIns="0" tIns="0" rIns="0" bIns="0" rtlCol="0" anchor="ctr"/>
          <a:lstStyle/>
          <a:p>
            <a:pPr indent="0" marL="0">
              <a:buNone/>
            </a:pPr>
            <a:r>
              <a:rPr lang="en-US" sz="1150" b="1" dirty="0">
                <a:solidFill>
                  <a:srgbClr val="D7BA7D"/>
                </a:solidFill>
                <a:latin typeface="Consolas" pitchFamily="34" charset="0"/>
                <a:ea typeface="Consolas" pitchFamily="34" charset="-122"/>
                <a:cs typeface="Consolas" pitchFamily="34" charset="-120"/>
              </a:rPr>
              <a:t>from / to</a:t>
            </a:r>
            <a:endParaRPr lang="en-US" sz="1150" dirty="0"/>
          </a:p>
        </p:txBody>
      </p:sp>
      <p:sp>
        <p:nvSpPr>
          <p:cNvPr id="14" name="Text 11"/>
          <p:cNvSpPr txBox="1"/>
          <p:nvPr/>
        </p:nvSpPr>
        <p:spPr>
          <a:xfrm>
            <a:off x="9052560" y="2852928"/>
            <a:ext cx="2468880" cy="292608"/>
          </a:xfrm>
          <a:prstGeom prst="rect">
            <a:avLst/>
          </a:prstGeom>
          <a:noFill/>
          <a:ln/>
        </p:spPr>
        <p:txBody>
          <a:bodyPr wrap="square" lIns="0" tIns="0" rIns="0" bIns="0" rtlCol="0" anchor="ctr"/>
          <a:lstStyle/>
          <a:p>
            <a:pPr indent="0" marL="0">
              <a:buNone/>
            </a:pPr>
            <a:r>
              <a:rPr lang="en-US" sz="1150" b="1" dirty="0">
                <a:solidFill>
                  <a:srgbClr val="FFFFFF"/>
                </a:solidFill>
                <a:latin typeface="Aptos" pitchFamily="34" charset="0"/>
                <a:ea typeface="Aptos" pitchFamily="34" charset="-122"/>
                <a:cs typeface="Aptos" pitchFamily="34" charset="-120"/>
              </a:rPr>
              <a:t>The start and end </a:t>
            </a:r>
            <a:pPr indent="0" marL="0">
              <a:buNone/>
            </a:pPr>
            <a:r>
              <a:rPr lang="en-US" sz="1150" dirty="0">
                <a:solidFill>
                  <a:srgbClr val="BFBFBF"/>
                </a:solidFill>
                <a:latin typeface="Aptos" pitchFamily="34" charset="0"/>
                <a:ea typeface="Aptos" pitchFamily="34" charset="-122"/>
                <a:cs typeface="Aptos" pitchFamily="34" charset="-120"/>
              </a:rPr>
              <a:t>(or 0% … 100%)</a:t>
            </a:r>
            <a:endParaRPr lang="en-US" sz="1150" dirty="0"/>
          </a:p>
        </p:txBody>
      </p:sp>
      <p:sp>
        <p:nvSpPr>
          <p:cNvPr id="15" name="Shape 12"/>
          <p:cNvSpPr/>
          <p:nvPr/>
        </p:nvSpPr>
        <p:spPr>
          <a:xfrm>
            <a:off x="8915400" y="3300984"/>
            <a:ext cx="2743200" cy="658368"/>
          </a:xfrm>
          <a:prstGeom prst="roundRect">
            <a:avLst>
              <a:gd name="adj" fmla="val 16667"/>
            </a:avLst>
          </a:prstGeom>
          <a:solidFill>
            <a:srgbClr val="1E1E1E"/>
          </a:solidFill>
          <a:ln w="9525">
            <a:solidFill>
              <a:srgbClr val="1E1E1E"/>
            </a:solidFill>
            <a:prstDash val="solid"/>
          </a:ln>
          <a:effectLst>
            <a:outerShdw sx="100000" sy="100000" kx="0" ky="0" algn="bl" rotWithShape="0" blurRad="76200" dist="25400" dir="5400000">
              <a:srgbClr val="000000">
                <a:alpha val="12000"/>
              </a:srgbClr>
            </a:outerShdw>
          </a:effectLst>
        </p:spPr>
      </p:sp>
      <p:sp>
        <p:nvSpPr>
          <p:cNvPr id="16" name="Text 13"/>
          <p:cNvSpPr txBox="1"/>
          <p:nvPr/>
        </p:nvSpPr>
        <p:spPr>
          <a:xfrm>
            <a:off x="9052560" y="3337560"/>
            <a:ext cx="2468880" cy="274320"/>
          </a:xfrm>
          <a:prstGeom prst="rect">
            <a:avLst/>
          </a:prstGeom>
          <a:noFill/>
          <a:ln/>
        </p:spPr>
        <p:txBody>
          <a:bodyPr wrap="square" lIns="0" tIns="0" rIns="0" bIns="0" rtlCol="0" anchor="ctr"/>
          <a:lstStyle/>
          <a:p>
            <a:pPr indent="0" marL="0">
              <a:buNone/>
            </a:pPr>
            <a:r>
              <a:rPr lang="en-US" sz="1150" b="1" dirty="0">
                <a:solidFill>
                  <a:srgbClr val="9CDCFE"/>
                </a:solidFill>
                <a:latin typeface="Consolas" pitchFamily="34" charset="0"/>
                <a:ea typeface="Consolas" pitchFamily="34" charset="-122"/>
                <a:cs typeface="Consolas" pitchFamily="34" charset="-120"/>
              </a:rPr>
              <a:t>transform</a:t>
            </a:r>
            <a:endParaRPr lang="en-US" sz="1150" dirty="0"/>
          </a:p>
        </p:txBody>
      </p:sp>
      <p:sp>
        <p:nvSpPr>
          <p:cNvPr id="17" name="Text 14"/>
          <p:cNvSpPr txBox="1"/>
          <p:nvPr/>
        </p:nvSpPr>
        <p:spPr>
          <a:xfrm>
            <a:off x="9052560" y="3611880"/>
            <a:ext cx="2468880" cy="292608"/>
          </a:xfrm>
          <a:prstGeom prst="rect">
            <a:avLst/>
          </a:prstGeom>
          <a:noFill/>
          <a:ln/>
        </p:spPr>
        <p:txBody>
          <a:bodyPr wrap="square" lIns="0" tIns="0" rIns="0" bIns="0" rtlCol="0" anchor="ctr"/>
          <a:lstStyle/>
          <a:p>
            <a:pPr indent="0" marL="0">
              <a:buNone/>
            </a:pPr>
            <a:r>
              <a:rPr lang="en-US" sz="1150" b="1" dirty="0">
                <a:solidFill>
                  <a:srgbClr val="FFFFFF"/>
                </a:solidFill>
                <a:latin typeface="Aptos" pitchFamily="34" charset="0"/>
                <a:ea typeface="Aptos" pitchFamily="34" charset="-122"/>
                <a:cs typeface="Aptos" pitchFamily="34" charset="-120"/>
              </a:rPr>
              <a:t>What changes </a:t>
            </a:r>
            <a:pPr indent="0" marL="0">
              <a:buNone/>
            </a:pPr>
            <a:r>
              <a:rPr lang="en-US" sz="1150" dirty="0">
                <a:solidFill>
                  <a:srgbClr val="BFBFBF"/>
                </a:solidFill>
                <a:latin typeface="Aptos" pitchFamily="34" charset="0"/>
                <a:ea typeface="Aptos" pitchFamily="34" charset="-122"/>
                <a:cs typeface="Aptos" pitchFamily="34" charset="-120"/>
              </a:rPr>
              <a:t>any CSS that has numbers or colours</a:t>
            </a:r>
            <a:endParaRPr lang="en-US" sz="1150" dirty="0"/>
          </a:p>
        </p:txBody>
      </p:sp>
      <p:sp>
        <p:nvSpPr>
          <p:cNvPr id="18" name="Shape 15"/>
          <p:cNvSpPr/>
          <p:nvPr/>
        </p:nvSpPr>
        <p:spPr>
          <a:xfrm>
            <a:off x="8915400" y="4059936"/>
            <a:ext cx="2743200" cy="658368"/>
          </a:xfrm>
          <a:prstGeom prst="roundRect">
            <a:avLst>
              <a:gd name="adj" fmla="val 16667"/>
            </a:avLst>
          </a:prstGeom>
          <a:solidFill>
            <a:srgbClr val="1E1E1E"/>
          </a:solidFill>
          <a:ln w="9525">
            <a:solidFill>
              <a:srgbClr val="1E1E1E"/>
            </a:solidFill>
            <a:prstDash val="solid"/>
          </a:ln>
          <a:effectLst>
            <a:outerShdw sx="100000" sy="100000" kx="0" ky="0" algn="bl" rotWithShape="0" blurRad="76200" dist="25400" dir="5400000">
              <a:srgbClr val="000000">
                <a:alpha val="12000"/>
              </a:srgbClr>
            </a:outerShdw>
          </a:effectLst>
        </p:spPr>
      </p:sp>
      <p:sp>
        <p:nvSpPr>
          <p:cNvPr id="19" name="Text 16"/>
          <p:cNvSpPr txBox="1"/>
          <p:nvPr/>
        </p:nvSpPr>
        <p:spPr>
          <a:xfrm>
            <a:off x="9052560" y="4096512"/>
            <a:ext cx="2468880" cy="274320"/>
          </a:xfrm>
          <a:prstGeom prst="rect">
            <a:avLst/>
          </a:prstGeom>
          <a:noFill/>
          <a:ln/>
        </p:spPr>
        <p:txBody>
          <a:bodyPr wrap="square" lIns="0" tIns="0" rIns="0" bIns="0" rtlCol="0" anchor="ctr"/>
          <a:lstStyle/>
          <a:p>
            <a:pPr indent="0" marL="0">
              <a:buNone/>
            </a:pPr>
            <a:r>
              <a:rPr lang="en-US" sz="1150" b="1" dirty="0">
                <a:solidFill>
                  <a:srgbClr val="9CDCFE"/>
                </a:solidFill>
                <a:latin typeface="Consolas" pitchFamily="34" charset="0"/>
                <a:ea typeface="Consolas" pitchFamily="34" charset="-122"/>
                <a:cs typeface="Consolas" pitchFamily="34" charset="-120"/>
              </a:rPr>
              <a:t>animation: slide</a:t>
            </a:r>
            <a:endParaRPr lang="en-US" sz="1150" dirty="0"/>
          </a:p>
        </p:txBody>
      </p:sp>
      <p:sp>
        <p:nvSpPr>
          <p:cNvPr id="20" name="Text 17"/>
          <p:cNvSpPr txBox="1"/>
          <p:nvPr/>
        </p:nvSpPr>
        <p:spPr>
          <a:xfrm>
            <a:off x="9052560" y="4370832"/>
            <a:ext cx="2468880" cy="292608"/>
          </a:xfrm>
          <a:prstGeom prst="rect">
            <a:avLst/>
          </a:prstGeom>
          <a:noFill/>
          <a:ln/>
        </p:spPr>
        <p:txBody>
          <a:bodyPr wrap="square" lIns="0" tIns="0" rIns="0" bIns="0" rtlCol="0" anchor="ctr"/>
          <a:lstStyle/>
          <a:p>
            <a:pPr indent="0" marL="0">
              <a:buNone/>
            </a:pPr>
            <a:r>
              <a:rPr lang="en-US" sz="1150" b="1" dirty="0">
                <a:solidFill>
                  <a:srgbClr val="FFFFFF"/>
                </a:solidFill>
                <a:latin typeface="Aptos" pitchFamily="34" charset="0"/>
                <a:ea typeface="Aptos" pitchFamily="34" charset="-122"/>
                <a:cs typeface="Aptos" pitchFamily="34" charset="-120"/>
              </a:rPr>
              <a:t>2. Play it </a:t>
            </a:r>
            <a:pPr indent="0" marL="0">
              <a:buNone/>
            </a:pPr>
            <a:r>
              <a:rPr lang="en-US" sz="1150" dirty="0">
                <a:solidFill>
                  <a:srgbClr val="BFBFBF"/>
                </a:solidFill>
                <a:latin typeface="Aptos" pitchFamily="34" charset="0"/>
                <a:ea typeface="Aptos" pitchFamily="34" charset="-122"/>
                <a:cs typeface="Aptos" pitchFamily="34" charset="-120"/>
              </a:rPr>
              <a:t>on an element, using the same name</a:t>
            </a:r>
            <a:endParaRPr lang="en-US" sz="1150" dirty="0"/>
          </a:p>
        </p:txBody>
      </p:sp>
      <p:sp>
        <p:nvSpPr>
          <p:cNvPr id="21" name="Shape 18"/>
          <p:cNvSpPr/>
          <p:nvPr/>
        </p:nvSpPr>
        <p:spPr>
          <a:xfrm>
            <a:off x="8915400" y="4818888"/>
            <a:ext cx="2743200" cy="658368"/>
          </a:xfrm>
          <a:prstGeom prst="roundRect">
            <a:avLst>
              <a:gd name="adj" fmla="val 16667"/>
            </a:avLst>
          </a:prstGeom>
          <a:solidFill>
            <a:srgbClr val="1E1E1E"/>
          </a:solidFill>
          <a:ln w="9525">
            <a:solidFill>
              <a:srgbClr val="1E1E1E"/>
            </a:solidFill>
            <a:prstDash val="solid"/>
          </a:ln>
          <a:effectLst>
            <a:outerShdw sx="100000" sy="100000" kx="0" ky="0" algn="bl" rotWithShape="0" blurRad="76200" dist="25400" dir="5400000">
              <a:srgbClr val="000000">
                <a:alpha val="12000"/>
              </a:srgbClr>
            </a:outerShdw>
          </a:effectLst>
        </p:spPr>
      </p:sp>
      <p:sp>
        <p:nvSpPr>
          <p:cNvPr id="22" name="Text 19"/>
          <p:cNvSpPr txBox="1"/>
          <p:nvPr/>
        </p:nvSpPr>
        <p:spPr>
          <a:xfrm>
            <a:off x="9052560" y="4855464"/>
            <a:ext cx="2468880" cy="274320"/>
          </a:xfrm>
          <a:prstGeom prst="rect">
            <a:avLst/>
          </a:prstGeom>
          <a:noFill/>
          <a:ln/>
        </p:spPr>
        <p:txBody>
          <a:bodyPr wrap="square" lIns="0" tIns="0" rIns="0" bIns="0" rtlCol="0" anchor="ctr"/>
          <a:lstStyle/>
          <a:p>
            <a:pPr indent="0" marL="0">
              <a:buNone/>
            </a:pPr>
            <a:r>
              <a:rPr lang="en-US" sz="1150" b="1" dirty="0">
                <a:solidFill>
                  <a:srgbClr val="B5CEA8"/>
                </a:solidFill>
                <a:latin typeface="Consolas" pitchFamily="34" charset="0"/>
                <a:ea typeface="Consolas" pitchFamily="34" charset="-122"/>
                <a:cs typeface="Consolas" pitchFamily="34" charset="-120"/>
              </a:rPr>
              <a:t>2s</a:t>
            </a:r>
            <a:endParaRPr lang="en-US" sz="1150" dirty="0"/>
          </a:p>
        </p:txBody>
      </p:sp>
      <p:sp>
        <p:nvSpPr>
          <p:cNvPr id="23" name="Text 20"/>
          <p:cNvSpPr txBox="1"/>
          <p:nvPr/>
        </p:nvSpPr>
        <p:spPr>
          <a:xfrm>
            <a:off x="9052560" y="5129784"/>
            <a:ext cx="2468880" cy="292608"/>
          </a:xfrm>
          <a:prstGeom prst="rect">
            <a:avLst/>
          </a:prstGeom>
          <a:noFill/>
          <a:ln/>
        </p:spPr>
        <p:txBody>
          <a:bodyPr wrap="square" lIns="0" tIns="0" rIns="0" bIns="0" rtlCol="0" anchor="ctr"/>
          <a:lstStyle/>
          <a:p>
            <a:pPr indent="0" marL="0">
              <a:buNone/>
            </a:pPr>
            <a:r>
              <a:rPr lang="en-US" sz="1150" b="1" dirty="0">
                <a:solidFill>
                  <a:srgbClr val="FFFFFF"/>
                </a:solidFill>
                <a:latin typeface="Aptos" pitchFamily="34" charset="0"/>
                <a:ea typeface="Aptos" pitchFamily="34" charset="-122"/>
                <a:cs typeface="Aptos" pitchFamily="34" charset="-120"/>
              </a:rPr>
              <a:t>How long </a:t>
            </a:r>
            <a:pPr indent="0" marL="0">
              <a:buNone/>
            </a:pPr>
            <a:r>
              <a:rPr lang="en-US" sz="1150" dirty="0">
                <a:solidFill>
                  <a:srgbClr val="BFBFBF"/>
                </a:solidFill>
                <a:latin typeface="Aptos" pitchFamily="34" charset="0"/>
                <a:ea typeface="Aptos" pitchFamily="34" charset="-122"/>
                <a:cs typeface="Aptos" pitchFamily="34" charset="-120"/>
              </a:rPr>
              <a:t>one run takes (or 500ms)</a:t>
            </a:r>
            <a:endParaRPr lang="en-US" sz="1150" dirty="0"/>
          </a:p>
        </p:txBody>
      </p:sp>
      <p:sp>
        <p:nvSpPr>
          <p:cNvPr id="24" name="Shape 21"/>
          <p:cNvSpPr/>
          <p:nvPr/>
        </p:nvSpPr>
        <p:spPr>
          <a:xfrm>
            <a:off x="8915400" y="5577840"/>
            <a:ext cx="2743200" cy="658368"/>
          </a:xfrm>
          <a:prstGeom prst="roundRect">
            <a:avLst>
              <a:gd name="adj" fmla="val 16667"/>
            </a:avLst>
          </a:prstGeom>
          <a:solidFill>
            <a:srgbClr val="1E1E1E"/>
          </a:solidFill>
          <a:ln w="9525">
            <a:solidFill>
              <a:srgbClr val="1E1E1E"/>
            </a:solidFill>
            <a:prstDash val="solid"/>
          </a:ln>
          <a:effectLst>
            <a:outerShdw sx="100000" sy="100000" kx="0" ky="0" algn="bl" rotWithShape="0" blurRad="76200" dist="25400" dir="5400000">
              <a:srgbClr val="000000">
                <a:alpha val="12000"/>
              </a:srgbClr>
            </a:outerShdw>
          </a:effectLst>
        </p:spPr>
      </p:sp>
      <p:sp>
        <p:nvSpPr>
          <p:cNvPr id="25" name="Text 22"/>
          <p:cNvSpPr txBox="1"/>
          <p:nvPr/>
        </p:nvSpPr>
        <p:spPr>
          <a:xfrm>
            <a:off x="9052560" y="5614416"/>
            <a:ext cx="2468880" cy="274320"/>
          </a:xfrm>
          <a:prstGeom prst="rect">
            <a:avLst/>
          </a:prstGeom>
          <a:noFill/>
          <a:ln/>
        </p:spPr>
        <p:txBody>
          <a:bodyPr wrap="square" lIns="0" tIns="0" rIns="0" bIns="0" rtlCol="0" anchor="ctr"/>
          <a:lstStyle/>
          <a:p>
            <a:pPr indent="0" marL="0">
              <a:buNone/>
            </a:pPr>
            <a:r>
              <a:rPr lang="en-US" sz="1150" b="1" dirty="0">
                <a:solidFill>
                  <a:srgbClr val="CE9178"/>
                </a:solidFill>
                <a:latin typeface="Consolas" pitchFamily="34" charset="0"/>
                <a:ea typeface="Consolas" pitchFamily="34" charset="-122"/>
                <a:cs typeface="Consolas" pitchFamily="34" charset="-120"/>
              </a:rPr>
              <a:t>infinite</a:t>
            </a:r>
            <a:endParaRPr lang="en-US" sz="1150" dirty="0"/>
          </a:p>
        </p:txBody>
      </p:sp>
      <p:sp>
        <p:nvSpPr>
          <p:cNvPr id="26" name="Text 23"/>
          <p:cNvSpPr txBox="1"/>
          <p:nvPr/>
        </p:nvSpPr>
        <p:spPr>
          <a:xfrm>
            <a:off x="9052560" y="5888736"/>
            <a:ext cx="2468880" cy="292608"/>
          </a:xfrm>
          <a:prstGeom prst="rect">
            <a:avLst/>
          </a:prstGeom>
          <a:noFill/>
          <a:ln/>
        </p:spPr>
        <p:txBody>
          <a:bodyPr wrap="square" lIns="0" tIns="0" rIns="0" bIns="0" rtlCol="0" anchor="ctr"/>
          <a:lstStyle/>
          <a:p>
            <a:pPr indent="0" marL="0">
              <a:buNone/>
            </a:pPr>
            <a:r>
              <a:rPr lang="en-US" sz="1150" b="1" dirty="0">
                <a:solidFill>
                  <a:srgbClr val="FFFFFF"/>
                </a:solidFill>
                <a:latin typeface="Aptos" pitchFamily="34" charset="0"/>
                <a:ea typeface="Aptos" pitchFamily="34" charset="-122"/>
                <a:cs typeface="Aptos" pitchFamily="34" charset="-120"/>
              </a:rPr>
              <a:t>How many times </a:t>
            </a:r>
            <a:pPr indent="0" marL="0">
              <a:buNone/>
            </a:pPr>
            <a:r>
              <a:rPr lang="en-US" sz="1150" dirty="0">
                <a:solidFill>
                  <a:srgbClr val="BFBFBF"/>
                </a:solidFill>
                <a:latin typeface="Aptos" pitchFamily="34" charset="0"/>
                <a:ea typeface="Aptos" pitchFamily="34" charset="-122"/>
                <a:cs typeface="Aptos" pitchFamily="34" charset="-120"/>
              </a:rPr>
              <a:t>1 (default), 3, or forever</a:t>
            </a:r>
            <a:endParaRPr lang="en-US" sz="1150" dirty="0"/>
          </a:p>
        </p:txBody>
      </p:sp>
      <p:sp>
        <p:nvSpPr>
          <p:cNvPr id="27" name="Shape 24"/>
          <p:cNvSpPr/>
          <p:nvPr/>
        </p:nvSpPr>
        <p:spPr>
          <a:xfrm>
            <a:off x="4754880" y="4526280"/>
            <a:ext cx="3931920" cy="1783080"/>
          </a:xfrm>
          <a:prstGeom prst="roundRect">
            <a:avLst>
              <a:gd name="adj" fmla="val 615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8" name="Text 25"/>
          <p:cNvSpPr txBox="1"/>
          <p:nvPr/>
        </p:nvSpPr>
        <p:spPr>
          <a:xfrm>
            <a:off x="4983480" y="4645152"/>
            <a:ext cx="3474720" cy="36576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Read it out loud</a:t>
            </a:r>
            <a:endParaRPr lang="en-US" sz="1500" dirty="0"/>
          </a:p>
        </p:txBody>
      </p:sp>
      <p:sp>
        <p:nvSpPr>
          <p:cNvPr id="29" name="Text 26"/>
          <p:cNvSpPr txBox="1"/>
          <p:nvPr/>
        </p:nvSpPr>
        <p:spPr>
          <a:xfrm>
            <a:off x="4983480" y="5029200"/>
            <a:ext cx="3474720" cy="1188720"/>
          </a:xfrm>
          <a:prstGeom prst="rect">
            <a:avLst/>
          </a:prstGeom>
          <a:noFill/>
          <a:ln/>
        </p:spPr>
        <p:txBody>
          <a:bodyPr wrap="square" lIns="0" tIns="0" rIns="0" bIns="0" rtlCol="0" anchor="t"/>
          <a:lstStyle/>
          <a:p>
            <a:pPr indent="0" marL="0">
              <a:buNone/>
            </a:pPr>
            <a:r>
              <a:rPr lang="en-US" sz="1500" i="1" dirty="0">
                <a:solidFill>
                  <a:srgbClr val="262626"/>
                </a:solidFill>
                <a:latin typeface="Aptos" pitchFamily="34" charset="0"/>
                <a:ea typeface="Aptos" pitchFamily="34" charset="-122"/>
                <a:cs typeface="Aptos" pitchFamily="34" charset="-120"/>
              </a:rPr>
              <a:t>"Slide the ball from 0 to 300px, over 2 seconds, easing in and out, forever."</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C:\Repos\2026-2027\WEBD1000\06_Selectors_and_Anim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383296"/>
            <a:ext cx="5852160" cy="6091407"/>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611896"/>
            <a:ext cx="5394960" cy="5634207"/>
          </a:xfrm>
          <a:prstGeom prst="rect">
            <a:avLst/>
          </a:prstGeom>
          <a:noFill/>
          <a:ln/>
        </p:spPr>
        <p:txBody>
          <a:bodyPr wrap="square" lIns="0" tIns="0" rIns="0" bIns="0" rtlCol="0" anchor="t"/>
          <a:lstStyle/>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body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margin</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overflow</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hidden</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no scrollbars when the ball reaches the edge */</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.ball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80px</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80px</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border-radius</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50%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a square with round corners = a circle */</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#E97132</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name, duration, speed curve, how many times */</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animation</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around</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4s</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linear</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infinite</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100vw = the full browser width, 100vh = the full height */</a:t>
            </a:r>
            <a:endParaRPr lang="en-US" sz="1050" dirty="0"/>
          </a:p>
          <a:p>
            <a:pPr indent="0" marL="0">
              <a:lnSpc>
                <a:spcPct val="100000"/>
              </a:lnSpc>
              <a:buNone/>
            </a:pPr>
            <a:r>
              <a:rPr lang="en-US" sz="1050" dirty="0">
                <a:solidFill>
                  <a:srgbClr val="C586C0"/>
                </a:solidFill>
                <a:latin typeface="Consolas" pitchFamily="34" charset="0"/>
                <a:ea typeface="Consolas" pitchFamily="34" charset="-122"/>
                <a:cs typeface="Consolas" pitchFamily="34" charset="-120"/>
              </a:rPr>
              <a:t>@keyframes</a:t>
            </a:r>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 around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   0%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translate(0,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top left */</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   25%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translate(calc(100vw</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80px</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top right */</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#0F9ED5</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   50%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translate(calc(100vw</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80px</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calc(100vh</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80px</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#A02B93</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bottom right */</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   75%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translate(0,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calc(100vh</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80px</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bottom left */</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#2E7D32</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   100%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translate(0,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back home */</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ANIMATION 2 · EXAMPLE 07</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A Ball Around the Browser</a:t>
            </a:r>
            <a:endParaRPr lang="en-US" sz="3200" dirty="0"/>
          </a:p>
        </p:txBody>
      </p:sp>
      <p:pic>
        <p:nvPicPr>
          <p:cNvPr id="7" name="Image 1" descr="C:\Repos\2026-2027\WEBD1000\06_Selectors_and_Animation\_build\shots\ex07_0.png">    </p:cNvPr>
          <p:cNvPicPr>
            <a:picLocks noChangeAspect="1"/>
          </p:cNvPicPr>
          <p:nvPr/>
        </p:nvPicPr>
        <p:blipFill>
          <a:blip r:embed="rId2"/>
          <a:stretch>
            <a:fillRect/>
          </a:stretch>
        </p:blipFill>
        <p:spPr>
          <a:xfrm>
            <a:off x="6812280" y="3538728"/>
            <a:ext cx="1721358" cy="1147572"/>
          </a:xfrm>
          <a:prstGeom prst="rect">
            <a:avLst/>
          </a:prstGeom>
        </p:spPr>
      </p:pic>
      <p:sp>
        <p:nvSpPr>
          <p:cNvPr id="8" name="Shape 4"/>
          <p:cNvSpPr/>
          <p:nvPr/>
        </p:nvSpPr>
        <p:spPr>
          <a:xfrm>
            <a:off x="6812280" y="3538728"/>
            <a:ext cx="1721358" cy="1147572"/>
          </a:xfrm>
          <a:prstGeom prst="rect">
            <a:avLst/>
          </a:prstGeom>
          <a:ln w="12700">
            <a:solidFill>
              <a:srgbClr val="B0B8BC"/>
            </a:solidFill>
            <a:prstDash val="solid"/>
          </a:ln>
        </p:spPr>
      </p:sp>
      <p:sp>
        <p:nvSpPr>
          <p:cNvPr id="9" name="Text 5"/>
          <p:cNvSpPr txBox="1"/>
          <p:nvPr/>
        </p:nvSpPr>
        <p:spPr>
          <a:xfrm>
            <a:off x="6812280" y="3246120"/>
            <a:ext cx="1721358"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0 s · 0%</a:t>
            </a:r>
            <a:endParaRPr lang="en-US" sz="1100" dirty="0"/>
          </a:p>
        </p:txBody>
      </p:sp>
      <p:pic>
        <p:nvPicPr>
          <p:cNvPr id="10" name="Image 2" descr="C:\Repos\2026-2027\WEBD1000\06_Selectors_and_Animation\_build\shots\ex07_1.png">    </p:cNvPr>
          <p:cNvPicPr>
            <a:picLocks noChangeAspect="1"/>
          </p:cNvPicPr>
          <p:nvPr/>
        </p:nvPicPr>
        <p:blipFill>
          <a:blip r:embed="rId3"/>
          <a:stretch>
            <a:fillRect/>
          </a:stretch>
        </p:blipFill>
        <p:spPr>
          <a:xfrm>
            <a:off x="8670798" y="3538728"/>
            <a:ext cx="1721358" cy="1147572"/>
          </a:xfrm>
          <a:prstGeom prst="rect">
            <a:avLst/>
          </a:prstGeom>
        </p:spPr>
      </p:pic>
      <p:sp>
        <p:nvSpPr>
          <p:cNvPr id="11" name="Shape 6"/>
          <p:cNvSpPr/>
          <p:nvPr/>
        </p:nvSpPr>
        <p:spPr>
          <a:xfrm>
            <a:off x="8670798" y="3538728"/>
            <a:ext cx="1721358" cy="1147572"/>
          </a:xfrm>
          <a:prstGeom prst="rect">
            <a:avLst/>
          </a:prstGeom>
          <a:ln w="12700">
            <a:solidFill>
              <a:srgbClr val="B0B8BC"/>
            </a:solidFill>
            <a:prstDash val="solid"/>
          </a:ln>
        </p:spPr>
      </p:sp>
      <p:sp>
        <p:nvSpPr>
          <p:cNvPr id="12" name="Text 7"/>
          <p:cNvSpPr txBox="1"/>
          <p:nvPr/>
        </p:nvSpPr>
        <p:spPr>
          <a:xfrm>
            <a:off x="8670798" y="3246120"/>
            <a:ext cx="1721358"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1 s · 25%</a:t>
            </a:r>
            <a:endParaRPr lang="en-US" sz="1100" dirty="0"/>
          </a:p>
        </p:txBody>
      </p:sp>
      <p:pic>
        <p:nvPicPr>
          <p:cNvPr id="13" name="Image 3" descr="C:\Repos\2026-2027\WEBD1000\06_Selectors_and_Animation\_build\shots\ex07_2.png">    </p:cNvPr>
          <p:cNvPicPr>
            <a:picLocks noChangeAspect="1"/>
          </p:cNvPicPr>
          <p:nvPr/>
        </p:nvPicPr>
        <p:blipFill>
          <a:blip r:embed="rId4"/>
          <a:stretch>
            <a:fillRect/>
          </a:stretch>
        </p:blipFill>
        <p:spPr>
          <a:xfrm>
            <a:off x="6812280" y="5116068"/>
            <a:ext cx="1721358" cy="1147572"/>
          </a:xfrm>
          <a:prstGeom prst="rect">
            <a:avLst/>
          </a:prstGeom>
        </p:spPr>
      </p:pic>
      <p:sp>
        <p:nvSpPr>
          <p:cNvPr id="14" name="Shape 8"/>
          <p:cNvSpPr/>
          <p:nvPr/>
        </p:nvSpPr>
        <p:spPr>
          <a:xfrm>
            <a:off x="6812280" y="5116068"/>
            <a:ext cx="1721358" cy="1147572"/>
          </a:xfrm>
          <a:prstGeom prst="rect">
            <a:avLst/>
          </a:prstGeom>
          <a:ln w="12700">
            <a:solidFill>
              <a:srgbClr val="B0B8BC"/>
            </a:solidFill>
            <a:prstDash val="solid"/>
          </a:ln>
        </p:spPr>
      </p:sp>
      <p:sp>
        <p:nvSpPr>
          <p:cNvPr id="15" name="Text 9"/>
          <p:cNvSpPr txBox="1"/>
          <p:nvPr/>
        </p:nvSpPr>
        <p:spPr>
          <a:xfrm>
            <a:off x="6812280" y="4823460"/>
            <a:ext cx="1721358"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2 s · 50%</a:t>
            </a:r>
            <a:endParaRPr lang="en-US" sz="1100" dirty="0"/>
          </a:p>
        </p:txBody>
      </p:sp>
      <p:pic>
        <p:nvPicPr>
          <p:cNvPr id="16" name="Image 4" descr="C:\Repos\2026-2027\WEBD1000\06_Selectors_and_Animation\_build\shots\ex07_3.png">    </p:cNvPr>
          <p:cNvPicPr>
            <a:picLocks noChangeAspect="1"/>
          </p:cNvPicPr>
          <p:nvPr/>
        </p:nvPicPr>
        <p:blipFill>
          <a:blip r:embed="rId5"/>
          <a:stretch>
            <a:fillRect/>
          </a:stretch>
        </p:blipFill>
        <p:spPr>
          <a:xfrm>
            <a:off x="8670798" y="5116068"/>
            <a:ext cx="1721358" cy="1147572"/>
          </a:xfrm>
          <a:prstGeom prst="rect">
            <a:avLst/>
          </a:prstGeom>
        </p:spPr>
      </p:pic>
      <p:sp>
        <p:nvSpPr>
          <p:cNvPr id="17" name="Shape 10"/>
          <p:cNvSpPr/>
          <p:nvPr/>
        </p:nvSpPr>
        <p:spPr>
          <a:xfrm>
            <a:off x="8670798" y="5116068"/>
            <a:ext cx="1721358" cy="1147572"/>
          </a:xfrm>
          <a:prstGeom prst="rect">
            <a:avLst/>
          </a:prstGeom>
          <a:ln w="12700">
            <a:solidFill>
              <a:srgbClr val="B0B8BC"/>
            </a:solidFill>
            <a:prstDash val="solid"/>
          </a:ln>
        </p:spPr>
      </p:sp>
      <p:sp>
        <p:nvSpPr>
          <p:cNvPr id="18" name="Text 11"/>
          <p:cNvSpPr txBox="1"/>
          <p:nvPr/>
        </p:nvSpPr>
        <p:spPr>
          <a:xfrm>
            <a:off x="8670798" y="4823460"/>
            <a:ext cx="1721358"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3 s · 75%</a:t>
            </a:r>
            <a:endParaRPr lang="en-US" sz="1100" dirty="0"/>
          </a:p>
        </p:txBody>
      </p:sp>
      <p:sp>
        <p:nvSpPr>
          <p:cNvPr id="19" name="Text 12"/>
          <p:cNvSpPr txBox="1"/>
          <p:nvPr/>
        </p:nvSpPr>
        <p:spPr>
          <a:xfrm>
            <a:off x="6812280" y="1508760"/>
            <a:ext cx="4967935" cy="1645920"/>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border-radius: 50%</a:t>
            </a:r>
            <a:pPr indent="0" marL="0">
              <a:buNone/>
            </a:pPr>
            <a:r>
              <a:rPr lang="en-US" sz="1350" dirty="0">
                <a:solidFill>
                  <a:srgbClr val="262626"/>
                </a:solidFill>
                <a:latin typeface="Aptos" pitchFamily="34" charset="0"/>
                <a:ea typeface="Aptos" pitchFamily="34" charset="-122"/>
                <a:cs typeface="Aptos" pitchFamily="34" charset="-120"/>
              </a:rPr>
              <a:t> turns the square into a ball.</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Percentages are </a:t>
            </a:r>
            <a:pPr indent="0" marL="0">
              <a:buNone/>
            </a:pPr>
            <a:r>
              <a:rPr lang="en-US" sz="1350" b="1" dirty="0">
                <a:solidFill>
                  <a:srgbClr val="262626"/>
                </a:solidFill>
                <a:latin typeface="Aptos" pitchFamily="34" charset="0"/>
                <a:ea typeface="Aptos" pitchFamily="34" charset="-122"/>
                <a:cs typeface="Aptos" pitchFamily="34" charset="-120"/>
              </a:rPr>
              <a:t>checkpoints</a:t>
            </a:r>
            <a:pPr indent="0" marL="0">
              <a:buNone/>
            </a:pPr>
            <a:r>
              <a:rPr lang="en-US" sz="1350" dirty="0">
                <a:solidFill>
                  <a:srgbClr val="262626"/>
                </a:solidFill>
                <a:latin typeface="Aptos" pitchFamily="34" charset="0"/>
                <a:ea typeface="Aptos" pitchFamily="34" charset="-122"/>
                <a:cs typeface="Aptos" pitchFamily="34" charset="-120"/>
              </a:rPr>
              <a:t>: 25% of 4s = 1s. The browser animates between them.</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100vw</a:t>
            </a:r>
            <a:pPr indent="0" marL="0">
              <a:buNone/>
            </a:pPr>
            <a:r>
              <a:rPr lang="en-US" sz="1350" dirty="0">
                <a:solidFill>
                  <a:srgbClr val="262626"/>
                </a:solidFill>
                <a:latin typeface="Aptos" pitchFamily="34" charset="0"/>
                <a:ea typeface="Aptos" pitchFamily="34" charset="-122"/>
                <a:cs typeface="Aptos" pitchFamily="34" charset="-120"/>
              </a:rPr>
              <a:t> / </a:t>
            </a:r>
            <a:pPr indent="0" marL="0">
              <a:buNone/>
            </a:pPr>
            <a:r>
              <a:rPr lang="en-US" sz="1350" dirty="0">
                <a:solidFill>
                  <a:srgbClr val="8A2B0B"/>
                </a:solidFill>
                <a:latin typeface="Consolas" pitchFamily="34" charset="0"/>
                <a:ea typeface="Consolas" pitchFamily="34" charset="-122"/>
                <a:cs typeface="Consolas" pitchFamily="34" charset="-120"/>
              </a:rPr>
              <a:t>100vh</a:t>
            </a:r>
            <a:pPr indent="0" marL="0">
              <a:buNone/>
            </a:pPr>
            <a:r>
              <a:rPr lang="en-US" sz="1350" dirty="0">
                <a:solidFill>
                  <a:srgbClr val="262626"/>
                </a:solidFill>
                <a:latin typeface="Aptos" pitchFamily="34" charset="0"/>
                <a:ea typeface="Aptos" pitchFamily="34" charset="-122"/>
                <a:cs typeface="Aptos" pitchFamily="34" charset="-120"/>
              </a:rPr>
              <a:t> = the browser's full width / height. Minus 80px, so the ball stays on screen.</a:t>
            </a:r>
            <a:endParaRPr lang="en-US" sz="1350" dirty="0"/>
          </a:p>
        </p:txBody>
      </p:sp>
      <p:sp>
        <p:nvSpPr>
          <p:cNvPr id="20" name="Text 13"/>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07_ball_around_example.html</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The animation Properties</a:t>
            </a:r>
            <a:endParaRPr lang="en-US" sz="2800" dirty="0"/>
          </a:p>
        </p:txBody>
      </p:sp>
      <p:sp>
        <p:nvSpPr>
          <p:cNvPr id="7" name="Shape 4"/>
          <p:cNvSpPr/>
          <p:nvPr/>
        </p:nvSpPr>
        <p:spPr>
          <a:xfrm>
            <a:off x="4754880" y="1783080"/>
            <a:ext cx="6903720" cy="5486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8" name="Text 5"/>
          <p:cNvSpPr txBox="1"/>
          <p:nvPr/>
        </p:nvSpPr>
        <p:spPr>
          <a:xfrm>
            <a:off x="4853635" y="1881835"/>
            <a:ext cx="6706210" cy="351130"/>
          </a:xfrm>
          <a:prstGeom prst="rect">
            <a:avLst/>
          </a:prstGeom>
          <a:noFill/>
          <a:ln/>
        </p:spPr>
        <p:txBody>
          <a:bodyPr wrap="square" lIns="0" tIns="0" rIns="0" bIns="0" rtlCol="0" anchor="t"/>
          <a:lstStyle/>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animation: around 4s ease-in-out 1s infinite alternate;</a:t>
            </a:r>
            <a:endParaRPr lang="en-US" sz="1500" dirty="0"/>
          </a:p>
        </p:txBody>
      </p:sp>
      <p:sp>
        <p:nvSpPr>
          <p:cNvPr id="9" name="Text 6"/>
          <p:cNvSpPr txBox="1"/>
          <p:nvPr/>
        </p:nvSpPr>
        <p:spPr>
          <a:xfrm>
            <a:off x="4754880" y="2423160"/>
            <a:ext cx="6903720" cy="320040"/>
          </a:xfrm>
          <a:prstGeom prst="rect">
            <a:avLst/>
          </a:prstGeom>
          <a:noFill/>
          <a:ln/>
        </p:spPr>
        <p:txBody>
          <a:bodyPr wrap="square" lIns="0" tIns="0" rIns="0" bIns="0" rtlCol="0" anchor="ctr"/>
          <a:lstStyle/>
          <a:p>
            <a:pPr algn="ctr" indent="0" marL="0">
              <a:buNone/>
            </a:pPr>
            <a:r>
              <a:rPr lang="en-US" sz="1200" dirty="0">
                <a:solidFill>
                  <a:srgbClr val="595959"/>
                </a:solidFill>
                <a:latin typeface="Consolas" pitchFamily="34" charset="0"/>
                <a:ea typeface="Consolas" pitchFamily="34" charset="-122"/>
                <a:cs typeface="Consolas" pitchFamily="34" charset="-120"/>
              </a:rPr>
              <a:t>name · duration · timing-function · delay · iteration-count · direction</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754880" y="3017520"/>
          <a:ext cx="6903720" cy="914400"/>
        </p:xfrm>
        <a:graphic>
          <a:graphicData uri="http://schemas.openxmlformats.org/drawingml/2006/table">
            <a:tbl>
              <a:tblPr/>
              <a:tblGrid>
                <a:gridCol w="2514600"/>
                <a:gridCol w="1965960"/>
                <a:gridCol w="2423160"/>
              </a:tblGrid>
              <a:tr h="393192">
                <a:tc>
                  <a:txBody>
                    <a:bodyPr/>
                    <a:lstStyle/>
                    <a:p>
                      <a:pPr indent="0" marL="0">
                        <a:buNone/>
                      </a:pPr>
                      <a:r>
                        <a:rPr lang="en-US" sz="1200" b="1" dirty="0">
                          <a:solidFill>
                            <a:srgbClr val="FFFFFF"/>
                          </a:solidFill>
                          <a:latin typeface="Aptos" pitchFamily="34" charset="0"/>
                          <a:ea typeface="Aptos" pitchFamily="34" charset="-122"/>
                          <a:cs typeface="Aptos" pitchFamily="34" charset="-120"/>
                        </a:rPr>
                        <a:t>Property</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200" b="1" dirty="0">
                          <a:solidFill>
                            <a:srgbClr val="FFFFFF"/>
                          </a:solidFill>
                          <a:latin typeface="Aptos" pitchFamily="34" charset="0"/>
                          <a:ea typeface="Aptos" pitchFamily="34" charset="-122"/>
                          <a:cs typeface="Aptos" pitchFamily="34" charset="-120"/>
                        </a:rPr>
                        <a:t>Values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200" b="1" dirty="0">
                          <a:solidFill>
                            <a:srgbClr val="FFFFFF"/>
                          </a:solidFill>
                          <a:latin typeface="Aptos" pitchFamily="34" charset="0"/>
                          <a:ea typeface="Aptos" pitchFamily="34" charset="-122"/>
                          <a:cs typeface="Aptos" pitchFamily="34" charset="-120"/>
                        </a:rPr>
                        <a:t>What it does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r>
              <a:tr h="393192">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animation-name</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around</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Which @keyframes to play</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93192">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animation-duration</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4s   500ms</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How long one run takes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93192">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animation-timing-function</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linear   ease-in-out</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The speed curve (next slide!)</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93192">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animation-delay</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1s</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Wait before starting</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93192">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animation-iteration-count</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3   infinite</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How many times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93192">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animation-direction</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alternate   reverse</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Ping-pong, or backwards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93192">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animation-fill-mode</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100" dirty="0">
                          <a:solidFill>
                            <a:srgbClr val="8A2B0B"/>
                          </a:solidFill>
                          <a:latin typeface="Consolas" pitchFamily="34" charset="0"/>
                          <a:ea typeface="Consolas" pitchFamily="34" charset="-122"/>
                          <a:cs typeface="Consolas" pitchFamily="34" charset="-120"/>
                        </a:rPr>
                        <a:t>forwards</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Aptos" pitchFamily="34" charset="0"/>
                          <a:ea typeface="Aptos" pitchFamily="34" charset="-122"/>
                          <a:cs typeface="Aptos" pitchFamily="34" charset="-120"/>
                        </a:rPr>
                        <a:t>Stay on the last frame at the end</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C:\Repos\2026-2027\WEBD1000\06_Selectors_and_Anim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365760"/>
            <a:ext cx="5852160" cy="61264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594360"/>
            <a:ext cx="5394960" cy="5669280"/>
          </a:xfrm>
          <a:prstGeom prst="rect">
            <a:avLst/>
          </a:prstGeom>
          <a:noFill/>
          <a:ln/>
        </p:spPr>
        <p:txBody>
          <a:bodyPr wrap="square" lIns="0" tIns="0" rIns="0" bIns="0" rtlCol="0" anchor="t"/>
          <a:lstStyle/>
          <a:p>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body </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font-family</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Consolas,</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monospace</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overflow</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hidden</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p </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margin</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B5CEA8"/>
                </a:solidFill>
                <a:latin typeface="Consolas" pitchFamily="34" charset="0"/>
                <a:ea typeface="Consolas" pitchFamily="34" charset="-122"/>
                <a:cs typeface="Consolas" pitchFamily="34" charset="-120"/>
              </a:rPr>
              <a:t>10px</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B5CEA8"/>
                </a:solidFill>
                <a:latin typeface="Consolas" pitchFamily="34" charset="0"/>
                <a:ea typeface="Consolas" pitchFamily="34" charset="-122"/>
                <a:cs typeface="Consolas" pitchFamily="34" charset="-120"/>
              </a:rPr>
              <a:t>2px</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.ball </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B5CEA8"/>
                </a:solidFill>
                <a:latin typeface="Consolas" pitchFamily="34" charset="0"/>
                <a:ea typeface="Consolas" pitchFamily="34" charset="-122"/>
                <a:cs typeface="Consolas" pitchFamily="34" charset="-120"/>
              </a:rPr>
              <a:t>40px</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B5CEA8"/>
                </a:solidFill>
                <a:latin typeface="Consolas" pitchFamily="34" charset="0"/>
                <a:ea typeface="Consolas" pitchFamily="34" charset="-122"/>
                <a:cs typeface="Consolas" pitchFamily="34" charset="-120"/>
              </a:rPr>
              <a:t>40px</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border-radius</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B5CEA8"/>
                </a:solidFill>
                <a:latin typeface="Consolas" pitchFamily="34" charset="0"/>
                <a:ea typeface="Consolas" pitchFamily="34" charset="-122"/>
                <a:cs typeface="Consolas" pitchFamily="34" charset="-120"/>
              </a:rPr>
              <a:t>50%</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6A9955"/>
                </a:solidFill>
                <a:latin typeface="Consolas" pitchFamily="34" charset="0"/>
                <a:ea typeface="Consolas" pitchFamily="34" charset="-122"/>
                <a:cs typeface="Consolas" pitchFamily="34" charset="-120"/>
              </a:rPr>
              <a:t>/* Same race for everyone: 3 seconds, there and back, forever */</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animation</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race</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B5CEA8"/>
                </a:solidFill>
                <a:latin typeface="Consolas" pitchFamily="34" charset="0"/>
                <a:ea typeface="Consolas" pitchFamily="34" charset="-122"/>
                <a:cs typeface="Consolas" pitchFamily="34" charset="-120"/>
              </a:rPr>
              <a:t>3s</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infinite</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alternate</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C586C0"/>
                </a:solidFill>
                <a:latin typeface="Consolas" pitchFamily="34" charset="0"/>
                <a:ea typeface="Consolas" pitchFamily="34" charset="-122"/>
                <a:cs typeface="Consolas" pitchFamily="34" charset="-120"/>
              </a:rPr>
              <a:t>@keyframes</a:t>
            </a:r>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 race </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   from </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translateX(0)</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   to   </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translateX(calc(100vw</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B5CEA8"/>
                </a:solidFill>
                <a:latin typeface="Consolas" pitchFamily="34" charset="0"/>
                <a:ea typeface="Consolas" pitchFamily="34" charset="-122"/>
                <a:cs typeface="Consolas" pitchFamily="34" charset="-120"/>
              </a:rPr>
              <a:t>70px</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6A9955"/>
                </a:solidFill>
                <a:latin typeface="Consolas" pitchFamily="34" charset="0"/>
                <a:ea typeface="Consolas" pitchFamily="34" charset="-122"/>
                <a:cs typeface="Consolas" pitchFamily="34" charset="-120"/>
              </a:rPr>
              <a:t>/* Only the speed curve is different. Who wins? */</a:t>
            </a:r>
            <a:endParaRPr lang="en-US" sz="1000" dirty="0"/>
          </a:p>
          <a:p>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.linear      </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animation-timing-function</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linear</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.ease        </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animation-timing-function</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ease</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.ease-in     </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animation-timing-function</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ease-in</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.ease-out    </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animation-timing-function</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ease-out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.ease-in-out </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animation-timing-function</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ease-in-out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.steps       </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animation-timing-function</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steps(5)</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6A9955"/>
                </a:solidFill>
                <a:latin typeface="Consolas" pitchFamily="34" charset="0"/>
                <a:ea typeface="Consolas" pitchFamily="34" charset="-122"/>
                <a:cs typeface="Consolas" pitchFamily="34" charset="-120"/>
              </a:rPr>
              <a:t>/* A colour for each runner */</a:t>
            </a:r>
            <a:endParaRPr lang="en-US" sz="1000" dirty="0"/>
          </a:p>
          <a:p>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.linear      </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#E97132</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.ease        </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#0F9ED5</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.ease-in     </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#A02B93</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.ease-out    </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#2E7D32</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.ease-in-out </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.steps       </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#C62828</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ANIMATION 3 · EXAMPLE 08</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The Timing Function Race</a:t>
            </a:r>
            <a:endParaRPr lang="en-US" sz="3200" dirty="0"/>
          </a:p>
        </p:txBody>
      </p:sp>
      <p:pic>
        <p:nvPicPr>
          <p:cNvPr id="7" name="Image 1" descr="C:\Repos\2026-2027\WEBD1000\06_Selectors_and_Animation\_build\shots\ex08.png">    </p:cNvPr>
          <p:cNvPicPr>
            <a:picLocks noChangeAspect="1"/>
          </p:cNvPicPr>
          <p:nvPr/>
        </p:nvPicPr>
        <p:blipFill>
          <a:blip r:embed="rId2"/>
          <a:stretch>
            <a:fillRect/>
          </a:stretch>
        </p:blipFill>
        <p:spPr>
          <a:xfrm>
            <a:off x="6812280" y="3401568"/>
            <a:ext cx="3902825" cy="2862072"/>
          </a:xfrm>
          <a:prstGeom prst="rect">
            <a:avLst/>
          </a:prstGeom>
        </p:spPr>
      </p:pic>
      <p:sp>
        <p:nvSpPr>
          <p:cNvPr id="8" name="Shape 4"/>
          <p:cNvSpPr/>
          <p:nvPr/>
        </p:nvSpPr>
        <p:spPr>
          <a:xfrm>
            <a:off x="6812280" y="3401568"/>
            <a:ext cx="3902825" cy="2862072"/>
          </a:xfrm>
          <a:prstGeom prst="rect">
            <a:avLst/>
          </a:prstGeom>
          <a:ln w="12700">
            <a:solidFill>
              <a:srgbClr val="B0B8BC"/>
            </a:solidFill>
            <a:prstDash val="solid"/>
          </a:ln>
        </p:spPr>
      </p:sp>
      <p:sp>
        <p:nvSpPr>
          <p:cNvPr id="9" name="Text 5"/>
          <p:cNvSpPr txBox="1"/>
          <p:nvPr/>
        </p:nvSpPr>
        <p:spPr>
          <a:xfrm>
            <a:off x="6812280" y="3108960"/>
            <a:ext cx="390282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PAUSED AT 1 SECOND</a:t>
            </a:r>
            <a:endParaRPr lang="en-US" sz="1100" dirty="0"/>
          </a:p>
        </p:txBody>
      </p:sp>
      <p:sp>
        <p:nvSpPr>
          <p:cNvPr id="10" name="Text 6"/>
          <p:cNvSpPr txBox="1"/>
          <p:nvPr/>
        </p:nvSpPr>
        <p:spPr>
          <a:xfrm>
            <a:off x="6812280" y="1508760"/>
            <a:ext cx="4967935" cy="1508760"/>
          </a:xfrm>
          <a:prstGeom prst="rect">
            <a:avLst/>
          </a:prstGeom>
          <a:noFill/>
          <a:ln/>
        </p:spPr>
        <p:txBody>
          <a:bodyPr wrap="square" lIns="0" tIns="0" rIns="0" bIns="0" rtlCol="0" anchor="t"/>
          <a:lstStyle/>
          <a:p>
            <a:pPr marL="342900" indent="-342900">
              <a:buSzPct val="100000"/>
              <a:buChar char="•"/>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Same distance, same 3 seconds. </a:t>
            </a:r>
            <a:pPr indent="0" marL="0">
              <a:buNone/>
            </a:pPr>
            <a:r>
              <a:rPr lang="en-US" sz="1300" b="1" dirty="0">
                <a:solidFill>
                  <a:srgbClr val="262626"/>
                </a:solidFill>
                <a:latin typeface="Aptos" pitchFamily="34" charset="0"/>
                <a:ea typeface="Aptos" pitchFamily="34" charset="-122"/>
                <a:cs typeface="Aptos" pitchFamily="34" charset="-120"/>
              </a:rPr>
              <a:t>They all tie!</a:t>
            </a:r>
            <a:pPr indent="0" marL="0">
              <a:buNone/>
            </a:pPr>
            <a:r>
              <a:rPr lang="en-US" sz="1300" dirty="0">
                <a:solidFill>
                  <a:srgbClr val="262626"/>
                </a:solidFill>
                <a:latin typeface="Aptos" pitchFamily="34" charset="0"/>
                <a:ea typeface="Aptos" pitchFamily="34" charset="-122"/>
                <a:cs typeface="Aptos" pitchFamily="34" charset="-120"/>
              </a:rPr>
              <a:t> Only the speed along the way is different.</a:t>
            </a:r>
            <a:endParaRPr lang="en-US" sz="1300" dirty="0"/>
          </a:p>
          <a:p>
            <a:pPr marL="342900" indent="-342900">
              <a:spcBef>
                <a:spcPts val="900"/>
              </a:spcBef>
              <a:buSzPct val="100000"/>
              <a:buChar char="•"/>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ease-in</a:t>
            </a:r>
            <a:pPr indent="0" marL="0">
              <a:buNone/>
            </a:pPr>
            <a:r>
              <a:rPr lang="en-US" sz="1300" dirty="0">
                <a:solidFill>
                  <a:srgbClr val="262626"/>
                </a:solidFill>
                <a:latin typeface="Aptos" pitchFamily="34" charset="0"/>
                <a:ea typeface="Aptos" pitchFamily="34" charset="-122"/>
                <a:cs typeface="Aptos" pitchFamily="34" charset="-120"/>
              </a:rPr>
              <a:t> starts slow, </a:t>
            </a:r>
            <a:pPr indent="0" marL="0">
              <a:buNone/>
            </a:pPr>
            <a:r>
              <a:rPr lang="en-US" sz="1300" dirty="0">
                <a:solidFill>
                  <a:srgbClr val="8A2B0B"/>
                </a:solidFill>
                <a:latin typeface="Consolas" pitchFamily="34" charset="0"/>
                <a:ea typeface="Consolas" pitchFamily="34" charset="-122"/>
                <a:cs typeface="Consolas" pitchFamily="34" charset="-120"/>
              </a:rPr>
              <a:t>ease-out</a:t>
            </a:r>
            <a:pPr indent="0" marL="0">
              <a:buNone/>
            </a:pPr>
            <a:r>
              <a:rPr lang="en-US" sz="1300" dirty="0">
                <a:solidFill>
                  <a:srgbClr val="262626"/>
                </a:solidFill>
                <a:latin typeface="Aptos" pitchFamily="34" charset="0"/>
                <a:ea typeface="Aptos" pitchFamily="34" charset="-122"/>
                <a:cs typeface="Aptos" pitchFamily="34" charset="-120"/>
              </a:rPr>
              <a:t> ends slow, </a:t>
            </a:r>
            <a:pPr indent="0" marL="0">
              <a:buNone/>
            </a:pPr>
            <a:r>
              <a:rPr lang="en-US" sz="1300" dirty="0">
                <a:solidFill>
                  <a:srgbClr val="8A2B0B"/>
                </a:solidFill>
                <a:latin typeface="Consolas" pitchFamily="34" charset="0"/>
                <a:ea typeface="Consolas" pitchFamily="34" charset="-122"/>
                <a:cs typeface="Consolas" pitchFamily="34" charset="-120"/>
              </a:rPr>
              <a:t>linear</a:t>
            </a:r>
            <a:pPr indent="0" marL="0">
              <a:buNone/>
            </a:pPr>
            <a:r>
              <a:rPr lang="en-US" sz="1300" dirty="0">
                <a:solidFill>
                  <a:srgbClr val="262626"/>
                </a:solidFill>
                <a:latin typeface="Aptos" pitchFamily="34" charset="0"/>
                <a:ea typeface="Aptos" pitchFamily="34" charset="-122"/>
                <a:cs typeface="Aptos" pitchFamily="34" charset="-120"/>
              </a:rPr>
              <a:t> never changes. </a:t>
            </a:r>
            <a:pPr indent="0" marL="0">
              <a:buNone/>
            </a:pPr>
            <a:r>
              <a:rPr lang="en-US" sz="1300" dirty="0">
                <a:solidFill>
                  <a:srgbClr val="8A2B0B"/>
                </a:solidFill>
                <a:latin typeface="Consolas" pitchFamily="34" charset="0"/>
                <a:ea typeface="Consolas" pitchFamily="34" charset="-122"/>
                <a:cs typeface="Consolas" pitchFamily="34" charset="-120"/>
              </a:rPr>
              <a:t>steps()</a:t>
            </a:r>
            <a:pPr indent="0" marL="0">
              <a:buNone/>
            </a:pPr>
            <a:r>
              <a:rPr lang="en-US" sz="1300" dirty="0">
                <a:solidFill>
                  <a:srgbClr val="262626"/>
                </a:solidFill>
                <a:latin typeface="Aptos" pitchFamily="34" charset="0"/>
                <a:ea typeface="Aptos" pitchFamily="34" charset="-122"/>
                <a:cs typeface="Aptos" pitchFamily="34" charset="-120"/>
              </a:rPr>
              <a:t> jumps.</a:t>
            </a:r>
            <a:endParaRPr lang="en-US" sz="130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08_timing_race_example.html</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C:\Repos\2026-2027\WEBD1000\06_Selectors_and_Anim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498860"/>
            <a:ext cx="5852160" cy="58602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727460"/>
            <a:ext cx="5394960" cy="5403080"/>
          </a:xfrm>
          <a:prstGeom prst="rect">
            <a:avLst/>
          </a:prstGeom>
          <a:noFill/>
          <a:ln/>
        </p:spPr>
        <p:txBody>
          <a:bodyPr wrap="square" lIns="0" tIns="0" rIns="0" bIns="0" rtlCol="0" anchor="t"/>
          <a:lstStyle/>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.floor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400px</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border-bottom</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6px</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solid</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#262626</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.ball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100px</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100px</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margin</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auto</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border-radius</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50%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#E97132</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transform-origin</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center</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bottom</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squash against the floor */</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animation</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bounce</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1.2s</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infinite</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C586C0"/>
                </a:solidFill>
                <a:latin typeface="Consolas" pitchFamily="34" charset="0"/>
                <a:ea typeface="Consolas" pitchFamily="34" charset="-122"/>
                <a:cs typeface="Consolas" pitchFamily="34" charset="-120"/>
              </a:rPr>
              <a:t>@keyframes</a:t>
            </a:r>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 bounce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   0%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translateY(0)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animation-timing-function</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ease-in</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falls faster and faster */</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   45%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translateY(300px)</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touches the floor */</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   50%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translateY(300px)</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scale(1.3,</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0.7</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squash! */</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   55%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translateY(300px)</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animation-timing-function</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ease-out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slows down going up */</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   100%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translateY(0)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ANIMATION 4 · EXAMPLE 09</a:t>
            </a:r>
            <a:endParaRPr lang="en-US" sz="1400" dirty="0"/>
          </a:p>
        </p:txBody>
      </p:sp>
      <p:sp>
        <p:nvSpPr>
          <p:cNvPr id="6" name="Text 3"/>
          <p:cNvSpPr txBox="1"/>
          <p:nvPr/>
        </p:nvSpPr>
        <p:spPr>
          <a:xfrm>
            <a:off x="6812280" y="731520"/>
            <a:ext cx="4967935" cy="960120"/>
          </a:xfrm>
          <a:prstGeom prst="rect">
            <a:avLst/>
          </a:prstGeom>
          <a:noFill/>
          <a:ln/>
        </p:spPr>
        <p:txBody>
          <a:bodyPr wrap="square" lIns="0" tIns="0" rIns="0" bIns="0" rtlCol="0" anchor="t"/>
          <a:lstStyle/>
          <a:p>
            <a:pPr indent="0" marL="0">
              <a:buNone/>
            </a:pPr>
            <a:r>
              <a:rPr lang="en-US" sz="2600" dirty="0">
                <a:solidFill>
                  <a:srgbClr val="000000"/>
                </a:solidFill>
                <a:latin typeface="Aptos" pitchFamily="34" charset="0"/>
                <a:ea typeface="Aptos" pitchFamily="34" charset="-122"/>
                <a:cs typeface="Aptos" pitchFamily="34" charset="-120"/>
              </a:rPr>
              <a:t>A Bouncing Ball (with Squash!)</a:t>
            </a:r>
            <a:endParaRPr lang="en-US" sz="2600" dirty="0"/>
          </a:p>
        </p:txBody>
      </p:sp>
      <p:pic>
        <p:nvPicPr>
          <p:cNvPr id="7" name="Image 1" descr="C:\Repos\2026-2027\WEBD1000\06_Selectors_and_Animation\_build\shots\ex09_0.png">    </p:cNvPr>
          <p:cNvPicPr>
            <a:picLocks noChangeAspect="1"/>
          </p:cNvPicPr>
          <p:nvPr/>
        </p:nvPicPr>
        <p:blipFill>
          <a:blip r:embed="rId2"/>
          <a:stretch>
            <a:fillRect/>
          </a:stretch>
        </p:blipFill>
        <p:spPr>
          <a:xfrm>
            <a:off x="6812280" y="5284002"/>
            <a:ext cx="1139114" cy="979638"/>
          </a:xfrm>
          <a:prstGeom prst="rect">
            <a:avLst/>
          </a:prstGeom>
        </p:spPr>
      </p:pic>
      <p:sp>
        <p:nvSpPr>
          <p:cNvPr id="8" name="Shape 4"/>
          <p:cNvSpPr/>
          <p:nvPr/>
        </p:nvSpPr>
        <p:spPr>
          <a:xfrm>
            <a:off x="6812280" y="5284002"/>
            <a:ext cx="1139114" cy="979638"/>
          </a:xfrm>
          <a:prstGeom prst="rect">
            <a:avLst/>
          </a:prstGeom>
          <a:ln w="12700">
            <a:solidFill>
              <a:srgbClr val="B0B8BC"/>
            </a:solidFill>
            <a:prstDash val="solid"/>
          </a:ln>
        </p:spPr>
      </p:sp>
      <p:sp>
        <p:nvSpPr>
          <p:cNvPr id="9" name="Text 5"/>
          <p:cNvSpPr txBox="1"/>
          <p:nvPr/>
        </p:nvSpPr>
        <p:spPr>
          <a:xfrm>
            <a:off x="6812280" y="4991394"/>
            <a:ext cx="1139114"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0 s</a:t>
            </a:r>
            <a:endParaRPr lang="en-US" sz="1100" dirty="0"/>
          </a:p>
        </p:txBody>
      </p:sp>
      <p:pic>
        <p:nvPicPr>
          <p:cNvPr id="10" name="Image 2" descr="C:\Repos\2026-2027\WEBD1000\06_Selectors_and_Animation\_build\shots\ex09_1.png">    </p:cNvPr>
          <p:cNvPicPr>
            <a:picLocks noChangeAspect="1"/>
          </p:cNvPicPr>
          <p:nvPr/>
        </p:nvPicPr>
        <p:blipFill>
          <a:blip r:embed="rId3"/>
          <a:stretch>
            <a:fillRect/>
          </a:stretch>
        </p:blipFill>
        <p:spPr>
          <a:xfrm>
            <a:off x="8088554" y="5284002"/>
            <a:ext cx="1139114" cy="979638"/>
          </a:xfrm>
          <a:prstGeom prst="rect">
            <a:avLst/>
          </a:prstGeom>
        </p:spPr>
      </p:pic>
      <p:sp>
        <p:nvSpPr>
          <p:cNvPr id="11" name="Shape 6"/>
          <p:cNvSpPr/>
          <p:nvPr/>
        </p:nvSpPr>
        <p:spPr>
          <a:xfrm>
            <a:off x="8088554" y="5284002"/>
            <a:ext cx="1139114" cy="979638"/>
          </a:xfrm>
          <a:prstGeom prst="rect">
            <a:avLst/>
          </a:prstGeom>
          <a:ln w="12700">
            <a:solidFill>
              <a:srgbClr val="B0B8BC"/>
            </a:solidFill>
            <a:prstDash val="solid"/>
          </a:ln>
        </p:spPr>
      </p:sp>
      <p:sp>
        <p:nvSpPr>
          <p:cNvPr id="12" name="Text 7"/>
          <p:cNvSpPr txBox="1"/>
          <p:nvPr/>
        </p:nvSpPr>
        <p:spPr>
          <a:xfrm>
            <a:off x="8088554" y="4991394"/>
            <a:ext cx="1139114"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0.4 s</a:t>
            </a:r>
            <a:endParaRPr lang="en-US" sz="1100" dirty="0"/>
          </a:p>
        </p:txBody>
      </p:sp>
      <p:pic>
        <p:nvPicPr>
          <p:cNvPr id="13" name="Image 3" descr="C:\Repos\2026-2027\WEBD1000\06_Selectors_and_Animation\_build\shots\ex09_2.png">    </p:cNvPr>
          <p:cNvPicPr>
            <a:picLocks noChangeAspect="1"/>
          </p:cNvPicPr>
          <p:nvPr/>
        </p:nvPicPr>
        <p:blipFill>
          <a:blip r:embed="rId4"/>
          <a:stretch>
            <a:fillRect/>
          </a:stretch>
        </p:blipFill>
        <p:spPr>
          <a:xfrm>
            <a:off x="9364828" y="5284002"/>
            <a:ext cx="1139114" cy="979638"/>
          </a:xfrm>
          <a:prstGeom prst="rect">
            <a:avLst/>
          </a:prstGeom>
        </p:spPr>
      </p:pic>
      <p:sp>
        <p:nvSpPr>
          <p:cNvPr id="14" name="Shape 8"/>
          <p:cNvSpPr/>
          <p:nvPr/>
        </p:nvSpPr>
        <p:spPr>
          <a:xfrm>
            <a:off x="9364828" y="5284002"/>
            <a:ext cx="1139114" cy="979638"/>
          </a:xfrm>
          <a:prstGeom prst="rect">
            <a:avLst/>
          </a:prstGeom>
          <a:ln w="12700">
            <a:solidFill>
              <a:srgbClr val="B0B8BC"/>
            </a:solidFill>
            <a:prstDash val="solid"/>
          </a:ln>
        </p:spPr>
      </p:sp>
      <p:sp>
        <p:nvSpPr>
          <p:cNvPr id="15" name="Text 9"/>
          <p:cNvSpPr txBox="1"/>
          <p:nvPr/>
        </p:nvSpPr>
        <p:spPr>
          <a:xfrm>
            <a:off x="9364828" y="4991394"/>
            <a:ext cx="1139114"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0.6 s</a:t>
            </a:r>
            <a:endParaRPr lang="en-US" sz="1100" dirty="0"/>
          </a:p>
        </p:txBody>
      </p:sp>
      <p:pic>
        <p:nvPicPr>
          <p:cNvPr id="16" name="Image 4" descr="C:\Repos\2026-2027\WEBD1000\06_Selectors_and_Animation\_build\shots\ex09_3.png">    </p:cNvPr>
          <p:cNvPicPr>
            <a:picLocks noChangeAspect="1"/>
          </p:cNvPicPr>
          <p:nvPr/>
        </p:nvPicPr>
        <p:blipFill>
          <a:blip r:embed="rId5"/>
          <a:stretch>
            <a:fillRect/>
          </a:stretch>
        </p:blipFill>
        <p:spPr>
          <a:xfrm>
            <a:off x="10641101" y="5284002"/>
            <a:ext cx="1139114" cy="979638"/>
          </a:xfrm>
          <a:prstGeom prst="rect">
            <a:avLst/>
          </a:prstGeom>
        </p:spPr>
      </p:pic>
      <p:sp>
        <p:nvSpPr>
          <p:cNvPr id="17" name="Shape 10"/>
          <p:cNvSpPr/>
          <p:nvPr/>
        </p:nvSpPr>
        <p:spPr>
          <a:xfrm>
            <a:off x="10641101" y="5284002"/>
            <a:ext cx="1139114" cy="979638"/>
          </a:xfrm>
          <a:prstGeom prst="rect">
            <a:avLst/>
          </a:prstGeom>
          <a:ln w="12700">
            <a:solidFill>
              <a:srgbClr val="B0B8BC"/>
            </a:solidFill>
            <a:prstDash val="solid"/>
          </a:ln>
        </p:spPr>
      </p:sp>
      <p:sp>
        <p:nvSpPr>
          <p:cNvPr id="18" name="Text 11"/>
          <p:cNvSpPr txBox="1"/>
          <p:nvPr/>
        </p:nvSpPr>
        <p:spPr>
          <a:xfrm>
            <a:off x="10641101" y="4991394"/>
            <a:ext cx="1139114"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0.85 s</a:t>
            </a:r>
            <a:endParaRPr lang="en-US" sz="1100" dirty="0"/>
          </a:p>
        </p:txBody>
      </p:sp>
      <p:sp>
        <p:nvSpPr>
          <p:cNvPr id="19" name="Text 12"/>
          <p:cNvSpPr txBox="1"/>
          <p:nvPr/>
        </p:nvSpPr>
        <p:spPr>
          <a:xfrm>
            <a:off x="6812280" y="1783080"/>
            <a:ext cx="4967935" cy="3116874"/>
          </a:xfrm>
          <a:prstGeom prst="rect">
            <a:avLst/>
          </a:prstGeom>
          <a:noFill/>
          <a:ln/>
        </p:spPr>
        <p:txBody>
          <a:bodyPr wrap="square" lIns="0" tIns="0" rIns="0" bIns="0" rtlCol="0" anchor="t"/>
          <a:lstStyle/>
          <a:p>
            <a:pPr marL="342900" indent="-342900">
              <a:buSzPct val="100000"/>
              <a:buChar char="•"/>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A timing function </a:t>
            </a:r>
            <a:pPr indent="0" marL="0">
              <a:buNone/>
            </a:pPr>
            <a:r>
              <a:rPr lang="en-US" sz="1300" b="1" dirty="0">
                <a:solidFill>
                  <a:srgbClr val="262626"/>
                </a:solidFill>
                <a:latin typeface="Aptos" pitchFamily="34" charset="0"/>
                <a:ea typeface="Aptos" pitchFamily="34" charset="-122"/>
                <a:cs typeface="Aptos" pitchFamily="34" charset="-120"/>
              </a:rPr>
              <a:t>inside</a:t>
            </a:r>
            <a:pPr indent="0" marL="0">
              <a:buNone/>
            </a:pPr>
            <a:r>
              <a:rPr lang="en-US" sz="1300" dirty="0">
                <a:solidFill>
                  <a:srgbClr val="262626"/>
                </a:solidFill>
                <a:latin typeface="Aptos" pitchFamily="34" charset="0"/>
                <a:ea typeface="Aptos" pitchFamily="34" charset="-122"/>
                <a:cs typeface="Aptos" pitchFamily="34" charset="-120"/>
              </a:rPr>
              <a:t> a keyframe applies until the </a:t>
            </a:r>
            <a:pPr indent="0" marL="0">
              <a:buNone/>
            </a:pPr>
            <a:r>
              <a:rPr lang="en-US" sz="1300" b="1" dirty="0">
                <a:solidFill>
                  <a:srgbClr val="262626"/>
                </a:solidFill>
                <a:latin typeface="Aptos" pitchFamily="34" charset="0"/>
                <a:ea typeface="Aptos" pitchFamily="34" charset="-122"/>
                <a:cs typeface="Aptos" pitchFamily="34" charset="-120"/>
              </a:rPr>
              <a:t>next</a:t>
            </a:r>
            <a:pPr indent="0" marL="0">
              <a:buNone/>
            </a:pPr>
            <a:r>
              <a:rPr lang="en-US" sz="1300" dirty="0">
                <a:solidFill>
                  <a:srgbClr val="262626"/>
                </a:solidFill>
                <a:latin typeface="Aptos" pitchFamily="34" charset="0"/>
                <a:ea typeface="Aptos" pitchFamily="34" charset="-122"/>
                <a:cs typeface="Aptos" pitchFamily="34" charset="-120"/>
              </a:rPr>
              <a:t> keyframe: </a:t>
            </a:r>
            <a:pPr indent="0" marL="0">
              <a:buNone/>
            </a:pPr>
            <a:r>
              <a:rPr lang="en-US" sz="1300" dirty="0">
                <a:solidFill>
                  <a:srgbClr val="8A2B0B"/>
                </a:solidFill>
                <a:latin typeface="Consolas" pitchFamily="34" charset="0"/>
                <a:ea typeface="Consolas" pitchFamily="34" charset="-122"/>
                <a:cs typeface="Consolas" pitchFamily="34" charset="-120"/>
              </a:rPr>
              <a:t>ease-in</a:t>
            </a:r>
            <a:pPr indent="0" marL="0">
              <a:buNone/>
            </a:pPr>
            <a:r>
              <a:rPr lang="en-US" sz="1300" dirty="0">
                <a:solidFill>
                  <a:srgbClr val="262626"/>
                </a:solidFill>
                <a:latin typeface="Aptos" pitchFamily="34" charset="0"/>
                <a:ea typeface="Aptos" pitchFamily="34" charset="-122"/>
                <a:cs typeface="Aptos" pitchFamily="34" charset="-120"/>
              </a:rPr>
              <a:t> falling, </a:t>
            </a:r>
            <a:pPr indent="0" marL="0">
              <a:buNone/>
            </a:pPr>
            <a:r>
              <a:rPr lang="en-US" sz="1300" dirty="0">
                <a:solidFill>
                  <a:srgbClr val="8A2B0B"/>
                </a:solidFill>
                <a:latin typeface="Consolas" pitchFamily="34" charset="0"/>
                <a:ea typeface="Consolas" pitchFamily="34" charset="-122"/>
                <a:cs typeface="Consolas" pitchFamily="34" charset="-120"/>
              </a:rPr>
              <a:t>ease-out</a:t>
            </a:r>
            <a:pPr indent="0" marL="0">
              <a:buNone/>
            </a:pPr>
            <a:r>
              <a:rPr lang="en-US" sz="1300" dirty="0">
                <a:solidFill>
                  <a:srgbClr val="262626"/>
                </a:solidFill>
                <a:latin typeface="Aptos" pitchFamily="34" charset="0"/>
                <a:ea typeface="Aptos" pitchFamily="34" charset="-122"/>
                <a:cs typeface="Aptos" pitchFamily="34" charset="-120"/>
              </a:rPr>
              <a:t> rising.</a:t>
            </a:r>
            <a:endParaRPr lang="en-US" sz="1300" dirty="0"/>
          </a:p>
          <a:p>
            <a:pPr marL="342900" indent="-342900">
              <a:spcBef>
                <a:spcPts val="900"/>
              </a:spcBef>
              <a:buSzPct val="100000"/>
              <a:buChar char="•"/>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scale(1.3, 0.7)</a:t>
            </a:r>
            <a:pPr indent="0" marL="0">
              <a:buNone/>
            </a:pPr>
            <a:r>
              <a:rPr lang="en-US" sz="1300" dirty="0">
                <a:solidFill>
                  <a:srgbClr val="262626"/>
                </a:solidFill>
                <a:latin typeface="Aptos" pitchFamily="34" charset="0"/>
                <a:ea typeface="Aptos" pitchFamily="34" charset="-122"/>
                <a:cs typeface="Aptos" pitchFamily="34" charset="-120"/>
              </a:rPr>
              <a:t> squashes it: wider and flatter. </a:t>
            </a:r>
            <a:pPr indent="0" marL="0">
              <a:buNone/>
            </a:pPr>
            <a:r>
              <a:rPr lang="en-US" sz="1300" dirty="0">
                <a:solidFill>
                  <a:srgbClr val="8A2B0B"/>
                </a:solidFill>
                <a:latin typeface="Consolas" pitchFamily="34" charset="0"/>
                <a:ea typeface="Consolas" pitchFamily="34" charset="-122"/>
                <a:cs typeface="Consolas" pitchFamily="34" charset="-120"/>
              </a:rPr>
              <a:t>transform-origin</a:t>
            </a:r>
            <a:pPr indent="0" marL="0">
              <a:buNone/>
            </a:pPr>
            <a:r>
              <a:rPr lang="en-US" sz="1300" dirty="0">
                <a:solidFill>
                  <a:srgbClr val="262626"/>
                </a:solidFill>
                <a:latin typeface="Aptos" pitchFamily="34" charset="0"/>
                <a:ea typeface="Aptos" pitchFamily="34" charset="-122"/>
                <a:cs typeface="Aptos" pitchFamily="34" charset="-120"/>
              </a:rPr>
              <a:t> keeps it on the floor.</a:t>
            </a:r>
            <a:endParaRPr lang="en-US" sz="1300" dirty="0"/>
          </a:p>
        </p:txBody>
      </p:sp>
      <p:sp>
        <p:nvSpPr>
          <p:cNvPr id="20" name="Text 13"/>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09_bounce_example.html</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C:\Repos\2026-2027\WEBD1000\06_Selectors_and_Anim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1120866"/>
            <a:ext cx="5852160" cy="4616269"/>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1349466"/>
            <a:ext cx="5394960" cy="4159069"/>
          </a:xfrm>
          <a:prstGeom prst="rect">
            <a:avLst/>
          </a:prstGeom>
          <a:noFill/>
          <a:ln/>
        </p:spPr>
        <p:txBody>
          <a:bodyPr wrap="square" lIns="0" tIns="0" rIns="0" bIns="0" rtlCol="0" anchor="t"/>
          <a:lstStyle/>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.square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B5CEA8"/>
                </a:solidFill>
                <a:latin typeface="Consolas" pitchFamily="34" charset="0"/>
                <a:ea typeface="Consolas" pitchFamily="34" charset="-122"/>
                <a:cs typeface="Consolas" pitchFamily="34" charset="-120"/>
              </a:rPr>
              <a:t>100px</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B5CEA8"/>
                </a:solidFill>
                <a:latin typeface="Consolas" pitchFamily="34" charset="0"/>
                <a:ea typeface="Consolas" pitchFamily="34" charset="-122"/>
                <a:cs typeface="Consolas" pitchFamily="34" charset="-120"/>
              </a:rPr>
              <a:t>100px</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margin</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B5CEA8"/>
                </a:solidFill>
                <a:latin typeface="Consolas" pitchFamily="34" charset="0"/>
                <a:ea typeface="Consolas" pitchFamily="34" charset="-122"/>
                <a:cs typeface="Consolas" pitchFamily="34" charset="-120"/>
              </a:rPr>
              <a:t>80px</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auto</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#A02B93</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animation</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morph</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B5CEA8"/>
                </a:solidFill>
                <a:latin typeface="Consolas" pitchFamily="34" charset="0"/>
                <a:ea typeface="Consolas" pitchFamily="34" charset="-122"/>
                <a:cs typeface="Consolas" pitchFamily="34" charset="-120"/>
              </a:rPr>
              <a:t>3s</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ease-in-out</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infinite</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6A9955"/>
                </a:solidFill>
                <a:latin typeface="Consolas" pitchFamily="34" charset="0"/>
                <a:ea typeface="Consolas" pitchFamily="34" charset="-122"/>
                <a:cs typeface="Consolas" pitchFamily="34" charset="-120"/>
              </a:rPr>
              <a:t>/* No 0%: it starts from the square's normal style */</a:t>
            </a:r>
            <a:endParaRPr lang="en-US" sz="1400" dirty="0"/>
          </a:p>
          <a:p>
            <a:pPr indent="0" marL="0">
              <a:lnSpc>
                <a:spcPct val="100000"/>
              </a:lnSpc>
              <a:buNone/>
            </a:pPr>
            <a:r>
              <a:rPr lang="en-US" sz="1400" dirty="0">
                <a:solidFill>
                  <a:srgbClr val="C586C0"/>
                </a:solidFill>
                <a:latin typeface="Consolas" pitchFamily="34" charset="0"/>
                <a:ea typeface="Consolas" pitchFamily="34" charset="-122"/>
                <a:cs typeface="Consolas" pitchFamily="34" charset="-120"/>
              </a:rPr>
              <a:t>@keyframes</a:t>
            </a:r>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 morph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   50%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rotate(180deg)</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scale(1.5)</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border-radius</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B5CEA8"/>
                </a:solidFill>
                <a:latin typeface="Consolas" pitchFamily="34" charset="0"/>
                <a:ea typeface="Consolas" pitchFamily="34" charset="-122"/>
                <a:cs typeface="Consolas" pitchFamily="34" charset="-120"/>
              </a:rPr>
              <a:t>50%</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6A9955"/>
                </a:solidFill>
                <a:latin typeface="Consolas" pitchFamily="34" charset="0"/>
                <a:ea typeface="Consolas" pitchFamily="34" charset="-122"/>
                <a:cs typeface="Consolas" pitchFamily="34" charset="-120"/>
              </a:rPr>
              <a:t>/* a circle! */</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#0F9ED5</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   100%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rotate(360deg)</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6A9955"/>
                </a:solidFill>
                <a:latin typeface="Consolas" pitchFamily="34" charset="0"/>
                <a:ea typeface="Consolas" pitchFamily="34" charset="-122"/>
                <a:cs typeface="Consolas" pitchFamily="34" charset="-120"/>
              </a:rPr>
              <a:t>/* one full turn */</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ANIMATION 5 · EXAMPLE 10</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A Shape-shifting Square</a:t>
            </a:r>
            <a:endParaRPr lang="en-US" sz="3200" dirty="0"/>
          </a:p>
        </p:txBody>
      </p:sp>
      <p:pic>
        <p:nvPicPr>
          <p:cNvPr id="7" name="Image 1" descr="C:\Repos\2026-2027\WEBD1000\06_Selectors_and_Animation\_build\shots\ex10_0.png">    </p:cNvPr>
          <p:cNvPicPr>
            <a:picLocks noChangeAspect="1"/>
          </p:cNvPicPr>
          <p:nvPr/>
        </p:nvPicPr>
        <p:blipFill>
          <a:blip r:embed="rId2"/>
          <a:stretch>
            <a:fillRect/>
          </a:stretch>
        </p:blipFill>
        <p:spPr>
          <a:xfrm>
            <a:off x="6812280" y="3538728"/>
            <a:ext cx="1434465" cy="1147572"/>
          </a:xfrm>
          <a:prstGeom prst="rect">
            <a:avLst/>
          </a:prstGeom>
        </p:spPr>
      </p:pic>
      <p:sp>
        <p:nvSpPr>
          <p:cNvPr id="8" name="Shape 4"/>
          <p:cNvSpPr/>
          <p:nvPr/>
        </p:nvSpPr>
        <p:spPr>
          <a:xfrm>
            <a:off x="6812280" y="3538728"/>
            <a:ext cx="1434465" cy="1147572"/>
          </a:xfrm>
          <a:prstGeom prst="rect">
            <a:avLst/>
          </a:prstGeom>
          <a:ln w="12700">
            <a:solidFill>
              <a:srgbClr val="B0B8BC"/>
            </a:solidFill>
            <a:prstDash val="solid"/>
          </a:ln>
        </p:spPr>
      </p:sp>
      <p:sp>
        <p:nvSpPr>
          <p:cNvPr id="9" name="Text 5"/>
          <p:cNvSpPr txBox="1"/>
          <p:nvPr/>
        </p:nvSpPr>
        <p:spPr>
          <a:xfrm>
            <a:off x="6812280" y="3246120"/>
            <a:ext cx="143446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0 s</a:t>
            </a:r>
            <a:endParaRPr lang="en-US" sz="1100" dirty="0"/>
          </a:p>
        </p:txBody>
      </p:sp>
      <p:pic>
        <p:nvPicPr>
          <p:cNvPr id="10" name="Image 2" descr="C:\Repos\2026-2027\WEBD1000\06_Selectors_and_Animation\_build\shots\ex10_1.png">    </p:cNvPr>
          <p:cNvPicPr>
            <a:picLocks noChangeAspect="1"/>
          </p:cNvPicPr>
          <p:nvPr/>
        </p:nvPicPr>
        <p:blipFill>
          <a:blip r:embed="rId3"/>
          <a:stretch>
            <a:fillRect/>
          </a:stretch>
        </p:blipFill>
        <p:spPr>
          <a:xfrm>
            <a:off x="8383905" y="3538728"/>
            <a:ext cx="1434465" cy="1147572"/>
          </a:xfrm>
          <a:prstGeom prst="rect">
            <a:avLst/>
          </a:prstGeom>
        </p:spPr>
      </p:pic>
      <p:sp>
        <p:nvSpPr>
          <p:cNvPr id="11" name="Shape 6"/>
          <p:cNvSpPr/>
          <p:nvPr/>
        </p:nvSpPr>
        <p:spPr>
          <a:xfrm>
            <a:off x="8383905" y="3538728"/>
            <a:ext cx="1434465" cy="1147572"/>
          </a:xfrm>
          <a:prstGeom prst="rect">
            <a:avLst/>
          </a:prstGeom>
          <a:ln w="12700">
            <a:solidFill>
              <a:srgbClr val="B0B8BC"/>
            </a:solidFill>
            <a:prstDash val="solid"/>
          </a:ln>
        </p:spPr>
      </p:sp>
      <p:sp>
        <p:nvSpPr>
          <p:cNvPr id="12" name="Text 7"/>
          <p:cNvSpPr txBox="1"/>
          <p:nvPr/>
        </p:nvSpPr>
        <p:spPr>
          <a:xfrm>
            <a:off x="8383905" y="3246120"/>
            <a:ext cx="143446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0.75 s</a:t>
            </a:r>
            <a:endParaRPr lang="en-US" sz="1100" dirty="0"/>
          </a:p>
        </p:txBody>
      </p:sp>
      <p:pic>
        <p:nvPicPr>
          <p:cNvPr id="13" name="Image 3" descr="C:\Repos\2026-2027\WEBD1000\06_Selectors_and_Animation\_build\shots\ex10_2.png">    </p:cNvPr>
          <p:cNvPicPr>
            <a:picLocks noChangeAspect="1"/>
          </p:cNvPicPr>
          <p:nvPr/>
        </p:nvPicPr>
        <p:blipFill>
          <a:blip r:embed="rId4"/>
          <a:stretch>
            <a:fillRect/>
          </a:stretch>
        </p:blipFill>
        <p:spPr>
          <a:xfrm>
            <a:off x="6812280" y="5116068"/>
            <a:ext cx="1434465" cy="1147572"/>
          </a:xfrm>
          <a:prstGeom prst="rect">
            <a:avLst/>
          </a:prstGeom>
        </p:spPr>
      </p:pic>
      <p:sp>
        <p:nvSpPr>
          <p:cNvPr id="14" name="Shape 8"/>
          <p:cNvSpPr/>
          <p:nvPr/>
        </p:nvSpPr>
        <p:spPr>
          <a:xfrm>
            <a:off x="6812280" y="5116068"/>
            <a:ext cx="1434465" cy="1147572"/>
          </a:xfrm>
          <a:prstGeom prst="rect">
            <a:avLst/>
          </a:prstGeom>
          <a:ln w="12700">
            <a:solidFill>
              <a:srgbClr val="B0B8BC"/>
            </a:solidFill>
            <a:prstDash val="solid"/>
          </a:ln>
        </p:spPr>
      </p:sp>
      <p:sp>
        <p:nvSpPr>
          <p:cNvPr id="15" name="Text 9"/>
          <p:cNvSpPr txBox="1"/>
          <p:nvPr/>
        </p:nvSpPr>
        <p:spPr>
          <a:xfrm>
            <a:off x="6812280" y="4823460"/>
            <a:ext cx="143446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1.5 s</a:t>
            </a:r>
            <a:endParaRPr lang="en-US" sz="1100" dirty="0"/>
          </a:p>
        </p:txBody>
      </p:sp>
      <p:pic>
        <p:nvPicPr>
          <p:cNvPr id="16" name="Image 4" descr="C:\Repos\2026-2027\WEBD1000\06_Selectors_and_Animation\_build\shots\ex10_3.png">    </p:cNvPr>
          <p:cNvPicPr>
            <a:picLocks noChangeAspect="1"/>
          </p:cNvPicPr>
          <p:nvPr/>
        </p:nvPicPr>
        <p:blipFill>
          <a:blip r:embed="rId5"/>
          <a:stretch>
            <a:fillRect/>
          </a:stretch>
        </p:blipFill>
        <p:spPr>
          <a:xfrm>
            <a:off x="8383905" y="5116068"/>
            <a:ext cx="1434465" cy="1147572"/>
          </a:xfrm>
          <a:prstGeom prst="rect">
            <a:avLst/>
          </a:prstGeom>
        </p:spPr>
      </p:pic>
      <p:sp>
        <p:nvSpPr>
          <p:cNvPr id="17" name="Shape 10"/>
          <p:cNvSpPr/>
          <p:nvPr/>
        </p:nvSpPr>
        <p:spPr>
          <a:xfrm>
            <a:off x="8383905" y="5116068"/>
            <a:ext cx="1434465" cy="1147572"/>
          </a:xfrm>
          <a:prstGeom prst="rect">
            <a:avLst/>
          </a:prstGeom>
          <a:ln w="12700">
            <a:solidFill>
              <a:srgbClr val="B0B8BC"/>
            </a:solidFill>
            <a:prstDash val="solid"/>
          </a:ln>
        </p:spPr>
      </p:sp>
      <p:sp>
        <p:nvSpPr>
          <p:cNvPr id="18" name="Text 11"/>
          <p:cNvSpPr txBox="1"/>
          <p:nvPr/>
        </p:nvSpPr>
        <p:spPr>
          <a:xfrm>
            <a:off x="8383905" y="4823460"/>
            <a:ext cx="143446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2.25 s</a:t>
            </a:r>
            <a:endParaRPr lang="en-US" sz="1100" dirty="0"/>
          </a:p>
        </p:txBody>
      </p:sp>
      <p:sp>
        <p:nvSpPr>
          <p:cNvPr id="19" name="Text 12"/>
          <p:cNvSpPr txBox="1"/>
          <p:nvPr/>
        </p:nvSpPr>
        <p:spPr>
          <a:xfrm>
            <a:off x="6812280" y="1508760"/>
            <a:ext cx="4967935" cy="1645920"/>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Only </a:t>
            </a:r>
            <a:pPr indent="0" marL="0">
              <a:buNone/>
            </a:pPr>
            <a:r>
              <a:rPr lang="en-US" sz="1400" dirty="0">
                <a:solidFill>
                  <a:srgbClr val="8A2B0B"/>
                </a:solidFill>
                <a:latin typeface="Consolas" pitchFamily="34" charset="0"/>
                <a:ea typeface="Consolas" pitchFamily="34" charset="-122"/>
                <a:cs typeface="Consolas" pitchFamily="34" charset="-120"/>
              </a:rPr>
              <a:t>50%</a:t>
            </a:r>
            <a:pPr indent="0" marL="0">
              <a:buNone/>
            </a:pPr>
            <a:r>
              <a:rPr lang="en-US" sz="1400" dirty="0">
                <a:solidFill>
                  <a:srgbClr val="262626"/>
                </a:solidFill>
                <a:latin typeface="Aptos" pitchFamily="34" charset="0"/>
                <a:ea typeface="Aptos" pitchFamily="34" charset="-122"/>
                <a:cs typeface="Aptos" pitchFamily="34" charset="-120"/>
              </a:rPr>
              <a:t> and </a:t>
            </a:r>
            <a:pPr indent="0" marL="0">
              <a:buNone/>
            </a:pPr>
            <a:r>
              <a:rPr lang="en-US" sz="1400" dirty="0">
                <a:solidFill>
                  <a:srgbClr val="8A2B0B"/>
                </a:solidFill>
                <a:latin typeface="Consolas" pitchFamily="34" charset="0"/>
                <a:ea typeface="Consolas" pitchFamily="34" charset="-122"/>
                <a:cs typeface="Consolas" pitchFamily="34" charset="-120"/>
              </a:rPr>
              <a:t>100%</a:t>
            </a:r>
            <a:pPr indent="0" marL="0">
              <a:buNone/>
            </a:pPr>
            <a:r>
              <a:rPr lang="en-US" sz="1400" dirty="0">
                <a:solidFill>
                  <a:srgbClr val="262626"/>
                </a:solidFill>
                <a:latin typeface="Aptos" pitchFamily="34" charset="0"/>
                <a:ea typeface="Aptos" pitchFamily="34" charset="-122"/>
                <a:cs typeface="Aptos" pitchFamily="34" charset="-120"/>
              </a:rPr>
              <a:t>? The browser uses the element's </a:t>
            </a:r>
            <a:pPr indent="0" marL="0">
              <a:buNone/>
            </a:pPr>
            <a:r>
              <a:rPr lang="en-US" sz="1400" b="1" dirty="0">
                <a:solidFill>
                  <a:srgbClr val="262626"/>
                </a:solidFill>
                <a:latin typeface="Aptos" pitchFamily="34" charset="0"/>
                <a:ea typeface="Aptos" pitchFamily="34" charset="-122"/>
                <a:cs typeface="Aptos" pitchFamily="34" charset="-120"/>
              </a:rPr>
              <a:t>normal style</a:t>
            </a:r>
            <a:pPr indent="0" marL="0">
              <a:buNone/>
            </a:pPr>
            <a:r>
              <a:rPr lang="en-US" sz="1400" dirty="0">
                <a:solidFill>
                  <a:srgbClr val="262626"/>
                </a:solidFill>
                <a:latin typeface="Aptos" pitchFamily="34" charset="0"/>
                <a:ea typeface="Aptos" pitchFamily="34" charset="-122"/>
                <a:cs typeface="Aptos" pitchFamily="34" charset="-120"/>
              </a:rPr>
              <a:t> for the missing steps.</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Animate several things at once: </a:t>
            </a:r>
            <a:pPr indent="0" marL="0">
              <a:buNone/>
            </a:pPr>
            <a:r>
              <a:rPr lang="en-US" sz="1400" dirty="0">
                <a:solidFill>
                  <a:srgbClr val="8A2B0B"/>
                </a:solidFill>
                <a:latin typeface="Consolas" pitchFamily="34" charset="0"/>
                <a:ea typeface="Consolas" pitchFamily="34" charset="-122"/>
                <a:cs typeface="Consolas" pitchFamily="34" charset="-120"/>
              </a:rPr>
              <a:t>transform</a:t>
            </a:r>
            <a:pPr indent="0" marL="0">
              <a:buNone/>
            </a:pPr>
            <a:r>
              <a:rPr lang="en-US" sz="1400" dirty="0">
                <a:solidFill>
                  <a:srgbClr val="262626"/>
                </a:solidFill>
                <a:latin typeface="Aptos" pitchFamily="34" charset="0"/>
                <a:ea typeface="Aptos" pitchFamily="34" charset="-122"/>
                <a:cs typeface="Aptos" pitchFamily="34" charset="-120"/>
              </a:rPr>
              <a:t>, </a:t>
            </a:r>
            <a:pPr indent="0" marL="0">
              <a:buNone/>
            </a:pPr>
            <a:r>
              <a:rPr lang="en-US" sz="1400" dirty="0">
                <a:solidFill>
                  <a:srgbClr val="8A2B0B"/>
                </a:solidFill>
                <a:latin typeface="Consolas" pitchFamily="34" charset="0"/>
                <a:ea typeface="Consolas" pitchFamily="34" charset="-122"/>
                <a:cs typeface="Consolas" pitchFamily="34" charset="-120"/>
              </a:rPr>
              <a:t>border-radius</a:t>
            </a:r>
            <a:pPr indent="0" marL="0">
              <a:buNone/>
            </a:pPr>
            <a:r>
              <a:rPr lang="en-US" sz="1400" dirty="0">
                <a:solidFill>
                  <a:srgbClr val="262626"/>
                </a:solidFill>
                <a:latin typeface="Aptos" pitchFamily="34" charset="0"/>
                <a:ea typeface="Aptos" pitchFamily="34" charset="-122"/>
                <a:cs typeface="Aptos" pitchFamily="34" charset="-120"/>
              </a:rPr>
              <a:t> and </a:t>
            </a:r>
            <a:pPr indent="0" marL="0">
              <a:buNone/>
            </a:pPr>
            <a:r>
              <a:rPr lang="en-US" sz="1400" dirty="0">
                <a:solidFill>
                  <a:srgbClr val="8A2B0B"/>
                </a:solidFill>
                <a:latin typeface="Consolas" pitchFamily="34" charset="0"/>
                <a:ea typeface="Consolas" pitchFamily="34" charset="-122"/>
                <a:cs typeface="Consolas" pitchFamily="34" charset="-120"/>
              </a:rPr>
              <a:t>background-color</a:t>
            </a:r>
            <a:pPr indent="0" marL="0">
              <a:buNone/>
            </a:pPr>
            <a:r>
              <a:rPr lang="en-US" sz="1400" dirty="0">
                <a:solidFill>
                  <a:srgbClr val="262626"/>
                </a:solidFill>
                <a:latin typeface="Aptos" pitchFamily="34" charset="0"/>
                <a:ea typeface="Aptos" pitchFamily="34" charset="-122"/>
                <a:cs typeface="Aptos" pitchFamily="34" charset="-120"/>
              </a:rPr>
              <a:t>.</a:t>
            </a:r>
            <a:endParaRPr lang="en-US" sz="1400" dirty="0"/>
          </a:p>
        </p:txBody>
      </p:sp>
      <p:sp>
        <p:nvSpPr>
          <p:cNvPr id="20" name="Text 13"/>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10_morph_square_example.html</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C:\Repos\2026-2027\WEBD1000\06_Selectors_and_Anim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365760"/>
            <a:ext cx="5852160" cy="61264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594360"/>
            <a:ext cx="5394960" cy="5669280"/>
          </a:xfrm>
          <a:prstGeom prst="rect">
            <a:avLst/>
          </a:prstGeom>
          <a:noFill/>
          <a:ln/>
        </p:spPr>
        <p:txBody>
          <a:bodyPr wrap="square" lIns="0" tIns="0" rIns="0" bIns="0" rtlCol="0" anchor="t"/>
          <a:lstStyle/>
          <a:p>
            <a:pPr indent="0" marL="0">
              <a:lnSpc>
                <a:spcPct val="100000"/>
              </a:lnSpc>
              <a:buNone/>
            </a:pPr>
            <a:r>
              <a:rPr lang="en-US" sz="900" dirty="0">
                <a:solidFill>
                  <a:srgbClr val="D7BA7D"/>
                </a:solidFill>
                <a:latin typeface="Consolas" pitchFamily="34" charset="0"/>
                <a:ea typeface="Consolas" pitchFamily="34" charset="-122"/>
                <a:cs typeface="Consolas" pitchFamily="34" charset="-120"/>
              </a:rPr>
              <a:t>.road </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margin-top</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60px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overflow</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hidden</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6A9955"/>
                </a:solidFill>
                <a:latin typeface="Consolas" pitchFamily="34" charset="0"/>
                <a:ea typeface="Consolas" pitchFamily="34" charset="-122"/>
                <a:cs typeface="Consolas" pitchFamily="34" charset="-120"/>
              </a:rPr>
              <a:t>/* hide the car when it's off the road */</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border-bottom</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8px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dashed</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#595959</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lnSpc>
                <a:spcPct val="100000"/>
              </a:lnSpc>
              <a:buNone/>
            </a:pPr>
            <a:r>
              <a:rPr lang="en-US" sz="900" dirty="0">
                <a:solidFill>
                  <a:srgbClr val="D7BA7D"/>
                </a:solidFill>
                <a:latin typeface="Consolas" pitchFamily="34" charset="0"/>
                <a:ea typeface="Consolas" pitchFamily="34" charset="-122"/>
                <a:cs typeface="Consolas" pitchFamily="34" charset="-120"/>
              </a:rPr>
              <a:t>.car </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position</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relative</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6A9955"/>
                </a:solidFill>
                <a:latin typeface="Consolas" pitchFamily="34" charset="0"/>
                <a:ea typeface="Consolas" pitchFamily="34" charset="-122"/>
                <a:cs typeface="Consolas" pitchFamily="34" charset="-120"/>
              </a:rPr>
              <a:t>/* the parts are placed inside the car */</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160px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95px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animation</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drive</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4s</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linear</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infinite</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lnSpc>
                <a:spcPct val="100000"/>
              </a:lnSpc>
              <a:buNone/>
            </a:pPr>
            <a:r>
              <a:rPr lang="en-US" sz="900" dirty="0">
                <a:solidFill>
                  <a:srgbClr val="D7BA7D"/>
                </a:solidFill>
                <a:latin typeface="Consolas" pitchFamily="34" charset="0"/>
                <a:ea typeface="Consolas" pitchFamily="34" charset="-122"/>
                <a:cs typeface="Consolas" pitchFamily="34" charset="-120"/>
              </a:rPr>
              <a:t>.roof, .car-body, .wheel </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position</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absolute</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lnSpc>
                <a:spcPct val="100000"/>
              </a:lnSpc>
              <a:buNone/>
            </a:pPr>
            <a:r>
              <a:rPr lang="en-US" sz="900" dirty="0">
                <a:solidFill>
                  <a:srgbClr val="D7BA7D"/>
                </a:solidFill>
                <a:latin typeface="Consolas" pitchFamily="34" charset="0"/>
                <a:ea typeface="Consolas" pitchFamily="34" charset="-122"/>
                <a:cs typeface="Consolas" pitchFamily="34" charset="-120"/>
              </a:rPr>
              <a:t>.roof </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left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30px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bottom</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55px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80px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35px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border-radius</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30px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30px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lnSpc>
                <a:spcPct val="100000"/>
              </a:lnSpc>
              <a:buNone/>
            </a:pPr>
            <a:r>
              <a:rPr lang="en-US" sz="900" dirty="0">
                <a:solidFill>
                  <a:srgbClr val="D7BA7D"/>
                </a:solidFill>
                <a:latin typeface="Consolas" pitchFamily="34" charset="0"/>
                <a:ea typeface="Consolas" pitchFamily="34" charset="-122"/>
                <a:cs typeface="Consolas" pitchFamily="34" charset="-120"/>
              </a:rPr>
              <a:t>.car-body </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left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bottom</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20px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160px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40px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border-radius</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10px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30px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8px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8px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lnSpc>
                <a:spcPct val="100000"/>
              </a:lnSpc>
              <a:buNone/>
            </a:pPr>
            <a:r>
              <a:rPr lang="en-US" sz="900" dirty="0">
                <a:solidFill>
                  <a:srgbClr val="D7BA7D"/>
                </a:solidFill>
                <a:latin typeface="Consolas" pitchFamily="34" charset="0"/>
                <a:ea typeface="Consolas" pitchFamily="34" charset="-122"/>
                <a:cs typeface="Consolas" pitchFamily="34" charset="-120"/>
              </a:rPr>
              <a:t>.wheel </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bottom</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40px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40px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border-radius</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50%</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border</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7px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dashed</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#BFBFBF</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6A9955"/>
                </a:solidFill>
                <a:latin typeface="Consolas" pitchFamily="34" charset="0"/>
                <a:ea typeface="Consolas" pitchFamily="34" charset="-122"/>
                <a:cs typeface="Consolas" pitchFamily="34" charset="-120"/>
              </a:rPr>
              <a:t>/* dashes show the spin */</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animation</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spin</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0.5s</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linear</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infinite</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lnSpc>
                <a:spcPct val="100000"/>
              </a:lnSpc>
              <a:buNone/>
            </a:pPr>
            <a:r>
              <a:rPr lang="en-US" sz="900" dirty="0">
                <a:solidFill>
                  <a:srgbClr val="D7BA7D"/>
                </a:solidFill>
                <a:latin typeface="Consolas" pitchFamily="34" charset="0"/>
                <a:ea typeface="Consolas" pitchFamily="34" charset="-122"/>
                <a:cs typeface="Consolas" pitchFamily="34" charset="-120"/>
              </a:rPr>
              <a:t>.back  </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left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15px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lnSpc>
                <a:spcPct val="100000"/>
              </a:lnSpc>
              <a:buNone/>
            </a:pPr>
            <a:r>
              <a:rPr lang="en-US" sz="900" dirty="0">
                <a:solidFill>
                  <a:srgbClr val="D7BA7D"/>
                </a:solidFill>
                <a:latin typeface="Consolas" pitchFamily="34" charset="0"/>
                <a:ea typeface="Consolas" pitchFamily="34" charset="-122"/>
                <a:cs typeface="Consolas" pitchFamily="34" charset="-120"/>
              </a:rPr>
              <a:t>.front </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right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B5CEA8"/>
                </a:solidFill>
                <a:latin typeface="Consolas" pitchFamily="34" charset="0"/>
                <a:ea typeface="Consolas" pitchFamily="34" charset="-122"/>
                <a:cs typeface="Consolas" pitchFamily="34" charset="-120"/>
              </a:rPr>
              <a:t>15px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lnSpc>
                <a:spcPct val="100000"/>
              </a:lnSpc>
              <a:buNone/>
            </a:pPr>
            <a:r>
              <a:rPr lang="en-US" sz="900" dirty="0">
                <a:solidFill>
                  <a:srgbClr val="C586C0"/>
                </a:solidFill>
                <a:latin typeface="Consolas" pitchFamily="34" charset="0"/>
                <a:ea typeface="Consolas" pitchFamily="34" charset="-122"/>
                <a:cs typeface="Consolas" pitchFamily="34" charset="-120"/>
              </a:rPr>
              <a:t>@keyframes</a:t>
            </a:r>
            <a:pPr indent="0" marL="0">
              <a:lnSpc>
                <a:spcPct val="100000"/>
              </a:lnSpc>
              <a:buNone/>
            </a:pPr>
            <a:r>
              <a:rPr lang="en-US" sz="900" dirty="0">
                <a:solidFill>
                  <a:srgbClr val="D7BA7D"/>
                </a:solidFill>
                <a:latin typeface="Consolas" pitchFamily="34" charset="0"/>
                <a:ea typeface="Consolas" pitchFamily="34" charset="-122"/>
                <a:cs typeface="Consolas" pitchFamily="34" charset="-120"/>
              </a:rPr>
              <a:t> drive </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7BA7D"/>
                </a:solidFill>
                <a:latin typeface="Consolas" pitchFamily="34" charset="0"/>
                <a:ea typeface="Consolas" pitchFamily="34" charset="-122"/>
                <a:cs typeface="Consolas" pitchFamily="34" charset="-120"/>
              </a:rPr>
              <a:t>   from </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translateX(-200px)</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   </a:t>
            </a:r>
            <a:pPr indent="0" marL="0">
              <a:lnSpc>
                <a:spcPct val="100000"/>
              </a:lnSpc>
              <a:buNone/>
            </a:pPr>
            <a:r>
              <a:rPr lang="en-US" sz="900" dirty="0">
                <a:solidFill>
                  <a:srgbClr val="6A9955"/>
                </a:solidFill>
                <a:latin typeface="Consolas" pitchFamily="34" charset="0"/>
                <a:ea typeface="Consolas" pitchFamily="34" charset="-122"/>
                <a:cs typeface="Consolas" pitchFamily="34" charset="-120"/>
              </a:rPr>
              <a:t>/* off the left edge */</a:t>
            </a:r>
            <a:endParaRPr lang="en-US" sz="900" dirty="0"/>
          </a:p>
          <a:p>
            <a:pPr indent="0" marL="0">
              <a:lnSpc>
                <a:spcPct val="100000"/>
              </a:lnSpc>
              <a:buNone/>
            </a:pPr>
            <a:r>
              <a:rPr lang="en-US" sz="900" dirty="0">
                <a:solidFill>
                  <a:srgbClr val="D7BA7D"/>
                </a:solidFill>
                <a:latin typeface="Consolas" pitchFamily="34" charset="0"/>
                <a:ea typeface="Consolas" pitchFamily="34" charset="-122"/>
                <a:cs typeface="Consolas" pitchFamily="34" charset="-120"/>
              </a:rPr>
              <a:t>   to   </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translateX(100vw)</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    </a:t>
            </a:r>
            <a:pPr indent="0" marL="0">
              <a:lnSpc>
                <a:spcPct val="100000"/>
              </a:lnSpc>
              <a:buNone/>
            </a:pPr>
            <a:r>
              <a:rPr lang="en-US" sz="900" dirty="0">
                <a:solidFill>
                  <a:srgbClr val="6A9955"/>
                </a:solidFill>
                <a:latin typeface="Consolas" pitchFamily="34" charset="0"/>
                <a:ea typeface="Consolas" pitchFamily="34" charset="-122"/>
                <a:cs typeface="Consolas" pitchFamily="34" charset="-120"/>
              </a:rPr>
              <a:t>/* off the right edge */</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lnSpc>
                <a:spcPct val="100000"/>
              </a:lnSpc>
              <a:buNone/>
            </a:pPr>
            <a:r>
              <a:rPr lang="en-US" sz="900" dirty="0">
                <a:solidFill>
                  <a:srgbClr val="C586C0"/>
                </a:solidFill>
                <a:latin typeface="Consolas" pitchFamily="34" charset="0"/>
                <a:ea typeface="Consolas" pitchFamily="34" charset="-122"/>
                <a:cs typeface="Consolas" pitchFamily="34" charset="-120"/>
              </a:rPr>
              <a:t>@keyframes</a:t>
            </a:r>
            <a:pPr indent="0" marL="0">
              <a:lnSpc>
                <a:spcPct val="100000"/>
              </a:lnSpc>
              <a:buNone/>
            </a:pPr>
            <a:r>
              <a:rPr lang="en-US" sz="900" dirty="0">
                <a:solidFill>
                  <a:srgbClr val="D7BA7D"/>
                </a:solidFill>
                <a:latin typeface="Consolas" pitchFamily="34" charset="0"/>
                <a:ea typeface="Consolas" pitchFamily="34" charset="-122"/>
                <a:cs typeface="Consolas" pitchFamily="34" charset="-120"/>
              </a:rPr>
              <a:t> spin </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00" dirty="0">
                <a:solidFill>
                  <a:srgbClr val="D7BA7D"/>
                </a:solidFill>
                <a:latin typeface="Consolas" pitchFamily="34" charset="0"/>
                <a:ea typeface="Consolas" pitchFamily="34" charset="-122"/>
                <a:cs typeface="Consolas" pitchFamily="34" charset="-120"/>
              </a:rPr>
              <a:t> to </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rotate(360deg)</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D7BA7D"/>
                </a:solidFill>
                <a:latin typeface="Consolas" pitchFamily="34" charset="0"/>
                <a:ea typeface="Consolas" pitchFamily="34" charset="-122"/>
                <a:cs typeface="Consolas" pitchFamily="34" charset="-120"/>
              </a:rPr>
              <a:t> }</a:t>
            </a:r>
            <a:endParaRPr lang="en-US" sz="9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ANIMATION 6 · EXAMPLE 11</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A Car Made of Boxes</a:t>
            </a:r>
            <a:endParaRPr lang="en-US" sz="3200" dirty="0"/>
          </a:p>
        </p:txBody>
      </p:sp>
      <p:pic>
        <p:nvPicPr>
          <p:cNvPr id="7" name="Image 1" descr="C:\Repos\2026-2027\WEBD1000\06_Selectors_and_Animation\_build\shots\ex11_0.png">    </p:cNvPr>
          <p:cNvPicPr>
            <a:picLocks noChangeAspect="1"/>
          </p:cNvPicPr>
          <p:nvPr/>
        </p:nvPicPr>
        <p:blipFill>
          <a:blip r:embed="rId2"/>
          <a:stretch>
            <a:fillRect/>
          </a:stretch>
        </p:blipFill>
        <p:spPr>
          <a:xfrm>
            <a:off x="6812280" y="3538728"/>
            <a:ext cx="1963554" cy="621792"/>
          </a:xfrm>
          <a:prstGeom prst="rect">
            <a:avLst/>
          </a:prstGeom>
        </p:spPr>
      </p:pic>
      <p:sp>
        <p:nvSpPr>
          <p:cNvPr id="8" name="Shape 4"/>
          <p:cNvSpPr/>
          <p:nvPr/>
        </p:nvSpPr>
        <p:spPr>
          <a:xfrm>
            <a:off x="6812280" y="3538728"/>
            <a:ext cx="1963554" cy="621792"/>
          </a:xfrm>
          <a:prstGeom prst="rect">
            <a:avLst/>
          </a:prstGeom>
          <a:ln w="12700">
            <a:solidFill>
              <a:srgbClr val="B0B8BC"/>
            </a:solidFill>
            <a:prstDash val="solid"/>
          </a:ln>
        </p:spPr>
      </p:sp>
      <p:sp>
        <p:nvSpPr>
          <p:cNvPr id="9" name="Text 5"/>
          <p:cNvSpPr txBox="1"/>
          <p:nvPr/>
        </p:nvSpPr>
        <p:spPr>
          <a:xfrm>
            <a:off x="6812280" y="3246120"/>
            <a:ext cx="1963554"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0.9 s</a:t>
            </a:r>
            <a:endParaRPr lang="en-US" sz="1100" dirty="0"/>
          </a:p>
        </p:txBody>
      </p:sp>
      <p:pic>
        <p:nvPicPr>
          <p:cNvPr id="10" name="Image 2" descr="C:\Repos\2026-2027\WEBD1000\06_Selectors_and_Animation\_build\shots\ex11_1.png">    </p:cNvPr>
          <p:cNvPicPr>
            <a:picLocks noChangeAspect="1"/>
          </p:cNvPicPr>
          <p:nvPr/>
        </p:nvPicPr>
        <p:blipFill>
          <a:blip r:embed="rId3"/>
          <a:stretch>
            <a:fillRect/>
          </a:stretch>
        </p:blipFill>
        <p:spPr>
          <a:xfrm>
            <a:off x="6812280" y="4590288"/>
            <a:ext cx="1963554" cy="621792"/>
          </a:xfrm>
          <a:prstGeom prst="rect">
            <a:avLst/>
          </a:prstGeom>
        </p:spPr>
      </p:pic>
      <p:sp>
        <p:nvSpPr>
          <p:cNvPr id="11" name="Shape 6"/>
          <p:cNvSpPr/>
          <p:nvPr/>
        </p:nvSpPr>
        <p:spPr>
          <a:xfrm>
            <a:off x="6812280" y="4590288"/>
            <a:ext cx="1963554" cy="621792"/>
          </a:xfrm>
          <a:prstGeom prst="rect">
            <a:avLst/>
          </a:prstGeom>
          <a:ln w="12700">
            <a:solidFill>
              <a:srgbClr val="B0B8BC"/>
            </a:solidFill>
            <a:prstDash val="solid"/>
          </a:ln>
        </p:spPr>
      </p:sp>
      <p:sp>
        <p:nvSpPr>
          <p:cNvPr id="12" name="Text 7"/>
          <p:cNvSpPr txBox="1"/>
          <p:nvPr/>
        </p:nvSpPr>
        <p:spPr>
          <a:xfrm>
            <a:off x="6812280" y="4297680"/>
            <a:ext cx="1963554"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1.6 s</a:t>
            </a:r>
            <a:endParaRPr lang="en-US" sz="1100" dirty="0"/>
          </a:p>
        </p:txBody>
      </p:sp>
      <p:pic>
        <p:nvPicPr>
          <p:cNvPr id="13" name="Image 3" descr="C:\Repos\2026-2027\WEBD1000\06_Selectors_and_Animation\_build\shots\ex11_2.png">    </p:cNvPr>
          <p:cNvPicPr>
            <a:picLocks noChangeAspect="1"/>
          </p:cNvPicPr>
          <p:nvPr/>
        </p:nvPicPr>
        <p:blipFill>
          <a:blip r:embed="rId4"/>
          <a:stretch>
            <a:fillRect/>
          </a:stretch>
        </p:blipFill>
        <p:spPr>
          <a:xfrm>
            <a:off x="6812280" y="5641848"/>
            <a:ext cx="1963554" cy="621792"/>
          </a:xfrm>
          <a:prstGeom prst="rect">
            <a:avLst/>
          </a:prstGeom>
        </p:spPr>
      </p:pic>
      <p:sp>
        <p:nvSpPr>
          <p:cNvPr id="14" name="Shape 8"/>
          <p:cNvSpPr/>
          <p:nvPr/>
        </p:nvSpPr>
        <p:spPr>
          <a:xfrm>
            <a:off x="6812280" y="5641848"/>
            <a:ext cx="1963554" cy="621792"/>
          </a:xfrm>
          <a:prstGeom prst="rect">
            <a:avLst/>
          </a:prstGeom>
          <a:ln w="12700">
            <a:solidFill>
              <a:srgbClr val="B0B8BC"/>
            </a:solidFill>
            <a:prstDash val="solid"/>
          </a:ln>
        </p:spPr>
      </p:sp>
      <p:sp>
        <p:nvSpPr>
          <p:cNvPr id="15" name="Text 9"/>
          <p:cNvSpPr txBox="1"/>
          <p:nvPr/>
        </p:nvSpPr>
        <p:spPr>
          <a:xfrm>
            <a:off x="6812280" y="5349240"/>
            <a:ext cx="1963554"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2.4 s</a:t>
            </a:r>
            <a:endParaRPr lang="en-US" sz="1100" dirty="0"/>
          </a:p>
        </p:txBody>
      </p:sp>
      <p:sp>
        <p:nvSpPr>
          <p:cNvPr id="16" name="Text 10"/>
          <p:cNvSpPr txBox="1"/>
          <p:nvPr/>
        </p:nvSpPr>
        <p:spPr>
          <a:xfrm>
            <a:off x="6812280" y="1508760"/>
            <a:ext cx="4967935" cy="1645920"/>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Four boxes make a car. The car </a:t>
            </a:r>
            <a:pPr indent="0" marL="0">
              <a:buNone/>
            </a:pPr>
            <a:r>
              <a:rPr lang="en-US" sz="1350" b="1" dirty="0">
                <a:solidFill>
                  <a:srgbClr val="262626"/>
                </a:solidFill>
                <a:latin typeface="Aptos" pitchFamily="34" charset="0"/>
                <a:ea typeface="Aptos" pitchFamily="34" charset="-122"/>
                <a:cs typeface="Aptos" pitchFamily="34" charset="-120"/>
              </a:rPr>
              <a:t>drives</a:t>
            </a:r>
            <a:pPr indent="0" marL="0">
              <a:buNone/>
            </a:pPr>
            <a:r>
              <a:rPr lang="en-US" sz="1350" dirty="0">
                <a:solidFill>
                  <a:srgbClr val="262626"/>
                </a:solidFill>
                <a:latin typeface="Aptos" pitchFamily="34" charset="0"/>
                <a:ea typeface="Aptos" pitchFamily="34" charset="-122"/>
                <a:cs typeface="Aptos" pitchFamily="34" charset="-120"/>
              </a:rPr>
              <a:t> and each wheel </a:t>
            </a:r>
            <a:pPr indent="0" marL="0">
              <a:buNone/>
            </a:pPr>
            <a:r>
              <a:rPr lang="en-US" sz="1350" b="1" dirty="0">
                <a:solidFill>
                  <a:srgbClr val="262626"/>
                </a:solidFill>
                <a:latin typeface="Aptos" pitchFamily="34" charset="0"/>
                <a:ea typeface="Aptos" pitchFamily="34" charset="-122"/>
                <a:cs typeface="Aptos" pitchFamily="34" charset="-120"/>
              </a:rPr>
              <a:t>spins</a:t>
            </a:r>
            <a:pPr indent="0" marL="0">
              <a:buNone/>
            </a:pPr>
            <a:r>
              <a:rPr lang="en-US" sz="1350" dirty="0">
                <a:solidFill>
                  <a:srgbClr val="262626"/>
                </a:solidFill>
                <a:latin typeface="Aptos" pitchFamily="34" charset="0"/>
                <a:ea typeface="Aptos" pitchFamily="34" charset="-122"/>
                <a:cs typeface="Aptos" pitchFamily="34" charset="-120"/>
              </a:rPr>
              <a:t>: two animations at once.</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The </a:t>
            </a:r>
            <a:pPr indent="0" marL="0">
              <a:buNone/>
            </a:pPr>
            <a:r>
              <a:rPr lang="en-US" sz="1350" b="1" dirty="0">
                <a:solidFill>
                  <a:srgbClr val="262626"/>
                </a:solidFill>
                <a:latin typeface="Aptos" pitchFamily="34" charset="0"/>
                <a:ea typeface="Aptos" pitchFamily="34" charset="-122"/>
                <a:cs typeface="Aptos" pitchFamily="34" charset="-120"/>
              </a:rPr>
              <a:t>dashed border</a:t>
            </a:r>
            <a:pPr indent="0" marL="0">
              <a:buNone/>
            </a:pPr>
            <a:r>
              <a:rPr lang="en-US" sz="1350" dirty="0">
                <a:solidFill>
                  <a:srgbClr val="262626"/>
                </a:solidFill>
                <a:latin typeface="Aptos" pitchFamily="34" charset="0"/>
                <a:ea typeface="Aptos" pitchFamily="34" charset="-122"/>
                <a:cs typeface="Aptos" pitchFamily="34" charset="-120"/>
              </a:rPr>
              <a:t> is what makes the spin visible. A plain circle spinning looks like it's standing still!</a:t>
            </a:r>
            <a:endParaRPr lang="en-US" sz="1350" dirty="0"/>
          </a:p>
        </p:txBody>
      </p:sp>
      <p:sp>
        <p:nvSpPr>
          <p:cNvPr id="17" name="Text 11"/>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11_car_example.html</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C:\Repos\2026-2027\WEBD1000\06_Selectors_and_Anim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365760"/>
            <a:ext cx="5852160" cy="61264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594360"/>
            <a:ext cx="5394960" cy="5669280"/>
          </a:xfrm>
          <a:prstGeom prst="rect">
            <a:avLst/>
          </a:prstGeom>
          <a:noFill/>
          <a:ln/>
        </p:spPr>
        <p:txBody>
          <a:bodyPr wrap="square" lIns="0" tIns="0" rIns="0" bIns="0" rtlCol="0" anchor="t"/>
          <a:lstStyle/>
          <a:p>
            <a:pPr indent="0" marL="0">
              <a:lnSpc>
                <a:spcPct val="100000"/>
              </a:lnSpc>
              <a:buNone/>
            </a:pPr>
            <a:r>
              <a:rPr lang="en-US" sz="950" dirty="0">
                <a:solidFill>
                  <a:srgbClr val="6A9955"/>
                </a:solidFill>
                <a:latin typeface="Consolas" pitchFamily="34" charset="0"/>
                <a:ea typeface="Consolas" pitchFamily="34" charset="-122"/>
                <a:cs typeface="Consolas" pitchFamily="34" charset="-120"/>
              </a:rPr>
              <a:t>/* 1. Fade in and slide up when the page loads (runs once) */</a:t>
            </a:r>
            <a:endParaRPr lang="en-US" sz="950" dirty="0"/>
          </a:p>
          <a:p>
            <a:pPr indent="0" marL="0">
              <a:lnSpc>
                <a:spcPct val="100000"/>
              </a:lnSpc>
              <a:buNone/>
            </a:pPr>
            <a:r>
              <a:rPr lang="en-US" sz="950" dirty="0">
                <a:solidFill>
                  <a:srgbClr val="D7BA7D"/>
                </a:solidFill>
                <a:latin typeface="Consolas" pitchFamily="34" charset="0"/>
                <a:ea typeface="Consolas" pitchFamily="34" charset="-122"/>
                <a:cs typeface="Consolas" pitchFamily="34" charset="-120"/>
              </a:rPr>
              <a:t>h1 </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animation</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fade-up</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B5CEA8"/>
                </a:solidFill>
                <a:latin typeface="Consolas" pitchFamily="34" charset="0"/>
                <a:ea typeface="Consolas" pitchFamily="34" charset="-122"/>
                <a:cs typeface="Consolas" pitchFamily="34" charset="-120"/>
              </a:rPr>
              <a:t>1s</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ease-out</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endParaRPr lang="en-US" sz="950" dirty="0"/>
          </a:p>
          <a:p>
            <a:pPr indent="0" marL="0">
              <a:lnSpc>
                <a:spcPct val="100000"/>
              </a:lnSpc>
              <a:buNone/>
            </a:pPr>
            <a:r>
              <a:rPr lang="en-US" sz="950" dirty="0">
                <a:solidFill>
                  <a:srgbClr val="C586C0"/>
                </a:solidFill>
                <a:latin typeface="Consolas" pitchFamily="34" charset="0"/>
                <a:ea typeface="Consolas" pitchFamily="34" charset="-122"/>
                <a:cs typeface="Consolas" pitchFamily="34" charset="-120"/>
              </a:rPr>
              <a:t>@keyframes</a:t>
            </a:r>
            <a:pPr indent="0" marL="0">
              <a:lnSpc>
                <a:spcPct val="100000"/>
              </a:lnSpc>
              <a:buNone/>
            </a:pPr>
            <a:r>
              <a:rPr lang="en-US" sz="950" dirty="0">
                <a:solidFill>
                  <a:srgbClr val="D7BA7D"/>
                </a:solidFill>
                <a:latin typeface="Consolas" pitchFamily="34" charset="0"/>
                <a:ea typeface="Consolas" pitchFamily="34" charset="-122"/>
                <a:cs typeface="Consolas" pitchFamily="34" charset="-120"/>
              </a:rPr>
              <a:t> fade-up </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7BA7D"/>
                </a:solidFill>
                <a:latin typeface="Consolas" pitchFamily="34" charset="0"/>
                <a:ea typeface="Consolas" pitchFamily="34" charset="-122"/>
                <a:cs typeface="Consolas" pitchFamily="34" charset="-120"/>
              </a:rPr>
              <a:t>   from </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opacity</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translateY(30px)</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endParaRPr lang="en-US" sz="950" dirty="0"/>
          </a:p>
          <a:p>
            <a:pPr indent="0" marL="0">
              <a:lnSpc>
                <a:spcPct val="100000"/>
              </a:lnSpc>
              <a:buNone/>
            </a:pPr>
            <a:r>
              <a:rPr lang="en-US" sz="950" dirty="0">
                <a:solidFill>
                  <a:srgbClr val="D7BA7D"/>
                </a:solidFill>
                <a:latin typeface="Consolas" pitchFamily="34" charset="0"/>
                <a:ea typeface="Consolas" pitchFamily="34" charset="-122"/>
                <a:cs typeface="Consolas" pitchFamily="34" charset="-120"/>
              </a:rPr>
              <a:t>   to   </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opacity</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B5CEA8"/>
                </a:solidFill>
                <a:latin typeface="Consolas" pitchFamily="34" charset="0"/>
                <a:ea typeface="Consolas" pitchFamily="34" charset="-122"/>
                <a:cs typeface="Consolas" pitchFamily="34" charset="-120"/>
              </a:rPr>
              <a:t>1</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translateY(0)</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endParaRPr lang="en-US" sz="950" dirty="0"/>
          </a:p>
          <a:p>
            <a:pPr indent="0" marL="0">
              <a:lnSpc>
                <a:spcPct val="100000"/>
              </a:lnSpc>
              <a:buNone/>
            </a:pPr>
            <a:r>
              <a:rPr lang="en-US" sz="950" dirty="0">
                <a:solidFill>
                  <a:srgbClr val="6A9955"/>
                </a:solidFill>
                <a:latin typeface="Consolas" pitchFamily="34" charset="0"/>
                <a:ea typeface="Consolas" pitchFamily="34" charset="-122"/>
                <a:cs typeface="Consolas" pitchFamily="34" charset="-120"/>
              </a:rPr>
              <a:t>/* 2. A loading spinner: a circle with one coloured side */</a:t>
            </a:r>
            <a:endParaRPr lang="en-US" sz="950" dirty="0"/>
          </a:p>
          <a:p>
            <a:pPr indent="0" marL="0">
              <a:lnSpc>
                <a:spcPct val="100000"/>
              </a:lnSpc>
              <a:buNone/>
            </a:pPr>
            <a:r>
              <a:rPr lang="en-US" sz="950" dirty="0">
                <a:solidFill>
                  <a:srgbClr val="D7BA7D"/>
                </a:solidFill>
                <a:latin typeface="Consolas" pitchFamily="34" charset="0"/>
                <a:ea typeface="Consolas" pitchFamily="34" charset="-122"/>
                <a:cs typeface="Consolas" pitchFamily="34" charset="-120"/>
              </a:rPr>
              <a:t>.spinner </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B5CEA8"/>
                </a:solidFill>
                <a:latin typeface="Consolas" pitchFamily="34" charset="0"/>
                <a:ea typeface="Consolas" pitchFamily="34" charset="-122"/>
                <a:cs typeface="Consolas" pitchFamily="34" charset="-120"/>
              </a:rPr>
              <a:t>50px</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B5CEA8"/>
                </a:solidFill>
                <a:latin typeface="Consolas" pitchFamily="34" charset="0"/>
                <a:ea typeface="Consolas" pitchFamily="34" charset="-122"/>
                <a:cs typeface="Consolas" pitchFamily="34" charset="-120"/>
              </a:rPr>
              <a:t>50px</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border</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B5CEA8"/>
                </a:solidFill>
                <a:latin typeface="Consolas" pitchFamily="34" charset="0"/>
                <a:ea typeface="Consolas" pitchFamily="34" charset="-122"/>
                <a:cs typeface="Consolas" pitchFamily="34" charset="-120"/>
              </a:rPr>
              <a:t>8px</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solid</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#E1E8EB</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border-top-color</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#1B5E82</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border-radius</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B5CEA8"/>
                </a:solidFill>
                <a:latin typeface="Consolas" pitchFamily="34" charset="0"/>
                <a:ea typeface="Consolas" pitchFamily="34" charset="-122"/>
                <a:cs typeface="Consolas" pitchFamily="34" charset="-120"/>
              </a:rPr>
              <a:t>50%</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animation</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spin</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B5CEA8"/>
                </a:solidFill>
                <a:latin typeface="Consolas" pitchFamily="34" charset="0"/>
                <a:ea typeface="Consolas" pitchFamily="34" charset="-122"/>
                <a:cs typeface="Consolas" pitchFamily="34" charset="-120"/>
              </a:rPr>
              <a:t>1s</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linear</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infinite</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endParaRPr lang="en-US" sz="950" dirty="0"/>
          </a:p>
          <a:p>
            <a:pPr indent="0" marL="0">
              <a:lnSpc>
                <a:spcPct val="100000"/>
              </a:lnSpc>
              <a:buNone/>
            </a:pPr>
            <a:r>
              <a:rPr lang="en-US" sz="950" dirty="0">
                <a:solidFill>
                  <a:srgbClr val="C586C0"/>
                </a:solidFill>
                <a:latin typeface="Consolas" pitchFamily="34" charset="0"/>
                <a:ea typeface="Consolas" pitchFamily="34" charset="-122"/>
                <a:cs typeface="Consolas" pitchFamily="34" charset="-120"/>
              </a:rPr>
              <a:t>@keyframes</a:t>
            </a:r>
            <a:pPr indent="0" marL="0">
              <a:lnSpc>
                <a:spcPct val="100000"/>
              </a:lnSpc>
              <a:buNone/>
            </a:pPr>
            <a:r>
              <a:rPr lang="en-US" sz="950" dirty="0">
                <a:solidFill>
                  <a:srgbClr val="D7BA7D"/>
                </a:solidFill>
                <a:latin typeface="Consolas" pitchFamily="34" charset="0"/>
                <a:ea typeface="Consolas" pitchFamily="34" charset="-122"/>
                <a:cs typeface="Consolas" pitchFamily="34" charset="-120"/>
              </a:rPr>
              <a:t> spin </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50" dirty="0">
                <a:solidFill>
                  <a:srgbClr val="D7BA7D"/>
                </a:solidFill>
                <a:latin typeface="Consolas" pitchFamily="34" charset="0"/>
                <a:ea typeface="Consolas" pitchFamily="34" charset="-122"/>
                <a:cs typeface="Consolas" pitchFamily="34" charset="-120"/>
              </a:rPr>
              <a:t> to </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rotate(360deg)</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D7BA7D"/>
                </a:solidFill>
                <a:latin typeface="Consolas" pitchFamily="34" charset="0"/>
                <a:ea typeface="Consolas" pitchFamily="34" charset="-122"/>
                <a:cs typeface="Consolas" pitchFamily="34" charset="-120"/>
              </a:rPr>
              <a:t> }</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endParaRPr lang="en-US" sz="950" dirty="0"/>
          </a:p>
          <a:p>
            <a:pPr indent="0" marL="0">
              <a:lnSpc>
                <a:spcPct val="100000"/>
              </a:lnSpc>
              <a:buNone/>
            </a:pPr>
            <a:r>
              <a:rPr lang="en-US" sz="950" dirty="0">
                <a:solidFill>
                  <a:srgbClr val="6A9955"/>
                </a:solidFill>
                <a:latin typeface="Consolas" pitchFamily="34" charset="0"/>
                <a:ea typeface="Consolas" pitchFamily="34" charset="-122"/>
                <a:cs typeface="Consolas" pitchFamily="34" charset="-120"/>
              </a:rPr>
              <a:t>/* 3. A "look at me" pulse */</a:t>
            </a:r>
            <a:endParaRPr lang="en-US" sz="950" dirty="0"/>
          </a:p>
          <a:p>
            <a:pPr indent="0" marL="0">
              <a:lnSpc>
                <a:spcPct val="100000"/>
              </a:lnSpc>
              <a:buNone/>
            </a:pPr>
            <a:r>
              <a:rPr lang="en-US" sz="950" dirty="0">
                <a:solidFill>
                  <a:srgbClr val="D7BA7D"/>
                </a:solidFill>
                <a:latin typeface="Consolas" pitchFamily="34" charset="0"/>
                <a:ea typeface="Consolas" pitchFamily="34" charset="-122"/>
                <a:cs typeface="Consolas" pitchFamily="34" charset="-120"/>
              </a:rPr>
              <a:t>.badge </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inline-block</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B5CEA8"/>
                </a:solidFill>
                <a:latin typeface="Consolas" pitchFamily="34" charset="0"/>
                <a:ea typeface="Consolas" pitchFamily="34" charset="-122"/>
                <a:cs typeface="Consolas" pitchFamily="34" charset="-120"/>
              </a:rPr>
              <a:t>6px</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B5CEA8"/>
                </a:solidFill>
                <a:latin typeface="Consolas" pitchFamily="34" charset="0"/>
                <a:ea typeface="Consolas" pitchFamily="34" charset="-122"/>
                <a:cs typeface="Consolas" pitchFamily="34" charset="-120"/>
              </a:rPr>
              <a:t>14px</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border-radius</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B5CEA8"/>
                </a:solidFill>
                <a:latin typeface="Consolas" pitchFamily="34" charset="0"/>
                <a:ea typeface="Consolas" pitchFamily="34" charset="-122"/>
                <a:cs typeface="Consolas" pitchFamily="34" charset="-120"/>
              </a:rPr>
              <a:t>20px</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#C62828</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animation</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pulse</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B5CEA8"/>
                </a:solidFill>
                <a:latin typeface="Consolas" pitchFamily="34" charset="0"/>
                <a:ea typeface="Consolas" pitchFamily="34" charset="-122"/>
                <a:cs typeface="Consolas" pitchFamily="34" charset="-120"/>
              </a:rPr>
              <a:t>1.5s</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ease-in-out</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infinite</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endParaRPr lang="en-US" sz="950" dirty="0"/>
          </a:p>
          <a:p>
            <a:pPr indent="0" marL="0">
              <a:lnSpc>
                <a:spcPct val="100000"/>
              </a:lnSpc>
              <a:buNone/>
            </a:pPr>
            <a:r>
              <a:rPr lang="en-US" sz="950" dirty="0">
                <a:solidFill>
                  <a:srgbClr val="C586C0"/>
                </a:solidFill>
                <a:latin typeface="Consolas" pitchFamily="34" charset="0"/>
                <a:ea typeface="Consolas" pitchFamily="34" charset="-122"/>
                <a:cs typeface="Consolas" pitchFamily="34" charset="-120"/>
              </a:rPr>
              <a:t>@keyframes</a:t>
            </a:r>
            <a:pPr indent="0" marL="0">
              <a:lnSpc>
                <a:spcPct val="100000"/>
              </a:lnSpc>
              <a:buNone/>
            </a:pPr>
            <a:r>
              <a:rPr lang="en-US" sz="950" dirty="0">
                <a:solidFill>
                  <a:srgbClr val="D7BA7D"/>
                </a:solidFill>
                <a:latin typeface="Consolas" pitchFamily="34" charset="0"/>
                <a:ea typeface="Consolas" pitchFamily="34" charset="-122"/>
                <a:cs typeface="Consolas" pitchFamily="34" charset="-120"/>
              </a:rPr>
              <a:t> pulse </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50" dirty="0">
                <a:solidFill>
                  <a:srgbClr val="D7BA7D"/>
                </a:solidFill>
                <a:latin typeface="Consolas" pitchFamily="34" charset="0"/>
                <a:ea typeface="Consolas" pitchFamily="34" charset="-122"/>
                <a:cs typeface="Consolas" pitchFamily="34" charset="-120"/>
              </a:rPr>
              <a:t> 50% </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scale(1.15)</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D7BA7D"/>
                </a:solidFill>
                <a:latin typeface="Consolas" pitchFamily="34" charset="0"/>
                <a:ea typeface="Consolas" pitchFamily="34" charset="-122"/>
                <a:cs typeface="Consolas" pitchFamily="34" charset="-120"/>
              </a:rPr>
              <a:t> }</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endParaRPr lang="en-US" sz="950" dirty="0"/>
          </a:p>
          <a:p>
            <a:pPr indent="0" marL="0">
              <a:lnSpc>
                <a:spcPct val="100000"/>
              </a:lnSpc>
              <a:buNone/>
            </a:pPr>
            <a:r>
              <a:rPr lang="en-US" sz="950" dirty="0">
                <a:solidFill>
                  <a:srgbClr val="6A9955"/>
                </a:solidFill>
                <a:latin typeface="Consolas" pitchFamily="34" charset="0"/>
                <a:ea typeface="Consolas" pitchFamily="34" charset="-122"/>
                <a:cs typeface="Consolas" pitchFamily="34" charset="-120"/>
              </a:rPr>
              <a:t>/* 4. Respect people who turn animations off in their settings */</a:t>
            </a:r>
            <a:endParaRPr lang="en-US" sz="950" dirty="0"/>
          </a:p>
          <a:p>
            <a:pPr indent="0" marL="0">
              <a:lnSpc>
                <a:spcPct val="100000"/>
              </a:lnSpc>
              <a:buNone/>
            </a:pPr>
            <a:r>
              <a:rPr lang="en-US" sz="950" dirty="0">
                <a:solidFill>
                  <a:srgbClr val="C586C0"/>
                </a:solidFill>
                <a:latin typeface="Consolas" pitchFamily="34" charset="0"/>
                <a:ea typeface="Consolas" pitchFamily="34" charset="-122"/>
                <a:cs typeface="Consolas" pitchFamily="34" charset="-120"/>
              </a:rPr>
              <a:t>@media</a:t>
            </a:r>
            <a:pPr indent="0" marL="0">
              <a:lnSpc>
                <a:spcPct val="100000"/>
              </a:lnSpc>
              <a:buNone/>
            </a:pPr>
            <a:r>
              <a:rPr lang="en-US" sz="950" dirty="0">
                <a:solidFill>
                  <a:srgbClr val="D7BA7D"/>
                </a:solidFill>
                <a:latin typeface="Consolas" pitchFamily="34" charset="0"/>
                <a:ea typeface="Consolas" pitchFamily="34" charset="-122"/>
                <a:cs typeface="Consolas" pitchFamily="34" charset="-120"/>
              </a:rPr>
              <a:t> (prefers-reduced-motion: reduce) </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h</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1, .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spinner</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badge</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9CDCFE"/>
                </a:solidFill>
                <a:latin typeface="Consolas" pitchFamily="34" charset="0"/>
                <a:ea typeface="Consolas" pitchFamily="34" charset="-122"/>
                <a:cs typeface="Consolas" pitchFamily="34" charset="-120"/>
              </a:rPr>
              <a:t>animation</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5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   }</a:t>
            </a:r>
            <a:endParaRPr lang="en-US" sz="950" dirty="0"/>
          </a:p>
          <a:p>
            <a:pPr indent="0" marL="0">
              <a:lnSpc>
                <a:spcPct val="100000"/>
              </a:lnSpc>
              <a:buNone/>
            </a:pPr>
            <a:r>
              <a:rPr lang="en-US" sz="950" dirty="0">
                <a:solidFill>
                  <a:srgbClr val="D4D4D4"/>
                </a:solidFill>
                <a:latin typeface="Consolas" pitchFamily="34" charset="0"/>
                <a:ea typeface="Consolas" pitchFamily="34" charset="-122"/>
                <a:cs typeface="Consolas" pitchFamily="34" charset="-120"/>
              </a:rPr>
              <a:t>}</a:t>
            </a:r>
            <a:endParaRPr lang="en-US" sz="9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ANIMATION 7 · EXAMPLE 12</a:t>
            </a:r>
            <a:endParaRPr lang="en-US" sz="1400" dirty="0"/>
          </a:p>
        </p:txBody>
      </p:sp>
      <p:sp>
        <p:nvSpPr>
          <p:cNvPr id="6" name="Text 3"/>
          <p:cNvSpPr txBox="1"/>
          <p:nvPr/>
        </p:nvSpPr>
        <p:spPr>
          <a:xfrm>
            <a:off x="6812280" y="731520"/>
            <a:ext cx="4967935" cy="960120"/>
          </a:xfrm>
          <a:prstGeom prst="rect">
            <a:avLst/>
          </a:prstGeom>
          <a:noFill/>
          <a:ln/>
        </p:spPr>
        <p:txBody>
          <a:bodyPr wrap="square" lIns="0" tIns="0" rIns="0" bIns="0" rtlCol="0" anchor="t"/>
          <a:lstStyle/>
          <a:p>
            <a:pPr indent="0" marL="0">
              <a:buNone/>
            </a:pPr>
            <a:r>
              <a:rPr lang="en-US" sz="2600" dirty="0">
                <a:solidFill>
                  <a:srgbClr val="000000"/>
                </a:solidFill>
                <a:latin typeface="Aptos" pitchFamily="34" charset="0"/>
                <a:ea typeface="Aptos" pitchFamily="34" charset="-122"/>
                <a:cs typeface="Aptos" pitchFamily="34" charset="-120"/>
              </a:rPr>
              <a:t>Real Websites, and Being Kind</a:t>
            </a:r>
            <a:endParaRPr lang="en-US" sz="2600" dirty="0"/>
          </a:p>
        </p:txBody>
      </p:sp>
      <p:pic>
        <p:nvPicPr>
          <p:cNvPr id="7" name="Image 1" descr="C:\Repos\2026-2027\WEBD1000\06_Selectors_and_Animation\_build\shots\ex12.png">    </p:cNvPr>
          <p:cNvPicPr>
            <a:picLocks noChangeAspect="1"/>
          </p:cNvPicPr>
          <p:nvPr/>
        </p:nvPicPr>
        <p:blipFill>
          <a:blip r:embed="rId2"/>
          <a:stretch>
            <a:fillRect/>
          </a:stretch>
        </p:blipFill>
        <p:spPr>
          <a:xfrm>
            <a:off x="6812280" y="4193667"/>
            <a:ext cx="4967935" cy="2069973"/>
          </a:xfrm>
          <a:prstGeom prst="rect">
            <a:avLst/>
          </a:prstGeom>
        </p:spPr>
      </p:pic>
      <p:sp>
        <p:nvSpPr>
          <p:cNvPr id="8" name="Shape 4"/>
          <p:cNvSpPr/>
          <p:nvPr/>
        </p:nvSpPr>
        <p:spPr>
          <a:xfrm>
            <a:off x="6812280" y="4193667"/>
            <a:ext cx="4967935" cy="2069973"/>
          </a:xfrm>
          <a:prstGeom prst="rect">
            <a:avLst/>
          </a:prstGeom>
          <a:ln w="12700">
            <a:solidFill>
              <a:srgbClr val="B0B8BC"/>
            </a:solidFill>
            <a:prstDash val="solid"/>
          </a:ln>
        </p:spPr>
      </p:sp>
      <p:sp>
        <p:nvSpPr>
          <p:cNvPr id="9" name="Text 5"/>
          <p:cNvSpPr txBox="1"/>
          <p:nvPr/>
        </p:nvSpPr>
        <p:spPr>
          <a:xfrm>
            <a:off x="6812280" y="3901059"/>
            <a:ext cx="496793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PAUSED AT 0.5 SECONDS</a:t>
            </a:r>
            <a:endParaRPr lang="en-US" sz="1100" dirty="0"/>
          </a:p>
        </p:txBody>
      </p:sp>
      <p:sp>
        <p:nvSpPr>
          <p:cNvPr id="10" name="Text 6"/>
          <p:cNvSpPr txBox="1"/>
          <p:nvPr/>
        </p:nvSpPr>
        <p:spPr>
          <a:xfrm>
            <a:off x="6812280" y="1783080"/>
            <a:ext cx="4967935" cy="2026539"/>
          </a:xfrm>
          <a:prstGeom prst="rect">
            <a:avLst/>
          </a:prstGeom>
          <a:noFill/>
          <a:ln/>
        </p:spPr>
        <p:txBody>
          <a:bodyPr wrap="square" lIns="0" tIns="0" rIns="0" bIns="0" rtlCol="0" anchor="t"/>
          <a:lstStyle/>
          <a:p>
            <a:pPr marL="342900" indent="-342900">
              <a:buSzPct val="100000"/>
              <a:buChar char="•"/>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Real sites use small animations: </a:t>
            </a:r>
            <a:pPr indent="0" marL="0">
              <a:buNone/>
            </a:pPr>
            <a:r>
              <a:rPr lang="en-US" sz="1300" b="1" dirty="0">
                <a:solidFill>
                  <a:srgbClr val="262626"/>
                </a:solidFill>
                <a:latin typeface="Aptos" pitchFamily="34" charset="0"/>
                <a:ea typeface="Aptos" pitchFamily="34" charset="-122"/>
                <a:cs typeface="Aptos" pitchFamily="34" charset="-120"/>
              </a:rPr>
              <a:t>fade in</a:t>
            </a:r>
            <a:pPr indent="0" marL="0">
              <a:buNone/>
            </a:pPr>
            <a:r>
              <a:rPr lang="en-US" sz="1300" dirty="0">
                <a:solidFill>
                  <a:srgbClr val="262626"/>
                </a:solidFill>
                <a:latin typeface="Aptos" pitchFamily="34" charset="0"/>
                <a:ea typeface="Aptos" pitchFamily="34" charset="-122"/>
                <a:cs typeface="Aptos" pitchFamily="34" charset="-120"/>
              </a:rPr>
              <a:t>, </a:t>
            </a:r>
            <a:pPr indent="0" marL="0">
              <a:buNone/>
            </a:pPr>
            <a:r>
              <a:rPr lang="en-US" sz="1300" b="1" dirty="0">
                <a:solidFill>
                  <a:srgbClr val="262626"/>
                </a:solidFill>
                <a:latin typeface="Aptos" pitchFamily="34" charset="0"/>
                <a:ea typeface="Aptos" pitchFamily="34" charset="-122"/>
                <a:cs typeface="Aptos" pitchFamily="34" charset="-120"/>
              </a:rPr>
              <a:t>loading spinners</a:t>
            </a:r>
            <a:pPr indent="0" marL="0">
              <a:buNone/>
            </a:pPr>
            <a:r>
              <a:rPr lang="en-US" sz="1300" dirty="0">
                <a:solidFill>
                  <a:srgbClr val="262626"/>
                </a:solidFill>
                <a:latin typeface="Aptos" pitchFamily="34" charset="0"/>
                <a:ea typeface="Aptos" pitchFamily="34" charset="-122"/>
                <a:cs typeface="Aptos" pitchFamily="34" charset="-120"/>
              </a:rPr>
              <a:t>, a </a:t>
            </a:r>
            <a:pPr indent="0" marL="0">
              <a:buNone/>
            </a:pPr>
            <a:r>
              <a:rPr lang="en-US" sz="1300" b="1" dirty="0">
                <a:solidFill>
                  <a:srgbClr val="262626"/>
                </a:solidFill>
                <a:latin typeface="Aptos" pitchFamily="34" charset="0"/>
                <a:ea typeface="Aptos" pitchFamily="34" charset="-122"/>
                <a:cs typeface="Aptos" pitchFamily="34" charset="-120"/>
              </a:rPr>
              <a:t>pulse</a:t>
            </a:r>
            <a:pPr indent="0" marL="0">
              <a:buNone/>
            </a:pPr>
            <a:r>
              <a:rPr lang="en-US" sz="1300" dirty="0">
                <a:solidFill>
                  <a:srgbClr val="262626"/>
                </a:solidFill>
                <a:latin typeface="Aptos" pitchFamily="34" charset="0"/>
                <a:ea typeface="Aptos" pitchFamily="34" charset="-122"/>
                <a:cs typeface="Aptos" pitchFamily="34" charset="-120"/>
              </a:rPr>
              <a:t> to catch your eye.</a:t>
            </a:r>
            <a:endParaRPr lang="en-US" sz="1300" dirty="0"/>
          </a:p>
          <a:p>
            <a:pPr marL="342900" indent="-342900">
              <a:spcBef>
                <a:spcPts val="900"/>
              </a:spcBef>
              <a:buSzPct val="100000"/>
              <a:buChar char="•"/>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prefers-reduced-motion</a:t>
            </a:r>
            <a:pPr indent="0" marL="0">
              <a:buNone/>
            </a:pPr>
            <a:r>
              <a:rPr lang="en-US" sz="1300" dirty="0">
                <a:solidFill>
                  <a:srgbClr val="262626"/>
                </a:solidFill>
                <a:latin typeface="Aptos" pitchFamily="34" charset="0"/>
                <a:ea typeface="Aptos" pitchFamily="34" charset="-122"/>
                <a:cs typeface="Aptos" pitchFamily="34" charset="-120"/>
              </a:rPr>
              <a:t>: some people get dizzy or sick from motion. Turn it off for them.</a:t>
            </a:r>
            <a:endParaRPr lang="en-US" sz="1300" dirty="0"/>
          </a:p>
          <a:p>
            <a:pPr marL="342900" indent="-342900">
              <a:spcBef>
                <a:spcPts val="900"/>
              </a:spcBef>
              <a:buSzPct val="100000"/>
              <a:buChar char="•"/>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Animate </a:t>
            </a:r>
            <a:pPr indent="0" marL="0">
              <a:buNone/>
            </a:pPr>
            <a:r>
              <a:rPr lang="en-US" sz="1300" dirty="0">
                <a:solidFill>
                  <a:srgbClr val="8A2B0B"/>
                </a:solidFill>
                <a:latin typeface="Consolas" pitchFamily="34" charset="0"/>
                <a:ea typeface="Consolas" pitchFamily="34" charset="-122"/>
                <a:cs typeface="Consolas" pitchFamily="34" charset="-120"/>
              </a:rPr>
              <a:t>transform</a:t>
            </a:r>
            <a:pPr indent="0" marL="0">
              <a:buNone/>
            </a:pPr>
            <a:r>
              <a:rPr lang="en-US" sz="1300" dirty="0">
                <a:solidFill>
                  <a:srgbClr val="262626"/>
                </a:solidFill>
                <a:latin typeface="Aptos" pitchFamily="34" charset="0"/>
                <a:ea typeface="Aptos" pitchFamily="34" charset="-122"/>
                <a:cs typeface="Aptos" pitchFamily="34" charset="-120"/>
              </a:rPr>
              <a:t> and </a:t>
            </a:r>
            <a:pPr indent="0" marL="0">
              <a:buNone/>
            </a:pPr>
            <a:r>
              <a:rPr lang="en-US" sz="1300" dirty="0">
                <a:solidFill>
                  <a:srgbClr val="8A2B0B"/>
                </a:solidFill>
                <a:latin typeface="Consolas" pitchFamily="34" charset="0"/>
                <a:ea typeface="Consolas" pitchFamily="34" charset="-122"/>
                <a:cs typeface="Consolas" pitchFamily="34" charset="-120"/>
              </a:rPr>
              <a:t>opacity</a:t>
            </a:r>
            <a:pPr indent="0" marL="0">
              <a:buNone/>
            </a:pPr>
            <a:r>
              <a:rPr lang="en-US" sz="1300" dirty="0">
                <a:solidFill>
                  <a:srgbClr val="262626"/>
                </a:solidFill>
                <a:latin typeface="Aptos" pitchFamily="34" charset="0"/>
                <a:ea typeface="Aptos" pitchFamily="34" charset="-122"/>
                <a:cs typeface="Aptos" pitchFamily="34" charset="-120"/>
              </a:rPr>
              <a:t> (smooth). Never flash more than 3 times a second.</a:t>
            </a:r>
            <a:endParaRPr lang="en-US" sz="130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12_real_world_example.html</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The Animation Playground (40 min)</a:t>
            </a:r>
            <a:endParaRPr lang="en-US" sz="2800" dirty="0"/>
          </a:p>
        </p:txBody>
      </p:sp>
      <p:pic>
        <p:nvPicPr>
          <p:cNvPr id="4" name="Image 0" descr="C:\Repos\2026-2027\WEBD1000\06_Selectors_and_Animation\_build\shots\playground.png">    </p:cNvPr>
          <p:cNvPicPr>
            <a:picLocks noChangeAspect="1"/>
          </p:cNvPicPr>
          <p:nvPr/>
        </p:nvPicPr>
        <p:blipFill>
          <a:blip r:embed="rId1"/>
          <a:stretch>
            <a:fillRect/>
          </a:stretch>
        </p:blipFill>
        <p:spPr>
          <a:xfrm>
            <a:off x="685800" y="1325880"/>
            <a:ext cx="3520440" cy="5029200"/>
          </a:xfrm>
          <a:prstGeom prst="rect">
            <a:avLst/>
          </a:prstGeom>
        </p:spPr>
      </p:pic>
      <p:sp>
        <p:nvSpPr>
          <p:cNvPr id="5" name="Shape 1"/>
          <p:cNvSpPr/>
          <p:nvPr/>
        </p:nvSpPr>
        <p:spPr>
          <a:xfrm>
            <a:off x="685800" y="1325880"/>
            <a:ext cx="3520440" cy="5029200"/>
          </a:xfrm>
          <a:prstGeom prst="rect">
            <a:avLst/>
          </a:prstGeom>
          <a:ln w="12700">
            <a:solidFill>
              <a:srgbClr val="B0B8BC"/>
            </a:solidFill>
            <a:prstDash val="solid"/>
          </a:ln>
        </p:spPr>
      </p:sp>
      <p:sp>
        <p:nvSpPr>
          <p:cNvPr id="6" name="Shape 2"/>
          <p:cNvSpPr/>
          <p:nvPr/>
        </p:nvSpPr>
        <p:spPr>
          <a:xfrm>
            <a:off x="4617720" y="1325880"/>
            <a:ext cx="7025335"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7" name="Text 3"/>
          <p:cNvSpPr txBox="1"/>
          <p:nvPr/>
        </p:nvSpPr>
        <p:spPr>
          <a:xfrm>
            <a:off x="4892040" y="1463040"/>
            <a:ext cx="6476695" cy="41148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Four stages. Make them all move!</a:t>
            </a:r>
            <a:endParaRPr lang="en-US" sz="1800" dirty="0"/>
          </a:p>
        </p:txBody>
      </p:sp>
      <p:sp>
        <p:nvSpPr>
          <p:cNvPr id="8" name="Shape 4"/>
          <p:cNvSpPr/>
          <p:nvPr/>
        </p:nvSpPr>
        <p:spPr>
          <a:xfrm>
            <a:off x="4892040" y="2057400"/>
            <a:ext cx="365760" cy="365760"/>
          </a:xfrm>
          <a:prstGeom prst="ellipse">
            <a:avLst/>
          </a:prstGeom>
          <a:solidFill>
            <a:srgbClr val="E97132"/>
          </a:solidFill>
          <a:ln w="12700">
            <a:solidFill>
              <a:srgbClr val="E97132"/>
            </a:solidFill>
            <a:prstDash val="solid"/>
          </a:ln>
        </p:spPr>
      </p:sp>
      <p:sp>
        <p:nvSpPr>
          <p:cNvPr id="9" name="Text 5"/>
          <p:cNvSpPr txBox="1"/>
          <p:nvPr/>
        </p:nvSpPr>
        <p:spPr>
          <a:xfrm>
            <a:off x="4892040" y="20574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0" name="Text 6"/>
          <p:cNvSpPr txBox="1"/>
          <p:nvPr/>
        </p:nvSpPr>
        <p:spPr>
          <a:xfrm>
            <a:off x="5394960" y="2011680"/>
            <a:ext cx="3108960" cy="45720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Roll</a:t>
            </a:r>
            <a:endParaRPr lang="en-US" sz="1550" dirty="0"/>
          </a:p>
        </p:txBody>
      </p:sp>
      <p:sp>
        <p:nvSpPr>
          <p:cNvPr id="11" name="Text 7"/>
          <p:cNvSpPr txBox="1"/>
          <p:nvPr/>
        </p:nvSpPr>
        <p:spPr>
          <a:xfrm>
            <a:off x="8275320" y="2011680"/>
            <a:ext cx="3184855" cy="457200"/>
          </a:xfrm>
          <a:prstGeom prst="rect">
            <a:avLst/>
          </a:prstGeom>
          <a:noFill/>
          <a:ln/>
        </p:spPr>
        <p:txBody>
          <a:bodyPr wrap="square" lIns="0" tIns="0" rIns="0" bIns="0" rtlCol="0" anchor="ctr"/>
          <a:lstStyle/>
          <a:p>
            <a:pPr indent="0" marL="0">
              <a:buNone/>
            </a:pPr>
            <a:r>
              <a:rPr lang="en-US" sz="1300" dirty="0">
                <a:solidFill>
                  <a:srgbClr val="595959"/>
                </a:solidFill>
                <a:latin typeface="Aptos" pitchFamily="34" charset="0"/>
                <a:ea typeface="Aptos" pitchFamily="34" charset="-122"/>
                <a:cs typeface="Aptos" pitchFamily="34" charset="-120"/>
              </a:rPr>
              <a:t>a ball rolls across</a:t>
            </a:r>
            <a:endParaRPr lang="en-US" sz="1300" dirty="0"/>
          </a:p>
        </p:txBody>
      </p:sp>
      <p:sp>
        <p:nvSpPr>
          <p:cNvPr id="12" name="Shape 8"/>
          <p:cNvSpPr/>
          <p:nvPr/>
        </p:nvSpPr>
        <p:spPr>
          <a:xfrm>
            <a:off x="4892040" y="2532888"/>
            <a:ext cx="365760" cy="365760"/>
          </a:xfrm>
          <a:prstGeom prst="ellipse">
            <a:avLst/>
          </a:prstGeom>
          <a:solidFill>
            <a:srgbClr val="0F9ED5"/>
          </a:solidFill>
          <a:ln w="12700">
            <a:solidFill>
              <a:srgbClr val="0F9ED5"/>
            </a:solidFill>
            <a:prstDash val="solid"/>
          </a:ln>
        </p:spPr>
      </p:sp>
      <p:sp>
        <p:nvSpPr>
          <p:cNvPr id="13" name="Text 9"/>
          <p:cNvSpPr txBox="1"/>
          <p:nvPr/>
        </p:nvSpPr>
        <p:spPr>
          <a:xfrm>
            <a:off x="4892040" y="25328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4" name="Text 10"/>
          <p:cNvSpPr txBox="1"/>
          <p:nvPr/>
        </p:nvSpPr>
        <p:spPr>
          <a:xfrm>
            <a:off x="5394960" y="2487168"/>
            <a:ext cx="3108960" cy="45720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Ping-pong</a:t>
            </a:r>
            <a:endParaRPr lang="en-US" sz="1550" dirty="0"/>
          </a:p>
        </p:txBody>
      </p:sp>
      <p:sp>
        <p:nvSpPr>
          <p:cNvPr id="15" name="Text 11"/>
          <p:cNvSpPr txBox="1"/>
          <p:nvPr/>
        </p:nvSpPr>
        <p:spPr>
          <a:xfrm>
            <a:off x="8275320" y="2487168"/>
            <a:ext cx="3184855" cy="457200"/>
          </a:xfrm>
          <a:prstGeom prst="rect">
            <a:avLst/>
          </a:prstGeom>
          <a:noFill/>
          <a:ln/>
        </p:spPr>
        <p:txBody>
          <a:bodyPr wrap="square" lIns="0" tIns="0" rIns="0" bIns="0" rtlCol="0" anchor="ctr"/>
          <a:lstStyle/>
          <a:p>
            <a:pPr indent="0" marL="0">
              <a:buNone/>
            </a:pPr>
            <a:r>
              <a:rPr lang="en-US" sz="1300" dirty="0">
                <a:solidFill>
                  <a:srgbClr val="595959"/>
                </a:solidFill>
                <a:latin typeface="Aptos" pitchFamily="34" charset="0"/>
                <a:ea typeface="Aptos" pitchFamily="34" charset="-122"/>
                <a:cs typeface="Aptos" pitchFamily="34" charset="-120"/>
              </a:rPr>
              <a:t>back and forth, forever</a:t>
            </a:r>
            <a:endParaRPr lang="en-US" sz="1300" dirty="0"/>
          </a:p>
        </p:txBody>
      </p:sp>
      <p:sp>
        <p:nvSpPr>
          <p:cNvPr id="16" name="Shape 12"/>
          <p:cNvSpPr/>
          <p:nvPr/>
        </p:nvSpPr>
        <p:spPr>
          <a:xfrm>
            <a:off x="4892040" y="3008376"/>
            <a:ext cx="365760" cy="365760"/>
          </a:xfrm>
          <a:prstGeom prst="ellipse">
            <a:avLst/>
          </a:prstGeom>
          <a:solidFill>
            <a:srgbClr val="1B5E82"/>
          </a:solidFill>
          <a:ln w="12700">
            <a:solidFill>
              <a:srgbClr val="1B5E82"/>
            </a:solidFill>
            <a:prstDash val="solid"/>
          </a:ln>
        </p:spPr>
      </p:sp>
      <p:sp>
        <p:nvSpPr>
          <p:cNvPr id="17" name="Text 13"/>
          <p:cNvSpPr txBox="1"/>
          <p:nvPr/>
        </p:nvSpPr>
        <p:spPr>
          <a:xfrm>
            <a:off x="4892040" y="30083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8" name="Text 14"/>
          <p:cNvSpPr txBox="1"/>
          <p:nvPr/>
        </p:nvSpPr>
        <p:spPr>
          <a:xfrm>
            <a:off x="5394960" y="2962656"/>
            <a:ext cx="3108960" cy="45720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Pinwheel</a:t>
            </a:r>
            <a:endParaRPr lang="en-US" sz="1550" dirty="0"/>
          </a:p>
        </p:txBody>
      </p:sp>
      <p:sp>
        <p:nvSpPr>
          <p:cNvPr id="19" name="Text 15"/>
          <p:cNvSpPr txBox="1"/>
          <p:nvPr/>
        </p:nvSpPr>
        <p:spPr>
          <a:xfrm>
            <a:off x="8275320" y="2962656"/>
            <a:ext cx="3184855" cy="457200"/>
          </a:xfrm>
          <a:prstGeom prst="rect">
            <a:avLst/>
          </a:prstGeom>
          <a:noFill/>
          <a:ln/>
        </p:spPr>
        <p:txBody>
          <a:bodyPr wrap="square" lIns="0" tIns="0" rIns="0" bIns="0" rtlCol="0" anchor="ctr"/>
          <a:lstStyle/>
          <a:p>
            <a:pPr indent="0" marL="0">
              <a:buNone/>
            </a:pPr>
            <a:r>
              <a:rPr lang="en-US" sz="1300" dirty="0">
                <a:solidFill>
                  <a:srgbClr val="595959"/>
                </a:solidFill>
                <a:latin typeface="Aptos" pitchFamily="34" charset="0"/>
                <a:ea typeface="Aptos" pitchFamily="34" charset="-122"/>
                <a:cs typeface="Aptos" pitchFamily="34" charset="-120"/>
              </a:rPr>
              <a:t>spin, spin, spin</a:t>
            </a:r>
            <a:endParaRPr lang="en-US" sz="1300" dirty="0"/>
          </a:p>
        </p:txBody>
      </p:sp>
      <p:sp>
        <p:nvSpPr>
          <p:cNvPr id="20" name="Shape 16"/>
          <p:cNvSpPr/>
          <p:nvPr/>
        </p:nvSpPr>
        <p:spPr>
          <a:xfrm>
            <a:off x="4892040" y="3483864"/>
            <a:ext cx="365760" cy="365760"/>
          </a:xfrm>
          <a:prstGeom prst="ellipse">
            <a:avLst/>
          </a:prstGeom>
          <a:solidFill>
            <a:srgbClr val="A02B93"/>
          </a:solidFill>
          <a:ln w="12700">
            <a:solidFill>
              <a:srgbClr val="A02B93"/>
            </a:solidFill>
            <a:prstDash val="solid"/>
          </a:ln>
        </p:spPr>
      </p:sp>
      <p:sp>
        <p:nvSpPr>
          <p:cNvPr id="21" name="Text 17"/>
          <p:cNvSpPr txBox="1"/>
          <p:nvPr/>
        </p:nvSpPr>
        <p:spPr>
          <a:xfrm>
            <a:off x="4892040" y="34838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22" name="Text 18"/>
          <p:cNvSpPr txBox="1"/>
          <p:nvPr/>
        </p:nvSpPr>
        <p:spPr>
          <a:xfrm>
            <a:off x="5394960" y="3438144"/>
            <a:ext cx="3108960" cy="45720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Pulse</a:t>
            </a:r>
            <a:endParaRPr lang="en-US" sz="1550" dirty="0"/>
          </a:p>
        </p:txBody>
      </p:sp>
      <p:sp>
        <p:nvSpPr>
          <p:cNvPr id="23" name="Text 19"/>
          <p:cNvSpPr txBox="1"/>
          <p:nvPr/>
        </p:nvSpPr>
        <p:spPr>
          <a:xfrm>
            <a:off x="8275320" y="3438144"/>
            <a:ext cx="3184855" cy="457200"/>
          </a:xfrm>
          <a:prstGeom prst="rect">
            <a:avLst/>
          </a:prstGeom>
          <a:noFill/>
          <a:ln/>
        </p:spPr>
        <p:txBody>
          <a:bodyPr wrap="square" lIns="0" tIns="0" rIns="0" bIns="0" rtlCol="0" anchor="ctr"/>
          <a:lstStyle/>
          <a:p>
            <a:pPr indent="0" marL="0">
              <a:buNone/>
            </a:pPr>
            <a:r>
              <a:rPr lang="en-US" sz="1300" dirty="0">
                <a:solidFill>
                  <a:srgbClr val="595959"/>
                </a:solidFill>
                <a:latin typeface="Aptos" pitchFamily="34" charset="0"/>
                <a:ea typeface="Aptos" pitchFamily="34" charset="-122"/>
                <a:cs typeface="Aptos" pitchFamily="34" charset="-120"/>
              </a:rPr>
              <a:t>grow and change colour</a:t>
            </a:r>
            <a:endParaRPr lang="en-US" sz="1300" dirty="0"/>
          </a:p>
        </p:txBody>
      </p:sp>
      <p:sp>
        <p:nvSpPr>
          <p:cNvPr id="24" name="Shape 20"/>
          <p:cNvSpPr/>
          <p:nvPr/>
        </p:nvSpPr>
        <p:spPr>
          <a:xfrm>
            <a:off x="4892040" y="3959352"/>
            <a:ext cx="365760" cy="365760"/>
          </a:xfrm>
          <a:prstGeom prst="ellipse">
            <a:avLst/>
          </a:prstGeom>
          <a:solidFill>
            <a:srgbClr val="2E7D32"/>
          </a:solidFill>
          <a:ln w="12700">
            <a:solidFill>
              <a:srgbClr val="2E7D32"/>
            </a:solidFill>
            <a:prstDash val="solid"/>
          </a:ln>
        </p:spPr>
      </p:sp>
      <p:sp>
        <p:nvSpPr>
          <p:cNvPr id="25" name="Text 21"/>
          <p:cNvSpPr txBox="1"/>
          <p:nvPr/>
        </p:nvSpPr>
        <p:spPr>
          <a:xfrm>
            <a:off x="4892040" y="39593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a:t>
            </a:r>
            <a:endParaRPr lang="en-US" sz="1300" dirty="0"/>
          </a:p>
        </p:txBody>
      </p:sp>
      <p:sp>
        <p:nvSpPr>
          <p:cNvPr id="26" name="Text 22"/>
          <p:cNvSpPr txBox="1"/>
          <p:nvPr/>
        </p:nvSpPr>
        <p:spPr>
          <a:xfrm>
            <a:off x="5394960" y="3913632"/>
            <a:ext cx="3108960" cy="45720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Bonus: Around the Block</a:t>
            </a:r>
            <a:endParaRPr lang="en-US" sz="1550" dirty="0"/>
          </a:p>
        </p:txBody>
      </p:sp>
      <p:sp>
        <p:nvSpPr>
          <p:cNvPr id="27" name="Text 23"/>
          <p:cNvSpPr txBox="1"/>
          <p:nvPr/>
        </p:nvSpPr>
        <p:spPr>
          <a:xfrm>
            <a:off x="8275320" y="3913632"/>
            <a:ext cx="3184855" cy="457200"/>
          </a:xfrm>
          <a:prstGeom prst="rect">
            <a:avLst/>
          </a:prstGeom>
          <a:noFill/>
          <a:ln/>
        </p:spPr>
        <p:txBody>
          <a:bodyPr wrap="square" lIns="0" tIns="0" rIns="0" bIns="0" rtlCol="0" anchor="ctr"/>
          <a:lstStyle/>
          <a:p>
            <a:pPr indent="0" marL="0">
              <a:buNone/>
            </a:pPr>
            <a:r>
              <a:rPr lang="en-US" sz="1300" dirty="0">
                <a:solidFill>
                  <a:srgbClr val="595959"/>
                </a:solidFill>
                <a:latin typeface="Aptos" pitchFamily="34" charset="0"/>
                <a:ea typeface="Aptos" pitchFamily="34" charset="-122"/>
                <a:cs typeface="Aptos" pitchFamily="34" charset="-120"/>
              </a:rPr>
              <a:t>if you finish early</a:t>
            </a:r>
            <a:endParaRPr lang="en-US" sz="1300" dirty="0"/>
          </a:p>
        </p:txBody>
      </p:sp>
      <p:sp>
        <p:nvSpPr>
          <p:cNvPr id="28" name="Shape 24"/>
          <p:cNvSpPr/>
          <p:nvPr/>
        </p:nvSpPr>
        <p:spPr>
          <a:xfrm>
            <a:off x="4892040" y="4572000"/>
            <a:ext cx="6476695" cy="1600200"/>
          </a:xfrm>
          <a:prstGeom prst="roundRect">
            <a:avLst>
              <a:gd name="adj" fmla="val 6857"/>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29" name="Text 25"/>
          <p:cNvSpPr txBox="1"/>
          <p:nvPr/>
        </p:nvSpPr>
        <p:spPr>
          <a:xfrm>
            <a:off x="5120640" y="4663440"/>
            <a:ext cx="6019495" cy="365760"/>
          </a:xfrm>
          <a:prstGeom prst="rect">
            <a:avLst/>
          </a:prstGeom>
          <a:noFill/>
          <a:ln/>
        </p:spPr>
        <p:txBody>
          <a:bodyPr wrap="square" lIns="0" tIns="0" rIns="0" bIns="0" rtlCol="0" anchor="ctr"/>
          <a:lstStyle/>
          <a:p>
            <a:pPr indent="0" marL="0">
              <a:buNone/>
            </a:pPr>
            <a:r>
              <a:rPr lang="en-US" sz="1400" b="1" dirty="0">
                <a:solidFill>
                  <a:srgbClr val="FFFFFF"/>
                </a:solidFill>
                <a:latin typeface="Aptos" pitchFamily="34" charset="0"/>
                <a:ea typeface="Aptos" pitchFamily="34" charset="-122"/>
                <a:cs typeface="Aptos" pitchFamily="34" charset="-120"/>
              </a:rPr>
              <a:t>Every challenge, the same two steps:</a:t>
            </a:r>
            <a:endParaRPr lang="en-US" sz="1400" dirty="0"/>
          </a:p>
        </p:txBody>
      </p:sp>
      <p:sp>
        <p:nvSpPr>
          <p:cNvPr id="30" name="Text 26"/>
          <p:cNvSpPr txBox="1"/>
          <p:nvPr/>
        </p:nvSpPr>
        <p:spPr>
          <a:xfrm>
            <a:off x="5120640" y="5074920"/>
            <a:ext cx="6019495" cy="1005840"/>
          </a:xfrm>
          <a:prstGeom prst="rect">
            <a:avLst/>
          </a:prstGeom>
          <a:noFill/>
          <a:ln/>
        </p:spPr>
        <p:txBody>
          <a:bodyPr wrap="square" lIns="0" tIns="0" rIns="0" bIns="0" rtlCol="0" anchor="t"/>
          <a:lstStyle/>
          <a:p>
            <a:pPr indent="0" marL="0">
              <a:buNone/>
            </a:pPr>
            <a:r>
              <a:rPr lang="en-US" sz="1400" dirty="0">
                <a:solidFill>
                  <a:srgbClr val="D9D9D9"/>
                </a:solidFill>
                <a:latin typeface="Aptos" pitchFamily="34" charset="0"/>
                <a:ea typeface="Aptos" pitchFamily="34" charset="-122"/>
                <a:cs typeface="Aptos" pitchFamily="34" charset="-120"/>
              </a:rPr>
              <a:t>​</a:t>
            </a:r>
            <a:pPr indent="0" marL="0">
              <a:buNone/>
            </a:pPr>
            <a:r>
              <a:rPr lang="en-US" sz="1400" b="1" dirty="0">
                <a:solidFill>
                  <a:srgbClr val="D9D9D9"/>
                </a:solidFill>
                <a:latin typeface="Aptos" pitchFamily="34" charset="0"/>
                <a:ea typeface="Aptos" pitchFamily="34" charset="-122"/>
                <a:cs typeface="Aptos" pitchFamily="34" charset="-120"/>
              </a:rPr>
              <a:t>1. @keyframes</a:t>
            </a:r>
            <a:pPr indent="0" marL="0">
              <a:buNone/>
            </a:pPr>
            <a:r>
              <a:rPr lang="en-US" sz="1400" dirty="0">
                <a:solidFill>
                  <a:srgbClr val="D9D9D9"/>
                </a:solidFill>
                <a:latin typeface="Aptos" pitchFamily="34" charset="0"/>
                <a:ea typeface="Aptos" pitchFamily="34" charset="-122"/>
                <a:cs typeface="Aptos" pitchFamily="34" charset="-120"/>
              </a:rPr>
              <a:t> describes the move: from … to …</a:t>
            </a:r>
            <a:endParaRPr lang="en-US" sz="1400" dirty="0"/>
          </a:p>
          <a:p>
            <a:pPr indent="0" marL="0">
              <a:spcBef>
                <a:spcPts val="600"/>
              </a:spcBef>
              <a:buNone/>
            </a:pPr>
            <a:r>
              <a:rPr lang="en-US" sz="1400" dirty="0">
                <a:solidFill>
                  <a:srgbClr val="D9D9D9"/>
                </a:solidFill>
                <a:latin typeface="Aptos" pitchFamily="34" charset="0"/>
                <a:ea typeface="Aptos" pitchFamily="34" charset="-122"/>
                <a:cs typeface="Aptos" pitchFamily="34" charset="-120"/>
              </a:rPr>
              <a:t>​</a:t>
            </a:r>
            <a:pPr indent="0" marL="0">
              <a:buNone/>
            </a:pPr>
            <a:r>
              <a:rPr lang="en-US" sz="1400" b="1" dirty="0">
                <a:solidFill>
                  <a:srgbClr val="D9D9D9"/>
                </a:solidFill>
                <a:latin typeface="Aptos" pitchFamily="34" charset="0"/>
                <a:ea typeface="Aptos" pitchFamily="34" charset="-122"/>
                <a:cs typeface="Aptos" pitchFamily="34" charset="-120"/>
              </a:rPr>
              <a:t>2. animation</a:t>
            </a:r>
            <a:pPr indent="0" marL="0">
              <a:buNone/>
            </a:pPr>
            <a:r>
              <a:rPr lang="en-US" sz="1400" dirty="0">
                <a:solidFill>
                  <a:srgbClr val="D9D9D9"/>
                </a:solidFill>
                <a:latin typeface="Aptos" pitchFamily="34" charset="0"/>
                <a:ea typeface="Aptos" pitchFamily="34" charset="-122"/>
                <a:cs typeface="Aptos" pitchFamily="34" charset="-120"/>
              </a:rPr>
              <a:t> plays it on the object.</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1: Roll (8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Open activity/index.html with Live Server</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Four stages. Nothing moves… yet!</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Open activity/style.css</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Find the </a:t>
            </a:r>
            <a:pPr indent="0" marL="0">
              <a:buNone/>
            </a:pPr>
            <a:r>
              <a:rPr lang="en-US" sz="1300" b="1" dirty="0">
                <a:solidFill>
                  <a:srgbClr val="262626"/>
                </a:solidFill>
                <a:latin typeface="Aptos" pitchFamily="34" charset="0"/>
                <a:ea typeface="Aptos" pitchFamily="34" charset="-122"/>
                <a:cs typeface="Aptos" pitchFamily="34" charset="-120"/>
              </a:rPr>
              <a:t>Challenge 1</a:t>
            </a:r>
            <a:pPr indent="0" marL="0">
              <a:buNone/>
            </a:pPr>
            <a:r>
              <a:rPr lang="en-US" sz="1300" dirty="0">
                <a:solidFill>
                  <a:srgbClr val="262626"/>
                </a:solidFill>
                <a:latin typeface="Aptos" pitchFamily="34" charset="0"/>
                <a:ea typeface="Aptos" pitchFamily="34" charset="-122"/>
                <a:cs typeface="Aptos" pitchFamily="34" charset="-120"/>
              </a:rPr>
              <a:t> heading.</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Type the code on the right</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Save. The ball rolls!</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Play with it</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Change </a:t>
            </a:r>
            <a:pPr indent="0" marL="0">
              <a:buNone/>
            </a:pPr>
            <a:r>
              <a:rPr lang="en-US" sz="1300" dirty="0">
                <a:solidFill>
                  <a:srgbClr val="8A2B0B"/>
                </a:solidFill>
                <a:latin typeface="Consolas" pitchFamily="34" charset="0"/>
                <a:ea typeface="Consolas" pitchFamily="34" charset="-122"/>
                <a:cs typeface="Consolas" pitchFamily="34" charset="-120"/>
              </a:rPr>
              <a:t>2s</a:t>
            </a:r>
            <a:pPr indent="0" marL="0">
              <a:buNone/>
            </a:pPr>
            <a:r>
              <a:rPr lang="en-US" sz="1300" dirty="0">
                <a:solidFill>
                  <a:srgbClr val="262626"/>
                </a:solidFill>
                <a:latin typeface="Aptos" pitchFamily="34" charset="0"/>
                <a:ea typeface="Aptos" pitchFamily="34" charset="-122"/>
                <a:cs typeface="Aptos" pitchFamily="34" charset="-120"/>
              </a:rPr>
              <a:t> to </a:t>
            </a:r>
            <a:pPr indent="0" marL="0">
              <a:buNone/>
            </a:pPr>
            <a:r>
              <a:rPr lang="en-US" sz="1300" dirty="0">
                <a:solidFill>
                  <a:srgbClr val="8A2B0B"/>
                </a:solidFill>
                <a:latin typeface="Consolas" pitchFamily="34" charset="0"/>
                <a:ea typeface="Consolas" pitchFamily="34" charset="-122"/>
                <a:cs typeface="Consolas" pitchFamily="34" charset="-120"/>
              </a:rPr>
              <a:t>0.5s</a:t>
            </a:r>
            <a:pPr indent="0" marL="0">
              <a:buNone/>
            </a:pPr>
            <a:r>
              <a:rPr lang="en-US" sz="1300" dirty="0">
                <a:solidFill>
                  <a:srgbClr val="262626"/>
                </a:solidFill>
                <a:latin typeface="Aptos" pitchFamily="34" charset="0"/>
                <a:ea typeface="Aptos" pitchFamily="34" charset="-122"/>
                <a:cs typeface="Aptos" pitchFamily="34" charset="-120"/>
              </a:rPr>
              <a:t>. Then try </a:t>
            </a:r>
            <a:pPr indent="0" marL="0">
              <a:buNone/>
            </a:pPr>
            <a:r>
              <a:rPr lang="en-US" sz="1300" dirty="0">
                <a:solidFill>
                  <a:srgbClr val="8A2B0B"/>
                </a:solidFill>
                <a:latin typeface="Consolas" pitchFamily="34" charset="0"/>
                <a:ea typeface="Consolas" pitchFamily="34" charset="-122"/>
                <a:cs typeface="Consolas" pitchFamily="34" charset="-120"/>
              </a:rPr>
              <a:t>5s</a:t>
            </a:r>
            <a:pPr indent="0" marL="0">
              <a:buNone/>
            </a:pPr>
            <a:r>
              <a:rPr lang="en-US" sz="1300" dirty="0">
                <a:solidFill>
                  <a:srgbClr val="262626"/>
                </a:solidFill>
                <a:latin typeface="Aptos" pitchFamily="34" charset="0"/>
                <a:ea typeface="Aptos" pitchFamily="34" charset="-122"/>
                <a:cs typeface="Aptos" pitchFamily="34" charset="-120"/>
              </a:rPr>
              <a:t>. Which do you like?</a:t>
            </a:r>
            <a:endParaRPr lang="en-US" sz="1300" dirty="0"/>
          </a:p>
        </p:txBody>
      </p:sp>
      <p:sp>
        <p:nvSpPr>
          <p:cNvPr id="21" name="Shape 18"/>
          <p:cNvSpPr/>
          <p:nvPr/>
        </p:nvSpPr>
        <p:spPr>
          <a:xfrm>
            <a:off x="6995160" y="1325880"/>
            <a:ext cx="4647895" cy="39776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2" name="Text 19"/>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 STYLE.CSS</a:t>
            </a:r>
            <a:endParaRPr lang="en-US" sz="1100" dirty="0"/>
          </a:p>
        </p:txBody>
      </p:sp>
      <p:sp>
        <p:nvSpPr>
          <p:cNvPr id="23" name="Text 20"/>
          <p:cNvSpPr txBox="1"/>
          <p:nvPr/>
        </p:nvSpPr>
        <p:spPr>
          <a:xfrm>
            <a:off x="7223760" y="1901952"/>
            <a:ext cx="4190695" cy="3172968"/>
          </a:xfrm>
          <a:prstGeom prst="rect">
            <a:avLst/>
          </a:prstGeom>
          <a:noFill/>
          <a:ln/>
        </p:spPr>
        <p:txBody>
          <a:bodyPr wrap="square" lIns="0" tIns="0" rIns="0" bIns="0" rtlCol="0" anchor="t"/>
          <a:lstStyle/>
          <a:p>
            <a:pPr indent="0" marL="0">
              <a:lnSpc>
                <a:spcPct val="100000"/>
              </a:lnSpc>
              <a:buNone/>
            </a:pPr>
            <a:r>
              <a:rPr lang="en-US" sz="1450" dirty="0">
                <a:solidFill>
                  <a:srgbClr val="C586C0"/>
                </a:solidFill>
                <a:latin typeface="Consolas" pitchFamily="34" charset="0"/>
                <a:ea typeface="Consolas" pitchFamily="34" charset="-122"/>
                <a:cs typeface="Consolas" pitchFamily="34" charset="-120"/>
              </a:rPr>
              <a:t>@keyframes</a:t>
            </a:r>
            <a:pPr indent="0" marL="0">
              <a:lnSpc>
                <a:spcPct val="100000"/>
              </a:lnSpc>
              <a:buNone/>
            </a:pPr>
            <a:r>
              <a:rPr lang="en-US" sz="1450" dirty="0">
                <a:solidFill>
                  <a:srgbClr val="D7BA7D"/>
                </a:solidFill>
                <a:latin typeface="Consolas" pitchFamily="34" charset="0"/>
                <a:ea typeface="Consolas" pitchFamily="34" charset="-122"/>
                <a:cs typeface="Consolas" pitchFamily="34" charset="-120"/>
              </a:rPr>
              <a:t> roll </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a:t>
            </a:r>
            <a:endParaRPr lang="en-US" sz="1450" dirty="0"/>
          </a:p>
          <a:p>
            <a:pPr indent="0" marL="0">
              <a:lnSpc>
                <a:spcPct val="100000"/>
              </a:lnSpc>
              <a:buNone/>
            </a:pPr>
            <a:r>
              <a:rPr lang="en-US" sz="1450" dirty="0">
                <a:solidFill>
                  <a:srgbClr val="D7BA7D"/>
                </a:solidFill>
                <a:latin typeface="Consolas" pitchFamily="34" charset="0"/>
                <a:ea typeface="Consolas" pitchFamily="34" charset="-122"/>
                <a:cs typeface="Consolas" pitchFamily="34" charset="-120"/>
              </a:rPr>
              <a:t>   from </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CE9178"/>
                </a:solidFill>
                <a:latin typeface="Consolas" pitchFamily="34" charset="0"/>
                <a:ea typeface="Consolas" pitchFamily="34" charset="-122"/>
                <a:cs typeface="Consolas" pitchFamily="34" charset="-120"/>
              </a:rPr>
              <a:t>translateX(0)</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endParaRPr lang="en-US" sz="1450" dirty="0"/>
          </a:p>
          <a:p>
            <a:pPr indent="0" marL="0">
              <a:lnSpc>
                <a:spcPct val="100000"/>
              </a:lnSpc>
              <a:buNone/>
            </a:pPr>
            <a:r>
              <a:rPr lang="en-US" sz="1450" dirty="0">
                <a:solidFill>
                  <a:srgbClr val="D7BA7D"/>
                </a:solidFill>
                <a:latin typeface="Consolas" pitchFamily="34" charset="0"/>
                <a:ea typeface="Consolas" pitchFamily="34" charset="-122"/>
                <a:cs typeface="Consolas" pitchFamily="34" charset="-120"/>
              </a:rPr>
              <a:t>   to   </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CE9178"/>
                </a:solidFill>
                <a:latin typeface="Consolas" pitchFamily="34" charset="0"/>
                <a:ea typeface="Consolas" pitchFamily="34" charset="-122"/>
                <a:cs typeface="Consolas" pitchFamily="34" charset="-120"/>
              </a:rPr>
              <a:t>translateX(540px)</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endParaRPr lang="en-US" sz="1450" dirty="0"/>
          </a:p>
          <a:p>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a:t>
            </a:r>
            <a:endParaRPr lang="en-US" sz="1450" dirty="0"/>
          </a:p>
          <a:p>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endParaRPr lang="en-US" sz="1450" dirty="0"/>
          </a:p>
          <a:p>
            <a:pPr indent="0" marL="0">
              <a:lnSpc>
                <a:spcPct val="100000"/>
              </a:lnSpc>
              <a:buNone/>
            </a:pPr>
            <a:r>
              <a:rPr lang="en-US" sz="1450" dirty="0">
                <a:solidFill>
                  <a:srgbClr val="D7BA7D"/>
                </a:solidFill>
                <a:latin typeface="Consolas" pitchFamily="34" charset="0"/>
                <a:ea typeface="Consolas" pitchFamily="34" charset="-122"/>
                <a:cs typeface="Consolas" pitchFamily="34" charset="-120"/>
              </a:rPr>
              <a:t>#roll </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a:t>
            </a:r>
            <a:endParaRPr lang="en-US" sz="1450" dirty="0"/>
          </a:p>
          <a:p>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9CDCFE"/>
                </a:solidFill>
                <a:latin typeface="Consolas" pitchFamily="34" charset="0"/>
                <a:ea typeface="Consolas" pitchFamily="34" charset="-122"/>
                <a:cs typeface="Consolas" pitchFamily="34" charset="-120"/>
              </a:rPr>
              <a:t>animation</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CE9178"/>
                </a:solidFill>
                <a:latin typeface="Consolas" pitchFamily="34" charset="0"/>
                <a:ea typeface="Consolas" pitchFamily="34" charset="-122"/>
                <a:cs typeface="Consolas" pitchFamily="34" charset="-120"/>
              </a:rPr>
              <a:t>roll</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B5CEA8"/>
                </a:solidFill>
                <a:latin typeface="Consolas" pitchFamily="34" charset="0"/>
                <a:ea typeface="Consolas" pitchFamily="34" charset="-122"/>
                <a:cs typeface="Consolas" pitchFamily="34" charset="-120"/>
              </a:rPr>
              <a:t>2s</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CE9178"/>
                </a:solidFill>
                <a:latin typeface="Consolas" pitchFamily="34" charset="0"/>
                <a:ea typeface="Consolas" pitchFamily="34" charset="-122"/>
                <a:cs typeface="Consolas" pitchFamily="34" charset="-120"/>
              </a:rPr>
              <a:t>infinite</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a:t>
            </a:r>
            <a:endParaRPr lang="en-US" sz="1450" dirty="0"/>
          </a:p>
          <a:p>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a:t>
            </a:r>
            <a:endParaRPr lang="en-US" sz="1450" dirty="0"/>
          </a:p>
        </p:txBody>
      </p:sp>
      <p:sp>
        <p:nvSpPr>
          <p:cNvPr id="24" name="Shape 21"/>
          <p:cNvSpPr/>
          <p:nvPr/>
        </p:nvSpPr>
        <p:spPr>
          <a:xfrm>
            <a:off x="6995160" y="5486400"/>
            <a:ext cx="4647895" cy="868680"/>
          </a:xfrm>
          <a:prstGeom prst="roundRect">
            <a:avLst>
              <a:gd name="adj" fmla="val 12632"/>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25" name="Text 22"/>
          <p:cNvSpPr txBox="1"/>
          <p:nvPr/>
        </p:nvSpPr>
        <p:spPr>
          <a:xfrm>
            <a:off x="7223760" y="5486400"/>
            <a:ext cx="4190695" cy="868680"/>
          </a:xfrm>
          <a:prstGeom prst="rect">
            <a:avLst/>
          </a:prstGeom>
          <a:noFill/>
          <a:ln/>
        </p:spPr>
        <p:txBody>
          <a:bodyPr wrap="square" lIns="0" tIns="0" rIns="0" bIns="0" rtlCol="0" anchor="ctr"/>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Nothing moving? Check that </a:t>
            </a:r>
            <a:pPr indent="0" marL="0">
              <a:buNone/>
            </a:pPr>
            <a:r>
              <a:rPr lang="en-US" sz="1300" dirty="0">
                <a:solidFill>
                  <a:srgbClr val="8A2B0B"/>
                </a:solidFill>
                <a:latin typeface="Consolas" pitchFamily="34" charset="0"/>
                <a:ea typeface="Consolas" pitchFamily="34" charset="-122"/>
                <a:cs typeface="Consolas" pitchFamily="34" charset="-120"/>
              </a:rPr>
              <a:t>roll</a:t>
            </a:r>
            <a:pPr indent="0" marL="0">
              <a:buNone/>
            </a:pPr>
            <a:r>
              <a:rPr lang="en-US" sz="1300" dirty="0">
                <a:solidFill>
                  <a:srgbClr val="262626"/>
                </a:solidFill>
                <a:latin typeface="Aptos" pitchFamily="34" charset="0"/>
                <a:ea typeface="Aptos" pitchFamily="34" charset="-122"/>
                <a:cs typeface="Aptos" pitchFamily="34" charset="-120"/>
              </a:rPr>
              <a:t> is spelled the same in both places, and that </a:t>
            </a:r>
            <a:pPr indent="0" marL="0">
              <a:buNone/>
            </a:pPr>
            <a:r>
              <a:rPr lang="en-US" sz="1300" dirty="0">
                <a:solidFill>
                  <a:srgbClr val="8A2B0B"/>
                </a:solidFill>
                <a:latin typeface="Consolas" pitchFamily="34" charset="0"/>
                <a:ea typeface="Consolas" pitchFamily="34" charset="-122"/>
                <a:cs typeface="Consolas" pitchFamily="34" charset="-120"/>
              </a:rPr>
              <a:t>2s</a:t>
            </a:r>
            <a:pPr indent="0" marL="0">
              <a:buNone/>
            </a:pPr>
            <a:r>
              <a:rPr lang="en-US" sz="1300" dirty="0">
                <a:solidFill>
                  <a:srgbClr val="262626"/>
                </a:solidFill>
                <a:latin typeface="Aptos" pitchFamily="34" charset="0"/>
                <a:ea typeface="Aptos" pitchFamily="34" charset="-122"/>
                <a:cs typeface="Aptos" pitchFamily="34" charset="-120"/>
              </a:rPr>
              <a:t> has its </a:t>
            </a:r>
            <a:pPr indent="0" marL="0">
              <a:buNone/>
            </a:pPr>
            <a:r>
              <a:rPr lang="en-US" sz="1300" dirty="0">
                <a:solidFill>
                  <a:srgbClr val="8A2B0B"/>
                </a:solidFill>
                <a:latin typeface="Consolas" pitchFamily="34" charset="0"/>
                <a:ea typeface="Consolas" pitchFamily="34" charset="-122"/>
                <a:cs typeface="Consolas" pitchFamily="34" charset="-120"/>
              </a:rPr>
              <a:t>s</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2: Ping-pong (5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No new @keyframes needed!</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Ping-pong uses the same </a:t>
            </a:r>
            <a:pPr indent="0" marL="0">
              <a:buNone/>
            </a:pPr>
            <a:r>
              <a:rPr lang="en-US" sz="1300" dirty="0">
                <a:solidFill>
                  <a:srgbClr val="8A2B0B"/>
                </a:solidFill>
                <a:latin typeface="Consolas" pitchFamily="34" charset="0"/>
                <a:ea typeface="Consolas" pitchFamily="34" charset="-122"/>
                <a:cs typeface="Consolas" pitchFamily="34" charset="-120"/>
              </a:rPr>
              <a:t>roll</a:t>
            </a:r>
            <a:pPr indent="0" marL="0">
              <a:buNone/>
            </a:pPr>
            <a:r>
              <a:rPr lang="en-US" sz="1300" dirty="0">
                <a:solidFill>
                  <a:srgbClr val="262626"/>
                </a:solidFill>
                <a:latin typeface="Aptos" pitchFamily="34" charset="0"/>
                <a:ea typeface="Aptos" pitchFamily="34" charset="-122"/>
                <a:cs typeface="Aptos" pitchFamily="34" charset="-120"/>
              </a:rPr>
              <a:t> you wrote in Challenge 1.</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Type the code on the right</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Just one rule, under the </a:t>
            </a:r>
            <a:pPr indent="0" marL="0">
              <a:buNone/>
            </a:pPr>
            <a:r>
              <a:rPr lang="en-US" sz="1300" b="1" dirty="0">
                <a:solidFill>
                  <a:srgbClr val="262626"/>
                </a:solidFill>
                <a:latin typeface="Aptos" pitchFamily="34" charset="0"/>
                <a:ea typeface="Aptos" pitchFamily="34" charset="-122"/>
                <a:cs typeface="Aptos" pitchFamily="34" charset="-120"/>
              </a:rPr>
              <a:t>Challenge 2</a:t>
            </a:r>
            <a:pPr indent="0" marL="0">
              <a:buNone/>
            </a:pPr>
            <a:r>
              <a:rPr lang="en-US" sz="1300" dirty="0">
                <a:solidFill>
                  <a:srgbClr val="262626"/>
                </a:solidFill>
                <a:latin typeface="Aptos" pitchFamily="34" charset="0"/>
                <a:ea typeface="Aptos" pitchFamily="34" charset="-122"/>
                <a:cs typeface="Aptos" pitchFamily="34" charset="-120"/>
              </a:rPr>
              <a:t> heading.</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Watch the difference</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alternate</a:t>
            </a:r>
            <a:pPr indent="0" marL="0">
              <a:buNone/>
            </a:pPr>
            <a:r>
              <a:rPr lang="en-US" sz="1300" dirty="0">
                <a:solidFill>
                  <a:srgbClr val="262626"/>
                </a:solidFill>
                <a:latin typeface="Aptos" pitchFamily="34" charset="0"/>
                <a:ea typeface="Aptos" pitchFamily="34" charset="-122"/>
                <a:cs typeface="Aptos" pitchFamily="34" charset="-120"/>
              </a:rPr>
              <a:t> rolls there… then back. No more jumping!</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Play with it</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Take out </a:t>
            </a:r>
            <a:pPr indent="0" marL="0">
              <a:buNone/>
            </a:pPr>
            <a:r>
              <a:rPr lang="en-US" sz="1300" dirty="0">
                <a:solidFill>
                  <a:srgbClr val="8A2B0B"/>
                </a:solidFill>
                <a:latin typeface="Consolas" pitchFamily="34" charset="0"/>
                <a:ea typeface="Consolas" pitchFamily="34" charset="-122"/>
                <a:cs typeface="Consolas" pitchFamily="34" charset="-120"/>
              </a:rPr>
              <a:t>alternate</a:t>
            </a:r>
            <a:pPr indent="0" marL="0">
              <a:buNone/>
            </a:pPr>
            <a:r>
              <a:rPr lang="en-US" sz="1300" dirty="0">
                <a:solidFill>
                  <a:srgbClr val="262626"/>
                </a:solidFill>
                <a:latin typeface="Aptos" pitchFamily="34" charset="0"/>
                <a:ea typeface="Aptos" pitchFamily="34" charset="-122"/>
                <a:cs typeface="Aptos" pitchFamily="34" charset="-120"/>
              </a:rPr>
              <a:t> and save. Put it back. Try </a:t>
            </a:r>
            <a:pPr indent="0" marL="0">
              <a:buNone/>
            </a:pPr>
            <a:r>
              <a:rPr lang="en-US" sz="1300" dirty="0">
                <a:solidFill>
                  <a:srgbClr val="8A2B0B"/>
                </a:solidFill>
                <a:latin typeface="Consolas" pitchFamily="34" charset="0"/>
                <a:ea typeface="Consolas" pitchFamily="34" charset="-122"/>
                <a:cs typeface="Consolas" pitchFamily="34" charset="-120"/>
              </a:rPr>
              <a:t>0.3s</a:t>
            </a:r>
            <a:pPr indent="0" marL="0">
              <a:buNone/>
            </a:pPr>
            <a:r>
              <a:rPr lang="en-US" sz="1300" dirty="0">
                <a:solidFill>
                  <a:srgbClr val="262626"/>
                </a:solidFill>
                <a:latin typeface="Aptos" pitchFamily="34" charset="0"/>
                <a:ea typeface="Aptos" pitchFamily="34" charset="-122"/>
                <a:cs typeface="Aptos" pitchFamily="34" charset="-120"/>
              </a:rPr>
              <a:t> for a fast rally!</a:t>
            </a:r>
            <a:endParaRPr lang="en-US" sz="1300" dirty="0"/>
          </a:p>
        </p:txBody>
      </p:sp>
      <p:sp>
        <p:nvSpPr>
          <p:cNvPr id="21" name="Shape 18"/>
          <p:cNvSpPr/>
          <p:nvPr/>
        </p:nvSpPr>
        <p:spPr>
          <a:xfrm>
            <a:off x="6995160" y="1325880"/>
            <a:ext cx="4647895" cy="39776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2" name="Text 19"/>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 STYLE.CSS</a:t>
            </a:r>
            <a:endParaRPr lang="en-US" sz="1100" dirty="0"/>
          </a:p>
        </p:txBody>
      </p:sp>
      <p:sp>
        <p:nvSpPr>
          <p:cNvPr id="23" name="Text 20"/>
          <p:cNvSpPr txBox="1"/>
          <p:nvPr/>
        </p:nvSpPr>
        <p:spPr>
          <a:xfrm>
            <a:off x="7223760" y="1901952"/>
            <a:ext cx="4190695" cy="3172968"/>
          </a:xfrm>
          <a:prstGeom prst="rect">
            <a:avLst/>
          </a:prstGeom>
          <a:noFill/>
          <a:ln/>
        </p:spPr>
        <p:txBody>
          <a:bodyPr wrap="square" lIns="0" tIns="0" rIns="0" bIns="0" rtlCol="0" anchor="t"/>
          <a:lstStyle/>
          <a:p>
            <a:pPr indent="0" marL="0">
              <a:lnSpc>
                <a:spcPct val="100000"/>
              </a:lnSpc>
              <a:buNone/>
            </a:pPr>
            <a:r>
              <a:rPr lang="en-US" sz="1450" dirty="0">
                <a:solidFill>
                  <a:srgbClr val="D7BA7D"/>
                </a:solidFill>
                <a:latin typeface="Consolas" pitchFamily="34" charset="0"/>
                <a:ea typeface="Consolas" pitchFamily="34" charset="-122"/>
                <a:cs typeface="Consolas" pitchFamily="34" charset="-120"/>
              </a:rPr>
              <a:t>#ping-pong </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a:t>
            </a:r>
            <a:endParaRPr lang="en-US" sz="1450" dirty="0"/>
          </a:p>
          <a:p>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9CDCFE"/>
                </a:solidFill>
                <a:latin typeface="Consolas" pitchFamily="34" charset="0"/>
                <a:ea typeface="Consolas" pitchFamily="34" charset="-122"/>
                <a:cs typeface="Consolas" pitchFamily="34" charset="-120"/>
              </a:rPr>
              <a:t>animation</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CE9178"/>
                </a:solidFill>
                <a:latin typeface="Consolas" pitchFamily="34" charset="0"/>
                <a:ea typeface="Consolas" pitchFamily="34" charset="-122"/>
                <a:cs typeface="Consolas" pitchFamily="34" charset="-120"/>
              </a:rPr>
              <a:t>roll</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B5CEA8"/>
                </a:solidFill>
                <a:latin typeface="Consolas" pitchFamily="34" charset="0"/>
                <a:ea typeface="Consolas" pitchFamily="34" charset="-122"/>
                <a:cs typeface="Consolas" pitchFamily="34" charset="-120"/>
              </a:rPr>
              <a:t>1s</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CE9178"/>
                </a:solidFill>
                <a:latin typeface="Consolas" pitchFamily="34" charset="0"/>
                <a:ea typeface="Consolas" pitchFamily="34" charset="-122"/>
                <a:cs typeface="Consolas" pitchFamily="34" charset="-120"/>
              </a:rPr>
              <a:t>infinite</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50" dirty="0">
                <a:solidFill>
                  <a:srgbClr val="CE9178"/>
                </a:solidFill>
                <a:latin typeface="Consolas" pitchFamily="34" charset="0"/>
                <a:ea typeface="Consolas" pitchFamily="34" charset="-122"/>
                <a:cs typeface="Consolas" pitchFamily="34" charset="-120"/>
              </a:rPr>
              <a:t>alternate</a:t>
            </a:r>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a:t>
            </a:r>
            <a:endParaRPr lang="en-US" sz="1450" dirty="0"/>
          </a:p>
          <a:p>
            <a:pPr indent="0" marL="0">
              <a:lnSpc>
                <a:spcPct val="100000"/>
              </a:lnSpc>
              <a:buNone/>
            </a:pPr>
            <a:r>
              <a:rPr lang="en-US" sz="1450" dirty="0">
                <a:solidFill>
                  <a:srgbClr val="D4D4D4"/>
                </a:solidFill>
                <a:latin typeface="Consolas" pitchFamily="34" charset="0"/>
                <a:ea typeface="Consolas" pitchFamily="34" charset="-122"/>
                <a:cs typeface="Consolas" pitchFamily="34" charset="-120"/>
              </a:rPr>
              <a:t>}</a:t>
            </a:r>
            <a:endParaRPr lang="en-US" sz="1450" dirty="0"/>
          </a:p>
        </p:txBody>
      </p:sp>
      <p:sp>
        <p:nvSpPr>
          <p:cNvPr id="24" name="Shape 21"/>
          <p:cNvSpPr/>
          <p:nvPr/>
        </p:nvSpPr>
        <p:spPr>
          <a:xfrm>
            <a:off x="6995160" y="5486400"/>
            <a:ext cx="4647895" cy="868680"/>
          </a:xfrm>
          <a:prstGeom prst="roundRect">
            <a:avLst>
              <a:gd name="adj" fmla="val 12632"/>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25" name="Text 22"/>
          <p:cNvSpPr txBox="1"/>
          <p:nvPr/>
        </p:nvSpPr>
        <p:spPr>
          <a:xfrm>
            <a:off x="7223760" y="5486400"/>
            <a:ext cx="4190695" cy="868680"/>
          </a:xfrm>
          <a:prstGeom prst="rect">
            <a:avLst/>
          </a:prstGeom>
          <a:noFill/>
          <a:ln/>
        </p:spPr>
        <p:txBody>
          <a:bodyPr wrap="square" lIns="0" tIns="0" rIns="0" bIns="0" rtlCol="0" anchor="ctr"/>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One @keyframes can be used by </a:t>
            </a:r>
            <a:pPr indent="0" marL="0">
              <a:buNone/>
            </a:pPr>
            <a:r>
              <a:rPr lang="en-US" sz="1300" b="1" dirty="0">
                <a:solidFill>
                  <a:srgbClr val="262626"/>
                </a:solidFill>
                <a:latin typeface="Aptos" pitchFamily="34" charset="0"/>
                <a:ea typeface="Aptos" pitchFamily="34" charset="-122"/>
                <a:cs typeface="Aptos" pitchFamily="34" charset="-120"/>
              </a:rPr>
              <a:t>as many elements as you like</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3: Pinwheel (8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New move: rotate</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rotate(360deg)</a:t>
            </a:r>
            <a:pPr indent="0" marL="0">
              <a:buNone/>
            </a:pPr>
            <a:r>
              <a:rPr lang="en-US" sz="1300" dirty="0">
                <a:solidFill>
                  <a:srgbClr val="262626"/>
                </a:solidFill>
                <a:latin typeface="Aptos" pitchFamily="34" charset="0"/>
                <a:ea typeface="Aptos" pitchFamily="34" charset="-122"/>
                <a:cs typeface="Aptos" pitchFamily="34" charset="-120"/>
              </a:rPr>
              <a:t> is one full turn.</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Type the code on the right</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Under the </a:t>
            </a:r>
            <a:pPr indent="0" marL="0">
              <a:buNone/>
            </a:pPr>
            <a:r>
              <a:rPr lang="en-US" sz="1300" b="1" dirty="0">
                <a:solidFill>
                  <a:srgbClr val="262626"/>
                </a:solidFill>
                <a:latin typeface="Aptos" pitchFamily="34" charset="0"/>
                <a:ea typeface="Aptos" pitchFamily="34" charset="-122"/>
                <a:cs typeface="Aptos" pitchFamily="34" charset="-120"/>
              </a:rPr>
              <a:t>Challenge 3</a:t>
            </a:r>
            <a:pPr indent="0" marL="0">
              <a:buNone/>
            </a:pPr>
            <a:r>
              <a:rPr lang="en-US" sz="1300" dirty="0">
                <a:solidFill>
                  <a:srgbClr val="262626"/>
                </a:solidFill>
                <a:latin typeface="Aptos" pitchFamily="34" charset="0"/>
                <a:ea typeface="Aptos" pitchFamily="34" charset="-122"/>
                <a:cs typeface="Aptos" pitchFamily="34" charset="-120"/>
              </a:rPr>
              <a:t> heading. Save. It spins!</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Why linear?</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It keeps the same speed all the way round. Take it out and see it slow down every turn.</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Play with it</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Try </a:t>
            </a:r>
            <a:pPr indent="0" marL="0">
              <a:buNone/>
            </a:pPr>
            <a:r>
              <a:rPr lang="en-US" sz="1300" dirty="0">
                <a:solidFill>
                  <a:srgbClr val="8A2B0B"/>
                </a:solidFill>
                <a:latin typeface="Consolas" pitchFamily="34" charset="0"/>
                <a:ea typeface="Consolas" pitchFamily="34" charset="-122"/>
                <a:cs typeface="Consolas" pitchFamily="34" charset="-120"/>
              </a:rPr>
              <a:t>720deg</a:t>
            </a:r>
            <a:pPr indent="0" marL="0">
              <a:buNone/>
            </a:pPr>
            <a:r>
              <a:rPr lang="en-US" sz="1300" dirty="0">
                <a:solidFill>
                  <a:srgbClr val="262626"/>
                </a:solidFill>
                <a:latin typeface="Aptos" pitchFamily="34" charset="0"/>
                <a:ea typeface="Aptos" pitchFamily="34" charset="-122"/>
                <a:cs typeface="Aptos" pitchFamily="34" charset="-120"/>
              </a:rPr>
              <a:t>, or a faster </a:t>
            </a:r>
            <a:pPr indent="0" marL="0">
              <a:buNone/>
            </a:pPr>
            <a:r>
              <a:rPr lang="en-US" sz="1300" dirty="0">
                <a:solidFill>
                  <a:srgbClr val="8A2B0B"/>
                </a:solidFill>
                <a:latin typeface="Consolas" pitchFamily="34" charset="0"/>
                <a:ea typeface="Consolas" pitchFamily="34" charset="-122"/>
                <a:cs typeface="Consolas" pitchFamily="34" charset="-120"/>
              </a:rPr>
              <a:t>0.5s</a:t>
            </a:r>
            <a:pPr indent="0" marL="0">
              <a:buNone/>
            </a:pPr>
            <a:r>
              <a:rPr lang="en-US" sz="1300" dirty="0">
                <a:solidFill>
                  <a:srgbClr val="262626"/>
                </a:solidFill>
                <a:latin typeface="Aptos" pitchFamily="34" charset="0"/>
                <a:ea typeface="Aptos" pitchFamily="34" charset="-122"/>
                <a:cs typeface="Aptos" pitchFamily="34" charset="-120"/>
              </a:rPr>
              <a:t>. Whee!</a:t>
            </a:r>
            <a:endParaRPr lang="en-US" sz="1300" dirty="0"/>
          </a:p>
        </p:txBody>
      </p:sp>
      <p:sp>
        <p:nvSpPr>
          <p:cNvPr id="21" name="Shape 18"/>
          <p:cNvSpPr/>
          <p:nvPr/>
        </p:nvSpPr>
        <p:spPr>
          <a:xfrm>
            <a:off x="6995160" y="1325880"/>
            <a:ext cx="4647895" cy="39776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2" name="Text 19"/>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 STYLE.CSS</a:t>
            </a:r>
            <a:endParaRPr lang="en-US" sz="1100" dirty="0"/>
          </a:p>
        </p:txBody>
      </p:sp>
      <p:sp>
        <p:nvSpPr>
          <p:cNvPr id="23" name="Text 20"/>
          <p:cNvSpPr txBox="1"/>
          <p:nvPr/>
        </p:nvSpPr>
        <p:spPr>
          <a:xfrm>
            <a:off x="7223760" y="1901952"/>
            <a:ext cx="4190695" cy="3172968"/>
          </a:xfrm>
          <a:prstGeom prst="rect">
            <a:avLst/>
          </a:prstGeom>
          <a:noFill/>
          <a:ln/>
        </p:spPr>
        <p:txBody>
          <a:bodyPr wrap="square" lIns="0" tIns="0" rIns="0" bIns="0" rtlCol="0" anchor="t"/>
          <a:lstStyle/>
          <a:p>
            <a:pPr indent="0" marL="0">
              <a:lnSpc>
                <a:spcPct val="100000"/>
              </a:lnSpc>
              <a:buNone/>
            </a:pPr>
            <a:r>
              <a:rPr lang="en-US" sz="1500" dirty="0">
                <a:solidFill>
                  <a:srgbClr val="C586C0"/>
                </a:solidFill>
                <a:latin typeface="Consolas" pitchFamily="34" charset="0"/>
                <a:ea typeface="Consolas" pitchFamily="34" charset="-122"/>
                <a:cs typeface="Consolas" pitchFamily="34" charset="-120"/>
              </a:rPr>
              <a:t>@keyframes</a:t>
            </a:r>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 spin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   from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rotate(0deg)</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   to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rotate(360deg)</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rgbClr val="D7BA7D"/>
                </a:solidFill>
                <a:latin typeface="Consolas" pitchFamily="34" charset="0"/>
                <a:ea typeface="Consolas" pitchFamily="34" charset="-122"/>
                <a:cs typeface="Consolas" pitchFamily="34" charset="-120"/>
              </a:rPr>
              <a:t>#pinwheel </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animation</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spin</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B5CEA8"/>
                </a:solidFill>
                <a:latin typeface="Consolas" pitchFamily="34" charset="0"/>
                <a:ea typeface="Consolas" pitchFamily="34" charset="-122"/>
                <a:cs typeface="Consolas" pitchFamily="34" charset="-120"/>
              </a:rPr>
              <a:t>2s</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linear</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infinite</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p:txBody>
      </p:sp>
      <p:sp>
        <p:nvSpPr>
          <p:cNvPr id="24" name="Shape 21"/>
          <p:cNvSpPr/>
          <p:nvPr/>
        </p:nvSpPr>
        <p:spPr>
          <a:xfrm>
            <a:off x="6995160" y="5486400"/>
            <a:ext cx="4647895" cy="868680"/>
          </a:xfrm>
          <a:prstGeom prst="roundRect">
            <a:avLst>
              <a:gd name="adj" fmla="val 12632"/>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25" name="Text 22"/>
          <p:cNvSpPr txBox="1"/>
          <p:nvPr/>
        </p:nvSpPr>
        <p:spPr>
          <a:xfrm>
            <a:off x="7223760" y="5486400"/>
            <a:ext cx="4190695" cy="868680"/>
          </a:xfrm>
          <a:prstGeom prst="rect">
            <a:avLst/>
          </a:prstGeom>
          <a:noFill/>
          <a:ln/>
        </p:spPr>
        <p:txBody>
          <a:bodyPr wrap="square" lIns="0" tIns="0" rIns="0" bIns="0" rtlCol="0" anchor="ctr"/>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The pinwheel is just a box with </a:t>
            </a:r>
            <a:pPr indent="0" marL="0">
              <a:buNone/>
            </a:pPr>
            <a:r>
              <a:rPr lang="en-US" sz="1300" b="1" dirty="0">
                <a:solidFill>
                  <a:srgbClr val="262626"/>
                </a:solidFill>
                <a:latin typeface="Aptos" pitchFamily="34" charset="0"/>
                <a:ea typeface="Aptos" pitchFamily="34" charset="-122"/>
                <a:cs typeface="Aptos" pitchFamily="34" charset="-120"/>
              </a:rPr>
              <a:t>four thick coloured borders</a:t>
            </a:r>
            <a:pPr indent="0" marL="0">
              <a:buNone/>
            </a:pPr>
            <a:r>
              <a:rPr lang="en-US" sz="1300" dirty="0">
                <a:solidFill>
                  <a:srgbClr val="262626"/>
                </a:solidFill>
                <a:latin typeface="Aptos" pitchFamily="34" charset="0"/>
                <a:ea typeface="Aptos" pitchFamily="34" charset="-122"/>
                <a:cs typeface="Aptos" pitchFamily="34" charset="-120"/>
              </a:rPr>
              <a:t> and no size. Look in stage.css!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4: Pulse (8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New move: scale</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scale(1.5)</a:t>
            </a:r>
            <a:pPr indent="0" marL="0">
              <a:buNone/>
            </a:pPr>
            <a:r>
              <a:rPr lang="en-US" sz="1300" dirty="0">
                <a:solidFill>
                  <a:srgbClr val="262626"/>
                </a:solidFill>
                <a:latin typeface="Aptos" pitchFamily="34" charset="0"/>
                <a:ea typeface="Aptos" pitchFamily="34" charset="-122"/>
                <a:cs typeface="Aptos" pitchFamily="34" charset="-120"/>
              </a:rPr>
              <a:t> makes it one and a half times bigger.</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Change two things at once</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Size </a:t>
            </a:r>
            <a:pPr indent="0" marL="0">
              <a:buNone/>
            </a:pPr>
            <a:r>
              <a:rPr lang="en-US" sz="1300" b="1" dirty="0">
                <a:solidFill>
                  <a:srgbClr val="262626"/>
                </a:solidFill>
                <a:latin typeface="Aptos" pitchFamily="34" charset="0"/>
                <a:ea typeface="Aptos" pitchFamily="34" charset="-122"/>
                <a:cs typeface="Aptos" pitchFamily="34" charset="-120"/>
              </a:rPr>
              <a:t>and</a:t>
            </a:r>
            <a:pPr indent="0" marL="0">
              <a:buNone/>
            </a:pPr>
            <a:r>
              <a:rPr lang="en-US" sz="1300" dirty="0">
                <a:solidFill>
                  <a:srgbClr val="262626"/>
                </a:solidFill>
                <a:latin typeface="Aptos" pitchFamily="34" charset="0"/>
                <a:ea typeface="Aptos" pitchFamily="34" charset="-122"/>
                <a:cs typeface="Aptos" pitchFamily="34" charset="-120"/>
              </a:rPr>
              <a:t> colour, in the same from and to.</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Type the code on the right</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Under the </a:t>
            </a:r>
            <a:pPr indent="0" marL="0">
              <a:buNone/>
            </a:pPr>
            <a:r>
              <a:rPr lang="en-US" sz="1300" b="1" dirty="0">
                <a:solidFill>
                  <a:srgbClr val="262626"/>
                </a:solidFill>
                <a:latin typeface="Aptos" pitchFamily="34" charset="0"/>
                <a:ea typeface="Aptos" pitchFamily="34" charset="-122"/>
                <a:cs typeface="Aptos" pitchFamily="34" charset="-120"/>
              </a:rPr>
              <a:t>Challenge 4</a:t>
            </a:r>
            <a:pPr indent="0" marL="0">
              <a:buNone/>
            </a:pPr>
            <a:r>
              <a:rPr lang="en-US" sz="1300" dirty="0">
                <a:solidFill>
                  <a:srgbClr val="262626"/>
                </a:solidFill>
                <a:latin typeface="Aptos" pitchFamily="34" charset="0"/>
                <a:ea typeface="Aptos" pitchFamily="34" charset="-122"/>
                <a:cs typeface="Aptos" pitchFamily="34" charset="-120"/>
              </a:rPr>
              <a:t> heading. Save. It breathes!</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Play with it</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Pick your own colours. Add </a:t>
            </a:r>
            <a:pPr indent="0" marL="0">
              <a:buNone/>
            </a:pPr>
            <a:r>
              <a:rPr lang="en-US" sz="1300" dirty="0">
                <a:solidFill>
                  <a:srgbClr val="8A2B0B"/>
                </a:solidFill>
                <a:latin typeface="Consolas" pitchFamily="34" charset="0"/>
                <a:ea typeface="Consolas" pitchFamily="34" charset="-122"/>
                <a:cs typeface="Consolas" pitchFamily="34" charset="-120"/>
              </a:rPr>
              <a:t>border-radius: 50%;</a:t>
            </a:r>
            <a:pPr indent="0" marL="0">
              <a:buNone/>
            </a:pPr>
            <a:r>
              <a:rPr lang="en-US" sz="1300" dirty="0">
                <a:solidFill>
                  <a:srgbClr val="262626"/>
                </a:solidFill>
                <a:latin typeface="Aptos" pitchFamily="34" charset="0"/>
                <a:ea typeface="Aptos" pitchFamily="34" charset="-122"/>
                <a:cs typeface="Aptos" pitchFamily="34" charset="-120"/>
              </a:rPr>
              <a:t> to the to step. What happens?</a:t>
            </a:r>
            <a:endParaRPr lang="en-US" sz="1300" dirty="0"/>
          </a:p>
        </p:txBody>
      </p:sp>
      <p:sp>
        <p:nvSpPr>
          <p:cNvPr id="21" name="Shape 18"/>
          <p:cNvSpPr/>
          <p:nvPr/>
        </p:nvSpPr>
        <p:spPr>
          <a:xfrm>
            <a:off x="6995160" y="1325880"/>
            <a:ext cx="4647895" cy="39776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2" name="Text 19"/>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 STYLE.CSS</a:t>
            </a:r>
            <a:endParaRPr lang="en-US" sz="1100" dirty="0"/>
          </a:p>
        </p:txBody>
      </p:sp>
      <p:sp>
        <p:nvSpPr>
          <p:cNvPr id="23" name="Text 20"/>
          <p:cNvSpPr txBox="1"/>
          <p:nvPr/>
        </p:nvSpPr>
        <p:spPr>
          <a:xfrm>
            <a:off x="7223760" y="1901952"/>
            <a:ext cx="4190695" cy="3172968"/>
          </a:xfrm>
          <a:prstGeom prst="rect">
            <a:avLst/>
          </a:prstGeom>
          <a:noFill/>
          <a:ln/>
        </p:spPr>
        <p:txBody>
          <a:bodyPr wrap="square" lIns="0" tIns="0" rIns="0" bIns="0" rtlCol="0" anchor="t"/>
          <a:lstStyle/>
          <a:p>
            <a:pPr indent="0" marL="0">
              <a:lnSpc>
                <a:spcPct val="100000"/>
              </a:lnSpc>
              <a:buNone/>
            </a:pPr>
            <a:r>
              <a:rPr lang="en-US" sz="1400" dirty="0">
                <a:solidFill>
                  <a:srgbClr val="C586C0"/>
                </a:solidFill>
                <a:latin typeface="Consolas" pitchFamily="34" charset="0"/>
                <a:ea typeface="Consolas" pitchFamily="34" charset="-122"/>
                <a:cs typeface="Consolas" pitchFamily="34" charset="-120"/>
              </a:rPr>
              <a:t>@keyframes</a:t>
            </a:r>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 pulse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   from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scale(1)</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#A02B93</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   to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scale(1.5)</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#E97132</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#pulse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animation</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pulse</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B5CEA8"/>
                </a:solidFill>
                <a:latin typeface="Consolas" pitchFamily="34" charset="0"/>
                <a:ea typeface="Consolas" pitchFamily="34" charset="-122"/>
                <a:cs typeface="Consolas" pitchFamily="34" charset="-120"/>
              </a:rPr>
              <a:t>1s</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infinite</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alternate</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
        <p:nvSpPr>
          <p:cNvPr id="24" name="Shape 21"/>
          <p:cNvSpPr/>
          <p:nvPr/>
        </p:nvSpPr>
        <p:spPr>
          <a:xfrm>
            <a:off x="6995160" y="5486400"/>
            <a:ext cx="4647895" cy="868680"/>
          </a:xfrm>
          <a:prstGeom prst="roundRect">
            <a:avLst>
              <a:gd name="adj" fmla="val 12632"/>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25" name="Text 22"/>
          <p:cNvSpPr txBox="1"/>
          <p:nvPr/>
        </p:nvSpPr>
        <p:spPr>
          <a:xfrm>
            <a:off x="7223760" y="5486400"/>
            <a:ext cx="4190695" cy="868680"/>
          </a:xfrm>
          <a:prstGeom prst="rect">
            <a:avLst/>
          </a:prstGeom>
          <a:noFill/>
          <a:ln/>
        </p:spPr>
        <p:txBody>
          <a:bodyPr wrap="square" lIns="0" tIns="0" rIns="0" bIns="0" rtlCol="0" anchor="ctr"/>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You can animate </a:t>
            </a:r>
            <a:pPr indent="0" marL="0">
              <a:buNone/>
            </a:pPr>
            <a:r>
              <a:rPr lang="en-US" sz="1300" b="1" dirty="0">
                <a:solidFill>
                  <a:srgbClr val="262626"/>
                </a:solidFill>
                <a:latin typeface="Aptos" pitchFamily="34" charset="0"/>
                <a:ea typeface="Aptos" pitchFamily="34" charset="-122"/>
                <a:cs typeface="Aptos" pitchFamily="34" charset="-120"/>
              </a:rPr>
              <a:t>colours</a:t>
            </a:r>
            <a:pPr indent="0" marL="0">
              <a:buNone/>
            </a:pPr>
            <a:r>
              <a:rPr lang="en-US" sz="1300" dirty="0">
                <a:solidFill>
                  <a:srgbClr val="262626"/>
                </a:solidFill>
                <a:latin typeface="Aptos" pitchFamily="34" charset="0"/>
                <a:ea typeface="Aptos" pitchFamily="34" charset="-122"/>
                <a:cs typeface="Aptos" pitchFamily="34" charset="-120"/>
              </a:rPr>
              <a:t> too, not just movement.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Bonus, Make It Yours, Then Submit</a:t>
            </a:r>
            <a:endParaRPr lang="en-US" sz="2800" dirty="0"/>
          </a:p>
        </p:txBody>
      </p:sp>
      <p:sp>
        <p:nvSpPr>
          <p:cNvPr id="4" name="Shape 1"/>
          <p:cNvSpPr/>
          <p:nvPr/>
        </p:nvSpPr>
        <p:spPr>
          <a:xfrm>
            <a:off x="685800" y="1325880"/>
            <a:ext cx="512064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54480"/>
            <a:ext cx="402336" cy="402336"/>
          </a:xfrm>
          <a:prstGeom prst="ellipse">
            <a:avLst/>
          </a:prstGeom>
          <a:solidFill>
            <a:srgbClr val="2E7D32"/>
          </a:solidFill>
          <a:ln w="12700">
            <a:solidFill>
              <a:srgbClr val="2E7D32"/>
            </a:solidFill>
            <a:prstDash val="solid"/>
          </a:ln>
        </p:spPr>
      </p:sp>
      <p:sp>
        <p:nvSpPr>
          <p:cNvPr id="6" name="Text 3"/>
          <p:cNvSpPr txBox="1"/>
          <p:nvPr/>
        </p:nvSpPr>
        <p:spPr>
          <a:xfrm>
            <a:off x="914400" y="1554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a:t>
            </a:r>
            <a:endParaRPr lang="en-US" sz="1300" dirty="0"/>
          </a:p>
        </p:txBody>
      </p:sp>
      <p:sp>
        <p:nvSpPr>
          <p:cNvPr id="7" name="Text 4"/>
          <p:cNvSpPr txBox="1"/>
          <p:nvPr/>
        </p:nvSpPr>
        <p:spPr>
          <a:xfrm>
            <a:off x="1463040" y="1527048"/>
            <a:ext cx="4206240" cy="45720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Bonus: Around the Block</a:t>
            </a:r>
            <a:endParaRPr lang="en-US" sz="1600" dirty="0"/>
          </a:p>
        </p:txBody>
      </p:sp>
      <p:sp>
        <p:nvSpPr>
          <p:cNvPr id="8" name="Text 5"/>
          <p:cNvSpPr txBox="1"/>
          <p:nvPr/>
        </p:nvSpPr>
        <p:spPr>
          <a:xfrm>
            <a:off x="914400" y="2057400"/>
            <a:ext cx="4663440" cy="548640"/>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Copy it in. Percentages are checkpoints: the four corners.</a:t>
            </a:r>
            <a:endParaRPr lang="en-US" sz="1300" dirty="0"/>
          </a:p>
        </p:txBody>
      </p:sp>
      <p:sp>
        <p:nvSpPr>
          <p:cNvPr id="9" name="Shape 6"/>
          <p:cNvSpPr/>
          <p:nvPr/>
        </p:nvSpPr>
        <p:spPr>
          <a:xfrm>
            <a:off x="868680" y="2560320"/>
            <a:ext cx="4754880" cy="36118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10" name="Text 7"/>
          <p:cNvSpPr txBox="1"/>
          <p:nvPr/>
        </p:nvSpPr>
        <p:spPr>
          <a:xfrm>
            <a:off x="1097280" y="2788920"/>
            <a:ext cx="4297680" cy="3154680"/>
          </a:xfrm>
          <a:prstGeom prst="rect">
            <a:avLst/>
          </a:prstGeom>
          <a:noFill/>
          <a:ln/>
        </p:spPr>
        <p:txBody>
          <a:bodyPr wrap="square" lIns="0" tIns="0" rIns="0" bIns="0" rtlCol="0" anchor="t"/>
          <a:lstStyle/>
          <a:p>
            <a:pPr indent="0" marL="0">
              <a:lnSpc>
                <a:spcPct val="100000"/>
              </a:lnSpc>
              <a:buNone/>
            </a:pPr>
            <a:r>
              <a:rPr lang="en-US" sz="1300" dirty="0">
                <a:solidFill>
                  <a:srgbClr val="C586C0"/>
                </a:solidFill>
                <a:latin typeface="Consolas" pitchFamily="34" charset="0"/>
                <a:ea typeface="Consolas" pitchFamily="34" charset="-122"/>
                <a:cs typeface="Consolas" pitchFamily="34" charset="-120"/>
              </a:rPr>
              <a:t>@keyframes</a:t>
            </a:r>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 around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   0%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translate(0,</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   25%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translate(540px,</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   50%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translate(540px,</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140px</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   75%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translate(0,</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140px</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   100%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transform</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translate(0,</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#around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animation</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around</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4s</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linear</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infinite</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p:txBody>
      </p:sp>
      <p:sp>
        <p:nvSpPr>
          <p:cNvPr id="11" name="Shape 8"/>
          <p:cNvSpPr/>
          <p:nvPr/>
        </p:nvSpPr>
        <p:spPr>
          <a:xfrm>
            <a:off x="5989320" y="1325880"/>
            <a:ext cx="2971800" cy="5029200"/>
          </a:xfrm>
          <a:prstGeom prst="roundRect">
            <a:avLst>
              <a:gd name="adj" fmla="val 369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6217920" y="1508760"/>
            <a:ext cx="2560320" cy="41148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Make it yours</a:t>
            </a:r>
            <a:endParaRPr lang="en-US" sz="1800" dirty="0"/>
          </a:p>
        </p:txBody>
      </p:sp>
      <p:sp>
        <p:nvSpPr>
          <p:cNvPr id="13" name="Shape 10"/>
          <p:cNvSpPr/>
          <p:nvPr/>
        </p:nvSpPr>
        <p:spPr>
          <a:xfrm>
            <a:off x="6217920" y="2103120"/>
            <a:ext cx="347472" cy="347472"/>
          </a:xfrm>
          <a:prstGeom prst="ellipse">
            <a:avLst/>
          </a:prstGeom>
          <a:solidFill>
            <a:srgbClr val="E97132"/>
          </a:solidFill>
          <a:ln w="12700">
            <a:solidFill>
              <a:srgbClr val="E97132"/>
            </a:solidFill>
            <a:prstDash val="solid"/>
          </a:ln>
        </p:spPr>
      </p:sp>
      <p:sp>
        <p:nvSpPr>
          <p:cNvPr id="14" name="Text 11"/>
          <p:cNvSpPr txBox="1"/>
          <p:nvPr/>
        </p:nvSpPr>
        <p:spPr>
          <a:xfrm>
            <a:off x="6217920" y="21031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5" name="Text 12"/>
          <p:cNvSpPr txBox="1"/>
          <p:nvPr/>
        </p:nvSpPr>
        <p:spPr>
          <a:xfrm>
            <a:off x="6675120" y="2011680"/>
            <a:ext cx="2194560" cy="548640"/>
          </a:xfrm>
          <a:prstGeom prst="rect">
            <a:avLst/>
          </a:prstGeom>
          <a:noFill/>
          <a:ln/>
        </p:spPr>
        <p:txBody>
          <a:bodyPr wrap="square" lIns="0" tIns="0" rIns="0" bIns="0" rtlCol="0" anchor="ctr"/>
          <a:lstStyle/>
          <a:p>
            <a:pPr indent="0" marL="0">
              <a:buNone/>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Change the </a:t>
            </a:r>
            <a:pPr indent="0" marL="0">
              <a:buNone/>
            </a:pPr>
            <a:r>
              <a:rPr lang="en-US" sz="1400" b="1" dirty="0">
                <a:solidFill>
                  <a:srgbClr val="262626"/>
                </a:solidFill>
                <a:latin typeface="Aptos" pitchFamily="34" charset="0"/>
                <a:ea typeface="Aptos" pitchFamily="34" charset="-122"/>
                <a:cs typeface="Aptos" pitchFamily="34" charset="-120"/>
              </a:rPr>
              <a:t>colours</a:t>
            </a:r>
            <a:endParaRPr lang="en-US" sz="1400" dirty="0"/>
          </a:p>
        </p:txBody>
      </p:sp>
      <p:sp>
        <p:nvSpPr>
          <p:cNvPr id="16" name="Shape 13"/>
          <p:cNvSpPr/>
          <p:nvPr/>
        </p:nvSpPr>
        <p:spPr>
          <a:xfrm>
            <a:off x="6217920" y="2880360"/>
            <a:ext cx="347472" cy="347472"/>
          </a:xfrm>
          <a:prstGeom prst="ellipse">
            <a:avLst/>
          </a:prstGeom>
          <a:solidFill>
            <a:srgbClr val="E97132"/>
          </a:solidFill>
          <a:ln w="12700">
            <a:solidFill>
              <a:srgbClr val="E97132"/>
            </a:solidFill>
            <a:prstDash val="solid"/>
          </a:ln>
        </p:spPr>
      </p:sp>
      <p:sp>
        <p:nvSpPr>
          <p:cNvPr id="17" name="Text 14"/>
          <p:cNvSpPr txBox="1"/>
          <p:nvPr/>
        </p:nvSpPr>
        <p:spPr>
          <a:xfrm>
            <a:off x="6217920" y="28803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8" name="Text 15"/>
          <p:cNvSpPr txBox="1"/>
          <p:nvPr/>
        </p:nvSpPr>
        <p:spPr>
          <a:xfrm>
            <a:off x="6675120" y="2788920"/>
            <a:ext cx="2194560" cy="548640"/>
          </a:xfrm>
          <a:prstGeom prst="rect">
            <a:avLst/>
          </a:prstGeom>
          <a:noFill/>
          <a:ln/>
        </p:spPr>
        <p:txBody>
          <a:bodyPr wrap="square" lIns="0" tIns="0" rIns="0" bIns="0" rtlCol="0" anchor="ctr"/>
          <a:lstStyle/>
          <a:p>
            <a:pPr indent="0" marL="0">
              <a:buNone/>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Make something </a:t>
            </a:r>
            <a:pPr indent="0" marL="0">
              <a:buNone/>
            </a:pPr>
            <a:r>
              <a:rPr lang="en-US" sz="1400" b="1" dirty="0">
                <a:solidFill>
                  <a:srgbClr val="262626"/>
                </a:solidFill>
                <a:latin typeface="Aptos" pitchFamily="34" charset="0"/>
                <a:ea typeface="Aptos" pitchFamily="34" charset="-122"/>
                <a:cs typeface="Aptos" pitchFamily="34" charset="-120"/>
              </a:rPr>
              <a:t>faster</a:t>
            </a:r>
            <a:pPr indent="0" marL="0">
              <a:buNone/>
            </a:pPr>
            <a:r>
              <a:rPr lang="en-US" sz="1400" dirty="0">
                <a:solidFill>
                  <a:srgbClr val="262626"/>
                </a:solidFill>
                <a:latin typeface="Aptos" pitchFamily="34" charset="0"/>
                <a:ea typeface="Aptos" pitchFamily="34" charset="-122"/>
                <a:cs typeface="Aptos" pitchFamily="34" charset="-120"/>
              </a:rPr>
              <a:t> or </a:t>
            </a:r>
            <a:pPr indent="0" marL="0">
              <a:buNone/>
            </a:pPr>
            <a:r>
              <a:rPr lang="en-US" sz="1400" b="1" dirty="0">
                <a:solidFill>
                  <a:srgbClr val="262626"/>
                </a:solidFill>
                <a:latin typeface="Aptos" pitchFamily="34" charset="0"/>
                <a:ea typeface="Aptos" pitchFamily="34" charset="-122"/>
                <a:cs typeface="Aptos" pitchFamily="34" charset="-120"/>
              </a:rPr>
              <a:t>slower</a:t>
            </a:r>
            <a:endParaRPr lang="en-US" sz="1400" dirty="0"/>
          </a:p>
        </p:txBody>
      </p:sp>
      <p:sp>
        <p:nvSpPr>
          <p:cNvPr id="19" name="Shape 16"/>
          <p:cNvSpPr/>
          <p:nvPr/>
        </p:nvSpPr>
        <p:spPr>
          <a:xfrm>
            <a:off x="6217920" y="3657600"/>
            <a:ext cx="347472" cy="347472"/>
          </a:xfrm>
          <a:prstGeom prst="ellipse">
            <a:avLst/>
          </a:prstGeom>
          <a:solidFill>
            <a:srgbClr val="E97132"/>
          </a:solidFill>
          <a:ln w="12700">
            <a:solidFill>
              <a:srgbClr val="E97132"/>
            </a:solidFill>
            <a:prstDash val="solid"/>
          </a:ln>
        </p:spPr>
      </p:sp>
      <p:sp>
        <p:nvSpPr>
          <p:cNvPr id="20" name="Text 17"/>
          <p:cNvSpPr txBox="1"/>
          <p:nvPr/>
        </p:nvSpPr>
        <p:spPr>
          <a:xfrm>
            <a:off x="6217920" y="36576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1" name="Text 18"/>
          <p:cNvSpPr txBox="1"/>
          <p:nvPr/>
        </p:nvSpPr>
        <p:spPr>
          <a:xfrm>
            <a:off x="6675120" y="3566160"/>
            <a:ext cx="2194560" cy="548640"/>
          </a:xfrm>
          <a:prstGeom prst="rect">
            <a:avLst/>
          </a:prstGeom>
          <a:noFill/>
          <a:ln/>
        </p:spPr>
        <p:txBody>
          <a:bodyPr wrap="square" lIns="0" tIns="0" rIns="0" bIns="0" rtlCol="0" anchor="ctr"/>
          <a:lstStyle/>
          <a:p>
            <a:pPr indent="0" marL="0">
              <a:buNone/>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Spin the pinwheel </a:t>
            </a:r>
            <a:pPr indent="0" marL="0">
              <a:buNone/>
            </a:pPr>
            <a:r>
              <a:rPr lang="en-US" sz="1400" b="1" dirty="0">
                <a:solidFill>
                  <a:srgbClr val="262626"/>
                </a:solidFill>
                <a:latin typeface="Aptos" pitchFamily="34" charset="0"/>
                <a:ea typeface="Aptos" pitchFamily="34" charset="-122"/>
                <a:cs typeface="Aptos" pitchFamily="34" charset="-120"/>
              </a:rPr>
              <a:t>backwards</a:t>
            </a:r>
            <a:pPr indent="0" marL="0">
              <a:buNone/>
            </a:pPr>
            <a:r>
              <a:rPr lang="en-US" sz="1400" dirty="0">
                <a:solidFill>
                  <a:srgbClr val="262626"/>
                </a:solidFill>
                <a:latin typeface="Aptos" pitchFamily="34" charset="0"/>
                <a:ea typeface="Aptos" pitchFamily="34" charset="-122"/>
                <a:cs typeface="Aptos" pitchFamily="34" charset="-120"/>
              </a:rPr>
              <a:t>: add </a:t>
            </a:r>
            <a:pPr indent="0" marL="0">
              <a:buNone/>
            </a:pPr>
            <a:r>
              <a:rPr lang="en-US" sz="1400" dirty="0">
                <a:solidFill>
                  <a:srgbClr val="8A2B0B"/>
                </a:solidFill>
                <a:latin typeface="Consolas" pitchFamily="34" charset="0"/>
                <a:ea typeface="Consolas" pitchFamily="34" charset="-122"/>
                <a:cs typeface="Consolas" pitchFamily="34" charset="-120"/>
              </a:rPr>
              <a:t>reverse</a:t>
            </a:r>
            <a:endParaRPr lang="en-US" sz="1400" dirty="0"/>
          </a:p>
        </p:txBody>
      </p:sp>
      <p:sp>
        <p:nvSpPr>
          <p:cNvPr id="22" name="Shape 19"/>
          <p:cNvSpPr/>
          <p:nvPr/>
        </p:nvSpPr>
        <p:spPr>
          <a:xfrm>
            <a:off x="6217920" y="4434840"/>
            <a:ext cx="347472" cy="347472"/>
          </a:xfrm>
          <a:prstGeom prst="ellipse">
            <a:avLst/>
          </a:prstGeom>
          <a:solidFill>
            <a:srgbClr val="E97132"/>
          </a:solidFill>
          <a:ln w="12700">
            <a:solidFill>
              <a:srgbClr val="E97132"/>
            </a:solidFill>
            <a:prstDash val="solid"/>
          </a:ln>
        </p:spPr>
      </p:sp>
      <p:sp>
        <p:nvSpPr>
          <p:cNvPr id="23" name="Text 20"/>
          <p:cNvSpPr txBox="1"/>
          <p:nvPr/>
        </p:nvSpPr>
        <p:spPr>
          <a:xfrm>
            <a:off x="6217920" y="44348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24" name="Text 21"/>
          <p:cNvSpPr txBox="1"/>
          <p:nvPr/>
        </p:nvSpPr>
        <p:spPr>
          <a:xfrm>
            <a:off x="6675120" y="4343400"/>
            <a:ext cx="2194560" cy="548640"/>
          </a:xfrm>
          <a:prstGeom prst="rect">
            <a:avLst/>
          </a:prstGeom>
          <a:noFill/>
          <a:ln/>
        </p:spPr>
        <p:txBody>
          <a:bodyPr wrap="square" lIns="0" tIns="0" rIns="0" bIns="0" rtlCol="0" anchor="ctr"/>
          <a:lstStyle/>
          <a:p>
            <a:pPr indent="0" marL="0">
              <a:buNone/>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Turn the pulse into a </a:t>
            </a:r>
            <a:pPr indent="0" marL="0">
              <a:buNone/>
            </a:pPr>
            <a:r>
              <a:rPr lang="en-US" sz="1400" b="1" dirty="0">
                <a:solidFill>
                  <a:srgbClr val="262626"/>
                </a:solidFill>
                <a:latin typeface="Aptos" pitchFamily="34" charset="0"/>
                <a:ea typeface="Aptos" pitchFamily="34" charset="-122"/>
                <a:cs typeface="Aptos" pitchFamily="34" charset="-120"/>
              </a:rPr>
              <a:t>circle</a:t>
            </a:r>
            <a:endParaRPr lang="en-US" sz="1400" dirty="0"/>
          </a:p>
        </p:txBody>
      </p:sp>
      <p:sp>
        <p:nvSpPr>
          <p:cNvPr id="25" name="Shape 22"/>
          <p:cNvSpPr/>
          <p:nvPr/>
        </p:nvSpPr>
        <p:spPr>
          <a:xfrm>
            <a:off x="6217920" y="5212080"/>
            <a:ext cx="347472" cy="347472"/>
          </a:xfrm>
          <a:prstGeom prst="ellipse">
            <a:avLst/>
          </a:prstGeom>
          <a:solidFill>
            <a:srgbClr val="E97132"/>
          </a:solidFill>
          <a:ln w="12700">
            <a:solidFill>
              <a:srgbClr val="E97132"/>
            </a:solidFill>
            <a:prstDash val="solid"/>
          </a:ln>
        </p:spPr>
      </p:sp>
      <p:sp>
        <p:nvSpPr>
          <p:cNvPr id="26" name="Text 23"/>
          <p:cNvSpPr txBox="1"/>
          <p:nvPr/>
        </p:nvSpPr>
        <p:spPr>
          <a:xfrm>
            <a:off x="6217920" y="52120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7" name="Text 24"/>
          <p:cNvSpPr txBox="1"/>
          <p:nvPr/>
        </p:nvSpPr>
        <p:spPr>
          <a:xfrm>
            <a:off x="6675120" y="5120640"/>
            <a:ext cx="2194560" cy="548640"/>
          </a:xfrm>
          <a:prstGeom prst="rect">
            <a:avLst/>
          </a:prstGeom>
          <a:noFill/>
          <a:ln/>
        </p:spPr>
        <p:txBody>
          <a:bodyPr wrap="square" lIns="0" tIns="0" rIns="0" bIns="0" rtlCol="0" anchor="ctr"/>
          <a:lstStyle/>
          <a:p>
            <a:pPr indent="0" marL="0">
              <a:buNone/>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Start the pulse </a:t>
            </a:r>
            <a:pPr indent="0" marL="0">
              <a:buNone/>
            </a:pPr>
            <a:r>
              <a:rPr lang="en-US" sz="1400" b="1" dirty="0">
                <a:solidFill>
                  <a:srgbClr val="262626"/>
                </a:solidFill>
                <a:latin typeface="Aptos" pitchFamily="34" charset="0"/>
                <a:ea typeface="Aptos" pitchFamily="34" charset="-122"/>
                <a:cs typeface="Aptos" pitchFamily="34" charset="-120"/>
              </a:rPr>
              <a:t>tiny</a:t>
            </a:r>
            <a:pPr indent="0" marL="0">
              <a:buNone/>
            </a:pPr>
            <a:r>
              <a:rPr lang="en-US" sz="1400" dirty="0">
                <a:solidFill>
                  <a:srgbClr val="262626"/>
                </a:solidFill>
                <a:latin typeface="Aptos" pitchFamily="34" charset="0"/>
                <a:ea typeface="Aptos" pitchFamily="34" charset="-122"/>
                <a:cs typeface="Aptos" pitchFamily="34" charset="-120"/>
              </a:rPr>
              <a:t>: </a:t>
            </a:r>
            <a:pPr indent="0" marL="0">
              <a:buNone/>
            </a:pPr>
            <a:r>
              <a:rPr lang="en-US" sz="1400" dirty="0">
                <a:solidFill>
                  <a:srgbClr val="8A2B0B"/>
                </a:solidFill>
                <a:latin typeface="Consolas" pitchFamily="34" charset="0"/>
                <a:ea typeface="Consolas" pitchFamily="34" charset="-122"/>
                <a:cs typeface="Consolas" pitchFamily="34" charset="-120"/>
              </a:rPr>
              <a:t>scale(0.5)</a:t>
            </a:r>
            <a:endParaRPr lang="en-US" sz="1400" dirty="0"/>
          </a:p>
        </p:txBody>
      </p:sp>
      <p:sp>
        <p:nvSpPr>
          <p:cNvPr id="28" name="Shape 25"/>
          <p:cNvSpPr/>
          <p:nvPr/>
        </p:nvSpPr>
        <p:spPr>
          <a:xfrm>
            <a:off x="9144000" y="1325880"/>
            <a:ext cx="2377440" cy="5029200"/>
          </a:xfrm>
          <a:prstGeom prst="roundRect">
            <a:avLst>
              <a:gd name="adj" fmla="val 4615"/>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29" name="Text 26"/>
          <p:cNvSpPr txBox="1"/>
          <p:nvPr/>
        </p:nvSpPr>
        <p:spPr>
          <a:xfrm>
            <a:off x="9326880" y="1554480"/>
            <a:ext cx="2011680" cy="685800"/>
          </a:xfrm>
          <a:prstGeom prst="rect">
            <a:avLst/>
          </a:prstGeom>
          <a:noFill/>
          <a:ln/>
        </p:spPr>
        <p:txBody>
          <a:bodyPr wrap="square" lIns="0" tIns="0" rIns="0" bIns="0" rtlCol="0" anchor="t"/>
          <a:lstStyle/>
          <a:p>
            <a:pPr indent="0" marL="0">
              <a:buNone/>
            </a:pPr>
            <a:r>
              <a:rPr lang="en-US" sz="1800" b="1" dirty="0">
                <a:solidFill>
                  <a:srgbClr val="FFFFFF"/>
                </a:solidFill>
                <a:latin typeface="Aptos" pitchFamily="34" charset="0"/>
                <a:ea typeface="Aptos" pitchFamily="34" charset="-122"/>
                <a:cs typeface="Aptos" pitchFamily="34" charset="-120"/>
              </a:rPr>
              <a:t>Submit to Brightspace</a:t>
            </a:r>
            <a:endParaRPr lang="en-US" sz="1800" dirty="0"/>
          </a:p>
        </p:txBody>
      </p:sp>
      <p:sp>
        <p:nvSpPr>
          <p:cNvPr id="30" name="Text 27"/>
          <p:cNvSpPr txBox="1"/>
          <p:nvPr/>
        </p:nvSpPr>
        <p:spPr>
          <a:xfrm>
            <a:off x="9326880" y="2331720"/>
            <a:ext cx="2057400" cy="3840480"/>
          </a:xfrm>
          <a:prstGeom prst="rect">
            <a:avLst/>
          </a:prstGeom>
          <a:noFill/>
          <a:ln/>
        </p:spPr>
        <p:txBody>
          <a:bodyPr wrap="square" lIns="0" tIns="0" rIns="0" bIns="0" rtlCol="0" anchor="t"/>
          <a:lstStyle/>
          <a:p>
            <a:pPr indent="0" marL="0">
              <a:buNone/>
            </a:pPr>
            <a:r>
              <a:rPr lang="en-US" sz="1350" dirty="0">
                <a:solidFill>
                  <a:srgbClr val="D9D9D9"/>
                </a:solidFill>
                <a:latin typeface="Aptos" pitchFamily="34" charset="0"/>
                <a:ea typeface="Aptos" pitchFamily="34" charset="-122"/>
                <a:cs typeface="Aptos" pitchFamily="34" charset="-120"/>
              </a:rPr>
              <a:t>1. Your style.css file</a:t>
            </a:r>
            <a:endParaRPr lang="en-US" sz="1350" dirty="0"/>
          </a:p>
          <a:p>
            <a:pPr indent="0" marL="0">
              <a:buNone/>
            </a:pPr>
            <a:r>
              <a:rPr lang="en-US" sz="600" dirty="0">
                <a:solidFill>
                  <a:srgbClr val="D9D9D9"/>
                </a:solidFill>
                <a:latin typeface="Aptos" pitchFamily="34" charset="0"/>
                <a:ea typeface="Aptos" pitchFamily="34" charset="-122"/>
                <a:cs typeface="Aptos" pitchFamily="34" charset="-120"/>
              </a:rPr>
              <a:t> </a:t>
            </a:r>
            <a:endParaRPr lang="en-US" sz="1350" dirty="0"/>
          </a:p>
          <a:p>
            <a:pPr indent="0" marL="0">
              <a:buNone/>
            </a:pPr>
            <a:r>
              <a:rPr lang="en-US" sz="1350" dirty="0">
                <a:solidFill>
                  <a:srgbClr val="D9D9D9"/>
                </a:solidFill>
                <a:latin typeface="Aptos" pitchFamily="34" charset="0"/>
                <a:ea typeface="Aptos" pitchFamily="34" charset="-122"/>
                <a:cs typeface="Aptos" pitchFamily="34" charset="-120"/>
              </a:rPr>
              <a:t>2. A screenshot of your playground</a:t>
            </a:r>
            <a:endParaRPr lang="en-US" sz="1350" dirty="0"/>
          </a:p>
          <a:p>
            <a:pPr indent="0" marL="0">
              <a:buNone/>
            </a:pPr>
            <a:r>
              <a:rPr lang="en-US" sz="1000" dirty="0">
                <a:solidFill>
                  <a:srgbClr val="D9D9D9"/>
                </a:solidFill>
                <a:latin typeface="Aptos" pitchFamily="34" charset="0"/>
                <a:ea typeface="Aptos" pitchFamily="34" charset="-122"/>
                <a:cs typeface="Aptos" pitchFamily="34" charset="-120"/>
              </a:rPr>
              <a:t> </a:t>
            </a:r>
            <a:endParaRPr lang="en-US" sz="1350" dirty="0"/>
          </a:p>
          <a:p>
            <a:pPr indent="0" marL="0">
              <a:buNone/>
            </a:pPr>
            <a:r>
              <a:rPr lang="en-US" sz="1350" b="1" dirty="0">
                <a:solidFill>
                  <a:srgbClr val="F2C6AC"/>
                </a:solidFill>
                <a:latin typeface="Aptos" pitchFamily="34" charset="0"/>
                <a:ea typeface="Aptos" pitchFamily="34" charset="-122"/>
                <a:cs typeface="Aptos" pitchFamily="34" charset="-120"/>
              </a:rPr>
              <a:t>Stuck? </a:t>
            </a:r>
            <a:pPr indent="0" marL="0">
              <a:buNone/>
            </a:pPr>
            <a:r>
              <a:rPr lang="en-US" sz="1350" dirty="0">
                <a:solidFill>
                  <a:srgbClr val="D9D9D9"/>
                </a:solidFill>
                <a:latin typeface="Aptos" pitchFamily="34" charset="0"/>
                <a:ea typeface="Aptos" pitchFamily="34" charset="-122"/>
                <a:cs typeface="Aptos" pitchFamily="34" charset="-120"/>
              </a:rPr>
              <a:t>Peek at activity/answer/style.css. Then check the names match and every time has an s.</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949440" y="822960"/>
            <a:ext cx="4937760" cy="4937760"/>
          </a:xfrm>
          <a:prstGeom prst="ellipse">
            <a:avLst/>
          </a:prstGeom>
          <a:ln w="355600">
            <a:solidFill>
              <a:srgbClr val="B7CFC6"/>
            </a:solidFill>
            <a:prstDash val="solid"/>
          </a:ln>
        </p:spPr>
      </p:sp>
      <p:sp>
        <p:nvSpPr>
          <p:cNvPr id="3" name="Text 1"/>
          <p:cNvSpPr txBox="1"/>
          <p:nvPr/>
        </p:nvSpPr>
        <p:spPr>
          <a:xfrm>
            <a:off x="731520" y="731520"/>
            <a:ext cx="6400800" cy="822960"/>
          </a:xfrm>
          <a:prstGeom prst="rect">
            <a:avLst/>
          </a:prstGeom>
          <a:noFill/>
          <a:ln/>
        </p:spPr>
        <p:txBody>
          <a:bodyPr wrap="square" lIns="0" tIns="0" rIns="0" bIns="0" rtlCol="0" anchor="ctr"/>
          <a:lstStyle/>
          <a:p>
            <a:pPr indent="0" marL="0">
              <a:buNone/>
            </a:pPr>
            <a:r>
              <a:rPr lang="en-US" sz="4000" dirty="0">
                <a:solidFill>
                  <a:srgbClr val="000000"/>
                </a:solidFill>
                <a:latin typeface="Aptos" pitchFamily="34" charset="0"/>
                <a:ea typeface="Aptos" pitchFamily="34" charset="-122"/>
                <a:cs typeface="Aptos" pitchFamily="34" charset="-120"/>
              </a:rPr>
              <a:t>Show and Tell!</a:t>
            </a:r>
            <a:endParaRPr lang="en-US" sz="4000" dirty="0"/>
          </a:p>
        </p:txBody>
      </p:sp>
      <p:sp>
        <p:nvSpPr>
          <p:cNvPr id="4" name="Text 2"/>
          <p:cNvSpPr txBox="1"/>
          <p:nvPr/>
        </p:nvSpPr>
        <p:spPr>
          <a:xfrm>
            <a:off x="731520" y="1828800"/>
            <a:ext cx="5943600" cy="4114800"/>
          </a:xfrm>
          <a:prstGeom prst="rect">
            <a:avLst/>
          </a:prstGeom>
          <a:noFill/>
          <a:ln/>
        </p:spPr>
        <p:txBody>
          <a:bodyPr wrap="square" lIns="0" tIns="0" rIns="0" bIns="0" rtlCol="0" anchor="t"/>
          <a:lstStyle/>
          <a:p>
            <a:pPr marL="342900" indent="-342900">
              <a:buSzPct val="100000"/>
              <a:buChar char="•"/>
            </a:pPr>
            <a:r>
              <a:rPr lang="en-US" sz="2000" dirty="0">
                <a:solidFill>
                  <a:srgbClr val="262626"/>
                </a:solidFill>
                <a:latin typeface="Aptos" pitchFamily="34" charset="0"/>
                <a:ea typeface="Aptos" pitchFamily="34" charset="-122"/>
                <a:cs typeface="Aptos" pitchFamily="34" charset="-120"/>
              </a:rPr>
              <a:t>​</a:t>
            </a:r>
            <a:pPr indent="0" marL="0">
              <a:buNone/>
            </a:pPr>
            <a:r>
              <a:rPr lang="en-US" sz="2000" dirty="0">
                <a:solidFill>
                  <a:srgbClr val="262626"/>
                </a:solidFill>
                <a:latin typeface="Aptos" pitchFamily="34" charset="0"/>
                <a:ea typeface="Aptos" pitchFamily="34" charset="-122"/>
                <a:cs typeface="Aptos" pitchFamily="34" charset="-120"/>
              </a:rPr>
              <a:t>Who wants to </a:t>
            </a:r>
            <a:pPr indent="0" marL="0">
              <a:buNone/>
            </a:pPr>
            <a:r>
              <a:rPr lang="en-US" sz="2000" b="1" dirty="0">
                <a:solidFill>
                  <a:srgbClr val="262626"/>
                </a:solidFill>
                <a:latin typeface="Aptos" pitchFamily="34" charset="0"/>
                <a:ea typeface="Aptos" pitchFamily="34" charset="-122"/>
                <a:cs typeface="Aptos" pitchFamily="34" charset="-120"/>
              </a:rPr>
              <a:t>show off</a:t>
            </a:r>
            <a:pPr indent="0" marL="0">
              <a:buNone/>
            </a:pPr>
            <a:r>
              <a:rPr lang="en-US" sz="2000" dirty="0">
                <a:solidFill>
                  <a:srgbClr val="262626"/>
                </a:solidFill>
                <a:latin typeface="Aptos" pitchFamily="34" charset="0"/>
                <a:ea typeface="Aptos" pitchFamily="34" charset="-122"/>
                <a:cs typeface="Aptos" pitchFamily="34" charset="-120"/>
              </a:rPr>
              <a:t> their playground?</a:t>
            </a:r>
            <a:endParaRPr lang="en-US" sz="2000" dirty="0"/>
          </a:p>
          <a:p>
            <a:pPr marL="342900" indent="-342900">
              <a:spcBef>
                <a:spcPts val="1600"/>
              </a:spcBef>
              <a:buSzPct val="100000"/>
              <a:buChar char="•"/>
            </a:pPr>
            <a:r>
              <a:rPr lang="en-US" sz="2000" dirty="0">
                <a:solidFill>
                  <a:srgbClr val="262626"/>
                </a:solidFill>
                <a:latin typeface="Aptos" pitchFamily="34" charset="0"/>
                <a:ea typeface="Aptos" pitchFamily="34" charset="-122"/>
                <a:cs typeface="Aptos" pitchFamily="34" charset="-120"/>
              </a:rPr>
              <a:t>​</a:t>
            </a:r>
            <a:pPr indent="0" marL="0">
              <a:buNone/>
            </a:pPr>
            <a:r>
              <a:rPr lang="en-US" sz="2000" dirty="0">
                <a:solidFill>
                  <a:srgbClr val="262626"/>
                </a:solidFill>
                <a:latin typeface="Aptos" pitchFamily="34" charset="0"/>
                <a:ea typeface="Aptos" pitchFamily="34" charset="-122"/>
                <a:cs typeface="Aptos" pitchFamily="34" charset="-120"/>
              </a:rPr>
              <a:t>Which animation was your </a:t>
            </a:r>
            <a:pPr indent="0" marL="0">
              <a:buNone/>
            </a:pPr>
            <a:r>
              <a:rPr lang="en-US" sz="2000" b="1" dirty="0">
                <a:solidFill>
                  <a:srgbClr val="262626"/>
                </a:solidFill>
                <a:latin typeface="Aptos" pitchFamily="34" charset="0"/>
                <a:ea typeface="Aptos" pitchFamily="34" charset="-122"/>
                <a:cs typeface="Aptos" pitchFamily="34" charset="-120"/>
              </a:rPr>
              <a:t>favourite</a:t>
            </a:r>
            <a:pPr indent="0" marL="0">
              <a:buNone/>
            </a:pPr>
            <a:r>
              <a:rPr lang="en-US" sz="2000" dirty="0">
                <a:solidFill>
                  <a:srgbClr val="262626"/>
                </a:solidFill>
                <a:latin typeface="Aptos" pitchFamily="34" charset="0"/>
                <a:ea typeface="Aptos" pitchFamily="34" charset="-122"/>
                <a:cs typeface="Aptos" pitchFamily="34" charset="-120"/>
              </a:rPr>
              <a:t>?</a:t>
            </a:r>
            <a:endParaRPr lang="en-US" sz="2000" dirty="0"/>
          </a:p>
          <a:p>
            <a:pPr marL="342900" indent="-342900">
              <a:spcBef>
                <a:spcPts val="1600"/>
              </a:spcBef>
              <a:buSzPct val="100000"/>
              <a:buChar char="•"/>
            </a:pPr>
            <a:r>
              <a:rPr lang="en-US" sz="2000" dirty="0">
                <a:solidFill>
                  <a:srgbClr val="262626"/>
                </a:solidFill>
                <a:latin typeface="Aptos" pitchFamily="34" charset="0"/>
                <a:ea typeface="Aptos" pitchFamily="34" charset="-122"/>
                <a:cs typeface="Aptos" pitchFamily="34" charset="-120"/>
              </a:rPr>
              <a:t>​</a:t>
            </a:r>
            <a:pPr indent="0" marL="0">
              <a:buNone/>
            </a:pPr>
            <a:r>
              <a:rPr lang="en-US" sz="2000" dirty="0">
                <a:solidFill>
                  <a:srgbClr val="262626"/>
                </a:solidFill>
                <a:latin typeface="Aptos" pitchFamily="34" charset="0"/>
                <a:ea typeface="Aptos" pitchFamily="34" charset="-122"/>
                <a:cs typeface="Aptos" pitchFamily="34" charset="-120"/>
              </a:rPr>
              <a:t>What was your funniest </a:t>
            </a:r>
            <a:pPr indent="0" marL="0">
              <a:buNone/>
            </a:pPr>
            <a:r>
              <a:rPr lang="en-US" sz="2000" b="1" dirty="0">
                <a:solidFill>
                  <a:srgbClr val="262626"/>
                </a:solidFill>
                <a:latin typeface="Aptos" pitchFamily="34" charset="0"/>
                <a:ea typeface="Aptos" pitchFamily="34" charset="-122"/>
                <a:cs typeface="Aptos" pitchFamily="34" charset="-120"/>
              </a:rPr>
              <a:t>bug</a:t>
            </a:r>
            <a:pPr indent="0" marL="0">
              <a:buNone/>
            </a:pPr>
            <a:r>
              <a:rPr lang="en-US" sz="2000" dirty="0">
                <a:solidFill>
                  <a:srgbClr val="262626"/>
                </a:solidFill>
                <a:latin typeface="Aptos" pitchFamily="34" charset="0"/>
                <a:ea typeface="Aptos" pitchFamily="34" charset="-122"/>
                <a:cs typeface="Aptos" pitchFamily="34" charset="-120"/>
              </a:rPr>
              <a:t>?</a:t>
            </a:r>
            <a:endParaRPr lang="en-US" sz="2000" dirty="0"/>
          </a:p>
          <a:p>
            <a:pPr marL="342900" indent="-342900">
              <a:spcBef>
                <a:spcPts val="1600"/>
              </a:spcBef>
              <a:buSzPct val="100000"/>
              <a:buChar char="•"/>
            </a:pPr>
            <a:r>
              <a:rPr lang="en-US" sz="2000" dirty="0">
                <a:solidFill>
                  <a:srgbClr val="262626"/>
                </a:solidFill>
                <a:latin typeface="Aptos" pitchFamily="34" charset="0"/>
                <a:ea typeface="Aptos" pitchFamily="34" charset="-122"/>
                <a:cs typeface="Aptos" pitchFamily="34" charset="-120"/>
              </a:rPr>
              <a:t>​</a:t>
            </a:r>
            <a:pPr indent="0" marL="0">
              <a:buNone/>
            </a:pPr>
            <a:r>
              <a:rPr lang="en-US" sz="2000" dirty="0">
                <a:solidFill>
                  <a:srgbClr val="262626"/>
                </a:solidFill>
                <a:latin typeface="Aptos" pitchFamily="34" charset="0"/>
                <a:ea typeface="Aptos" pitchFamily="34" charset="-122"/>
                <a:cs typeface="Aptos" pitchFamily="34" charset="-120"/>
              </a:rPr>
              <a:t>Where have you seen animation on a </a:t>
            </a:r>
            <a:pPr indent="0" marL="0">
              <a:buNone/>
            </a:pPr>
            <a:r>
              <a:rPr lang="en-US" sz="2000" b="1" dirty="0">
                <a:solidFill>
                  <a:srgbClr val="262626"/>
                </a:solidFill>
                <a:latin typeface="Aptos" pitchFamily="34" charset="0"/>
                <a:ea typeface="Aptos" pitchFamily="34" charset="-122"/>
                <a:cs typeface="Aptos" pitchFamily="34" charset="-120"/>
              </a:rPr>
              <a:t>real website</a:t>
            </a:r>
            <a:pPr indent="0" marL="0">
              <a:buNone/>
            </a:pPr>
            <a:r>
              <a:rPr lang="en-US" sz="2000" dirty="0">
                <a:solidFill>
                  <a:srgbClr val="262626"/>
                </a:solidFill>
                <a:latin typeface="Aptos" pitchFamily="34" charset="0"/>
                <a:ea typeface="Aptos" pitchFamily="34" charset="-122"/>
                <a:cs typeface="Aptos" pitchFamily="34" charset="-120"/>
              </a:rPr>
              <a:t> this week?</a:t>
            </a:r>
            <a:endParaRPr lang="en-US" sz="2000" dirty="0"/>
          </a:p>
        </p:txBody>
      </p:sp>
      <p:sp>
        <p:nvSpPr>
          <p:cNvPr id="5" name="Text 3"/>
          <p:cNvSpPr txBox="1"/>
          <p:nvPr/>
        </p:nvSpPr>
        <p:spPr>
          <a:xfrm>
            <a:off x="7589520" y="2560320"/>
            <a:ext cx="3657600" cy="1463040"/>
          </a:xfrm>
          <a:prstGeom prst="rect">
            <a:avLst/>
          </a:prstGeom>
          <a:noFill/>
          <a:ln/>
        </p:spPr>
        <p:txBody>
          <a:bodyPr wrap="square" lIns="0" tIns="0" rIns="0" bIns="0" rtlCol="0" anchor="ctr"/>
          <a:lstStyle/>
          <a:p>
            <a:pPr algn="ctr" indent="0" marL="0">
              <a:buNone/>
            </a:pPr>
            <a:r>
              <a:rPr lang="en-US" sz="2100" b="1" dirty="0">
                <a:solidFill>
                  <a:srgbClr val="1B5E82"/>
                </a:solidFill>
                <a:latin typeface="Aptos" pitchFamily="34" charset="0"/>
                <a:ea typeface="Aptos" pitchFamily="34" charset="-122"/>
                <a:cs typeface="Aptos" pitchFamily="34" charset="-120"/>
              </a:rPr>
              <a:t>@keyframes = describe it</a:t>
            </a:r>
            <a:endParaRPr lang="en-US" sz="2100" dirty="0"/>
          </a:p>
          <a:p>
            <a:pPr algn="ctr" indent="0" marL="0">
              <a:buNone/>
            </a:pPr>
            <a:r>
              <a:rPr lang="en-US" sz="2100" b="1" dirty="0">
                <a:solidFill>
                  <a:srgbClr val="1B5E82"/>
                </a:solidFill>
                <a:latin typeface="Aptos" pitchFamily="34" charset="0"/>
                <a:ea typeface="Aptos" pitchFamily="34" charset="-122"/>
                <a:cs typeface="Aptos" pitchFamily="34" charset="-120"/>
              </a:rPr>
              <a:t>animation = play it</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Cheat Sheet: Selectors</a:t>
            </a:r>
            <a:endParaRPr lang="en-US" sz="28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754880" y="1737360"/>
          <a:ext cx="6903720" cy="914400"/>
        </p:xfrm>
        <a:graphic>
          <a:graphicData uri="http://schemas.openxmlformats.org/drawingml/2006/table">
            <a:tbl>
              <a:tblPr/>
              <a:tblGrid>
                <a:gridCol w="3200400"/>
                <a:gridCol w="3703320"/>
              </a:tblGrid>
              <a:tr h="374904">
                <a:tc>
                  <a:txBody>
                    <a:bodyPr/>
                    <a:lstStyle/>
                    <a:p>
                      <a:pPr indent="0" marL="0">
                        <a:buNone/>
                      </a:pPr>
                      <a:r>
                        <a:rPr lang="en-US" sz="1250" b="1" dirty="0">
                          <a:solidFill>
                            <a:srgbClr val="FFFFFF"/>
                          </a:solidFill>
                          <a:latin typeface="Aptos" pitchFamily="34" charset="0"/>
                          <a:ea typeface="Aptos" pitchFamily="34" charset="-122"/>
                          <a:cs typeface="Aptos" pitchFamily="34" charset="-120"/>
                        </a:rPr>
                        <a:t>Selector</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250" b="1" dirty="0">
                          <a:solidFill>
                            <a:srgbClr val="FFFFFF"/>
                          </a:solidFill>
                          <a:latin typeface="Aptos" pitchFamily="34" charset="0"/>
                          <a:ea typeface="Aptos" pitchFamily="34" charset="-122"/>
                          <a:cs typeface="Aptos" pitchFamily="34" charset="-120"/>
                        </a:rPr>
                        <a:t>Matches</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r>
              <a:tr h="374904">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a:hover   button:active</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While the mouse is over it / while it's clicked</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74904">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:focus-visible</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Focused with the keyboard (keep an outline!)</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74904">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:first-child   :last-child</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The first / last inside its parent</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74904">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tr:nth-child(even)</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Every even row (also odd, 3, 3n)</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74904">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li:not(.sold-out)</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Every li except .sold-out</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74904">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input[type="email"]</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An attribute with an exact value</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74904">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a[href^="https"]   a[href$=".pdf"]</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Starts with / ends with</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74904">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article &gt; p</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Direct children only</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74904">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h2 + p   h3 ~ p</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The very next sibling / every later sibling</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74904">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p::first-letter   ::selection</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Part of an element</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74904">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.new::before   .price::after</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Content added by CSS (needs content: "")</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Cheat Sheet: Animation</a:t>
            </a:r>
            <a:endParaRPr lang="en-US" sz="2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754880" y="1737360"/>
          <a:ext cx="6903720" cy="914400"/>
        </p:xfrm>
        <a:graphic>
          <a:graphicData uri="http://schemas.openxmlformats.org/drawingml/2006/table">
            <a:tbl>
              <a:tblPr/>
              <a:tblGrid>
                <a:gridCol w="3657600"/>
                <a:gridCol w="3246120"/>
              </a:tblGrid>
              <a:tr h="402336">
                <a:tc>
                  <a:txBody>
                    <a:bodyPr/>
                    <a:lstStyle/>
                    <a:p>
                      <a:pPr indent="0" marL="0">
                        <a:buNone/>
                      </a:pPr>
                      <a:r>
                        <a:rPr lang="en-US" sz="1250" b="1" dirty="0">
                          <a:solidFill>
                            <a:srgbClr val="FFFFFF"/>
                          </a:solidFill>
                          <a:latin typeface="Aptos" pitchFamily="34" charset="0"/>
                          <a:ea typeface="Aptos" pitchFamily="34" charset="-122"/>
                          <a:cs typeface="Aptos" pitchFamily="34" charset="-120"/>
                        </a:rPr>
                        <a:t>Code</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250" b="1" dirty="0">
                          <a:solidFill>
                            <a:srgbClr val="FFFFFF"/>
                          </a:solidFill>
                          <a:latin typeface="Aptos" pitchFamily="34" charset="0"/>
                          <a:ea typeface="Aptos" pitchFamily="34" charset="-122"/>
                          <a:cs typeface="Aptos" pitchFamily="34" charset="-120"/>
                        </a:rPr>
                        <a:t>What it does</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transform: translate(x, y)</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Move (also translateX, translateY)</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transform: rotate(45deg)</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Spin (360deg = one full turn)</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transform: scale(1.5)</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Resize (scale(1.3, 0.7) = squash)</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transition: transform 0.3s ease;</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Smooth change between two states (e.g. :hover)</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@keyframes name { from {…} to {…} }</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Describe an animation (or 0%, 50%, 100%)</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animation: name 2s;</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Play it: name + duration</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linear   ease-in   ease-out   ease-in-out</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Timing function: the speed curve</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infinite   alternate</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Loop forever / go there and back</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forwards</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Stay on the last keyframe at the end</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@media (prefers-reduced-motion: reduce)</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Turn animations off for those who ask</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Class Recap and Next Steps</a:t>
            </a:r>
            <a:endParaRPr lang="en-US" sz="2800" dirty="0"/>
          </a:p>
        </p:txBody>
      </p:sp>
      <p:sp>
        <p:nvSpPr>
          <p:cNvPr id="7" name="Text 4"/>
          <p:cNvSpPr txBox="1"/>
          <p:nvPr/>
        </p:nvSpPr>
        <p:spPr>
          <a:xfrm>
            <a:off x="4754880" y="1783080"/>
            <a:ext cx="6903720" cy="4663440"/>
          </a:xfrm>
          <a:prstGeom prst="rect">
            <a:avLst/>
          </a:prstGeom>
          <a:noFill/>
          <a:ln/>
        </p:spPr>
        <p:txBody>
          <a:bodyPr wrap="square" lIns="0" tIns="0" rIns="0" bIns="0" rtlCol="0" anchor="t"/>
          <a:lstStyle/>
          <a:p>
            <a:pPr marL="342900" indent="-342900">
              <a:buSzPct val="100000"/>
              <a:buChar char="•"/>
            </a:pPr>
            <a:r>
              <a:rPr lang="en-US" sz="2000" b="1" dirty="0">
                <a:solidFill>
                  <a:srgbClr val="000000"/>
                </a:solidFill>
                <a:latin typeface="Aptos" pitchFamily="34" charset="0"/>
                <a:ea typeface="Aptos" pitchFamily="34" charset="-122"/>
                <a:cs typeface="Aptos" pitchFamily="34" charset="-120"/>
              </a:rPr>
              <a:t>Recap:</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Pseudo-classes (:) match a state or position: :hover, :focus-visible, :nth-child(), :not().</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Attribute selectors [ ] and combinators (&gt; + ~) pick elements without extra classes.</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Pseudo-elements (::) style part of an element, or add content with ::before / ::after.</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transform moves, spins and resizes. transition smooths a change between two states.</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@keyframes describes an animation; the animation property plays it.</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Animate with care: transform and opacity, no flashing, respect prefers-reduced-motion.</a:t>
            </a:r>
            <a:endParaRPr lang="en-US" sz="2000" dirty="0"/>
          </a:p>
          <a:p>
            <a:pPr marL="342900" indent="-342900">
              <a:spcBef>
                <a:spcPts val="800"/>
              </a:spcBef>
              <a:buSzPct val="100000"/>
              <a:buChar char="•"/>
            </a:pPr>
            <a:r>
              <a:rPr lang="en-US" sz="2000" b="1" dirty="0">
                <a:solidFill>
                  <a:srgbClr val="000000"/>
                </a:solidFill>
                <a:latin typeface="Aptos" pitchFamily="34" charset="0"/>
                <a:ea typeface="Aptos" pitchFamily="34" charset="-122"/>
                <a:cs typeface="Aptos" pitchFamily="34" charset="-120"/>
              </a:rPr>
              <a:t>Next class:</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Page layout: display, position, and Flexbox.</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9: Advanced Selectors and CSS Animation</dc:title>
  <dc:subject>PptxGenJS Presentation</dc:subject>
  <dc:creator>Jamie Symonds</dc:creator>
  <cp:lastModifiedBy>Jamie Symonds</cp:lastModifiedBy>
  <cp:revision>1</cp:revision>
  <dcterms:created xsi:type="dcterms:W3CDTF">2026-10-15T01:33:26Z</dcterms:created>
  <dcterms:modified xsi:type="dcterms:W3CDTF">2026-10-15T01:33:26Z</dcterms:modified>
</cp:coreProperties>
</file>