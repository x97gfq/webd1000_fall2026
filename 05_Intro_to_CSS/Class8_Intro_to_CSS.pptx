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So far: user stories, semantic HTML, a wireframe for Harbourside Fish &amp; Chips, and last class, optimized images. Today we finally make it look like a real website, with CSS.
Format for today: a short concept slide, then you try it straight away on the Harbourside page. Seven rounds of that. By the end of class everyone has a styled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attendance. While you do, have students git pull and open the 05_Intro_to_CSS folder in VS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round is about 5 minutes of concept and 8–12 minutes of hands-on time. Rough plan: 15 min intro, then seven rounds (~85 min), and 'Make It Yours' if there's time (otherwise it's homework).
Everything students write goes into one file, activity/style.css, under a heading for each activity. If anyone falls behind, they can copy that section from activity/answer/style.css and keep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activity folder is the Harbourside Fish &amp; Chips page from the wireframe class, written in semantic HTML, with no CSS yet.
Ask students not to open activity/answer until they're stuck. It has the finished style.css with a section for each activity.
They'll also want their my_images folder from last class for Try It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CSS = Cascading Style Sheets. HTML says what each thing IS (a heading, a list, a navigation area). CSS says how it LOOKS: colours, fonts, spacing, layout.
These two screenshots are the SAME index.html file. The only difference is one linked stylesheet. That's where we're going today.
Famous demo: csszengarden.com. Hundreds of designs, all using exactly the same HTML file. Click through a few designs if there's time.
Why keep them separate? Change one .css file and every page on the site updates. And the HTML stays clean and accessible, which is what screen readers and search engines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CSS rule has the same shape. Read it out loud: 'For every h1: make the colour navy, and the font size 2rem.'
Selector = WHO. Declarations = WHAT. Each declaration is property: value; and you can have as many as you like inside the braces.
The colours on the right match the colours VS Code uses, so students can spot each part in their own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mistakes beginners make most. The big problem: CSS fails SILENTLY. A typo doesn't give an error message. The browser skips that line and carries on, so the page just doesn't change.
The Canadian one: it's color, not colour. CSS only understands American spelling. Same with 'center', not 'centre'.
DevTools helps: an invalid declaration shows with a yellow warning triangle and a line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here on it's a rhythm: a concept slide, then a Try It slide. Students add each piece to activity/style.css under the matching heading.
Keep the browser and VS Code side by side. Live Server reloads every time they save.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Inline styles are handy for a quick test but a nightmare to maintain: to change the colour of every price, you'd have to edit every element. They also beat almost every other rule, which makes debugging hard.
Internal (&lt;style&gt; in the head) is fine for a single page or a demo. That's what our numbered examples use, so everything is in one file.
External is what real sites use: one style.css linked from every page. The browser also downloads it once and caches it for the other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01_three_ways_example.html with Live Server, then open 01_external.css next to it.
Demo: change navy to darkred in 01_external.css and save. The h1 changes. If ten pages linked this file, all ten would change. That's the reason external stylesheets win.
Common bug for Try It 1: the href path is wrong (e.g. href="css/style.css" when the file isn't in a css folder). The browser fails silently. DevTools → Console shows a 404 for the missing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around and make sure EVERYONE has a working link before moving on. Everything else today depends on it.
The most common problems: forgot to save index.html; typed href="styles.css" (with an s); put the &lt;link&gt; inside &lt;body&gt;; or opened index.html directly from File Explorer instead of with Live Server (it still works, it just doesn't auto-reload).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selector and find what it styles in the result.
Class vs id: a class can be used on as many elements as you like, and one element can have several classes (class="menu-item special"). An id must be unique on the page. We've already used ids for links (href="#menu") and aria-labelledby.
Naming: lower case, words joined with hyphens: menu-item, not MenuItem or menu item (a space would make it TWO classes).
In the HTML it's class="price" (no dot); in the CSS it's .price (with a dot). That's the most common mistake in Try It 2.
Note the 'Contact us' link at the bottom stays blue. It isn't inside a nav, so 'nav a' doesn't match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change in this one: HTML (adding class attributes) and CSS. That's the normal workflow: the HTML says what something is (this is a price), the CSS says how prices look.
If the Lobster Roll isn't highlighted: check class="special" is on the &lt;article&gt;, not the &lt;h3&gt;.
The nav links turning navy matters in Try It 3: on a navy header they'll disappear, and we'll fix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Hex: #RRGGBB, two digits each for red, green and blue, from 00 (none) to FF (full). #000000 is black, #FFFFFF is white, #FF0000 is red. rgb(255, 0, 0) is the same red written in decimal.
Colour names: there are about 140 (navy, teal, darkorange, hotpink…). Handy for testing; real designs use hex.
Contrast ties back to Class 4 and 5 (Perceivable). Lighthouse flags low contrast. The interesting one here: the brand orange from our logo fails for body text (3.1 : 1). It's fine for big bold headings or decoration, but prices need the darker orange.
DevTools: right-click text → Inspect → in Styles, click the small colour square next to color. The picker shows 'Contrast ratio' with a ✓ or ✗ for AA and AAA.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is a planned 'bug'. Text colour is inherited from the header, BUT the h1 has its own rule (h1, h2 { color: navy }) and a rule aimed at the element itself always beats an inherited value. 'header h1' targets the h1 more specifically, so it wins. Full explanation in Concept 7.
Colour picking: coolors.co and Adobe Color are good palette generators. WebAIM's contrast checker (webaim.org/resources/contrastchecker) is another way to check a pair of colours.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Font stacks: we can only use fonts the visitor's computer has (or ones we download, like Google Fonts). 'Segoe UI' is on Windows; Mac users fall back to Arial; and if all else fails, any sans-serif. Font names with spaces need quotes.
rem: 1rem = the browser's default font size, usually 16px. People with low vision often turn that up in their browser settings. Text sized in rem grows with it; text sized in px doesn't. That's a WCAG point (Resize Text, 1.4.4).
text-transform: uppercase vs typing in capitals: with CSS, the HTML still says 'Our Story', so screen readers read it normally (some read typed ALL CAPS letter by letter).
Google Fonts (fonts.google.com): pick a font, copy the &lt;link&gt; into your &lt;head&gt;, then use the font name in font-family. That's the bonus in Try It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body now has two rules (Activity 1's background, and this one). That's fine: the browser combines them. The answer key keeps them separate so you can see what each activity added.
For the Google Font bonus, 'Pacifico' or 'Lobster' are fun for the h1 of a fish-and-chip shop; 'Open Sans' or 'Lato' for body text. Remind them to keep a fallback: font-family: "Lobster", Georgia, serif;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element on the page is a rectangular box, even text and images. The box has four layers, from the inside out: content, padding, border, margin.
Padding is INSIDE the border, so it gets the background colour. Margin is OUTSIDE the border; it's always transparent, it just pushes other boxes away.
Shorthand: 'padding: 10px 20px' = top &amp; bottom 10, left &amp; right 20. Four values go clockwise from the top: top, right, bottom, left (remember 'TRouBLe').
Turn on DevTools → Elements → Computed to see this exact diagram for any element.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05_box_model_example.html. The two boxes have identical width, padding and border, but the first is visibly wider.
Most developers put this at the top of every stylesheet:
* { box-sizing: border-box; }
The * is the universal selector: every element. We'll do that in Try It 5.
Demo in DevTools: inspect the first box, open Computed, and hover over the box diagram. The page highlights margin (orange), border (yellow), padding (green) and content (blue). Those are the colours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visual change of the day. Resize the browser: the main column stays centred and never gets wider than 900px.
display is a big topic (block vs inline, then flexbox and grid). Here it's a sneak peek so the nav looks right. We'll cover it properly when we do layout.
Step 6 is deliberate: the Lobster Roll's .special highlight from Try It 2 is gone, because '#menu article' (white background) beats '.special'. Don't explain it yet. Students solve it with DevTools in Try It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max-width: 100% is the single most useful image rule. Without it, an 800px image on a 375px phone makes the whole page scroll sideways. With it, the image is never wider than its container. height: auto keeps the proportions (the HTML height attribute would otherwise stretch it).
This connects to last class: keep the width and height attributes in the HTML (so the browser reserves space), and let CSS decide the displayed size.
Centring an image: images are inline by default (they sit in a line of text like a big letter), so margin: auto doesn't centre them. display: block makes it a box of its own, then margin: 0 auto centres it.
object-fit: cover is how 'profile picture' circles are made from rectangular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ties the two classes together: the optimized image from Class 7 goes onto the page from Class 6's wireframe, styled with today's CSS.
Testing flexible images: drag the browser narrower, or use DevTools device mode (Ctrl + Shift + M) and pick a phone.
If a student's photo is portrait (taller than wide), it will be very tall. That's a good conversation: choose a landscape crop for a banner photo, or limit it with max-height and object-fit: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two rules set the same property on the same element, the browser has to choose. That decision is 'the cascade': the C in CSS.
1. Specificity: the more specific selector wins. Inline style beats an id, an id beats a class, a class beats an element. (A combination like '#menu article' counts the id AND the element, so it beats '.special'.)
2. If they're equally specific, the rule that comes LATER in the file wins.
3. Inheritance: some properties (color, font-family, line-height) pass down from parent to child, unless the child has its own rule. Others (background, border, padding, margin) don't.
Before showing the next slide, play 'Who wins?': show the CSS from Example 07 and have students predict the colour of each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CSS first (cover the result, or show the previous slide), and get predictions for each line. Then reveal.
Then open it in DevTools: inspect line 3. In Styles, #special is at the top; .notice and both p rules are listed below it with color crossed out. Inherited styles appear under 'Inherited from body'.
There's one level stronger than inline: !important. Mention that it exists and that students should avoid it: it's usually a sign the selectors need fixing.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Right-click anything → Inspect. The Styles pane (Edge/Chrome; Firefox calls it Rules) shows every rule that applies to the selected element, most specific first.
- Crossed-out declarations lost the cascade to a rule higher up.
- A yellow warning triangle means the browser didn't understand the line (typo, colour vs color, missing unit).
- Checkboxes appear on hover: untick to switch a declaration off.
- Click any value to edit it live. Click a colour square for the colour picker and contrast ratio.
- The link on the right (style.css:42) jumps to the line in the Sources panel.
IMPORTANT: DevTools changes vanish on reload. When you find something you like, copy it into style.css.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'#menu article' (one id + one element) beats '.special' (one class). It doesn't matter that .special came first or last; specificity is checked before order.
The fix: '#menu .special' (one id + one class) beats '#menu article' (one id + one element). Something like 'article.special' isn't enough, because it has no id. This is why many developers avoid id selectors in CSS: they're so strong they're hard to override. Classes for styling, ids for links and labels is a good habit.
Step 5: changes made in DevTools disappear on reload. It's a sandbox for trying things, and then you copy what works into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is short, students submit what they have and finish 'make it yours' as homework.
What to collect on Brightspace: a screenshot of their page in the browser, and their style.css file. Checking style.css tells you whether they actually wrote the rules (look for their own colours and at least two changes beyond the answer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Usual answers: the box model round (centring main, cards) makes the biggest visual jump. Common bugs: a missing semicolon or brace, 'colour', a class typed with a dot in the HTML, and the specificity mystery.
Why classes: change one rule and every price updates; the HTML stays clean; and inline styles are so specific they're hard to override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we used today, in one place. It's also in the README. Students can keep this slide open while they finish 'make it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more selectors (pseudo-classes like :hover and :focus), styling navigation menus and tables, and checking our code with the W3C validator. Then layout with flexbox.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274320" y="274320"/>
            <a:ext cx="2743200" cy="365760"/>
          </a:xfrm>
          <a:prstGeom prst="rect">
            <a:avLst/>
          </a:prstGeom>
          <a:noFill/>
          <a:ln/>
        </p:spPr>
        <p:txBody>
          <a:bodyPr wrap="square" lIns="0" tIns="0" rIns="0" bIns="0" rtlCol="0" anchor="ctr"/>
          <a:lstStyle/>
          <a:p>
            <a:pPr indent="0" marL="0">
              <a:buNone/>
            </a:pPr>
            <a:r>
              <a:rPr lang="en-US" sz="1600" dirty="0">
                <a:solidFill>
                  <a:srgbClr val="000000"/>
                </a:solidFill>
                <a:latin typeface="Aptos" pitchFamily="34" charset="0"/>
                <a:ea typeface="Aptos" pitchFamily="34" charset="-122"/>
                <a:cs typeface="Aptos" pitchFamily="34" charset="-120"/>
              </a:rPr>
              <a:t>WEBD 1000</a:t>
            </a:r>
            <a:endParaRPr lang="en-US" sz="1600" dirty="0"/>
          </a:p>
        </p:txBody>
      </p:sp>
      <p:sp>
        <p:nvSpPr>
          <p:cNvPr id="3" name="Shape 1"/>
          <p:cNvSpPr/>
          <p:nvPr/>
        </p:nvSpPr>
        <p:spPr>
          <a:xfrm>
            <a:off x="502920" y="1005840"/>
            <a:ext cx="5120640" cy="5120640"/>
          </a:xfrm>
          <a:prstGeom prst="ellipse">
            <a:avLst/>
          </a:prstGeom>
          <a:solidFill>
            <a:srgbClr val="E97132"/>
          </a:solidFill>
          <a:ln w="12700">
            <a:solidFill>
              <a:srgbClr val="E97132"/>
            </a:solidFill>
            <a:prstDash val="solid"/>
          </a:ln>
        </p:spPr>
      </p:sp>
      <p:sp>
        <p:nvSpPr>
          <p:cNvPr id="4" name="Text 2"/>
          <p:cNvSpPr txBox="1"/>
          <p:nvPr/>
        </p:nvSpPr>
        <p:spPr>
          <a:xfrm>
            <a:off x="1325880" y="2194560"/>
            <a:ext cx="3840480" cy="2651760"/>
          </a:xfrm>
          <a:prstGeom prst="rect">
            <a:avLst/>
          </a:prstGeom>
          <a:noFill/>
          <a:ln/>
        </p:spPr>
        <p:txBody>
          <a:bodyPr wrap="square" lIns="0" tIns="0" rIns="0" bIns="0" rtlCol="0" anchor="ctr"/>
          <a:lstStyle/>
          <a:p>
            <a:pPr indent="0" marL="0">
              <a:buNone/>
            </a:pPr>
            <a:r>
              <a:rPr lang="en-US" sz="4600" dirty="0">
                <a:solidFill>
                  <a:srgbClr val="FFFFFF"/>
                </a:solidFill>
                <a:latin typeface="Aptos" pitchFamily="34" charset="0"/>
                <a:ea typeface="Aptos" pitchFamily="34" charset="-122"/>
                <a:cs typeface="Aptos" pitchFamily="34" charset="-120"/>
              </a:rPr>
              <a:t>HTML/CSS Techniques</a:t>
            </a:r>
            <a:endParaRPr lang="en-US" sz="4600" dirty="0"/>
          </a:p>
        </p:txBody>
      </p:sp>
      <p:sp>
        <p:nvSpPr>
          <p:cNvPr id="5" name="Shape 3"/>
          <p:cNvSpPr/>
          <p:nvPr/>
        </p:nvSpPr>
        <p:spPr>
          <a:xfrm>
            <a:off x="914400" y="5257800"/>
            <a:ext cx="566928" cy="566928"/>
          </a:xfrm>
          <a:prstGeom prst="ellipse">
            <a:avLst/>
          </a:prstGeom>
          <a:solidFill>
            <a:srgbClr val="A02B93"/>
          </a:solidFill>
          <a:ln w="12700">
            <a:solidFill>
              <a:srgbClr val="A02B93"/>
            </a:solidFill>
            <a:prstDash val="solid"/>
          </a:ln>
        </p:spPr>
      </p:sp>
      <p:sp>
        <p:nvSpPr>
          <p:cNvPr id="6" name="Shape 4"/>
          <p:cNvSpPr/>
          <p:nvPr/>
        </p:nvSpPr>
        <p:spPr>
          <a:xfrm>
            <a:off x="8778240" y="685800"/>
            <a:ext cx="3017520" cy="3017520"/>
          </a:xfrm>
          <a:prstGeom prst="arc">
            <a:avLst>
              <a:gd name="adj1" fmla="val 12000000"/>
              <a:gd name="adj2" fmla="val 1200000"/>
            </a:avLst>
          </a:prstGeom>
          <a:noFill/>
          <a:ln w="88900">
            <a:solidFill>
              <a:srgbClr val="0F9ED5"/>
            </a:solidFill>
            <a:prstDash val="dash"/>
          </a:ln>
        </p:spPr>
      </p:sp>
      <p:sp>
        <p:nvSpPr>
          <p:cNvPr id="7" name="Text 5"/>
          <p:cNvSpPr txBox="1"/>
          <p:nvPr/>
        </p:nvSpPr>
        <p:spPr>
          <a:xfrm>
            <a:off x="6263640" y="1737360"/>
            <a:ext cx="5120640" cy="2011680"/>
          </a:xfrm>
          <a:prstGeom prst="rect">
            <a:avLst/>
          </a:prstGeom>
          <a:noFill/>
          <a:ln/>
        </p:spPr>
        <p:txBody>
          <a:bodyPr wrap="square" lIns="0" tIns="0" rIns="0" bIns="0" rtlCol="0" anchor="t"/>
          <a:lstStyle/>
          <a:p>
            <a:pPr marL="342900" indent="-342900">
              <a:buSzPct val="100000"/>
              <a:buChar char="•"/>
            </a:pPr>
            <a:r>
              <a:rPr lang="en-US" sz="3000" dirty="0">
                <a:solidFill>
                  <a:srgbClr val="000000"/>
                </a:solidFill>
                <a:latin typeface="Aptos" pitchFamily="34" charset="0"/>
                <a:ea typeface="Aptos" pitchFamily="34" charset="-122"/>
                <a:cs typeface="Aptos" pitchFamily="34" charset="-120"/>
              </a:rPr>
              <a:t>Class 8:</a:t>
            </a:r>
            <a:endParaRPr lang="en-US" sz="3000" dirty="0"/>
          </a:p>
          <a:p>
            <a:pPr lvl="1" marL="685800" indent="-342900">
              <a:spcBef>
                <a:spcPts val="600"/>
              </a:spcBef>
              <a:buSzPct val="100000"/>
              <a:buChar char="○"/>
            </a:pPr>
            <a:r>
              <a:rPr lang="en-US" sz="2600" dirty="0">
                <a:solidFill>
                  <a:srgbClr val="000000"/>
                </a:solidFill>
                <a:latin typeface="Aptos" pitchFamily="34" charset="0"/>
                <a:ea typeface="Aptos" pitchFamily="34" charset="-122"/>
                <a:cs typeface="Aptos" pitchFamily="34" charset="-120"/>
              </a:rPr>
              <a:t>Intro to CSS: making our HTML look good.</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5840" y="685800"/>
            <a:ext cx="7315200" cy="822960"/>
          </a:xfrm>
          <a:prstGeom prst="rect">
            <a:avLst/>
          </a:prstGeom>
          <a:noFill/>
          <a:ln/>
        </p:spPr>
        <p:txBody>
          <a:bodyPr wrap="square" lIns="0" tIns="0" rIns="0" bIns="0" rtlCol="0" anchor="ctr"/>
          <a:lstStyle/>
          <a:p>
            <a:pPr indent="0" marL="0">
              <a:buNone/>
            </a:pPr>
            <a:r>
              <a:rPr lang="en-US" sz="4400" dirty="0">
                <a:solidFill>
                  <a:srgbClr val="000000"/>
                </a:solidFill>
                <a:latin typeface="Aptos" pitchFamily="34" charset="0"/>
                <a:ea typeface="Aptos" pitchFamily="34" charset="-122"/>
                <a:cs typeface="Aptos" pitchFamily="34" charset="-120"/>
              </a:rPr>
              <a:t>Attendance</a:t>
            </a:r>
            <a:endParaRPr lang="en-US" sz="4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Class 8: Class Overview</a:t>
            </a:r>
            <a:endParaRPr lang="en-US" sz="2800" dirty="0"/>
          </a:p>
        </p:txBody>
      </p:sp>
      <p:sp>
        <p:nvSpPr>
          <p:cNvPr id="7" name="Text 4"/>
          <p:cNvSpPr txBox="1"/>
          <p:nvPr/>
        </p:nvSpPr>
        <p:spPr>
          <a:xfrm>
            <a:off x="4754880" y="1783080"/>
            <a:ext cx="6903720" cy="3291840"/>
          </a:xfrm>
          <a:prstGeom prst="rect">
            <a:avLst/>
          </a:prstGeom>
          <a:noFill/>
          <a:ln/>
        </p:spPr>
        <p:txBody>
          <a:bodyPr wrap="square" lIns="0" tIns="0" rIns="0" bIns="0" rtlCol="0" anchor="t"/>
          <a:lstStyle/>
          <a:p>
            <a:pPr marL="342900" indent="-342900">
              <a:buSzPct val="100000"/>
              <a:buChar char="•"/>
            </a:pPr>
            <a:r>
              <a:rPr lang="en-US" sz="2200" b="1" dirty="0">
                <a:solidFill>
                  <a:srgbClr val="000000"/>
                </a:solidFill>
                <a:latin typeface="Aptos" pitchFamily="34" charset="0"/>
                <a:ea typeface="Aptos" pitchFamily="34" charset="-122"/>
                <a:cs typeface="Aptos" pitchFamily="34" charset="-120"/>
              </a:rPr>
              <a:t>Title: </a:t>
            </a:r>
            <a:pPr indent="0" marL="0">
              <a:buNone/>
            </a:pPr>
            <a:r>
              <a:rPr lang="en-US" sz="2200" dirty="0">
                <a:solidFill>
                  <a:srgbClr val="000000"/>
                </a:solidFill>
                <a:latin typeface="Aptos" pitchFamily="34" charset="0"/>
                <a:ea typeface="Aptos" pitchFamily="34" charset="-122"/>
                <a:cs typeface="Aptos" pitchFamily="34" charset="-120"/>
              </a:rPr>
              <a:t>Intro to CSS</a:t>
            </a:r>
            <a:endParaRPr lang="en-US" sz="2200" dirty="0"/>
          </a:p>
          <a:p>
            <a:pPr indent="0" marL="0">
              <a:buNone/>
            </a:pPr>
            <a:r>
              <a:rPr lang="en-US" sz="1000" dirty="0">
                <a:solidFill>
                  <a:srgbClr val="000000"/>
                </a:solidFill>
                <a:latin typeface="Aptos" pitchFamily="34" charset="0"/>
                <a:ea typeface="Aptos" pitchFamily="34" charset="-122"/>
                <a:cs typeface="Aptos" pitchFamily="34" charset="-120"/>
              </a:rPr>
              <a:t> </a:t>
            </a:r>
            <a:endParaRPr lang="en-US" sz="2200" dirty="0"/>
          </a:p>
          <a:p>
            <a:pPr marL="342900" indent="-342900">
              <a:buSzPct val="100000"/>
              <a:buChar char="•"/>
            </a:pPr>
            <a:r>
              <a:rPr lang="en-US" sz="2200" b="1" dirty="0">
                <a:solidFill>
                  <a:srgbClr val="000000"/>
                </a:solidFill>
                <a:latin typeface="Aptos" pitchFamily="34" charset="0"/>
                <a:ea typeface="Aptos" pitchFamily="34" charset="-122"/>
                <a:cs typeface="Aptos" pitchFamily="34" charset="-120"/>
              </a:rPr>
              <a:t>Agenda:</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What CSS is, and how a rule is written</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Seven rounds of concept → try it:</a:t>
            </a:r>
            <a:endParaRPr lang="en-US" sz="2200" dirty="0"/>
          </a:p>
          <a:p>
            <a:pPr lvl="2" marL="1028700" indent="-342900">
              <a:spcBef>
                <a:spcPts val="200"/>
              </a:spcBef>
              <a:buSzPct val="100000"/>
              <a:buChar char="•"/>
            </a:pPr>
            <a:r>
              <a:rPr lang="en-US" sz="1500" dirty="0">
                <a:solidFill>
                  <a:srgbClr val="595959"/>
                </a:solidFill>
                <a:latin typeface="Aptos" pitchFamily="34" charset="0"/>
                <a:ea typeface="Aptos" pitchFamily="34" charset="-122"/>
                <a:cs typeface="Aptos" pitchFamily="34" charset="-120"/>
              </a:rPr>
              <a:t>linking CSS · selectors · colour · text · the box model · images · the cascade and DevTools</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Make it yours, and submit</a:t>
            </a:r>
            <a:endParaRPr lang="en-US" sz="2200" dirty="0"/>
          </a:p>
        </p:txBody>
      </p:sp>
      <p:sp>
        <p:nvSpPr>
          <p:cNvPr id="8" name="Shape 5"/>
          <p:cNvSpPr/>
          <p:nvPr/>
        </p:nvSpPr>
        <p:spPr>
          <a:xfrm>
            <a:off x="4754880" y="5120640"/>
            <a:ext cx="2011680" cy="1051560"/>
          </a:xfrm>
          <a:prstGeom prst="roundRect">
            <a:avLst>
              <a:gd name="adj" fmla="val 10435"/>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4937760" y="5212080"/>
            <a:ext cx="1645920" cy="411480"/>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Concept</a:t>
            </a:r>
            <a:endParaRPr lang="en-US" sz="1700" dirty="0"/>
          </a:p>
        </p:txBody>
      </p:sp>
      <p:sp>
        <p:nvSpPr>
          <p:cNvPr id="10" name="Text 7"/>
          <p:cNvSpPr txBox="1"/>
          <p:nvPr/>
        </p:nvSpPr>
        <p:spPr>
          <a:xfrm>
            <a:off x="4937760" y="5623560"/>
            <a:ext cx="1645920" cy="457200"/>
          </a:xfrm>
          <a:prstGeom prst="rect">
            <a:avLst/>
          </a:prstGeom>
          <a:noFill/>
          <a:ln/>
        </p:spPr>
        <p:txBody>
          <a:bodyPr wrap="square" lIns="0" tIns="0" rIns="0" bIns="0" rtlCol="0" anchor="t"/>
          <a:lstStyle/>
          <a:p>
            <a:pPr indent="0" marL="0">
              <a:buNone/>
            </a:pPr>
            <a:r>
              <a:rPr lang="en-US" sz="1250" dirty="0">
                <a:solidFill>
                  <a:srgbClr val="595959"/>
                </a:solidFill>
                <a:latin typeface="Aptos" pitchFamily="34" charset="0"/>
                <a:ea typeface="Aptos" pitchFamily="34" charset="-122"/>
                <a:cs typeface="Aptos" pitchFamily="34" charset="-120"/>
              </a:rPr>
              <a:t>One idea, one example</a:t>
            </a:r>
            <a:endParaRPr lang="en-US" sz="1250" dirty="0"/>
          </a:p>
        </p:txBody>
      </p:sp>
      <p:sp>
        <p:nvSpPr>
          <p:cNvPr id="11" name="Text 8"/>
          <p:cNvSpPr txBox="1"/>
          <p:nvPr/>
        </p:nvSpPr>
        <p:spPr>
          <a:xfrm>
            <a:off x="6766560" y="5120640"/>
            <a:ext cx="365760" cy="1051560"/>
          </a:xfrm>
          <a:prstGeom prst="rect">
            <a:avLst/>
          </a:prstGeom>
          <a:noFill/>
          <a:ln/>
        </p:spPr>
        <p:txBody>
          <a:bodyPr wrap="square" lIns="0" tIns="0" rIns="0" bIns="0" rtlCol="0" anchor="ctr"/>
          <a:lstStyle/>
          <a:p>
            <a:pPr algn="ctr" indent="0" marL="0">
              <a:buNone/>
            </a:pPr>
            <a:r>
              <a:rPr lang="en-US" sz="2200" b="1" dirty="0">
                <a:solidFill>
                  <a:srgbClr val="E97132"/>
                </a:solidFill>
                <a:latin typeface="Aptos" pitchFamily="34" charset="0"/>
                <a:ea typeface="Aptos" pitchFamily="34" charset="-122"/>
                <a:cs typeface="Aptos" pitchFamily="34" charset="-120"/>
              </a:rPr>
              <a:t>→</a:t>
            </a:r>
            <a:endParaRPr lang="en-US" sz="2200" dirty="0"/>
          </a:p>
        </p:txBody>
      </p:sp>
      <p:sp>
        <p:nvSpPr>
          <p:cNvPr id="12" name="Shape 9"/>
          <p:cNvSpPr/>
          <p:nvPr/>
        </p:nvSpPr>
        <p:spPr>
          <a:xfrm>
            <a:off x="7132320" y="5120640"/>
            <a:ext cx="2011680" cy="1051560"/>
          </a:xfrm>
          <a:prstGeom prst="roundRect">
            <a:avLst>
              <a:gd name="adj" fmla="val 10435"/>
            </a:avLst>
          </a:prstGeom>
          <a:solidFill>
            <a:srgbClr val="E97132"/>
          </a:solidFill>
          <a:ln w="9525">
            <a:solidFill>
              <a:srgbClr val="E97132"/>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7315200" y="5212080"/>
            <a:ext cx="1645920" cy="411480"/>
          </a:xfrm>
          <a:prstGeom prst="rect">
            <a:avLst/>
          </a:prstGeom>
          <a:noFill/>
          <a:ln/>
        </p:spPr>
        <p:txBody>
          <a:bodyPr wrap="square" lIns="0" tIns="0" rIns="0" bIns="0" rtlCol="0" anchor="ctr"/>
          <a:lstStyle/>
          <a:p>
            <a:pPr indent="0" marL="0">
              <a:buNone/>
            </a:pPr>
            <a:r>
              <a:rPr lang="en-US" sz="1700" b="1" dirty="0">
                <a:solidFill>
                  <a:srgbClr val="FFFFFF"/>
                </a:solidFill>
                <a:latin typeface="Aptos" pitchFamily="34" charset="0"/>
                <a:ea typeface="Aptos" pitchFamily="34" charset="-122"/>
                <a:cs typeface="Aptos" pitchFamily="34" charset="-120"/>
              </a:rPr>
              <a:t>Try it</a:t>
            </a:r>
            <a:endParaRPr lang="en-US" sz="1700" dirty="0"/>
          </a:p>
        </p:txBody>
      </p:sp>
      <p:sp>
        <p:nvSpPr>
          <p:cNvPr id="14" name="Text 11"/>
          <p:cNvSpPr txBox="1"/>
          <p:nvPr/>
        </p:nvSpPr>
        <p:spPr>
          <a:xfrm>
            <a:off x="7315200" y="5623560"/>
            <a:ext cx="1645920" cy="457200"/>
          </a:xfrm>
          <a:prstGeom prst="rect">
            <a:avLst/>
          </a:prstGeom>
          <a:noFill/>
          <a:ln/>
        </p:spPr>
        <p:txBody>
          <a:bodyPr wrap="square" lIns="0" tIns="0" rIns="0" bIns="0" rtlCol="0" anchor="t"/>
          <a:lstStyle/>
          <a:p>
            <a:pPr indent="0" marL="0">
              <a:buNone/>
            </a:pPr>
            <a:r>
              <a:rPr lang="en-US" sz="1250" dirty="0">
                <a:solidFill>
                  <a:srgbClr val="FFFFFF"/>
                </a:solidFill>
                <a:latin typeface="Aptos" pitchFamily="34" charset="0"/>
                <a:ea typeface="Aptos" pitchFamily="34" charset="-122"/>
                <a:cs typeface="Aptos" pitchFamily="34" charset="-120"/>
              </a:rPr>
              <a:t>Add it to the Harbourside page</a:t>
            </a:r>
            <a:endParaRPr lang="en-US" sz="1250" dirty="0"/>
          </a:p>
        </p:txBody>
      </p:sp>
      <p:sp>
        <p:nvSpPr>
          <p:cNvPr id="15" name="Text 12"/>
          <p:cNvSpPr txBox="1"/>
          <p:nvPr/>
        </p:nvSpPr>
        <p:spPr>
          <a:xfrm>
            <a:off x="9144000" y="5120640"/>
            <a:ext cx="365760" cy="1051560"/>
          </a:xfrm>
          <a:prstGeom prst="rect">
            <a:avLst/>
          </a:prstGeom>
          <a:noFill/>
          <a:ln/>
        </p:spPr>
        <p:txBody>
          <a:bodyPr wrap="square" lIns="0" tIns="0" rIns="0" bIns="0" rtlCol="0" anchor="ctr"/>
          <a:lstStyle/>
          <a:p>
            <a:pPr algn="ctr" indent="0" marL="0">
              <a:buNone/>
            </a:pPr>
            <a:r>
              <a:rPr lang="en-US" sz="2200" b="1" dirty="0">
                <a:solidFill>
                  <a:srgbClr val="E97132"/>
                </a:solidFill>
                <a:latin typeface="Aptos" pitchFamily="34" charset="0"/>
                <a:ea typeface="Aptos" pitchFamily="34" charset="-122"/>
                <a:cs typeface="Aptos" pitchFamily="34" charset="-120"/>
              </a:rPr>
              <a:t>→</a:t>
            </a:r>
            <a:endParaRPr lang="en-US" sz="2200" dirty="0"/>
          </a:p>
        </p:txBody>
      </p:sp>
      <p:sp>
        <p:nvSpPr>
          <p:cNvPr id="16" name="Shape 13"/>
          <p:cNvSpPr/>
          <p:nvPr/>
        </p:nvSpPr>
        <p:spPr>
          <a:xfrm>
            <a:off x="9509760" y="5120640"/>
            <a:ext cx="2011680" cy="1051560"/>
          </a:xfrm>
          <a:prstGeom prst="roundRect">
            <a:avLst>
              <a:gd name="adj" fmla="val 10435"/>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7" name="Text 14"/>
          <p:cNvSpPr txBox="1"/>
          <p:nvPr/>
        </p:nvSpPr>
        <p:spPr>
          <a:xfrm>
            <a:off x="9692640" y="5212080"/>
            <a:ext cx="1645920" cy="411480"/>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Repeat</a:t>
            </a:r>
            <a:endParaRPr lang="en-US" sz="1700" dirty="0"/>
          </a:p>
        </p:txBody>
      </p:sp>
      <p:sp>
        <p:nvSpPr>
          <p:cNvPr id="18" name="Text 15"/>
          <p:cNvSpPr txBox="1"/>
          <p:nvPr/>
        </p:nvSpPr>
        <p:spPr>
          <a:xfrm>
            <a:off x="9692640" y="5623560"/>
            <a:ext cx="1645920" cy="457200"/>
          </a:xfrm>
          <a:prstGeom prst="rect">
            <a:avLst/>
          </a:prstGeom>
          <a:noFill/>
          <a:ln/>
        </p:spPr>
        <p:txBody>
          <a:bodyPr wrap="square" lIns="0" tIns="0" rIns="0" bIns="0" rtlCol="0" anchor="t"/>
          <a:lstStyle/>
          <a:p>
            <a:pPr indent="0" marL="0">
              <a:buNone/>
            </a:pPr>
            <a:r>
              <a:rPr lang="en-US" sz="1250" dirty="0">
                <a:solidFill>
                  <a:srgbClr val="595959"/>
                </a:solidFill>
                <a:latin typeface="Aptos" pitchFamily="34" charset="0"/>
                <a:ea typeface="Aptos" pitchFamily="34" charset="-122"/>
                <a:cs typeface="Aptos" pitchFamily="34" charset="-120"/>
              </a:rPr>
              <a:t>Seven times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Before We Start: Get the Code</a:t>
            </a:r>
            <a:endParaRPr lang="en-US" sz="2800" dirty="0"/>
          </a:p>
        </p:txBody>
      </p:sp>
      <p:sp>
        <p:nvSpPr>
          <p:cNvPr id="7" name="Text 4"/>
          <p:cNvSpPr txBox="1"/>
          <p:nvPr/>
        </p:nvSpPr>
        <p:spPr>
          <a:xfrm>
            <a:off x="4754880" y="1783080"/>
            <a:ext cx="6903720" cy="36576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1.  Pull this week's examples</a:t>
            </a:r>
            <a:endParaRPr lang="en-US" sz="1800" dirty="0"/>
          </a:p>
        </p:txBody>
      </p:sp>
      <p:sp>
        <p:nvSpPr>
          <p:cNvPr id="8" name="Shape 5"/>
          <p:cNvSpPr/>
          <p:nvPr/>
        </p:nvSpPr>
        <p:spPr>
          <a:xfrm>
            <a:off x="4754880" y="2240280"/>
            <a:ext cx="4754880" cy="64008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9" name="Text 6"/>
          <p:cNvSpPr txBox="1"/>
          <p:nvPr/>
        </p:nvSpPr>
        <p:spPr>
          <a:xfrm>
            <a:off x="4870094" y="2355494"/>
            <a:ext cx="4524451" cy="409651"/>
          </a:xfrm>
          <a:prstGeom prst="rect">
            <a:avLst/>
          </a:prstGeom>
          <a:noFill/>
          <a:ln/>
        </p:spPr>
        <p:txBody>
          <a:bodyPr wrap="square" lIns="0" tIns="0" rIns="0" bIns="0" rtlCol="0" anchor="t"/>
          <a:lstStyle/>
          <a:p>
            <a:pPr indent="0" marL="0">
              <a:lnSpc>
                <a:spcPct val="100000"/>
              </a:lnSpc>
              <a:buNone/>
            </a:pPr>
            <a:r>
              <a:rPr lang="en-US" sz="1600" dirty="0">
                <a:solidFill>
                  <a:srgbClr val="D4D4D4"/>
                </a:solidFill>
                <a:latin typeface="Consolas" pitchFamily="34" charset="0"/>
                <a:ea typeface="Consolas" pitchFamily="34" charset="-122"/>
                <a:cs typeface="Consolas" pitchFamily="34" charset="-120"/>
              </a:rPr>
              <a:t>git pull</a:t>
            </a:r>
            <a:endParaRPr lang="en-US" sz="1600" dirty="0"/>
          </a:p>
        </p:txBody>
      </p:sp>
      <p:sp>
        <p:nvSpPr>
          <p:cNvPr id="10" name="Text 7"/>
          <p:cNvSpPr txBox="1"/>
          <p:nvPr/>
        </p:nvSpPr>
        <p:spPr>
          <a:xfrm>
            <a:off x="4754880" y="2971800"/>
            <a:ext cx="6903720" cy="457200"/>
          </a:xfrm>
          <a:prstGeom prst="rect">
            <a:avLst/>
          </a:prstGeom>
          <a:noFill/>
          <a:ln/>
        </p:spPr>
        <p:txBody>
          <a:bodyPr wrap="square" lIns="0" tIns="0" rIns="0" bIns="0" rtlCol="0" anchor="ctr"/>
          <a:lstStyle/>
          <a:p>
            <a:pPr indent="0" marL="0">
              <a:buNone/>
            </a:pPr>
            <a:r>
              <a:rPr lang="en-US" sz="1500" dirty="0">
                <a:solidFill>
                  <a:srgbClr val="262626"/>
                </a:solidFill>
                <a:latin typeface="Aptos" pitchFamily="34" charset="0"/>
                <a:ea typeface="Aptos" pitchFamily="34" charset="-122"/>
                <a:cs typeface="Aptos" pitchFamily="34" charset="-120"/>
              </a:rPr>
              <a:t>New folder: 05_Intro_to_CSS (examples 01–07, and the activity folder).</a:t>
            </a:r>
            <a:endParaRPr lang="en-US" sz="1500" dirty="0"/>
          </a:p>
        </p:txBody>
      </p:sp>
      <p:sp>
        <p:nvSpPr>
          <p:cNvPr id="11" name="Text 8"/>
          <p:cNvSpPr txBox="1"/>
          <p:nvPr/>
        </p:nvSpPr>
        <p:spPr>
          <a:xfrm>
            <a:off x="4754880" y="3611880"/>
            <a:ext cx="6903720" cy="36576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2.  Open the activity with Live Server</a:t>
            </a:r>
            <a:endParaRPr lang="en-US" sz="1800" dirty="0"/>
          </a:p>
        </p:txBody>
      </p:sp>
      <p:sp>
        <p:nvSpPr>
          <p:cNvPr id="12" name="Text 9"/>
          <p:cNvSpPr txBox="1"/>
          <p:nvPr/>
        </p:nvSpPr>
        <p:spPr>
          <a:xfrm>
            <a:off x="4754880" y="4023360"/>
            <a:ext cx="6903720" cy="731520"/>
          </a:xfrm>
          <a:prstGeom prst="rect">
            <a:avLst/>
          </a:prstGeom>
          <a:noFill/>
          <a:ln/>
        </p:spPr>
        <p:txBody>
          <a:bodyPr wrap="square" lIns="0" tIns="0" rIns="0" bIns="0" rtlCol="0" anchor="ctr"/>
          <a:lstStyle/>
          <a:p>
            <a:pPr indent="0" marL="0">
              <a:buNone/>
            </a:pPr>
            <a:r>
              <a:rPr lang="en-US" sz="1500" dirty="0">
                <a:solidFill>
                  <a:srgbClr val="262626"/>
                </a:solidFill>
                <a:latin typeface="Aptos" pitchFamily="34" charset="0"/>
                <a:ea typeface="Aptos" pitchFamily="34" charset="-122"/>
                <a:cs typeface="Aptos" pitchFamily="34" charset="-120"/>
              </a:rPr>
              <a:t>Right-click activity/index.html → Open with Live Server. Put VS Code and the browser side by side (Win + ← and Win + →).</a:t>
            </a:r>
            <a:endParaRPr lang="en-US" sz="1500" dirty="0"/>
          </a:p>
        </p:txBody>
      </p:sp>
      <p:sp>
        <p:nvSpPr>
          <p:cNvPr id="13" name="Text 10"/>
          <p:cNvSpPr txBox="1"/>
          <p:nvPr/>
        </p:nvSpPr>
        <p:spPr>
          <a:xfrm>
            <a:off x="4754880" y="4937760"/>
            <a:ext cx="6903720" cy="36576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3.  Have last class's photo handy</a:t>
            </a:r>
            <a:endParaRPr lang="en-US" sz="1800" dirty="0"/>
          </a:p>
        </p:txBody>
      </p:sp>
      <p:sp>
        <p:nvSpPr>
          <p:cNvPr id="14" name="Text 11"/>
          <p:cNvSpPr txBox="1"/>
          <p:nvPr/>
        </p:nvSpPr>
        <p:spPr>
          <a:xfrm>
            <a:off x="4754880" y="5349240"/>
            <a:ext cx="6903720" cy="457200"/>
          </a:xfrm>
          <a:prstGeom prst="rect">
            <a:avLst/>
          </a:prstGeom>
          <a:noFill/>
          <a:ln/>
        </p:spPr>
        <p:txBody>
          <a:bodyPr wrap="square" lIns="0" tIns="0" rIns="0" bIns="0" rtlCol="0" anchor="ctr"/>
          <a:lstStyle/>
          <a:p>
            <a:pPr indent="0" marL="0">
              <a:buNone/>
            </a:pPr>
            <a:r>
              <a:rPr lang="en-US" sz="1500" dirty="0">
                <a:solidFill>
                  <a:srgbClr val="262626"/>
                </a:solidFill>
                <a:latin typeface="Aptos" pitchFamily="34" charset="0"/>
                <a:ea typeface="Aptos" pitchFamily="34" charset="-122"/>
                <a:cs typeface="Aptos" pitchFamily="34" charset="-120"/>
              </a:rPr>
              <a:t>04_Images_for_the_Web/my_images/photo_1200.jpg. We'll put it on the page in Try It 6.</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What Is CSS?</a:t>
            </a:r>
            <a:endParaRPr lang="en-US" sz="2800" dirty="0"/>
          </a:p>
        </p:txBody>
      </p:sp>
      <p:pic>
        <p:nvPicPr>
          <p:cNvPr id="7" name="Image 0" descr="C:\Repos\2026-2027\WEBD1000\05_Intro_to_CSS\_build\shots\before.png">    </p:cNvPr>
          <p:cNvPicPr>
            <a:picLocks noChangeAspect="1"/>
          </p:cNvPicPr>
          <p:nvPr/>
        </p:nvPicPr>
        <p:blipFill>
          <a:blip r:embed="rId1"/>
          <a:stretch>
            <a:fillRect/>
          </a:stretch>
        </p:blipFill>
        <p:spPr>
          <a:xfrm>
            <a:off x="4754880" y="2057400"/>
            <a:ext cx="3291840" cy="2394065"/>
          </a:xfrm>
          <a:prstGeom prst="rect">
            <a:avLst/>
          </a:prstGeom>
        </p:spPr>
      </p:pic>
      <p:sp>
        <p:nvSpPr>
          <p:cNvPr id="8" name="Shape 4"/>
          <p:cNvSpPr/>
          <p:nvPr/>
        </p:nvSpPr>
        <p:spPr>
          <a:xfrm>
            <a:off x="4754880" y="2057400"/>
            <a:ext cx="3291840" cy="2394065"/>
          </a:xfrm>
          <a:prstGeom prst="rect">
            <a:avLst/>
          </a:prstGeom>
          <a:ln w="12700">
            <a:solidFill>
              <a:srgbClr val="B0B8BC"/>
            </a:solidFill>
            <a:prstDash val="solid"/>
          </a:ln>
        </p:spPr>
      </p:sp>
      <p:sp>
        <p:nvSpPr>
          <p:cNvPr id="9" name="Text 5"/>
          <p:cNvSpPr txBox="1"/>
          <p:nvPr/>
        </p:nvSpPr>
        <p:spPr>
          <a:xfrm>
            <a:off x="4754880" y="1764792"/>
            <a:ext cx="3291840"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HTML ONLY</a:t>
            </a:r>
            <a:endParaRPr lang="en-US" sz="1100" dirty="0"/>
          </a:p>
        </p:txBody>
      </p:sp>
      <p:pic>
        <p:nvPicPr>
          <p:cNvPr id="10" name="Image 1" descr="C:\Repos\2026-2027\WEBD1000\05_Intro_to_CSS\_build\shots\after.png">    </p:cNvPr>
          <p:cNvPicPr>
            <a:picLocks noChangeAspect="1"/>
          </p:cNvPicPr>
          <p:nvPr/>
        </p:nvPicPr>
        <p:blipFill>
          <a:blip r:embed="rId2"/>
          <a:stretch>
            <a:fillRect/>
          </a:stretch>
        </p:blipFill>
        <p:spPr>
          <a:xfrm>
            <a:off x="8366760" y="2057400"/>
            <a:ext cx="3291840" cy="2394065"/>
          </a:xfrm>
          <a:prstGeom prst="rect">
            <a:avLst/>
          </a:prstGeom>
        </p:spPr>
      </p:pic>
      <p:sp>
        <p:nvSpPr>
          <p:cNvPr id="11" name="Shape 6"/>
          <p:cNvSpPr/>
          <p:nvPr/>
        </p:nvSpPr>
        <p:spPr>
          <a:xfrm>
            <a:off x="8366760" y="2057400"/>
            <a:ext cx="3291840" cy="2394065"/>
          </a:xfrm>
          <a:prstGeom prst="rect">
            <a:avLst/>
          </a:prstGeom>
          <a:ln w="12700">
            <a:solidFill>
              <a:srgbClr val="B0B8BC"/>
            </a:solidFill>
            <a:prstDash val="solid"/>
          </a:ln>
        </p:spPr>
      </p:sp>
      <p:sp>
        <p:nvSpPr>
          <p:cNvPr id="12" name="Text 7"/>
          <p:cNvSpPr txBox="1"/>
          <p:nvPr/>
        </p:nvSpPr>
        <p:spPr>
          <a:xfrm>
            <a:off x="8366760" y="1764792"/>
            <a:ext cx="3291840"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HTML + CSS</a:t>
            </a:r>
            <a:endParaRPr lang="en-US" sz="1100" dirty="0"/>
          </a:p>
        </p:txBody>
      </p:sp>
      <p:sp>
        <p:nvSpPr>
          <p:cNvPr id="13" name="Text 8"/>
          <p:cNvSpPr txBox="1"/>
          <p:nvPr/>
        </p:nvSpPr>
        <p:spPr>
          <a:xfrm>
            <a:off x="4754880" y="4680065"/>
            <a:ext cx="6903720" cy="1675015"/>
          </a:xfrm>
          <a:prstGeom prst="rect">
            <a:avLst/>
          </a:prstGeom>
          <a:noFill/>
          <a:ln/>
        </p:spPr>
        <p:txBody>
          <a:bodyPr wrap="square" lIns="0" tIns="0" rIns="0" bIns="0" rtlCol="0" anchor="t"/>
          <a:lstStyle/>
          <a:p>
            <a:pPr marL="342900" indent="-342900">
              <a:buSzPct val="100000"/>
              <a:buChar char="•"/>
            </a:pPr>
            <a:r>
              <a:rPr lang="en-US" sz="1500" dirty="0">
                <a:solidFill>
                  <a:srgbClr val="262626"/>
                </a:solidFill>
                <a:latin typeface="Aptos" pitchFamily="34" charset="0"/>
                <a:ea typeface="Aptos" pitchFamily="34" charset="-122"/>
                <a:cs typeface="Aptos" pitchFamily="34" charset="-120"/>
              </a:rPr>
              <a:t>​</a:t>
            </a:r>
            <a:pPr indent="0" marL="0">
              <a:buNone/>
            </a:pPr>
            <a:r>
              <a:rPr lang="en-US" sz="1500" b="1" dirty="0">
                <a:solidFill>
                  <a:srgbClr val="262626"/>
                </a:solidFill>
                <a:latin typeface="Aptos" pitchFamily="34" charset="0"/>
                <a:ea typeface="Aptos" pitchFamily="34" charset="-122"/>
                <a:cs typeface="Aptos" pitchFamily="34" charset="-120"/>
              </a:rPr>
              <a:t>CSS</a:t>
            </a:r>
            <a:pPr indent="0" marL="0">
              <a:buNone/>
            </a:pPr>
            <a:r>
              <a:rPr lang="en-US" sz="1500" dirty="0">
                <a:solidFill>
                  <a:srgbClr val="262626"/>
                </a:solidFill>
                <a:latin typeface="Aptos" pitchFamily="34" charset="0"/>
                <a:ea typeface="Aptos" pitchFamily="34" charset="-122"/>
                <a:cs typeface="Aptos" pitchFamily="34" charset="-120"/>
              </a:rPr>
              <a:t> = Cascading Style Sheets. </a:t>
            </a:r>
            <a:pPr indent="0" marL="0">
              <a:buNone/>
            </a:pPr>
            <a:r>
              <a:rPr lang="en-US" sz="1500" b="1" dirty="0">
                <a:solidFill>
                  <a:srgbClr val="262626"/>
                </a:solidFill>
                <a:latin typeface="Aptos" pitchFamily="34" charset="0"/>
                <a:ea typeface="Aptos" pitchFamily="34" charset="-122"/>
                <a:cs typeface="Aptos" pitchFamily="34" charset="-120"/>
              </a:rPr>
              <a:t>HTML</a:t>
            </a:r>
            <a:pPr indent="0" marL="0">
              <a:buNone/>
            </a:pPr>
            <a:r>
              <a:rPr lang="en-US" sz="1500" dirty="0">
                <a:solidFill>
                  <a:srgbClr val="262626"/>
                </a:solidFill>
                <a:latin typeface="Aptos" pitchFamily="34" charset="0"/>
                <a:ea typeface="Aptos" pitchFamily="34" charset="-122"/>
                <a:cs typeface="Aptos" pitchFamily="34" charset="-120"/>
              </a:rPr>
              <a:t> says what things </a:t>
            </a:r>
            <a:pPr indent="0" marL="0">
              <a:buNone/>
            </a:pPr>
            <a:r>
              <a:rPr lang="en-US" sz="1500" i="1" dirty="0">
                <a:solidFill>
                  <a:srgbClr val="262626"/>
                </a:solidFill>
                <a:latin typeface="Aptos" pitchFamily="34" charset="0"/>
                <a:ea typeface="Aptos" pitchFamily="34" charset="-122"/>
                <a:cs typeface="Aptos" pitchFamily="34" charset="-120"/>
              </a:rPr>
              <a:t>are</a:t>
            </a:r>
            <a:pPr indent="0" marL="0">
              <a:buNone/>
            </a:pPr>
            <a:r>
              <a:rPr lang="en-US" sz="1500" dirty="0">
                <a:solidFill>
                  <a:srgbClr val="262626"/>
                </a:solidFill>
                <a:latin typeface="Aptos" pitchFamily="34" charset="0"/>
                <a:ea typeface="Aptos" pitchFamily="34" charset="-122"/>
                <a:cs typeface="Aptos" pitchFamily="34" charset="-120"/>
              </a:rPr>
              <a:t>. </a:t>
            </a:r>
            <a:pPr indent="0" marL="0">
              <a:buNone/>
            </a:pPr>
            <a:r>
              <a:rPr lang="en-US" sz="1500" b="1" dirty="0">
                <a:solidFill>
                  <a:srgbClr val="262626"/>
                </a:solidFill>
                <a:latin typeface="Aptos" pitchFamily="34" charset="0"/>
                <a:ea typeface="Aptos" pitchFamily="34" charset="-122"/>
                <a:cs typeface="Aptos" pitchFamily="34" charset="-120"/>
              </a:rPr>
              <a:t>CSS</a:t>
            </a:r>
            <a:pPr indent="0" marL="0">
              <a:buNone/>
            </a:pPr>
            <a:r>
              <a:rPr lang="en-US" sz="1500" dirty="0">
                <a:solidFill>
                  <a:srgbClr val="262626"/>
                </a:solidFill>
                <a:latin typeface="Aptos" pitchFamily="34" charset="0"/>
                <a:ea typeface="Aptos" pitchFamily="34" charset="-122"/>
                <a:cs typeface="Aptos" pitchFamily="34" charset="-120"/>
              </a:rPr>
              <a:t> says how they </a:t>
            </a:r>
            <a:pPr indent="0" marL="0">
              <a:buNone/>
            </a:pPr>
            <a:r>
              <a:rPr lang="en-US" sz="1500" i="1" dirty="0">
                <a:solidFill>
                  <a:srgbClr val="262626"/>
                </a:solidFill>
                <a:latin typeface="Aptos" pitchFamily="34" charset="0"/>
                <a:ea typeface="Aptos" pitchFamily="34" charset="-122"/>
                <a:cs typeface="Aptos" pitchFamily="34" charset="-120"/>
              </a:rPr>
              <a:t>look</a:t>
            </a:r>
            <a:pPr indent="0" marL="0">
              <a:buNone/>
            </a:pPr>
            <a:r>
              <a:rPr lang="en-US" sz="1500" dirty="0">
                <a:solidFill>
                  <a:srgbClr val="262626"/>
                </a:solidFill>
                <a:latin typeface="Aptos" pitchFamily="34" charset="0"/>
                <a:ea typeface="Aptos" pitchFamily="34" charset="-122"/>
                <a:cs typeface="Aptos" pitchFamily="34" charset="-120"/>
              </a:rPr>
              <a:t>.</a:t>
            </a:r>
            <a:endParaRPr lang="en-US" sz="1500" dirty="0"/>
          </a:p>
          <a:p>
            <a:pPr marL="342900" indent="-342900">
              <a:spcBef>
                <a:spcPts val="900"/>
              </a:spcBef>
              <a:buSzPct val="100000"/>
              <a:buChar char="•"/>
            </a:pPr>
            <a:r>
              <a:rPr lang="en-US" sz="1500" dirty="0">
                <a:solidFill>
                  <a:srgbClr val="262626"/>
                </a:solidFill>
                <a:latin typeface="Aptos" pitchFamily="34" charset="0"/>
                <a:ea typeface="Aptos" pitchFamily="34" charset="-122"/>
                <a:cs typeface="Aptos" pitchFamily="34" charset="-120"/>
              </a:rPr>
              <a:t>​</a:t>
            </a:r>
            <a:pPr indent="0" marL="0">
              <a:buNone/>
            </a:pPr>
            <a:r>
              <a:rPr lang="en-US" sz="1500" dirty="0">
                <a:solidFill>
                  <a:srgbClr val="262626"/>
                </a:solidFill>
                <a:latin typeface="Aptos" pitchFamily="34" charset="0"/>
                <a:ea typeface="Aptos" pitchFamily="34" charset="-122"/>
                <a:cs typeface="Aptos" pitchFamily="34" charset="-120"/>
              </a:rPr>
              <a:t>Same index.html in both pictures. The only difference is </a:t>
            </a:r>
            <a:pPr indent="0" marL="0">
              <a:buNone/>
            </a:pPr>
            <a:r>
              <a:rPr lang="en-US" sz="1500" b="1" dirty="0">
                <a:solidFill>
                  <a:srgbClr val="262626"/>
                </a:solidFill>
                <a:latin typeface="Aptos" pitchFamily="34" charset="0"/>
                <a:ea typeface="Aptos" pitchFamily="34" charset="-122"/>
                <a:cs typeface="Aptos" pitchFamily="34" charset="-120"/>
              </a:rPr>
              <a:t>one linked .css file</a:t>
            </a:r>
            <a:pPr indent="0" marL="0">
              <a:buNone/>
            </a:pPr>
            <a:r>
              <a:rPr lang="en-US" sz="1500" dirty="0">
                <a:solidFill>
                  <a:srgbClr val="262626"/>
                </a:solidFill>
                <a:latin typeface="Aptos" pitchFamily="34" charset="0"/>
                <a:ea typeface="Aptos" pitchFamily="34" charset="-122"/>
                <a:cs typeface="Aptos" pitchFamily="34" charset="-120"/>
              </a:rPr>
              <a:t>.</a:t>
            </a:r>
            <a:endParaRPr lang="en-US" sz="1500" dirty="0"/>
          </a:p>
          <a:p>
            <a:pPr marL="342900" indent="-342900">
              <a:spcBef>
                <a:spcPts val="900"/>
              </a:spcBef>
              <a:buSzPct val="100000"/>
              <a:buChar char="•"/>
            </a:pPr>
            <a:r>
              <a:rPr lang="en-US" sz="1500" dirty="0">
                <a:solidFill>
                  <a:srgbClr val="262626"/>
                </a:solidFill>
                <a:latin typeface="Aptos" pitchFamily="34" charset="0"/>
                <a:ea typeface="Aptos" pitchFamily="34" charset="-122"/>
                <a:cs typeface="Aptos" pitchFamily="34" charset="-120"/>
              </a:rPr>
              <a:t>​</a:t>
            </a:r>
            <a:pPr indent="0" marL="0">
              <a:buNone/>
            </a:pPr>
            <a:r>
              <a:rPr lang="en-US" sz="1500" dirty="0">
                <a:solidFill>
                  <a:srgbClr val="262626"/>
                </a:solidFill>
                <a:latin typeface="Aptos" pitchFamily="34" charset="0"/>
                <a:ea typeface="Aptos" pitchFamily="34" charset="-122"/>
                <a:cs typeface="Aptos" pitchFamily="34" charset="-120"/>
              </a:rPr>
              <a:t>One stylesheet can style a whole site. Change it once, every page updates.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Anatomy of a CSS Rule</a:t>
            </a:r>
            <a:endParaRPr lang="en-US" sz="2800" dirty="0"/>
          </a:p>
        </p:txBody>
      </p:sp>
      <p:sp>
        <p:nvSpPr>
          <p:cNvPr id="7" name="Shape 4"/>
          <p:cNvSpPr/>
          <p:nvPr/>
        </p:nvSpPr>
        <p:spPr>
          <a:xfrm>
            <a:off x="4754880" y="1783080"/>
            <a:ext cx="3291840" cy="210312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8" name="Text 5"/>
          <p:cNvSpPr txBox="1"/>
          <p:nvPr/>
        </p:nvSpPr>
        <p:spPr>
          <a:xfrm>
            <a:off x="4983480" y="2011680"/>
            <a:ext cx="2834640" cy="1645920"/>
          </a:xfrm>
          <a:prstGeom prst="rect">
            <a:avLst/>
          </a:prstGeom>
          <a:noFill/>
          <a:ln/>
        </p:spPr>
        <p:txBody>
          <a:bodyPr wrap="square" lIns="0" tIns="0" rIns="0" bIns="0" rtlCol="0" anchor="t"/>
          <a:lstStyle/>
          <a:p>
            <a:pPr indent="0" marL="0">
              <a:lnSpc>
                <a:spcPct val="100000"/>
              </a:lnSpc>
              <a:buNone/>
            </a:pPr>
            <a:r>
              <a:rPr lang="en-US" sz="2100" dirty="0">
                <a:solidFill>
                  <a:srgbClr val="D7BA7D"/>
                </a:solidFill>
                <a:latin typeface="Consolas" pitchFamily="34" charset="0"/>
                <a:ea typeface="Consolas" pitchFamily="34" charset="-122"/>
                <a:cs typeface="Consolas" pitchFamily="34" charset="-120"/>
              </a:rPr>
              <a:t>h1 </a:t>
            </a:r>
            <a:pPr indent="0" marL="0">
              <a:lnSpc>
                <a:spcPct val="100000"/>
              </a:lnSpc>
              <a:buNone/>
            </a:pPr>
            <a:r>
              <a:rPr lang="en-US" sz="2100" dirty="0">
                <a:solidFill>
                  <a:srgbClr val="D4D4D4"/>
                </a:solidFill>
                <a:latin typeface="Consolas" pitchFamily="34" charset="0"/>
                <a:ea typeface="Consolas" pitchFamily="34" charset="-122"/>
                <a:cs typeface="Consolas" pitchFamily="34" charset="-120"/>
              </a:rPr>
              <a:t>{</a:t>
            </a:r>
            <a:endParaRPr lang="en-US" sz="2100" dirty="0"/>
          </a:p>
          <a:p>
            <a:pPr indent="0" marL="0">
              <a:lnSpc>
                <a:spcPct val="100000"/>
              </a:lnSpc>
              <a:buNone/>
            </a:pPr>
            <a:r>
              <a:rPr lang="en-US" sz="2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21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2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2100" dirty="0">
                <a:solidFill>
                  <a:srgbClr val="CE9178"/>
                </a:solidFill>
                <a:latin typeface="Consolas" pitchFamily="34" charset="0"/>
                <a:ea typeface="Consolas" pitchFamily="34" charset="-122"/>
                <a:cs typeface="Consolas" pitchFamily="34" charset="-120"/>
              </a:rPr>
              <a:t>navy</a:t>
            </a:r>
            <a:pPr indent="0" marL="0">
              <a:lnSpc>
                <a:spcPct val="100000"/>
              </a:lnSpc>
              <a:buNone/>
            </a:pPr>
            <a:r>
              <a:rPr lang="en-US" sz="2100" dirty="0">
                <a:solidFill>
                  <a:srgbClr val="D4D4D4"/>
                </a:solidFill>
                <a:latin typeface="Consolas" pitchFamily="34" charset="0"/>
                <a:ea typeface="Consolas" pitchFamily="34" charset="-122"/>
                <a:cs typeface="Consolas" pitchFamily="34" charset="-120"/>
              </a:rPr>
              <a:t>;</a:t>
            </a:r>
            <a:endParaRPr lang="en-US" sz="2100" dirty="0"/>
          </a:p>
          <a:p>
            <a:pPr indent="0" marL="0">
              <a:lnSpc>
                <a:spcPct val="100000"/>
              </a:lnSpc>
              <a:buNone/>
            </a:pPr>
            <a:r>
              <a:rPr lang="en-US" sz="2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2100" dirty="0">
                <a:solidFill>
                  <a:srgbClr val="9CDCFE"/>
                </a:solidFill>
                <a:latin typeface="Consolas" pitchFamily="34" charset="0"/>
                <a:ea typeface="Consolas" pitchFamily="34" charset="-122"/>
                <a:cs typeface="Consolas" pitchFamily="34" charset="-120"/>
              </a:rPr>
              <a:t>font-size</a:t>
            </a:r>
            <a:pPr indent="0" marL="0">
              <a:lnSpc>
                <a:spcPct val="100000"/>
              </a:lnSpc>
              <a:buNone/>
            </a:pPr>
            <a:r>
              <a:rPr lang="en-US" sz="2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2100" dirty="0">
                <a:solidFill>
                  <a:srgbClr val="B5CEA8"/>
                </a:solidFill>
                <a:latin typeface="Consolas" pitchFamily="34" charset="0"/>
                <a:ea typeface="Consolas" pitchFamily="34" charset="-122"/>
                <a:cs typeface="Consolas" pitchFamily="34" charset="-120"/>
              </a:rPr>
              <a:t>2rem</a:t>
            </a:r>
            <a:pPr indent="0" marL="0">
              <a:lnSpc>
                <a:spcPct val="100000"/>
              </a:lnSpc>
              <a:buNone/>
            </a:pPr>
            <a:r>
              <a:rPr lang="en-US" sz="2100" dirty="0">
                <a:solidFill>
                  <a:srgbClr val="D4D4D4"/>
                </a:solidFill>
                <a:latin typeface="Consolas" pitchFamily="34" charset="0"/>
                <a:ea typeface="Consolas" pitchFamily="34" charset="-122"/>
                <a:cs typeface="Consolas" pitchFamily="34" charset="-120"/>
              </a:rPr>
              <a:t>;</a:t>
            </a:r>
            <a:endParaRPr lang="en-US" sz="2100" dirty="0"/>
          </a:p>
          <a:p>
            <a:pPr indent="0" marL="0">
              <a:lnSpc>
                <a:spcPct val="100000"/>
              </a:lnSpc>
              <a:buNone/>
            </a:pPr>
            <a:r>
              <a:rPr lang="en-US" sz="2100" dirty="0">
                <a:solidFill>
                  <a:srgbClr val="D4D4D4"/>
                </a:solidFill>
                <a:latin typeface="Consolas" pitchFamily="34" charset="0"/>
                <a:ea typeface="Consolas" pitchFamily="34" charset="-122"/>
                <a:cs typeface="Consolas" pitchFamily="34" charset="-120"/>
              </a:rPr>
              <a:t>}</a:t>
            </a:r>
            <a:endParaRPr lang="en-US" sz="2100" dirty="0"/>
          </a:p>
        </p:txBody>
      </p:sp>
      <p:sp>
        <p:nvSpPr>
          <p:cNvPr id="9" name="Shape 6"/>
          <p:cNvSpPr/>
          <p:nvPr/>
        </p:nvSpPr>
        <p:spPr>
          <a:xfrm>
            <a:off x="8321040" y="1783080"/>
            <a:ext cx="3337560" cy="731520"/>
          </a:xfrm>
          <a:prstGeom prst="roundRect">
            <a:avLst>
              <a:gd name="adj" fmla="val 15000"/>
            </a:avLst>
          </a:prstGeom>
          <a:solidFill>
            <a:srgbClr val="1E1E1E"/>
          </a:solidFill>
          <a:ln w="9525">
            <a:solidFill>
              <a:srgbClr val="1E1E1E"/>
            </a:solidFill>
            <a:prstDash val="solid"/>
          </a:ln>
          <a:effectLst>
            <a:outerShdw sx="100000" sy="100000" kx="0" ky="0" algn="bl" rotWithShape="0" blurRad="76200" dist="25400" dir="5400000">
              <a:srgbClr val="000000">
                <a:alpha val="12000"/>
              </a:srgbClr>
            </a:outerShdw>
          </a:effectLst>
        </p:spPr>
      </p:sp>
      <p:sp>
        <p:nvSpPr>
          <p:cNvPr id="10" name="Text 7"/>
          <p:cNvSpPr txBox="1"/>
          <p:nvPr/>
        </p:nvSpPr>
        <p:spPr>
          <a:xfrm>
            <a:off x="8503920" y="1783080"/>
            <a:ext cx="1234440" cy="731520"/>
          </a:xfrm>
          <a:prstGeom prst="rect">
            <a:avLst/>
          </a:prstGeom>
          <a:noFill/>
          <a:ln/>
        </p:spPr>
        <p:txBody>
          <a:bodyPr wrap="square" lIns="0" tIns="0" rIns="0" bIns="0" rtlCol="0" anchor="ctr"/>
          <a:lstStyle/>
          <a:p>
            <a:pPr indent="0" marL="0">
              <a:buNone/>
            </a:pPr>
            <a:r>
              <a:rPr lang="en-US" sz="1300" b="1" dirty="0">
                <a:solidFill>
                  <a:srgbClr val="D7BA7D"/>
                </a:solidFill>
                <a:latin typeface="Consolas" pitchFamily="34" charset="0"/>
                <a:ea typeface="Consolas" pitchFamily="34" charset="-122"/>
                <a:cs typeface="Consolas" pitchFamily="34" charset="-120"/>
              </a:rPr>
              <a:t>h1</a:t>
            </a:r>
            <a:endParaRPr lang="en-US" sz="1300" dirty="0"/>
          </a:p>
        </p:txBody>
      </p:sp>
      <p:sp>
        <p:nvSpPr>
          <p:cNvPr id="11" name="Text 8"/>
          <p:cNvSpPr txBox="1"/>
          <p:nvPr/>
        </p:nvSpPr>
        <p:spPr>
          <a:xfrm>
            <a:off x="9738360" y="1783080"/>
            <a:ext cx="1783080" cy="731520"/>
          </a:xfrm>
          <a:prstGeom prst="rect">
            <a:avLst/>
          </a:prstGeom>
          <a:noFill/>
          <a:ln/>
        </p:spPr>
        <p:txBody>
          <a:bodyPr wrap="square" lIns="0" tIns="0" rIns="0" bIns="0" rtlCol="0" anchor="ctr"/>
          <a:lstStyle/>
          <a:p>
            <a:pPr indent="0" marL="0">
              <a:buNone/>
            </a:pPr>
            <a:r>
              <a:rPr lang="en-US" sz="1450" b="1" dirty="0">
                <a:solidFill>
                  <a:srgbClr val="FFFFFF"/>
                </a:solidFill>
                <a:latin typeface="Aptos" pitchFamily="34" charset="0"/>
                <a:ea typeface="Aptos" pitchFamily="34" charset="-122"/>
                <a:cs typeface="Aptos" pitchFamily="34" charset="-120"/>
              </a:rPr>
              <a:t>Selector</a:t>
            </a:r>
            <a:endParaRPr lang="en-US" sz="1450" dirty="0"/>
          </a:p>
          <a:p>
            <a:pPr indent="0" marL="0">
              <a:buNone/>
            </a:pPr>
            <a:r>
              <a:rPr lang="en-US" sz="1200" dirty="0">
                <a:solidFill>
                  <a:srgbClr val="BFBFBF"/>
                </a:solidFill>
                <a:latin typeface="Aptos" pitchFamily="34" charset="0"/>
                <a:ea typeface="Aptos" pitchFamily="34" charset="-122"/>
                <a:cs typeface="Aptos" pitchFamily="34" charset="-120"/>
              </a:rPr>
              <a:t>Which elements to style</a:t>
            </a:r>
            <a:endParaRPr lang="en-US" sz="1450" dirty="0"/>
          </a:p>
        </p:txBody>
      </p:sp>
      <p:sp>
        <p:nvSpPr>
          <p:cNvPr id="12" name="Shape 9"/>
          <p:cNvSpPr/>
          <p:nvPr/>
        </p:nvSpPr>
        <p:spPr>
          <a:xfrm>
            <a:off x="8321040" y="2651760"/>
            <a:ext cx="3337560" cy="731520"/>
          </a:xfrm>
          <a:prstGeom prst="roundRect">
            <a:avLst>
              <a:gd name="adj" fmla="val 15000"/>
            </a:avLst>
          </a:prstGeom>
          <a:solidFill>
            <a:srgbClr val="1E1E1E"/>
          </a:solidFill>
          <a:ln w="9525">
            <a:solidFill>
              <a:srgbClr val="1E1E1E"/>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8503920" y="2651760"/>
            <a:ext cx="1234440" cy="731520"/>
          </a:xfrm>
          <a:prstGeom prst="rect">
            <a:avLst/>
          </a:prstGeom>
          <a:noFill/>
          <a:ln/>
        </p:spPr>
        <p:txBody>
          <a:bodyPr wrap="square" lIns="0" tIns="0" rIns="0" bIns="0" rtlCol="0" anchor="ctr"/>
          <a:lstStyle/>
          <a:p>
            <a:pPr indent="0" marL="0">
              <a:buNone/>
            </a:pPr>
            <a:r>
              <a:rPr lang="en-US" sz="1300" b="1" dirty="0">
                <a:solidFill>
                  <a:srgbClr val="9CDCFE"/>
                </a:solidFill>
                <a:latin typeface="Consolas" pitchFamily="34" charset="0"/>
                <a:ea typeface="Consolas" pitchFamily="34" charset="-122"/>
                <a:cs typeface="Consolas" pitchFamily="34" charset="-120"/>
              </a:rPr>
              <a:t>color</a:t>
            </a:r>
            <a:endParaRPr lang="en-US" sz="1300" dirty="0"/>
          </a:p>
        </p:txBody>
      </p:sp>
      <p:sp>
        <p:nvSpPr>
          <p:cNvPr id="14" name="Text 11"/>
          <p:cNvSpPr txBox="1"/>
          <p:nvPr/>
        </p:nvSpPr>
        <p:spPr>
          <a:xfrm>
            <a:off x="9738360" y="2651760"/>
            <a:ext cx="1783080" cy="731520"/>
          </a:xfrm>
          <a:prstGeom prst="rect">
            <a:avLst/>
          </a:prstGeom>
          <a:noFill/>
          <a:ln/>
        </p:spPr>
        <p:txBody>
          <a:bodyPr wrap="square" lIns="0" tIns="0" rIns="0" bIns="0" rtlCol="0" anchor="ctr"/>
          <a:lstStyle/>
          <a:p>
            <a:pPr indent="0" marL="0">
              <a:buNone/>
            </a:pPr>
            <a:r>
              <a:rPr lang="en-US" sz="1450" b="1" dirty="0">
                <a:solidFill>
                  <a:srgbClr val="FFFFFF"/>
                </a:solidFill>
                <a:latin typeface="Aptos" pitchFamily="34" charset="0"/>
                <a:ea typeface="Aptos" pitchFamily="34" charset="-122"/>
                <a:cs typeface="Aptos" pitchFamily="34" charset="-120"/>
              </a:rPr>
              <a:t>Property</a:t>
            </a:r>
            <a:endParaRPr lang="en-US" sz="1450" dirty="0"/>
          </a:p>
          <a:p>
            <a:pPr indent="0" marL="0">
              <a:buNone/>
            </a:pPr>
            <a:r>
              <a:rPr lang="en-US" sz="1200" dirty="0">
                <a:solidFill>
                  <a:srgbClr val="BFBFBF"/>
                </a:solidFill>
                <a:latin typeface="Aptos" pitchFamily="34" charset="0"/>
                <a:ea typeface="Aptos" pitchFamily="34" charset="-122"/>
                <a:cs typeface="Aptos" pitchFamily="34" charset="-120"/>
              </a:rPr>
              <a:t>What to change</a:t>
            </a:r>
            <a:endParaRPr lang="en-US" sz="1450" dirty="0"/>
          </a:p>
        </p:txBody>
      </p:sp>
      <p:sp>
        <p:nvSpPr>
          <p:cNvPr id="15" name="Shape 12"/>
          <p:cNvSpPr/>
          <p:nvPr/>
        </p:nvSpPr>
        <p:spPr>
          <a:xfrm>
            <a:off x="8321040" y="3520440"/>
            <a:ext cx="3337560" cy="731520"/>
          </a:xfrm>
          <a:prstGeom prst="roundRect">
            <a:avLst>
              <a:gd name="adj" fmla="val 15000"/>
            </a:avLst>
          </a:prstGeom>
          <a:solidFill>
            <a:srgbClr val="1E1E1E"/>
          </a:solidFill>
          <a:ln w="9525">
            <a:solidFill>
              <a:srgbClr val="1E1E1E"/>
            </a:solidFill>
            <a:prstDash val="solid"/>
          </a:ln>
          <a:effectLst>
            <a:outerShdw sx="100000" sy="100000" kx="0" ky="0" algn="bl" rotWithShape="0" blurRad="76200" dist="25400" dir="5400000">
              <a:srgbClr val="000000">
                <a:alpha val="12000"/>
              </a:srgbClr>
            </a:outerShdw>
          </a:effectLst>
        </p:spPr>
      </p:sp>
      <p:sp>
        <p:nvSpPr>
          <p:cNvPr id="16" name="Text 13"/>
          <p:cNvSpPr txBox="1"/>
          <p:nvPr/>
        </p:nvSpPr>
        <p:spPr>
          <a:xfrm>
            <a:off x="8503920" y="3520440"/>
            <a:ext cx="1234440" cy="731520"/>
          </a:xfrm>
          <a:prstGeom prst="rect">
            <a:avLst/>
          </a:prstGeom>
          <a:noFill/>
          <a:ln/>
        </p:spPr>
        <p:txBody>
          <a:bodyPr wrap="square" lIns="0" tIns="0" rIns="0" bIns="0" rtlCol="0" anchor="ctr"/>
          <a:lstStyle/>
          <a:p>
            <a:pPr indent="0" marL="0">
              <a:buNone/>
            </a:pPr>
            <a:r>
              <a:rPr lang="en-US" sz="1300" b="1" dirty="0">
                <a:solidFill>
                  <a:srgbClr val="CE9178"/>
                </a:solidFill>
                <a:latin typeface="Consolas" pitchFamily="34" charset="0"/>
                <a:ea typeface="Consolas" pitchFamily="34" charset="-122"/>
                <a:cs typeface="Consolas" pitchFamily="34" charset="-120"/>
              </a:rPr>
              <a:t>navy</a:t>
            </a:r>
            <a:endParaRPr lang="en-US" sz="1300" dirty="0"/>
          </a:p>
        </p:txBody>
      </p:sp>
      <p:sp>
        <p:nvSpPr>
          <p:cNvPr id="17" name="Text 14"/>
          <p:cNvSpPr txBox="1"/>
          <p:nvPr/>
        </p:nvSpPr>
        <p:spPr>
          <a:xfrm>
            <a:off x="9738360" y="3520440"/>
            <a:ext cx="1783080" cy="731520"/>
          </a:xfrm>
          <a:prstGeom prst="rect">
            <a:avLst/>
          </a:prstGeom>
          <a:noFill/>
          <a:ln/>
        </p:spPr>
        <p:txBody>
          <a:bodyPr wrap="square" lIns="0" tIns="0" rIns="0" bIns="0" rtlCol="0" anchor="ctr"/>
          <a:lstStyle/>
          <a:p>
            <a:pPr indent="0" marL="0">
              <a:buNone/>
            </a:pPr>
            <a:r>
              <a:rPr lang="en-US" sz="1450" b="1" dirty="0">
                <a:solidFill>
                  <a:srgbClr val="FFFFFF"/>
                </a:solidFill>
                <a:latin typeface="Aptos" pitchFamily="34" charset="0"/>
                <a:ea typeface="Aptos" pitchFamily="34" charset="-122"/>
                <a:cs typeface="Aptos" pitchFamily="34" charset="-120"/>
              </a:rPr>
              <a:t>Value</a:t>
            </a:r>
            <a:endParaRPr lang="en-US" sz="1450" dirty="0"/>
          </a:p>
          <a:p>
            <a:pPr indent="0" marL="0">
              <a:buNone/>
            </a:pPr>
            <a:r>
              <a:rPr lang="en-US" sz="1200" dirty="0">
                <a:solidFill>
                  <a:srgbClr val="BFBFBF"/>
                </a:solidFill>
                <a:latin typeface="Aptos" pitchFamily="34" charset="0"/>
                <a:ea typeface="Aptos" pitchFamily="34" charset="-122"/>
                <a:cs typeface="Aptos" pitchFamily="34" charset="-120"/>
              </a:rPr>
              <a:t>What to change it to</a:t>
            </a:r>
            <a:endParaRPr lang="en-US" sz="1450" dirty="0"/>
          </a:p>
        </p:txBody>
      </p:sp>
      <p:sp>
        <p:nvSpPr>
          <p:cNvPr id="18" name="Shape 15"/>
          <p:cNvSpPr/>
          <p:nvPr/>
        </p:nvSpPr>
        <p:spPr>
          <a:xfrm>
            <a:off x="8321040" y="4389120"/>
            <a:ext cx="3337560" cy="731520"/>
          </a:xfrm>
          <a:prstGeom prst="roundRect">
            <a:avLst>
              <a:gd name="adj" fmla="val 15000"/>
            </a:avLst>
          </a:prstGeom>
          <a:solidFill>
            <a:srgbClr val="1E1E1E"/>
          </a:solidFill>
          <a:ln w="9525">
            <a:solidFill>
              <a:srgbClr val="1E1E1E"/>
            </a:solidFill>
            <a:prstDash val="solid"/>
          </a:ln>
          <a:effectLst>
            <a:outerShdw sx="100000" sy="100000" kx="0" ky="0" algn="bl" rotWithShape="0" blurRad="76200" dist="25400" dir="5400000">
              <a:srgbClr val="000000">
                <a:alpha val="12000"/>
              </a:srgbClr>
            </a:outerShdw>
          </a:effectLst>
        </p:spPr>
      </p:sp>
      <p:sp>
        <p:nvSpPr>
          <p:cNvPr id="19" name="Text 16"/>
          <p:cNvSpPr txBox="1"/>
          <p:nvPr/>
        </p:nvSpPr>
        <p:spPr>
          <a:xfrm>
            <a:off x="8503920" y="4389120"/>
            <a:ext cx="1234440" cy="731520"/>
          </a:xfrm>
          <a:prstGeom prst="rect">
            <a:avLst/>
          </a:prstGeom>
          <a:noFill/>
          <a:ln/>
        </p:spPr>
        <p:txBody>
          <a:bodyPr wrap="square" lIns="0" tIns="0" rIns="0" bIns="0" rtlCol="0" anchor="ctr"/>
          <a:lstStyle/>
          <a:p>
            <a:pPr indent="0" marL="0">
              <a:buNone/>
            </a:pPr>
            <a:r>
              <a:rPr lang="en-US" sz="1300" b="1" dirty="0">
                <a:solidFill>
                  <a:srgbClr val="D4D4D4"/>
                </a:solidFill>
                <a:latin typeface="Consolas" pitchFamily="34" charset="0"/>
                <a:ea typeface="Consolas" pitchFamily="34" charset="-122"/>
                <a:cs typeface="Consolas" pitchFamily="34" charset="-120"/>
              </a:rPr>
              <a:t>color: navy;</a:t>
            </a:r>
            <a:endParaRPr lang="en-US" sz="1300" dirty="0"/>
          </a:p>
        </p:txBody>
      </p:sp>
      <p:sp>
        <p:nvSpPr>
          <p:cNvPr id="20" name="Text 17"/>
          <p:cNvSpPr txBox="1"/>
          <p:nvPr/>
        </p:nvSpPr>
        <p:spPr>
          <a:xfrm>
            <a:off x="9738360" y="4389120"/>
            <a:ext cx="1783080" cy="731520"/>
          </a:xfrm>
          <a:prstGeom prst="rect">
            <a:avLst/>
          </a:prstGeom>
          <a:noFill/>
          <a:ln/>
        </p:spPr>
        <p:txBody>
          <a:bodyPr wrap="square" lIns="0" tIns="0" rIns="0" bIns="0" rtlCol="0" anchor="ctr"/>
          <a:lstStyle/>
          <a:p>
            <a:pPr indent="0" marL="0">
              <a:buNone/>
            </a:pPr>
            <a:r>
              <a:rPr lang="en-US" sz="1450" b="1" dirty="0">
                <a:solidFill>
                  <a:srgbClr val="FFFFFF"/>
                </a:solidFill>
                <a:latin typeface="Aptos" pitchFamily="34" charset="0"/>
                <a:ea typeface="Aptos" pitchFamily="34" charset="-122"/>
                <a:cs typeface="Aptos" pitchFamily="34" charset="-120"/>
              </a:rPr>
              <a:t>Declaration</a:t>
            </a:r>
            <a:endParaRPr lang="en-US" sz="1450" dirty="0"/>
          </a:p>
          <a:p>
            <a:pPr indent="0" marL="0">
              <a:buNone/>
            </a:pPr>
            <a:r>
              <a:rPr lang="en-US" sz="1200" dirty="0">
                <a:solidFill>
                  <a:srgbClr val="BFBFBF"/>
                </a:solidFill>
                <a:latin typeface="Aptos" pitchFamily="34" charset="0"/>
                <a:ea typeface="Aptos" pitchFamily="34" charset="-122"/>
                <a:cs typeface="Aptos" pitchFamily="34" charset="-120"/>
              </a:rPr>
              <a:t>One instruction, ending in ;</a:t>
            </a:r>
            <a:endParaRPr lang="en-US" sz="1450" dirty="0"/>
          </a:p>
        </p:txBody>
      </p:sp>
      <p:sp>
        <p:nvSpPr>
          <p:cNvPr id="21" name="Shape 18"/>
          <p:cNvSpPr/>
          <p:nvPr/>
        </p:nvSpPr>
        <p:spPr>
          <a:xfrm>
            <a:off x="8321040" y="5257800"/>
            <a:ext cx="3337560" cy="731520"/>
          </a:xfrm>
          <a:prstGeom prst="roundRect">
            <a:avLst>
              <a:gd name="adj" fmla="val 15000"/>
            </a:avLst>
          </a:prstGeom>
          <a:solidFill>
            <a:srgbClr val="1E1E1E"/>
          </a:solidFill>
          <a:ln w="9525">
            <a:solidFill>
              <a:srgbClr val="1E1E1E"/>
            </a:solidFill>
            <a:prstDash val="solid"/>
          </a:ln>
          <a:effectLst>
            <a:outerShdw sx="100000" sy="100000" kx="0" ky="0" algn="bl" rotWithShape="0" blurRad="76200" dist="25400" dir="5400000">
              <a:srgbClr val="000000">
                <a:alpha val="12000"/>
              </a:srgbClr>
            </a:outerShdw>
          </a:effectLst>
        </p:spPr>
      </p:sp>
      <p:sp>
        <p:nvSpPr>
          <p:cNvPr id="22" name="Text 19"/>
          <p:cNvSpPr txBox="1"/>
          <p:nvPr/>
        </p:nvSpPr>
        <p:spPr>
          <a:xfrm>
            <a:off x="8503920" y="5257800"/>
            <a:ext cx="1234440" cy="731520"/>
          </a:xfrm>
          <a:prstGeom prst="rect">
            <a:avLst/>
          </a:prstGeom>
          <a:noFill/>
          <a:ln/>
        </p:spPr>
        <p:txBody>
          <a:bodyPr wrap="square" lIns="0" tIns="0" rIns="0" bIns="0" rtlCol="0" anchor="ctr"/>
          <a:lstStyle/>
          <a:p>
            <a:pPr indent="0" marL="0">
              <a:buNone/>
            </a:pPr>
            <a:r>
              <a:rPr lang="en-US" sz="1300" b="1" dirty="0">
                <a:solidFill>
                  <a:srgbClr val="D4D4D4"/>
                </a:solidFill>
                <a:latin typeface="Consolas" pitchFamily="34" charset="0"/>
                <a:ea typeface="Consolas" pitchFamily="34" charset="-122"/>
                <a:cs typeface="Consolas" pitchFamily="34" charset="-120"/>
              </a:rPr>
              <a:t>{ }</a:t>
            </a:r>
            <a:endParaRPr lang="en-US" sz="1300" dirty="0"/>
          </a:p>
        </p:txBody>
      </p:sp>
      <p:sp>
        <p:nvSpPr>
          <p:cNvPr id="23" name="Text 20"/>
          <p:cNvSpPr txBox="1"/>
          <p:nvPr/>
        </p:nvSpPr>
        <p:spPr>
          <a:xfrm>
            <a:off x="9738360" y="5257800"/>
            <a:ext cx="1783080" cy="731520"/>
          </a:xfrm>
          <a:prstGeom prst="rect">
            <a:avLst/>
          </a:prstGeom>
          <a:noFill/>
          <a:ln/>
        </p:spPr>
        <p:txBody>
          <a:bodyPr wrap="square" lIns="0" tIns="0" rIns="0" bIns="0" rtlCol="0" anchor="ctr"/>
          <a:lstStyle/>
          <a:p>
            <a:pPr indent="0" marL="0">
              <a:buNone/>
            </a:pPr>
            <a:r>
              <a:rPr lang="en-US" sz="1450" b="1" dirty="0">
                <a:solidFill>
                  <a:srgbClr val="FFFFFF"/>
                </a:solidFill>
                <a:latin typeface="Aptos" pitchFamily="34" charset="0"/>
                <a:ea typeface="Aptos" pitchFamily="34" charset="-122"/>
                <a:cs typeface="Aptos" pitchFamily="34" charset="-120"/>
              </a:rPr>
              <a:t>Braces</a:t>
            </a:r>
            <a:endParaRPr lang="en-US" sz="1450" dirty="0"/>
          </a:p>
          <a:p>
            <a:pPr indent="0" marL="0">
              <a:buNone/>
            </a:pPr>
            <a:r>
              <a:rPr lang="en-US" sz="1200" dirty="0">
                <a:solidFill>
                  <a:srgbClr val="BFBFBF"/>
                </a:solidFill>
                <a:latin typeface="Aptos" pitchFamily="34" charset="0"/>
                <a:ea typeface="Aptos" pitchFamily="34" charset="-122"/>
                <a:cs typeface="Aptos" pitchFamily="34" charset="-120"/>
              </a:rPr>
              <a:t>Wrap all the declarations</a:t>
            </a:r>
            <a:endParaRPr lang="en-US" sz="1450" dirty="0"/>
          </a:p>
        </p:txBody>
      </p:sp>
      <p:sp>
        <p:nvSpPr>
          <p:cNvPr id="24" name="Shape 21"/>
          <p:cNvSpPr/>
          <p:nvPr/>
        </p:nvSpPr>
        <p:spPr>
          <a:xfrm>
            <a:off x="4754880" y="4114800"/>
            <a:ext cx="3291840" cy="2057400"/>
          </a:xfrm>
          <a:prstGeom prst="roundRect">
            <a:avLst>
              <a:gd name="adj" fmla="val 5333"/>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5" name="Text 22"/>
          <p:cNvSpPr txBox="1"/>
          <p:nvPr/>
        </p:nvSpPr>
        <p:spPr>
          <a:xfrm>
            <a:off x="4983480" y="4251960"/>
            <a:ext cx="2834640" cy="365760"/>
          </a:xfrm>
          <a:prstGeom prst="rect">
            <a:avLst/>
          </a:prstGeom>
          <a:noFill/>
          <a:ln/>
        </p:spPr>
        <p:txBody>
          <a:bodyPr wrap="square" lIns="0" tIns="0" rIns="0" bIns="0" rtlCol="0" anchor="ctr"/>
          <a:lstStyle/>
          <a:p>
            <a:pPr indent="0" marL="0">
              <a:buNone/>
            </a:pPr>
            <a:r>
              <a:rPr lang="en-US" sz="1500" b="1" dirty="0">
                <a:solidFill>
                  <a:srgbClr val="000000"/>
                </a:solidFill>
                <a:latin typeface="Aptos" pitchFamily="34" charset="0"/>
                <a:ea typeface="Aptos" pitchFamily="34" charset="-122"/>
                <a:cs typeface="Aptos" pitchFamily="34" charset="-120"/>
              </a:rPr>
              <a:t>Read it out loud</a:t>
            </a:r>
            <a:endParaRPr lang="en-US" sz="1500" dirty="0"/>
          </a:p>
        </p:txBody>
      </p:sp>
      <p:sp>
        <p:nvSpPr>
          <p:cNvPr id="26" name="Text 23"/>
          <p:cNvSpPr txBox="1"/>
          <p:nvPr/>
        </p:nvSpPr>
        <p:spPr>
          <a:xfrm>
            <a:off x="4983480" y="4663440"/>
            <a:ext cx="2834640" cy="1371600"/>
          </a:xfrm>
          <a:prstGeom prst="rect">
            <a:avLst/>
          </a:prstGeom>
          <a:noFill/>
          <a:ln/>
        </p:spPr>
        <p:txBody>
          <a:bodyPr wrap="square" lIns="0" tIns="0" rIns="0" bIns="0" rtlCol="0" anchor="t"/>
          <a:lstStyle/>
          <a:p>
            <a:pPr indent="0" marL="0">
              <a:buNone/>
            </a:pPr>
            <a:r>
              <a:rPr lang="en-US" sz="1500" i="1" dirty="0">
                <a:solidFill>
                  <a:srgbClr val="262626"/>
                </a:solidFill>
                <a:latin typeface="Aptos" pitchFamily="34" charset="0"/>
                <a:ea typeface="Aptos" pitchFamily="34" charset="-122"/>
                <a:cs typeface="Aptos" pitchFamily="34" charset="-120"/>
              </a:rPr>
              <a:t>"For every h1: make the colour navy, and the font size 2rem."</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Writing CSS: Watch Out For…</a:t>
            </a:r>
            <a:endParaRPr lang="en-US" sz="2800" dirty="0"/>
          </a:p>
        </p:txBody>
      </p:sp>
      <p:sp>
        <p:nvSpPr>
          <p:cNvPr id="7" name="Shape 4"/>
          <p:cNvSpPr/>
          <p:nvPr/>
        </p:nvSpPr>
        <p:spPr>
          <a:xfrm>
            <a:off x="4754880" y="1783080"/>
            <a:ext cx="3291840" cy="228600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8" name="Text 5"/>
          <p:cNvSpPr txBox="1"/>
          <p:nvPr/>
        </p:nvSpPr>
        <p:spPr>
          <a:xfrm>
            <a:off x="4983480" y="2011680"/>
            <a:ext cx="2834640" cy="1828800"/>
          </a:xfrm>
          <a:prstGeom prst="rect">
            <a:avLst/>
          </a:prstGeom>
          <a:noFill/>
          <a:ln/>
        </p:spPr>
        <p:txBody>
          <a:bodyPr wrap="square" lIns="0" tIns="0" rIns="0" bIns="0" rtlCol="0" anchor="t"/>
          <a:lstStyle/>
          <a:p>
            <a:pPr indent="0" marL="0">
              <a:lnSpc>
                <a:spcPct val="100000"/>
              </a:lnSpc>
              <a:buNone/>
            </a:pPr>
            <a:r>
              <a:rPr lang="en-US" sz="1350" dirty="0">
                <a:solidFill>
                  <a:srgbClr val="6A9955"/>
                </a:solidFill>
                <a:latin typeface="Consolas" pitchFamily="34" charset="0"/>
                <a:ea typeface="Consolas" pitchFamily="34" charset="-122"/>
                <a:cs typeface="Consolas" pitchFamily="34" charset="-120"/>
              </a:rPr>
              <a:t>/* Broken: nothing happens */</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h1 </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colour</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navy</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font-size:</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2</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rem</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text-align</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centre</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p:txBody>
      </p:sp>
      <p:sp>
        <p:nvSpPr>
          <p:cNvPr id="9" name="Shape 6"/>
          <p:cNvSpPr/>
          <p:nvPr/>
        </p:nvSpPr>
        <p:spPr>
          <a:xfrm>
            <a:off x="8366760" y="1783080"/>
            <a:ext cx="3291840" cy="228600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10" name="Text 7"/>
          <p:cNvSpPr txBox="1"/>
          <p:nvPr/>
        </p:nvSpPr>
        <p:spPr>
          <a:xfrm>
            <a:off x="8595360" y="2011680"/>
            <a:ext cx="2834640" cy="1828800"/>
          </a:xfrm>
          <a:prstGeom prst="rect">
            <a:avLst/>
          </a:prstGeom>
          <a:noFill/>
          <a:ln/>
        </p:spPr>
        <p:txBody>
          <a:bodyPr wrap="square" lIns="0" tIns="0" rIns="0" bIns="0" rtlCol="0" anchor="t"/>
          <a:lstStyle/>
          <a:p>
            <a:pPr indent="0" marL="0">
              <a:lnSpc>
                <a:spcPct val="100000"/>
              </a:lnSpc>
              <a:buNone/>
            </a:pPr>
            <a:r>
              <a:rPr lang="en-US" sz="1500" dirty="0">
                <a:solidFill>
                  <a:srgbClr val="6A9955"/>
                </a:solidFill>
                <a:latin typeface="Consolas" pitchFamily="34" charset="0"/>
                <a:ea typeface="Consolas" pitchFamily="34" charset="-122"/>
                <a:cs typeface="Consolas" pitchFamily="34" charset="-120"/>
              </a:rPr>
              <a:t>/* Fixed */</a:t>
            </a:r>
            <a:endParaRPr lang="en-US" sz="1500" dirty="0"/>
          </a:p>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h1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navy</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font-size</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B5CEA8"/>
                </a:solidFill>
                <a:latin typeface="Consolas" pitchFamily="34" charset="0"/>
                <a:ea typeface="Consolas" pitchFamily="34" charset="-122"/>
                <a:cs typeface="Consolas" pitchFamily="34" charset="-120"/>
              </a:rPr>
              <a:t>2rem</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text-align</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center</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p:txBody>
      </p:sp>
      <p:sp>
        <p:nvSpPr>
          <p:cNvPr id="11" name="Text 8"/>
          <p:cNvSpPr txBox="1"/>
          <p:nvPr/>
        </p:nvSpPr>
        <p:spPr>
          <a:xfrm>
            <a:off x="4754880" y="4297680"/>
            <a:ext cx="6903720" cy="2103120"/>
          </a:xfrm>
          <a:prstGeom prst="rect">
            <a:avLst/>
          </a:prstGeom>
          <a:noFill/>
          <a:ln/>
        </p:spPr>
        <p:txBody>
          <a:bodyPr wrap="square" lIns="0" tIns="0" rIns="0" bIns="0" rtlCol="0" anchor="t"/>
          <a:lstStyle/>
          <a:p>
            <a:pPr marL="342900" indent="-342900">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b="1" dirty="0">
                <a:solidFill>
                  <a:srgbClr val="262626"/>
                </a:solidFill>
                <a:latin typeface="Aptos" pitchFamily="34" charset="0"/>
                <a:ea typeface="Aptos" pitchFamily="34" charset="-122"/>
                <a:cs typeface="Aptos" pitchFamily="34" charset="-120"/>
              </a:rPr>
              <a:t>American spelling: </a:t>
            </a:r>
            <a:pPr indent="0" marL="0">
              <a:buNone/>
            </a:pPr>
            <a:r>
              <a:rPr lang="en-US" sz="1450" dirty="0">
                <a:solidFill>
                  <a:srgbClr val="8A2B0B"/>
                </a:solidFill>
                <a:latin typeface="Consolas" pitchFamily="34" charset="0"/>
                <a:ea typeface="Consolas" pitchFamily="34" charset="-122"/>
                <a:cs typeface="Consolas" pitchFamily="34" charset="-120"/>
              </a:rPr>
              <a:t>color</a:t>
            </a:r>
            <a:pPr indent="0" marL="0">
              <a:buNone/>
            </a:pPr>
            <a:r>
              <a:rPr lang="en-US" sz="1450" dirty="0">
                <a:solidFill>
                  <a:srgbClr val="262626"/>
                </a:solidFill>
                <a:latin typeface="Aptos" pitchFamily="34" charset="0"/>
                <a:ea typeface="Aptos" pitchFamily="34" charset="-122"/>
                <a:cs typeface="Aptos" pitchFamily="34" charset="-120"/>
              </a:rPr>
              <a:t> and </a:t>
            </a:r>
            <a:pPr indent="0" marL="0">
              <a:buNone/>
            </a:pPr>
            <a:r>
              <a:rPr lang="en-US" sz="1450" dirty="0">
                <a:solidFill>
                  <a:srgbClr val="8A2B0B"/>
                </a:solidFill>
                <a:latin typeface="Consolas" pitchFamily="34" charset="0"/>
                <a:ea typeface="Consolas" pitchFamily="34" charset="-122"/>
                <a:cs typeface="Consolas" pitchFamily="34" charset="-120"/>
              </a:rPr>
              <a:t>center</a:t>
            </a:r>
            <a:pPr indent="0" marL="0">
              <a:buNone/>
            </a:pPr>
            <a:r>
              <a:rPr lang="en-US" sz="1450" dirty="0">
                <a:solidFill>
                  <a:srgbClr val="262626"/>
                </a:solidFill>
                <a:latin typeface="Aptos" pitchFamily="34" charset="0"/>
                <a:ea typeface="Aptos" pitchFamily="34" charset="-122"/>
                <a:cs typeface="Aptos" pitchFamily="34" charset="-120"/>
              </a:rPr>
              <a:t>, not colour and centre.</a:t>
            </a:r>
            <a:endParaRPr lang="en-US" sz="1450" dirty="0"/>
          </a:p>
          <a:p>
            <a:pPr marL="342900" indent="-342900">
              <a:spcBef>
                <a:spcPts val="500"/>
              </a:spcBef>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b="1" dirty="0">
                <a:solidFill>
                  <a:srgbClr val="262626"/>
                </a:solidFill>
                <a:latin typeface="Aptos" pitchFamily="34" charset="0"/>
                <a:ea typeface="Aptos" pitchFamily="34" charset="-122"/>
                <a:cs typeface="Aptos" pitchFamily="34" charset="-120"/>
              </a:rPr>
              <a:t>Every declaration ends in </a:t>
            </a:r>
            <a:pPr indent="0" marL="0">
              <a:buNone/>
            </a:pPr>
            <a:r>
              <a:rPr lang="en-US" sz="1450" dirty="0">
                <a:solidFill>
                  <a:srgbClr val="8A2B0B"/>
                </a:solidFill>
                <a:latin typeface="Consolas" pitchFamily="34" charset="0"/>
                <a:ea typeface="Consolas" pitchFamily="34" charset="-122"/>
                <a:cs typeface="Consola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 Missing one breaks the next line too.</a:t>
            </a:r>
            <a:endParaRPr lang="en-US" sz="1450" dirty="0"/>
          </a:p>
          <a:p>
            <a:pPr marL="342900" indent="-342900">
              <a:spcBef>
                <a:spcPts val="500"/>
              </a:spcBef>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b="1" dirty="0">
                <a:solidFill>
                  <a:srgbClr val="262626"/>
                </a:solidFill>
                <a:latin typeface="Aptos" pitchFamily="34" charset="0"/>
                <a:ea typeface="Aptos" pitchFamily="34" charset="-122"/>
                <a:cs typeface="Aptos" pitchFamily="34" charset="-120"/>
              </a:rPr>
              <a:t>Colon, not equals: </a:t>
            </a:r>
            <a:pPr indent="0" marL="0">
              <a:buNone/>
            </a:pPr>
            <a:r>
              <a:rPr lang="en-US" sz="1450" dirty="0">
                <a:solidFill>
                  <a:srgbClr val="8A2B0B"/>
                </a:solidFill>
                <a:latin typeface="Consolas" pitchFamily="34" charset="0"/>
                <a:ea typeface="Consolas" pitchFamily="34" charset="-122"/>
                <a:cs typeface="Consolas" pitchFamily="34" charset="-120"/>
              </a:rPr>
              <a:t>color: navy</a:t>
            </a:r>
            <a:pPr indent="0" marL="0">
              <a:buNone/>
            </a:pPr>
            <a:r>
              <a:rPr lang="en-US" sz="1450" dirty="0">
                <a:solidFill>
                  <a:srgbClr val="262626"/>
                </a:solidFill>
                <a:latin typeface="Aptos" pitchFamily="34" charset="0"/>
                <a:ea typeface="Aptos" pitchFamily="34" charset="-122"/>
                <a:cs typeface="Aptos" pitchFamily="34" charset="-120"/>
              </a:rPr>
              <a:t>. (HTML attributes use </a:t>
            </a:r>
            <a:pPr indent="0" marL="0">
              <a:buNone/>
            </a:pPr>
            <a:r>
              <a:rPr lang="en-US" sz="1450" dirty="0">
                <a:solidFill>
                  <a:srgbClr val="8A2B0B"/>
                </a:solidFill>
                <a:latin typeface="Consolas" pitchFamily="34" charset="0"/>
                <a:ea typeface="Consolas" pitchFamily="34" charset="-122"/>
                <a:cs typeface="Consola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a:t>
            </a:r>
            <a:endParaRPr lang="en-US" sz="1450" dirty="0"/>
          </a:p>
          <a:p>
            <a:pPr marL="342900" indent="-342900">
              <a:spcBef>
                <a:spcPts val="500"/>
              </a:spcBef>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b="1" dirty="0">
                <a:solidFill>
                  <a:srgbClr val="262626"/>
                </a:solidFill>
                <a:latin typeface="Aptos" pitchFamily="34" charset="0"/>
                <a:ea typeface="Aptos" pitchFamily="34" charset="-122"/>
                <a:cs typeface="Aptos" pitchFamily="34" charset="-120"/>
              </a:rPr>
              <a:t>No space before the unit: </a:t>
            </a:r>
            <a:pPr indent="0" marL="0">
              <a:buNone/>
            </a:pPr>
            <a:r>
              <a:rPr lang="en-US" sz="1450" dirty="0">
                <a:solidFill>
                  <a:srgbClr val="8A2B0B"/>
                </a:solidFill>
                <a:latin typeface="Consolas" pitchFamily="34" charset="0"/>
                <a:ea typeface="Consolas" pitchFamily="34" charset="-122"/>
                <a:cs typeface="Consolas" pitchFamily="34" charset="-120"/>
              </a:rPr>
              <a:t>2rem</a:t>
            </a:r>
            <a:pPr indent="0" marL="0">
              <a:buNone/>
            </a:pPr>
            <a:r>
              <a:rPr lang="en-US" sz="1450" dirty="0">
                <a:solidFill>
                  <a:srgbClr val="262626"/>
                </a:solidFill>
                <a:latin typeface="Aptos" pitchFamily="34" charset="0"/>
                <a:ea typeface="Aptos" pitchFamily="34" charset="-122"/>
                <a:cs typeface="Aptos" pitchFamily="34" charset="-120"/>
              </a:rPr>
              <a:t>, not </a:t>
            </a:r>
            <a:pPr indent="0" marL="0">
              <a:buNone/>
            </a:pPr>
            <a:r>
              <a:rPr lang="en-US" sz="1450" dirty="0">
                <a:solidFill>
                  <a:srgbClr val="8A2B0B"/>
                </a:solidFill>
                <a:latin typeface="Consolas" pitchFamily="34" charset="0"/>
                <a:ea typeface="Consolas" pitchFamily="34" charset="-122"/>
                <a:cs typeface="Consolas" pitchFamily="34" charset="-120"/>
              </a:rPr>
              <a:t>2 rem</a:t>
            </a:r>
            <a:pPr indent="0" marL="0">
              <a:buNone/>
            </a:pPr>
            <a:r>
              <a:rPr lang="en-US" sz="1450" dirty="0">
                <a:solidFill>
                  <a:srgbClr val="262626"/>
                </a:solidFill>
                <a:latin typeface="Aptos" pitchFamily="34" charset="0"/>
                <a:ea typeface="Aptos" pitchFamily="34" charset="-122"/>
                <a:cs typeface="Aptos" pitchFamily="34" charset="-120"/>
              </a:rPr>
              <a:t>.</a:t>
            </a:r>
            <a:endParaRPr lang="en-US" sz="1450" dirty="0"/>
          </a:p>
          <a:p>
            <a:pPr marL="342900" indent="-342900">
              <a:spcBef>
                <a:spcPts val="500"/>
              </a:spcBef>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b="1" dirty="0">
                <a:solidFill>
                  <a:srgbClr val="262626"/>
                </a:solidFill>
                <a:latin typeface="Aptos" pitchFamily="34" charset="0"/>
                <a:ea typeface="Aptos" pitchFamily="34" charset="-122"/>
                <a:cs typeface="Aptos" pitchFamily="34" charset="-120"/>
              </a:rPr>
              <a:t>Comments are </a:t>
            </a:r>
            <a:pPr indent="0" marL="0">
              <a:buNone/>
            </a:pPr>
            <a:r>
              <a:rPr lang="en-US" sz="1450" dirty="0">
                <a:solidFill>
                  <a:srgbClr val="8A2B0B"/>
                </a:solidFill>
                <a:latin typeface="Consolas" pitchFamily="34" charset="0"/>
                <a:ea typeface="Consolas" pitchFamily="34" charset="-122"/>
                <a:cs typeface="Consolas" pitchFamily="34" charset="-120"/>
              </a:rPr>
              <a:t>/* … */</a:t>
            </a:r>
            <a:pPr indent="0" marL="0">
              <a:buNone/>
            </a:pPr>
            <a:r>
              <a:rPr lang="en-US" sz="1450" dirty="0">
                <a:solidFill>
                  <a:srgbClr val="262626"/>
                </a:solidFill>
                <a:latin typeface="Aptos" pitchFamily="34" charset="0"/>
                <a:ea typeface="Aptos" pitchFamily="34" charset="-122"/>
                <a:cs typeface="Aptos" pitchFamily="34" charset="-120"/>
              </a:rPr>
              <a:t> in CSS, not </a:t>
            </a:r>
            <a:pPr indent="0" marL="0">
              <a:buNone/>
            </a:pPr>
            <a:r>
              <a:rPr lang="en-US" sz="1450" dirty="0">
                <a:solidFill>
                  <a:srgbClr val="8A2B0B"/>
                </a:solidFill>
                <a:latin typeface="Consolas" pitchFamily="34" charset="0"/>
                <a:ea typeface="Consolas" pitchFamily="34" charset="-122"/>
                <a:cs typeface="Consolas" pitchFamily="34" charset="-120"/>
              </a:rPr>
              <a:t>&lt;!-- --&gt;</a:t>
            </a:r>
            <a:pPr indent="0" marL="0">
              <a:buNone/>
            </a:pPr>
            <a:r>
              <a:rPr lang="en-US" sz="1450" dirty="0">
                <a:solidFill>
                  <a:srgbClr val="262626"/>
                </a:solidFill>
                <a:latin typeface="Aptos" pitchFamily="34" charset="0"/>
                <a:ea typeface="Aptos" pitchFamily="34" charset="-122"/>
                <a:cs typeface="Aptos" pitchFamily="34" charset="-120"/>
              </a:rPr>
              <a:t>.</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926080" y="640080"/>
            <a:ext cx="8412480" cy="4206240"/>
          </a:xfrm>
          <a:prstGeom prst="rect">
            <a:avLst/>
          </a:prstGeom>
          <a:noFill/>
          <a:ln/>
        </p:spPr>
        <p:txBody>
          <a:bodyPr wrap="square" lIns="0" tIns="0" rIns="0" bIns="0" rtlCol="0" anchor="ctr"/>
          <a:lstStyle/>
          <a:p>
            <a:pPr algn="r" indent="0" marL="0">
              <a:buNone/>
            </a:pPr>
            <a:r>
              <a:rPr lang="en-US" sz="6000" dirty="0">
                <a:solidFill>
                  <a:srgbClr val="FFFFFF"/>
                </a:solidFill>
                <a:latin typeface="Aptos" pitchFamily="34" charset="0"/>
                <a:ea typeface="Aptos" pitchFamily="34" charset="-122"/>
                <a:cs typeface="Aptos" pitchFamily="34" charset="-120"/>
              </a:rPr>
              <a:t>Concept → Try It</a:t>
            </a:r>
            <a:endParaRPr lang="en-US" sz="6000" dirty="0"/>
          </a:p>
        </p:txBody>
      </p:sp>
      <p:sp>
        <p:nvSpPr>
          <p:cNvPr id="3" name="Text 1"/>
          <p:cNvSpPr txBox="1"/>
          <p:nvPr/>
        </p:nvSpPr>
        <p:spPr>
          <a:xfrm>
            <a:off x="1417320" y="5989320"/>
            <a:ext cx="10058400" cy="411480"/>
          </a:xfrm>
          <a:prstGeom prst="rect">
            <a:avLst/>
          </a:prstGeom>
          <a:noFill/>
          <a:ln/>
        </p:spPr>
        <p:txBody>
          <a:bodyPr wrap="square" lIns="0" tIns="0" rIns="0" bIns="0" rtlCol="0" anchor="ctr"/>
          <a:lstStyle/>
          <a:p>
            <a:pPr indent="0" marL="0">
              <a:buNone/>
            </a:pPr>
            <a:r>
              <a:rPr lang="en-US" sz="1800" dirty="0">
                <a:solidFill>
                  <a:srgbClr val="FFFFFF"/>
                </a:solidFill>
                <a:latin typeface="Aptos" pitchFamily="34" charset="0"/>
                <a:ea typeface="Aptos" pitchFamily="34" charset="-122"/>
                <a:cs typeface="Aptos" pitchFamily="34" charset="-120"/>
              </a:rPr>
              <a:t>Seven rounds   ·   one restaurant website   ·   all in activity/style.css</a:t>
            </a:r>
            <a:endParaRPr lang="en-US" sz="1800" dirty="0"/>
          </a:p>
        </p:txBody>
      </p:sp>
      <p:sp>
        <p:nvSpPr>
          <p:cNvPr id="4" name="Shape 2"/>
          <p:cNvSpPr/>
          <p:nvPr/>
        </p:nvSpPr>
        <p:spPr>
          <a:xfrm>
            <a:off x="914400" y="3840480"/>
            <a:ext cx="0" cy="3017520"/>
          </a:xfrm>
          <a:prstGeom prst="line">
            <a:avLst/>
          </a:prstGeom>
          <a:noFill/>
          <a:ln w="25400">
            <a:solidFill>
              <a:srgbClr val="FFFFFF"/>
            </a:solidFill>
            <a:prstDash val="solid"/>
          </a:ln>
        </p:spPr>
      </p:sp>
      <p:sp>
        <p:nvSpPr>
          <p:cNvPr id="5" name="Text 3"/>
          <p:cNvSpPr txBox="1"/>
          <p:nvPr/>
        </p:nvSpPr>
        <p:spPr>
          <a:xfrm>
            <a:off x="3794760" y="5029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6" name="Text 4"/>
          <p:cNvSpPr txBox="1"/>
          <p:nvPr/>
        </p:nvSpPr>
        <p:spPr>
          <a:xfrm>
            <a:off x="4160520" y="7315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7" name="Text 5"/>
          <p:cNvSpPr txBox="1"/>
          <p:nvPr/>
        </p:nvSpPr>
        <p:spPr>
          <a:xfrm>
            <a:off x="3749040" y="914400"/>
            <a:ext cx="36576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Aptos" pitchFamily="34" charset="0"/>
                <a:ea typeface="Aptos" pitchFamily="34" charset="-122"/>
                <a:cs typeface="Aptos" pitchFamily="34" charset="-120"/>
              </a:rPr>
              <a:t>○</a:t>
            </a:r>
            <a:endParaRPr lang="en-US" sz="1600" dirty="0"/>
          </a:p>
        </p:txBody>
      </p:sp>
      <p:sp>
        <p:nvSpPr>
          <p:cNvPr id="8" name="Text 6"/>
          <p:cNvSpPr txBox="1"/>
          <p:nvPr/>
        </p:nvSpPr>
        <p:spPr>
          <a:xfrm>
            <a:off x="11521440" y="57607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9" name="Text 7"/>
          <p:cNvSpPr txBox="1"/>
          <p:nvPr/>
        </p:nvSpPr>
        <p:spPr>
          <a:xfrm>
            <a:off x="11292840" y="626364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10" name="Text 8"/>
          <p:cNvSpPr txBox="1"/>
          <p:nvPr/>
        </p:nvSpPr>
        <p:spPr>
          <a:xfrm>
            <a:off x="11887200" y="6263640"/>
            <a:ext cx="36576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Aptos" pitchFamily="34" charset="0"/>
                <a:ea typeface="Aptos" pitchFamily="34" charset="-122"/>
                <a:cs typeface="Aptos" pitchFamily="34" charset="-120"/>
              </a:rPr>
              <a: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Concept 1: Three Ways to Add CSS</a:t>
            </a:r>
            <a:endParaRPr lang="en-US" sz="2800" dirty="0"/>
          </a:p>
        </p:txBody>
      </p:sp>
      <p:sp>
        <p:nvSpPr>
          <p:cNvPr id="7" name="Shape 4"/>
          <p:cNvSpPr/>
          <p:nvPr/>
        </p:nvSpPr>
        <p:spPr>
          <a:xfrm>
            <a:off x="4754880" y="1783080"/>
            <a:ext cx="6903720" cy="1298448"/>
          </a:xfrm>
          <a:prstGeom prst="roundRect">
            <a:avLst>
              <a:gd name="adj" fmla="val 8451"/>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4937760" y="1965960"/>
            <a:ext cx="457200" cy="457200"/>
          </a:xfrm>
          <a:prstGeom prst="ellipse">
            <a:avLst/>
          </a:prstGeom>
          <a:solidFill>
            <a:srgbClr val="C62828"/>
          </a:solidFill>
          <a:ln w="12700">
            <a:solidFill>
              <a:srgbClr val="C62828"/>
            </a:solidFill>
            <a:prstDash val="solid"/>
          </a:ln>
        </p:spPr>
      </p:sp>
      <p:sp>
        <p:nvSpPr>
          <p:cNvPr id="9" name="Text 6"/>
          <p:cNvSpPr txBox="1"/>
          <p:nvPr/>
        </p:nvSpPr>
        <p:spPr>
          <a:xfrm>
            <a:off x="4937760" y="1965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10" name="Text 7"/>
          <p:cNvSpPr txBox="1"/>
          <p:nvPr/>
        </p:nvSpPr>
        <p:spPr>
          <a:xfrm>
            <a:off x="5577840" y="1965960"/>
            <a:ext cx="1828800" cy="45720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Inline</a:t>
            </a:r>
            <a:endParaRPr lang="en-US" sz="1800" dirty="0"/>
          </a:p>
        </p:txBody>
      </p:sp>
      <p:sp>
        <p:nvSpPr>
          <p:cNvPr id="11" name="Text 8"/>
          <p:cNvSpPr txBox="1"/>
          <p:nvPr/>
        </p:nvSpPr>
        <p:spPr>
          <a:xfrm>
            <a:off x="7315200" y="1965960"/>
            <a:ext cx="4160520" cy="457200"/>
          </a:xfrm>
          <a:prstGeom prst="rect">
            <a:avLst/>
          </a:prstGeom>
          <a:noFill/>
          <a:ln/>
        </p:spPr>
        <p:txBody>
          <a:bodyPr wrap="square" lIns="0" tIns="0" rIns="0" bIns="0" rtlCol="0" anchor="ctr"/>
          <a:lstStyle/>
          <a:p>
            <a:pPr indent="0" marL="0">
              <a:buNone/>
            </a:pPr>
            <a:r>
              <a:rPr lang="en-US" sz="1400" dirty="0">
                <a:solidFill>
                  <a:srgbClr val="595959"/>
                </a:solidFill>
                <a:latin typeface="Aptos" pitchFamily="34" charset="0"/>
                <a:ea typeface="Aptos" pitchFamily="34" charset="-122"/>
                <a:cs typeface="Aptos" pitchFamily="34" charset="-120"/>
              </a:rPr>
              <a:t>style="…" on one element</a:t>
            </a:r>
            <a:endParaRPr lang="en-US" sz="1400" dirty="0"/>
          </a:p>
        </p:txBody>
      </p:sp>
      <p:sp>
        <p:nvSpPr>
          <p:cNvPr id="12" name="Text 9"/>
          <p:cNvSpPr txBox="1"/>
          <p:nvPr/>
        </p:nvSpPr>
        <p:spPr>
          <a:xfrm>
            <a:off x="5577840" y="2441448"/>
            <a:ext cx="274320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One element only. Hard to maintain. Avoid.</a:t>
            </a:r>
            <a:endParaRPr lang="en-US" sz="1350" dirty="0"/>
          </a:p>
        </p:txBody>
      </p:sp>
      <p:sp>
        <p:nvSpPr>
          <p:cNvPr id="13" name="Shape 10"/>
          <p:cNvSpPr/>
          <p:nvPr/>
        </p:nvSpPr>
        <p:spPr>
          <a:xfrm>
            <a:off x="8366760" y="2441448"/>
            <a:ext cx="3108960" cy="45720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14" name="Text 11"/>
          <p:cNvSpPr txBox="1"/>
          <p:nvPr/>
        </p:nvSpPr>
        <p:spPr>
          <a:xfrm>
            <a:off x="8449056" y="2523744"/>
            <a:ext cx="2944368" cy="292608"/>
          </a:xfrm>
          <a:prstGeom prst="rect">
            <a:avLst/>
          </a:prstGeom>
          <a:noFill/>
          <a:ln/>
        </p:spPr>
        <p:txBody>
          <a:bodyPr wrap="square" lIns="0" tIns="0" rIns="0" bIns="0" rtlCol="0" anchor="t"/>
          <a:lstStyle/>
          <a:p>
            <a:pPr indent="0" marL="0">
              <a:lnSpc>
                <a:spcPct val="100000"/>
              </a:lnSpc>
              <a:buNone/>
            </a:pPr>
            <a:r>
              <a:rPr lang="en-US" sz="12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20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style</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"color: red;"</a:t>
            </a:r>
            <a:pPr indent="0" marL="0">
              <a:lnSpc>
                <a:spcPct val="100000"/>
              </a:lnSpc>
              <a:buNone/>
            </a:pPr>
            <a:r>
              <a:rPr lang="en-US" sz="1200" dirty="0">
                <a:solidFill>
                  <a:srgbClr val="808080"/>
                </a:solidFill>
                <a:latin typeface="Consolas" pitchFamily="34" charset="0"/>
                <a:ea typeface="Consolas" pitchFamily="34" charset="-122"/>
                <a:cs typeface="Consolas" pitchFamily="34" charset="-120"/>
              </a:rPr>
              <a:t>&gt;</a:t>
            </a:r>
            <a:endParaRPr lang="en-US" sz="1200" dirty="0"/>
          </a:p>
        </p:txBody>
      </p:sp>
      <p:sp>
        <p:nvSpPr>
          <p:cNvPr id="15" name="Shape 12"/>
          <p:cNvSpPr/>
          <p:nvPr/>
        </p:nvSpPr>
        <p:spPr>
          <a:xfrm>
            <a:off x="4754880" y="3264408"/>
            <a:ext cx="6903720" cy="1298448"/>
          </a:xfrm>
          <a:prstGeom prst="roundRect">
            <a:avLst>
              <a:gd name="adj" fmla="val 8451"/>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6" name="Shape 13"/>
          <p:cNvSpPr/>
          <p:nvPr/>
        </p:nvSpPr>
        <p:spPr>
          <a:xfrm>
            <a:off x="4937760" y="3447288"/>
            <a:ext cx="457200" cy="457200"/>
          </a:xfrm>
          <a:prstGeom prst="ellipse">
            <a:avLst/>
          </a:prstGeom>
          <a:solidFill>
            <a:srgbClr val="E97132"/>
          </a:solidFill>
          <a:ln w="12700">
            <a:solidFill>
              <a:srgbClr val="E97132"/>
            </a:solidFill>
            <a:prstDash val="solid"/>
          </a:ln>
        </p:spPr>
      </p:sp>
      <p:sp>
        <p:nvSpPr>
          <p:cNvPr id="17" name="Text 14"/>
          <p:cNvSpPr txBox="1"/>
          <p:nvPr/>
        </p:nvSpPr>
        <p:spPr>
          <a:xfrm>
            <a:off x="4937760" y="344728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8" name="Text 15"/>
          <p:cNvSpPr txBox="1"/>
          <p:nvPr/>
        </p:nvSpPr>
        <p:spPr>
          <a:xfrm>
            <a:off x="5577840" y="3447288"/>
            <a:ext cx="1828800" cy="45720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Internal</a:t>
            </a:r>
            <a:endParaRPr lang="en-US" sz="1800" dirty="0"/>
          </a:p>
        </p:txBody>
      </p:sp>
      <p:sp>
        <p:nvSpPr>
          <p:cNvPr id="19" name="Text 16"/>
          <p:cNvSpPr txBox="1"/>
          <p:nvPr/>
        </p:nvSpPr>
        <p:spPr>
          <a:xfrm>
            <a:off x="7315200" y="3447288"/>
            <a:ext cx="4160520" cy="457200"/>
          </a:xfrm>
          <a:prstGeom prst="rect">
            <a:avLst/>
          </a:prstGeom>
          <a:noFill/>
          <a:ln/>
        </p:spPr>
        <p:txBody>
          <a:bodyPr wrap="square" lIns="0" tIns="0" rIns="0" bIns="0" rtlCol="0" anchor="ctr"/>
          <a:lstStyle/>
          <a:p>
            <a:pPr indent="0" marL="0">
              <a:buNone/>
            </a:pPr>
            <a:r>
              <a:rPr lang="en-US" sz="1400" dirty="0">
                <a:solidFill>
                  <a:srgbClr val="595959"/>
                </a:solidFill>
                <a:latin typeface="Aptos" pitchFamily="34" charset="0"/>
                <a:ea typeface="Aptos" pitchFamily="34" charset="-122"/>
                <a:cs typeface="Aptos" pitchFamily="34" charset="-120"/>
              </a:rPr>
              <a:t>&lt;style&gt; in the &lt;head&gt;</a:t>
            </a:r>
            <a:endParaRPr lang="en-US" sz="1400" dirty="0"/>
          </a:p>
        </p:txBody>
      </p:sp>
      <p:sp>
        <p:nvSpPr>
          <p:cNvPr id="20" name="Text 17"/>
          <p:cNvSpPr txBox="1"/>
          <p:nvPr/>
        </p:nvSpPr>
        <p:spPr>
          <a:xfrm>
            <a:off x="5577840" y="3922776"/>
            <a:ext cx="274320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One page only. Fine for demos.</a:t>
            </a:r>
            <a:endParaRPr lang="en-US" sz="1350" dirty="0"/>
          </a:p>
        </p:txBody>
      </p:sp>
      <p:sp>
        <p:nvSpPr>
          <p:cNvPr id="21" name="Shape 18"/>
          <p:cNvSpPr/>
          <p:nvPr/>
        </p:nvSpPr>
        <p:spPr>
          <a:xfrm>
            <a:off x="8366760" y="3922776"/>
            <a:ext cx="3108960" cy="45720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22" name="Text 19"/>
          <p:cNvSpPr txBox="1"/>
          <p:nvPr/>
        </p:nvSpPr>
        <p:spPr>
          <a:xfrm>
            <a:off x="8449056" y="4005072"/>
            <a:ext cx="2944368" cy="292608"/>
          </a:xfrm>
          <a:prstGeom prst="rect">
            <a:avLst/>
          </a:prstGeom>
          <a:noFill/>
          <a:ln/>
        </p:spPr>
        <p:txBody>
          <a:bodyPr wrap="square" lIns="0" tIns="0" rIns="0" bIns="0" rtlCol="0" anchor="t"/>
          <a:lstStyle/>
          <a:p>
            <a:pPr indent="0" marL="0">
              <a:lnSpc>
                <a:spcPct val="100000"/>
              </a:lnSpc>
              <a:buNone/>
            </a:pPr>
            <a:r>
              <a:rPr lang="en-US" sz="12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200" dirty="0">
                <a:solidFill>
                  <a:srgbClr val="569CD6"/>
                </a:solidFill>
                <a:latin typeface="Consolas" pitchFamily="34" charset="0"/>
                <a:ea typeface="Consolas" pitchFamily="34" charset="-122"/>
                <a:cs typeface="Consolas" pitchFamily="34" charset="-120"/>
              </a:rPr>
              <a:t>style</a:t>
            </a:r>
            <a:pPr indent="0" marL="0">
              <a:lnSpc>
                <a:spcPct val="100000"/>
              </a:lnSpc>
              <a:buNone/>
            </a:pPr>
            <a:r>
              <a:rPr lang="en-US" sz="12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p { … } </a:t>
            </a:r>
            <a:pPr indent="0" marL="0">
              <a:lnSpc>
                <a:spcPct val="100000"/>
              </a:lnSpc>
              <a:buNone/>
            </a:pPr>
            <a:r>
              <a:rPr lang="en-US" sz="12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200" dirty="0">
                <a:solidFill>
                  <a:srgbClr val="569CD6"/>
                </a:solidFill>
                <a:latin typeface="Consolas" pitchFamily="34" charset="0"/>
                <a:ea typeface="Consolas" pitchFamily="34" charset="-122"/>
                <a:cs typeface="Consolas" pitchFamily="34" charset="-120"/>
              </a:rPr>
              <a:t>style</a:t>
            </a:r>
            <a:pPr indent="0" marL="0">
              <a:lnSpc>
                <a:spcPct val="100000"/>
              </a:lnSpc>
              <a:buNone/>
            </a:pPr>
            <a:r>
              <a:rPr lang="en-US" sz="1200" dirty="0">
                <a:solidFill>
                  <a:srgbClr val="808080"/>
                </a:solidFill>
                <a:latin typeface="Consolas" pitchFamily="34" charset="0"/>
                <a:ea typeface="Consolas" pitchFamily="34" charset="-122"/>
                <a:cs typeface="Consolas" pitchFamily="34" charset="-120"/>
              </a:rPr>
              <a:t>&gt;</a:t>
            </a:r>
            <a:endParaRPr lang="en-US" sz="1200" dirty="0"/>
          </a:p>
        </p:txBody>
      </p:sp>
      <p:sp>
        <p:nvSpPr>
          <p:cNvPr id="23" name="Shape 20"/>
          <p:cNvSpPr/>
          <p:nvPr/>
        </p:nvSpPr>
        <p:spPr>
          <a:xfrm>
            <a:off x="4754880" y="4745736"/>
            <a:ext cx="6903720" cy="1298448"/>
          </a:xfrm>
          <a:prstGeom prst="roundRect">
            <a:avLst>
              <a:gd name="adj" fmla="val 8451"/>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4" name="Shape 21"/>
          <p:cNvSpPr/>
          <p:nvPr/>
        </p:nvSpPr>
        <p:spPr>
          <a:xfrm>
            <a:off x="4937760" y="4928616"/>
            <a:ext cx="457200" cy="457200"/>
          </a:xfrm>
          <a:prstGeom prst="ellipse">
            <a:avLst/>
          </a:prstGeom>
          <a:solidFill>
            <a:srgbClr val="2E7D32"/>
          </a:solidFill>
          <a:ln w="12700">
            <a:solidFill>
              <a:srgbClr val="2E7D32"/>
            </a:solidFill>
            <a:prstDash val="solid"/>
          </a:ln>
        </p:spPr>
      </p:sp>
      <p:sp>
        <p:nvSpPr>
          <p:cNvPr id="25" name="Text 22"/>
          <p:cNvSpPr txBox="1"/>
          <p:nvPr/>
        </p:nvSpPr>
        <p:spPr>
          <a:xfrm>
            <a:off x="4937760" y="492861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26" name="Text 23"/>
          <p:cNvSpPr txBox="1"/>
          <p:nvPr/>
        </p:nvSpPr>
        <p:spPr>
          <a:xfrm>
            <a:off x="5577840" y="4928616"/>
            <a:ext cx="1828800" cy="45720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External</a:t>
            </a:r>
            <a:endParaRPr lang="en-US" sz="1800" dirty="0"/>
          </a:p>
        </p:txBody>
      </p:sp>
      <p:sp>
        <p:nvSpPr>
          <p:cNvPr id="27" name="Text 24"/>
          <p:cNvSpPr txBox="1"/>
          <p:nvPr/>
        </p:nvSpPr>
        <p:spPr>
          <a:xfrm>
            <a:off x="7315200" y="4928616"/>
            <a:ext cx="4160520" cy="457200"/>
          </a:xfrm>
          <a:prstGeom prst="rect">
            <a:avLst/>
          </a:prstGeom>
          <a:noFill/>
          <a:ln/>
        </p:spPr>
        <p:txBody>
          <a:bodyPr wrap="square" lIns="0" tIns="0" rIns="0" bIns="0" rtlCol="0" anchor="ctr"/>
          <a:lstStyle/>
          <a:p>
            <a:pPr indent="0" marL="0">
              <a:buNone/>
            </a:pPr>
            <a:r>
              <a:rPr lang="en-US" sz="1400" dirty="0">
                <a:solidFill>
                  <a:srgbClr val="595959"/>
                </a:solidFill>
                <a:latin typeface="Aptos" pitchFamily="34" charset="0"/>
                <a:ea typeface="Aptos" pitchFamily="34" charset="-122"/>
                <a:cs typeface="Aptos" pitchFamily="34" charset="-120"/>
              </a:rPr>
              <a:t>&lt;link&gt; to a .css file</a:t>
            </a:r>
            <a:endParaRPr lang="en-US" sz="1400" dirty="0"/>
          </a:p>
        </p:txBody>
      </p:sp>
      <p:sp>
        <p:nvSpPr>
          <p:cNvPr id="28" name="Text 25"/>
          <p:cNvSpPr txBox="1"/>
          <p:nvPr/>
        </p:nvSpPr>
        <p:spPr>
          <a:xfrm>
            <a:off x="5577840" y="5404104"/>
            <a:ext cx="274320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Every page shares one file. Use this.</a:t>
            </a:r>
            <a:endParaRPr lang="en-US" sz="1350" dirty="0"/>
          </a:p>
        </p:txBody>
      </p:sp>
      <p:sp>
        <p:nvSpPr>
          <p:cNvPr id="29" name="Shape 26"/>
          <p:cNvSpPr/>
          <p:nvPr/>
        </p:nvSpPr>
        <p:spPr>
          <a:xfrm>
            <a:off x="8366760" y="5404104"/>
            <a:ext cx="3108960" cy="45720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30" name="Text 27"/>
          <p:cNvSpPr txBox="1"/>
          <p:nvPr/>
        </p:nvSpPr>
        <p:spPr>
          <a:xfrm>
            <a:off x="8449056" y="5486400"/>
            <a:ext cx="2944368" cy="292608"/>
          </a:xfrm>
          <a:prstGeom prst="rect">
            <a:avLst/>
          </a:prstGeom>
          <a:noFill/>
          <a:ln/>
        </p:spPr>
        <p:txBody>
          <a:bodyPr wrap="square" lIns="0" tIns="0" rIns="0" bIns="0" rtlCol="0" anchor="t"/>
          <a:lstStyle/>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link</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rel</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"stylesheet"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"style.css"</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C:\Repos\2026-2027\WEBD1000\05_Intro_to_CSS\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1376122"/>
            <a:ext cx="5852160" cy="4105756"/>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1604722"/>
            <a:ext cx="5394960" cy="3648556"/>
          </a:xfrm>
          <a:prstGeom prst="rect">
            <a:avLst/>
          </a:prstGeom>
          <a:noFill/>
          <a:ln/>
        </p:spPr>
        <p:txBody>
          <a:bodyPr wrap="square" lIns="0" tIns="0" rIns="0" bIns="0" rtlCol="0" anchor="t"/>
          <a:lstStyle/>
          <a:p>
            <a:pPr indent="0" marL="0">
              <a:lnSpc>
                <a:spcPct val="100000"/>
              </a:lnSpc>
              <a:buNone/>
            </a:pPr>
            <a:r>
              <a:rPr lang="en-US" sz="1150" dirty="0">
                <a:solidFill>
                  <a:srgbClr val="6A9955"/>
                </a:solidFill>
                <a:latin typeface="Consolas" pitchFamily="34" charset="0"/>
                <a:ea typeface="Consolas" pitchFamily="34" charset="-122"/>
                <a:cs typeface="Consolas" pitchFamily="34" charset="-120"/>
              </a:rPr>
              <a:t>&lt;!-- 3. External: a separate .css file. Best! --&gt;</a:t>
            </a:r>
            <a:endParaRPr lang="en-US" sz="1150" dirty="0"/>
          </a:p>
          <a:p>
            <a:pPr indent="0" marL="0">
              <a:lnSpc>
                <a:spcPct val="100000"/>
              </a:lnSpc>
              <a:buNone/>
            </a:pPr>
            <a:r>
              <a:rPr lang="en-US" sz="11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150" dirty="0">
                <a:solidFill>
                  <a:srgbClr val="569CD6"/>
                </a:solidFill>
                <a:latin typeface="Consolas" pitchFamily="34" charset="0"/>
                <a:ea typeface="Consolas" pitchFamily="34" charset="-122"/>
                <a:cs typeface="Consolas" pitchFamily="34" charset="-120"/>
              </a:rPr>
              <a:t>link</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rel</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"stylesheet"</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"01_external.css"</a:t>
            </a:r>
            <a:pPr indent="0" marL="0">
              <a:lnSpc>
                <a:spcPct val="100000"/>
              </a:lnSpc>
              <a:buNone/>
            </a:pPr>
            <a:r>
              <a:rPr lang="en-US" sz="1150" dirty="0">
                <a:solidFill>
                  <a:srgbClr val="808080"/>
                </a:solidFill>
                <a:latin typeface="Consolas" pitchFamily="34" charset="0"/>
                <a:ea typeface="Consolas" pitchFamily="34" charset="-122"/>
                <a:cs typeface="Consolas" pitchFamily="34" charset="-120"/>
              </a:rPr>
              <a:t>&gt;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6A9955"/>
                </a:solidFill>
                <a:latin typeface="Consolas" pitchFamily="34" charset="0"/>
                <a:ea typeface="Consolas" pitchFamily="34" charset="-122"/>
                <a:cs typeface="Consolas" pitchFamily="34" charset="-120"/>
              </a:rPr>
              <a:t>&lt;!-- 2. Internal: a style block (this page only) --&gt;</a:t>
            </a:r>
            <a:endParaRPr lang="en-US" sz="1150" dirty="0"/>
          </a:p>
          <a:p>
            <a:pPr indent="0" marL="0">
              <a:lnSpc>
                <a:spcPct val="100000"/>
              </a:lnSpc>
              <a:buNone/>
            </a:pPr>
            <a:r>
              <a:rPr lang="en-US" sz="11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150" dirty="0">
                <a:solidFill>
                  <a:srgbClr val="569CD6"/>
                </a:solidFill>
                <a:latin typeface="Consolas" pitchFamily="34" charset="0"/>
                <a:ea typeface="Consolas" pitchFamily="34" charset="-122"/>
                <a:cs typeface="Consolas" pitchFamily="34" charset="-120"/>
              </a:rPr>
              <a:t>style</a:t>
            </a:r>
            <a:pPr indent="0" marL="0">
              <a:lnSpc>
                <a:spcPct val="100000"/>
              </a:lnSpc>
              <a:buNone/>
            </a:pPr>
            <a:r>
              <a:rPr lang="en-US" sz="1150" dirty="0">
                <a:solidFill>
                  <a:srgbClr val="808080"/>
                </a:solidFill>
                <a:latin typeface="Consolas" pitchFamily="34" charset="0"/>
                <a:ea typeface="Consolas" pitchFamily="34" charset="-122"/>
                <a:cs typeface="Consolas" pitchFamily="34" charset="-120"/>
              </a:rPr>
              <a:t>&gt;</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   h2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teal</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150" dirty="0">
                <a:solidFill>
                  <a:srgbClr val="569CD6"/>
                </a:solidFill>
                <a:latin typeface="Consolas" pitchFamily="34" charset="0"/>
                <a:ea typeface="Consolas" pitchFamily="34" charset="-122"/>
                <a:cs typeface="Consolas" pitchFamily="34" charset="-120"/>
              </a:rPr>
              <a:t>style</a:t>
            </a:r>
            <a:pPr indent="0" marL="0">
              <a:lnSpc>
                <a:spcPct val="100000"/>
              </a:lnSpc>
              <a:buNone/>
            </a:pPr>
            <a:r>
              <a:rPr lang="en-US" sz="1150" dirty="0">
                <a:solidFill>
                  <a:srgbClr val="808080"/>
                </a:solidFill>
                <a:latin typeface="Consolas" pitchFamily="34" charset="0"/>
                <a:ea typeface="Consolas" pitchFamily="34" charset="-122"/>
                <a:cs typeface="Consolas" pitchFamily="34" charset="-120"/>
              </a:rPr>
              <a:t>&gt;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6A9955"/>
                </a:solidFill>
                <a:latin typeface="Consolas" pitchFamily="34" charset="0"/>
                <a:ea typeface="Consolas" pitchFamily="34" charset="-122"/>
                <a:cs typeface="Consolas" pitchFamily="34" charset="-120"/>
              </a:rPr>
              <a:t>&lt;!-- Styled by 01_external.css --&gt;</a:t>
            </a:r>
            <a:endParaRPr lang="en-US" sz="1150" dirty="0"/>
          </a:p>
          <a:p>
            <a:pPr indent="0" marL="0">
              <a:lnSpc>
                <a:spcPct val="100000"/>
              </a:lnSpc>
              <a:buNone/>
            </a:pPr>
            <a:r>
              <a:rPr lang="en-US" sz="11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150" dirty="0">
                <a:solidFill>
                  <a:srgbClr val="569CD6"/>
                </a:solidFill>
                <a:latin typeface="Consolas" pitchFamily="34" charset="0"/>
                <a:ea typeface="Consolas" pitchFamily="34" charset="-122"/>
                <a:cs typeface="Consolas" pitchFamily="34" charset="-120"/>
              </a:rPr>
              <a:t>h1</a:t>
            </a:r>
            <a:pPr indent="0" marL="0">
              <a:lnSpc>
                <a:spcPct val="100000"/>
              </a:lnSpc>
              <a:buNone/>
            </a:pPr>
            <a:r>
              <a:rPr lang="en-US" sz="11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Harbourside Fish </a:t>
            </a:r>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&amp;amp;</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Chips</a:t>
            </a:r>
            <a:pPr indent="0" marL="0">
              <a:lnSpc>
                <a:spcPct val="100000"/>
              </a:lnSpc>
              <a:buNone/>
            </a:pPr>
            <a:r>
              <a:rPr lang="en-US" sz="11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150" dirty="0">
                <a:solidFill>
                  <a:srgbClr val="569CD6"/>
                </a:solidFill>
                <a:latin typeface="Consolas" pitchFamily="34" charset="0"/>
                <a:ea typeface="Consolas" pitchFamily="34" charset="-122"/>
                <a:cs typeface="Consolas" pitchFamily="34" charset="-120"/>
              </a:rPr>
              <a:t>h1</a:t>
            </a:r>
            <a:pPr indent="0" marL="0">
              <a:lnSpc>
                <a:spcPct val="100000"/>
              </a:lnSpc>
              <a:buNone/>
            </a:pPr>
            <a:r>
              <a:rPr lang="en-US" sz="1150" dirty="0">
                <a:solidFill>
                  <a:srgbClr val="808080"/>
                </a:solidFill>
                <a:latin typeface="Consolas" pitchFamily="34" charset="0"/>
                <a:ea typeface="Consolas" pitchFamily="34" charset="-122"/>
                <a:cs typeface="Consolas" pitchFamily="34" charset="-120"/>
              </a:rPr>
              <a:t>&gt;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6A9955"/>
                </a:solidFill>
                <a:latin typeface="Consolas" pitchFamily="34" charset="0"/>
                <a:ea typeface="Consolas" pitchFamily="34" charset="-122"/>
                <a:cs typeface="Consolas" pitchFamily="34" charset="-120"/>
              </a:rPr>
              <a:t>&lt;!-- Styled by the style block above --&gt;</a:t>
            </a:r>
            <a:endParaRPr lang="en-US" sz="1150" dirty="0"/>
          </a:p>
          <a:p>
            <a:pPr indent="0" marL="0">
              <a:lnSpc>
                <a:spcPct val="100000"/>
              </a:lnSpc>
              <a:buNone/>
            </a:pPr>
            <a:r>
              <a:rPr lang="en-US" sz="11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150" dirty="0">
                <a:solidFill>
                  <a:srgbClr val="569CD6"/>
                </a:solidFill>
                <a:latin typeface="Consolas" pitchFamily="34" charset="0"/>
                <a:ea typeface="Consolas" pitchFamily="34" charset="-122"/>
                <a:cs typeface="Consolas" pitchFamily="34" charset="-120"/>
              </a:rPr>
              <a:t>h2</a:t>
            </a:r>
            <a:pPr indent="0" marL="0">
              <a:lnSpc>
                <a:spcPct val="100000"/>
              </a:lnSpc>
              <a:buNone/>
            </a:pPr>
            <a:r>
              <a:rPr lang="en-US" sz="11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Fresh from the Wharf</a:t>
            </a:r>
            <a:pPr indent="0" marL="0">
              <a:lnSpc>
                <a:spcPct val="100000"/>
              </a:lnSpc>
              <a:buNone/>
            </a:pPr>
            <a:r>
              <a:rPr lang="en-US" sz="11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150" dirty="0">
                <a:solidFill>
                  <a:srgbClr val="569CD6"/>
                </a:solidFill>
                <a:latin typeface="Consolas" pitchFamily="34" charset="0"/>
                <a:ea typeface="Consolas" pitchFamily="34" charset="-122"/>
                <a:cs typeface="Consolas" pitchFamily="34" charset="-120"/>
              </a:rPr>
              <a:t>h2</a:t>
            </a:r>
            <a:pPr indent="0" marL="0">
              <a:lnSpc>
                <a:spcPct val="100000"/>
              </a:lnSpc>
              <a:buNone/>
            </a:pPr>
            <a:r>
              <a:rPr lang="en-US" sz="1150" dirty="0">
                <a:solidFill>
                  <a:srgbClr val="808080"/>
                </a:solidFill>
                <a:latin typeface="Consolas" pitchFamily="34" charset="0"/>
                <a:ea typeface="Consolas" pitchFamily="34" charset="-122"/>
                <a:cs typeface="Consolas" pitchFamily="34" charset="-120"/>
              </a:rPr>
              <a:t>&gt;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6A9955"/>
                </a:solidFill>
                <a:latin typeface="Consolas" pitchFamily="34" charset="0"/>
                <a:ea typeface="Consolas" pitchFamily="34" charset="-122"/>
                <a:cs typeface="Consolas" pitchFamily="34" charset="-120"/>
              </a:rPr>
              <a:t>&lt;!-- 1. Inline: a style attribute on ONE element (avoid this) --&gt;</a:t>
            </a:r>
            <a:endParaRPr lang="en-US" sz="1150" dirty="0"/>
          </a:p>
          <a:p>
            <a:pPr indent="0" marL="0">
              <a:lnSpc>
                <a:spcPct val="100000"/>
              </a:lnSpc>
              <a:buNone/>
            </a:pPr>
            <a:r>
              <a:rPr lang="en-US" sz="11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1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style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"color: darkorange;"</a:t>
            </a:r>
            <a:pPr indent="0" marL="0">
              <a:lnSpc>
                <a:spcPct val="100000"/>
              </a:lnSpc>
              <a:buNone/>
            </a:pPr>
            <a:r>
              <a:rPr lang="en-US" sz="11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Open 7 days a week.</a:t>
            </a:r>
            <a:pPr indent="0" marL="0">
              <a:lnSpc>
                <a:spcPct val="100000"/>
              </a:lnSpc>
              <a:buNone/>
            </a:pPr>
            <a:r>
              <a:rPr lang="en-US" sz="11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1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150" dirty="0">
                <a:solidFill>
                  <a:srgbClr val="808080"/>
                </a:solidFill>
                <a:latin typeface="Consolas" pitchFamily="34" charset="0"/>
                <a:ea typeface="Consolas" pitchFamily="34" charset="-122"/>
                <a:cs typeface="Consolas" pitchFamily="34" charset="-120"/>
              </a:rPr>
              <a:t>&gt;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1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1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Takeout and delivery.</a:t>
            </a:r>
            <a:pPr indent="0" marL="0">
              <a:lnSpc>
                <a:spcPct val="100000"/>
              </a:lnSpc>
              <a:buNone/>
            </a:pPr>
            <a:r>
              <a:rPr lang="en-US" sz="11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1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150" dirty="0">
                <a:solidFill>
                  <a:srgbClr val="808080"/>
                </a:solidFill>
                <a:latin typeface="Consolas" pitchFamily="34" charset="0"/>
                <a:ea typeface="Consolas" pitchFamily="34" charset="-122"/>
                <a:cs typeface="Consolas" pitchFamily="34" charset="-120"/>
              </a:rPr>
              <a:t>&gt;</a:t>
            </a:r>
            <a:endParaRPr lang="en-US" sz="11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EXAMPLE 01</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All Three on One Page</a:t>
            </a:r>
            <a:endParaRPr lang="en-US" sz="3200" dirty="0"/>
          </a:p>
        </p:txBody>
      </p:sp>
      <p:pic>
        <p:nvPicPr>
          <p:cNvPr id="7" name="Image 1" descr="C:\Repos\2026-2027\WEBD1000\05_Intro_to_CSS\_build\shots\ex01.png">    </p:cNvPr>
          <p:cNvPicPr>
            <a:picLocks noChangeAspect="1"/>
          </p:cNvPicPr>
          <p:nvPr/>
        </p:nvPicPr>
        <p:blipFill>
          <a:blip r:embed="rId2"/>
          <a:stretch>
            <a:fillRect/>
          </a:stretch>
        </p:blipFill>
        <p:spPr>
          <a:xfrm>
            <a:off x="6812280" y="3816751"/>
            <a:ext cx="4967935" cy="2401169"/>
          </a:xfrm>
          <a:prstGeom prst="rect">
            <a:avLst/>
          </a:prstGeom>
        </p:spPr>
      </p:pic>
      <p:sp>
        <p:nvSpPr>
          <p:cNvPr id="8" name="Shape 4"/>
          <p:cNvSpPr/>
          <p:nvPr/>
        </p:nvSpPr>
        <p:spPr>
          <a:xfrm>
            <a:off x="6812280" y="3816751"/>
            <a:ext cx="4967935" cy="2401169"/>
          </a:xfrm>
          <a:prstGeom prst="rect">
            <a:avLst/>
          </a:prstGeom>
          <a:ln w="12700">
            <a:solidFill>
              <a:srgbClr val="B0B8BC"/>
            </a:solidFill>
            <a:prstDash val="solid"/>
          </a:ln>
        </p:spPr>
      </p:sp>
      <p:sp>
        <p:nvSpPr>
          <p:cNvPr id="9" name="Text 5"/>
          <p:cNvSpPr txBox="1"/>
          <p:nvPr/>
        </p:nvSpPr>
        <p:spPr>
          <a:xfrm>
            <a:off x="6812280" y="3524143"/>
            <a:ext cx="496793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508760"/>
            <a:ext cx="4967935" cy="1923943"/>
          </a:xfrm>
          <a:prstGeom prst="rect">
            <a:avLst/>
          </a:prstGeom>
          <a:noFill/>
          <a:ln/>
        </p:spPr>
        <p:txBody>
          <a:bodyPr wrap="square" lIns="0" tIns="0" rIns="0" bIns="0" rtlCol="0" anchor="t"/>
          <a:lstStyle/>
          <a:p>
            <a:pPr marL="342900" indent="-342900">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8A2B0B"/>
                </a:solidFill>
                <a:latin typeface="Consolas" pitchFamily="34" charset="0"/>
                <a:ea typeface="Consolas" pitchFamily="34" charset="-122"/>
                <a:cs typeface="Consolas" pitchFamily="34" charset="-120"/>
              </a:rPr>
              <a:t>&lt;link&gt;</a:t>
            </a:r>
            <a:pPr indent="0" marL="0">
              <a:buNone/>
            </a:pPr>
            <a:r>
              <a:rPr lang="en-US" sz="1400" dirty="0">
                <a:solidFill>
                  <a:srgbClr val="262626"/>
                </a:solidFill>
                <a:latin typeface="Aptos" pitchFamily="34" charset="0"/>
                <a:ea typeface="Aptos" pitchFamily="34" charset="-122"/>
                <a:cs typeface="Aptos" pitchFamily="34" charset="-120"/>
              </a:rPr>
              <a:t> goes in the </a:t>
            </a:r>
            <a:pPr indent="0" marL="0">
              <a:buNone/>
            </a:pPr>
            <a:r>
              <a:rPr lang="en-US" sz="1400" dirty="0">
                <a:solidFill>
                  <a:srgbClr val="8A2B0B"/>
                </a:solidFill>
                <a:latin typeface="Consolas" pitchFamily="34" charset="0"/>
                <a:ea typeface="Consolas" pitchFamily="34" charset="-122"/>
                <a:cs typeface="Consolas" pitchFamily="34" charset="-120"/>
              </a:rPr>
              <a:t>&lt;head&gt;</a:t>
            </a:r>
            <a:pPr indent="0" marL="0">
              <a:buNone/>
            </a:pPr>
            <a:r>
              <a:rPr lang="en-US" sz="1400" dirty="0">
                <a:solidFill>
                  <a:srgbClr val="262626"/>
                </a:solidFill>
                <a:latin typeface="Aptos" pitchFamily="34" charset="0"/>
                <a:ea typeface="Aptos" pitchFamily="34" charset="-122"/>
                <a:cs typeface="Aptos" pitchFamily="34" charset="-120"/>
              </a:rPr>
              <a:t>. </a:t>
            </a:r>
            <a:pPr indent="0" marL="0">
              <a:buNone/>
            </a:pPr>
            <a:r>
              <a:rPr lang="en-US" sz="1400" dirty="0">
                <a:solidFill>
                  <a:srgbClr val="8A2B0B"/>
                </a:solidFill>
                <a:latin typeface="Consolas" pitchFamily="34" charset="0"/>
                <a:ea typeface="Consolas" pitchFamily="34" charset="-122"/>
                <a:cs typeface="Consolas" pitchFamily="34" charset="-120"/>
              </a:rPr>
              <a:t>href</a:t>
            </a:r>
            <a:pPr indent="0" marL="0">
              <a:buNone/>
            </a:pPr>
            <a:r>
              <a:rPr lang="en-US" sz="1400" dirty="0">
                <a:solidFill>
                  <a:srgbClr val="262626"/>
                </a:solidFill>
                <a:latin typeface="Aptos" pitchFamily="34" charset="0"/>
                <a:ea typeface="Aptos" pitchFamily="34" charset="-122"/>
                <a:cs typeface="Aptos" pitchFamily="34" charset="-120"/>
              </a:rPr>
              <a:t> is the path to the .css file, just like an </a:t>
            </a:r>
            <a:pPr indent="0" marL="0">
              <a:buNone/>
            </a:pPr>
            <a:r>
              <a:rPr lang="en-US" sz="1400" dirty="0">
                <a:solidFill>
                  <a:srgbClr val="8A2B0B"/>
                </a:solidFill>
                <a:latin typeface="Consolas" pitchFamily="34" charset="0"/>
                <a:ea typeface="Consolas" pitchFamily="34" charset="-122"/>
                <a:cs typeface="Consolas" pitchFamily="34" charset="-120"/>
              </a:rPr>
              <a:t>&lt;a href&gt;</a:t>
            </a:r>
            <a:pPr indent="0" marL="0">
              <a:buNone/>
            </a:pPr>
            <a:r>
              <a:rPr lang="en-US" sz="1400" dirty="0">
                <a:solidFill>
                  <a:srgbClr val="262626"/>
                </a:solidFill>
                <a:latin typeface="Aptos" pitchFamily="34" charset="0"/>
                <a:ea typeface="Aptos" pitchFamily="34" charset="-122"/>
                <a:cs typeface="Aptos" pitchFamily="34" charset="-120"/>
              </a:rPr>
              <a:t>.</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Open </a:t>
            </a:r>
            <a:pPr indent="0" marL="0">
              <a:buNone/>
            </a:pPr>
            <a:r>
              <a:rPr lang="en-US" sz="1400" dirty="0">
                <a:solidFill>
                  <a:srgbClr val="8A2B0B"/>
                </a:solidFill>
                <a:latin typeface="Consolas" pitchFamily="34" charset="0"/>
                <a:ea typeface="Consolas" pitchFamily="34" charset="-122"/>
                <a:cs typeface="Consolas" pitchFamily="34" charset="-120"/>
              </a:rPr>
              <a:t>01_external.css</a:t>
            </a:r>
            <a:pPr indent="0" marL="0">
              <a:buNone/>
            </a:pPr>
            <a:r>
              <a:rPr lang="en-US" sz="1400" dirty="0">
                <a:solidFill>
                  <a:srgbClr val="262626"/>
                </a:solidFill>
                <a:latin typeface="Aptos" pitchFamily="34" charset="0"/>
                <a:ea typeface="Aptos" pitchFamily="34" charset="-122"/>
                <a:cs typeface="Aptos" pitchFamily="34" charset="-120"/>
              </a:rPr>
              <a:t>: no </a:t>
            </a:r>
            <a:pPr indent="0" marL="0">
              <a:buNone/>
            </a:pPr>
            <a:r>
              <a:rPr lang="en-US" sz="1400" dirty="0">
                <a:solidFill>
                  <a:srgbClr val="8A2B0B"/>
                </a:solidFill>
                <a:latin typeface="Consolas" pitchFamily="34" charset="0"/>
                <a:ea typeface="Consolas" pitchFamily="34" charset="-122"/>
                <a:cs typeface="Consolas" pitchFamily="34" charset="-120"/>
              </a:rPr>
              <a:t>&lt;style&gt;</a:t>
            </a:r>
            <a:pPr indent="0" marL="0">
              <a:buNone/>
            </a:pPr>
            <a:r>
              <a:rPr lang="en-US" sz="1400" dirty="0">
                <a:solidFill>
                  <a:srgbClr val="262626"/>
                </a:solidFill>
                <a:latin typeface="Aptos" pitchFamily="34" charset="0"/>
                <a:ea typeface="Aptos" pitchFamily="34" charset="-122"/>
                <a:cs typeface="Aptos" pitchFamily="34" charset="-120"/>
              </a:rPr>
              <a:t> tags, just rules.</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The inline style only affects that one paragraph.</a:t>
            </a:r>
            <a:endParaRPr lang="en-US" sz="140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01_three_ways_example.html + 01_external.css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1: Link Your Stylesheet (5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Open activity/index.html with Live Server</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Black text on white: the browser's default styles.</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Open activity/style.css</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Only comments so far. It isn't linked, so the browser ignores it.</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Add the &lt;link&gt; in index.html</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Inside the </a:t>
            </a:r>
            <a:pPr indent="0" marL="0">
              <a:buNone/>
            </a:pPr>
            <a:r>
              <a:rPr lang="en-US" sz="1300" dirty="0">
                <a:solidFill>
                  <a:srgbClr val="8A2B0B"/>
                </a:solidFill>
                <a:latin typeface="Consolas" pitchFamily="34" charset="0"/>
                <a:ea typeface="Consolas" pitchFamily="34" charset="-122"/>
                <a:cs typeface="Consolas" pitchFamily="34" charset="-120"/>
              </a:rPr>
              <a:t>&lt;head&gt;</a:t>
            </a:r>
            <a:pPr indent="0" marL="0">
              <a:buNone/>
            </a:pPr>
            <a:r>
              <a:rPr lang="en-US" sz="1300" dirty="0">
                <a:solidFill>
                  <a:srgbClr val="262626"/>
                </a:solidFill>
                <a:latin typeface="Aptos" pitchFamily="34" charset="0"/>
                <a:ea typeface="Aptos" pitchFamily="34" charset="-122"/>
                <a:cs typeface="Aptos" pitchFamily="34" charset="-120"/>
              </a:rPr>
              <a:t>, where the comment says </a:t>
            </a:r>
            <a:pPr indent="0" marL="0">
              <a:buNone/>
            </a:pPr>
            <a:r>
              <a:rPr lang="en-US" sz="1300" b="1" dirty="0">
                <a:solidFill>
                  <a:srgbClr val="262626"/>
                </a:solidFill>
                <a:latin typeface="Aptos" pitchFamily="34" charset="0"/>
                <a:ea typeface="Aptos" pitchFamily="34" charset="-122"/>
                <a:cs typeface="Aptos" pitchFamily="34" charset="-120"/>
              </a:rPr>
              <a:t>Activity 1</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sp>
      <p:sp>
        <p:nvSpPr>
          <p:cNvPr id="18" name="Text 15"/>
          <p:cNvSpPr txBox="1"/>
          <p:nvPr/>
        </p:nvSpPr>
        <p:spPr>
          <a:xfrm>
            <a:off x="914400"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Add the body rule under Activity 1</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Save both files. The background should turn a very light blue.</a:t>
            </a:r>
            <a:endParaRPr lang="en-US" sz="1300" dirty="0"/>
          </a:p>
        </p:txBody>
      </p:sp>
      <p:sp>
        <p:nvSpPr>
          <p:cNvPr id="21" name="Shape 18"/>
          <p:cNvSpPr/>
          <p:nvPr/>
        </p:nvSpPr>
        <p:spPr>
          <a:xfrm>
            <a:off x="914400" y="5230368"/>
            <a:ext cx="402336" cy="402336"/>
          </a:xfrm>
          <a:prstGeom prst="ellipse">
            <a:avLst/>
          </a:prstGeom>
          <a:solidFill>
            <a:srgbClr val="E97132"/>
          </a:solidFill>
          <a:ln w="12700">
            <a:solidFill>
              <a:srgbClr val="E97132"/>
            </a:solidFill>
            <a:prstDash val="solid"/>
          </a:ln>
        </p:spPr>
      </p:sp>
      <p:sp>
        <p:nvSpPr>
          <p:cNvPr id="22" name="Text 19"/>
          <p:cNvSpPr txBox="1"/>
          <p:nvPr/>
        </p:nvSpPr>
        <p:spPr>
          <a:xfrm>
            <a:off x="914400" y="52303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3" name="Text 20"/>
          <p:cNvSpPr txBox="1"/>
          <p:nvPr/>
        </p:nvSpPr>
        <p:spPr>
          <a:xfrm>
            <a:off x="1463040" y="52120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Nothing happened?</a:t>
            </a:r>
            <a:endParaRPr lang="en-US" sz="1550" dirty="0"/>
          </a:p>
        </p:txBody>
      </p:sp>
      <p:sp>
        <p:nvSpPr>
          <p:cNvPr id="24" name="Text 21"/>
          <p:cNvSpPr txBox="1"/>
          <p:nvPr/>
        </p:nvSpPr>
        <p:spPr>
          <a:xfrm>
            <a:off x="1463040" y="55229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Check: both files saved? href spelled exactly style.css? Both files in the activity folder?</a:t>
            </a:r>
            <a:endParaRPr lang="en-US" sz="1300" dirty="0"/>
          </a:p>
        </p:txBody>
      </p:sp>
      <p:sp>
        <p:nvSpPr>
          <p:cNvPr id="25" name="Shape 22"/>
          <p:cNvSpPr/>
          <p:nvPr/>
        </p:nvSpPr>
        <p:spPr>
          <a:xfrm>
            <a:off x="6995160" y="1325880"/>
            <a:ext cx="4647895" cy="39776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26" name="Text 23"/>
          <p:cNvSpPr txBox="1"/>
          <p:nvPr/>
        </p:nvSpPr>
        <p:spPr>
          <a:xfrm>
            <a:off x="7223760" y="1435608"/>
            <a:ext cx="4190695"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TYPE THIS</a:t>
            </a:r>
            <a:endParaRPr lang="en-US" sz="1100" dirty="0"/>
          </a:p>
        </p:txBody>
      </p:sp>
      <p:sp>
        <p:nvSpPr>
          <p:cNvPr id="27" name="Text 24"/>
          <p:cNvSpPr txBox="1"/>
          <p:nvPr/>
        </p:nvSpPr>
        <p:spPr>
          <a:xfrm>
            <a:off x="7223760" y="1901952"/>
            <a:ext cx="4190695" cy="3172968"/>
          </a:xfrm>
          <a:prstGeom prst="rect">
            <a:avLst/>
          </a:prstGeom>
          <a:noFill/>
          <a:ln/>
        </p:spPr>
        <p:txBody>
          <a:bodyPr wrap="square" lIns="0" tIns="0" rIns="0" bIns="0" rtlCol="0" anchor="t"/>
          <a:lstStyle/>
          <a:p>
            <a:pPr indent="0" marL="0">
              <a:lnSpc>
                <a:spcPct val="100000"/>
              </a:lnSpc>
              <a:buNone/>
            </a:pPr>
            <a:r>
              <a:rPr lang="en-US" sz="1450" dirty="0">
                <a:solidFill>
                  <a:srgbClr val="6A9955"/>
                </a:solidFill>
                <a:latin typeface="Consolas" pitchFamily="34" charset="0"/>
                <a:ea typeface="Consolas" pitchFamily="34" charset="-122"/>
                <a:cs typeface="Consolas" pitchFamily="34" charset="-120"/>
              </a:rPr>
              <a:t>&lt;!-- in index.html, inside &lt;head&gt; --&gt;</a:t>
            </a:r>
            <a:endParaRPr lang="en-US" sz="1450" dirty="0"/>
          </a:p>
          <a:p>
            <a:pPr indent="0" marL="0">
              <a:lnSpc>
                <a:spcPct val="100000"/>
              </a:lnSpc>
              <a:buNone/>
            </a:pPr>
            <a:r>
              <a:rPr lang="en-US" sz="14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50" dirty="0">
                <a:solidFill>
                  <a:srgbClr val="569CD6"/>
                </a:solidFill>
                <a:latin typeface="Consolas" pitchFamily="34" charset="0"/>
                <a:ea typeface="Consolas" pitchFamily="34" charset="-122"/>
                <a:cs typeface="Consolas" pitchFamily="34" charset="-120"/>
              </a:rPr>
              <a:t>link</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50" dirty="0">
                <a:solidFill>
                  <a:srgbClr val="9CDCFE"/>
                </a:solidFill>
                <a:latin typeface="Consolas" pitchFamily="34" charset="0"/>
                <a:ea typeface="Consolas" pitchFamily="34" charset="-122"/>
                <a:cs typeface="Consolas" pitchFamily="34" charset="-120"/>
              </a:rPr>
              <a:t>rel</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450" dirty="0">
                <a:solidFill>
                  <a:srgbClr val="CE9178"/>
                </a:solidFill>
                <a:latin typeface="Consolas" pitchFamily="34" charset="0"/>
                <a:ea typeface="Consolas" pitchFamily="34" charset="-122"/>
                <a:cs typeface="Consolas" pitchFamily="34" charset="-120"/>
              </a:rPr>
              <a:t>"stylesheet"</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450" dirty="0">
                <a:solidFill>
                  <a:srgbClr val="CE9178"/>
                </a:solidFill>
                <a:latin typeface="Consolas" pitchFamily="34" charset="0"/>
                <a:ea typeface="Consolas" pitchFamily="34" charset="-122"/>
                <a:cs typeface="Consolas" pitchFamily="34" charset="-120"/>
              </a:rPr>
              <a:t>"style.css"</a:t>
            </a:r>
            <a:pPr indent="0" marL="0">
              <a:lnSpc>
                <a:spcPct val="100000"/>
              </a:lnSpc>
              <a:buNone/>
            </a:pPr>
            <a:r>
              <a:rPr lang="en-US" sz="1450" dirty="0">
                <a:solidFill>
                  <a:srgbClr val="808080"/>
                </a:solidFill>
                <a:latin typeface="Consolas" pitchFamily="34" charset="0"/>
                <a:ea typeface="Consolas" pitchFamily="34" charset="-122"/>
                <a:cs typeface="Consolas" pitchFamily="34" charset="-120"/>
              </a:rPr>
              <a:t>&gt;</a:t>
            </a:r>
            <a:endParaRPr lang="en-US" sz="1450" dirty="0"/>
          </a:p>
          <a:p>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endParaRPr lang="en-US" sz="1450" dirty="0"/>
          </a:p>
          <a:p>
            <a:pPr indent="0" marL="0">
              <a:lnSpc>
                <a:spcPct val="100000"/>
              </a:lnSpc>
              <a:buNone/>
            </a:pPr>
            <a:r>
              <a:rPr lang="en-US" sz="1450" dirty="0">
                <a:solidFill>
                  <a:srgbClr val="6A9955"/>
                </a:solidFill>
                <a:latin typeface="Consolas" pitchFamily="34" charset="0"/>
                <a:ea typeface="Consolas" pitchFamily="34" charset="-122"/>
                <a:cs typeface="Consolas" pitchFamily="34" charset="-120"/>
              </a:rPr>
              <a:t>/* in style.css */</a:t>
            </a:r>
            <a:endParaRPr lang="en-US" sz="1450" dirty="0"/>
          </a:p>
          <a:p>
            <a:pPr indent="0" marL="0">
              <a:lnSpc>
                <a:spcPct val="100000"/>
              </a:lnSpc>
              <a:buNone/>
            </a:pPr>
            <a:r>
              <a:rPr lang="en-US" sz="1450" dirty="0">
                <a:solidFill>
                  <a:srgbClr val="D7BA7D"/>
                </a:solidFill>
                <a:latin typeface="Consolas" pitchFamily="34" charset="0"/>
                <a:ea typeface="Consolas" pitchFamily="34" charset="-122"/>
                <a:cs typeface="Consolas" pitchFamily="34" charset="-120"/>
              </a:rPr>
              <a:t>body </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a:t>
            </a:r>
            <a:endParaRPr lang="en-US" sz="1450" dirty="0"/>
          </a:p>
          <a:p>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50" dirty="0">
                <a:solidFill>
                  <a:srgbClr val="CE9178"/>
                </a:solidFill>
                <a:latin typeface="Consolas" pitchFamily="34" charset="0"/>
                <a:ea typeface="Consolas" pitchFamily="34" charset="-122"/>
                <a:cs typeface="Consolas" pitchFamily="34" charset="-120"/>
              </a:rPr>
              <a:t>#F4F8FA</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a:t>
            </a:r>
            <a:endParaRPr lang="en-US" sz="1450" dirty="0"/>
          </a:p>
          <a:p>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a:t>
            </a:r>
            <a:endParaRPr lang="en-US" sz="1450" dirty="0"/>
          </a:p>
        </p:txBody>
      </p:sp>
      <p:sp>
        <p:nvSpPr>
          <p:cNvPr id="28" name="Shape 25"/>
          <p:cNvSpPr/>
          <p:nvPr/>
        </p:nvSpPr>
        <p:spPr>
          <a:xfrm>
            <a:off x="6995160" y="5486400"/>
            <a:ext cx="4647895" cy="868680"/>
          </a:xfrm>
          <a:prstGeom prst="roundRect">
            <a:avLst>
              <a:gd name="adj" fmla="val 12632"/>
            </a:avLst>
          </a:prstGeom>
          <a:solidFill>
            <a:srgbClr val="FBE9DF"/>
          </a:solidFill>
          <a:ln w="9525">
            <a:solidFill>
              <a:srgbClr val="F2C6AC"/>
            </a:solidFill>
            <a:prstDash val="solid"/>
          </a:ln>
          <a:effectLst>
            <a:outerShdw sx="100000" sy="100000" kx="0" ky="0" algn="bl" rotWithShape="0" blurRad="76200" dist="25400" dir="5400000">
              <a:srgbClr val="000000">
                <a:alpha val="12000"/>
              </a:srgbClr>
            </a:outerShdw>
          </a:effectLst>
        </p:spPr>
      </p:sp>
      <p:sp>
        <p:nvSpPr>
          <p:cNvPr id="29" name="Text 26"/>
          <p:cNvSpPr txBox="1"/>
          <p:nvPr/>
        </p:nvSpPr>
        <p:spPr>
          <a:xfrm>
            <a:off x="7223760" y="5486400"/>
            <a:ext cx="4190695" cy="868680"/>
          </a:xfrm>
          <a:prstGeom prst="rect">
            <a:avLst/>
          </a:prstGeom>
          <a:noFill/>
          <a:ln/>
        </p:spPr>
        <p:txBody>
          <a:bodyPr wrap="square" lIns="0" tIns="0" rIns="0" bIns="0" rtlCol="0" anchor="ctr"/>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The colour is subtle on purpose. If you can't tell it worked, try </a:t>
            </a:r>
            <a:pPr indent="0" marL="0">
              <a:buNone/>
            </a:pPr>
            <a:r>
              <a:rPr lang="en-US" sz="1300" dirty="0">
                <a:solidFill>
                  <a:srgbClr val="8A2B0B"/>
                </a:solidFill>
                <a:latin typeface="Consolas" pitchFamily="34" charset="0"/>
                <a:ea typeface="Consolas" pitchFamily="34" charset="-122"/>
                <a:cs typeface="Consolas" pitchFamily="34" charset="-120"/>
              </a:rPr>
              <a:t>hotpink</a:t>
            </a:r>
            <a:pPr indent="0" marL="0">
              <a:buNone/>
            </a:pPr>
            <a:r>
              <a:rPr lang="en-US" sz="1300" dirty="0">
                <a:solidFill>
                  <a:srgbClr val="262626"/>
                </a:solidFill>
                <a:latin typeface="Aptos" pitchFamily="34" charset="0"/>
                <a:ea typeface="Aptos" pitchFamily="34" charset="-122"/>
                <a:cs typeface="Aptos" pitchFamily="34" charset="-120"/>
              </a:rPr>
              <a:t> first, then change it back.</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C:\Repos\2026-2027\WEBD1000\05_Intro_to_CSS\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365760"/>
            <a:ext cx="5852160" cy="612648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594360"/>
            <a:ext cx="5394960" cy="5669280"/>
          </a:xfrm>
          <a:prstGeom prst="rect">
            <a:avLst/>
          </a:prstGeom>
          <a:noFill/>
          <a:ln/>
        </p:spPr>
        <p:txBody>
          <a:bodyPr wrap="square" lIns="0" tIns="0" rIns="0" bIns="0" rtlCol="0" anchor="t"/>
          <a:lstStyle/>
          <a:p>
            <a:pPr indent="0" marL="0">
              <a:lnSpc>
                <a:spcPct val="100000"/>
              </a:lnSpc>
              <a:buNone/>
            </a:pPr>
            <a:r>
              <a:rPr lang="en-US" sz="1500" dirty="0">
                <a:solidFill>
                  <a:srgbClr val="6A9955"/>
                </a:solidFill>
                <a:latin typeface="Consolas" pitchFamily="34" charset="0"/>
                <a:ea typeface="Consolas" pitchFamily="34" charset="-122"/>
                <a:cs typeface="Consolas" pitchFamily="34" charset="-120"/>
              </a:rPr>
              <a:t>/* Element: every &lt;p&gt; on the page */</a:t>
            </a:r>
            <a:endParaRPr lang="en-US" sz="1500" dirty="0"/>
          </a:p>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p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font-family</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Arial,</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sans-serif</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rgbClr val="6A9955"/>
                </a:solidFill>
                <a:latin typeface="Consolas" pitchFamily="34" charset="0"/>
                <a:ea typeface="Consolas" pitchFamily="34" charset="-122"/>
                <a:cs typeface="Consolas" pitchFamily="34" charset="-120"/>
              </a:rPr>
              <a:t>/* Class (.): every element with class="price" */</a:t>
            </a:r>
            <a:endParaRPr lang="en-US" sz="1500" dirty="0"/>
          </a:p>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.price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font-weight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bold</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#B5451B</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rgbClr val="6A9955"/>
                </a:solidFill>
                <a:latin typeface="Consolas" pitchFamily="34" charset="0"/>
                <a:ea typeface="Consolas" pitchFamily="34" charset="-122"/>
                <a:cs typeface="Consolas" pitchFamily="34" charset="-120"/>
              </a:rPr>
              <a:t>/* ID (#): the ONE element with id="specials" */</a:t>
            </a:r>
            <a:endParaRPr lang="en-US" sz="1500" dirty="0"/>
          </a:p>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#specials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lightyellow</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rgbClr val="6A9955"/>
                </a:solidFill>
                <a:latin typeface="Consolas" pitchFamily="34" charset="0"/>
                <a:ea typeface="Consolas" pitchFamily="34" charset="-122"/>
                <a:cs typeface="Consolas" pitchFamily="34" charset="-120"/>
              </a:rPr>
              <a:t>/* Group (,): the same style for h1 AND h2 */</a:t>
            </a:r>
            <a:endParaRPr lang="en-US" sz="1500" dirty="0"/>
          </a:p>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h1, h2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navy</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rgbClr val="6A9955"/>
                </a:solidFill>
                <a:latin typeface="Consolas" pitchFamily="34" charset="0"/>
                <a:ea typeface="Consolas" pitchFamily="34" charset="-122"/>
                <a:cs typeface="Consolas" pitchFamily="34" charset="-120"/>
              </a:rPr>
              <a:t>/* Descendant (space): only links INSIDE a nav */</a:t>
            </a:r>
            <a:endParaRPr lang="en-US" sz="1500" dirty="0"/>
          </a:p>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nav a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teal</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CONCEPT 2</a:t>
            </a:r>
            <a:endParaRPr lang="en-US" sz="1400" dirty="0"/>
          </a:p>
        </p:txBody>
      </p:sp>
      <p:sp>
        <p:nvSpPr>
          <p:cNvPr id="6" name="Text 3"/>
          <p:cNvSpPr txBox="1"/>
          <p:nvPr/>
        </p:nvSpPr>
        <p:spPr>
          <a:xfrm>
            <a:off x="6812280" y="731520"/>
            <a:ext cx="4967935" cy="960120"/>
          </a:xfrm>
          <a:prstGeom prst="rect">
            <a:avLst/>
          </a:prstGeom>
          <a:noFill/>
          <a:ln/>
        </p:spPr>
        <p:txBody>
          <a:bodyPr wrap="square" lIns="0" tIns="0" rIns="0" bIns="0" rtlCol="0" anchor="t"/>
          <a:lstStyle/>
          <a:p>
            <a:pPr indent="0" marL="0">
              <a:buNone/>
            </a:pPr>
            <a:r>
              <a:rPr lang="en-US" sz="2600" dirty="0">
                <a:solidFill>
                  <a:srgbClr val="000000"/>
                </a:solidFill>
                <a:latin typeface="Aptos" pitchFamily="34" charset="0"/>
                <a:ea typeface="Aptos" pitchFamily="34" charset="-122"/>
                <a:cs typeface="Aptos" pitchFamily="34" charset="-120"/>
              </a:rPr>
              <a:t>Selectors: Choosing What to Style</a:t>
            </a:r>
            <a:endParaRPr lang="en-US" sz="2600" dirty="0"/>
          </a:p>
        </p:txBody>
      </p:sp>
      <p:pic>
        <p:nvPicPr>
          <p:cNvPr id="7" name="Image 1" descr="C:\Repos\2026-2027\WEBD1000\05_Intro_to_CSS\_build\shots\ex02.png">    </p:cNvPr>
          <p:cNvPicPr>
            <a:picLocks noChangeAspect="1"/>
          </p:cNvPicPr>
          <p:nvPr/>
        </p:nvPicPr>
        <p:blipFill>
          <a:blip r:embed="rId2"/>
          <a:stretch>
            <a:fillRect/>
          </a:stretch>
        </p:blipFill>
        <p:spPr>
          <a:xfrm>
            <a:off x="6812280" y="3429000"/>
            <a:ext cx="3346704" cy="2788920"/>
          </a:xfrm>
          <a:prstGeom prst="rect">
            <a:avLst/>
          </a:prstGeom>
        </p:spPr>
      </p:pic>
      <p:sp>
        <p:nvSpPr>
          <p:cNvPr id="8" name="Shape 4"/>
          <p:cNvSpPr/>
          <p:nvPr/>
        </p:nvSpPr>
        <p:spPr>
          <a:xfrm>
            <a:off x="6812280" y="3429000"/>
            <a:ext cx="3346704" cy="2788920"/>
          </a:xfrm>
          <a:prstGeom prst="rect">
            <a:avLst/>
          </a:prstGeom>
          <a:ln w="12700">
            <a:solidFill>
              <a:srgbClr val="B0B8BC"/>
            </a:solidFill>
            <a:prstDash val="solid"/>
          </a:ln>
        </p:spPr>
      </p:sp>
      <p:sp>
        <p:nvSpPr>
          <p:cNvPr id="9" name="Text 5"/>
          <p:cNvSpPr txBox="1"/>
          <p:nvPr/>
        </p:nvSpPr>
        <p:spPr>
          <a:xfrm>
            <a:off x="6812280" y="3136392"/>
            <a:ext cx="3346704"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783080"/>
            <a:ext cx="4967935" cy="1261872"/>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p</a:t>
            </a:r>
            <a:pPr indent="0" marL="0">
              <a:buNone/>
            </a:pPr>
            <a:r>
              <a:rPr lang="en-US" sz="1350" dirty="0">
                <a:solidFill>
                  <a:srgbClr val="262626"/>
                </a:solidFill>
                <a:latin typeface="Aptos" pitchFamily="34" charset="0"/>
                <a:ea typeface="Aptos" pitchFamily="34" charset="-122"/>
                <a:cs typeface="Aptos" pitchFamily="34" charset="-120"/>
              </a:rPr>
              <a:t> element: every one. </a:t>
            </a:r>
            <a:pPr indent="0" marL="0">
              <a:buNone/>
            </a:pPr>
            <a:r>
              <a:rPr lang="en-US" sz="1350" dirty="0">
                <a:solidFill>
                  <a:srgbClr val="8A2B0B"/>
                </a:solidFill>
                <a:latin typeface="Consolas" pitchFamily="34" charset="0"/>
                <a:ea typeface="Consolas" pitchFamily="34" charset="-122"/>
                <a:cs typeface="Consolas" pitchFamily="34" charset="-120"/>
              </a:rPr>
              <a:t>.price</a:t>
            </a:r>
            <a:pPr indent="0" marL="0">
              <a:buNone/>
            </a:pPr>
            <a:r>
              <a:rPr lang="en-US" sz="1350" dirty="0">
                <a:solidFill>
                  <a:srgbClr val="262626"/>
                </a:solidFill>
                <a:latin typeface="Aptos" pitchFamily="34" charset="0"/>
                <a:ea typeface="Aptos" pitchFamily="34" charset="-122"/>
                <a:cs typeface="Aptos" pitchFamily="34" charset="-120"/>
              </a:rPr>
              <a:t> class: every element with </a:t>
            </a:r>
            <a:pPr indent="0" marL="0">
              <a:buNone/>
            </a:pPr>
            <a:r>
              <a:rPr lang="en-US" sz="1350" dirty="0">
                <a:solidFill>
                  <a:srgbClr val="8A2B0B"/>
                </a:solidFill>
                <a:latin typeface="Consolas" pitchFamily="34" charset="0"/>
                <a:ea typeface="Consolas" pitchFamily="34" charset="-122"/>
                <a:cs typeface="Consolas" pitchFamily="34" charset="-120"/>
              </a:rPr>
              <a:t>class="price"</a:t>
            </a:r>
            <a:pPr indent="0" marL="0">
              <a:buNone/>
            </a:pPr>
            <a:r>
              <a:rPr lang="en-US" sz="1350" dirty="0">
                <a:solidFill>
                  <a:srgbClr val="262626"/>
                </a:solidFill>
                <a:latin typeface="Aptos" pitchFamily="34" charset="0"/>
                <a:ea typeface="Aptos" pitchFamily="34" charset="-122"/>
                <a:cs typeface="Aptos" pitchFamily="34" charset="-120"/>
              </a:rPr>
              <a:t>. </a:t>
            </a:r>
            <a:pPr indent="0" marL="0">
              <a:buNone/>
            </a:pPr>
            <a:r>
              <a:rPr lang="en-US" sz="1350" dirty="0">
                <a:solidFill>
                  <a:srgbClr val="8A2B0B"/>
                </a:solidFill>
                <a:latin typeface="Consolas" pitchFamily="34" charset="0"/>
                <a:ea typeface="Consolas" pitchFamily="34" charset="-122"/>
                <a:cs typeface="Consolas" pitchFamily="34" charset="-120"/>
              </a:rPr>
              <a:t>#specials</a:t>
            </a:r>
            <a:pPr indent="0" marL="0">
              <a:buNone/>
            </a:pPr>
            <a:r>
              <a:rPr lang="en-US" sz="1350" dirty="0">
                <a:solidFill>
                  <a:srgbClr val="262626"/>
                </a:solidFill>
                <a:latin typeface="Aptos" pitchFamily="34" charset="0"/>
                <a:ea typeface="Aptos" pitchFamily="34" charset="-122"/>
                <a:cs typeface="Aptos" pitchFamily="34" charset="-120"/>
              </a:rPr>
              <a:t> id: one element only.</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h1, h2</a:t>
            </a:r>
            <a:pPr indent="0" marL="0">
              <a:buNone/>
            </a:pPr>
            <a:r>
              <a:rPr lang="en-US" sz="1350" dirty="0">
                <a:solidFill>
                  <a:srgbClr val="262626"/>
                </a:solidFill>
                <a:latin typeface="Aptos" pitchFamily="34" charset="0"/>
                <a:ea typeface="Aptos" pitchFamily="34" charset="-122"/>
                <a:cs typeface="Aptos" pitchFamily="34" charset="-120"/>
              </a:rPr>
              <a:t> comma = both. </a:t>
            </a:r>
            <a:pPr indent="0" marL="0">
              <a:buNone/>
            </a:pPr>
            <a:r>
              <a:rPr lang="en-US" sz="1350" dirty="0">
                <a:solidFill>
                  <a:srgbClr val="8A2B0B"/>
                </a:solidFill>
                <a:latin typeface="Consolas" pitchFamily="34" charset="0"/>
                <a:ea typeface="Consolas" pitchFamily="34" charset="-122"/>
                <a:cs typeface="Consolas" pitchFamily="34" charset="-120"/>
              </a:rPr>
              <a:t>nav a</a:t>
            </a:r>
            <a:pPr indent="0" marL="0">
              <a:buNone/>
            </a:pPr>
            <a:r>
              <a:rPr lang="en-US" sz="1350" dirty="0">
                <a:solidFill>
                  <a:srgbClr val="262626"/>
                </a:solidFill>
                <a:latin typeface="Aptos" pitchFamily="34" charset="0"/>
                <a:ea typeface="Aptos" pitchFamily="34" charset="-122"/>
                <a:cs typeface="Aptos" pitchFamily="34" charset="-120"/>
              </a:rPr>
              <a:t> space = an </a:t>
            </a:r>
            <a:pPr indent="0" marL="0">
              <a:buNone/>
            </a:pPr>
            <a:r>
              <a:rPr lang="en-US" sz="1350" dirty="0">
                <a:solidFill>
                  <a:srgbClr val="8A2B0B"/>
                </a:solidFill>
                <a:latin typeface="Consolas" pitchFamily="34" charset="0"/>
                <a:ea typeface="Consolas" pitchFamily="34" charset="-122"/>
                <a:cs typeface="Consolas" pitchFamily="34" charset="-120"/>
              </a:rPr>
              <a:t>a</a:t>
            </a:r>
            <a:pPr indent="0" marL="0">
              <a:buNone/>
            </a:pPr>
            <a:r>
              <a:rPr lang="en-US" sz="1350" dirty="0">
                <a:solidFill>
                  <a:srgbClr val="262626"/>
                </a:solidFill>
                <a:latin typeface="Aptos" pitchFamily="34" charset="0"/>
                <a:ea typeface="Aptos" pitchFamily="34" charset="-122"/>
                <a:cs typeface="Aptos" pitchFamily="34" charset="-120"/>
              </a:rPr>
              <a:t> somewhere inside a </a:t>
            </a:r>
            <a:pPr indent="0" marL="0">
              <a:buNone/>
            </a:pPr>
            <a:r>
              <a:rPr lang="en-US" sz="1350" dirty="0">
                <a:solidFill>
                  <a:srgbClr val="8A2B0B"/>
                </a:solidFill>
                <a:latin typeface="Consolas" pitchFamily="34" charset="0"/>
                <a:ea typeface="Consolas" pitchFamily="34" charset="-122"/>
                <a:cs typeface="Consolas" pitchFamily="34" charset="-120"/>
              </a:rPr>
              <a:t>nav</a:t>
            </a:r>
            <a:pPr indent="0" marL="0">
              <a:buNone/>
            </a:pPr>
            <a:r>
              <a:rPr lang="en-US" sz="1350" dirty="0">
                <a:solidFill>
                  <a:srgbClr val="262626"/>
                </a:solidFill>
                <a:latin typeface="Aptos" pitchFamily="34" charset="0"/>
                <a:ea typeface="Aptos" pitchFamily="34" charset="-122"/>
                <a:cs typeface="Aptos" pitchFamily="34" charset="-120"/>
              </a:rPr>
              <a:t>.</a:t>
            </a:r>
            <a:endParaRPr lang="en-US" sz="135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02_selectors_example.html</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2: Selectors (8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Group: make h1 and h2 navy</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One rule with a comma: </a:t>
            </a:r>
            <a:pPr indent="0" marL="0">
              <a:buNone/>
            </a:pPr>
            <a:r>
              <a:rPr lang="en-US" sz="1300" dirty="0">
                <a:solidFill>
                  <a:srgbClr val="8A2B0B"/>
                </a:solidFill>
                <a:latin typeface="Consolas" pitchFamily="34" charset="0"/>
                <a:ea typeface="Consolas" pitchFamily="34" charset="-122"/>
                <a:cs typeface="Consolas" pitchFamily="34" charset="-120"/>
              </a:rPr>
              <a:t>h1, h2</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Add class="price" to all four prices</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In index.html: </a:t>
            </a:r>
            <a:pPr indent="0" marL="0">
              <a:buNone/>
            </a:pPr>
            <a:r>
              <a:rPr lang="en-US" sz="1300" dirty="0">
                <a:solidFill>
                  <a:srgbClr val="8A2B0B"/>
                </a:solidFill>
                <a:latin typeface="Consolas" pitchFamily="34" charset="0"/>
                <a:ea typeface="Consolas" pitchFamily="34" charset="-122"/>
                <a:cs typeface="Consolas" pitchFamily="34" charset="-120"/>
              </a:rPr>
              <a:t>&lt;p class="price"&gt;$16.99&lt;/p&gt;</a:t>
            </a:r>
            <a:pPr indent="0" marL="0">
              <a:buNone/>
            </a:pPr>
            <a:r>
              <a:rPr lang="en-US" sz="1300" dirty="0">
                <a:solidFill>
                  <a:srgbClr val="262626"/>
                </a:solidFill>
                <a:latin typeface="Aptos" pitchFamily="34" charset="0"/>
                <a:ea typeface="Aptos" pitchFamily="34" charset="-122"/>
                <a:cs typeface="Aptos" pitchFamily="34" charset="-120"/>
              </a:rPr>
              <a:t> and so on.</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Add class="special" to the Lobster Roll</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On its </a:t>
            </a:r>
            <a:pPr indent="0" marL="0">
              <a:buNone/>
            </a:pPr>
            <a:r>
              <a:rPr lang="en-US" sz="1300" dirty="0">
                <a:solidFill>
                  <a:srgbClr val="8A2B0B"/>
                </a:solidFill>
                <a:latin typeface="Consolas" pitchFamily="34" charset="0"/>
                <a:ea typeface="Consolas" pitchFamily="34" charset="-122"/>
                <a:cs typeface="Consolas" pitchFamily="34" charset="-120"/>
              </a:rPr>
              <a:t>&lt;article&gt;</a:t>
            </a:r>
            <a:pPr indent="0" marL="0">
              <a:buNone/>
            </a:pPr>
            <a:r>
              <a:rPr lang="en-US" sz="1300" dirty="0">
                <a:solidFill>
                  <a:srgbClr val="262626"/>
                </a:solidFill>
                <a:latin typeface="Aptos" pitchFamily="34" charset="0"/>
                <a:ea typeface="Aptos" pitchFamily="34" charset="-122"/>
                <a:cs typeface="Aptos" pitchFamily="34" charset="-120"/>
              </a:rPr>
              <a:t> tag.</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sp>
      <p:sp>
        <p:nvSpPr>
          <p:cNvPr id="18" name="Text 15"/>
          <p:cNvSpPr txBox="1"/>
          <p:nvPr/>
        </p:nvSpPr>
        <p:spPr>
          <a:xfrm>
            <a:off x="914400"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Write the .price, .special and nav a rules</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Copy the code on the right into style.css under Activity 2.</a:t>
            </a:r>
            <a:endParaRPr lang="en-US" sz="1300" dirty="0"/>
          </a:p>
        </p:txBody>
      </p:sp>
      <p:sp>
        <p:nvSpPr>
          <p:cNvPr id="21" name="Shape 18"/>
          <p:cNvSpPr/>
          <p:nvPr/>
        </p:nvSpPr>
        <p:spPr>
          <a:xfrm>
            <a:off x="914400" y="5230368"/>
            <a:ext cx="402336" cy="402336"/>
          </a:xfrm>
          <a:prstGeom prst="ellipse">
            <a:avLst/>
          </a:prstGeom>
          <a:solidFill>
            <a:srgbClr val="E97132"/>
          </a:solidFill>
          <a:ln w="12700">
            <a:solidFill>
              <a:srgbClr val="E97132"/>
            </a:solidFill>
            <a:prstDash val="solid"/>
          </a:ln>
        </p:spPr>
      </p:sp>
      <p:sp>
        <p:nvSpPr>
          <p:cNvPr id="22" name="Text 19"/>
          <p:cNvSpPr txBox="1"/>
          <p:nvPr/>
        </p:nvSpPr>
        <p:spPr>
          <a:xfrm>
            <a:off x="914400" y="52303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3" name="Text 20"/>
          <p:cNvSpPr txBox="1"/>
          <p:nvPr/>
        </p:nvSpPr>
        <p:spPr>
          <a:xfrm>
            <a:off x="1463040" y="52120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Check</a:t>
            </a:r>
            <a:endParaRPr lang="en-US" sz="1550" dirty="0"/>
          </a:p>
        </p:txBody>
      </p:sp>
      <p:sp>
        <p:nvSpPr>
          <p:cNvPr id="24" name="Text 21"/>
          <p:cNvSpPr txBox="1"/>
          <p:nvPr/>
        </p:nvSpPr>
        <p:spPr>
          <a:xfrm>
            <a:off x="1463040" y="55229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All four prices bold? Only the Lobster Roll highlighted?</a:t>
            </a:r>
            <a:endParaRPr lang="en-US" sz="1300" dirty="0"/>
          </a:p>
        </p:txBody>
      </p:sp>
      <p:sp>
        <p:nvSpPr>
          <p:cNvPr id="25" name="Shape 22"/>
          <p:cNvSpPr/>
          <p:nvPr/>
        </p:nvSpPr>
        <p:spPr>
          <a:xfrm>
            <a:off x="6995160" y="1325880"/>
            <a:ext cx="4647895" cy="39776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26" name="Text 23"/>
          <p:cNvSpPr txBox="1"/>
          <p:nvPr/>
        </p:nvSpPr>
        <p:spPr>
          <a:xfrm>
            <a:off x="7223760" y="1435608"/>
            <a:ext cx="4190695"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IN STYLE.CSS</a:t>
            </a:r>
            <a:endParaRPr lang="en-US" sz="1100" dirty="0"/>
          </a:p>
        </p:txBody>
      </p:sp>
      <p:sp>
        <p:nvSpPr>
          <p:cNvPr id="27" name="Text 24"/>
          <p:cNvSpPr txBox="1"/>
          <p:nvPr/>
        </p:nvSpPr>
        <p:spPr>
          <a:xfrm>
            <a:off x="7223760" y="1901952"/>
            <a:ext cx="4190695" cy="3172968"/>
          </a:xfrm>
          <a:prstGeom prst="rect">
            <a:avLst/>
          </a:prstGeom>
          <a:noFill/>
          <a:ln/>
        </p:spPr>
        <p:txBody>
          <a:bodyPr wrap="square" lIns="0" tIns="0" rIns="0" bIns="0" rtlCol="0" anchor="t"/>
          <a:lstStyle/>
          <a:p>
            <a:pPr indent="0" marL="0">
              <a:lnSpc>
                <a:spcPct val="100000"/>
              </a:lnSpc>
              <a:buNone/>
            </a:pPr>
            <a:r>
              <a:rPr lang="en-US" sz="1400" dirty="0">
                <a:solidFill>
                  <a:srgbClr val="D7BA7D"/>
                </a:solidFill>
                <a:latin typeface="Consolas" pitchFamily="34" charset="0"/>
                <a:ea typeface="Consolas" pitchFamily="34" charset="-122"/>
                <a:cs typeface="Consolas" pitchFamily="34" charset="-120"/>
              </a:rPr>
              <a:t>h1, h2 </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D7BA7D"/>
                </a:solidFill>
                <a:latin typeface="Consolas" pitchFamily="34" charset="0"/>
                <a:ea typeface="Consolas" pitchFamily="34" charset="-122"/>
                <a:cs typeface="Consolas" pitchFamily="34" charset="-120"/>
              </a:rPr>
              <a:t>.price </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font-weight</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bold</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D7BA7D"/>
                </a:solidFill>
                <a:latin typeface="Consolas" pitchFamily="34" charset="0"/>
                <a:ea typeface="Consolas" pitchFamily="34" charset="-122"/>
                <a:cs typeface="Consolas" pitchFamily="34" charset="-120"/>
              </a:rPr>
              <a:t>.special </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#FBE9DF</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D7BA7D"/>
                </a:solidFill>
                <a:latin typeface="Consolas" pitchFamily="34" charset="0"/>
                <a:ea typeface="Consolas" pitchFamily="34" charset="-122"/>
                <a:cs typeface="Consolas" pitchFamily="34" charset="-120"/>
              </a:rPr>
              <a:t>nav a </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p:txBody>
      </p:sp>
      <p:sp>
        <p:nvSpPr>
          <p:cNvPr id="28" name="Shape 25"/>
          <p:cNvSpPr/>
          <p:nvPr/>
        </p:nvSpPr>
        <p:spPr>
          <a:xfrm>
            <a:off x="6995160" y="5486400"/>
            <a:ext cx="4647895" cy="868680"/>
          </a:xfrm>
          <a:prstGeom prst="roundRect">
            <a:avLst>
              <a:gd name="adj" fmla="val 12632"/>
            </a:avLst>
          </a:prstGeom>
          <a:solidFill>
            <a:srgbClr val="FBE9DF"/>
          </a:solidFill>
          <a:ln w="9525">
            <a:solidFill>
              <a:srgbClr val="F2C6AC"/>
            </a:solidFill>
            <a:prstDash val="solid"/>
          </a:ln>
          <a:effectLst>
            <a:outerShdw sx="100000" sy="100000" kx="0" ky="0" algn="bl" rotWithShape="0" blurRad="76200" dist="25400" dir="5400000">
              <a:srgbClr val="000000">
                <a:alpha val="12000"/>
              </a:srgbClr>
            </a:outerShdw>
          </a:effectLst>
        </p:spPr>
      </p:sp>
      <p:sp>
        <p:nvSpPr>
          <p:cNvPr id="29" name="Text 26"/>
          <p:cNvSpPr txBox="1"/>
          <p:nvPr/>
        </p:nvSpPr>
        <p:spPr>
          <a:xfrm>
            <a:off x="7223760" y="5486400"/>
            <a:ext cx="4190695" cy="868680"/>
          </a:xfrm>
          <a:prstGeom prst="rect">
            <a:avLst/>
          </a:prstGeom>
          <a:noFill/>
          <a:ln/>
        </p:spPr>
        <p:txBody>
          <a:bodyPr wrap="square" lIns="0" tIns="0" rIns="0" bIns="0" rtlCol="0" anchor="ctr"/>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Typed </a:t>
            </a:r>
            <a:pPr indent="0" marL="0">
              <a:buNone/>
            </a:pPr>
            <a:r>
              <a:rPr lang="en-US" sz="1300" dirty="0">
                <a:solidFill>
                  <a:srgbClr val="8A2B0B"/>
                </a:solidFill>
                <a:latin typeface="Consolas" pitchFamily="34" charset="0"/>
                <a:ea typeface="Consolas" pitchFamily="34" charset="-122"/>
                <a:cs typeface="Consolas" pitchFamily="34" charset="-120"/>
              </a:rPr>
              <a:t>.price</a:t>
            </a:r>
            <a:pPr indent="0" marL="0">
              <a:buNone/>
            </a:pPr>
            <a:r>
              <a:rPr lang="en-US" sz="1300" dirty="0">
                <a:solidFill>
                  <a:srgbClr val="262626"/>
                </a:solidFill>
                <a:latin typeface="Aptos" pitchFamily="34" charset="0"/>
                <a:ea typeface="Aptos" pitchFamily="34" charset="-122"/>
                <a:cs typeface="Aptos" pitchFamily="34" charset="-120"/>
              </a:rPr>
              <a:t> in the HTML? The dot only goes in the CSS.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C:\Repos\2026-2027\WEBD1000\05_Intro_to_CSS\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1403070"/>
            <a:ext cx="5852160" cy="4051861"/>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1631670"/>
            <a:ext cx="5394960" cy="3594661"/>
          </a:xfrm>
          <a:prstGeom prst="rect">
            <a:avLst/>
          </a:prstGeom>
          <a:noFill/>
          <a:ln/>
        </p:spPr>
        <p:txBody>
          <a:bodyPr wrap="square" lIns="0" tIns="0" rIns="0" bIns="0" rtlCol="0" anchor="t"/>
          <a:lstStyle/>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body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font-family</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Arial,</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sans-serif</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6A9955"/>
                </a:solidFill>
                <a:latin typeface="Consolas" pitchFamily="34" charset="0"/>
                <a:ea typeface="Consolas" pitchFamily="34" charset="-122"/>
                <a:cs typeface="Consolas" pitchFamily="34" charset="-120"/>
              </a:rPr>
              <a:t>/* a colour name */</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header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6A9955"/>
                </a:solidFill>
                <a:latin typeface="Consolas" pitchFamily="34" charset="0"/>
                <a:ea typeface="Consolas" pitchFamily="34" charset="-122"/>
                <a:cs typeface="Consolas" pitchFamily="34" charset="-120"/>
              </a:rPr>
              <a:t>/* hex: #RRGGBB */</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rgb(255,</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255</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255</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6A9955"/>
                </a:solidFill>
                <a:latin typeface="Consolas" pitchFamily="34" charset="0"/>
                <a:ea typeface="Consolas" pitchFamily="34" charset="-122"/>
                <a:cs typeface="Consolas" pitchFamily="34" charset="-120"/>
              </a:rPr>
              <a:t>/* rgb: red, green, blue (0-255) */</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6A9955"/>
                </a:solidFill>
                <a:latin typeface="Consolas" pitchFamily="34" charset="0"/>
                <a:ea typeface="Consolas" pitchFamily="34" charset="-122"/>
                <a:cs typeface="Consolas" pitchFamily="34" charset="-120"/>
              </a:rPr>
              <a:t>/* Contrast: text vs. its background. WCAG AA needs 4.5 : 1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.fail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#BBBBBB</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6A9955"/>
                </a:solidFill>
                <a:latin typeface="Consolas" pitchFamily="34" charset="0"/>
                <a:ea typeface="Consolas" pitchFamily="34" charset="-122"/>
                <a:cs typeface="Consolas" pitchFamily="34" charset="-120"/>
              </a:rPr>
              <a:t>/* 1.9 : 1  fails */</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.brand-orange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#E97132</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6A9955"/>
                </a:solidFill>
                <a:latin typeface="Consolas" pitchFamily="34" charset="0"/>
                <a:ea typeface="Consolas" pitchFamily="34" charset="-122"/>
                <a:cs typeface="Consolas" pitchFamily="34" charset="-120"/>
              </a:rPr>
              <a:t>/* 3.1 : 1  fails for normal text */</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.pass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#B5451B</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6A9955"/>
                </a:solidFill>
                <a:latin typeface="Consolas" pitchFamily="34" charset="0"/>
                <a:ea typeface="Consolas" pitchFamily="34" charset="-122"/>
                <a:cs typeface="Consolas" pitchFamily="34" charset="-120"/>
              </a:rPr>
              <a:t>/* 5.5 : 1  passes */</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CONCEPT 3</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Colour and Contrast</a:t>
            </a:r>
            <a:endParaRPr lang="en-US" sz="3200" dirty="0"/>
          </a:p>
        </p:txBody>
      </p:sp>
      <p:pic>
        <p:nvPicPr>
          <p:cNvPr id="7" name="Image 1" descr="C:\Repos\2026-2027\WEBD1000\05_Intro_to_CSS\_build\shots\ex03.png">    </p:cNvPr>
          <p:cNvPicPr>
            <a:picLocks noChangeAspect="1"/>
          </p:cNvPicPr>
          <p:nvPr/>
        </p:nvPicPr>
        <p:blipFill>
          <a:blip r:embed="rId2"/>
          <a:stretch>
            <a:fillRect/>
          </a:stretch>
        </p:blipFill>
        <p:spPr>
          <a:xfrm>
            <a:off x="6812280" y="4065148"/>
            <a:ext cx="4967935" cy="2152772"/>
          </a:xfrm>
          <a:prstGeom prst="rect">
            <a:avLst/>
          </a:prstGeom>
        </p:spPr>
      </p:pic>
      <p:sp>
        <p:nvSpPr>
          <p:cNvPr id="8" name="Shape 4"/>
          <p:cNvSpPr/>
          <p:nvPr/>
        </p:nvSpPr>
        <p:spPr>
          <a:xfrm>
            <a:off x="6812280" y="4065148"/>
            <a:ext cx="4967935" cy="2152772"/>
          </a:xfrm>
          <a:prstGeom prst="rect">
            <a:avLst/>
          </a:prstGeom>
          <a:ln w="12700">
            <a:solidFill>
              <a:srgbClr val="B0B8BC"/>
            </a:solidFill>
            <a:prstDash val="solid"/>
          </a:ln>
        </p:spPr>
      </p:sp>
      <p:sp>
        <p:nvSpPr>
          <p:cNvPr id="9" name="Text 5"/>
          <p:cNvSpPr txBox="1"/>
          <p:nvPr/>
        </p:nvSpPr>
        <p:spPr>
          <a:xfrm>
            <a:off x="6812280" y="3772540"/>
            <a:ext cx="496793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508760"/>
            <a:ext cx="4967935" cy="2172340"/>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color</a:t>
            </a:r>
            <a:pPr indent="0" marL="0">
              <a:buNone/>
            </a:pPr>
            <a:r>
              <a:rPr lang="en-US" sz="1350" dirty="0">
                <a:solidFill>
                  <a:srgbClr val="262626"/>
                </a:solidFill>
                <a:latin typeface="Aptos" pitchFamily="34" charset="0"/>
                <a:ea typeface="Aptos" pitchFamily="34" charset="-122"/>
                <a:cs typeface="Aptos" pitchFamily="34" charset="-120"/>
              </a:rPr>
              <a:t> = text. </a:t>
            </a:r>
            <a:pPr indent="0" marL="0">
              <a:buNone/>
            </a:pPr>
            <a:r>
              <a:rPr lang="en-US" sz="1350" dirty="0">
                <a:solidFill>
                  <a:srgbClr val="8A2B0B"/>
                </a:solidFill>
                <a:latin typeface="Consolas" pitchFamily="34" charset="0"/>
                <a:ea typeface="Consolas" pitchFamily="34" charset="-122"/>
                <a:cs typeface="Consolas" pitchFamily="34" charset="-120"/>
              </a:rPr>
              <a:t>background-color</a:t>
            </a:r>
            <a:pPr indent="0" marL="0">
              <a:buNone/>
            </a:pPr>
            <a:r>
              <a:rPr lang="en-US" sz="1350" dirty="0">
                <a:solidFill>
                  <a:srgbClr val="262626"/>
                </a:solidFill>
                <a:latin typeface="Aptos" pitchFamily="34" charset="0"/>
                <a:ea typeface="Aptos" pitchFamily="34" charset="-122"/>
                <a:cs typeface="Aptos" pitchFamily="34" charset="-120"/>
              </a:rPr>
              <a:t> = behind it. Write colours as a </a:t>
            </a:r>
            <a:pPr indent="0" marL="0">
              <a:buNone/>
            </a:pPr>
            <a:r>
              <a:rPr lang="en-US" sz="1350" b="1" dirty="0">
                <a:solidFill>
                  <a:srgbClr val="262626"/>
                </a:solidFill>
                <a:latin typeface="Aptos" pitchFamily="34" charset="0"/>
                <a:ea typeface="Aptos" pitchFamily="34" charset="-122"/>
                <a:cs typeface="Aptos" pitchFamily="34" charset="-120"/>
              </a:rPr>
              <a:t>name</a:t>
            </a:r>
            <a:pPr indent="0" marL="0">
              <a:buNone/>
            </a:pPr>
            <a:r>
              <a:rPr lang="en-US" sz="1350" dirty="0">
                <a:solidFill>
                  <a:srgbClr val="262626"/>
                </a:solidFill>
                <a:latin typeface="Aptos" pitchFamily="34" charset="0"/>
                <a:ea typeface="Aptos" pitchFamily="34" charset="-122"/>
                <a:cs typeface="Aptos" pitchFamily="34" charset="-120"/>
              </a:rPr>
              <a:t>, </a:t>
            </a:r>
            <a:pPr indent="0" marL="0">
              <a:buNone/>
            </a:pPr>
            <a:r>
              <a:rPr lang="en-US" sz="1350" b="1" dirty="0">
                <a:solidFill>
                  <a:srgbClr val="262626"/>
                </a:solidFill>
                <a:latin typeface="Aptos" pitchFamily="34" charset="0"/>
                <a:ea typeface="Aptos" pitchFamily="34" charset="-122"/>
                <a:cs typeface="Aptos" pitchFamily="34" charset="-120"/>
              </a:rPr>
              <a:t>hex</a:t>
            </a:r>
            <a:pPr indent="0" marL="0">
              <a:buNone/>
            </a:pPr>
            <a:r>
              <a:rPr lang="en-US" sz="1350" dirty="0">
                <a:solidFill>
                  <a:srgbClr val="262626"/>
                </a:solidFill>
                <a:latin typeface="Aptos" pitchFamily="34" charset="0"/>
                <a:ea typeface="Aptos" pitchFamily="34" charset="-122"/>
                <a:cs typeface="Aptos" pitchFamily="34" charset="-120"/>
              </a:rPr>
              <a:t> (</a:t>
            </a:r>
            <a:pPr indent="0" marL="0">
              <a:buNone/>
            </a:pPr>
            <a:r>
              <a:rPr lang="en-US" sz="1350" dirty="0">
                <a:solidFill>
                  <a:srgbClr val="8A2B0B"/>
                </a:solidFill>
                <a:latin typeface="Consolas" pitchFamily="34" charset="0"/>
                <a:ea typeface="Consolas" pitchFamily="34" charset="-122"/>
                <a:cs typeface="Consolas" pitchFamily="34" charset="-120"/>
              </a:rPr>
              <a:t>#12304A</a:t>
            </a:r>
            <a:pPr indent="0" marL="0">
              <a:buNone/>
            </a:pPr>
            <a:r>
              <a:rPr lang="en-US" sz="1350" dirty="0">
                <a:solidFill>
                  <a:srgbClr val="262626"/>
                </a:solidFill>
                <a:latin typeface="Aptos" pitchFamily="34" charset="0"/>
                <a:ea typeface="Aptos" pitchFamily="34" charset="-122"/>
                <a:cs typeface="Aptos" pitchFamily="34" charset="-120"/>
              </a:rPr>
              <a:t>) or </a:t>
            </a:r>
            <a:pPr indent="0" marL="0">
              <a:buNone/>
            </a:pPr>
            <a:r>
              <a:rPr lang="en-US" sz="1350" b="1" dirty="0">
                <a:solidFill>
                  <a:srgbClr val="262626"/>
                </a:solidFill>
                <a:latin typeface="Aptos" pitchFamily="34" charset="0"/>
                <a:ea typeface="Aptos" pitchFamily="34" charset="-122"/>
                <a:cs typeface="Aptos" pitchFamily="34" charset="-120"/>
              </a:rPr>
              <a:t>rgb</a:t>
            </a:r>
            <a:pPr indent="0" marL="0">
              <a:buNone/>
            </a:pPr>
            <a:r>
              <a:rPr lang="en-US" sz="1350" dirty="0">
                <a:solidFill>
                  <a:srgbClr val="262626"/>
                </a:solidFill>
                <a:latin typeface="Aptos" pitchFamily="34" charset="0"/>
                <a:ea typeface="Aptos" pitchFamily="34" charset="-122"/>
                <a:cs typeface="Aptos" pitchFamily="34" charset="-120"/>
              </a:rPr>
              <a:t>.</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b="1" dirty="0">
                <a:solidFill>
                  <a:srgbClr val="262626"/>
                </a:solidFill>
                <a:latin typeface="Aptos" pitchFamily="34" charset="0"/>
                <a:ea typeface="Aptos" pitchFamily="34" charset="-122"/>
                <a:cs typeface="Aptos" pitchFamily="34" charset="-120"/>
              </a:rPr>
              <a:t>Contrast</a:t>
            </a:r>
            <a:pPr indent="0" marL="0">
              <a:buNone/>
            </a:pPr>
            <a:r>
              <a:rPr lang="en-US" sz="1350" dirty="0">
                <a:solidFill>
                  <a:srgbClr val="262626"/>
                </a:solidFill>
                <a:latin typeface="Aptos" pitchFamily="34" charset="0"/>
                <a:ea typeface="Aptos" pitchFamily="34" charset="-122"/>
                <a:cs typeface="Aptos" pitchFamily="34" charset="-120"/>
              </a:rPr>
              <a:t>: WCAG AA needs </a:t>
            </a:r>
            <a:pPr indent="0" marL="0">
              <a:buNone/>
            </a:pPr>
            <a:r>
              <a:rPr lang="en-US" sz="1350" b="1" dirty="0">
                <a:solidFill>
                  <a:srgbClr val="262626"/>
                </a:solidFill>
                <a:latin typeface="Aptos" pitchFamily="34" charset="0"/>
                <a:ea typeface="Aptos" pitchFamily="34" charset="-122"/>
                <a:cs typeface="Aptos" pitchFamily="34" charset="-120"/>
              </a:rPr>
              <a:t>4.5 : 1</a:t>
            </a:r>
            <a:pPr indent="0" marL="0">
              <a:buNone/>
            </a:pPr>
            <a:r>
              <a:rPr lang="en-US" sz="1350" dirty="0">
                <a:solidFill>
                  <a:srgbClr val="262626"/>
                </a:solidFill>
                <a:latin typeface="Aptos" pitchFamily="34" charset="0"/>
                <a:ea typeface="Aptos" pitchFamily="34" charset="-122"/>
                <a:cs typeface="Aptos" pitchFamily="34" charset="-120"/>
              </a:rPr>
              <a:t> for normal text (3 : 1 for large headings).</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DevTools shows the ratio: inspect the text → click the colour square in Styles.</a:t>
            </a:r>
            <a:endParaRPr lang="en-US" sz="135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03_colour_example.html</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3: Colour (8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Header: navy background, white text</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Add the </a:t>
            </a:r>
            <a:pPr indent="0" marL="0">
              <a:buNone/>
            </a:pPr>
            <a:r>
              <a:rPr lang="en-US" sz="1300" dirty="0">
                <a:solidFill>
                  <a:srgbClr val="8A2B0B"/>
                </a:solidFill>
                <a:latin typeface="Consolas" pitchFamily="34" charset="0"/>
                <a:ea typeface="Consolas" pitchFamily="34" charset="-122"/>
                <a:cs typeface="Consolas" pitchFamily="34" charset="-120"/>
              </a:rPr>
              <a:t>header</a:t>
            </a:r>
            <a:pPr indent="0" marL="0">
              <a:buNone/>
            </a:pPr>
            <a:r>
              <a:rPr lang="en-US" sz="1300" dirty="0">
                <a:solidFill>
                  <a:srgbClr val="262626"/>
                </a:solidFill>
                <a:latin typeface="Aptos" pitchFamily="34" charset="0"/>
                <a:ea typeface="Aptos" pitchFamily="34" charset="-122"/>
                <a:cs typeface="Aptos" pitchFamily="34" charset="-120"/>
              </a:rPr>
              <a:t> rule.</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Uh-oh: the h1 is still navy on navy!</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Why? The </a:t>
            </a:r>
            <a:pPr indent="0" marL="0">
              <a:buNone/>
            </a:pPr>
            <a:r>
              <a:rPr lang="en-US" sz="1300" dirty="0">
                <a:solidFill>
                  <a:srgbClr val="8A2B0B"/>
                </a:solidFill>
                <a:latin typeface="Consolas" pitchFamily="34" charset="0"/>
                <a:ea typeface="Consolas" pitchFamily="34" charset="-122"/>
                <a:cs typeface="Consolas" pitchFamily="34" charset="-120"/>
              </a:rPr>
              <a:t>h1, h2</a:t>
            </a:r>
            <a:pPr indent="0" marL="0">
              <a:buNone/>
            </a:pPr>
            <a:r>
              <a:rPr lang="en-US" sz="1300" dirty="0">
                <a:solidFill>
                  <a:srgbClr val="262626"/>
                </a:solidFill>
                <a:latin typeface="Aptos" pitchFamily="34" charset="0"/>
                <a:ea typeface="Aptos" pitchFamily="34" charset="-122"/>
                <a:cs typeface="Aptos" pitchFamily="34" charset="-120"/>
              </a:rPr>
              <a:t> rule targets the h1 directly. Fix it with </a:t>
            </a:r>
            <a:pPr indent="0" marL="0">
              <a:buNone/>
            </a:pPr>
            <a:r>
              <a:rPr lang="en-US" sz="1300" dirty="0">
                <a:solidFill>
                  <a:srgbClr val="8A2B0B"/>
                </a:solidFill>
                <a:latin typeface="Consolas" pitchFamily="34" charset="0"/>
                <a:ea typeface="Consolas" pitchFamily="34" charset="-122"/>
                <a:cs typeface="Consolas" pitchFamily="34" charset="-120"/>
              </a:rPr>
              <a:t>header h1</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White nav links, dark orange prices, dark footer</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Add the rest of the rules on the right.</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sp>
      <p:sp>
        <p:nvSpPr>
          <p:cNvPr id="18" name="Text 15"/>
          <p:cNvSpPr txBox="1"/>
          <p:nvPr/>
        </p:nvSpPr>
        <p:spPr>
          <a:xfrm>
            <a:off x="914400"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Check the contrast in DevTools</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Inspect a price → click its colour square → contrast ratio. Is it at least 4.5?</a:t>
            </a:r>
            <a:endParaRPr lang="en-US" sz="1300" dirty="0"/>
          </a:p>
        </p:txBody>
      </p:sp>
      <p:sp>
        <p:nvSpPr>
          <p:cNvPr id="21" name="Shape 18"/>
          <p:cNvSpPr/>
          <p:nvPr/>
        </p:nvSpPr>
        <p:spPr>
          <a:xfrm>
            <a:off x="914400" y="5230368"/>
            <a:ext cx="402336" cy="402336"/>
          </a:xfrm>
          <a:prstGeom prst="ellipse">
            <a:avLst/>
          </a:prstGeom>
          <a:solidFill>
            <a:srgbClr val="E97132"/>
          </a:solidFill>
          <a:ln w="12700">
            <a:solidFill>
              <a:srgbClr val="E97132"/>
            </a:solidFill>
            <a:prstDash val="solid"/>
          </a:ln>
        </p:spPr>
      </p:sp>
      <p:sp>
        <p:nvSpPr>
          <p:cNvPr id="22" name="Text 19"/>
          <p:cNvSpPr txBox="1"/>
          <p:nvPr/>
        </p:nvSpPr>
        <p:spPr>
          <a:xfrm>
            <a:off x="914400" y="52303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3" name="Text 20"/>
          <p:cNvSpPr txBox="1"/>
          <p:nvPr/>
        </p:nvSpPr>
        <p:spPr>
          <a:xfrm>
            <a:off x="1463040" y="52120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Try your own colours</a:t>
            </a:r>
            <a:endParaRPr lang="en-US" sz="1550" dirty="0"/>
          </a:p>
        </p:txBody>
      </p:sp>
      <p:sp>
        <p:nvSpPr>
          <p:cNvPr id="24" name="Text 21"/>
          <p:cNvSpPr txBox="1"/>
          <p:nvPr/>
        </p:nvSpPr>
        <p:spPr>
          <a:xfrm>
            <a:off x="1463040" y="55229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Change any colour you like, as long as it still passes 4.5 : 1.</a:t>
            </a:r>
            <a:endParaRPr lang="en-US" sz="1300" dirty="0"/>
          </a:p>
        </p:txBody>
      </p:sp>
      <p:sp>
        <p:nvSpPr>
          <p:cNvPr id="25" name="Shape 22"/>
          <p:cNvSpPr/>
          <p:nvPr/>
        </p:nvSpPr>
        <p:spPr>
          <a:xfrm>
            <a:off x="6995160" y="1325880"/>
            <a:ext cx="4647895" cy="502920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26" name="Text 23"/>
          <p:cNvSpPr txBox="1"/>
          <p:nvPr/>
        </p:nvSpPr>
        <p:spPr>
          <a:xfrm>
            <a:off x="7223760" y="1435608"/>
            <a:ext cx="4190695"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IN STYLE.CSS</a:t>
            </a:r>
            <a:endParaRPr lang="en-US" sz="1100" dirty="0"/>
          </a:p>
        </p:txBody>
      </p:sp>
      <p:sp>
        <p:nvSpPr>
          <p:cNvPr id="27" name="Text 24"/>
          <p:cNvSpPr txBox="1"/>
          <p:nvPr/>
        </p:nvSpPr>
        <p:spPr>
          <a:xfrm>
            <a:off x="7223760" y="1901952"/>
            <a:ext cx="4190695" cy="4224528"/>
          </a:xfrm>
          <a:prstGeom prst="rect">
            <a:avLst/>
          </a:prstGeom>
          <a:noFill/>
          <a:ln/>
        </p:spPr>
        <p:txBody>
          <a:bodyPr wrap="square" lIns="0" tIns="0" rIns="0" bIns="0" rtlCol="0" anchor="t"/>
          <a:lstStyle/>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header </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header h1 </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nav a </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.price </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#B5451B</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footer </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#262626</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#F2F2F2</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C:\Repos\2026-2027\WEBD1000\05_Intro_to_CSS\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702425"/>
            <a:ext cx="5852160" cy="5453149"/>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931025"/>
            <a:ext cx="5394960" cy="4995949"/>
          </a:xfrm>
          <a:prstGeom prst="rect">
            <a:avLst/>
          </a:prstGeom>
          <a:noFill/>
          <a:ln/>
        </p:spPr>
        <p:txBody>
          <a:bodyPr wrap="square" lIns="0" tIns="0" rIns="0" bIns="0" rtlCol="0" anchor="t"/>
          <a:lstStyle/>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body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6A9955"/>
                </a:solidFill>
                <a:latin typeface="Consolas" pitchFamily="34" charset="0"/>
                <a:ea typeface="Consolas" pitchFamily="34" charset="-122"/>
                <a:cs typeface="Consolas" pitchFamily="34" charset="-120"/>
              </a:rPr>
              <a:t>/* A font stack: use the first one this computer has */</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font-family</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"Segoe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UI",</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Arial,</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sans-serif</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font-size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1rem</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6A9955"/>
                </a:solidFill>
                <a:latin typeface="Consolas" pitchFamily="34" charset="0"/>
                <a:ea typeface="Consolas" pitchFamily="34" charset="-122"/>
                <a:cs typeface="Consolas" pitchFamily="34" charset="-120"/>
              </a:rPr>
              <a:t>/* the user's default size, usually 16px */</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line-height</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1.6</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6A9955"/>
                </a:solidFill>
                <a:latin typeface="Consolas" pitchFamily="34" charset="0"/>
                <a:ea typeface="Consolas" pitchFamily="34" charset="-122"/>
                <a:cs typeface="Consolas" pitchFamily="34" charset="-120"/>
              </a:rPr>
              <a:t>/* space between lines: 1.6 x font size */</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h1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font-family</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Georgia,</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"Times</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New</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Roman",</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serif</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font-size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2.5rem</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font-weight</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normal</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h2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font-size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1.1rem</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text-transform</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uppercase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letter-spacing</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2px</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.tagline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font-style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italic</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text-align</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center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nav a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text-decoration</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none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6A9955"/>
                </a:solidFill>
                <a:latin typeface="Consolas" pitchFamily="34" charset="0"/>
                <a:ea typeface="Consolas" pitchFamily="34" charset="-122"/>
                <a:cs typeface="Consolas" pitchFamily="34" charset="-120"/>
              </a:rPr>
              <a:t>/* no underline */</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font-weight</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bold</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CONCEPT 4</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Text and Fonts</a:t>
            </a:r>
            <a:endParaRPr lang="en-US" sz="3200" dirty="0"/>
          </a:p>
        </p:txBody>
      </p:sp>
      <p:pic>
        <p:nvPicPr>
          <p:cNvPr id="7" name="Image 1" descr="C:\Repos\2026-2027\WEBD1000\05_Intro_to_CSS\_build\shots\ex04.png">    </p:cNvPr>
          <p:cNvPicPr>
            <a:picLocks noChangeAspect="1"/>
          </p:cNvPicPr>
          <p:nvPr/>
        </p:nvPicPr>
        <p:blipFill>
          <a:blip r:embed="rId2"/>
          <a:stretch>
            <a:fillRect/>
          </a:stretch>
        </p:blipFill>
        <p:spPr>
          <a:xfrm>
            <a:off x="6812280" y="3429000"/>
            <a:ext cx="3560323" cy="2788920"/>
          </a:xfrm>
          <a:prstGeom prst="rect">
            <a:avLst/>
          </a:prstGeom>
        </p:spPr>
      </p:pic>
      <p:sp>
        <p:nvSpPr>
          <p:cNvPr id="8" name="Shape 4"/>
          <p:cNvSpPr/>
          <p:nvPr/>
        </p:nvSpPr>
        <p:spPr>
          <a:xfrm>
            <a:off x="6812280" y="3429000"/>
            <a:ext cx="3560323" cy="2788920"/>
          </a:xfrm>
          <a:prstGeom prst="rect">
            <a:avLst/>
          </a:prstGeom>
          <a:ln w="12700">
            <a:solidFill>
              <a:srgbClr val="B0B8BC"/>
            </a:solidFill>
            <a:prstDash val="solid"/>
          </a:ln>
        </p:spPr>
      </p:sp>
      <p:sp>
        <p:nvSpPr>
          <p:cNvPr id="9" name="Text 5"/>
          <p:cNvSpPr txBox="1"/>
          <p:nvPr/>
        </p:nvSpPr>
        <p:spPr>
          <a:xfrm>
            <a:off x="6812280" y="3136392"/>
            <a:ext cx="3560323"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508760"/>
            <a:ext cx="4967935" cy="1536192"/>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b="1" dirty="0">
                <a:solidFill>
                  <a:srgbClr val="262626"/>
                </a:solidFill>
                <a:latin typeface="Aptos" pitchFamily="34" charset="0"/>
                <a:ea typeface="Aptos" pitchFamily="34" charset="-122"/>
                <a:cs typeface="Aptos" pitchFamily="34" charset="-120"/>
              </a:rPr>
              <a:t>Font stack</a:t>
            </a:r>
            <a:pPr indent="0" marL="0">
              <a:buNone/>
            </a:pPr>
            <a:r>
              <a:rPr lang="en-US" sz="1350" dirty="0">
                <a:solidFill>
                  <a:srgbClr val="262626"/>
                </a:solidFill>
                <a:latin typeface="Aptos" pitchFamily="34" charset="0"/>
                <a:ea typeface="Aptos" pitchFamily="34" charset="-122"/>
                <a:cs typeface="Aptos" pitchFamily="34" charset="-120"/>
              </a:rPr>
              <a:t>: a list of fonts. The browser uses the first one it has. End with </a:t>
            </a:r>
            <a:pPr indent="0" marL="0">
              <a:buNone/>
            </a:pPr>
            <a:r>
              <a:rPr lang="en-US" sz="1350" dirty="0">
                <a:solidFill>
                  <a:srgbClr val="8A2B0B"/>
                </a:solidFill>
                <a:latin typeface="Consolas" pitchFamily="34" charset="0"/>
                <a:ea typeface="Consolas" pitchFamily="34" charset="-122"/>
                <a:cs typeface="Consolas" pitchFamily="34" charset="-120"/>
              </a:rPr>
              <a:t>serif</a:t>
            </a:r>
            <a:pPr indent="0" marL="0">
              <a:buNone/>
            </a:pPr>
            <a:r>
              <a:rPr lang="en-US" sz="1350" dirty="0">
                <a:solidFill>
                  <a:srgbClr val="262626"/>
                </a:solidFill>
                <a:latin typeface="Aptos" pitchFamily="34" charset="0"/>
                <a:ea typeface="Aptos" pitchFamily="34" charset="-122"/>
                <a:cs typeface="Aptos" pitchFamily="34" charset="-120"/>
              </a:rPr>
              <a:t> or </a:t>
            </a:r>
            <a:pPr indent="0" marL="0">
              <a:buNone/>
            </a:pPr>
            <a:r>
              <a:rPr lang="en-US" sz="1350" dirty="0">
                <a:solidFill>
                  <a:srgbClr val="8A2B0B"/>
                </a:solidFill>
                <a:latin typeface="Consolas" pitchFamily="34" charset="0"/>
                <a:ea typeface="Consolas" pitchFamily="34" charset="-122"/>
                <a:cs typeface="Consolas" pitchFamily="34" charset="-120"/>
              </a:rPr>
              <a:t>sans-serif</a:t>
            </a:r>
            <a:pPr indent="0" marL="0">
              <a:buNone/>
            </a:pPr>
            <a:r>
              <a:rPr lang="en-US" sz="1350" dirty="0">
                <a:solidFill>
                  <a:srgbClr val="262626"/>
                </a:solidFill>
                <a:latin typeface="Aptos" pitchFamily="34" charset="0"/>
                <a:ea typeface="Aptos" pitchFamily="34" charset="-122"/>
                <a:cs typeface="Aptos" pitchFamily="34" charset="-120"/>
              </a:rPr>
              <a:t>.</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Size text in </a:t>
            </a:r>
            <a:pPr indent="0" marL="0">
              <a:buNone/>
            </a:pPr>
            <a:r>
              <a:rPr lang="en-US" sz="1350" dirty="0">
                <a:solidFill>
                  <a:srgbClr val="8A2B0B"/>
                </a:solidFill>
                <a:latin typeface="Consolas" pitchFamily="34" charset="0"/>
                <a:ea typeface="Consolas" pitchFamily="34" charset="-122"/>
                <a:cs typeface="Consolas" pitchFamily="34" charset="-120"/>
              </a:rPr>
              <a:t>rem</a:t>
            </a:r>
            <a:pPr indent="0" marL="0">
              <a:buNone/>
            </a:pPr>
            <a:r>
              <a:rPr lang="en-US" sz="1350" dirty="0">
                <a:solidFill>
                  <a:srgbClr val="262626"/>
                </a:solidFill>
                <a:latin typeface="Aptos" pitchFamily="34" charset="0"/>
                <a:ea typeface="Aptos" pitchFamily="34" charset="-122"/>
                <a:cs typeface="Aptos" pitchFamily="34" charset="-120"/>
              </a:rPr>
              <a:t>, not </a:t>
            </a:r>
            <a:pPr indent="0" marL="0">
              <a:buNone/>
            </a:pPr>
            <a:r>
              <a:rPr lang="en-US" sz="1350" dirty="0">
                <a:solidFill>
                  <a:srgbClr val="8A2B0B"/>
                </a:solidFill>
                <a:latin typeface="Consolas" pitchFamily="34" charset="0"/>
                <a:ea typeface="Consolas" pitchFamily="34" charset="-122"/>
                <a:cs typeface="Consolas" pitchFamily="34" charset="-120"/>
              </a:rPr>
              <a:t>px</a:t>
            </a:r>
            <a:pPr indent="0" marL="0">
              <a:buNone/>
            </a:pPr>
            <a:r>
              <a:rPr lang="en-US" sz="1350" dirty="0">
                <a:solidFill>
                  <a:srgbClr val="262626"/>
                </a:solidFill>
                <a:latin typeface="Aptos" pitchFamily="34" charset="0"/>
                <a:ea typeface="Aptos" pitchFamily="34" charset="-122"/>
                <a:cs typeface="Aptos" pitchFamily="34" charset="-120"/>
              </a:rPr>
              <a:t>: rem respects the user's own font-size setting.</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line-height: 1.5–1.7</a:t>
            </a:r>
            <a:pPr indent="0" marL="0">
              <a:buNone/>
            </a:pPr>
            <a:r>
              <a:rPr lang="en-US" sz="1350" dirty="0">
                <a:solidFill>
                  <a:srgbClr val="262626"/>
                </a:solidFill>
                <a:latin typeface="Aptos" pitchFamily="34" charset="0"/>
                <a:ea typeface="Aptos" pitchFamily="34" charset="-122"/>
                <a:cs typeface="Aptos" pitchFamily="34" charset="-120"/>
              </a:rPr>
              <a:t> makes paragraphs much easier to read.</a:t>
            </a:r>
            <a:endParaRPr lang="en-US" sz="135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04_text_fonts_example.html</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4: Text and Fonts (8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Body: a font stack, line height and text colour</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Everything inherits it, so one rule changes the whole page.</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h1: a serif font</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Georgia</a:t>
            </a:r>
            <a:pPr indent="0" marL="0">
              <a:buNone/>
            </a:pPr>
            <a:r>
              <a:rPr lang="en-US" sz="1300" dirty="0">
                <a:solidFill>
                  <a:srgbClr val="262626"/>
                </a:solidFill>
                <a:latin typeface="Aptos" pitchFamily="34" charset="0"/>
                <a:ea typeface="Aptos" pitchFamily="34" charset="-122"/>
                <a:cs typeface="Aptos" pitchFamily="34" charset="-120"/>
              </a:rPr>
              <a:t> looks good for a restaurant name.</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h2: small capitals with spacing</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text-transform</a:t>
            </a:r>
            <a:pPr indent="0" marL="0">
              <a:buNone/>
            </a:pPr>
            <a:r>
              <a:rPr lang="en-US" sz="1300" dirty="0">
                <a:solidFill>
                  <a:srgbClr val="262626"/>
                </a:solidFill>
                <a:latin typeface="Aptos" pitchFamily="34" charset="0"/>
                <a:ea typeface="Aptos" pitchFamily="34" charset="-122"/>
                <a:cs typeface="Aptos" pitchFamily="34" charset="-120"/>
              </a:rPr>
              <a:t> and </a:t>
            </a:r>
            <a:pPr indent="0" marL="0">
              <a:buNone/>
            </a:pPr>
            <a:r>
              <a:rPr lang="en-US" sz="1300" dirty="0">
                <a:solidFill>
                  <a:srgbClr val="8A2B0B"/>
                </a:solidFill>
                <a:latin typeface="Consolas" pitchFamily="34" charset="0"/>
                <a:ea typeface="Consolas" pitchFamily="34" charset="-122"/>
                <a:cs typeface="Consolas" pitchFamily="34" charset="-120"/>
              </a:rPr>
              <a:t>letter-spacing</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sp>
      <p:sp>
        <p:nvSpPr>
          <p:cNvPr id="18" name="Text 15"/>
          <p:cNvSpPr txBox="1"/>
          <p:nvPr/>
        </p:nvSpPr>
        <p:spPr>
          <a:xfrm>
            <a:off x="914400"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Nav links: no underline, bold</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Add to your existing </a:t>
            </a:r>
            <a:pPr indent="0" marL="0">
              <a:buNone/>
            </a:pPr>
            <a:r>
              <a:rPr lang="en-US" sz="1300" dirty="0">
                <a:solidFill>
                  <a:srgbClr val="8A2B0B"/>
                </a:solidFill>
                <a:latin typeface="Consolas" pitchFamily="34" charset="0"/>
                <a:ea typeface="Consolas" pitchFamily="34" charset="-122"/>
                <a:cs typeface="Consolas" pitchFamily="34" charset="-120"/>
              </a:rPr>
              <a:t>nav a</a:t>
            </a:r>
            <a:pPr indent="0" marL="0">
              <a:buNone/>
            </a:pPr>
            <a:r>
              <a:rPr lang="en-US" sz="1300" dirty="0">
                <a:solidFill>
                  <a:srgbClr val="262626"/>
                </a:solidFill>
                <a:latin typeface="Aptos" pitchFamily="34" charset="0"/>
                <a:ea typeface="Aptos" pitchFamily="34" charset="-122"/>
                <a:cs typeface="Aptos" pitchFamily="34" charset="-120"/>
              </a:rPr>
              <a:t> rule, or write a new one below it.</a:t>
            </a:r>
            <a:endParaRPr lang="en-US" sz="1300" dirty="0"/>
          </a:p>
        </p:txBody>
      </p:sp>
      <p:sp>
        <p:nvSpPr>
          <p:cNvPr id="21" name="Shape 18"/>
          <p:cNvSpPr/>
          <p:nvPr/>
        </p:nvSpPr>
        <p:spPr>
          <a:xfrm>
            <a:off x="914400" y="5230368"/>
            <a:ext cx="402336" cy="402336"/>
          </a:xfrm>
          <a:prstGeom prst="ellipse">
            <a:avLst/>
          </a:prstGeom>
          <a:solidFill>
            <a:srgbClr val="E97132"/>
          </a:solidFill>
          <a:ln w="12700">
            <a:solidFill>
              <a:srgbClr val="E97132"/>
            </a:solidFill>
            <a:prstDash val="solid"/>
          </a:ln>
        </p:spPr>
      </p:sp>
      <p:sp>
        <p:nvSpPr>
          <p:cNvPr id="22" name="Text 19"/>
          <p:cNvSpPr txBox="1"/>
          <p:nvPr/>
        </p:nvSpPr>
        <p:spPr>
          <a:xfrm>
            <a:off x="914400" y="52303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3" name="Text 20"/>
          <p:cNvSpPr txBox="1"/>
          <p:nvPr/>
        </p:nvSpPr>
        <p:spPr>
          <a:xfrm>
            <a:off x="1463040" y="52120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Bonus: a Google Font</a:t>
            </a:r>
            <a:endParaRPr lang="en-US" sz="1550" dirty="0"/>
          </a:p>
        </p:txBody>
      </p:sp>
      <p:sp>
        <p:nvSpPr>
          <p:cNvPr id="24" name="Text 21"/>
          <p:cNvSpPr txBox="1"/>
          <p:nvPr/>
        </p:nvSpPr>
        <p:spPr>
          <a:xfrm>
            <a:off x="1463040" y="55229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fonts.google.com → pick one → copy the </a:t>
            </a:r>
            <a:pPr indent="0" marL="0">
              <a:buNone/>
            </a:pPr>
            <a:r>
              <a:rPr lang="en-US" sz="1300" dirty="0">
                <a:solidFill>
                  <a:srgbClr val="8A2B0B"/>
                </a:solidFill>
                <a:latin typeface="Consolas" pitchFamily="34" charset="0"/>
                <a:ea typeface="Consolas" pitchFamily="34" charset="-122"/>
                <a:cs typeface="Consolas" pitchFamily="34" charset="-120"/>
              </a:rPr>
              <a:t>&lt;link&gt;</a:t>
            </a:r>
            <a:pPr indent="0" marL="0">
              <a:buNone/>
            </a:pPr>
            <a:r>
              <a:rPr lang="en-US" sz="1300" dirty="0">
                <a:solidFill>
                  <a:srgbClr val="262626"/>
                </a:solidFill>
                <a:latin typeface="Aptos" pitchFamily="34" charset="0"/>
                <a:ea typeface="Aptos" pitchFamily="34" charset="-122"/>
                <a:cs typeface="Aptos" pitchFamily="34" charset="-120"/>
              </a:rPr>
              <a:t> into your head → use its name in </a:t>
            </a:r>
            <a:pPr indent="0" marL="0">
              <a:buNone/>
            </a:pPr>
            <a:r>
              <a:rPr lang="en-US" sz="1300" dirty="0">
                <a:solidFill>
                  <a:srgbClr val="8A2B0B"/>
                </a:solidFill>
                <a:latin typeface="Consolas" pitchFamily="34" charset="0"/>
                <a:ea typeface="Consolas" pitchFamily="34" charset="-122"/>
                <a:cs typeface="Consolas" pitchFamily="34" charset="-120"/>
              </a:rPr>
              <a:t>font-family</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25" name="Shape 22"/>
          <p:cNvSpPr/>
          <p:nvPr/>
        </p:nvSpPr>
        <p:spPr>
          <a:xfrm>
            <a:off x="6995160" y="1325880"/>
            <a:ext cx="4647895" cy="502920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26" name="Text 23"/>
          <p:cNvSpPr txBox="1"/>
          <p:nvPr/>
        </p:nvSpPr>
        <p:spPr>
          <a:xfrm>
            <a:off x="7223760" y="1435608"/>
            <a:ext cx="4190695"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IN STYLE.CSS</a:t>
            </a:r>
            <a:endParaRPr lang="en-US" sz="1100" dirty="0"/>
          </a:p>
        </p:txBody>
      </p:sp>
      <p:sp>
        <p:nvSpPr>
          <p:cNvPr id="27" name="Text 24"/>
          <p:cNvSpPr txBox="1"/>
          <p:nvPr/>
        </p:nvSpPr>
        <p:spPr>
          <a:xfrm>
            <a:off x="7223760" y="1901952"/>
            <a:ext cx="4190695" cy="4224528"/>
          </a:xfrm>
          <a:prstGeom prst="rect">
            <a:avLst/>
          </a:prstGeom>
          <a:noFill/>
          <a:ln/>
        </p:spPr>
        <p:txBody>
          <a:bodyPr wrap="square" lIns="0" tIns="0" rIns="0" bIns="0" rtlCol="0" anchor="t"/>
          <a:lstStyle/>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body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font-family</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"Segoe</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UI",</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Arial,</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sans-serif</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line-height</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1.6</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#262626</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h1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font-family</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Georgia,</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serif</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font-size</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2.2rem</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font-weight</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normal</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h2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font-size</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1.2rem</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text-transform</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uppercase</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letter-spacing</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2px</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nav a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text-decoration</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none</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font-weight</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bold</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Concept 5: The Box Model</a:t>
            </a:r>
            <a:endParaRPr lang="en-US" sz="2800" dirty="0"/>
          </a:p>
        </p:txBody>
      </p:sp>
      <p:sp>
        <p:nvSpPr>
          <p:cNvPr id="7" name="Shape 4"/>
          <p:cNvSpPr/>
          <p:nvPr/>
        </p:nvSpPr>
        <p:spPr>
          <a:xfrm>
            <a:off x="4754880" y="1783080"/>
            <a:ext cx="3749040" cy="3291840"/>
          </a:xfrm>
          <a:prstGeom prst="rect">
            <a:avLst/>
          </a:prstGeom>
          <a:solidFill>
            <a:srgbClr val="F9CC9D"/>
          </a:solidFill>
          <a:ln w="9525">
            <a:solidFill>
              <a:srgbClr val="333333"/>
            </a:solidFill>
            <a:prstDash val="dash"/>
          </a:ln>
        </p:spPr>
      </p:sp>
      <p:sp>
        <p:nvSpPr>
          <p:cNvPr id="8" name="Text 5"/>
          <p:cNvSpPr txBox="1"/>
          <p:nvPr/>
        </p:nvSpPr>
        <p:spPr>
          <a:xfrm>
            <a:off x="4846320" y="1837944"/>
            <a:ext cx="1371600" cy="274320"/>
          </a:xfrm>
          <a:prstGeom prst="rect">
            <a:avLst/>
          </a:prstGeom>
          <a:noFill/>
          <a:ln/>
        </p:spPr>
        <p:txBody>
          <a:bodyPr wrap="square" lIns="0" tIns="0" rIns="0" bIns="0" rtlCol="0" anchor="ctr"/>
          <a:lstStyle/>
          <a:p>
            <a:pPr indent="0" marL="0">
              <a:buNone/>
            </a:pPr>
            <a:r>
              <a:rPr lang="en-US" sz="1200" b="1" dirty="0">
                <a:solidFill>
                  <a:srgbClr val="333333"/>
                </a:solidFill>
                <a:latin typeface="Consolas" pitchFamily="34" charset="0"/>
                <a:ea typeface="Consolas" pitchFamily="34" charset="-122"/>
                <a:cs typeface="Consolas" pitchFamily="34" charset="-120"/>
              </a:rPr>
              <a:t>margin</a:t>
            </a:r>
            <a:endParaRPr lang="en-US" sz="1200" dirty="0"/>
          </a:p>
        </p:txBody>
      </p:sp>
      <p:sp>
        <p:nvSpPr>
          <p:cNvPr id="9" name="Shape 6"/>
          <p:cNvSpPr/>
          <p:nvPr/>
        </p:nvSpPr>
        <p:spPr>
          <a:xfrm>
            <a:off x="5138928" y="2167128"/>
            <a:ext cx="2980944" cy="2523744"/>
          </a:xfrm>
          <a:prstGeom prst="rect">
            <a:avLst/>
          </a:prstGeom>
          <a:solidFill>
            <a:srgbClr val="FDDD9B"/>
          </a:solidFill>
          <a:ln w="25400">
            <a:solidFill>
              <a:srgbClr val="333333"/>
            </a:solidFill>
            <a:prstDash val="solid"/>
          </a:ln>
        </p:spPr>
      </p:sp>
      <p:sp>
        <p:nvSpPr>
          <p:cNvPr id="10" name="Text 7"/>
          <p:cNvSpPr txBox="1"/>
          <p:nvPr/>
        </p:nvSpPr>
        <p:spPr>
          <a:xfrm>
            <a:off x="5230368" y="2221992"/>
            <a:ext cx="1371600" cy="274320"/>
          </a:xfrm>
          <a:prstGeom prst="rect">
            <a:avLst/>
          </a:prstGeom>
          <a:noFill/>
          <a:ln/>
        </p:spPr>
        <p:txBody>
          <a:bodyPr wrap="square" lIns="0" tIns="0" rIns="0" bIns="0" rtlCol="0" anchor="ctr"/>
          <a:lstStyle/>
          <a:p>
            <a:pPr indent="0" marL="0">
              <a:buNone/>
            </a:pPr>
            <a:r>
              <a:rPr lang="en-US" sz="1200" b="1" dirty="0">
                <a:solidFill>
                  <a:srgbClr val="333333"/>
                </a:solidFill>
                <a:latin typeface="Consolas" pitchFamily="34" charset="0"/>
                <a:ea typeface="Consolas" pitchFamily="34" charset="-122"/>
                <a:cs typeface="Consolas" pitchFamily="34" charset="-120"/>
              </a:rPr>
              <a:t>border</a:t>
            </a:r>
            <a:endParaRPr lang="en-US" sz="1200" dirty="0"/>
          </a:p>
        </p:txBody>
      </p:sp>
      <p:sp>
        <p:nvSpPr>
          <p:cNvPr id="11" name="Shape 8"/>
          <p:cNvSpPr/>
          <p:nvPr/>
        </p:nvSpPr>
        <p:spPr>
          <a:xfrm>
            <a:off x="5522976" y="2551176"/>
            <a:ext cx="2212848" cy="1755648"/>
          </a:xfrm>
          <a:prstGeom prst="rect">
            <a:avLst/>
          </a:prstGeom>
          <a:solidFill>
            <a:srgbClr val="C3D08B"/>
          </a:solidFill>
          <a:ln w="9525">
            <a:solidFill>
              <a:srgbClr val="333333"/>
            </a:solidFill>
            <a:prstDash val="solid"/>
          </a:ln>
        </p:spPr>
      </p:sp>
      <p:sp>
        <p:nvSpPr>
          <p:cNvPr id="12" name="Text 9"/>
          <p:cNvSpPr txBox="1"/>
          <p:nvPr/>
        </p:nvSpPr>
        <p:spPr>
          <a:xfrm>
            <a:off x="5614416" y="2606040"/>
            <a:ext cx="1371600" cy="274320"/>
          </a:xfrm>
          <a:prstGeom prst="rect">
            <a:avLst/>
          </a:prstGeom>
          <a:noFill/>
          <a:ln/>
        </p:spPr>
        <p:txBody>
          <a:bodyPr wrap="square" lIns="0" tIns="0" rIns="0" bIns="0" rtlCol="0" anchor="ctr"/>
          <a:lstStyle/>
          <a:p>
            <a:pPr indent="0" marL="0">
              <a:buNone/>
            </a:pPr>
            <a:r>
              <a:rPr lang="en-US" sz="1200" b="1" dirty="0">
                <a:solidFill>
                  <a:srgbClr val="333333"/>
                </a:solidFill>
                <a:latin typeface="Consolas" pitchFamily="34" charset="0"/>
                <a:ea typeface="Consolas" pitchFamily="34" charset="-122"/>
                <a:cs typeface="Consolas" pitchFamily="34" charset="-120"/>
              </a:rPr>
              <a:t>padding</a:t>
            </a:r>
            <a:endParaRPr lang="en-US" sz="1200" dirty="0"/>
          </a:p>
        </p:txBody>
      </p:sp>
      <p:sp>
        <p:nvSpPr>
          <p:cNvPr id="13" name="Shape 10"/>
          <p:cNvSpPr/>
          <p:nvPr/>
        </p:nvSpPr>
        <p:spPr>
          <a:xfrm>
            <a:off x="5907024" y="2935224"/>
            <a:ext cx="1444752" cy="987552"/>
          </a:xfrm>
          <a:prstGeom prst="rect">
            <a:avLst/>
          </a:prstGeom>
          <a:solidFill>
            <a:srgbClr val="8CB6C0"/>
          </a:solidFill>
          <a:ln w="9525">
            <a:solidFill>
              <a:srgbClr val="333333"/>
            </a:solidFill>
            <a:prstDash val="solid"/>
          </a:ln>
        </p:spPr>
      </p:sp>
      <p:sp>
        <p:nvSpPr>
          <p:cNvPr id="14" name="Text 11"/>
          <p:cNvSpPr txBox="1"/>
          <p:nvPr/>
        </p:nvSpPr>
        <p:spPr>
          <a:xfrm>
            <a:off x="5998464" y="2990088"/>
            <a:ext cx="1371600" cy="274320"/>
          </a:xfrm>
          <a:prstGeom prst="rect">
            <a:avLst/>
          </a:prstGeom>
          <a:noFill/>
          <a:ln/>
        </p:spPr>
        <p:txBody>
          <a:bodyPr wrap="square" lIns="0" tIns="0" rIns="0" bIns="0" rtlCol="0" anchor="ctr"/>
          <a:lstStyle/>
          <a:p>
            <a:pPr indent="0" marL="0">
              <a:buNone/>
            </a:pPr>
            <a:r>
              <a:rPr lang="en-US" sz="1200" b="1" dirty="0">
                <a:solidFill>
                  <a:srgbClr val="333333"/>
                </a:solidFill>
                <a:latin typeface="Consolas" pitchFamily="34" charset="0"/>
                <a:ea typeface="Consolas" pitchFamily="34" charset="-122"/>
                <a:cs typeface="Consolas" pitchFamily="34" charset="-120"/>
              </a:rPr>
              <a:t>content</a:t>
            </a:r>
            <a:endParaRPr lang="en-US" sz="1200" dirty="0"/>
          </a:p>
        </p:txBody>
      </p:sp>
      <p:sp>
        <p:nvSpPr>
          <p:cNvPr id="15" name="Text 12"/>
          <p:cNvSpPr txBox="1"/>
          <p:nvPr/>
        </p:nvSpPr>
        <p:spPr>
          <a:xfrm>
            <a:off x="5907024" y="3209544"/>
            <a:ext cx="1444752" cy="713232"/>
          </a:xfrm>
          <a:prstGeom prst="rect">
            <a:avLst/>
          </a:prstGeom>
          <a:noFill/>
          <a:ln/>
        </p:spPr>
        <p:txBody>
          <a:bodyPr wrap="square" lIns="0" tIns="0" rIns="0" bIns="0" rtlCol="0" anchor="ctr"/>
          <a:lstStyle/>
          <a:p>
            <a:pPr algn="ctr" indent="0" marL="0">
              <a:buNone/>
            </a:pPr>
            <a:r>
              <a:rPr lang="en-US" sz="1500" b="1" dirty="0">
                <a:solidFill>
                  <a:srgbClr val="1E1E1E"/>
                </a:solidFill>
                <a:latin typeface="Aptos" pitchFamily="34" charset="0"/>
                <a:ea typeface="Aptos" pitchFamily="34" charset="-122"/>
                <a:cs typeface="Aptos" pitchFamily="34" charset="-120"/>
              </a:rPr>
              <a:t>Haddock &amp; Chips</a:t>
            </a:r>
            <a:endParaRPr lang="en-US" sz="1500" dirty="0"/>
          </a:p>
        </p:txBody>
      </p:sp>
      <p:sp>
        <p:nvSpPr>
          <p:cNvPr id="16" name="Shape 13"/>
          <p:cNvSpPr/>
          <p:nvPr/>
        </p:nvSpPr>
        <p:spPr>
          <a:xfrm>
            <a:off x="8778240" y="1828800"/>
            <a:ext cx="320040" cy="320040"/>
          </a:xfrm>
          <a:prstGeom prst="roundRect">
            <a:avLst>
              <a:gd name="adj" fmla="val 14286"/>
            </a:avLst>
          </a:prstGeom>
          <a:solidFill>
            <a:srgbClr val="F9CC9D"/>
          </a:solidFill>
          <a:ln w="9525">
            <a:solidFill>
              <a:srgbClr val="333333"/>
            </a:solidFill>
            <a:prstDash val="solid"/>
          </a:ln>
        </p:spPr>
      </p:sp>
      <p:sp>
        <p:nvSpPr>
          <p:cNvPr id="17" name="Text 14"/>
          <p:cNvSpPr txBox="1"/>
          <p:nvPr/>
        </p:nvSpPr>
        <p:spPr>
          <a:xfrm>
            <a:off x="9235440" y="1783080"/>
            <a:ext cx="2377440" cy="320040"/>
          </a:xfrm>
          <a:prstGeom prst="rect">
            <a:avLst/>
          </a:prstGeom>
          <a:noFill/>
          <a:ln/>
        </p:spPr>
        <p:txBody>
          <a:bodyPr wrap="square" lIns="0" tIns="0" rIns="0" bIns="0" rtlCol="0" anchor="ctr"/>
          <a:lstStyle/>
          <a:p>
            <a:pPr indent="0" marL="0">
              <a:buNone/>
            </a:pPr>
            <a:r>
              <a:rPr lang="en-US" sz="1500" b="1" dirty="0">
                <a:solidFill>
                  <a:srgbClr val="000000"/>
                </a:solidFill>
                <a:latin typeface="Consolas" pitchFamily="34" charset="0"/>
                <a:ea typeface="Consolas" pitchFamily="34" charset="-122"/>
                <a:cs typeface="Consolas" pitchFamily="34" charset="-120"/>
              </a:rPr>
              <a:t>margin</a:t>
            </a:r>
            <a:endParaRPr lang="en-US" sz="1500" dirty="0"/>
          </a:p>
        </p:txBody>
      </p:sp>
      <p:sp>
        <p:nvSpPr>
          <p:cNvPr id="18" name="Text 15"/>
          <p:cNvSpPr txBox="1"/>
          <p:nvPr/>
        </p:nvSpPr>
        <p:spPr>
          <a:xfrm>
            <a:off x="9235440" y="2112264"/>
            <a:ext cx="2423160" cy="457200"/>
          </a:xfrm>
          <a:prstGeom prst="rect">
            <a:avLst/>
          </a:prstGeom>
          <a:noFill/>
          <a:ln/>
        </p:spPr>
        <p:txBody>
          <a:bodyPr wrap="square" lIns="0" tIns="0" rIns="0" bIns="0" rtlCol="0" anchor="t"/>
          <a:lstStyle/>
          <a:p>
            <a:pPr indent="0" marL="0">
              <a:buNone/>
            </a:pPr>
            <a:r>
              <a:rPr lang="en-US" sz="1200" dirty="0">
                <a:solidFill>
                  <a:srgbClr val="262626"/>
                </a:solidFill>
                <a:latin typeface="Aptos" pitchFamily="34" charset="0"/>
                <a:ea typeface="Aptos" pitchFamily="34" charset="-122"/>
                <a:cs typeface="Aptos" pitchFamily="34" charset="-120"/>
              </a:rPr>
              <a:t>Space OUTSIDE the border. Always see-through. Pushes other boxes away.</a:t>
            </a:r>
            <a:endParaRPr lang="en-US" sz="1200" dirty="0"/>
          </a:p>
        </p:txBody>
      </p:sp>
      <p:sp>
        <p:nvSpPr>
          <p:cNvPr id="19" name="Shape 16"/>
          <p:cNvSpPr/>
          <p:nvPr/>
        </p:nvSpPr>
        <p:spPr>
          <a:xfrm>
            <a:off x="8778240" y="2651760"/>
            <a:ext cx="320040" cy="320040"/>
          </a:xfrm>
          <a:prstGeom prst="roundRect">
            <a:avLst>
              <a:gd name="adj" fmla="val 14286"/>
            </a:avLst>
          </a:prstGeom>
          <a:solidFill>
            <a:srgbClr val="FDDD9B"/>
          </a:solidFill>
          <a:ln w="9525">
            <a:solidFill>
              <a:srgbClr val="333333"/>
            </a:solidFill>
            <a:prstDash val="solid"/>
          </a:ln>
        </p:spPr>
      </p:sp>
      <p:sp>
        <p:nvSpPr>
          <p:cNvPr id="20" name="Text 17"/>
          <p:cNvSpPr txBox="1"/>
          <p:nvPr/>
        </p:nvSpPr>
        <p:spPr>
          <a:xfrm>
            <a:off x="9235440" y="2606040"/>
            <a:ext cx="2377440" cy="320040"/>
          </a:xfrm>
          <a:prstGeom prst="rect">
            <a:avLst/>
          </a:prstGeom>
          <a:noFill/>
          <a:ln/>
        </p:spPr>
        <p:txBody>
          <a:bodyPr wrap="square" lIns="0" tIns="0" rIns="0" bIns="0" rtlCol="0" anchor="ctr"/>
          <a:lstStyle/>
          <a:p>
            <a:pPr indent="0" marL="0">
              <a:buNone/>
            </a:pPr>
            <a:r>
              <a:rPr lang="en-US" sz="1500" b="1" dirty="0">
                <a:solidFill>
                  <a:srgbClr val="000000"/>
                </a:solidFill>
                <a:latin typeface="Consolas" pitchFamily="34" charset="0"/>
                <a:ea typeface="Consolas" pitchFamily="34" charset="-122"/>
                <a:cs typeface="Consolas" pitchFamily="34" charset="-120"/>
              </a:rPr>
              <a:t>border</a:t>
            </a:r>
            <a:endParaRPr lang="en-US" sz="1500" dirty="0"/>
          </a:p>
        </p:txBody>
      </p:sp>
      <p:sp>
        <p:nvSpPr>
          <p:cNvPr id="21" name="Text 18"/>
          <p:cNvSpPr txBox="1"/>
          <p:nvPr/>
        </p:nvSpPr>
        <p:spPr>
          <a:xfrm>
            <a:off x="9235440" y="2935224"/>
            <a:ext cx="2423160" cy="457200"/>
          </a:xfrm>
          <a:prstGeom prst="rect">
            <a:avLst/>
          </a:prstGeom>
          <a:noFill/>
          <a:ln/>
        </p:spPr>
        <p:txBody>
          <a:bodyPr wrap="square" lIns="0" tIns="0" rIns="0" bIns="0" rtlCol="0" anchor="t"/>
          <a:lstStyle/>
          <a:p>
            <a:pPr indent="0" marL="0">
              <a:buNone/>
            </a:pPr>
            <a:r>
              <a:rPr lang="en-US" sz="1200" dirty="0">
                <a:solidFill>
                  <a:srgbClr val="262626"/>
                </a:solidFill>
                <a:latin typeface="Aptos" pitchFamily="34" charset="0"/>
                <a:ea typeface="Aptos" pitchFamily="34" charset="-122"/>
                <a:cs typeface="Aptos" pitchFamily="34" charset="-120"/>
              </a:rPr>
              <a:t>A line around the padding: width, style, colour.</a:t>
            </a:r>
            <a:endParaRPr lang="en-US" sz="1200" dirty="0"/>
          </a:p>
        </p:txBody>
      </p:sp>
      <p:sp>
        <p:nvSpPr>
          <p:cNvPr id="22" name="Shape 19"/>
          <p:cNvSpPr/>
          <p:nvPr/>
        </p:nvSpPr>
        <p:spPr>
          <a:xfrm>
            <a:off x="8778240" y="3474720"/>
            <a:ext cx="320040" cy="320040"/>
          </a:xfrm>
          <a:prstGeom prst="roundRect">
            <a:avLst>
              <a:gd name="adj" fmla="val 14286"/>
            </a:avLst>
          </a:prstGeom>
          <a:solidFill>
            <a:srgbClr val="C3D08B"/>
          </a:solidFill>
          <a:ln w="9525">
            <a:solidFill>
              <a:srgbClr val="333333"/>
            </a:solidFill>
            <a:prstDash val="solid"/>
          </a:ln>
        </p:spPr>
      </p:sp>
      <p:sp>
        <p:nvSpPr>
          <p:cNvPr id="23" name="Text 20"/>
          <p:cNvSpPr txBox="1"/>
          <p:nvPr/>
        </p:nvSpPr>
        <p:spPr>
          <a:xfrm>
            <a:off x="9235440" y="3429000"/>
            <a:ext cx="2377440" cy="320040"/>
          </a:xfrm>
          <a:prstGeom prst="rect">
            <a:avLst/>
          </a:prstGeom>
          <a:noFill/>
          <a:ln/>
        </p:spPr>
        <p:txBody>
          <a:bodyPr wrap="square" lIns="0" tIns="0" rIns="0" bIns="0" rtlCol="0" anchor="ctr"/>
          <a:lstStyle/>
          <a:p>
            <a:pPr indent="0" marL="0">
              <a:buNone/>
            </a:pPr>
            <a:r>
              <a:rPr lang="en-US" sz="1500" b="1" dirty="0">
                <a:solidFill>
                  <a:srgbClr val="000000"/>
                </a:solidFill>
                <a:latin typeface="Consolas" pitchFamily="34" charset="0"/>
                <a:ea typeface="Consolas" pitchFamily="34" charset="-122"/>
                <a:cs typeface="Consolas" pitchFamily="34" charset="-120"/>
              </a:rPr>
              <a:t>padding</a:t>
            </a:r>
            <a:endParaRPr lang="en-US" sz="1500" dirty="0"/>
          </a:p>
        </p:txBody>
      </p:sp>
      <p:sp>
        <p:nvSpPr>
          <p:cNvPr id="24" name="Text 21"/>
          <p:cNvSpPr txBox="1"/>
          <p:nvPr/>
        </p:nvSpPr>
        <p:spPr>
          <a:xfrm>
            <a:off x="9235440" y="3758184"/>
            <a:ext cx="2423160" cy="457200"/>
          </a:xfrm>
          <a:prstGeom prst="rect">
            <a:avLst/>
          </a:prstGeom>
          <a:noFill/>
          <a:ln/>
        </p:spPr>
        <p:txBody>
          <a:bodyPr wrap="square" lIns="0" tIns="0" rIns="0" bIns="0" rtlCol="0" anchor="t"/>
          <a:lstStyle/>
          <a:p>
            <a:pPr indent="0" marL="0">
              <a:buNone/>
            </a:pPr>
            <a:r>
              <a:rPr lang="en-US" sz="1200" dirty="0">
                <a:solidFill>
                  <a:srgbClr val="262626"/>
                </a:solidFill>
                <a:latin typeface="Aptos" pitchFamily="34" charset="0"/>
                <a:ea typeface="Aptos" pitchFamily="34" charset="-122"/>
                <a:cs typeface="Aptos" pitchFamily="34" charset="-120"/>
              </a:rPr>
              <a:t>Space INSIDE the border. Gets the background colour.</a:t>
            </a:r>
            <a:endParaRPr lang="en-US" sz="1200" dirty="0"/>
          </a:p>
        </p:txBody>
      </p:sp>
      <p:sp>
        <p:nvSpPr>
          <p:cNvPr id="25" name="Shape 22"/>
          <p:cNvSpPr/>
          <p:nvPr/>
        </p:nvSpPr>
        <p:spPr>
          <a:xfrm>
            <a:off x="8778240" y="4297680"/>
            <a:ext cx="320040" cy="320040"/>
          </a:xfrm>
          <a:prstGeom prst="roundRect">
            <a:avLst>
              <a:gd name="adj" fmla="val 14286"/>
            </a:avLst>
          </a:prstGeom>
          <a:solidFill>
            <a:srgbClr val="8CB6C0"/>
          </a:solidFill>
          <a:ln w="9525">
            <a:solidFill>
              <a:srgbClr val="333333"/>
            </a:solidFill>
            <a:prstDash val="solid"/>
          </a:ln>
        </p:spPr>
      </p:sp>
      <p:sp>
        <p:nvSpPr>
          <p:cNvPr id="26" name="Text 23"/>
          <p:cNvSpPr txBox="1"/>
          <p:nvPr/>
        </p:nvSpPr>
        <p:spPr>
          <a:xfrm>
            <a:off x="9235440" y="4251960"/>
            <a:ext cx="2377440" cy="320040"/>
          </a:xfrm>
          <a:prstGeom prst="rect">
            <a:avLst/>
          </a:prstGeom>
          <a:noFill/>
          <a:ln/>
        </p:spPr>
        <p:txBody>
          <a:bodyPr wrap="square" lIns="0" tIns="0" rIns="0" bIns="0" rtlCol="0" anchor="ctr"/>
          <a:lstStyle/>
          <a:p>
            <a:pPr indent="0" marL="0">
              <a:buNone/>
            </a:pPr>
            <a:r>
              <a:rPr lang="en-US" sz="1500" b="1" dirty="0">
                <a:solidFill>
                  <a:srgbClr val="000000"/>
                </a:solidFill>
                <a:latin typeface="Consolas" pitchFamily="34" charset="0"/>
                <a:ea typeface="Consolas" pitchFamily="34" charset="-122"/>
                <a:cs typeface="Consolas" pitchFamily="34" charset="-120"/>
              </a:rPr>
              <a:t>content</a:t>
            </a:r>
            <a:endParaRPr lang="en-US" sz="1500" dirty="0"/>
          </a:p>
        </p:txBody>
      </p:sp>
      <p:sp>
        <p:nvSpPr>
          <p:cNvPr id="27" name="Text 24"/>
          <p:cNvSpPr txBox="1"/>
          <p:nvPr/>
        </p:nvSpPr>
        <p:spPr>
          <a:xfrm>
            <a:off x="9235440" y="4581144"/>
            <a:ext cx="2423160" cy="457200"/>
          </a:xfrm>
          <a:prstGeom prst="rect">
            <a:avLst/>
          </a:prstGeom>
          <a:noFill/>
          <a:ln/>
        </p:spPr>
        <p:txBody>
          <a:bodyPr wrap="square" lIns="0" tIns="0" rIns="0" bIns="0" rtlCol="0" anchor="t"/>
          <a:lstStyle/>
          <a:p>
            <a:pPr indent="0" marL="0">
              <a:buNone/>
            </a:pPr>
            <a:r>
              <a:rPr lang="en-US" sz="1200" dirty="0">
                <a:solidFill>
                  <a:srgbClr val="262626"/>
                </a:solidFill>
                <a:latin typeface="Aptos" pitchFamily="34" charset="0"/>
                <a:ea typeface="Aptos" pitchFamily="34" charset="-122"/>
                <a:cs typeface="Aptos" pitchFamily="34" charset="-120"/>
              </a:rPr>
              <a:t>The text or image itself: width and height.</a:t>
            </a:r>
            <a:endParaRPr lang="en-US" sz="1200" dirty="0"/>
          </a:p>
        </p:txBody>
      </p:sp>
      <p:sp>
        <p:nvSpPr>
          <p:cNvPr id="28" name="Text 25"/>
          <p:cNvSpPr txBox="1"/>
          <p:nvPr/>
        </p:nvSpPr>
        <p:spPr>
          <a:xfrm>
            <a:off x="4754880" y="5349240"/>
            <a:ext cx="6903720" cy="1097280"/>
          </a:xfrm>
          <a:prstGeom prst="rect">
            <a:avLst/>
          </a:prstGeom>
          <a:noFill/>
          <a:ln/>
        </p:spPr>
        <p:txBody>
          <a:bodyPr wrap="square" lIns="0" tIns="0" rIns="0" bIns="0" rtlCol="0" anchor="t"/>
          <a:lstStyle/>
          <a:p>
            <a:pPr marL="342900" indent="-342900">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8A2B0B"/>
                </a:solidFill>
                <a:latin typeface="Consolas" pitchFamily="34" charset="0"/>
                <a:ea typeface="Consolas" pitchFamily="34" charset="-122"/>
                <a:cs typeface="Consolas" pitchFamily="34" charset="-120"/>
              </a:rPr>
              <a:t>padding: 10px 20px;</a:t>
            </a:r>
            <a:pPr indent="0" marL="0">
              <a:buNone/>
            </a:pPr>
            <a:r>
              <a:rPr lang="en-US" sz="1450" dirty="0">
                <a:solidFill>
                  <a:srgbClr val="262626"/>
                </a:solidFill>
                <a:latin typeface="Aptos" pitchFamily="34" charset="0"/>
                <a:ea typeface="Aptos" pitchFamily="34" charset="-122"/>
                <a:cs typeface="Aptos" pitchFamily="34" charset="-120"/>
              </a:rPr>
              <a:t> = top/bottom 10px, left/right 20px. Four values go clockwise: top, right, bottom, left.</a:t>
            </a:r>
            <a:endParaRPr lang="en-US" sz="1450" dirty="0"/>
          </a:p>
          <a:p>
            <a:pPr marL="342900" indent="-342900">
              <a:spcBef>
                <a:spcPts val="600"/>
              </a:spcBef>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8A2B0B"/>
                </a:solidFill>
                <a:latin typeface="Consolas" pitchFamily="34" charset="0"/>
                <a:ea typeface="Consolas" pitchFamily="34" charset="-122"/>
                <a:cs typeface="Consolas" pitchFamily="34" charset="-120"/>
              </a:rPr>
              <a:t>margin: 0 auto;</a:t>
            </a:r>
            <a:pPr indent="0" marL="0">
              <a:buNone/>
            </a:pPr>
            <a:r>
              <a:rPr lang="en-US" sz="1450" dirty="0">
                <a:solidFill>
                  <a:srgbClr val="262626"/>
                </a:solidFill>
                <a:latin typeface="Aptos" pitchFamily="34" charset="0"/>
                <a:ea typeface="Aptos" pitchFamily="34" charset="-122"/>
                <a:cs typeface="Aptos" pitchFamily="34" charset="-120"/>
              </a:rPr>
              <a:t> + a </a:t>
            </a:r>
            <a:pPr indent="0" marL="0">
              <a:buNone/>
            </a:pPr>
            <a:r>
              <a:rPr lang="en-US" sz="1450" dirty="0">
                <a:solidFill>
                  <a:srgbClr val="8A2B0B"/>
                </a:solidFill>
                <a:latin typeface="Consolas" pitchFamily="34" charset="0"/>
                <a:ea typeface="Consolas" pitchFamily="34" charset="-122"/>
                <a:cs typeface="Consolas" pitchFamily="34" charset="-120"/>
              </a:rPr>
              <a:t>max-width</a:t>
            </a:r>
            <a:pPr indent="0" marL="0">
              <a:buNone/>
            </a:pPr>
            <a:r>
              <a:rPr lang="en-US" sz="1450" dirty="0">
                <a:solidFill>
                  <a:srgbClr val="262626"/>
                </a:solidFill>
                <a:latin typeface="Aptos" pitchFamily="34" charset="0"/>
                <a:ea typeface="Aptos" pitchFamily="34" charset="-122"/>
                <a:cs typeface="Aptos" pitchFamily="34" charset="-120"/>
              </a:rPr>
              <a:t> = a centred column.</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C:\Repos\2026-2027\WEBD1000\05_Intro_to_CSS\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1395454"/>
            <a:ext cx="5852160" cy="4067092"/>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1624054"/>
            <a:ext cx="5394960" cy="3609892"/>
          </a:xfrm>
          <a:prstGeom prst="rect">
            <a:avLst/>
          </a:prstGeom>
          <a:noFill/>
          <a:ln/>
        </p:spPr>
        <p:txBody>
          <a:bodyPr wrap="square" lIns="0" tIns="0" rIns="0" bIns="0" rtlCol="0" anchor="t"/>
          <a:lstStyle/>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body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font-family</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Arial,</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sans-serif</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#E1E8EB</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main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max-width</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700px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margin</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auto</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6A9955"/>
                </a:solidFill>
                <a:latin typeface="Consolas" pitchFamily="34" charset="0"/>
                <a:ea typeface="Consolas" pitchFamily="34" charset="-122"/>
                <a:cs typeface="Consolas" pitchFamily="34" charset="-120"/>
              </a:rPr>
              <a:t>/* auto left and right = centred */</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.menu-item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300px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20px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6A9955"/>
                </a:solidFill>
                <a:latin typeface="Consolas" pitchFamily="34" charset="0"/>
                <a:ea typeface="Consolas" pitchFamily="34" charset="-122"/>
                <a:cs typeface="Consolas" pitchFamily="34" charset="-120"/>
              </a:rPr>
              <a:t>/* space INSIDE the border */</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border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3px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solid</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#1B5E82</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6A9955"/>
                </a:solidFill>
                <a:latin typeface="Consolas" pitchFamily="34" charset="0"/>
                <a:ea typeface="Consolas" pitchFamily="34" charset="-122"/>
                <a:cs typeface="Consolas" pitchFamily="34" charset="-120"/>
              </a:rPr>
              <a:t>/* width, style, colour */</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margin</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20px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6A9955"/>
                </a:solidFill>
                <a:latin typeface="Consolas" pitchFamily="34" charset="0"/>
                <a:ea typeface="Consolas" pitchFamily="34" charset="-122"/>
                <a:cs typeface="Consolas" pitchFamily="34" charset="-120"/>
              </a:rPr>
              <a:t>/* OUTSIDE: top/bottom, left/right */</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.border-box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box-sizing</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border-box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6A9955"/>
                </a:solidFill>
                <a:latin typeface="Consolas" pitchFamily="34" charset="0"/>
                <a:ea typeface="Consolas" pitchFamily="34" charset="-122"/>
                <a:cs typeface="Consolas" pitchFamily="34" charset="-120"/>
              </a:rPr>
              <a:t>/* width INCLUDES padding + border */</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EXAMPLE 05</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Padding, Border, Margin</a:t>
            </a:r>
            <a:endParaRPr lang="en-US" sz="3200" dirty="0"/>
          </a:p>
        </p:txBody>
      </p:sp>
      <p:pic>
        <p:nvPicPr>
          <p:cNvPr id="7" name="Image 1" descr="C:\Repos\2026-2027\WEBD1000\05_Intro_to_CSS\_build\shots\ex05.png">    </p:cNvPr>
          <p:cNvPicPr>
            <a:picLocks noChangeAspect="1"/>
          </p:cNvPicPr>
          <p:nvPr/>
        </p:nvPicPr>
        <p:blipFill>
          <a:blip r:embed="rId2"/>
          <a:stretch>
            <a:fillRect/>
          </a:stretch>
        </p:blipFill>
        <p:spPr>
          <a:xfrm>
            <a:off x="6812280" y="3429000"/>
            <a:ext cx="3217985" cy="2788920"/>
          </a:xfrm>
          <a:prstGeom prst="rect">
            <a:avLst/>
          </a:prstGeom>
        </p:spPr>
      </p:pic>
      <p:sp>
        <p:nvSpPr>
          <p:cNvPr id="8" name="Shape 4"/>
          <p:cNvSpPr/>
          <p:nvPr/>
        </p:nvSpPr>
        <p:spPr>
          <a:xfrm>
            <a:off x="6812280" y="3429000"/>
            <a:ext cx="3217985" cy="2788920"/>
          </a:xfrm>
          <a:prstGeom prst="rect">
            <a:avLst/>
          </a:prstGeom>
          <a:ln w="12700">
            <a:solidFill>
              <a:srgbClr val="B0B8BC"/>
            </a:solidFill>
            <a:prstDash val="solid"/>
          </a:ln>
        </p:spPr>
      </p:sp>
      <p:sp>
        <p:nvSpPr>
          <p:cNvPr id="9" name="Text 5"/>
          <p:cNvSpPr txBox="1"/>
          <p:nvPr/>
        </p:nvSpPr>
        <p:spPr>
          <a:xfrm>
            <a:off x="6812280" y="3136392"/>
            <a:ext cx="321798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508760"/>
            <a:ext cx="4967935" cy="1536192"/>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Both boxes say </a:t>
            </a:r>
            <a:pPr indent="0" marL="0">
              <a:buNone/>
            </a:pPr>
            <a:r>
              <a:rPr lang="en-US" sz="1350" dirty="0">
                <a:solidFill>
                  <a:srgbClr val="8A2B0B"/>
                </a:solidFill>
                <a:latin typeface="Consolas" pitchFamily="34" charset="0"/>
                <a:ea typeface="Consolas" pitchFamily="34" charset="-122"/>
                <a:cs typeface="Consolas" pitchFamily="34" charset="-120"/>
              </a:rPr>
              <a:t>width: 300px</a:t>
            </a:r>
            <a:pPr indent="0" marL="0">
              <a:buNone/>
            </a:pPr>
            <a:r>
              <a:rPr lang="en-US" sz="1350" dirty="0">
                <a:solidFill>
                  <a:srgbClr val="262626"/>
                </a:solidFill>
                <a:latin typeface="Aptos" pitchFamily="34" charset="0"/>
                <a:ea typeface="Aptos" pitchFamily="34" charset="-122"/>
                <a:cs typeface="Aptos" pitchFamily="34" charset="-120"/>
              </a:rPr>
              <a:t>, but by default </a:t>
            </a:r>
            <a:pPr indent="0" marL="0">
              <a:buNone/>
            </a:pPr>
            <a:r>
              <a:rPr lang="en-US" sz="1350" dirty="0">
                <a:solidFill>
                  <a:srgbClr val="8A2B0B"/>
                </a:solidFill>
                <a:latin typeface="Consolas" pitchFamily="34" charset="0"/>
                <a:ea typeface="Consolas" pitchFamily="34" charset="-122"/>
                <a:cs typeface="Consolas" pitchFamily="34" charset="-120"/>
              </a:rPr>
              <a:t>width</a:t>
            </a:r>
            <a:pPr indent="0" marL="0">
              <a:buNone/>
            </a:pPr>
            <a:r>
              <a:rPr lang="en-US" sz="1350" dirty="0">
                <a:solidFill>
                  <a:srgbClr val="262626"/>
                </a:solidFill>
                <a:latin typeface="Aptos" pitchFamily="34" charset="0"/>
                <a:ea typeface="Aptos" pitchFamily="34" charset="-122"/>
                <a:cs typeface="Aptos" pitchFamily="34" charset="-120"/>
              </a:rPr>
              <a:t> is only the </a:t>
            </a:r>
            <a:pPr indent="0" marL="0">
              <a:buNone/>
            </a:pPr>
            <a:r>
              <a:rPr lang="en-US" sz="1350" b="1" dirty="0">
                <a:solidFill>
                  <a:srgbClr val="262626"/>
                </a:solidFill>
                <a:latin typeface="Aptos" pitchFamily="34" charset="0"/>
                <a:ea typeface="Aptos" pitchFamily="34" charset="-122"/>
                <a:cs typeface="Aptos" pitchFamily="34" charset="-120"/>
              </a:rPr>
              <a:t>content</a:t>
            </a:r>
            <a:pPr indent="0" marL="0">
              <a:buNone/>
            </a:pPr>
            <a:r>
              <a:rPr lang="en-US" sz="1350" dirty="0">
                <a:solidFill>
                  <a:srgbClr val="262626"/>
                </a:solidFill>
                <a:latin typeface="Aptos" pitchFamily="34" charset="0"/>
                <a:ea typeface="Aptos" pitchFamily="34" charset="-122"/>
                <a:cs typeface="Aptos" pitchFamily="34" charset="-120"/>
              </a:rPr>
              <a:t>. Padding and border are added on top: 346px.</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box-sizing: border-box</a:t>
            </a:r>
            <a:pPr indent="0" marL="0">
              <a:buNone/>
            </a:pPr>
            <a:r>
              <a:rPr lang="en-US" sz="1350" dirty="0">
                <a:solidFill>
                  <a:srgbClr val="262626"/>
                </a:solidFill>
                <a:latin typeface="Aptos" pitchFamily="34" charset="0"/>
                <a:ea typeface="Aptos" pitchFamily="34" charset="-122"/>
                <a:cs typeface="Aptos" pitchFamily="34" charset="-120"/>
              </a:rPr>
              <a:t> makes width include padding and border. Much easier to plan.</a:t>
            </a:r>
            <a:endParaRPr lang="en-US" sz="135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05_box_model_example.html</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5: The Box Model (12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border-box for everything, and no gap around the page</a:t>
            </a:r>
            <a:endParaRPr lang="en-US" sz="1550" dirty="0"/>
          </a:p>
        </p:txBody>
      </p:sp>
      <p:sp>
        <p:nvSpPr>
          <p:cNvPr id="8" name="Text 5"/>
          <p:cNvSpPr txBox="1"/>
          <p:nvPr/>
        </p:nvSpPr>
        <p:spPr>
          <a:xfrm>
            <a:off x="1463040" y="1865376"/>
            <a:ext cx="5029200" cy="4328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 { box-sizing: border-box; }</a:t>
            </a:r>
            <a:pPr indent="0" marL="0">
              <a:buNone/>
            </a:pPr>
            <a:r>
              <a:rPr lang="en-US" sz="1300" dirty="0">
                <a:solidFill>
                  <a:srgbClr val="262626"/>
                </a:solidFill>
                <a:latin typeface="Aptos" pitchFamily="34" charset="0"/>
                <a:ea typeface="Aptos" pitchFamily="34" charset="-122"/>
                <a:cs typeface="Aptos" pitchFamily="34" charset="-120"/>
              </a:rPr>
              <a:t> and </a:t>
            </a:r>
            <a:pPr indent="0" marL="0">
              <a:buNone/>
            </a:pPr>
            <a:r>
              <a:rPr lang="en-US" sz="1300" dirty="0">
                <a:solidFill>
                  <a:srgbClr val="8A2B0B"/>
                </a:solidFill>
                <a:latin typeface="Consolas" pitchFamily="34" charset="0"/>
                <a:ea typeface="Consolas" pitchFamily="34" charset="-122"/>
                <a:cs typeface="Consolas" pitchFamily="34" charset="-120"/>
              </a:rPr>
              <a:t>body { margin: 0; }</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9" name="Shape 6"/>
          <p:cNvSpPr/>
          <p:nvPr/>
        </p:nvSpPr>
        <p:spPr>
          <a:xfrm>
            <a:off x="914400" y="23347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334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316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Centre the main content</a:t>
            </a:r>
            <a:endParaRPr lang="en-US" sz="1550" dirty="0"/>
          </a:p>
        </p:txBody>
      </p:sp>
      <p:sp>
        <p:nvSpPr>
          <p:cNvPr id="12" name="Text 9"/>
          <p:cNvSpPr txBox="1"/>
          <p:nvPr/>
        </p:nvSpPr>
        <p:spPr>
          <a:xfrm>
            <a:off x="1463040" y="2627376"/>
            <a:ext cx="5029200" cy="4328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main</a:t>
            </a:r>
            <a:pPr indent="0" marL="0">
              <a:buNone/>
            </a:pPr>
            <a:r>
              <a:rPr lang="en-US" sz="1300" dirty="0">
                <a:solidFill>
                  <a:srgbClr val="262626"/>
                </a:solidFill>
                <a:latin typeface="Aptos" pitchFamily="34" charset="0"/>
                <a:ea typeface="Aptos" pitchFamily="34" charset="-122"/>
                <a:cs typeface="Aptos" pitchFamily="34" charset="-120"/>
              </a:rPr>
              <a:t>: a </a:t>
            </a:r>
            <a:pPr indent="0" marL="0">
              <a:buNone/>
            </a:pPr>
            <a:r>
              <a:rPr lang="en-US" sz="1300" dirty="0">
                <a:solidFill>
                  <a:srgbClr val="8A2B0B"/>
                </a:solidFill>
                <a:latin typeface="Consolas" pitchFamily="34" charset="0"/>
                <a:ea typeface="Consolas" pitchFamily="34" charset="-122"/>
                <a:cs typeface="Consolas" pitchFamily="34" charset="-120"/>
              </a:rPr>
              <a:t>max-width</a:t>
            </a:r>
            <a:pPr indent="0" marL="0">
              <a:buNone/>
            </a:pPr>
            <a:r>
              <a:rPr lang="en-US" sz="1300" dirty="0">
                <a:solidFill>
                  <a:srgbClr val="262626"/>
                </a:solidFill>
                <a:latin typeface="Aptos" pitchFamily="34" charset="0"/>
                <a:ea typeface="Aptos" pitchFamily="34" charset="-122"/>
                <a:cs typeface="Aptos" pitchFamily="34" charset="-120"/>
              </a:rPr>
              <a:t> and </a:t>
            </a:r>
            <a:pPr indent="0" marL="0">
              <a:buNone/>
            </a:pPr>
            <a:r>
              <a:rPr lang="en-US" sz="1300" dirty="0">
                <a:solidFill>
                  <a:srgbClr val="8A2B0B"/>
                </a:solidFill>
                <a:latin typeface="Consolas" pitchFamily="34" charset="0"/>
                <a:ea typeface="Consolas" pitchFamily="34" charset="-122"/>
                <a:cs typeface="Consolas" pitchFamily="34" charset="-120"/>
              </a:rPr>
              <a:t>margin: 0 auto</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13" name="Shape 10"/>
          <p:cNvSpPr/>
          <p:nvPr/>
        </p:nvSpPr>
        <p:spPr>
          <a:xfrm>
            <a:off x="914400" y="30967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096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078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Turn each menu item into a card</a:t>
            </a:r>
            <a:endParaRPr lang="en-US" sz="1550" dirty="0"/>
          </a:p>
        </p:txBody>
      </p:sp>
      <p:sp>
        <p:nvSpPr>
          <p:cNvPr id="16" name="Text 13"/>
          <p:cNvSpPr txBox="1"/>
          <p:nvPr/>
        </p:nvSpPr>
        <p:spPr>
          <a:xfrm>
            <a:off x="1463040" y="3389376"/>
            <a:ext cx="5029200" cy="4328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#menu article</a:t>
            </a:r>
            <a:pPr indent="0" marL="0">
              <a:buNone/>
            </a:pPr>
            <a:r>
              <a:rPr lang="en-US" sz="1300" dirty="0">
                <a:solidFill>
                  <a:srgbClr val="262626"/>
                </a:solidFill>
                <a:latin typeface="Aptos" pitchFamily="34" charset="0"/>
                <a:ea typeface="Aptos" pitchFamily="34" charset="-122"/>
                <a:cs typeface="Aptos" pitchFamily="34" charset="-120"/>
              </a:rPr>
              <a:t>: white background, border, rounded corners, padding, margin.</a:t>
            </a:r>
            <a:endParaRPr lang="en-US" sz="1300" dirty="0"/>
          </a:p>
        </p:txBody>
      </p:sp>
      <p:sp>
        <p:nvSpPr>
          <p:cNvPr id="17" name="Shape 14"/>
          <p:cNvSpPr/>
          <p:nvPr/>
        </p:nvSpPr>
        <p:spPr>
          <a:xfrm>
            <a:off x="914400" y="3858768"/>
            <a:ext cx="402336" cy="402336"/>
          </a:xfrm>
          <a:prstGeom prst="ellipse">
            <a:avLst/>
          </a:prstGeom>
          <a:solidFill>
            <a:srgbClr val="E97132"/>
          </a:solidFill>
          <a:ln w="12700">
            <a:solidFill>
              <a:srgbClr val="E97132"/>
            </a:solidFill>
            <a:prstDash val="solid"/>
          </a:ln>
        </p:spPr>
      </p:sp>
      <p:sp>
        <p:nvSpPr>
          <p:cNvPr id="18" name="Text 15"/>
          <p:cNvSpPr txBox="1"/>
          <p:nvPr/>
        </p:nvSpPr>
        <p:spPr>
          <a:xfrm>
            <a:off x="914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3840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Padding for the header, footer and aside</a:t>
            </a:r>
            <a:endParaRPr lang="en-US" sz="1550" dirty="0"/>
          </a:p>
        </p:txBody>
      </p:sp>
      <p:sp>
        <p:nvSpPr>
          <p:cNvPr id="20" name="Text 17"/>
          <p:cNvSpPr txBox="1"/>
          <p:nvPr/>
        </p:nvSpPr>
        <p:spPr>
          <a:xfrm>
            <a:off x="1463040" y="4151376"/>
            <a:ext cx="5029200" cy="4328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header, footer { padding: 20px; }</a:t>
            </a:r>
            <a:pPr indent="0" marL="0">
              <a:buNone/>
            </a:pPr>
            <a:r>
              <a:rPr lang="en-US" sz="1300" dirty="0">
                <a:solidFill>
                  <a:srgbClr val="262626"/>
                </a:solidFill>
                <a:latin typeface="Aptos" pitchFamily="34" charset="0"/>
                <a:ea typeface="Aptos" pitchFamily="34" charset="-122"/>
                <a:cs typeface="Aptos" pitchFamily="34" charset="-120"/>
              </a:rPr>
              <a:t> Then try a background on the </a:t>
            </a:r>
            <a:pPr indent="0" marL="0">
              <a:buNone/>
            </a:pPr>
            <a:r>
              <a:rPr lang="en-US" sz="1300" dirty="0">
                <a:solidFill>
                  <a:srgbClr val="8A2B0B"/>
                </a:solidFill>
                <a:latin typeface="Consolas" pitchFamily="34" charset="0"/>
                <a:ea typeface="Consolas" pitchFamily="34" charset="-122"/>
                <a:cs typeface="Consolas" pitchFamily="34" charset="-120"/>
              </a:rPr>
              <a:t>aside</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21" name="Shape 18"/>
          <p:cNvSpPr/>
          <p:nvPr/>
        </p:nvSpPr>
        <p:spPr>
          <a:xfrm>
            <a:off x="914400" y="4620768"/>
            <a:ext cx="402336" cy="402336"/>
          </a:xfrm>
          <a:prstGeom prst="ellipse">
            <a:avLst/>
          </a:prstGeom>
          <a:solidFill>
            <a:srgbClr val="E97132"/>
          </a:solidFill>
          <a:ln w="12700">
            <a:solidFill>
              <a:srgbClr val="E97132"/>
            </a:solidFill>
            <a:prstDash val="solid"/>
          </a:ln>
        </p:spPr>
      </p:sp>
      <p:sp>
        <p:nvSpPr>
          <p:cNvPr id="22" name="Text 19"/>
          <p:cNvSpPr txBox="1"/>
          <p:nvPr/>
        </p:nvSpPr>
        <p:spPr>
          <a:xfrm>
            <a:off x="914400" y="4620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3" name="Text 20"/>
          <p:cNvSpPr txBox="1"/>
          <p:nvPr/>
        </p:nvSpPr>
        <p:spPr>
          <a:xfrm>
            <a:off x="1463040" y="4602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Nav links side by side (sneak peek)</a:t>
            </a:r>
            <a:endParaRPr lang="en-US" sz="1550" dirty="0"/>
          </a:p>
        </p:txBody>
      </p:sp>
      <p:sp>
        <p:nvSpPr>
          <p:cNvPr id="24" name="Text 21"/>
          <p:cNvSpPr txBox="1"/>
          <p:nvPr/>
        </p:nvSpPr>
        <p:spPr>
          <a:xfrm>
            <a:off x="1463040" y="4913376"/>
            <a:ext cx="5029200" cy="4328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Remove the bullets, then </a:t>
            </a:r>
            <a:pPr indent="0" marL="0">
              <a:buNone/>
            </a:pPr>
            <a:r>
              <a:rPr lang="en-US" sz="1300" dirty="0">
                <a:solidFill>
                  <a:srgbClr val="8A2B0B"/>
                </a:solidFill>
                <a:latin typeface="Consolas" pitchFamily="34" charset="0"/>
                <a:ea typeface="Consolas" pitchFamily="34" charset="-122"/>
                <a:cs typeface="Consolas" pitchFamily="34" charset="-120"/>
              </a:rPr>
              <a:t>display: inline</a:t>
            </a:r>
            <a:pPr indent="0" marL="0">
              <a:buNone/>
            </a:pPr>
            <a:r>
              <a:rPr lang="en-US" sz="1300" dirty="0">
                <a:solidFill>
                  <a:srgbClr val="262626"/>
                </a:solidFill>
                <a:latin typeface="Aptos" pitchFamily="34" charset="0"/>
                <a:ea typeface="Aptos" pitchFamily="34" charset="-122"/>
                <a:cs typeface="Aptos" pitchFamily="34" charset="-120"/>
              </a:rPr>
              <a:t> on each </a:t>
            </a:r>
            <a:pPr indent="0" marL="0">
              <a:buNone/>
            </a:pPr>
            <a:r>
              <a:rPr lang="en-US" sz="1300" dirty="0">
                <a:solidFill>
                  <a:srgbClr val="8A2B0B"/>
                </a:solidFill>
                <a:latin typeface="Consolas" pitchFamily="34" charset="0"/>
                <a:ea typeface="Consolas" pitchFamily="34" charset="-122"/>
                <a:cs typeface="Consolas" pitchFamily="34" charset="-120"/>
              </a:rPr>
              <a:t>li</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25" name="Shape 22"/>
          <p:cNvSpPr/>
          <p:nvPr/>
        </p:nvSpPr>
        <p:spPr>
          <a:xfrm>
            <a:off x="914400" y="5382768"/>
            <a:ext cx="402336" cy="402336"/>
          </a:xfrm>
          <a:prstGeom prst="ellipse">
            <a:avLst/>
          </a:prstGeom>
          <a:solidFill>
            <a:srgbClr val="E97132"/>
          </a:solidFill>
          <a:ln w="12700">
            <a:solidFill>
              <a:srgbClr val="E97132"/>
            </a:solidFill>
            <a:prstDash val="solid"/>
          </a:ln>
        </p:spPr>
      </p:sp>
      <p:sp>
        <p:nvSpPr>
          <p:cNvPr id="26" name="Text 23"/>
          <p:cNvSpPr txBox="1"/>
          <p:nvPr/>
        </p:nvSpPr>
        <p:spPr>
          <a:xfrm>
            <a:off x="914400" y="538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6</a:t>
            </a:r>
            <a:endParaRPr lang="en-US" sz="1300" dirty="0"/>
          </a:p>
        </p:txBody>
      </p:sp>
      <p:sp>
        <p:nvSpPr>
          <p:cNvPr id="27" name="Text 24"/>
          <p:cNvSpPr txBox="1"/>
          <p:nvPr/>
        </p:nvSpPr>
        <p:spPr>
          <a:xfrm>
            <a:off x="1463040" y="536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Hmm… did something disappear?</a:t>
            </a:r>
            <a:endParaRPr lang="en-US" sz="1550" dirty="0"/>
          </a:p>
        </p:txBody>
      </p:sp>
      <p:sp>
        <p:nvSpPr>
          <p:cNvPr id="28" name="Text 25"/>
          <p:cNvSpPr txBox="1"/>
          <p:nvPr/>
        </p:nvSpPr>
        <p:spPr>
          <a:xfrm>
            <a:off x="1463040" y="5675376"/>
            <a:ext cx="5029200" cy="4328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Look at the Lobster Roll. Hold that thought until Try It 7!</a:t>
            </a:r>
            <a:endParaRPr lang="en-US" sz="1300" dirty="0"/>
          </a:p>
        </p:txBody>
      </p:sp>
      <p:sp>
        <p:nvSpPr>
          <p:cNvPr id="29" name="Shape 26"/>
          <p:cNvSpPr/>
          <p:nvPr/>
        </p:nvSpPr>
        <p:spPr>
          <a:xfrm>
            <a:off x="6995160" y="1325880"/>
            <a:ext cx="4647895" cy="502920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30" name="Text 27"/>
          <p:cNvSpPr txBox="1"/>
          <p:nvPr/>
        </p:nvSpPr>
        <p:spPr>
          <a:xfrm>
            <a:off x="7223760" y="1435608"/>
            <a:ext cx="4190695"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IN STYLE.CSS</a:t>
            </a:r>
            <a:endParaRPr lang="en-US" sz="1100" dirty="0"/>
          </a:p>
        </p:txBody>
      </p:sp>
      <p:sp>
        <p:nvSpPr>
          <p:cNvPr id="31" name="Text 28"/>
          <p:cNvSpPr txBox="1"/>
          <p:nvPr/>
        </p:nvSpPr>
        <p:spPr>
          <a:xfrm>
            <a:off x="7223760" y="1901952"/>
            <a:ext cx="4190695" cy="4224528"/>
          </a:xfrm>
          <a:prstGeom prst="rect">
            <a:avLst/>
          </a:prstGeom>
          <a:noFill/>
          <a:ln/>
        </p:spPr>
        <p:txBody>
          <a:bodyPr wrap="square" lIns="0" tIns="0" rIns="0" bIns="0" rtlCol="0" anchor="t"/>
          <a:lstStyle/>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box-sizing</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border-box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body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margin</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main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max-width</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900px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margin</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auto</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20px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#menu article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border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1px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solid</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#D0D7DB</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border-radius</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8px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4px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20px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margin-bottom</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16px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nav ul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list-style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none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nav li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display</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inline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margin-right</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24px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C:\Repos\2026-2027\WEBD1000\05_Intro_to_CSS\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365760"/>
            <a:ext cx="5852160" cy="612648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594360"/>
            <a:ext cx="5394960" cy="5669280"/>
          </a:xfrm>
          <a:prstGeom prst="rect">
            <a:avLst/>
          </a:prstGeom>
          <a:noFill/>
          <a:ln/>
        </p:spPr>
        <p:txBody>
          <a:bodyPr wrap="square" lIns="0" tIns="0" rIns="0" bIns="0" rtlCol="0" anchor="t"/>
          <a:lstStyle/>
          <a:p>
            <a:pPr indent="0" marL="0">
              <a:lnSpc>
                <a:spcPct val="100000"/>
              </a:lnSpc>
              <a:buNone/>
            </a:pPr>
            <a:r>
              <a:rPr lang="en-US" sz="1200" dirty="0">
                <a:solidFill>
                  <a:srgbClr val="D7BA7D"/>
                </a:solidFill>
                <a:latin typeface="Consolas" pitchFamily="34" charset="0"/>
                <a:ea typeface="Consolas" pitchFamily="34" charset="-122"/>
                <a:cs typeface="Consolas" pitchFamily="34" charset="-120"/>
              </a:rPr>
              <a:t>body </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font-family</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Arial,</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sans-serif</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indent="0" marL="0">
              <a:lnSpc>
                <a:spcPct val="100000"/>
              </a:lnSpc>
              <a:buNone/>
            </a:pPr>
            <a:r>
              <a:rPr lang="en-US" sz="1200" dirty="0">
                <a:solidFill>
                  <a:srgbClr val="6A9955"/>
                </a:solidFill>
                <a:latin typeface="Consolas" pitchFamily="34" charset="0"/>
                <a:ea typeface="Consolas" pitchFamily="34" charset="-122"/>
                <a:cs typeface="Consolas" pitchFamily="34" charset="-120"/>
              </a:rPr>
              <a:t>/* Never wider than its container, and keep the proportions */</a:t>
            </a:r>
            <a:endParaRPr lang="en-US" sz="1200" dirty="0"/>
          </a:p>
          <a:p>
            <a:pPr indent="0" marL="0">
              <a:lnSpc>
                <a:spcPct val="100000"/>
              </a:lnSpc>
              <a:buNone/>
            </a:pPr>
            <a:r>
              <a:rPr lang="en-US" sz="1200" dirty="0">
                <a:solidFill>
                  <a:srgbClr val="D7BA7D"/>
                </a:solidFill>
                <a:latin typeface="Consolas" pitchFamily="34" charset="0"/>
                <a:ea typeface="Consolas" pitchFamily="34" charset="-122"/>
                <a:cs typeface="Consolas" pitchFamily="34" charset="-120"/>
              </a:rPr>
              <a:t>img </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max-width</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100%</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auto</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indent="0" marL="0">
              <a:lnSpc>
                <a:spcPct val="100000"/>
              </a:lnSpc>
              <a:buNone/>
            </a:pPr>
            <a:r>
              <a:rPr lang="en-US" sz="1200" dirty="0">
                <a:solidFill>
                  <a:srgbClr val="D7BA7D"/>
                </a:solidFill>
                <a:latin typeface="Consolas" pitchFamily="34" charset="0"/>
                <a:ea typeface="Consolas" pitchFamily="34" charset="-122"/>
                <a:cs typeface="Consolas" pitchFamily="34" charset="-120"/>
              </a:rPr>
              <a:t>.hero </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display</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block</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6A9955"/>
                </a:solidFill>
                <a:latin typeface="Consolas" pitchFamily="34" charset="0"/>
                <a:ea typeface="Consolas" pitchFamily="34" charset="-122"/>
                <a:cs typeface="Consolas" pitchFamily="34" charset="-120"/>
              </a:rPr>
              <a:t>/* so margin: auto can centre it */</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80%</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margin</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auto</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border-radius</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12px</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6A9955"/>
                </a:solidFill>
                <a:latin typeface="Consolas" pitchFamily="34" charset="0"/>
                <a:ea typeface="Consolas" pitchFamily="34" charset="-122"/>
                <a:cs typeface="Consolas" pitchFamily="34" charset="-120"/>
              </a:rPr>
              <a:t>/* rounded corners */</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indent="0" marL="0">
              <a:lnSpc>
                <a:spcPct val="100000"/>
              </a:lnSpc>
              <a:buNone/>
            </a:pPr>
            <a:r>
              <a:rPr lang="en-US" sz="1200" dirty="0">
                <a:solidFill>
                  <a:srgbClr val="D7BA7D"/>
                </a:solidFill>
                <a:latin typeface="Consolas" pitchFamily="34" charset="0"/>
                <a:ea typeface="Consolas" pitchFamily="34" charset="-122"/>
                <a:cs typeface="Consolas" pitchFamily="34" charset="-120"/>
              </a:rPr>
              <a:t>figcaption </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text-align</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center</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font-style</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italic</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#595959</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indent="0" marL="0">
              <a:lnSpc>
                <a:spcPct val="100000"/>
              </a:lnSpc>
              <a:buNone/>
            </a:pPr>
            <a:r>
              <a:rPr lang="en-US" sz="1200" dirty="0">
                <a:solidFill>
                  <a:srgbClr val="6A9955"/>
                </a:solidFill>
                <a:latin typeface="Consolas" pitchFamily="34" charset="0"/>
                <a:ea typeface="Consolas" pitchFamily="34" charset="-122"/>
                <a:cs typeface="Consolas" pitchFamily="34" charset="-120"/>
              </a:rPr>
              <a:t>/* A square crop, then a circle */</a:t>
            </a:r>
            <a:endParaRPr lang="en-US" sz="1200" dirty="0"/>
          </a:p>
          <a:p>
            <a:pPr indent="0" marL="0">
              <a:lnSpc>
                <a:spcPct val="100000"/>
              </a:lnSpc>
              <a:buNone/>
            </a:pPr>
            <a:r>
              <a:rPr lang="en-US" sz="1200" dirty="0">
                <a:solidFill>
                  <a:srgbClr val="D7BA7D"/>
                </a:solidFill>
                <a:latin typeface="Consolas" pitchFamily="34" charset="0"/>
                <a:ea typeface="Consolas" pitchFamily="34" charset="-122"/>
                <a:cs typeface="Consolas" pitchFamily="34" charset="-120"/>
              </a:rPr>
              <a:t>.round </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150px</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150px</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object-fit</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cover</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6A9955"/>
                </a:solidFill>
                <a:latin typeface="Consolas" pitchFamily="34" charset="0"/>
                <a:ea typeface="Consolas" pitchFamily="34" charset="-122"/>
                <a:cs typeface="Consolas" pitchFamily="34" charset="-120"/>
              </a:rPr>
              <a:t>/* fill the box, crop the extra */</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border-radius</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50%</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border</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4px</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solid</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#E97132</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CONCEPT 6</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Styling Images</a:t>
            </a:r>
            <a:endParaRPr lang="en-US" sz="3200" dirty="0"/>
          </a:p>
        </p:txBody>
      </p:sp>
      <p:pic>
        <p:nvPicPr>
          <p:cNvPr id="7" name="Image 1" descr="C:\Repos\2026-2027\WEBD1000\05_Intro_to_CSS\_build\shots\ex06.png">    </p:cNvPr>
          <p:cNvPicPr>
            <a:picLocks noChangeAspect="1"/>
          </p:cNvPicPr>
          <p:nvPr/>
        </p:nvPicPr>
        <p:blipFill>
          <a:blip r:embed="rId2"/>
          <a:stretch>
            <a:fillRect/>
          </a:stretch>
        </p:blipFill>
        <p:spPr>
          <a:xfrm>
            <a:off x="6812280" y="3429000"/>
            <a:ext cx="2788920" cy="2788920"/>
          </a:xfrm>
          <a:prstGeom prst="rect">
            <a:avLst/>
          </a:prstGeom>
        </p:spPr>
      </p:pic>
      <p:sp>
        <p:nvSpPr>
          <p:cNvPr id="8" name="Shape 4"/>
          <p:cNvSpPr/>
          <p:nvPr/>
        </p:nvSpPr>
        <p:spPr>
          <a:xfrm>
            <a:off x="6812280" y="3429000"/>
            <a:ext cx="2788920" cy="2788920"/>
          </a:xfrm>
          <a:prstGeom prst="rect">
            <a:avLst/>
          </a:prstGeom>
          <a:ln w="12700">
            <a:solidFill>
              <a:srgbClr val="B0B8BC"/>
            </a:solidFill>
            <a:prstDash val="solid"/>
          </a:ln>
        </p:spPr>
      </p:sp>
      <p:sp>
        <p:nvSpPr>
          <p:cNvPr id="9" name="Text 5"/>
          <p:cNvSpPr txBox="1"/>
          <p:nvPr/>
        </p:nvSpPr>
        <p:spPr>
          <a:xfrm>
            <a:off x="6812280" y="3136392"/>
            <a:ext cx="2788920"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508760"/>
            <a:ext cx="4967935" cy="1536192"/>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max-width: 100%</a:t>
            </a:r>
            <a:pPr indent="0" marL="0">
              <a:buNone/>
            </a:pPr>
            <a:r>
              <a:rPr lang="en-US" sz="1350" dirty="0">
                <a:solidFill>
                  <a:srgbClr val="262626"/>
                </a:solidFill>
                <a:latin typeface="Aptos" pitchFamily="34" charset="0"/>
                <a:ea typeface="Aptos" pitchFamily="34" charset="-122"/>
                <a:cs typeface="Aptos" pitchFamily="34" charset="-120"/>
              </a:rPr>
              <a:t> + </a:t>
            </a:r>
            <a:pPr indent="0" marL="0">
              <a:buNone/>
            </a:pPr>
            <a:r>
              <a:rPr lang="en-US" sz="1350" dirty="0">
                <a:solidFill>
                  <a:srgbClr val="8A2B0B"/>
                </a:solidFill>
                <a:latin typeface="Consolas" pitchFamily="34" charset="0"/>
                <a:ea typeface="Consolas" pitchFamily="34" charset="-122"/>
                <a:cs typeface="Consolas" pitchFamily="34" charset="-120"/>
              </a:rPr>
              <a:t>height: auto</a:t>
            </a:r>
            <a:pPr indent="0" marL="0">
              <a:buNone/>
            </a:pPr>
            <a:r>
              <a:rPr lang="en-US" sz="1350" dirty="0">
                <a:solidFill>
                  <a:srgbClr val="262626"/>
                </a:solidFill>
                <a:latin typeface="Aptos" pitchFamily="34" charset="0"/>
                <a:ea typeface="Aptos" pitchFamily="34" charset="-122"/>
                <a:cs typeface="Aptos" pitchFamily="34" charset="-120"/>
              </a:rPr>
              <a:t>: the image shrinks on small screens and keeps its shape. Use it on every site.</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border-radius</a:t>
            </a:r>
            <a:pPr indent="0" marL="0">
              <a:buNone/>
            </a:pPr>
            <a:r>
              <a:rPr lang="en-US" sz="1350" dirty="0">
                <a:solidFill>
                  <a:srgbClr val="262626"/>
                </a:solidFill>
                <a:latin typeface="Aptos" pitchFamily="34" charset="0"/>
                <a:ea typeface="Aptos" pitchFamily="34" charset="-122"/>
                <a:cs typeface="Aptos" pitchFamily="34" charset="-120"/>
              </a:rPr>
              <a:t> rounds corners. </a:t>
            </a:r>
            <a:pPr indent="0" marL="0">
              <a:buNone/>
            </a:pPr>
            <a:r>
              <a:rPr lang="en-US" sz="1350" dirty="0">
                <a:solidFill>
                  <a:srgbClr val="8A2B0B"/>
                </a:solidFill>
                <a:latin typeface="Consolas" pitchFamily="34" charset="0"/>
                <a:ea typeface="Consolas" pitchFamily="34" charset="-122"/>
                <a:cs typeface="Consolas" pitchFamily="34" charset="-120"/>
              </a:rPr>
              <a:t>50%</a:t>
            </a:r>
            <a:pPr indent="0" marL="0">
              <a:buNone/>
            </a:pPr>
            <a:r>
              <a:rPr lang="en-US" sz="1350" dirty="0">
                <a:solidFill>
                  <a:srgbClr val="262626"/>
                </a:solidFill>
                <a:latin typeface="Aptos" pitchFamily="34" charset="0"/>
                <a:ea typeface="Aptos" pitchFamily="34" charset="-122"/>
                <a:cs typeface="Aptos" pitchFamily="34" charset="-120"/>
              </a:rPr>
              <a:t> on a square = a circle. </a:t>
            </a:r>
            <a:pPr indent="0" marL="0">
              <a:buNone/>
            </a:pPr>
            <a:r>
              <a:rPr lang="en-US" sz="1350" dirty="0">
                <a:solidFill>
                  <a:srgbClr val="8A2B0B"/>
                </a:solidFill>
                <a:latin typeface="Consolas" pitchFamily="34" charset="0"/>
                <a:ea typeface="Consolas" pitchFamily="34" charset="-122"/>
                <a:cs typeface="Consolas" pitchFamily="34" charset="-120"/>
              </a:rPr>
              <a:t>object-fit: cover</a:t>
            </a:r>
            <a:pPr indent="0" marL="0">
              <a:buNone/>
            </a:pPr>
            <a:r>
              <a:rPr lang="en-US" sz="1350" dirty="0">
                <a:solidFill>
                  <a:srgbClr val="262626"/>
                </a:solidFill>
                <a:latin typeface="Aptos" pitchFamily="34" charset="0"/>
                <a:ea typeface="Aptos" pitchFamily="34" charset="-122"/>
                <a:cs typeface="Aptos" pitchFamily="34" charset="-120"/>
              </a:rPr>
              <a:t> crops to fill the box.</a:t>
            </a:r>
            <a:endParaRPr lang="en-US" sz="135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06_styling_images_example.html</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6: Images (8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Make every image flexible</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Then make the browser narrow. Does the photo shrink?</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Round the corners of the main photo</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figure img</a:t>
            </a:r>
            <a:pPr indent="0" marL="0">
              <a:buNone/>
            </a:pPr>
            <a:r>
              <a:rPr lang="en-US" sz="1300" dirty="0">
                <a:solidFill>
                  <a:srgbClr val="262626"/>
                </a:solidFill>
                <a:latin typeface="Aptos" pitchFamily="34" charset="0"/>
                <a:ea typeface="Aptos" pitchFamily="34" charset="-122"/>
                <a:cs typeface="Aptos" pitchFamily="34" charset="-120"/>
              </a:rPr>
              <a:t>: </a:t>
            </a:r>
            <a:pPr indent="0" marL="0">
              <a:buNone/>
            </a:pPr>
            <a:r>
              <a:rPr lang="en-US" sz="1300" dirty="0">
                <a:solidFill>
                  <a:srgbClr val="8A2B0B"/>
                </a:solidFill>
                <a:latin typeface="Consolas" pitchFamily="34" charset="0"/>
                <a:ea typeface="Consolas" pitchFamily="34" charset="-122"/>
                <a:cs typeface="Consolas" pitchFamily="34" charset="-120"/>
              </a:rPr>
              <a:t>display: block</a:t>
            </a:r>
            <a:pPr indent="0" marL="0">
              <a:buNone/>
            </a:pPr>
            <a:r>
              <a:rPr lang="en-US" sz="1300" dirty="0">
                <a:solidFill>
                  <a:srgbClr val="262626"/>
                </a:solidFill>
                <a:latin typeface="Aptos" pitchFamily="34" charset="0"/>
                <a:ea typeface="Aptos" pitchFamily="34" charset="-122"/>
                <a:cs typeface="Aptos" pitchFamily="34" charset="-120"/>
              </a:rPr>
              <a:t> and a </a:t>
            </a:r>
            <a:pPr indent="0" marL="0">
              <a:buNone/>
            </a:pPr>
            <a:r>
              <a:rPr lang="en-US" sz="1300" dirty="0">
                <a:solidFill>
                  <a:srgbClr val="8A2B0B"/>
                </a:solidFill>
                <a:latin typeface="Consolas" pitchFamily="34" charset="0"/>
                <a:ea typeface="Consolas" pitchFamily="34" charset="-122"/>
                <a:cs typeface="Consolas" pitchFamily="34" charset="-120"/>
              </a:rPr>
              <a:t>border-radius</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Use YOUR photo from last class</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Copy </a:t>
            </a:r>
            <a:pPr indent="0" marL="0">
              <a:buNone/>
            </a:pPr>
            <a:r>
              <a:rPr lang="en-US" sz="1300" dirty="0">
                <a:solidFill>
                  <a:srgbClr val="8A2B0B"/>
                </a:solidFill>
                <a:latin typeface="Consolas" pitchFamily="34" charset="0"/>
                <a:ea typeface="Consolas" pitchFamily="34" charset="-122"/>
                <a:cs typeface="Consolas" pitchFamily="34" charset="-120"/>
              </a:rPr>
              <a:t>photo_1200.jpg</a:t>
            </a:r>
            <a:pPr indent="0" marL="0">
              <a:buNone/>
            </a:pPr>
            <a:r>
              <a:rPr lang="en-US" sz="1300" dirty="0">
                <a:solidFill>
                  <a:srgbClr val="262626"/>
                </a:solidFill>
                <a:latin typeface="Aptos" pitchFamily="34" charset="0"/>
                <a:ea typeface="Aptos" pitchFamily="34" charset="-122"/>
                <a:cs typeface="Aptos" pitchFamily="34" charset="-120"/>
              </a:rPr>
              <a:t> into activity/images. Update the </a:t>
            </a:r>
            <a:pPr indent="0" marL="0">
              <a:buNone/>
            </a:pPr>
            <a:r>
              <a:rPr lang="en-US" sz="1300" dirty="0">
                <a:solidFill>
                  <a:srgbClr val="8A2B0B"/>
                </a:solidFill>
                <a:latin typeface="Consolas" pitchFamily="34" charset="0"/>
                <a:ea typeface="Consolas" pitchFamily="34" charset="-122"/>
                <a:cs typeface="Consolas" pitchFamily="34" charset="-120"/>
              </a:rPr>
              <a:t>src</a:t>
            </a:r>
            <a:pPr indent="0" marL="0">
              <a:buNone/>
            </a:pPr>
            <a:r>
              <a:rPr lang="en-US" sz="1300" dirty="0">
                <a:solidFill>
                  <a:srgbClr val="262626"/>
                </a:solidFill>
                <a:latin typeface="Aptos" pitchFamily="34" charset="0"/>
                <a:ea typeface="Aptos" pitchFamily="34" charset="-122"/>
                <a:cs typeface="Aptos" pitchFamily="34" charset="-120"/>
              </a:rPr>
              <a:t>, </a:t>
            </a:r>
            <a:pPr indent="0" marL="0">
              <a:buNone/>
            </a:pPr>
            <a:r>
              <a:rPr lang="en-US" sz="1300" dirty="0">
                <a:solidFill>
                  <a:srgbClr val="8A2B0B"/>
                </a:solidFill>
                <a:latin typeface="Consolas" pitchFamily="34" charset="0"/>
                <a:ea typeface="Consolas" pitchFamily="34" charset="-122"/>
                <a:cs typeface="Consolas" pitchFamily="34" charset="-120"/>
              </a:rPr>
              <a:t>width</a:t>
            </a:r>
            <a:pPr indent="0" marL="0">
              <a:buNone/>
            </a:pPr>
            <a:r>
              <a:rPr lang="en-US" sz="1300" dirty="0">
                <a:solidFill>
                  <a:srgbClr val="262626"/>
                </a:solidFill>
                <a:latin typeface="Aptos" pitchFamily="34" charset="0"/>
                <a:ea typeface="Aptos" pitchFamily="34" charset="-122"/>
                <a:cs typeface="Aptos" pitchFamily="34" charset="-120"/>
              </a:rPr>
              <a:t>, </a:t>
            </a:r>
            <a:pPr indent="0" marL="0">
              <a:buNone/>
            </a:pPr>
            <a:r>
              <a:rPr lang="en-US" sz="1300" dirty="0">
                <a:solidFill>
                  <a:srgbClr val="8A2B0B"/>
                </a:solidFill>
                <a:latin typeface="Consolas" pitchFamily="34" charset="0"/>
                <a:ea typeface="Consolas" pitchFamily="34" charset="-122"/>
                <a:cs typeface="Consolas" pitchFamily="34" charset="-120"/>
              </a:rPr>
              <a:t>height</a:t>
            </a:r>
            <a:pPr indent="0" marL="0">
              <a:buNone/>
            </a:pPr>
            <a:r>
              <a:rPr lang="en-US" sz="1300" dirty="0">
                <a:solidFill>
                  <a:srgbClr val="262626"/>
                </a:solidFill>
                <a:latin typeface="Aptos" pitchFamily="34" charset="0"/>
                <a:ea typeface="Aptos" pitchFamily="34" charset="-122"/>
                <a:cs typeface="Aptos" pitchFamily="34" charset="-120"/>
              </a:rPr>
              <a:t> and </a:t>
            </a:r>
            <a:pPr indent="0" marL="0">
              <a:buNone/>
            </a:pPr>
            <a:r>
              <a:rPr lang="en-US" sz="1300" dirty="0">
                <a:solidFill>
                  <a:srgbClr val="8A2B0B"/>
                </a:solidFill>
                <a:latin typeface="Consolas" pitchFamily="34" charset="0"/>
                <a:ea typeface="Consolas" pitchFamily="34" charset="-122"/>
                <a:cs typeface="Consolas" pitchFamily="34" charset="-120"/>
              </a:rPr>
              <a:t>alt</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sp>
      <p:sp>
        <p:nvSpPr>
          <p:cNvPr id="18" name="Text 15"/>
          <p:cNvSpPr txBox="1"/>
          <p:nvPr/>
        </p:nvSpPr>
        <p:spPr>
          <a:xfrm>
            <a:off x="914400"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Check the download size</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DevTools → Network → Img → reload. Is it under 150 KB?</a:t>
            </a:r>
            <a:endParaRPr lang="en-US" sz="1300" dirty="0"/>
          </a:p>
        </p:txBody>
      </p:sp>
      <p:sp>
        <p:nvSpPr>
          <p:cNvPr id="21" name="Shape 18"/>
          <p:cNvSpPr/>
          <p:nvPr/>
        </p:nvSpPr>
        <p:spPr>
          <a:xfrm>
            <a:off x="914400" y="5230368"/>
            <a:ext cx="402336" cy="402336"/>
          </a:xfrm>
          <a:prstGeom prst="ellipse">
            <a:avLst/>
          </a:prstGeom>
          <a:solidFill>
            <a:srgbClr val="E97132"/>
          </a:solidFill>
          <a:ln w="12700">
            <a:solidFill>
              <a:srgbClr val="E97132"/>
            </a:solidFill>
            <a:prstDash val="solid"/>
          </a:ln>
        </p:spPr>
      </p:sp>
      <p:sp>
        <p:nvSpPr>
          <p:cNvPr id="22" name="Text 19"/>
          <p:cNvSpPr txBox="1"/>
          <p:nvPr/>
        </p:nvSpPr>
        <p:spPr>
          <a:xfrm>
            <a:off x="914400" y="52303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3" name="Text 20"/>
          <p:cNvSpPr txBox="1"/>
          <p:nvPr/>
        </p:nvSpPr>
        <p:spPr>
          <a:xfrm>
            <a:off x="1463040" y="52120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Bonus: a round thumbnail</a:t>
            </a:r>
            <a:endParaRPr lang="en-US" sz="1550" dirty="0"/>
          </a:p>
        </p:txBody>
      </p:sp>
      <p:sp>
        <p:nvSpPr>
          <p:cNvPr id="24" name="Text 21"/>
          <p:cNvSpPr txBox="1"/>
          <p:nvPr/>
        </p:nvSpPr>
        <p:spPr>
          <a:xfrm>
            <a:off x="1463040" y="55229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object-fit: cover</a:t>
            </a:r>
            <a:pPr indent="0" marL="0">
              <a:buNone/>
            </a:pPr>
            <a:r>
              <a:rPr lang="en-US" sz="1300" dirty="0">
                <a:solidFill>
                  <a:srgbClr val="262626"/>
                </a:solidFill>
                <a:latin typeface="Aptos" pitchFamily="34" charset="0"/>
                <a:ea typeface="Aptos" pitchFamily="34" charset="-122"/>
                <a:cs typeface="Aptos" pitchFamily="34" charset="-120"/>
              </a:rPr>
              <a:t> and </a:t>
            </a:r>
            <a:pPr indent="0" marL="0">
              <a:buNone/>
            </a:pPr>
            <a:r>
              <a:rPr lang="en-US" sz="1300" dirty="0">
                <a:solidFill>
                  <a:srgbClr val="8A2B0B"/>
                </a:solidFill>
                <a:latin typeface="Consolas" pitchFamily="34" charset="0"/>
                <a:ea typeface="Consolas" pitchFamily="34" charset="-122"/>
                <a:cs typeface="Consolas" pitchFamily="34" charset="-120"/>
              </a:rPr>
              <a:t>border-radius: 50%</a:t>
            </a:r>
            <a:pPr indent="0" marL="0">
              <a:buNone/>
            </a:pPr>
            <a:r>
              <a:rPr lang="en-US" sz="1300" dirty="0">
                <a:solidFill>
                  <a:srgbClr val="262626"/>
                </a:solidFill>
                <a:latin typeface="Aptos" pitchFamily="34" charset="0"/>
                <a:ea typeface="Aptos" pitchFamily="34" charset="-122"/>
                <a:cs typeface="Aptos" pitchFamily="34" charset="-120"/>
              </a:rPr>
              <a:t>, like Example 06.</a:t>
            </a:r>
            <a:endParaRPr lang="en-US" sz="1300" dirty="0"/>
          </a:p>
        </p:txBody>
      </p:sp>
      <p:sp>
        <p:nvSpPr>
          <p:cNvPr id="25" name="Shape 22"/>
          <p:cNvSpPr/>
          <p:nvPr/>
        </p:nvSpPr>
        <p:spPr>
          <a:xfrm>
            <a:off x="6995160" y="1325880"/>
            <a:ext cx="4647895" cy="39776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26" name="Text 23"/>
          <p:cNvSpPr txBox="1"/>
          <p:nvPr/>
        </p:nvSpPr>
        <p:spPr>
          <a:xfrm>
            <a:off x="7223760" y="1435608"/>
            <a:ext cx="4190695"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IN STYLE.CSS</a:t>
            </a:r>
            <a:endParaRPr lang="en-US" sz="1100" dirty="0"/>
          </a:p>
        </p:txBody>
      </p:sp>
      <p:sp>
        <p:nvSpPr>
          <p:cNvPr id="27" name="Text 24"/>
          <p:cNvSpPr txBox="1"/>
          <p:nvPr/>
        </p:nvSpPr>
        <p:spPr>
          <a:xfrm>
            <a:off x="7223760" y="1901952"/>
            <a:ext cx="4190695" cy="3172968"/>
          </a:xfrm>
          <a:prstGeom prst="rect">
            <a:avLst/>
          </a:prstGeom>
          <a:noFill/>
          <a:ln/>
        </p:spPr>
        <p:txBody>
          <a:bodyPr wrap="square" lIns="0" tIns="0" rIns="0" bIns="0" rtlCol="0" anchor="t"/>
          <a:lstStyle/>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img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max-width</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B5CEA8"/>
                </a:solidFill>
                <a:latin typeface="Consolas" pitchFamily="34" charset="0"/>
                <a:ea typeface="Consolas" pitchFamily="34" charset="-122"/>
                <a:cs typeface="Consolas" pitchFamily="34" charset="-120"/>
              </a:rPr>
              <a:t>100%</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auto</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figure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margin</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B5CEA8"/>
                </a:solidFill>
                <a:latin typeface="Consolas" pitchFamily="34" charset="0"/>
                <a:ea typeface="Consolas" pitchFamily="34" charset="-122"/>
                <a:cs typeface="Consolas" pitchFamily="34" charset="-120"/>
              </a:rPr>
              <a:t>16px</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figure img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display</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block</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border-radius</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B5CEA8"/>
                </a:solidFill>
                <a:latin typeface="Consolas" pitchFamily="34" charset="0"/>
                <a:ea typeface="Consolas" pitchFamily="34" charset="-122"/>
                <a:cs typeface="Consolas" pitchFamily="34" charset="-120"/>
              </a:rPr>
              <a:t>12px</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p:txBody>
      </p:sp>
      <p:sp>
        <p:nvSpPr>
          <p:cNvPr id="28" name="Shape 25"/>
          <p:cNvSpPr/>
          <p:nvPr/>
        </p:nvSpPr>
        <p:spPr>
          <a:xfrm>
            <a:off x="6995160" y="5486400"/>
            <a:ext cx="4647895" cy="868680"/>
          </a:xfrm>
          <a:prstGeom prst="roundRect">
            <a:avLst>
              <a:gd name="adj" fmla="val 12632"/>
            </a:avLst>
          </a:prstGeom>
          <a:solidFill>
            <a:srgbClr val="FBE9DF"/>
          </a:solidFill>
          <a:ln w="9525">
            <a:solidFill>
              <a:srgbClr val="F2C6AC"/>
            </a:solidFill>
            <a:prstDash val="solid"/>
          </a:ln>
          <a:effectLst>
            <a:outerShdw sx="100000" sy="100000" kx="0" ky="0" algn="bl" rotWithShape="0" blurRad="76200" dist="25400" dir="5400000">
              <a:srgbClr val="000000">
                <a:alpha val="12000"/>
              </a:srgbClr>
            </a:outerShdw>
          </a:effectLst>
        </p:spPr>
      </p:sp>
      <p:sp>
        <p:nvSpPr>
          <p:cNvPr id="29" name="Text 26"/>
          <p:cNvSpPr txBox="1"/>
          <p:nvPr/>
        </p:nvSpPr>
        <p:spPr>
          <a:xfrm>
            <a:off x="7223760" y="5486400"/>
            <a:ext cx="4190695" cy="868680"/>
          </a:xfrm>
          <a:prstGeom prst="rect">
            <a:avLst/>
          </a:prstGeom>
          <a:noFill/>
          <a:ln/>
        </p:spPr>
        <p:txBody>
          <a:bodyPr wrap="square" lIns="0" tIns="0" rIns="0" bIns="0" rtlCol="0" anchor="ctr"/>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Your photo's width and height are in File Explorer → Properties → Details (Lab 1).</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Concept 7: The Cascade — Who Wins?</a:t>
            </a:r>
            <a:endParaRPr lang="en-US" sz="2800" dirty="0"/>
          </a:p>
        </p:txBody>
      </p:sp>
      <p:sp>
        <p:nvSpPr>
          <p:cNvPr id="7" name="Shape 4"/>
          <p:cNvSpPr/>
          <p:nvPr/>
        </p:nvSpPr>
        <p:spPr>
          <a:xfrm>
            <a:off x="4754880" y="1783080"/>
            <a:ext cx="3291840" cy="621792"/>
          </a:xfrm>
          <a:prstGeom prst="roundRect">
            <a:avLst>
              <a:gd name="adj" fmla="val 17647"/>
            </a:avLst>
          </a:prstGeom>
          <a:solidFill>
            <a:srgbClr val="C62828"/>
          </a:solidFill>
          <a:ln w="9525">
            <a:solidFill>
              <a:srgbClr val="C62828"/>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4937760" y="1783080"/>
            <a:ext cx="1463040" cy="621792"/>
          </a:xfrm>
          <a:prstGeom prst="rect">
            <a:avLst/>
          </a:prstGeom>
          <a:noFill/>
          <a:ln/>
        </p:spPr>
        <p:txBody>
          <a:bodyPr wrap="square" lIns="0" tIns="0" rIns="0" bIns="0" rtlCol="0" anchor="ctr"/>
          <a:lstStyle/>
          <a:p>
            <a:pPr indent="0" marL="0">
              <a:buNone/>
            </a:pPr>
            <a:r>
              <a:rPr lang="en-US" sz="1600" b="1" dirty="0">
                <a:solidFill>
                  <a:srgbClr val="FFFFFF"/>
                </a:solidFill>
                <a:latin typeface="Aptos" pitchFamily="34" charset="0"/>
                <a:ea typeface="Aptos" pitchFamily="34" charset="-122"/>
                <a:cs typeface="Aptos" pitchFamily="34" charset="-120"/>
              </a:rPr>
              <a:t>Inline style</a:t>
            </a:r>
            <a:endParaRPr lang="en-US" sz="1600" dirty="0"/>
          </a:p>
        </p:txBody>
      </p:sp>
      <p:sp>
        <p:nvSpPr>
          <p:cNvPr id="9" name="Text 6"/>
          <p:cNvSpPr txBox="1"/>
          <p:nvPr/>
        </p:nvSpPr>
        <p:spPr>
          <a:xfrm>
            <a:off x="6355080" y="1783080"/>
            <a:ext cx="1600200" cy="621792"/>
          </a:xfrm>
          <a:prstGeom prst="rect">
            <a:avLst/>
          </a:prstGeom>
          <a:noFill/>
          <a:ln/>
        </p:spPr>
        <p:txBody>
          <a:bodyPr wrap="square" lIns="0" tIns="0" rIns="0" bIns="0" rtlCol="0" anchor="ctr"/>
          <a:lstStyle/>
          <a:p>
            <a:pPr indent="0" marL="0">
              <a:buNone/>
            </a:pPr>
            <a:r>
              <a:rPr lang="en-US" sz="1300" b="1" dirty="0">
                <a:solidFill>
                  <a:srgbClr val="FFFFFF"/>
                </a:solidFill>
                <a:latin typeface="Consolas" pitchFamily="34" charset="0"/>
                <a:ea typeface="Consolas" pitchFamily="34" charset="-122"/>
                <a:cs typeface="Consolas" pitchFamily="34" charset="-120"/>
              </a:rPr>
              <a:t>style="…"</a:t>
            </a:r>
            <a:endParaRPr lang="en-US" sz="1300" dirty="0"/>
          </a:p>
        </p:txBody>
      </p:sp>
      <p:sp>
        <p:nvSpPr>
          <p:cNvPr id="10" name="Shape 7"/>
          <p:cNvSpPr/>
          <p:nvPr/>
        </p:nvSpPr>
        <p:spPr>
          <a:xfrm>
            <a:off x="4754880" y="2532888"/>
            <a:ext cx="2971800" cy="621792"/>
          </a:xfrm>
          <a:prstGeom prst="roundRect">
            <a:avLst>
              <a:gd name="adj" fmla="val 17647"/>
            </a:avLst>
          </a:prstGeom>
          <a:solidFill>
            <a:srgbClr val="A02B93"/>
          </a:solidFill>
          <a:ln w="9525">
            <a:solidFill>
              <a:srgbClr val="A02B93"/>
            </a:solidFill>
            <a:prstDash val="solid"/>
          </a:ln>
          <a:effectLst>
            <a:outerShdw sx="100000" sy="100000" kx="0" ky="0" algn="bl" rotWithShape="0" blurRad="76200" dist="25400" dir="5400000">
              <a:srgbClr val="000000">
                <a:alpha val="12000"/>
              </a:srgbClr>
            </a:outerShdw>
          </a:effectLst>
        </p:spPr>
      </p:sp>
      <p:sp>
        <p:nvSpPr>
          <p:cNvPr id="11" name="Text 8"/>
          <p:cNvSpPr txBox="1"/>
          <p:nvPr/>
        </p:nvSpPr>
        <p:spPr>
          <a:xfrm>
            <a:off x="4937760" y="2532888"/>
            <a:ext cx="1463040" cy="621792"/>
          </a:xfrm>
          <a:prstGeom prst="rect">
            <a:avLst/>
          </a:prstGeom>
          <a:noFill/>
          <a:ln/>
        </p:spPr>
        <p:txBody>
          <a:bodyPr wrap="square" lIns="0" tIns="0" rIns="0" bIns="0" rtlCol="0" anchor="ctr"/>
          <a:lstStyle/>
          <a:p>
            <a:pPr indent="0" marL="0">
              <a:buNone/>
            </a:pPr>
            <a:r>
              <a:rPr lang="en-US" sz="1600" b="1" dirty="0">
                <a:solidFill>
                  <a:srgbClr val="FFFFFF"/>
                </a:solidFill>
                <a:latin typeface="Aptos" pitchFamily="34" charset="0"/>
                <a:ea typeface="Aptos" pitchFamily="34" charset="-122"/>
                <a:cs typeface="Aptos" pitchFamily="34" charset="-120"/>
              </a:rPr>
              <a:t>ID</a:t>
            </a:r>
            <a:endParaRPr lang="en-US" sz="1600" dirty="0"/>
          </a:p>
        </p:txBody>
      </p:sp>
      <p:sp>
        <p:nvSpPr>
          <p:cNvPr id="12" name="Text 9"/>
          <p:cNvSpPr txBox="1"/>
          <p:nvPr/>
        </p:nvSpPr>
        <p:spPr>
          <a:xfrm>
            <a:off x="6355080" y="2532888"/>
            <a:ext cx="1280160" cy="621792"/>
          </a:xfrm>
          <a:prstGeom prst="rect">
            <a:avLst/>
          </a:prstGeom>
          <a:noFill/>
          <a:ln/>
        </p:spPr>
        <p:txBody>
          <a:bodyPr wrap="square" lIns="0" tIns="0" rIns="0" bIns="0" rtlCol="0" anchor="ctr"/>
          <a:lstStyle/>
          <a:p>
            <a:pPr indent="0" marL="0">
              <a:buNone/>
            </a:pPr>
            <a:r>
              <a:rPr lang="en-US" sz="1300" b="1" dirty="0">
                <a:solidFill>
                  <a:srgbClr val="FFFFFF"/>
                </a:solidFill>
                <a:latin typeface="Consolas" pitchFamily="34" charset="0"/>
                <a:ea typeface="Consolas" pitchFamily="34" charset="-122"/>
                <a:cs typeface="Consolas" pitchFamily="34" charset="-120"/>
              </a:rPr>
              <a:t>#special</a:t>
            </a:r>
            <a:endParaRPr lang="en-US" sz="1300" dirty="0"/>
          </a:p>
        </p:txBody>
      </p:sp>
      <p:sp>
        <p:nvSpPr>
          <p:cNvPr id="13" name="Shape 10"/>
          <p:cNvSpPr/>
          <p:nvPr/>
        </p:nvSpPr>
        <p:spPr>
          <a:xfrm>
            <a:off x="4754880" y="3282696"/>
            <a:ext cx="2651760" cy="621792"/>
          </a:xfrm>
          <a:prstGeom prst="roundRect">
            <a:avLst>
              <a:gd name="adj" fmla="val 17647"/>
            </a:avLst>
          </a:prstGeom>
          <a:solidFill>
            <a:srgbClr val="E97132"/>
          </a:solidFill>
          <a:ln w="9525">
            <a:solidFill>
              <a:srgbClr val="E97132"/>
            </a:solidFill>
            <a:prstDash val="solid"/>
          </a:ln>
          <a:effectLst>
            <a:outerShdw sx="100000" sy="100000" kx="0" ky="0" algn="bl" rotWithShape="0" blurRad="76200" dist="25400" dir="5400000">
              <a:srgbClr val="000000">
                <a:alpha val="12000"/>
              </a:srgbClr>
            </a:outerShdw>
          </a:effectLst>
        </p:spPr>
      </p:sp>
      <p:sp>
        <p:nvSpPr>
          <p:cNvPr id="14" name="Text 11"/>
          <p:cNvSpPr txBox="1"/>
          <p:nvPr/>
        </p:nvSpPr>
        <p:spPr>
          <a:xfrm>
            <a:off x="4937760" y="3282696"/>
            <a:ext cx="1463040" cy="621792"/>
          </a:xfrm>
          <a:prstGeom prst="rect">
            <a:avLst/>
          </a:prstGeom>
          <a:noFill/>
          <a:ln/>
        </p:spPr>
        <p:txBody>
          <a:bodyPr wrap="square" lIns="0" tIns="0" rIns="0" bIns="0" rtlCol="0" anchor="ctr"/>
          <a:lstStyle/>
          <a:p>
            <a:pPr indent="0" marL="0">
              <a:buNone/>
            </a:pPr>
            <a:r>
              <a:rPr lang="en-US" sz="1600" b="1" dirty="0">
                <a:solidFill>
                  <a:srgbClr val="FFFFFF"/>
                </a:solidFill>
                <a:latin typeface="Aptos" pitchFamily="34" charset="0"/>
                <a:ea typeface="Aptos" pitchFamily="34" charset="-122"/>
                <a:cs typeface="Aptos" pitchFamily="34" charset="-120"/>
              </a:rPr>
              <a:t>Class</a:t>
            </a:r>
            <a:endParaRPr lang="en-US" sz="1600" dirty="0"/>
          </a:p>
        </p:txBody>
      </p:sp>
      <p:sp>
        <p:nvSpPr>
          <p:cNvPr id="15" name="Text 12"/>
          <p:cNvSpPr txBox="1"/>
          <p:nvPr/>
        </p:nvSpPr>
        <p:spPr>
          <a:xfrm>
            <a:off x="6355080" y="3282696"/>
            <a:ext cx="960120" cy="621792"/>
          </a:xfrm>
          <a:prstGeom prst="rect">
            <a:avLst/>
          </a:prstGeom>
          <a:noFill/>
          <a:ln/>
        </p:spPr>
        <p:txBody>
          <a:bodyPr wrap="square" lIns="0" tIns="0" rIns="0" bIns="0" rtlCol="0" anchor="ctr"/>
          <a:lstStyle/>
          <a:p>
            <a:pPr indent="0" marL="0">
              <a:buNone/>
            </a:pPr>
            <a:r>
              <a:rPr lang="en-US" sz="1300" b="1" dirty="0">
                <a:solidFill>
                  <a:srgbClr val="FFFFFF"/>
                </a:solidFill>
                <a:latin typeface="Consolas" pitchFamily="34" charset="0"/>
                <a:ea typeface="Consolas" pitchFamily="34" charset="-122"/>
                <a:cs typeface="Consolas" pitchFamily="34" charset="-120"/>
              </a:rPr>
              <a:t>.notice</a:t>
            </a:r>
            <a:endParaRPr lang="en-US" sz="1300" dirty="0"/>
          </a:p>
        </p:txBody>
      </p:sp>
      <p:sp>
        <p:nvSpPr>
          <p:cNvPr id="16" name="Shape 13"/>
          <p:cNvSpPr/>
          <p:nvPr/>
        </p:nvSpPr>
        <p:spPr>
          <a:xfrm>
            <a:off x="4754880" y="4032504"/>
            <a:ext cx="2331720" cy="621792"/>
          </a:xfrm>
          <a:prstGeom prst="roundRect">
            <a:avLst>
              <a:gd name="adj" fmla="val 17647"/>
            </a:avLst>
          </a:prstGeom>
          <a:solidFill>
            <a:srgbClr val="1B5E82"/>
          </a:solidFill>
          <a:ln w="9525">
            <a:solidFill>
              <a:srgbClr val="1B5E82"/>
            </a:solidFill>
            <a:prstDash val="solid"/>
          </a:ln>
          <a:effectLst>
            <a:outerShdw sx="100000" sy="100000" kx="0" ky="0" algn="bl" rotWithShape="0" blurRad="76200" dist="25400" dir="5400000">
              <a:srgbClr val="000000">
                <a:alpha val="12000"/>
              </a:srgbClr>
            </a:outerShdw>
          </a:effectLst>
        </p:spPr>
      </p:sp>
      <p:sp>
        <p:nvSpPr>
          <p:cNvPr id="17" name="Text 14"/>
          <p:cNvSpPr txBox="1"/>
          <p:nvPr/>
        </p:nvSpPr>
        <p:spPr>
          <a:xfrm>
            <a:off x="4937760" y="4032504"/>
            <a:ext cx="1463040" cy="621792"/>
          </a:xfrm>
          <a:prstGeom prst="rect">
            <a:avLst/>
          </a:prstGeom>
          <a:noFill/>
          <a:ln/>
        </p:spPr>
        <p:txBody>
          <a:bodyPr wrap="square" lIns="0" tIns="0" rIns="0" bIns="0" rtlCol="0" anchor="ctr"/>
          <a:lstStyle/>
          <a:p>
            <a:pPr indent="0" marL="0">
              <a:buNone/>
            </a:pPr>
            <a:r>
              <a:rPr lang="en-US" sz="1600" b="1" dirty="0">
                <a:solidFill>
                  <a:srgbClr val="FFFFFF"/>
                </a:solidFill>
                <a:latin typeface="Aptos" pitchFamily="34" charset="0"/>
                <a:ea typeface="Aptos" pitchFamily="34" charset="-122"/>
                <a:cs typeface="Aptos" pitchFamily="34" charset="-120"/>
              </a:rPr>
              <a:t>Element</a:t>
            </a:r>
            <a:endParaRPr lang="en-US" sz="1600" dirty="0"/>
          </a:p>
        </p:txBody>
      </p:sp>
      <p:sp>
        <p:nvSpPr>
          <p:cNvPr id="18" name="Text 15"/>
          <p:cNvSpPr txBox="1"/>
          <p:nvPr/>
        </p:nvSpPr>
        <p:spPr>
          <a:xfrm>
            <a:off x="6355080" y="4032504"/>
            <a:ext cx="640080" cy="621792"/>
          </a:xfrm>
          <a:prstGeom prst="rect">
            <a:avLst/>
          </a:prstGeom>
          <a:noFill/>
          <a:ln/>
        </p:spPr>
        <p:txBody>
          <a:bodyPr wrap="square" lIns="0" tIns="0" rIns="0" bIns="0" rtlCol="0" anchor="ctr"/>
          <a:lstStyle/>
          <a:p>
            <a:pPr indent="0" marL="0">
              <a:buNone/>
            </a:pPr>
            <a:r>
              <a:rPr lang="en-US" sz="1300" b="1" dirty="0">
                <a:solidFill>
                  <a:srgbClr val="FFFFFF"/>
                </a:solidFill>
                <a:latin typeface="Consolas" pitchFamily="34" charset="0"/>
                <a:ea typeface="Consolas" pitchFamily="34" charset="-122"/>
                <a:cs typeface="Consolas" pitchFamily="34" charset="-120"/>
              </a:rPr>
              <a:t>p</a:t>
            </a:r>
            <a:endParaRPr lang="en-US" sz="1300" dirty="0"/>
          </a:p>
        </p:txBody>
      </p:sp>
      <p:sp>
        <p:nvSpPr>
          <p:cNvPr id="19" name="Shape 16"/>
          <p:cNvSpPr/>
          <p:nvPr/>
        </p:nvSpPr>
        <p:spPr>
          <a:xfrm>
            <a:off x="8412480" y="1783080"/>
            <a:ext cx="384048" cy="384048"/>
          </a:xfrm>
          <a:prstGeom prst="ellipse">
            <a:avLst/>
          </a:prstGeom>
          <a:solidFill>
            <a:srgbClr val="262626"/>
          </a:solidFill>
          <a:ln w="12700">
            <a:solidFill>
              <a:srgbClr val="262626"/>
            </a:solidFill>
            <a:prstDash val="solid"/>
          </a:ln>
        </p:spPr>
      </p:sp>
      <p:sp>
        <p:nvSpPr>
          <p:cNvPr id="20" name="Text 17"/>
          <p:cNvSpPr txBox="1"/>
          <p:nvPr/>
        </p:nvSpPr>
        <p:spPr>
          <a:xfrm>
            <a:off x="8412480" y="1783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21" name="Text 18"/>
          <p:cNvSpPr txBox="1"/>
          <p:nvPr/>
        </p:nvSpPr>
        <p:spPr>
          <a:xfrm>
            <a:off x="8915400" y="1764792"/>
            <a:ext cx="2743200" cy="320040"/>
          </a:xfrm>
          <a:prstGeom prst="rect">
            <a:avLst/>
          </a:prstGeom>
          <a:noFill/>
          <a:ln/>
        </p:spPr>
        <p:txBody>
          <a:bodyPr wrap="square" lIns="0" tIns="0" rIns="0" bIns="0" rtlCol="0" anchor="ctr"/>
          <a:lstStyle/>
          <a:p>
            <a:pPr indent="0" marL="0">
              <a:buNone/>
            </a:pPr>
            <a:r>
              <a:rPr lang="en-US" sz="1500" b="1" dirty="0">
                <a:solidFill>
                  <a:srgbClr val="000000"/>
                </a:solidFill>
                <a:latin typeface="Aptos" pitchFamily="34" charset="0"/>
                <a:ea typeface="Aptos" pitchFamily="34" charset="-122"/>
                <a:cs typeface="Aptos" pitchFamily="34" charset="-120"/>
              </a:rPr>
              <a:t>More specific wins</a:t>
            </a:r>
            <a:endParaRPr lang="en-US" sz="1500" dirty="0"/>
          </a:p>
        </p:txBody>
      </p:sp>
      <p:sp>
        <p:nvSpPr>
          <p:cNvPr id="22" name="Text 19"/>
          <p:cNvSpPr txBox="1"/>
          <p:nvPr/>
        </p:nvSpPr>
        <p:spPr>
          <a:xfrm>
            <a:off x="8915400" y="2084832"/>
            <a:ext cx="2743200" cy="640080"/>
          </a:xfrm>
          <a:prstGeom prst="rect">
            <a:avLst/>
          </a:prstGeom>
          <a:noFill/>
          <a:ln/>
        </p:spPr>
        <p:txBody>
          <a:bodyPr wrap="square" lIns="0" tIns="0" rIns="0" bIns="0" rtlCol="0" anchor="t"/>
          <a:lstStyle/>
          <a:p>
            <a:pPr indent="0" marL="0">
              <a:buNone/>
            </a:pPr>
            <a:r>
              <a:rPr lang="en-US" sz="1250" dirty="0">
                <a:solidFill>
                  <a:srgbClr val="262626"/>
                </a:solidFill>
                <a:latin typeface="Aptos" pitchFamily="34" charset="0"/>
                <a:ea typeface="Aptos" pitchFamily="34" charset="-122"/>
                <a:cs typeface="Aptos" pitchFamily="34" charset="-120"/>
              </a:rPr>
              <a:t>Inline beats id beats class beats element.</a:t>
            </a:r>
            <a:endParaRPr lang="en-US" sz="1250" dirty="0"/>
          </a:p>
        </p:txBody>
      </p:sp>
      <p:sp>
        <p:nvSpPr>
          <p:cNvPr id="23" name="Shape 20"/>
          <p:cNvSpPr/>
          <p:nvPr/>
        </p:nvSpPr>
        <p:spPr>
          <a:xfrm>
            <a:off x="8412480" y="2788920"/>
            <a:ext cx="384048" cy="384048"/>
          </a:xfrm>
          <a:prstGeom prst="ellipse">
            <a:avLst/>
          </a:prstGeom>
          <a:solidFill>
            <a:srgbClr val="262626"/>
          </a:solidFill>
          <a:ln w="12700">
            <a:solidFill>
              <a:srgbClr val="262626"/>
            </a:solidFill>
            <a:prstDash val="solid"/>
          </a:ln>
        </p:spPr>
      </p:sp>
      <p:sp>
        <p:nvSpPr>
          <p:cNvPr id="24" name="Text 21"/>
          <p:cNvSpPr txBox="1"/>
          <p:nvPr/>
        </p:nvSpPr>
        <p:spPr>
          <a:xfrm>
            <a:off x="8412480" y="2788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25" name="Text 22"/>
          <p:cNvSpPr txBox="1"/>
          <p:nvPr/>
        </p:nvSpPr>
        <p:spPr>
          <a:xfrm>
            <a:off x="8915400" y="2770632"/>
            <a:ext cx="2743200" cy="320040"/>
          </a:xfrm>
          <a:prstGeom prst="rect">
            <a:avLst/>
          </a:prstGeom>
          <a:noFill/>
          <a:ln/>
        </p:spPr>
        <p:txBody>
          <a:bodyPr wrap="square" lIns="0" tIns="0" rIns="0" bIns="0" rtlCol="0" anchor="ctr"/>
          <a:lstStyle/>
          <a:p>
            <a:pPr indent="0" marL="0">
              <a:buNone/>
            </a:pPr>
            <a:r>
              <a:rPr lang="en-US" sz="1500" b="1" dirty="0">
                <a:solidFill>
                  <a:srgbClr val="000000"/>
                </a:solidFill>
                <a:latin typeface="Aptos" pitchFamily="34" charset="0"/>
                <a:ea typeface="Aptos" pitchFamily="34" charset="-122"/>
                <a:cs typeface="Aptos" pitchFamily="34" charset="-120"/>
              </a:rPr>
              <a:t>A tie? The later rule wins</a:t>
            </a:r>
            <a:endParaRPr lang="en-US" sz="1500" dirty="0"/>
          </a:p>
        </p:txBody>
      </p:sp>
      <p:sp>
        <p:nvSpPr>
          <p:cNvPr id="26" name="Text 23"/>
          <p:cNvSpPr txBox="1"/>
          <p:nvPr/>
        </p:nvSpPr>
        <p:spPr>
          <a:xfrm>
            <a:off x="8915400" y="3090672"/>
            <a:ext cx="2743200" cy="640080"/>
          </a:xfrm>
          <a:prstGeom prst="rect">
            <a:avLst/>
          </a:prstGeom>
          <a:noFill/>
          <a:ln/>
        </p:spPr>
        <p:txBody>
          <a:bodyPr wrap="square" lIns="0" tIns="0" rIns="0" bIns="0" rtlCol="0" anchor="t"/>
          <a:lstStyle/>
          <a:p>
            <a:pPr indent="0" marL="0">
              <a:buNone/>
            </a:pPr>
            <a:r>
              <a:rPr lang="en-US" sz="1250" dirty="0">
                <a:solidFill>
                  <a:srgbClr val="262626"/>
                </a:solidFill>
                <a:latin typeface="Aptos" pitchFamily="34" charset="0"/>
                <a:ea typeface="Aptos" pitchFamily="34" charset="-122"/>
                <a:cs typeface="Aptos" pitchFamily="34" charset="-120"/>
              </a:rPr>
              <a:t>Same specificity: whichever comes last in the file.</a:t>
            </a:r>
            <a:endParaRPr lang="en-US" sz="1250" dirty="0"/>
          </a:p>
        </p:txBody>
      </p:sp>
      <p:sp>
        <p:nvSpPr>
          <p:cNvPr id="27" name="Shape 24"/>
          <p:cNvSpPr/>
          <p:nvPr/>
        </p:nvSpPr>
        <p:spPr>
          <a:xfrm>
            <a:off x="8412480" y="3794760"/>
            <a:ext cx="384048" cy="384048"/>
          </a:xfrm>
          <a:prstGeom prst="ellipse">
            <a:avLst/>
          </a:prstGeom>
          <a:solidFill>
            <a:srgbClr val="262626"/>
          </a:solidFill>
          <a:ln w="12700">
            <a:solidFill>
              <a:srgbClr val="262626"/>
            </a:solidFill>
            <a:prstDash val="solid"/>
          </a:ln>
        </p:spPr>
      </p:sp>
      <p:sp>
        <p:nvSpPr>
          <p:cNvPr id="28" name="Text 25"/>
          <p:cNvSpPr txBox="1"/>
          <p:nvPr/>
        </p:nvSpPr>
        <p:spPr>
          <a:xfrm>
            <a:off x="8412480" y="3794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9" name="Text 26"/>
          <p:cNvSpPr txBox="1"/>
          <p:nvPr/>
        </p:nvSpPr>
        <p:spPr>
          <a:xfrm>
            <a:off x="8915400" y="3776472"/>
            <a:ext cx="2743200" cy="320040"/>
          </a:xfrm>
          <a:prstGeom prst="rect">
            <a:avLst/>
          </a:prstGeom>
          <a:noFill/>
          <a:ln/>
        </p:spPr>
        <p:txBody>
          <a:bodyPr wrap="square" lIns="0" tIns="0" rIns="0" bIns="0" rtlCol="0" anchor="ctr"/>
          <a:lstStyle/>
          <a:p>
            <a:pPr indent="0" marL="0">
              <a:buNone/>
            </a:pPr>
            <a:r>
              <a:rPr lang="en-US" sz="1500" b="1" dirty="0">
                <a:solidFill>
                  <a:srgbClr val="000000"/>
                </a:solidFill>
                <a:latin typeface="Aptos" pitchFamily="34" charset="0"/>
                <a:ea typeface="Aptos" pitchFamily="34" charset="-122"/>
                <a:cs typeface="Aptos" pitchFamily="34" charset="-120"/>
              </a:rPr>
              <a:t>Inheritance</a:t>
            </a:r>
            <a:endParaRPr lang="en-US" sz="1500" dirty="0"/>
          </a:p>
        </p:txBody>
      </p:sp>
      <p:sp>
        <p:nvSpPr>
          <p:cNvPr id="30" name="Text 27"/>
          <p:cNvSpPr txBox="1"/>
          <p:nvPr/>
        </p:nvSpPr>
        <p:spPr>
          <a:xfrm>
            <a:off x="8915400" y="4096512"/>
            <a:ext cx="2743200" cy="640080"/>
          </a:xfrm>
          <a:prstGeom prst="rect">
            <a:avLst/>
          </a:prstGeom>
          <a:noFill/>
          <a:ln/>
        </p:spPr>
        <p:txBody>
          <a:bodyPr wrap="square" lIns="0" tIns="0" rIns="0" bIns="0" rtlCol="0" anchor="t"/>
          <a:lstStyle/>
          <a:p>
            <a:pPr indent="0" marL="0">
              <a:buNone/>
            </a:pPr>
            <a:r>
              <a:rPr lang="en-US" sz="1250" dirty="0">
                <a:solidFill>
                  <a:srgbClr val="262626"/>
                </a:solidFill>
                <a:latin typeface="Aptos" pitchFamily="34" charset="0"/>
                <a:ea typeface="Aptos" pitchFamily="34" charset="-122"/>
                <a:cs typeface="Aptos" pitchFamily="34" charset="-120"/>
              </a:rPr>
              <a:t>Text styles like color and font-family pass down to children that don't have their own rule.</a:t>
            </a:r>
            <a:endParaRPr lang="en-US" sz="1250" dirty="0"/>
          </a:p>
        </p:txBody>
      </p:sp>
      <p:sp>
        <p:nvSpPr>
          <p:cNvPr id="31" name="Shape 28"/>
          <p:cNvSpPr/>
          <p:nvPr/>
        </p:nvSpPr>
        <p:spPr>
          <a:xfrm>
            <a:off x="4754880" y="4983480"/>
            <a:ext cx="6903720" cy="1234440"/>
          </a:xfrm>
          <a:prstGeom prst="roundRect">
            <a:avLst>
              <a:gd name="adj" fmla="val 8889"/>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32" name="Text 29"/>
          <p:cNvSpPr txBox="1"/>
          <p:nvPr/>
        </p:nvSpPr>
        <p:spPr>
          <a:xfrm>
            <a:off x="5029200" y="4983480"/>
            <a:ext cx="6355080" cy="1234440"/>
          </a:xfrm>
          <a:prstGeom prst="rect">
            <a:avLst/>
          </a:prstGeom>
          <a:noFill/>
          <a:ln/>
        </p:spPr>
        <p:txBody>
          <a:bodyPr wrap="square" lIns="0" tIns="0" rIns="0" bIns="0" rtlCol="0" anchor="ctr"/>
          <a:lstStyle/>
          <a:p>
            <a:pPr indent="0" marL="0">
              <a:buNone/>
            </a:pPr>
            <a:r>
              <a:rPr lang="en-US" sz="1400" dirty="0">
                <a:solidFill>
                  <a:srgbClr val="FFFFFF"/>
                </a:solidFill>
                <a:latin typeface="Aptos" pitchFamily="34" charset="0"/>
                <a:ea typeface="Aptos" pitchFamily="34" charset="-122"/>
                <a:cs typeface="Aptos" pitchFamily="34" charset="-120"/>
              </a:rPr>
              <a:t>​</a:t>
            </a:r>
            <a:pPr indent="0" marL="0">
              <a:buNone/>
            </a:pPr>
            <a:r>
              <a:rPr lang="en-US" sz="1400" b="1" dirty="0">
                <a:solidFill>
                  <a:srgbClr val="FFFFFF"/>
                </a:solidFill>
                <a:latin typeface="Aptos" pitchFamily="34" charset="0"/>
                <a:ea typeface="Aptos" pitchFamily="34" charset="-122"/>
                <a:cs typeface="Aptos" pitchFamily="34" charset="-120"/>
              </a:rPr>
              <a:t>Try It 3 mystery solved: </a:t>
            </a:r>
            <a:pPr indent="0" marL="0">
              <a:buNone/>
            </a:pPr>
            <a:r>
              <a:rPr lang="en-US" sz="1400" dirty="0">
                <a:solidFill>
                  <a:srgbClr val="FFFFFF"/>
                </a:solidFill>
                <a:latin typeface="Aptos" pitchFamily="34" charset="0"/>
                <a:ea typeface="Aptos" pitchFamily="34" charset="-122"/>
                <a:cs typeface="Aptos" pitchFamily="34" charset="-120"/>
              </a:rPr>
              <a:t>header passed white down to the h1, but the </a:t>
            </a:r>
            <a:pPr indent="0" marL="0">
              <a:buNone/>
            </a:pPr>
            <a:r>
              <a:rPr lang="en-US" sz="1400" b="1" dirty="0">
                <a:solidFill>
                  <a:srgbClr val="FFFFFF"/>
                </a:solidFill>
                <a:latin typeface="Aptos" pitchFamily="34" charset="0"/>
                <a:ea typeface="Aptos" pitchFamily="34" charset="-122"/>
                <a:cs typeface="Aptos" pitchFamily="34" charset="-120"/>
              </a:rPr>
              <a:t>h1, h2</a:t>
            </a:r>
            <a:pPr indent="0" marL="0">
              <a:buNone/>
            </a:pPr>
            <a:r>
              <a:rPr lang="en-US" sz="1400" dirty="0">
                <a:solidFill>
                  <a:srgbClr val="FFFFFF"/>
                </a:solidFill>
                <a:latin typeface="Aptos" pitchFamily="34" charset="0"/>
                <a:ea typeface="Aptos" pitchFamily="34" charset="-122"/>
                <a:cs typeface="Aptos" pitchFamily="34" charset="-120"/>
              </a:rPr>
              <a:t> rule targets the h1 </a:t>
            </a:r>
            <a:pPr indent="0" marL="0">
              <a:buNone/>
            </a:pPr>
            <a:r>
              <a:rPr lang="en-US" sz="1400" i="1" dirty="0">
                <a:solidFill>
                  <a:srgbClr val="FFFFFF"/>
                </a:solidFill>
                <a:latin typeface="Aptos" pitchFamily="34" charset="0"/>
                <a:ea typeface="Aptos" pitchFamily="34" charset="-122"/>
                <a:cs typeface="Aptos" pitchFamily="34" charset="-120"/>
              </a:rPr>
              <a:t>directly</a:t>
            </a:r>
            <a:pPr indent="0" marL="0">
              <a:buNone/>
            </a:pPr>
            <a:r>
              <a:rPr lang="en-US" sz="1400" dirty="0">
                <a:solidFill>
                  <a:srgbClr val="FFFFFF"/>
                </a:solidFill>
                <a:latin typeface="Aptos" pitchFamily="34" charset="0"/>
                <a:ea typeface="Aptos" pitchFamily="34" charset="-122"/>
                <a:cs typeface="Aptos" pitchFamily="34" charset="-120"/>
              </a:rPr>
              <a:t>. A rule aimed at the element always beats an inherited value.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C:\Repos\2026-2027\WEBD1000\05_Intro_to_CSS\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779208"/>
            <a:ext cx="5852160" cy="5299583"/>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1007808"/>
            <a:ext cx="5394960" cy="4842383"/>
          </a:xfrm>
          <a:prstGeom prst="rect">
            <a:avLst/>
          </a:prstGeom>
          <a:noFill/>
          <a:ln/>
        </p:spPr>
        <p:txBody>
          <a:bodyPr wrap="square" lIns="0" tIns="0" rIns="0" bIns="0" rtlCol="0" anchor="t"/>
          <a:lstStyle/>
          <a:p>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 Predict each line's colour, THEN check in DevTools */</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body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font-family</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Arial,</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sans-serif</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gray</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 inherited by everything inside body */</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p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green</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p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blue</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 same selector: the later rule wins */</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.notice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darkorange</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 a class beats an element */</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#special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purple</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 an id beats a class */</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h1</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Who Wins?</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h1</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1. A plain paragraph.</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class</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"notice"</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2. A paragraph with a class.</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class</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"notice"</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id</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"special"</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3. A class and an id.</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class</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"notice"</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style</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"color: red;"</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4. A class and an inline style.</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ul</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5. A list item. There's no rule for li at all.</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ul</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EXAMPLE 07</a:t>
            </a:r>
            <a:endParaRPr lang="en-US" sz="1400" dirty="0"/>
          </a:p>
        </p:txBody>
      </p:sp>
      <p:sp>
        <p:nvSpPr>
          <p:cNvPr id="6" name="Text 3"/>
          <p:cNvSpPr txBox="1"/>
          <p:nvPr/>
        </p:nvSpPr>
        <p:spPr>
          <a:xfrm>
            <a:off x="6812280" y="731520"/>
            <a:ext cx="4967935" cy="960120"/>
          </a:xfrm>
          <a:prstGeom prst="rect">
            <a:avLst/>
          </a:prstGeom>
          <a:noFill/>
          <a:ln/>
        </p:spPr>
        <p:txBody>
          <a:bodyPr wrap="square" lIns="0" tIns="0" rIns="0" bIns="0" rtlCol="0" anchor="t"/>
          <a:lstStyle/>
          <a:p>
            <a:pPr indent="0" marL="0">
              <a:buNone/>
            </a:pPr>
            <a:r>
              <a:rPr lang="en-US" sz="2600" dirty="0">
                <a:solidFill>
                  <a:srgbClr val="000000"/>
                </a:solidFill>
                <a:latin typeface="Aptos" pitchFamily="34" charset="0"/>
                <a:ea typeface="Aptos" pitchFamily="34" charset="-122"/>
                <a:cs typeface="Aptos" pitchFamily="34" charset="-120"/>
              </a:rPr>
              <a:t>Who Wins? Check Your Predictions</a:t>
            </a:r>
            <a:endParaRPr lang="en-US" sz="2600" dirty="0"/>
          </a:p>
        </p:txBody>
      </p:sp>
      <p:pic>
        <p:nvPicPr>
          <p:cNvPr id="7" name="Image 1" descr="C:\Repos\2026-2027\WEBD1000\05_Intro_to_CSS\_build\shots\ex07.png">    </p:cNvPr>
          <p:cNvPicPr>
            <a:picLocks noChangeAspect="1"/>
          </p:cNvPicPr>
          <p:nvPr/>
        </p:nvPicPr>
        <p:blipFill>
          <a:blip r:embed="rId2"/>
          <a:stretch>
            <a:fillRect/>
          </a:stretch>
        </p:blipFill>
        <p:spPr>
          <a:xfrm>
            <a:off x="6812280" y="3485556"/>
            <a:ext cx="4967935" cy="2732364"/>
          </a:xfrm>
          <a:prstGeom prst="rect">
            <a:avLst/>
          </a:prstGeom>
        </p:spPr>
      </p:pic>
      <p:sp>
        <p:nvSpPr>
          <p:cNvPr id="8" name="Shape 4"/>
          <p:cNvSpPr/>
          <p:nvPr/>
        </p:nvSpPr>
        <p:spPr>
          <a:xfrm>
            <a:off x="6812280" y="3485556"/>
            <a:ext cx="4967935" cy="2732364"/>
          </a:xfrm>
          <a:prstGeom prst="rect">
            <a:avLst/>
          </a:prstGeom>
          <a:ln w="12700">
            <a:solidFill>
              <a:srgbClr val="B0B8BC"/>
            </a:solidFill>
            <a:prstDash val="solid"/>
          </a:ln>
        </p:spPr>
      </p:sp>
      <p:sp>
        <p:nvSpPr>
          <p:cNvPr id="9" name="Text 5"/>
          <p:cNvSpPr txBox="1"/>
          <p:nvPr/>
        </p:nvSpPr>
        <p:spPr>
          <a:xfrm>
            <a:off x="6812280" y="3192948"/>
            <a:ext cx="496793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783080"/>
            <a:ext cx="4967935" cy="1318428"/>
          </a:xfrm>
          <a:prstGeom prst="rect">
            <a:avLst/>
          </a:prstGeom>
          <a:noFill/>
          <a:ln/>
        </p:spPr>
        <p:txBody>
          <a:bodyPr wrap="square" lIns="0" tIns="0" rIns="0" bIns="0" rtlCol="0" anchor="t"/>
          <a:lstStyle/>
          <a:p>
            <a:pPr marL="342900" indent="-342900">
              <a:buSzPct val="100000"/>
              <a:buChar char="•"/>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1 blue: the later </a:t>
            </a:r>
            <a:pPr indent="0" marL="0">
              <a:buNone/>
            </a:pPr>
            <a:r>
              <a:rPr lang="en-US" sz="1300" dirty="0">
                <a:solidFill>
                  <a:srgbClr val="8A2B0B"/>
                </a:solidFill>
                <a:latin typeface="Consolas" pitchFamily="34" charset="0"/>
                <a:ea typeface="Consolas" pitchFamily="34" charset="-122"/>
                <a:cs typeface="Consolas" pitchFamily="34" charset="-120"/>
              </a:rPr>
              <a:t>p</a:t>
            </a:r>
            <a:pPr indent="0" marL="0">
              <a:buNone/>
            </a:pPr>
            <a:r>
              <a:rPr lang="en-US" sz="1300" dirty="0">
                <a:solidFill>
                  <a:srgbClr val="262626"/>
                </a:solidFill>
                <a:latin typeface="Aptos" pitchFamily="34" charset="0"/>
                <a:ea typeface="Aptos" pitchFamily="34" charset="-122"/>
                <a:cs typeface="Aptos" pitchFamily="34" charset="-120"/>
              </a:rPr>
              <a:t> rule wins the tie. 2 orange: class beats element. 3 purple: id beats class. 4 red: inline beats everything.</a:t>
            </a:r>
            <a:endParaRPr lang="en-US" sz="1300" dirty="0"/>
          </a:p>
          <a:p>
            <a:pPr marL="342900" indent="-342900">
              <a:spcBef>
                <a:spcPts val="900"/>
              </a:spcBef>
              <a:buSzPct val="100000"/>
              <a:buChar char="•"/>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5 and the h1: no rule of their own, so they </a:t>
            </a:r>
            <a:pPr indent="0" marL="0">
              <a:buNone/>
            </a:pPr>
            <a:r>
              <a:rPr lang="en-US" sz="1300" b="1" dirty="0">
                <a:solidFill>
                  <a:srgbClr val="262626"/>
                </a:solidFill>
                <a:latin typeface="Aptos" pitchFamily="34" charset="0"/>
                <a:ea typeface="Aptos" pitchFamily="34" charset="-122"/>
                <a:cs typeface="Aptos" pitchFamily="34" charset="-120"/>
              </a:rPr>
              <a:t>inherit</a:t>
            </a:r>
            <a:pPr indent="0" marL="0">
              <a:buNone/>
            </a:pPr>
            <a:r>
              <a:rPr lang="en-US" sz="1300" dirty="0">
                <a:solidFill>
                  <a:srgbClr val="262626"/>
                </a:solidFill>
                <a:latin typeface="Aptos" pitchFamily="34" charset="0"/>
                <a:ea typeface="Aptos" pitchFamily="34" charset="-122"/>
                <a:cs typeface="Aptos" pitchFamily="34" charset="-120"/>
              </a:rPr>
              <a:t> gray from body.</a:t>
            </a:r>
            <a:endParaRPr lang="en-US" sz="130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07_cascade_example.html</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Your Best Friend: DevTools Styles</a:t>
            </a:r>
            <a:endParaRPr lang="en-US" sz="2800" dirty="0"/>
          </a:p>
        </p:txBody>
      </p:sp>
      <p:sp>
        <p:nvSpPr>
          <p:cNvPr id="7" name="Shape 4"/>
          <p:cNvSpPr/>
          <p:nvPr/>
        </p:nvSpPr>
        <p:spPr>
          <a:xfrm>
            <a:off x="4754880" y="1783080"/>
            <a:ext cx="4069080" cy="4480560"/>
          </a:xfrm>
          <a:prstGeom prst="rect">
            <a:avLst/>
          </a:prstGeom>
          <a:solidFill>
            <a:srgbClr val="FFFFFF"/>
          </a:solidFill>
          <a:ln w="12700">
            <a:solidFill>
              <a:srgbClr val="B0B8BC"/>
            </a:solidFill>
            <a:prstDash val="solid"/>
          </a:ln>
        </p:spPr>
      </p:sp>
      <p:sp>
        <p:nvSpPr>
          <p:cNvPr id="8" name="Shape 5"/>
          <p:cNvSpPr/>
          <p:nvPr/>
        </p:nvSpPr>
        <p:spPr>
          <a:xfrm>
            <a:off x="4754880" y="1783080"/>
            <a:ext cx="4069080" cy="329184"/>
          </a:xfrm>
          <a:prstGeom prst="rect">
            <a:avLst/>
          </a:prstGeom>
          <a:solidFill>
            <a:srgbClr val="F1F3F4"/>
          </a:solidFill>
          <a:ln w="12700">
            <a:solidFill>
              <a:srgbClr val="B0B8BC"/>
            </a:solidFill>
            <a:prstDash val="solid"/>
          </a:ln>
        </p:spPr>
      </p:sp>
      <p:sp>
        <p:nvSpPr>
          <p:cNvPr id="9" name="Text 6"/>
          <p:cNvSpPr txBox="1"/>
          <p:nvPr/>
        </p:nvSpPr>
        <p:spPr>
          <a:xfrm>
            <a:off x="4892040" y="1783080"/>
            <a:ext cx="3794760" cy="329184"/>
          </a:xfrm>
          <a:prstGeom prst="rect">
            <a:avLst/>
          </a:prstGeom>
          <a:noFill/>
          <a:ln/>
        </p:spPr>
        <p:txBody>
          <a:bodyPr wrap="square" lIns="0" tIns="0" rIns="0" bIns="0" rtlCol="0" anchor="ctr"/>
          <a:lstStyle/>
          <a:p>
            <a:pPr indent="0" marL="0">
              <a:buNone/>
            </a:pPr>
            <a:r>
              <a:rPr lang="en-US" sz="1100" dirty="0">
                <a:solidFill>
                  <a:srgbClr val="333333"/>
                </a:solidFill>
                <a:latin typeface="Aptos" pitchFamily="34" charset="0"/>
                <a:ea typeface="Aptos" pitchFamily="34" charset="-122"/>
                <a:cs typeface="Aptos" pitchFamily="34" charset="-120"/>
              </a:rPr>
              <a:t>Styles     Computed     Layout</a:t>
            </a:r>
            <a:endParaRPr lang="en-US" sz="1100" dirty="0"/>
          </a:p>
        </p:txBody>
      </p:sp>
      <p:sp>
        <p:nvSpPr>
          <p:cNvPr id="10" name="Shape 7"/>
          <p:cNvSpPr/>
          <p:nvPr/>
        </p:nvSpPr>
        <p:spPr>
          <a:xfrm>
            <a:off x="4864608" y="2093976"/>
            <a:ext cx="457200" cy="0"/>
          </a:xfrm>
          <a:prstGeom prst="line">
            <a:avLst/>
          </a:prstGeom>
          <a:noFill/>
          <a:ln w="25400">
            <a:solidFill>
              <a:srgbClr val="1A73E8"/>
            </a:solidFill>
            <a:prstDash val="solid"/>
          </a:ln>
        </p:spPr>
      </p:sp>
      <p:sp>
        <p:nvSpPr>
          <p:cNvPr id="11" name="Text 8"/>
          <p:cNvSpPr txBox="1"/>
          <p:nvPr/>
        </p:nvSpPr>
        <p:spPr>
          <a:xfrm>
            <a:off x="4937760" y="2240280"/>
            <a:ext cx="2788920" cy="256032"/>
          </a:xfrm>
          <a:prstGeom prst="rect">
            <a:avLst/>
          </a:prstGeom>
          <a:noFill/>
          <a:ln/>
        </p:spPr>
        <p:txBody>
          <a:bodyPr wrap="square" lIns="0" tIns="0" rIns="0" bIns="0" rtlCol="0" anchor="ctr"/>
          <a:lstStyle/>
          <a:p>
            <a:pPr indent="0" marL="0">
              <a:buNone/>
            </a:pPr>
            <a:r>
              <a:rPr lang="en-US" sz="1050" dirty="0">
                <a:solidFill>
                  <a:srgbClr val="881280"/>
                </a:solidFill>
                <a:latin typeface="Consolas" pitchFamily="34" charset="0"/>
                <a:ea typeface="Consolas" pitchFamily="34" charset="-122"/>
                <a:cs typeface="Consolas" pitchFamily="34" charset="-120"/>
              </a:rPr>
              <a:t>#menu .special {</a:t>
            </a:r>
            <a:endParaRPr lang="en-US" sz="1050" dirty="0"/>
          </a:p>
        </p:txBody>
      </p:sp>
      <p:sp>
        <p:nvSpPr>
          <p:cNvPr id="12" name="Text 9"/>
          <p:cNvSpPr txBox="1"/>
          <p:nvPr/>
        </p:nvSpPr>
        <p:spPr>
          <a:xfrm>
            <a:off x="7680960" y="2240280"/>
            <a:ext cx="1005840" cy="256032"/>
          </a:xfrm>
          <a:prstGeom prst="rect">
            <a:avLst/>
          </a:prstGeom>
          <a:noFill/>
          <a:ln/>
        </p:spPr>
        <p:txBody>
          <a:bodyPr wrap="square" lIns="0" tIns="0" rIns="0" bIns="0" rtlCol="0" anchor="ctr"/>
          <a:lstStyle/>
          <a:p>
            <a:pPr algn="r" indent="0" marL="0">
              <a:buNone/>
            </a:pPr>
            <a:r>
              <a:rPr lang="en-US" sz="950" u="sng" dirty="0">
                <a:solidFill>
                  <a:srgbClr val="5F6368"/>
                </a:solidFill>
                <a:latin typeface="Aptos" pitchFamily="34" charset="0"/>
                <a:ea typeface="Aptos" pitchFamily="34" charset="-122"/>
                <a:cs typeface="Aptos" pitchFamily="34" charset="-120"/>
              </a:rPr>
              <a:t>style.css:150</a:t>
            </a:r>
            <a:endParaRPr lang="en-US" sz="950" dirty="0"/>
          </a:p>
        </p:txBody>
      </p:sp>
      <p:sp>
        <p:nvSpPr>
          <p:cNvPr id="13" name="Text 10"/>
          <p:cNvSpPr txBox="1"/>
          <p:nvPr/>
        </p:nvSpPr>
        <p:spPr>
          <a:xfrm>
            <a:off x="4937760" y="2500884"/>
            <a:ext cx="2788920" cy="256032"/>
          </a:xfrm>
          <a:prstGeom prst="rect">
            <a:avLst/>
          </a:prstGeom>
          <a:noFill/>
          <a:ln/>
        </p:spPr>
        <p:txBody>
          <a:bodyPr wrap="square" lIns="0" tIns="0" rIns="0" bIns="0" rtlCol="0" anchor="ctr"/>
          <a:lstStyle/>
          <a:p>
            <a:pPr indent="0" marL="0">
              <a:buNone/>
            </a:pPr>
            <a:r>
              <a:rPr lang="en-US" sz="1050" dirty="0">
                <a:solidFill>
                  <a:srgbClr val="1A1AA6"/>
                </a:solidFill>
                <a:latin typeface="Consolas" pitchFamily="34" charset="0"/>
                <a:ea typeface="Consolas" pitchFamily="34" charset="-122"/>
                <a:cs typeface="Consolas" pitchFamily="34" charset="-120"/>
              </a:rPr>
              <a:t>  background-color: ■ #FBE9DF;</a:t>
            </a:r>
            <a:endParaRPr lang="en-US" sz="1050" dirty="0"/>
          </a:p>
        </p:txBody>
      </p:sp>
      <p:sp>
        <p:nvSpPr>
          <p:cNvPr id="14" name="Text 11"/>
          <p:cNvSpPr txBox="1"/>
          <p:nvPr/>
        </p:nvSpPr>
        <p:spPr>
          <a:xfrm>
            <a:off x="4937760" y="2761488"/>
            <a:ext cx="2788920" cy="256032"/>
          </a:xfrm>
          <a:prstGeom prst="rect">
            <a:avLst/>
          </a:prstGeom>
          <a:noFill/>
          <a:ln/>
        </p:spPr>
        <p:txBody>
          <a:bodyPr wrap="square" lIns="0" tIns="0" rIns="0" bIns="0" rtlCol="0" anchor="ctr"/>
          <a:lstStyle/>
          <a:p>
            <a:pPr indent="0" marL="0">
              <a:buNone/>
            </a:pPr>
            <a:r>
              <a:rPr lang="en-US" sz="1050" dirty="0">
                <a:solidFill>
                  <a:srgbClr val="1A1AA6"/>
                </a:solidFill>
                <a:latin typeface="Consolas" pitchFamily="34" charset="0"/>
                <a:ea typeface="Consolas" pitchFamily="34" charset="-122"/>
                <a:cs typeface="Consolas" pitchFamily="34" charset="-120"/>
              </a:rPr>
              <a:t>  border-color: ■ #E97132;</a:t>
            </a:r>
            <a:endParaRPr lang="en-US" sz="1050" dirty="0"/>
          </a:p>
        </p:txBody>
      </p:sp>
      <p:sp>
        <p:nvSpPr>
          <p:cNvPr id="15" name="Text 12"/>
          <p:cNvSpPr txBox="1"/>
          <p:nvPr/>
        </p:nvSpPr>
        <p:spPr>
          <a:xfrm>
            <a:off x="4937760" y="3022092"/>
            <a:ext cx="2788920" cy="256032"/>
          </a:xfrm>
          <a:prstGeom prst="rect">
            <a:avLst/>
          </a:prstGeom>
          <a:noFill/>
          <a:ln/>
        </p:spPr>
        <p:txBody>
          <a:bodyPr wrap="square" lIns="0" tIns="0" rIns="0" bIns="0" rtlCol="0" anchor="ctr"/>
          <a:lstStyle/>
          <a:p>
            <a:pPr indent="0" marL="0">
              <a:buNone/>
            </a:pPr>
            <a:r>
              <a:rPr lang="en-US" sz="1050" dirty="0">
                <a:solidFill>
                  <a:srgbClr val="881280"/>
                </a:solidFill>
                <a:latin typeface="Consolas" pitchFamily="34" charset="0"/>
                <a:ea typeface="Consolas" pitchFamily="34" charset="-122"/>
                <a:cs typeface="Consolas" pitchFamily="34" charset="-120"/>
              </a:rPr>
              <a:t>}</a:t>
            </a:r>
            <a:endParaRPr lang="en-US" sz="1050" dirty="0"/>
          </a:p>
        </p:txBody>
      </p:sp>
      <p:sp>
        <p:nvSpPr>
          <p:cNvPr id="16" name="Text 13"/>
          <p:cNvSpPr txBox="1"/>
          <p:nvPr/>
        </p:nvSpPr>
        <p:spPr>
          <a:xfrm>
            <a:off x="4937760" y="3282696"/>
            <a:ext cx="2788920" cy="256032"/>
          </a:xfrm>
          <a:prstGeom prst="rect">
            <a:avLst/>
          </a:prstGeom>
          <a:noFill/>
          <a:ln/>
        </p:spPr>
        <p:txBody>
          <a:bodyPr wrap="square" lIns="0" tIns="0" rIns="0" bIns="0" rtlCol="0" anchor="ctr"/>
          <a:lstStyle/>
          <a:p>
            <a:pPr indent="0" marL="0">
              <a:buNone/>
            </a:pPr>
            <a:endParaRPr lang="en-US" sz="1050" dirty="0"/>
          </a:p>
        </p:txBody>
      </p:sp>
      <p:sp>
        <p:nvSpPr>
          <p:cNvPr id="17" name="Text 14"/>
          <p:cNvSpPr txBox="1"/>
          <p:nvPr/>
        </p:nvSpPr>
        <p:spPr>
          <a:xfrm>
            <a:off x="4937760" y="3543300"/>
            <a:ext cx="2788920" cy="256032"/>
          </a:xfrm>
          <a:prstGeom prst="rect">
            <a:avLst/>
          </a:prstGeom>
          <a:noFill/>
          <a:ln/>
        </p:spPr>
        <p:txBody>
          <a:bodyPr wrap="square" lIns="0" tIns="0" rIns="0" bIns="0" rtlCol="0" anchor="ctr"/>
          <a:lstStyle/>
          <a:p>
            <a:pPr indent="0" marL="0">
              <a:buNone/>
            </a:pPr>
            <a:r>
              <a:rPr lang="en-US" sz="1050" dirty="0">
                <a:solidFill>
                  <a:srgbClr val="881280"/>
                </a:solidFill>
                <a:latin typeface="Consolas" pitchFamily="34" charset="0"/>
                <a:ea typeface="Consolas" pitchFamily="34" charset="-122"/>
                <a:cs typeface="Consolas" pitchFamily="34" charset="-120"/>
              </a:rPr>
              <a:t>#menu article {</a:t>
            </a:r>
            <a:endParaRPr lang="en-US" sz="1050" dirty="0"/>
          </a:p>
        </p:txBody>
      </p:sp>
      <p:sp>
        <p:nvSpPr>
          <p:cNvPr id="18" name="Text 15"/>
          <p:cNvSpPr txBox="1"/>
          <p:nvPr/>
        </p:nvSpPr>
        <p:spPr>
          <a:xfrm>
            <a:off x="7680960" y="3543300"/>
            <a:ext cx="1005840" cy="256032"/>
          </a:xfrm>
          <a:prstGeom prst="rect">
            <a:avLst/>
          </a:prstGeom>
          <a:noFill/>
          <a:ln/>
        </p:spPr>
        <p:txBody>
          <a:bodyPr wrap="square" lIns="0" tIns="0" rIns="0" bIns="0" rtlCol="0" anchor="ctr"/>
          <a:lstStyle/>
          <a:p>
            <a:pPr algn="r" indent="0" marL="0">
              <a:buNone/>
            </a:pPr>
            <a:r>
              <a:rPr lang="en-US" sz="950" u="sng" dirty="0">
                <a:solidFill>
                  <a:srgbClr val="5F6368"/>
                </a:solidFill>
                <a:latin typeface="Aptos" pitchFamily="34" charset="0"/>
                <a:ea typeface="Aptos" pitchFamily="34" charset="-122"/>
                <a:cs typeface="Aptos" pitchFamily="34" charset="-120"/>
              </a:rPr>
              <a:t>style.css:124</a:t>
            </a:r>
            <a:endParaRPr lang="en-US" sz="950" dirty="0"/>
          </a:p>
        </p:txBody>
      </p:sp>
      <p:sp>
        <p:nvSpPr>
          <p:cNvPr id="19" name="Text 16"/>
          <p:cNvSpPr txBox="1"/>
          <p:nvPr/>
        </p:nvSpPr>
        <p:spPr>
          <a:xfrm>
            <a:off x="4937760" y="3803904"/>
            <a:ext cx="2788920" cy="256032"/>
          </a:xfrm>
          <a:prstGeom prst="rect">
            <a:avLst/>
          </a:prstGeom>
          <a:noFill/>
          <a:ln/>
        </p:spPr>
        <p:txBody>
          <a:bodyPr wrap="square" lIns="0" tIns="0" rIns="0" bIns="0" rtlCol="0" anchor="ctr"/>
          <a:lstStyle/>
          <a:p>
            <a:pPr indent="0" marL="0">
              <a:buNone/>
            </a:pPr>
            <a:r>
              <a:rPr lang="en-US" sz="1050" strike="sngStrike" dirty="0">
                <a:solidFill>
                  <a:srgbClr val="9AA0A6"/>
                </a:solidFill>
                <a:latin typeface="Consolas" pitchFamily="34" charset="0"/>
                <a:ea typeface="Consolas" pitchFamily="34" charset="-122"/>
                <a:cs typeface="Consolas" pitchFamily="34" charset="-120"/>
              </a:rPr>
              <a:t>  background-color: ■ white;</a:t>
            </a:r>
            <a:endParaRPr lang="en-US" sz="1050" dirty="0"/>
          </a:p>
        </p:txBody>
      </p:sp>
      <p:sp>
        <p:nvSpPr>
          <p:cNvPr id="20" name="Text 17"/>
          <p:cNvSpPr txBox="1"/>
          <p:nvPr/>
        </p:nvSpPr>
        <p:spPr>
          <a:xfrm>
            <a:off x="4937760" y="4064508"/>
            <a:ext cx="2788920" cy="256032"/>
          </a:xfrm>
          <a:prstGeom prst="rect">
            <a:avLst/>
          </a:prstGeom>
          <a:noFill/>
          <a:ln/>
        </p:spPr>
        <p:txBody>
          <a:bodyPr wrap="square" lIns="0" tIns="0" rIns="0" bIns="0" rtlCol="0" anchor="ctr"/>
          <a:lstStyle/>
          <a:p>
            <a:pPr indent="0" marL="0">
              <a:buNone/>
            </a:pPr>
            <a:r>
              <a:rPr lang="en-US" sz="1050" dirty="0">
                <a:solidFill>
                  <a:srgbClr val="1A1AA6"/>
                </a:solidFill>
                <a:latin typeface="Consolas" pitchFamily="34" charset="0"/>
                <a:ea typeface="Consolas" pitchFamily="34" charset="-122"/>
                <a:cs typeface="Consolas" pitchFamily="34" charset="-120"/>
              </a:rPr>
              <a:t>  border: 1px solid ■ #D0D7DB;</a:t>
            </a:r>
            <a:endParaRPr lang="en-US" sz="1050" dirty="0"/>
          </a:p>
        </p:txBody>
      </p:sp>
      <p:sp>
        <p:nvSpPr>
          <p:cNvPr id="21" name="Text 18"/>
          <p:cNvSpPr txBox="1"/>
          <p:nvPr/>
        </p:nvSpPr>
        <p:spPr>
          <a:xfrm>
            <a:off x="4937760" y="4325112"/>
            <a:ext cx="2788920" cy="256032"/>
          </a:xfrm>
          <a:prstGeom prst="rect">
            <a:avLst/>
          </a:prstGeom>
          <a:noFill/>
          <a:ln/>
        </p:spPr>
        <p:txBody>
          <a:bodyPr wrap="square" lIns="0" tIns="0" rIns="0" bIns="0" rtlCol="0" anchor="ctr"/>
          <a:lstStyle/>
          <a:p>
            <a:pPr indent="0" marL="0">
              <a:buNone/>
            </a:pPr>
            <a:r>
              <a:rPr lang="en-US" sz="1050" dirty="0">
                <a:solidFill>
                  <a:srgbClr val="1A1AA6"/>
                </a:solidFill>
                <a:latin typeface="Consolas" pitchFamily="34" charset="0"/>
                <a:ea typeface="Consolas" pitchFamily="34" charset="-122"/>
                <a:cs typeface="Consolas" pitchFamily="34" charset="-120"/>
              </a:rPr>
              <a:t>  padding: 4px 20px;</a:t>
            </a:r>
            <a:endParaRPr lang="en-US" sz="1050" dirty="0"/>
          </a:p>
        </p:txBody>
      </p:sp>
      <p:sp>
        <p:nvSpPr>
          <p:cNvPr id="22" name="Text 19"/>
          <p:cNvSpPr txBox="1"/>
          <p:nvPr/>
        </p:nvSpPr>
        <p:spPr>
          <a:xfrm>
            <a:off x="4937760" y="4585716"/>
            <a:ext cx="2788920" cy="256032"/>
          </a:xfrm>
          <a:prstGeom prst="rect">
            <a:avLst/>
          </a:prstGeom>
          <a:noFill/>
          <a:ln/>
        </p:spPr>
        <p:txBody>
          <a:bodyPr wrap="square" lIns="0" tIns="0" rIns="0" bIns="0" rtlCol="0" anchor="ctr"/>
          <a:lstStyle/>
          <a:p>
            <a:pPr indent="0" marL="0">
              <a:buNone/>
            </a:pPr>
            <a:r>
              <a:rPr lang="en-US" sz="1050" dirty="0">
                <a:solidFill>
                  <a:srgbClr val="881280"/>
                </a:solidFill>
                <a:latin typeface="Consolas" pitchFamily="34" charset="0"/>
                <a:ea typeface="Consolas" pitchFamily="34" charset="-122"/>
                <a:cs typeface="Consolas" pitchFamily="34" charset="-120"/>
              </a:rPr>
              <a:t>}</a:t>
            </a:r>
            <a:endParaRPr lang="en-US" sz="1050" dirty="0"/>
          </a:p>
        </p:txBody>
      </p:sp>
      <p:sp>
        <p:nvSpPr>
          <p:cNvPr id="23" name="Text 20"/>
          <p:cNvSpPr txBox="1"/>
          <p:nvPr/>
        </p:nvSpPr>
        <p:spPr>
          <a:xfrm>
            <a:off x="4937760" y="4846320"/>
            <a:ext cx="2788920" cy="256032"/>
          </a:xfrm>
          <a:prstGeom prst="rect">
            <a:avLst/>
          </a:prstGeom>
          <a:noFill/>
          <a:ln/>
        </p:spPr>
        <p:txBody>
          <a:bodyPr wrap="square" lIns="0" tIns="0" rIns="0" bIns="0" rtlCol="0" anchor="ctr"/>
          <a:lstStyle/>
          <a:p>
            <a:pPr indent="0" marL="0">
              <a:buNone/>
            </a:pPr>
            <a:endParaRPr lang="en-US" sz="1050" dirty="0"/>
          </a:p>
        </p:txBody>
      </p:sp>
      <p:sp>
        <p:nvSpPr>
          <p:cNvPr id="24" name="Text 21"/>
          <p:cNvSpPr txBox="1"/>
          <p:nvPr/>
        </p:nvSpPr>
        <p:spPr>
          <a:xfrm>
            <a:off x="4937760" y="5106924"/>
            <a:ext cx="2788920" cy="256032"/>
          </a:xfrm>
          <a:prstGeom prst="rect">
            <a:avLst/>
          </a:prstGeom>
          <a:noFill/>
          <a:ln/>
        </p:spPr>
        <p:txBody>
          <a:bodyPr wrap="square" lIns="0" tIns="0" rIns="0" bIns="0" rtlCol="0" anchor="ctr"/>
          <a:lstStyle/>
          <a:p>
            <a:pPr indent="0" marL="0">
              <a:buNone/>
            </a:pPr>
            <a:r>
              <a:rPr lang="en-US" sz="1050" dirty="0">
                <a:solidFill>
                  <a:srgbClr val="881280"/>
                </a:solidFill>
                <a:latin typeface="Consolas" pitchFamily="34" charset="0"/>
                <a:ea typeface="Consolas" pitchFamily="34" charset="-122"/>
                <a:cs typeface="Consolas" pitchFamily="34" charset="-120"/>
              </a:rPr>
              <a:t>.special {</a:t>
            </a:r>
            <a:endParaRPr lang="en-US" sz="1050" dirty="0"/>
          </a:p>
        </p:txBody>
      </p:sp>
      <p:sp>
        <p:nvSpPr>
          <p:cNvPr id="25" name="Text 22"/>
          <p:cNvSpPr txBox="1"/>
          <p:nvPr/>
        </p:nvSpPr>
        <p:spPr>
          <a:xfrm>
            <a:off x="7680960" y="5106924"/>
            <a:ext cx="1005840" cy="256032"/>
          </a:xfrm>
          <a:prstGeom prst="rect">
            <a:avLst/>
          </a:prstGeom>
          <a:noFill/>
          <a:ln/>
        </p:spPr>
        <p:txBody>
          <a:bodyPr wrap="square" lIns="0" tIns="0" rIns="0" bIns="0" rtlCol="0" anchor="ctr"/>
          <a:lstStyle/>
          <a:p>
            <a:pPr algn="r" indent="0" marL="0">
              <a:buNone/>
            </a:pPr>
            <a:r>
              <a:rPr lang="en-US" sz="950" u="sng" dirty="0">
                <a:solidFill>
                  <a:srgbClr val="5F6368"/>
                </a:solidFill>
                <a:latin typeface="Aptos" pitchFamily="34" charset="0"/>
                <a:ea typeface="Aptos" pitchFamily="34" charset="-122"/>
                <a:cs typeface="Aptos" pitchFamily="34" charset="-120"/>
              </a:rPr>
              <a:t>style.css:23</a:t>
            </a:r>
            <a:endParaRPr lang="en-US" sz="950" dirty="0"/>
          </a:p>
        </p:txBody>
      </p:sp>
      <p:sp>
        <p:nvSpPr>
          <p:cNvPr id="26" name="Text 23"/>
          <p:cNvSpPr txBox="1"/>
          <p:nvPr/>
        </p:nvSpPr>
        <p:spPr>
          <a:xfrm>
            <a:off x="4937760" y="5367528"/>
            <a:ext cx="2788920" cy="256032"/>
          </a:xfrm>
          <a:prstGeom prst="rect">
            <a:avLst/>
          </a:prstGeom>
          <a:noFill/>
          <a:ln/>
        </p:spPr>
        <p:txBody>
          <a:bodyPr wrap="square" lIns="0" tIns="0" rIns="0" bIns="0" rtlCol="0" anchor="ctr"/>
          <a:lstStyle/>
          <a:p>
            <a:pPr indent="0" marL="0">
              <a:buNone/>
            </a:pPr>
            <a:r>
              <a:rPr lang="en-US" sz="1050" strike="sngStrike" dirty="0">
                <a:solidFill>
                  <a:srgbClr val="9AA0A6"/>
                </a:solidFill>
                <a:latin typeface="Consolas" pitchFamily="34" charset="0"/>
                <a:ea typeface="Consolas" pitchFamily="34" charset="-122"/>
                <a:cs typeface="Consolas" pitchFamily="34" charset="-120"/>
              </a:rPr>
              <a:t>  background-color: ■ #FBE9DF;</a:t>
            </a:r>
            <a:endParaRPr lang="en-US" sz="1050" dirty="0"/>
          </a:p>
        </p:txBody>
      </p:sp>
      <p:sp>
        <p:nvSpPr>
          <p:cNvPr id="27" name="Text 24"/>
          <p:cNvSpPr txBox="1"/>
          <p:nvPr/>
        </p:nvSpPr>
        <p:spPr>
          <a:xfrm>
            <a:off x="4937760" y="5628132"/>
            <a:ext cx="2788920" cy="256032"/>
          </a:xfrm>
          <a:prstGeom prst="rect">
            <a:avLst/>
          </a:prstGeom>
          <a:noFill/>
          <a:ln/>
        </p:spPr>
        <p:txBody>
          <a:bodyPr wrap="square" lIns="0" tIns="0" rIns="0" bIns="0" rtlCol="0" anchor="ctr"/>
          <a:lstStyle/>
          <a:p>
            <a:pPr indent="0" marL="0">
              <a:buNone/>
            </a:pPr>
            <a:r>
              <a:rPr lang="en-US" sz="1050" strike="sngStrike" dirty="0">
                <a:solidFill>
                  <a:srgbClr val="9AA0A6"/>
                </a:solidFill>
                <a:latin typeface="Consolas" pitchFamily="34" charset="0"/>
                <a:ea typeface="Consolas" pitchFamily="34" charset="-122"/>
                <a:cs typeface="Consolas" pitchFamily="34" charset="-120"/>
              </a:rPr>
              <a:t>  colour: red;</a:t>
            </a:r>
            <a:endParaRPr lang="en-US" sz="1050" dirty="0"/>
          </a:p>
        </p:txBody>
      </p:sp>
      <p:sp>
        <p:nvSpPr>
          <p:cNvPr id="28" name="Text 25"/>
          <p:cNvSpPr txBox="1"/>
          <p:nvPr/>
        </p:nvSpPr>
        <p:spPr>
          <a:xfrm>
            <a:off x="6355080" y="5609844"/>
            <a:ext cx="274320" cy="274320"/>
          </a:xfrm>
          <a:prstGeom prst="rect">
            <a:avLst/>
          </a:prstGeom>
          <a:noFill/>
          <a:ln/>
        </p:spPr>
        <p:txBody>
          <a:bodyPr wrap="square" lIns="0" tIns="0" rIns="0" bIns="0" rtlCol="0" anchor="ctr"/>
          <a:lstStyle/>
          <a:p>
            <a:pPr indent="0" marL="0">
              <a:buNone/>
            </a:pPr>
            <a:r>
              <a:rPr lang="en-US" sz="1200" dirty="0">
                <a:solidFill>
                  <a:srgbClr val="E37400"/>
                </a:solidFill>
                <a:latin typeface="Segoe UI Symbol" pitchFamily="34" charset="0"/>
                <a:ea typeface="Segoe UI Symbol" pitchFamily="34" charset="-122"/>
                <a:cs typeface="Segoe UI Symbol" pitchFamily="34" charset="-120"/>
              </a:rPr>
              <a:t>⚠</a:t>
            </a:r>
            <a:endParaRPr lang="en-US" sz="1200" dirty="0"/>
          </a:p>
        </p:txBody>
      </p:sp>
      <p:sp>
        <p:nvSpPr>
          <p:cNvPr id="29" name="Text 26"/>
          <p:cNvSpPr txBox="1"/>
          <p:nvPr/>
        </p:nvSpPr>
        <p:spPr>
          <a:xfrm>
            <a:off x="4937760" y="5888736"/>
            <a:ext cx="2788920" cy="256032"/>
          </a:xfrm>
          <a:prstGeom prst="rect">
            <a:avLst/>
          </a:prstGeom>
          <a:noFill/>
          <a:ln/>
        </p:spPr>
        <p:txBody>
          <a:bodyPr wrap="square" lIns="0" tIns="0" rIns="0" bIns="0" rtlCol="0" anchor="ctr"/>
          <a:lstStyle/>
          <a:p>
            <a:pPr indent="0" marL="0">
              <a:buNone/>
            </a:pPr>
            <a:r>
              <a:rPr lang="en-US" sz="1050" dirty="0">
                <a:solidFill>
                  <a:srgbClr val="881280"/>
                </a:solidFill>
                <a:latin typeface="Consolas" pitchFamily="34" charset="0"/>
                <a:ea typeface="Consolas" pitchFamily="34" charset="-122"/>
                <a:cs typeface="Consolas" pitchFamily="34" charset="-120"/>
              </a:rPr>
              <a:t>}</a:t>
            </a:r>
            <a:endParaRPr lang="en-US" sz="1050" dirty="0"/>
          </a:p>
        </p:txBody>
      </p:sp>
      <p:sp>
        <p:nvSpPr>
          <p:cNvPr id="30" name="Text 27"/>
          <p:cNvSpPr txBox="1"/>
          <p:nvPr/>
        </p:nvSpPr>
        <p:spPr>
          <a:xfrm>
            <a:off x="9098280" y="1783080"/>
            <a:ext cx="2560320" cy="320040"/>
          </a:xfrm>
          <a:prstGeom prst="rect">
            <a:avLst/>
          </a:prstGeom>
          <a:noFill/>
          <a:ln/>
        </p:spPr>
        <p:txBody>
          <a:bodyPr wrap="square" lIns="0" tIns="0" rIns="0" bIns="0" rtlCol="0" anchor="ctr"/>
          <a:lstStyle/>
          <a:p>
            <a:pPr indent="0" marL="0">
              <a:buNone/>
            </a:pPr>
            <a:r>
              <a:rPr lang="en-US" sz="1500" b="1" dirty="0">
                <a:solidFill>
                  <a:srgbClr val="7F7F7F"/>
                </a:solidFill>
                <a:latin typeface="Aptos" pitchFamily="34" charset="0"/>
                <a:ea typeface="Aptos" pitchFamily="34" charset="-122"/>
                <a:cs typeface="Aptos" pitchFamily="34" charset="-120"/>
              </a:rPr>
              <a:t>Crossed out</a:t>
            </a:r>
            <a:endParaRPr lang="en-US" sz="1500" dirty="0"/>
          </a:p>
        </p:txBody>
      </p:sp>
      <p:sp>
        <p:nvSpPr>
          <p:cNvPr id="31" name="Text 28"/>
          <p:cNvSpPr txBox="1"/>
          <p:nvPr/>
        </p:nvSpPr>
        <p:spPr>
          <a:xfrm>
            <a:off x="9098280" y="2103120"/>
            <a:ext cx="2560320" cy="548640"/>
          </a:xfrm>
          <a:prstGeom prst="rect">
            <a:avLst/>
          </a:prstGeom>
          <a:noFill/>
          <a:ln/>
        </p:spPr>
        <p:txBody>
          <a:bodyPr wrap="square" lIns="0" tIns="0" rIns="0" bIns="0" rtlCol="0" anchor="t"/>
          <a:lstStyle/>
          <a:p>
            <a:pPr indent="0" marL="0">
              <a:buNone/>
            </a:pPr>
            <a:r>
              <a:rPr lang="en-US" sz="1250" dirty="0">
                <a:solidFill>
                  <a:srgbClr val="262626"/>
                </a:solidFill>
                <a:latin typeface="Aptos" pitchFamily="34" charset="0"/>
                <a:ea typeface="Aptos" pitchFamily="34" charset="-122"/>
                <a:cs typeface="Aptos" pitchFamily="34" charset="-120"/>
              </a:rPr>
              <a:t>Lost to a stronger rule above it.</a:t>
            </a:r>
            <a:endParaRPr lang="en-US" sz="1250" dirty="0"/>
          </a:p>
        </p:txBody>
      </p:sp>
      <p:sp>
        <p:nvSpPr>
          <p:cNvPr id="32" name="Text 29"/>
          <p:cNvSpPr txBox="1"/>
          <p:nvPr/>
        </p:nvSpPr>
        <p:spPr>
          <a:xfrm>
            <a:off x="9098280" y="2697480"/>
            <a:ext cx="2560320" cy="320040"/>
          </a:xfrm>
          <a:prstGeom prst="rect">
            <a:avLst/>
          </a:prstGeom>
          <a:noFill/>
          <a:ln/>
        </p:spPr>
        <p:txBody>
          <a:bodyPr wrap="square" lIns="0" tIns="0" rIns="0" bIns="0" rtlCol="0" anchor="ctr"/>
          <a:lstStyle/>
          <a:p>
            <a:pPr indent="0" marL="0">
              <a:buNone/>
            </a:pPr>
            <a:r>
              <a:rPr lang="en-US" sz="1500" b="1" dirty="0">
                <a:solidFill>
                  <a:srgbClr val="E37400"/>
                </a:solidFill>
                <a:latin typeface="Aptos" pitchFamily="34" charset="0"/>
                <a:ea typeface="Aptos" pitchFamily="34" charset="-122"/>
                <a:cs typeface="Aptos" pitchFamily="34" charset="-120"/>
              </a:rPr>
              <a:t>⚠ Warning</a:t>
            </a:r>
            <a:endParaRPr lang="en-US" sz="1500" dirty="0"/>
          </a:p>
        </p:txBody>
      </p:sp>
      <p:sp>
        <p:nvSpPr>
          <p:cNvPr id="33" name="Text 30"/>
          <p:cNvSpPr txBox="1"/>
          <p:nvPr/>
        </p:nvSpPr>
        <p:spPr>
          <a:xfrm>
            <a:off x="9098280" y="3017520"/>
            <a:ext cx="2560320" cy="548640"/>
          </a:xfrm>
          <a:prstGeom prst="rect">
            <a:avLst/>
          </a:prstGeom>
          <a:noFill/>
          <a:ln/>
        </p:spPr>
        <p:txBody>
          <a:bodyPr wrap="square" lIns="0" tIns="0" rIns="0" bIns="0" rtlCol="0" anchor="t"/>
          <a:lstStyle/>
          <a:p>
            <a:pPr indent="0" marL="0">
              <a:buNone/>
            </a:pPr>
            <a:r>
              <a:rPr lang="en-US" sz="1250" dirty="0">
                <a:solidFill>
                  <a:srgbClr val="262626"/>
                </a:solidFill>
                <a:latin typeface="Aptos" pitchFamily="34" charset="0"/>
                <a:ea typeface="Aptos" pitchFamily="34" charset="-122"/>
                <a:cs typeface="Aptos" pitchFamily="34" charset="-120"/>
              </a:rPr>
              <a:t>The browser didn't understand it (here: colour).</a:t>
            </a:r>
            <a:endParaRPr lang="en-US" sz="1250" dirty="0"/>
          </a:p>
        </p:txBody>
      </p:sp>
      <p:sp>
        <p:nvSpPr>
          <p:cNvPr id="34" name="Text 31"/>
          <p:cNvSpPr txBox="1"/>
          <p:nvPr/>
        </p:nvSpPr>
        <p:spPr>
          <a:xfrm>
            <a:off x="9098280" y="3611880"/>
            <a:ext cx="2560320" cy="320040"/>
          </a:xfrm>
          <a:prstGeom prst="rect">
            <a:avLst/>
          </a:prstGeom>
          <a:noFill/>
          <a:ln/>
        </p:spPr>
        <p:txBody>
          <a:bodyPr wrap="square" lIns="0" tIns="0" rIns="0" bIns="0" rtlCol="0" anchor="ctr"/>
          <a:lstStyle/>
          <a:p>
            <a:pPr indent="0" marL="0">
              <a:buNone/>
            </a:pPr>
            <a:r>
              <a:rPr lang="en-US" sz="1500" b="1" dirty="0">
                <a:solidFill>
                  <a:srgbClr val="0F9ED5"/>
                </a:solidFill>
                <a:latin typeface="Aptos" pitchFamily="34" charset="0"/>
                <a:ea typeface="Aptos" pitchFamily="34" charset="-122"/>
                <a:cs typeface="Aptos" pitchFamily="34" charset="-120"/>
              </a:rPr>
              <a:t>Click to edit</a:t>
            </a:r>
            <a:endParaRPr lang="en-US" sz="1500" dirty="0"/>
          </a:p>
        </p:txBody>
      </p:sp>
      <p:sp>
        <p:nvSpPr>
          <p:cNvPr id="35" name="Text 32"/>
          <p:cNvSpPr txBox="1"/>
          <p:nvPr/>
        </p:nvSpPr>
        <p:spPr>
          <a:xfrm>
            <a:off x="9098280" y="3931920"/>
            <a:ext cx="2560320" cy="548640"/>
          </a:xfrm>
          <a:prstGeom prst="rect">
            <a:avLst/>
          </a:prstGeom>
          <a:noFill/>
          <a:ln/>
        </p:spPr>
        <p:txBody>
          <a:bodyPr wrap="square" lIns="0" tIns="0" rIns="0" bIns="0" rtlCol="0" anchor="t"/>
          <a:lstStyle/>
          <a:p>
            <a:pPr indent="0" marL="0">
              <a:buNone/>
            </a:pPr>
            <a:r>
              <a:rPr lang="en-US" sz="1250" dirty="0">
                <a:solidFill>
                  <a:srgbClr val="262626"/>
                </a:solidFill>
                <a:latin typeface="Aptos" pitchFamily="34" charset="0"/>
                <a:ea typeface="Aptos" pitchFamily="34" charset="-122"/>
                <a:cs typeface="Aptos" pitchFamily="34" charset="-120"/>
              </a:rPr>
              <a:t>Change any value live. Untick to switch it off.</a:t>
            </a:r>
            <a:endParaRPr lang="en-US" sz="1250" dirty="0"/>
          </a:p>
        </p:txBody>
      </p:sp>
      <p:sp>
        <p:nvSpPr>
          <p:cNvPr id="36" name="Text 33"/>
          <p:cNvSpPr txBox="1"/>
          <p:nvPr/>
        </p:nvSpPr>
        <p:spPr>
          <a:xfrm>
            <a:off x="9098280" y="4526280"/>
            <a:ext cx="2560320" cy="320040"/>
          </a:xfrm>
          <a:prstGeom prst="rect">
            <a:avLst/>
          </a:prstGeom>
          <a:noFill/>
          <a:ln/>
        </p:spPr>
        <p:txBody>
          <a:bodyPr wrap="square" lIns="0" tIns="0" rIns="0" bIns="0" rtlCol="0" anchor="ctr"/>
          <a:lstStyle/>
          <a:p>
            <a:pPr indent="0" marL="0">
              <a:buNone/>
            </a:pPr>
            <a:r>
              <a:rPr lang="en-US" sz="1500" b="1" dirty="0">
                <a:solidFill>
                  <a:srgbClr val="1B5E82"/>
                </a:solidFill>
                <a:latin typeface="Aptos" pitchFamily="34" charset="0"/>
                <a:ea typeface="Aptos" pitchFamily="34" charset="-122"/>
                <a:cs typeface="Aptos" pitchFamily="34" charset="-120"/>
              </a:rPr>
              <a:t>style.css:124</a:t>
            </a:r>
            <a:endParaRPr lang="en-US" sz="1500" dirty="0"/>
          </a:p>
        </p:txBody>
      </p:sp>
      <p:sp>
        <p:nvSpPr>
          <p:cNvPr id="37" name="Text 34"/>
          <p:cNvSpPr txBox="1"/>
          <p:nvPr/>
        </p:nvSpPr>
        <p:spPr>
          <a:xfrm>
            <a:off x="9098280" y="4846320"/>
            <a:ext cx="2560320" cy="548640"/>
          </a:xfrm>
          <a:prstGeom prst="rect">
            <a:avLst/>
          </a:prstGeom>
          <a:noFill/>
          <a:ln/>
        </p:spPr>
        <p:txBody>
          <a:bodyPr wrap="square" lIns="0" tIns="0" rIns="0" bIns="0" rtlCol="0" anchor="t"/>
          <a:lstStyle/>
          <a:p>
            <a:pPr indent="0" marL="0">
              <a:buNone/>
            </a:pPr>
            <a:r>
              <a:rPr lang="en-US" sz="1250" dirty="0">
                <a:solidFill>
                  <a:srgbClr val="262626"/>
                </a:solidFill>
                <a:latin typeface="Aptos" pitchFamily="34" charset="0"/>
                <a:ea typeface="Aptos" pitchFamily="34" charset="-122"/>
                <a:cs typeface="Aptos" pitchFamily="34" charset="-120"/>
              </a:rPr>
              <a:t>Which file and line the rule came from.</a:t>
            </a:r>
            <a:endParaRPr lang="en-US" sz="1250" dirty="0"/>
          </a:p>
        </p:txBody>
      </p:sp>
      <p:sp>
        <p:nvSpPr>
          <p:cNvPr id="38" name="Shape 35"/>
          <p:cNvSpPr/>
          <p:nvPr/>
        </p:nvSpPr>
        <p:spPr>
          <a:xfrm>
            <a:off x="9098280" y="5532120"/>
            <a:ext cx="2560320" cy="731520"/>
          </a:xfrm>
          <a:prstGeom prst="roundRect">
            <a:avLst>
              <a:gd name="adj" fmla="val 15000"/>
            </a:avLst>
          </a:prstGeom>
          <a:solidFill>
            <a:srgbClr val="FBE9DF"/>
          </a:solidFill>
          <a:ln w="9525">
            <a:solidFill>
              <a:srgbClr val="F2C6AC"/>
            </a:solidFill>
            <a:prstDash val="solid"/>
          </a:ln>
          <a:effectLst>
            <a:outerShdw sx="100000" sy="100000" kx="0" ky="0" algn="bl" rotWithShape="0" blurRad="76200" dist="25400" dir="5400000">
              <a:srgbClr val="000000">
                <a:alpha val="12000"/>
              </a:srgbClr>
            </a:outerShdw>
          </a:effectLst>
        </p:spPr>
      </p:sp>
      <p:sp>
        <p:nvSpPr>
          <p:cNvPr id="39" name="Text 36"/>
          <p:cNvSpPr txBox="1"/>
          <p:nvPr/>
        </p:nvSpPr>
        <p:spPr>
          <a:xfrm>
            <a:off x="9235440" y="5532120"/>
            <a:ext cx="2286000" cy="731520"/>
          </a:xfrm>
          <a:prstGeom prst="rect">
            <a:avLst/>
          </a:prstGeom>
          <a:noFill/>
          <a:ln/>
        </p:spPr>
        <p:txBody>
          <a:bodyPr wrap="square" lIns="0" tIns="0" rIns="0" bIns="0" rtlCol="0" anchor="ctr"/>
          <a:lstStyle/>
          <a:p>
            <a:pPr indent="0" marL="0">
              <a:buNone/>
            </a:pPr>
            <a:r>
              <a:rPr lang="en-US" sz="1250" b="1" dirty="0">
                <a:solidFill>
                  <a:srgbClr val="262626"/>
                </a:solidFill>
                <a:latin typeface="Aptos" pitchFamily="34" charset="0"/>
                <a:ea typeface="Aptos" pitchFamily="34" charset="-122"/>
                <a:cs typeface="Aptos" pitchFamily="34" charset="-120"/>
              </a:rPr>
              <a:t>DevTools changes vanish on reload. Copy the good ones to style.css!</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7: DevTools Detective (10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The mystery: where did the Lobster Roll's highlight go?</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It was peach after Try It 2. Now it's white.</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Right-click the Lobster Roll card → Inspect</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Click the </a:t>
            </a:r>
            <a:pPr indent="0" marL="0">
              <a:buNone/>
            </a:pPr>
            <a:r>
              <a:rPr lang="en-US" sz="1300" dirty="0">
                <a:solidFill>
                  <a:srgbClr val="8A2B0B"/>
                </a:solidFill>
                <a:latin typeface="Consolas" pitchFamily="34" charset="0"/>
                <a:ea typeface="Consolas" pitchFamily="34" charset="-122"/>
                <a:cs typeface="Consolas" pitchFamily="34" charset="-120"/>
              </a:rPr>
              <a:t>&lt;article class="special"&gt;</a:t>
            </a:r>
            <a:pPr indent="0" marL="0">
              <a:buNone/>
            </a:pPr>
            <a:r>
              <a:rPr lang="en-US" sz="1300" dirty="0">
                <a:solidFill>
                  <a:srgbClr val="262626"/>
                </a:solidFill>
                <a:latin typeface="Aptos" pitchFamily="34" charset="0"/>
                <a:ea typeface="Aptos" pitchFamily="34" charset="-122"/>
                <a:cs typeface="Aptos" pitchFamily="34" charset="-120"/>
              </a:rPr>
              <a:t> line in Elements.</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Find .special in Styles</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Its background is </a:t>
            </a:r>
            <a:pPr indent="0" marL="0">
              <a:buNone/>
            </a:pPr>
            <a:r>
              <a:rPr lang="en-US" sz="1300" b="1" dirty="0">
                <a:solidFill>
                  <a:srgbClr val="262626"/>
                </a:solidFill>
                <a:latin typeface="Aptos" pitchFamily="34" charset="0"/>
                <a:ea typeface="Aptos" pitchFamily="34" charset="-122"/>
                <a:cs typeface="Aptos" pitchFamily="34" charset="-120"/>
              </a:rPr>
              <a:t>crossed out</a:t>
            </a:r>
            <a:pPr indent="0" marL="0">
              <a:buNone/>
            </a:pPr>
            <a:r>
              <a:rPr lang="en-US" sz="1300" dirty="0">
                <a:solidFill>
                  <a:srgbClr val="262626"/>
                </a:solidFill>
                <a:latin typeface="Aptos" pitchFamily="34" charset="0"/>
                <a:ea typeface="Aptos" pitchFamily="34" charset="-122"/>
                <a:cs typeface="Aptos" pitchFamily="34" charset="-120"/>
              </a:rPr>
              <a:t>. Which rule beat it, and why?</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sp>
      <p:sp>
        <p:nvSpPr>
          <p:cNvPr id="18" name="Text 15"/>
          <p:cNvSpPr txBox="1"/>
          <p:nvPr/>
        </p:nvSpPr>
        <p:spPr>
          <a:xfrm>
            <a:off x="914400"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Fix it in style.css</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#menu article</a:t>
            </a:r>
            <a:pPr indent="0" marL="0">
              <a:buNone/>
            </a:pPr>
            <a:r>
              <a:rPr lang="en-US" sz="1300" dirty="0">
                <a:solidFill>
                  <a:srgbClr val="262626"/>
                </a:solidFill>
                <a:latin typeface="Aptos" pitchFamily="34" charset="0"/>
                <a:ea typeface="Aptos" pitchFamily="34" charset="-122"/>
                <a:cs typeface="Aptos" pitchFamily="34" charset="-120"/>
              </a:rPr>
              <a:t> has an id, so it beats </a:t>
            </a:r>
            <a:pPr indent="0" marL="0">
              <a:buNone/>
            </a:pPr>
            <a:r>
              <a:rPr lang="en-US" sz="1300" dirty="0">
                <a:solidFill>
                  <a:srgbClr val="8A2B0B"/>
                </a:solidFill>
                <a:latin typeface="Consolas" pitchFamily="34" charset="0"/>
                <a:ea typeface="Consolas" pitchFamily="34" charset="-122"/>
                <a:cs typeface="Consolas" pitchFamily="34" charset="-120"/>
              </a:rPr>
              <a:t>.special</a:t>
            </a:r>
            <a:pPr indent="0" marL="0">
              <a:buNone/>
            </a:pPr>
            <a:r>
              <a:rPr lang="en-US" sz="1300" dirty="0">
                <a:solidFill>
                  <a:srgbClr val="262626"/>
                </a:solidFill>
                <a:latin typeface="Aptos" pitchFamily="34" charset="0"/>
                <a:ea typeface="Aptos" pitchFamily="34" charset="-122"/>
                <a:cs typeface="Aptos" pitchFamily="34" charset="-120"/>
              </a:rPr>
              <a:t>. Add the id to your rule too (on the right).</a:t>
            </a:r>
            <a:endParaRPr lang="en-US" sz="1300" dirty="0"/>
          </a:p>
        </p:txBody>
      </p:sp>
      <p:sp>
        <p:nvSpPr>
          <p:cNvPr id="21" name="Shape 18"/>
          <p:cNvSpPr/>
          <p:nvPr/>
        </p:nvSpPr>
        <p:spPr>
          <a:xfrm>
            <a:off x="914400" y="5230368"/>
            <a:ext cx="402336" cy="402336"/>
          </a:xfrm>
          <a:prstGeom prst="ellipse">
            <a:avLst/>
          </a:prstGeom>
          <a:solidFill>
            <a:srgbClr val="E97132"/>
          </a:solidFill>
          <a:ln w="12700">
            <a:solidFill>
              <a:srgbClr val="E97132"/>
            </a:solidFill>
            <a:prstDash val="solid"/>
          </a:ln>
        </p:spPr>
      </p:sp>
      <p:sp>
        <p:nvSpPr>
          <p:cNvPr id="22" name="Text 19"/>
          <p:cNvSpPr txBox="1"/>
          <p:nvPr/>
        </p:nvSpPr>
        <p:spPr>
          <a:xfrm>
            <a:off x="914400" y="52303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3" name="Text 20"/>
          <p:cNvSpPr txBox="1"/>
          <p:nvPr/>
        </p:nvSpPr>
        <p:spPr>
          <a:xfrm>
            <a:off x="1463040" y="52120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Play with it</a:t>
            </a:r>
            <a:endParaRPr lang="en-US" sz="1550" dirty="0"/>
          </a:p>
        </p:txBody>
      </p:sp>
      <p:sp>
        <p:nvSpPr>
          <p:cNvPr id="24" name="Text 21"/>
          <p:cNvSpPr txBox="1"/>
          <p:nvPr/>
        </p:nvSpPr>
        <p:spPr>
          <a:xfrm>
            <a:off x="1463040" y="55229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Click values in Styles and change them live. Untick some. Then reload: what happens?</a:t>
            </a:r>
            <a:endParaRPr lang="en-US" sz="1300" dirty="0"/>
          </a:p>
        </p:txBody>
      </p:sp>
      <p:sp>
        <p:nvSpPr>
          <p:cNvPr id="25" name="Shape 22"/>
          <p:cNvSpPr/>
          <p:nvPr/>
        </p:nvSpPr>
        <p:spPr>
          <a:xfrm>
            <a:off x="6995160" y="1325880"/>
            <a:ext cx="4647895" cy="39776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26" name="Text 23"/>
          <p:cNvSpPr txBox="1"/>
          <p:nvPr/>
        </p:nvSpPr>
        <p:spPr>
          <a:xfrm>
            <a:off x="7223760" y="1435608"/>
            <a:ext cx="4190695"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IN STYLE.CSS</a:t>
            </a:r>
            <a:endParaRPr lang="en-US" sz="1100" dirty="0"/>
          </a:p>
        </p:txBody>
      </p:sp>
      <p:sp>
        <p:nvSpPr>
          <p:cNvPr id="27" name="Text 24"/>
          <p:cNvSpPr txBox="1"/>
          <p:nvPr/>
        </p:nvSpPr>
        <p:spPr>
          <a:xfrm>
            <a:off x="7223760" y="1901952"/>
            <a:ext cx="4190695" cy="3172968"/>
          </a:xfrm>
          <a:prstGeom prst="rect">
            <a:avLst/>
          </a:prstGeom>
          <a:noFill/>
          <a:ln/>
        </p:spPr>
        <p:txBody>
          <a:bodyPr wrap="square" lIns="0" tIns="0" rIns="0" bIns="0" rtlCol="0" anchor="t"/>
          <a:lstStyle/>
          <a:p>
            <a:pPr indent="0" marL="0">
              <a:lnSpc>
                <a:spcPct val="100000"/>
              </a:lnSpc>
              <a:buNone/>
            </a:pPr>
            <a:r>
              <a:rPr lang="en-US" sz="1300" dirty="0">
                <a:solidFill>
                  <a:srgbClr val="6A9955"/>
                </a:solidFill>
                <a:latin typeface="Consolas" pitchFamily="34" charset="0"/>
                <a:ea typeface="Consolas" pitchFamily="34" charset="-122"/>
                <a:cs typeface="Consolas" pitchFamily="34" charset="-120"/>
              </a:rPr>
              <a:t>/* An id + a class beats an id + an element */</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#menu .special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#FBE9DF</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border-color</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#E97132</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p:txBody>
      </p:sp>
      <p:sp>
        <p:nvSpPr>
          <p:cNvPr id="28" name="Shape 25"/>
          <p:cNvSpPr/>
          <p:nvPr/>
        </p:nvSpPr>
        <p:spPr>
          <a:xfrm>
            <a:off x="6995160" y="5486400"/>
            <a:ext cx="4647895" cy="868680"/>
          </a:xfrm>
          <a:prstGeom prst="roundRect">
            <a:avLst>
              <a:gd name="adj" fmla="val 12632"/>
            </a:avLst>
          </a:prstGeom>
          <a:solidFill>
            <a:srgbClr val="FBE9DF"/>
          </a:solidFill>
          <a:ln w="9525">
            <a:solidFill>
              <a:srgbClr val="F2C6AC"/>
            </a:solidFill>
            <a:prstDash val="solid"/>
          </a:ln>
          <a:effectLst>
            <a:outerShdw sx="100000" sy="100000" kx="0" ky="0" algn="bl" rotWithShape="0" blurRad="76200" dist="25400" dir="5400000">
              <a:srgbClr val="000000">
                <a:alpha val="12000"/>
              </a:srgbClr>
            </a:outerShdw>
          </a:effectLst>
        </p:spPr>
      </p:sp>
      <p:sp>
        <p:nvSpPr>
          <p:cNvPr id="29" name="Text 26"/>
          <p:cNvSpPr txBox="1"/>
          <p:nvPr/>
        </p:nvSpPr>
        <p:spPr>
          <a:xfrm>
            <a:off x="7223760" y="5486400"/>
            <a:ext cx="4190695" cy="868680"/>
          </a:xfrm>
          <a:prstGeom prst="rect">
            <a:avLst/>
          </a:prstGeom>
          <a:noFill/>
          <a:ln/>
        </p:spPr>
        <p:txBody>
          <a:bodyPr wrap="square" lIns="0" tIns="0" rIns="0" bIns="0" rtlCol="0" anchor="ctr"/>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Open the </a:t>
            </a:r>
            <a:pPr indent="0" marL="0">
              <a:buNone/>
            </a:pPr>
            <a:r>
              <a:rPr lang="en-US" sz="1300" b="1" dirty="0">
                <a:solidFill>
                  <a:srgbClr val="262626"/>
                </a:solidFill>
                <a:latin typeface="Aptos" pitchFamily="34" charset="0"/>
                <a:ea typeface="Aptos" pitchFamily="34" charset="-122"/>
                <a:cs typeface="Aptos" pitchFamily="34" charset="-120"/>
              </a:rPr>
              <a:t>Computed</a:t>
            </a:r>
            <a:pPr indent="0" marL="0">
              <a:buNone/>
            </a:pPr>
            <a:r>
              <a:rPr lang="en-US" sz="1300" dirty="0">
                <a:solidFill>
                  <a:srgbClr val="262626"/>
                </a:solidFill>
                <a:latin typeface="Aptos" pitchFamily="34" charset="0"/>
                <a:ea typeface="Aptos" pitchFamily="34" charset="-122"/>
                <a:cs typeface="Aptos" pitchFamily="34" charset="-120"/>
              </a:rPr>
              <a:t> tab too: it shows the box model diagram for the card, with its real padding, border and margin.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Make It Yours, Then Submit (10 min, or homework)</a:t>
            </a:r>
            <a:endParaRPr lang="en-US" sz="2800" dirty="0"/>
          </a:p>
        </p:txBody>
      </p:sp>
      <p:sp>
        <p:nvSpPr>
          <p:cNvPr id="4" name="Shape 1"/>
          <p:cNvSpPr/>
          <p:nvPr/>
        </p:nvSpPr>
        <p:spPr>
          <a:xfrm>
            <a:off x="685800" y="1325880"/>
            <a:ext cx="694944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960120" y="1508760"/>
            <a:ext cx="6400800" cy="36576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Change at least three things. Ideas:</a:t>
            </a:r>
            <a:endParaRPr lang="en-US" sz="1800" dirty="0"/>
          </a:p>
        </p:txBody>
      </p:sp>
      <p:sp>
        <p:nvSpPr>
          <p:cNvPr id="6" name="Shape 3"/>
          <p:cNvSpPr/>
          <p:nvPr/>
        </p:nvSpPr>
        <p:spPr>
          <a:xfrm>
            <a:off x="960120" y="2057400"/>
            <a:ext cx="365760" cy="365760"/>
          </a:xfrm>
          <a:prstGeom prst="ellipse">
            <a:avLst/>
          </a:prstGeom>
          <a:solidFill>
            <a:srgbClr val="E97132"/>
          </a:solidFill>
          <a:ln w="12700">
            <a:solidFill>
              <a:srgbClr val="E97132"/>
            </a:solidFill>
            <a:prstDash val="solid"/>
          </a:ln>
        </p:spPr>
      </p:sp>
      <p:sp>
        <p:nvSpPr>
          <p:cNvPr id="7" name="Text 4"/>
          <p:cNvSpPr txBox="1"/>
          <p:nvPr/>
        </p:nvSpPr>
        <p:spPr>
          <a:xfrm>
            <a:off x="960120" y="20574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8" name="Text 5"/>
          <p:cNvSpPr txBox="1"/>
          <p:nvPr/>
        </p:nvSpPr>
        <p:spPr>
          <a:xfrm>
            <a:off x="1508760" y="2057400"/>
            <a:ext cx="5943600" cy="548640"/>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Your own </a:t>
            </a:r>
            <a:pPr indent="0" marL="0">
              <a:buNone/>
            </a:pPr>
            <a:r>
              <a:rPr lang="en-US" sz="1450" b="1" dirty="0">
                <a:solidFill>
                  <a:srgbClr val="262626"/>
                </a:solidFill>
                <a:latin typeface="Aptos" pitchFamily="34" charset="0"/>
                <a:ea typeface="Aptos" pitchFamily="34" charset="-122"/>
                <a:cs typeface="Aptos" pitchFamily="34" charset="-120"/>
              </a:rPr>
              <a:t>colour palette</a:t>
            </a:r>
            <a:pPr indent="0" marL="0">
              <a:buNone/>
            </a:pPr>
            <a:r>
              <a:rPr lang="en-US" sz="1450" dirty="0">
                <a:solidFill>
                  <a:srgbClr val="262626"/>
                </a:solidFill>
                <a:latin typeface="Aptos" pitchFamily="34" charset="0"/>
                <a:ea typeface="Aptos" pitchFamily="34" charset="-122"/>
                <a:cs typeface="Aptos" pitchFamily="34" charset="-120"/>
              </a:rPr>
              <a:t> (coolors.co). Check every pair passes 4.5 : 1.</a:t>
            </a:r>
            <a:endParaRPr lang="en-US" sz="1450" dirty="0"/>
          </a:p>
        </p:txBody>
      </p:sp>
      <p:sp>
        <p:nvSpPr>
          <p:cNvPr id="9" name="Shape 6"/>
          <p:cNvSpPr/>
          <p:nvPr/>
        </p:nvSpPr>
        <p:spPr>
          <a:xfrm>
            <a:off x="960120" y="2679192"/>
            <a:ext cx="365760" cy="365760"/>
          </a:xfrm>
          <a:prstGeom prst="ellipse">
            <a:avLst/>
          </a:prstGeom>
          <a:solidFill>
            <a:srgbClr val="E97132"/>
          </a:solidFill>
          <a:ln w="12700">
            <a:solidFill>
              <a:srgbClr val="E97132"/>
            </a:solidFill>
            <a:prstDash val="solid"/>
          </a:ln>
        </p:spPr>
      </p:sp>
      <p:sp>
        <p:nvSpPr>
          <p:cNvPr id="10" name="Text 7"/>
          <p:cNvSpPr txBox="1"/>
          <p:nvPr/>
        </p:nvSpPr>
        <p:spPr>
          <a:xfrm>
            <a:off x="960120" y="26791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508760" y="2679192"/>
            <a:ext cx="5943600" cy="548640"/>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A </a:t>
            </a:r>
            <a:pPr indent="0" marL="0">
              <a:buNone/>
            </a:pPr>
            <a:r>
              <a:rPr lang="en-US" sz="1450" b="1" dirty="0">
                <a:solidFill>
                  <a:srgbClr val="262626"/>
                </a:solidFill>
                <a:latin typeface="Aptos" pitchFamily="34" charset="0"/>
                <a:ea typeface="Aptos" pitchFamily="34" charset="-122"/>
                <a:cs typeface="Aptos" pitchFamily="34" charset="-120"/>
              </a:rPr>
              <a:t>Google Font</a:t>
            </a:r>
            <a:pPr indent="0" marL="0">
              <a:buNone/>
            </a:pPr>
            <a:r>
              <a:rPr lang="en-US" sz="1450" dirty="0">
                <a:solidFill>
                  <a:srgbClr val="262626"/>
                </a:solidFill>
                <a:latin typeface="Aptos" pitchFamily="34" charset="0"/>
                <a:ea typeface="Aptos" pitchFamily="34" charset="-122"/>
                <a:cs typeface="Aptos" pitchFamily="34" charset="-120"/>
              </a:rPr>
              <a:t> for the h1 (fonts.google.com).</a:t>
            </a:r>
            <a:endParaRPr lang="en-US" sz="1450" dirty="0"/>
          </a:p>
        </p:txBody>
      </p:sp>
      <p:sp>
        <p:nvSpPr>
          <p:cNvPr id="12" name="Shape 9"/>
          <p:cNvSpPr/>
          <p:nvPr/>
        </p:nvSpPr>
        <p:spPr>
          <a:xfrm>
            <a:off x="960120" y="3300984"/>
            <a:ext cx="365760" cy="365760"/>
          </a:xfrm>
          <a:prstGeom prst="ellipse">
            <a:avLst/>
          </a:prstGeom>
          <a:solidFill>
            <a:srgbClr val="E97132"/>
          </a:solidFill>
          <a:ln w="12700">
            <a:solidFill>
              <a:srgbClr val="E97132"/>
            </a:solidFill>
            <a:prstDash val="solid"/>
          </a:ln>
        </p:spPr>
      </p:sp>
      <p:sp>
        <p:nvSpPr>
          <p:cNvPr id="13" name="Text 10"/>
          <p:cNvSpPr txBox="1"/>
          <p:nvPr/>
        </p:nvSpPr>
        <p:spPr>
          <a:xfrm>
            <a:off x="960120" y="33009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4" name="Text 11"/>
          <p:cNvSpPr txBox="1"/>
          <p:nvPr/>
        </p:nvSpPr>
        <p:spPr>
          <a:xfrm>
            <a:off x="1508760" y="3300984"/>
            <a:ext cx="5943600" cy="548640"/>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A </a:t>
            </a:r>
            <a:pPr indent="0" marL="0">
              <a:buNone/>
            </a:pPr>
            <a:r>
              <a:rPr lang="en-US" sz="1450" b="1" dirty="0">
                <a:solidFill>
                  <a:srgbClr val="262626"/>
                </a:solidFill>
                <a:latin typeface="Aptos" pitchFamily="34" charset="0"/>
                <a:ea typeface="Aptos" pitchFamily="34" charset="-122"/>
                <a:cs typeface="Aptos" pitchFamily="34" charset="-120"/>
              </a:rPr>
              <a:t>hover</a:t>
            </a:r>
            <a:pPr indent="0" marL="0">
              <a:buNone/>
            </a:pPr>
            <a:r>
              <a:rPr lang="en-US" sz="1450" dirty="0">
                <a:solidFill>
                  <a:srgbClr val="262626"/>
                </a:solidFill>
                <a:latin typeface="Aptos" pitchFamily="34" charset="0"/>
                <a:ea typeface="Aptos" pitchFamily="34" charset="-122"/>
                <a:cs typeface="Aptos" pitchFamily="34" charset="-120"/>
              </a:rPr>
              <a:t> style for links: </a:t>
            </a:r>
            <a:pPr indent="0" marL="0">
              <a:buNone/>
            </a:pPr>
            <a:r>
              <a:rPr lang="en-US" sz="1450" dirty="0">
                <a:solidFill>
                  <a:srgbClr val="8A2B0B"/>
                </a:solidFill>
                <a:latin typeface="Consolas" pitchFamily="34" charset="0"/>
                <a:ea typeface="Consolas" pitchFamily="34" charset="-122"/>
                <a:cs typeface="Consolas" pitchFamily="34" charset="-120"/>
              </a:rPr>
              <a:t>nav a:hover { text-decoration: underline; }</a:t>
            </a:r>
            <a:endParaRPr lang="en-US" sz="1450" dirty="0"/>
          </a:p>
        </p:txBody>
      </p:sp>
      <p:sp>
        <p:nvSpPr>
          <p:cNvPr id="15" name="Shape 12"/>
          <p:cNvSpPr/>
          <p:nvPr/>
        </p:nvSpPr>
        <p:spPr>
          <a:xfrm>
            <a:off x="960120" y="3922776"/>
            <a:ext cx="365760" cy="365760"/>
          </a:xfrm>
          <a:prstGeom prst="ellipse">
            <a:avLst/>
          </a:prstGeom>
          <a:solidFill>
            <a:srgbClr val="E97132"/>
          </a:solidFill>
          <a:ln w="12700">
            <a:solidFill>
              <a:srgbClr val="E97132"/>
            </a:solidFill>
            <a:prstDash val="solid"/>
          </a:ln>
        </p:spPr>
      </p:sp>
      <p:sp>
        <p:nvSpPr>
          <p:cNvPr id="16" name="Text 13"/>
          <p:cNvSpPr txBox="1"/>
          <p:nvPr/>
        </p:nvSpPr>
        <p:spPr>
          <a:xfrm>
            <a:off x="960120" y="39227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7" name="Text 14"/>
          <p:cNvSpPr txBox="1"/>
          <p:nvPr/>
        </p:nvSpPr>
        <p:spPr>
          <a:xfrm>
            <a:off x="1508760" y="3922776"/>
            <a:ext cx="5943600" cy="548640"/>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Style the </a:t>
            </a:r>
            <a:pPr indent="0" marL="0">
              <a:buNone/>
            </a:pPr>
            <a:r>
              <a:rPr lang="en-US" sz="1450" b="1" dirty="0">
                <a:solidFill>
                  <a:srgbClr val="262626"/>
                </a:solidFill>
                <a:latin typeface="Aptos" pitchFamily="34" charset="0"/>
                <a:ea typeface="Aptos" pitchFamily="34" charset="-122"/>
                <a:cs typeface="Aptos" pitchFamily="34" charset="-120"/>
              </a:rPr>
              <a:t>aside</a:t>
            </a:r>
            <a:pPr indent="0" marL="0">
              <a:buNone/>
            </a:pPr>
            <a:r>
              <a:rPr lang="en-US" sz="1450" dirty="0">
                <a:solidFill>
                  <a:srgbClr val="262626"/>
                </a:solidFill>
                <a:latin typeface="Aptos" pitchFamily="34" charset="0"/>
                <a:ea typeface="Aptos" pitchFamily="34" charset="-122"/>
                <a:cs typeface="Aptos" pitchFamily="34" charset="-120"/>
              </a:rPr>
              <a:t> (hours): background, border, rounded corners.</a:t>
            </a:r>
            <a:endParaRPr lang="en-US" sz="1450" dirty="0"/>
          </a:p>
        </p:txBody>
      </p:sp>
      <p:sp>
        <p:nvSpPr>
          <p:cNvPr id="18" name="Shape 15"/>
          <p:cNvSpPr/>
          <p:nvPr/>
        </p:nvSpPr>
        <p:spPr>
          <a:xfrm>
            <a:off x="960120" y="4544568"/>
            <a:ext cx="365760" cy="365760"/>
          </a:xfrm>
          <a:prstGeom prst="ellipse">
            <a:avLst/>
          </a:prstGeom>
          <a:solidFill>
            <a:srgbClr val="E97132"/>
          </a:solidFill>
          <a:ln w="12700">
            <a:solidFill>
              <a:srgbClr val="E97132"/>
            </a:solidFill>
            <a:prstDash val="solid"/>
          </a:ln>
        </p:spPr>
      </p:sp>
      <p:sp>
        <p:nvSpPr>
          <p:cNvPr id="19" name="Text 16"/>
          <p:cNvSpPr txBox="1"/>
          <p:nvPr/>
        </p:nvSpPr>
        <p:spPr>
          <a:xfrm>
            <a:off x="960120" y="45445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0" name="Text 17"/>
          <p:cNvSpPr txBox="1"/>
          <p:nvPr/>
        </p:nvSpPr>
        <p:spPr>
          <a:xfrm>
            <a:off x="1508760" y="4544568"/>
            <a:ext cx="5943600" cy="548640"/>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Make the </a:t>
            </a:r>
            <a:pPr indent="0" marL="0">
              <a:buNone/>
            </a:pPr>
            <a:r>
              <a:rPr lang="en-US" sz="1450" b="1" dirty="0">
                <a:solidFill>
                  <a:srgbClr val="262626"/>
                </a:solidFill>
                <a:latin typeface="Aptos" pitchFamily="34" charset="0"/>
                <a:ea typeface="Aptos" pitchFamily="34" charset="-122"/>
                <a:cs typeface="Aptos" pitchFamily="34" charset="-120"/>
              </a:rPr>
              <a:t>footer</a:t>
            </a:r>
            <a:pPr indent="0" marL="0">
              <a:buNone/>
            </a:pPr>
            <a:r>
              <a:rPr lang="en-US" sz="1450" dirty="0">
                <a:solidFill>
                  <a:srgbClr val="262626"/>
                </a:solidFill>
                <a:latin typeface="Aptos" pitchFamily="34" charset="0"/>
                <a:ea typeface="Aptos" pitchFamily="34" charset="-122"/>
                <a:cs typeface="Aptos" pitchFamily="34" charset="-120"/>
              </a:rPr>
              <a:t> centred, with smaller text.</a:t>
            </a:r>
            <a:endParaRPr lang="en-US" sz="1450" dirty="0"/>
          </a:p>
        </p:txBody>
      </p:sp>
      <p:sp>
        <p:nvSpPr>
          <p:cNvPr id="21" name="Shape 18"/>
          <p:cNvSpPr/>
          <p:nvPr/>
        </p:nvSpPr>
        <p:spPr>
          <a:xfrm>
            <a:off x="960120" y="5166360"/>
            <a:ext cx="365760" cy="365760"/>
          </a:xfrm>
          <a:prstGeom prst="ellipse">
            <a:avLst/>
          </a:prstGeom>
          <a:solidFill>
            <a:srgbClr val="E97132"/>
          </a:solidFill>
          <a:ln w="12700">
            <a:solidFill>
              <a:srgbClr val="E97132"/>
            </a:solidFill>
            <a:prstDash val="solid"/>
          </a:ln>
        </p:spPr>
      </p:sp>
      <p:sp>
        <p:nvSpPr>
          <p:cNvPr id="22" name="Text 19"/>
          <p:cNvSpPr txBox="1"/>
          <p:nvPr/>
        </p:nvSpPr>
        <p:spPr>
          <a:xfrm>
            <a:off x="960120" y="5166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6</a:t>
            </a:r>
            <a:endParaRPr lang="en-US" sz="1300" dirty="0"/>
          </a:p>
        </p:txBody>
      </p:sp>
      <p:sp>
        <p:nvSpPr>
          <p:cNvPr id="23" name="Text 20"/>
          <p:cNvSpPr txBox="1"/>
          <p:nvPr/>
        </p:nvSpPr>
        <p:spPr>
          <a:xfrm>
            <a:off x="1508760" y="5166360"/>
            <a:ext cx="5943600" cy="548640"/>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Make the prices bigger, or put a </a:t>
            </a:r>
            <a:pPr indent="0" marL="0">
              <a:buNone/>
            </a:pPr>
            <a:r>
              <a:rPr lang="en-US" sz="1450" dirty="0">
                <a:solidFill>
                  <a:srgbClr val="8A2B0B"/>
                </a:solidFill>
                <a:latin typeface="Consolas" pitchFamily="34" charset="0"/>
                <a:ea typeface="Consolas" pitchFamily="34" charset="-122"/>
                <a:cs typeface="Consolas" pitchFamily="34" charset="-120"/>
              </a:rPr>
              <a:t>border-bottom</a:t>
            </a:r>
            <a:pPr indent="0" marL="0">
              <a:buNone/>
            </a:pPr>
            <a:r>
              <a:rPr lang="en-US" sz="1450" dirty="0">
                <a:solidFill>
                  <a:srgbClr val="262626"/>
                </a:solidFill>
                <a:latin typeface="Aptos" pitchFamily="34" charset="0"/>
                <a:ea typeface="Aptos" pitchFamily="34" charset="-122"/>
                <a:cs typeface="Aptos" pitchFamily="34" charset="-120"/>
              </a:rPr>
              <a:t> under each h2.</a:t>
            </a:r>
            <a:endParaRPr lang="en-US" sz="1450" dirty="0"/>
          </a:p>
        </p:txBody>
      </p:sp>
      <p:sp>
        <p:nvSpPr>
          <p:cNvPr id="24" name="Shape 21"/>
          <p:cNvSpPr/>
          <p:nvPr/>
        </p:nvSpPr>
        <p:spPr>
          <a:xfrm>
            <a:off x="8001000" y="1325880"/>
            <a:ext cx="3520440" cy="5029200"/>
          </a:xfrm>
          <a:prstGeom prst="roundRect">
            <a:avLst>
              <a:gd name="adj" fmla="val 3117"/>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25" name="Text 22"/>
          <p:cNvSpPr txBox="1"/>
          <p:nvPr/>
        </p:nvSpPr>
        <p:spPr>
          <a:xfrm>
            <a:off x="8229600" y="1554480"/>
            <a:ext cx="3108960" cy="411480"/>
          </a:xfrm>
          <a:prstGeom prst="rect">
            <a:avLst/>
          </a:prstGeom>
          <a:noFill/>
          <a:ln/>
        </p:spPr>
        <p:txBody>
          <a:bodyPr wrap="square" lIns="0" tIns="0" rIns="0" bIns="0" rtlCol="0" anchor="ctr"/>
          <a:lstStyle/>
          <a:p>
            <a:pPr indent="0" marL="0">
              <a:buNone/>
            </a:pPr>
            <a:r>
              <a:rPr lang="en-US" sz="1800" b="1" dirty="0">
                <a:solidFill>
                  <a:srgbClr val="FFFFFF"/>
                </a:solidFill>
                <a:latin typeface="Aptos" pitchFamily="34" charset="0"/>
                <a:ea typeface="Aptos" pitchFamily="34" charset="-122"/>
                <a:cs typeface="Aptos" pitchFamily="34" charset="-120"/>
              </a:rPr>
              <a:t>Submit to Brightspace</a:t>
            </a:r>
            <a:endParaRPr lang="en-US" sz="1800" dirty="0"/>
          </a:p>
        </p:txBody>
      </p:sp>
      <p:sp>
        <p:nvSpPr>
          <p:cNvPr id="26" name="Text 23"/>
          <p:cNvSpPr txBox="1"/>
          <p:nvPr/>
        </p:nvSpPr>
        <p:spPr>
          <a:xfrm>
            <a:off x="8229600" y="2103120"/>
            <a:ext cx="3108960" cy="4023360"/>
          </a:xfrm>
          <a:prstGeom prst="rect">
            <a:avLst/>
          </a:prstGeom>
          <a:noFill/>
          <a:ln/>
        </p:spPr>
        <p:txBody>
          <a:bodyPr wrap="square" lIns="0" tIns="0" rIns="0" bIns="0" rtlCol="0" anchor="t"/>
          <a:lstStyle/>
          <a:p>
            <a:pPr indent="0" marL="0">
              <a:buNone/>
            </a:pPr>
            <a:r>
              <a:rPr lang="en-US" sz="1400" dirty="0">
                <a:solidFill>
                  <a:srgbClr val="D9D9D9"/>
                </a:solidFill>
                <a:latin typeface="Aptos" pitchFamily="34" charset="0"/>
                <a:ea typeface="Aptos" pitchFamily="34" charset="-122"/>
                <a:cs typeface="Aptos" pitchFamily="34" charset="-120"/>
              </a:rPr>
              <a:t>1. A screenshot of your page in the browser (Win + Shift + S)</a:t>
            </a:r>
            <a:endParaRPr lang="en-US" sz="1400" dirty="0"/>
          </a:p>
          <a:p>
            <a:pPr indent="0" marL="0">
              <a:buNone/>
            </a:pPr>
            <a:r>
              <a:rPr lang="en-US" sz="600" dirty="0">
                <a:solidFill>
                  <a:srgbClr val="D9D9D9"/>
                </a:solidFill>
                <a:latin typeface="Aptos" pitchFamily="34" charset="0"/>
                <a:ea typeface="Aptos" pitchFamily="34" charset="-122"/>
                <a:cs typeface="Aptos" pitchFamily="34" charset="-120"/>
              </a:rPr>
              <a:t> </a:t>
            </a:r>
            <a:endParaRPr lang="en-US" sz="1400" dirty="0"/>
          </a:p>
          <a:p>
            <a:pPr indent="0" marL="0">
              <a:buNone/>
            </a:pPr>
            <a:r>
              <a:rPr lang="en-US" sz="1400" dirty="0">
                <a:solidFill>
                  <a:srgbClr val="D9D9D9"/>
                </a:solidFill>
                <a:latin typeface="Aptos" pitchFamily="34" charset="0"/>
                <a:ea typeface="Aptos" pitchFamily="34" charset="-122"/>
                <a:cs typeface="Aptos" pitchFamily="34" charset="-120"/>
              </a:rPr>
              <a:t>2. Your style.css file</a:t>
            </a:r>
            <a:endParaRPr lang="en-US" sz="1400" dirty="0"/>
          </a:p>
          <a:p>
            <a:pPr indent="0" marL="0">
              <a:buNone/>
            </a:pPr>
            <a:r>
              <a:rPr lang="en-US" sz="1000" dirty="0">
                <a:solidFill>
                  <a:srgbClr val="D9D9D9"/>
                </a:solidFill>
                <a:latin typeface="Aptos" pitchFamily="34" charset="0"/>
                <a:ea typeface="Aptos" pitchFamily="34" charset="-122"/>
                <a:cs typeface="Aptos" pitchFamily="34" charset="-120"/>
              </a:rPr>
              <a:t> </a:t>
            </a:r>
            <a:endParaRPr lang="en-US" sz="1400" dirty="0"/>
          </a:p>
          <a:p>
            <a:pPr indent="0" marL="0">
              <a:buNone/>
            </a:pPr>
            <a:r>
              <a:rPr lang="en-US" sz="1400" b="1" dirty="0">
                <a:solidFill>
                  <a:srgbClr val="F2C6AC"/>
                </a:solidFill>
                <a:latin typeface="Aptos" pitchFamily="34" charset="0"/>
                <a:ea typeface="Aptos" pitchFamily="34" charset="-122"/>
                <a:cs typeface="Aptos" pitchFamily="34" charset="-120"/>
              </a:rPr>
              <a:t>Stuck? </a:t>
            </a:r>
            <a:pPr indent="0" marL="0">
              <a:buNone/>
            </a:pPr>
            <a:r>
              <a:rPr lang="en-US" sz="1400" dirty="0">
                <a:solidFill>
                  <a:srgbClr val="D9D9D9"/>
                </a:solidFill>
                <a:latin typeface="Aptos" pitchFamily="34" charset="0"/>
                <a:ea typeface="Aptos" pitchFamily="34" charset="-122"/>
                <a:cs typeface="Aptos" pitchFamily="34" charset="-120"/>
              </a:rPr>
              <a:t>Compare with activity/answer/style.css, one section at a time. Then use DevTools to find what's different.</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949440" y="822960"/>
            <a:ext cx="4937760" cy="4937760"/>
          </a:xfrm>
          <a:prstGeom prst="ellipse">
            <a:avLst/>
          </a:prstGeom>
          <a:ln w="355600">
            <a:solidFill>
              <a:srgbClr val="B7CFC6"/>
            </a:solidFill>
            <a:prstDash val="solid"/>
          </a:ln>
        </p:spPr>
      </p:sp>
      <p:sp>
        <p:nvSpPr>
          <p:cNvPr id="3" name="Text 1"/>
          <p:cNvSpPr txBox="1"/>
          <p:nvPr/>
        </p:nvSpPr>
        <p:spPr>
          <a:xfrm>
            <a:off x="731520" y="731520"/>
            <a:ext cx="6400800" cy="822960"/>
          </a:xfrm>
          <a:prstGeom prst="rect">
            <a:avLst/>
          </a:prstGeom>
          <a:noFill/>
          <a:ln/>
        </p:spPr>
        <p:txBody>
          <a:bodyPr wrap="square" lIns="0" tIns="0" rIns="0" bIns="0" rtlCol="0" anchor="ctr"/>
          <a:lstStyle/>
          <a:p>
            <a:pPr indent="0" marL="0">
              <a:buNone/>
            </a:pPr>
            <a:r>
              <a:rPr lang="en-US" sz="4000" dirty="0">
                <a:solidFill>
                  <a:srgbClr val="000000"/>
                </a:solidFill>
                <a:latin typeface="Aptos" pitchFamily="34" charset="0"/>
                <a:ea typeface="Aptos" pitchFamily="34" charset="-122"/>
                <a:cs typeface="Aptos" pitchFamily="34" charset="-120"/>
              </a:rPr>
              <a:t>How did you make out?</a:t>
            </a:r>
            <a:endParaRPr lang="en-US" sz="4000" dirty="0"/>
          </a:p>
        </p:txBody>
      </p:sp>
      <p:sp>
        <p:nvSpPr>
          <p:cNvPr id="4" name="Text 2"/>
          <p:cNvSpPr txBox="1"/>
          <p:nvPr/>
        </p:nvSpPr>
        <p:spPr>
          <a:xfrm>
            <a:off x="731520" y="1828800"/>
            <a:ext cx="5943600" cy="4114800"/>
          </a:xfrm>
          <a:prstGeom prst="rect">
            <a:avLst/>
          </a:prstGeom>
          <a:noFill/>
          <a:ln/>
        </p:spPr>
        <p:txBody>
          <a:bodyPr wrap="square" lIns="0" tIns="0" rIns="0" bIns="0" rtlCol="0" anchor="t"/>
          <a:lstStyle/>
          <a:p>
            <a:pPr marL="342900" indent="-342900">
              <a:buSzPct val="100000"/>
              <a:buChar char="•"/>
            </a:pPr>
            <a:r>
              <a:rPr lang="en-US" sz="2000" dirty="0">
                <a:solidFill>
                  <a:srgbClr val="262626"/>
                </a:solidFill>
                <a:latin typeface="Aptos" pitchFamily="34" charset="0"/>
                <a:ea typeface="Aptos" pitchFamily="34" charset="-122"/>
                <a:cs typeface="Aptos" pitchFamily="34" charset="-120"/>
              </a:rPr>
              <a:t>​</a:t>
            </a:r>
            <a:pPr indent="0" marL="0">
              <a:buNone/>
            </a:pPr>
            <a:r>
              <a:rPr lang="en-US" sz="2000" dirty="0">
                <a:solidFill>
                  <a:srgbClr val="262626"/>
                </a:solidFill>
                <a:latin typeface="Aptos" pitchFamily="34" charset="0"/>
                <a:ea typeface="Aptos" pitchFamily="34" charset="-122"/>
                <a:cs typeface="Aptos" pitchFamily="34" charset="-120"/>
              </a:rPr>
              <a:t>Which change made the </a:t>
            </a:r>
            <a:pPr indent="0" marL="0">
              <a:buNone/>
            </a:pPr>
            <a:r>
              <a:rPr lang="en-US" sz="2000" b="1" dirty="0">
                <a:solidFill>
                  <a:srgbClr val="262626"/>
                </a:solidFill>
                <a:latin typeface="Aptos" pitchFamily="34" charset="0"/>
                <a:ea typeface="Aptos" pitchFamily="34" charset="-122"/>
                <a:cs typeface="Aptos" pitchFamily="34" charset="-120"/>
              </a:rPr>
              <a:t>biggest difference</a:t>
            </a:r>
            <a:pPr indent="0" marL="0">
              <a:buNone/>
            </a:pPr>
            <a:r>
              <a:rPr lang="en-US" sz="2000" dirty="0">
                <a:solidFill>
                  <a:srgbClr val="262626"/>
                </a:solidFill>
                <a:latin typeface="Aptos" pitchFamily="34" charset="0"/>
                <a:ea typeface="Aptos" pitchFamily="34" charset="-122"/>
                <a:cs typeface="Aptos" pitchFamily="34" charset="-120"/>
              </a:rPr>
              <a:t> to how the page looks?</a:t>
            </a:r>
            <a:endParaRPr lang="en-US" sz="2000" dirty="0"/>
          </a:p>
          <a:p>
            <a:pPr marL="342900" indent="-342900">
              <a:spcBef>
                <a:spcPts val="1600"/>
              </a:spcBef>
              <a:buSzPct val="100000"/>
              <a:buChar char="•"/>
            </a:pPr>
            <a:r>
              <a:rPr lang="en-US" sz="2000" dirty="0">
                <a:solidFill>
                  <a:srgbClr val="262626"/>
                </a:solidFill>
                <a:latin typeface="Aptos" pitchFamily="34" charset="0"/>
                <a:ea typeface="Aptos" pitchFamily="34" charset="-122"/>
                <a:cs typeface="Aptos" pitchFamily="34" charset="-120"/>
              </a:rPr>
              <a:t>​</a:t>
            </a:r>
            <a:pPr indent="0" marL="0">
              <a:buNone/>
            </a:pPr>
            <a:r>
              <a:rPr lang="en-US" sz="2000" dirty="0">
                <a:solidFill>
                  <a:srgbClr val="262626"/>
                </a:solidFill>
                <a:latin typeface="Aptos" pitchFamily="34" charset="0"/>
                <a:ea typeface="Aptos" pitchFamily="34" charset="-122"/>
                <a:cs typeface="Aptos" pitchFamily="34" charset="-120"/>
              </a:rPr>
              <a:t>What was your most annoying bug? How did you find it?</a:t>
            </a:r>
            <a:endParaRPr lang="en-US" sz="2000" dirty="0"/>
          </a:p>
          <a:p>
            <a:pPr marL="342900" indent="-342900">
              <a:spcBef>
                <a:spcPts val="1600"/>
              </a:spcBef>
              <a:buSzPct val="100000"/>
              <a:buChar char="•"/>
            </a:pPr>
            <a:r>
              <a:rPr lang="en-US" sz="2000" dirty="0">
                <a:solidFill>
                  <a:srgbClr val="262626"/>
                </a:solidFill>
                <a:latin typeface="Aptos" pitchFamily="34" charset="0"/>
                <a:ea typeface="Aptos" pitchFamily="34" charset="-122"/>
                <a:cs typeface="Aptos" pitchFamily="34" charset="-120"/>
              </a:rPr>
              <a:t>​</a:t>
            </a:r>
            <a:pPr indent="0" marL="0">
              <a:buNone/>
            </a:pPr>
            <a:r>
              <a:rPr lang="en-US" sz="2000" dirty="0">
                <a:solidFill>
                  <a:srgbClr val="262626"/>
                </a:solidFill>
                <a:latin typeface="Aptos" pitchFamily="34" charset="0"/>
                <a:ea typeface="Aptos" pitchFamily="34" charset="-122"/>
                <a:cs typeface="Aptos" pitchFamily="34" charset="-120"/>
              </a:rPr>
              <a:t>Why use a class for the prices instead of styling each one inline?</a:t>
            </a:r>
            <a:endParaRPr lang="en-US" sz="2000" dirty="0"/>
          </a:p>
          <a:p>
            <a:pPr marL="342900" indent="-342900">
              <a:spcBef>
                <a:spcPts val="1600"/>
              </a:spcBef>
              <a:buSzPct val="100000"/>
              <a:buChar char="•"/>
            </a:pPr>
            <a:r>
              <a:rPr lang="en-US" sz="2000" dirty="0">
                <a:solidFill>
                  <a:srgbClr val="262626"/>
                </a:solidFill>
                <a:latin typeface="Aptos" pitchFamily="34" charset="0"/>
                <a:ea typeface="Aptos" pitchFamily="34" charset="-122"/>
                <a:cs typeface="Aptos" pitchFamily="34" charset="-120"/>
              </a:rPr>
              <a:t>​</a:t>
            </a:r>
            <a:pPr indent="0" marL="0">
              <a:buNone/>
            </a:pPr>
            <a:r>
              <a:rPr lang="en-US" sz="2000" dirty="0">
                <a:solidFill>
                  <a:srgbClr val="262626"/>
                </a:solidFill>
                <a:latin typeface="Aptos" pitchFamily="34" charset="0"/>
                <a:ea typeface="Aptos" pitchFamily="34" charset="-122"/>
                <a:cs typeface="Aptos" pitchFamily="34" charset="-120"/>
              </a:rPr>
              <a:t>Did any of your colour choices fail the contrast check?</a:t>
            </a:r>
            <a:endParaRPr lang="en-US" sz="2000" dirty="0"/>
          </a:p>
        </p:txBody>
      </p:sp>
      <p:sp>
        <p:nvSpPr>
          <p:cNvPr id="5" name="Text 3"/>
          <p:cNvSpPr txBox="1"/>
          <p:nvPr/>
        </p:nvSpPr>
        <p:spPr>
          <a:xfrm>
            <a:off x="7680960" y="2560320"/>
            <a:ext cx="3474720" cy="1463040"/>
          </a:xfrm>
          <a:prstGeom prst="rect">
            <a:avLst/>
          </a:prstGeom>
          <a:noFill/>
          <a:ln/>
        </p:spPr>
        <p:txBody>
          <a:bodyPr wrap="square" lIns="0" tIns="0" rIns="0" bIns="0" rtlCol="0" anchor="ctr"/>
          <a:lstStyle/>
          <a:p>
            <a:pPr algn="ctr" indent="0" marL="0">
              <a:buNone/>
            </a:pPr>
            <a:r>
              <a:rPr lang="en-US" sz="2200" b="1" dirty="0">
                <a:solidFill>
                  <a:srgbClr val="1B5E82"/>
                </a:solidFill>
                <a:latin typeface="Aptos" pitchFamily="34" charset="0"/>
                <a:ea typeface="Aptos" pitchFamily="34" charset="-122"/>
                <a:cs typeface="Aptos" pitchFamily="34" charset="-120"/>
              </a:rPr>
              <a:t>HTML = what it is</a:t>
            </a:r>
            <a:endParaRPr lang="en-US" sz="2200" dirty="0"/>
          </a:p>
          <a:p>
            <a:pPr algn="ctr" indent="0" marL="0">
              <a:buNone/>
            </a:pPr>
            <a:r>
              <a:rPr lang="en-US" sz="2200" b="1" dirty="0">
                <a:solidFill>
                  <a:srgbClr val="1B5E82"/>
                </a:solidFill>
                <a:latin typeface="Aptos" pitchFamily="34" charset="0"/>
                <a:ea typeface="Aptos" pitchFamily="34" charset="-122"/>
                <a:cs typeface="Aptos" pitchFamily="34" charset="-120"/>
              </a:rPr>
              <a:t>CSS = how it looks</a:t>
            </a:r>
            <a:endParaRPr lang="en-US" sz="2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Today's CSS Cheat Sheet</a:t>
            </a:r>
            <a:endParaRPr lang="en-US" sz="2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754880" y="1737360"/>
          <a:ext cx="6903720" cy="914400"/>
        </p:xfrm>
        <a:graphic>
          <a:graphicData uri="http://schemas.openxmlformats.org/drawingml/2006/table">
            <a:tbl>
              <a:tblPr/>
              <a:tblGrid>
                <a:gridCol w="2240280"/>
                <a:gridCol w="2606040"/>
                <a:gridCol w="2057400"/>
              </a:tblGrid>
              <a:tr h="347472">
                <a:tc>
                  <a:txBody>
                    <a:bodyPr/>
                    <a:lstStyle/>
                    <a:p>
                      <a:pPr indent="0" marL="0">
                        <a:buNone/>
                      </a:pPr>
                      <a:r>
                        <a:rPr lang="en-US" sz="1200" b="1" dirty="0">
                          <a:solidFill>
                            <a:srgbClr val="FFFFFF"/>
                          </a:solidFill>
                          <a:latin typeface="Aptos" pitchFamily="34" charset="0"/>
                          <a:ea typeface="Aptos" pitchFamily="34" charset="-122"/>
                          <a:cs typeface="Aptos" pitchFamily="34" charset="-120"/>
                        </a:rPr>
                        <a:t>Property</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200" b="1" dirty="0">
                          <a:solidFill>
                            <a:srgbClr val="FFFFFF"/>
                          </a:solidFill>
                          <a:latin typeface="Aptos" pitchFamily="34" charset="0"/>
                          <a:ea typeface="Aptos" pitchFamily="34" charset="-122"/>
                          <a:cs typeface="Aptos" pitchFamily="34" charset="-120"/>
                        </a:rPr>
                        <a:t>Example</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200" b="1" dirty="0">
                          <a:solidFill>
                            <a:srgbClr val="FFFFFF"/>
                          </a:solidFill>
                          <a:latin typeface="Aptos" pitchFamily="34" charset="0"/>
                          <a:ea typeface="Aptos" pitchFamily="34" charset="-122"/>
                          <a:cs typeface="Aptos" pitchFamily="34" charset="-120"/>
                        </a:rPr>
                        <a:t>What it does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r>
              <a:tr h="347472">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color</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color: #12304A;</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Text colour</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background-color</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background-color: white;</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Colour behind the element</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47472">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font-family</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font-family: Georgia, serif;</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The font (with fallbacks)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font-size</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font-size: 1.2rem;</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Text size (prefer rem)</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47472">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font-weight / font-style</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font-weight: bold;</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Bold / italic</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line-height</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line-height: 1.6;</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Space between lines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47472">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text-align / text-transform</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text-align: center;</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Alignment / capitals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text-decoration</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text-decoration: none;</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Remove or add underlines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47472">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padding / border / margin</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padding: 10px 20px;</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The box model layers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max-width + margin: auto</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margin: 0 auto;</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A centred column</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47472">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border-radius</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border-radius: 8px;</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Rounded corners (50% = circle)</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box-sizing</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box-sizing: border-box;</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Width includes padding and border</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Class Recap and Next Steps</a:t>
            </a:r>
            <a:endParaRPr lang="en-US" sz="2800" dirty="0"/>
          </a:p>
        </p:txBody>
      </p:sp>
      <p:sp>
        <p:nvSpPr>
          <p:cNvPr id="7" name="Text 4"/>
          <p:cNvSpPr txBox="1"/>
          <p:nvPr/>
        </p:nvSpPr>
        <p:spPr>
          <a:xfrm>
            <a:off x="4754880" y="1783080"/>
            <a:ext cx="6903720" cy="4663440"/>
          </a:xfrm>
          <a:prstGeom prst="rect">
            <a:avLst/>
          </a:prstGeom>
          <a:noFill/>
          <a:ln/>
        </p:spPr>
        <p:txBody>
          <a:bodyPr wrap="square" lIns="0" tIns="0" rIns="0" bIns="0" rtlCol="0" anchor="t"/>
          <a:lstStyle/>
          <a:p>
            <a:pPr marL="342900" indent="-342900">
              <a:buSzPct val="100000"/>
              <a:buChar char="•"/>
            </a:pPr>
            <a:r>
              <a:rPr lang="en-US" sz="2000" b="1" dirty="0">
                <a:solidFill>
                  <a:srgbClr val="000000"/>
                </a:solidFill>
                <a:latin typeface="Aptos" pitchFamily="34" charset="0"/>
                <a:ea typeface="Aptos" pitchFamily="34" charset="-122"/>
                <a:cs typeface="Aptos" pitchFamily="34" charset="-120"/>
              </a:rPr>
              <a:t>Recap:</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CSS rules: selector { property: value; }. Link one external style.css to every page.</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Select by element, .class, #id, groups (a, b) and descendants (nav a).</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Colour with contrast of 4.5 : 1 or better. Fonts in stacks, sizes in rem.</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Every element is a box: content, padding, border, margin.</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img { max-width: 100%; height: auto; } on every site.</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When rules clash: more specific wins, then the later one. DevTools shows you which.</a:t>
            </a:r>
            <a:endParaRPr lang="en-US" sz="2000" dirty="0"/>
          </a:p>
          <a:p>
            <a:pPr marL="342900" indent="-342900">
              <a:spcBef>
                <a:spcPts val="800"/>
              </a:spcBef>
              <a:buSzPct val="100000"/>
              <a:buChar char="•"/>
            </a:pPr>
            <a:r>
              <a:rPr lang="en-US" sz="2000" b="1" dirty="0">
                <a:solidFill>
                  <a:srgbClr val="000000"/>
                </a:solidFill>
                <a:latin typeface="Aptos" pitchFamily="34" charset="0"/>
                <a:ea typeface="Aptos" pitchFamily="34" charset="-122"/>
                <a:cs typeface="Aptos" pitchFamily="34" charset="-120"/>
              </a:rPr>
              <a:t>Next class:</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More selectors (:hover, :focus), navigation menus, tables, and validating our code.</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8: Intro to CSS</dc:title>
  <dc:subject>PptxGenJS Presentation</dc:subject>
  <dc:creator>Jamie Symonds</dc:creator>
  <cp:lastModifiedBy>Jamie Symonds</cp:lastModifiedBy>
  <cp:revision>1</cp:revision>
  <dcterms:created xsi:type="dcterms:W3CDTF">2026-10-04T23:10:29Z</dcterms:created>
  <dcterms:modified xsi:type="dcterms:W3CDTF">2026-10-04T23:10:29Z</dcterms:modified>
</cp:coreProperties>
</file>