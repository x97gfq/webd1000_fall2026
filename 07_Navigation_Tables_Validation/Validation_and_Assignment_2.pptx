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class: navigation menus and tables, on the Harbourside page.
Today has two halves. First, validation: the browser has been quietly hiding mistakes in our Harbourside page, and two free W3C tools will find them. Then we review Assignment 2, with a worked solution, and look closely at the one idea every multi-page site depends on: one stylesheet shared by many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 While you do, have students git pull (there's a new assignment2_solution folder), open their Harbourside page from last class (07_Navigation_Tables_Validation/activity) with Live Server, and open their own Assignment 2 folder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plan for the two hours:
- 5 min: attendance, a quick recap of Class 10
- 22 min: HTML validation (what, why, how, Example 09, then Try It 7)
- 10 min: CSS validation (Example 11, then Try It 8)
- 5 min: submit Harbourside, Part 2
- 7 min: Assignment 2 at a glance, wireframe to page
- 12 min: one stylesheet, many pages (the diagram, the flowchart, a live demo)
- 15 min: the solution, file by file
- 12 min: paths, photos, common mistakes
- 12 min: Try It 9, check your own Assignment 2
- 5 min: recap and questions
That's about 105 minutes, so there's a little slack for questions about Assignment 2.
Assignment 2 was due Sunday, October 11, so it's safe to show a full solution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pull brings in one new folder: assignment2_solution, a complete Assignment 2 (two HTML pages, one CSS file, three photos). Every file is under 30 lines on purpose: it's the smallest thing that meets every requirement.
Students should NOT start a fresh copy of the Harbourside activity. Try Its 7 and 8 validate the page they built last class, so their own nav and table code gets checked too.
If someone missed Class 10, they can validate the untouched starter files in activity/: they still have all 8 hidden mistakes (5 HTML, 3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secret: browsers are very forgiving. If your HTML has a mistake, the browser quietly guesses what you meant and shows the page anyway. Most of the time it guesses right, so you never notice.
That's great for people browsing the web, but terrible for finding your own mistakes. A validator is a tool that doesn't forgive: it reads your HTML and lists every place it breaks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checking your HTML against the official rules (the HTML standard, maintained by WHATWG and W3C). The W3C validator is a free website that does this.
Why, honestly:
- The browser's guess isn't always the same guess. Different browsers, and especially screen readers, can repair broken HTML differently. Valid HTML means everyone gets the same page.
- It finds bugs you can't see. A duplicate id breaks in-page links and form labels. A wrongly closed tag can swallow half your page.
- Accessibility: missing alt text and broken nesting confuse assistive technology.
- It's a professional habit. Clients and employers notice, and it's part of how your projects are marked in this program.
A myth from last year's slide: validation doesn't directly change your Google ranking. Search engines read broken HTML fine. But a clean, well-structured page helps everything that reads it, search engines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validator.w3.org has three tabs across the top.
Validate by URI (address): for pages that are already online. Ours aren't yet, so this one's for later in the program.
Validate by File Upload: pick the .html file from your computer.
Validate by Direct Input: paste the code into a box. This is the quickest today: in VS Code, Ctrl + A then Ctrl + C, and paste.
The results are a numbered list. Red 'Error' messages are rule-breakers: fix them. 'Warning' and 'Info' messages are advice: read them, and fix them if you agree. For example, a slash at the end of &lt;img ... /&gt; gets an info message. It's harmless.
There's a separate CSS validator at jigsaw.w3.org/css-validator, with the same three tabs. We'll use it after Try It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09_validation_broken_example.html in the browser: it looks completely normal.
Give the class a minute to spot the four mistakes in the code (don't reveal yet):
1. The img has no alt attribute.
2. &lt;h2&gt; is closed with &lt;/h3&gt;.
3. color="red" isn't an HTML attribute (and the text isn't even red: the browser ignored it).
4. &lt;strong&gt;&lt;em&gt; … &lt;/strong&gt;&lt;/em&gt;: closed in the wrong order.
Then demo it live: validator.w3.org → Validate by Direct Input → paste the whole file → Check. The next slide shows what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for Example 09 (copied from validator.w3.org). Four mistakes, but FIVE error messages: the wrong nesting on line 21 creates two. One mistake often causes a little chain of messages.
So the method is:
1. Read the FIRST error.
2. Go to that line in VS Code (Ctrl + G, then the line number).
3. Fix it, save, and validate again.
4. Repeat until it says 'Document checking completed. No errors or warnings to show.'
Often fixing one error makes others disappear too.
The messages use the official names, so they can sound scary. 'End tag h3 seen, but there were open elements' just means 'you closed an h3, but the h2 you opened is still open'.
Example 10 is the fixed version, with a comment on each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surprise: the starter index.html had five mistakes in it from the start. Not in anything students typed last class (hopefully!), but in the page they were given.
The five, for you (all fixed and commented in activity/answer/index.html):
1. Line ~15: the header logo &lt;img&gt; has no alt. It's decoration (the h1 says the name), so alt="".
2. Line ~30: &lt;strong&gt;…&lt;em&gt;boats&lt;/strong&gt;&lt;/em&gt;, closed in the wrong order (two messages).
3. Line ~44: &lt;h3&gt;Clam Strips&lt;/h2&gt;.
4. Line ~55: Duplicate ID “clams”. The Kids' Fish Bites article is id="clams" (copy-and-paste!). It should be id="kids", and that's why the dropdown's Kids link didn't work in Try It 3.
5. Line ~77: &lt;p font="small"&gt;. Not an attribute: use class="small" and CSS.
Line numbers move a little, depending on what each student typed.
If students get errors in their own nav or table code, even better: they fix those too. Common ones: a missing &lt;/li&gt;, a &lt;ul&gt; outside its &lt;li&gt;, or a missing &lt;/tr&gt;.
The HTML validator doesn't open style.css, so it can't see the CSS mistakes. That's next, in Try It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11_css_validation_broken_example.html. It looks like a plain, unstyled page, and nothing tells you why. Open DevTools (F12) and look at the Styles panel: the broken declarations are crossed out, with a little warning triangle. That's the browser's only hint.
Give the class a minute to spot the four mistakes:
1. colour (British spelling). CSS only knows color.
2. font-size: 18 with no unit. Only 0 can go without a unit.
3. A missing semicolon after font-weight: bold. The browser reads 'bold color: #B5451B' as one broken value, so BOTH lines are lost: the price is neither bold nor orange.
4. text-align: middle. The word is center.
Then demo it live: jigsaw.w3.org/css-validator → By direct input → paste the whole file → Check. The CSS validator accepts a whole HTML file and checks its &lt;style&gt; block. The next slide shows what comes back.
Why we need a second validator: validator.w3.org does check CSS inside a &lt;style&gt; block (paste Example 11 into it and you get the same four errors). But it never downloads linked stylesheets. Our Harbourside CSS lives in style.css, so only the CSS validator can check it.
Right-hand picture: Example 12, the fixed version (each fix has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for Example 11 (from jigsaw.w3.org/css-validator, October 2026). One message per mistake this time, and they're friendlier than the HTML ones: the first even suggests the right spelling.
The page has the same three tabs as the HTML validator: By URI, By file upload, By direct input. Direct input is quickest: Ctrl + A, Ctrl + C in style.css, paste, Check.
Each message gives the line number and the selector it's in (h1, p, .price, .note), which makes it easy to find.
When it's clean, the result says 'Congratulations! No Error Found.' (with a green banner). That's screenshot 3.
Warnings: the CSS validator sometimes warns about things that are fine, like vendor prefixes (-webkit-…). Errors matter; warnings are advice, same as with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surprise: the Class 8 part of the starter style.css has three mistakes in it. They've been there since Class 8, and nobody noticed, because the browser just skipped them.
The three, for you (fixed and commented as CSS Fix 1–3 in activity/answer/style.css):
1. Line ~50: main { padding: 20; }, no unit, so main has no padding at all.
2. Line ~70: figcaption { colour: #595959; }, so the caption is black instead of grey.
3. Line ~74: .price { font-weight: bold  (no semicolon) color: #B5451B; }, so the prices are neither bold nor orange.
Line numbers move depending on what each student typed below.
After fixing, the page visibly changes: orange bold prices, a grey caption, and the main column gets its padding back. Ask: 'Did anyone notice the prices were black all last class?'
Also possible: errors in the CSS students typed today, e.g. a missing } or a typo in a property. They fix those too.
If time is short, this one is fine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has a working dropdown, a styled table and two clean validator results has done the job.
Re-validate after making changes! It's easy to break something while adding to it.
What to collect on Brightspace (participation): three screenshots. 1: the page in the browser with the Menu dropdown open (hover it, then Win + Shift + S. The Snipping Tool waits for you to pick an area, so the dropdown stays open). Some students took this one in Class 10. 2: the HTML validator showing no errors. 3: the CSS validator showing 'No Error Found'.
Next: Assignment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messages students will see most often this term, and what they really mean. Top: validator.w3.org (HTML). Bottom: jigsaw.w3.org/css-validator (CSS).
Two more HTML ones worth knowing: 'Element li not allowed as child of element nav' (an li must be inside a ul or ol) and 'Stray end tag div' (a closing tag with no opening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2 (Website Planning and Wireframing, 10% of the final grade) was due Sunday, October 11. Now that it's in, we walk through a complete solution.
The solution is in assignment2_solution. It's deliberately tiny: every file is under 30 lines. It isn't the prettiest site in the class, and it doesn't need to be. It shows the smallest thing that meets every requirement, so the important ideas are easy to see.
The big idea for today: one stylesheet shared by many pages. Every site you build from now on works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reminder of what was asked, and how it was marked.
Point out the weights: the photos are worth 15 of the 40 marks, more than the HTML (10) or the CSS (5). 'Optimized and responsive' is the whole point of that row. That's why there's a slide on photos coming up.
'Both pages should share the same style sheet' and 'the pages should contain links to each other' are the two requirements that make this a website rather than two separate pages. They're the focus of the next few slides.
Learning outcomes 2 and 3: plan and design a site from requirements (the wireframes), and author standards-based HTML/CSS by hand (the pages). 'Standards-based' is exactly what the validators check, which is why we did validation first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wireframes aren't just a separate deliverable: they tell you how to write the code.
Look at what's the same on both wireframes: the header with the name, the nav, the footer. Those parts are written the same way on both pages, so one set of CSS rules styles both. Only the middle (main) changes from page to page.
Good wireframes for full marks: both pages, labelled boxes (header, nav, main, footer), placeholder boxes with an X for images, and notes where something isn't obvious (e.g. 'links to portfolio.html', '3 photos, full width'). A box called 'stuff' isn't detailed enough.
If students drew their wireframes in draw.io (Class 6), the same tool works for any future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in Assignment 2, and in every site from now on.
Each page has ONE line in its &lt;head&gt;: &lt;link rel="stylesheet" href="style.css"&gt;. That line points at the shared file. The CSS isn't copied into the pages; every page reads the same file.
Why it matters:
- Consistency: every page gets the same fonts, colours and nav automatically.
- Less work: change a colour once, and every page changes. With a &lt;style&gt; block in each page, you'd have to make the same change in every file, and sooner or later one gets missed.
- Faster: the browser downloads style.css once and reuses it on the next page (next slide).
- Adding a page is easy: copy an existing page, change the main, keep the &lt;link&gt;. The dashed box is a page you might add later; it gets the whole look for free.
LIVE DEMO: open assignment2_solution/index.html and portfolio.html in two tabs. In style.css, change h1, h2 { color: #12304A; } to a bright colour and save. Both pages change. Change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flowchart from the top left. This is what happens every time a page opens.
1-2. The browser reads the HTML from the top. In the &lt;head&gt; it finds the &lt;link&gt;, and asks for style.css.
3. The fork: has it already got style.css? If you opened index.html first, yes: it keeps a saved copy (the cache) and uses that. Nothing to download, so the second page shows up faster. That's a real advantage of one shared file over a &lt;style&gt; block in every page.
5-6. If not, it downloads style.css. If the file is found, the rules are applied and the page appears, styled.
8. The trap: if the href is wrong (a typo, a capital letter, the wrong folder), the browser can't find the file. It does NOT show an error. It just shows the page with no styles at all: Times New Roman, blue links, photos at full size.
How to check: F12 → Network tab → reload. style.css should be there with status 200. A red 404 means the path is wrong.
Capital letters: Windows doesn't care (Style.css and style.css are the same file on your laptop), but most web servers do. So it can work at home and break once it's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assignment2_solution/style.css. 29 lines, and it styles the whole site.
body: max-width: 800px stops lines getting too long to read on a wide screen; margin: 0 auto centres the column; the padding keeps text off the edges on a phone.
h1, h2 on one line: short rules are fine on one line (we did the same in Try It 3).
nav ul: list-style: none, padding: 0 and display: flex with a gap: exactly the horizontal menu from Class 10. aria-current="page" marks 'you are here', and the attribute selector makes it bold.
The img rule (orange bars) is the 'responsive' part of the Photos row in the rubric:
- max-width: 100%: never wider than its container. On a phone it shrinks.
- height: auto: the height shrinks in proportion, so the photo isn't squashed. Without it, the width and height attributes in the HTML would keep the photo 427 px tall on a narrow screen.
- display: block puts each photo on its own line, and margin-bottom spaces them.
Both screenshots on the right use this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assignment2_solution/index.html. 29 lines.
The two orange bars:
1. The &lt;link&gt; in the &lt;head&gt;. Without it, this page would ignore style.css completely.
2. aria-current="page" on the About Me link, because this IS the About Me page. On portfolio.html it moves to the Portfolio link.
The nav is a list (nav → ul → li → a), like Class 10. The rubric asks for HTML that's 'fully compliant with web standards': this page passes validator.w3.org with no errors or warnings.
The title says which page you're on and whose site it is: 'About Me | Sam Rivers'. It's what shows in the browser tab and in search results.
The link in the last paragraph is a second way to reach the Portfolio, in the text. The requirement is that the pages link to each other: the nav does that on both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assignment2_solution/portfolio.html. 30 lines; only the main is on the slide, because everything else matches index.html line for line, apart from the &lt;title&gt; and which link has aria-current.
That's the quick way to make page 2: copy index.html, rename it, change the title, move aria-current, and replace the main. The &lt;link&gt; comes along for free.
Each img (split over three lines here so it fits on the slide; in the file each img is one line):
- src="images/...": the photos are in an images folder next to the page.
- alt describes what's in the photo, for screen readers and for when the image doesn't load (Class 5).
- width="640" height="427" are the photo's real pixel size. The browser saves the right amount of space before the photo arrives, so the text doesn't jump around (Class 7, Images for the Web). The CSS height: auto still lets it shrink.
The photos are three crops of one beach photo, resized and saved as JPG at quality 75. Students had to use their own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href and src in the solution is a relative path: it's measured from the page that contains it. That's what makes the ZIP work on the marker's computer, and later on a web server.
- portfolio.html and style.css are in the same folder as index.html, so the path is just the file name.
- The photos are one folder down, so the path is images/ then the file name.
The two that break:
- A path starting with C:\ or file:/// only exists on your laptop. VS Code's autocomplete sometimes suggests one, and the image disappears as soon as the folder moves. Hard to spot, because it works for you!
- Capitals: Windows treats Beach_Trees.JPG and beach_trees.jpg as the same file. Most web servers don't. Lowercase everything and you never have to think about it.
No spaces in file names: 'my photo.jpg' becomes my%20photo.jpg in a URL. Use - or _ instead.
Before handing in a ZIP: unzip it somewhere else (the Desktop), open index.html, and click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Photos row is worth 15 of the 40 marks, so it's worth getting right. It asks for two separate things.
Optimized = a small file. A photo straight from a phone is 4000 px wide and 2-5 MB (Class 7). Our page is never wider than 800 px, so most of those pixels are thrown away, after making the visitor download them. The solution's photos are 640 px wide JPGs at quality 75: the sizes in the table are the real files.
How: Pixlr (File → Save, choose JPG, quality and size) or squoosh.app. Resize to the size it's shown at, then compress. Aim for under 200 KB a photo.
Responsive = fits any screen. The img rule in style.css: max-width: 100% (never wider than the page) and height: auto (keep the shape). The screenshot is portfolio.html at 360 px wide, a typical phone: the photos shrink to fit, and nothing sticks out sideways.
Check it: F12, then Ctrl + Shift + M for the device toolbar, then pick a phone or drag the width.
A common half-mark: photos that fit on a laptop because they happen to be small, but have no max-width, so they poke out on a phone. Or the opposite: a huge 5 MB photo that's made small with width="300". It looks optimized, but it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mistakes that cost marks most often on an assignment like this one. Ask students to check their own submission against the list while you go through it.
1. A &lt;style&gt; block in each page, or two different CSS files. It might look the same, but the requirement was one shared stylesheet. Inline style="…" attributes have the same problem.
2. The page shows with no styles. Almost always the href in the &lt;link&gt;: a typo, a capital letter, or the CSS in a different folder from where the href says.
3. Photos straight off the phone. They look fine on screen, but each one is a multi-megabyte download.
4. A photo that's too wide on a phone: missing max-width: 100%. Or a fixed height in the CSS, which squashes the photo when it shrinks.
5. Links or images that only work on your own computer: a C:\ path.
6. Broken images after unzipping: the ZIP had the HTML but not the images folder, or the images were somewhere else on the laptop.
And one more: the validators. Most HTML marks lost are things the validator would have found in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check the Assignment 2 they handed in, with today's tools. Fixing it now won't change the mark, but the same checks apply to every project from here on.
Step 5 is the real test of 'both pages share the same style sheet'. If only one page changes, the pages aren't sharing the file: look for a &lt;style&gt; block, or a second CSS file.
Walk around and look at file sizes too: in File Explorer, the images folder in Details view. Anything over 1 MB is a phone photo that was never resized.
Common validator finds on Assignment 2: a missing alt, an unclosed &lt;/li&gt; or &lt;/p&gt;, a stray &lt;/div&gt;, a duplicate id, and CSS like 'colour' or a missing unit (the same as Try It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class: page layout. Class 10's display: flex was a sneak peek; next time we look at display, position and Flexbox properly, and use them to put the Harbourside menu cards side by side.
Make sure the three Harbourside screenshots are on Brightspace.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indent="0" marL="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sp>
      <p:sp>
        <p:nvSpPr>
          <p:cNvPr id="4" name="Text 2"/>
          <p:cNvSpPr txBox="1"/>
          <p:nvPr/>
        </p:nvSpPr>
        <p:spPr>
          <a:xfrm>
            <a:off x="1325880" y="2194560"/>
            <a:ext cx="3840480" cy="2651760"/>
          </a:xfrm>
          <a:prstGeom prst="rect">
            <a:avLst/>
          </a:prstGeom>
          <a:noFill/>
          <a:ln/>
        </p:spPr>
        <p:txBody>
          <a:bodyPr wrap="square" lIns="0" tIns="0" rIns="0" bIns="0" rtlCol="0" anchor="ctr"/>
          <a:lstStyle/>
          <a:p>
            <a:pPr indent="0" marL="0">
              <a:buNone/>
            </a:pPr>
            <a:r>
              <a:rPr lang="en-US" sz="4600" dirty="0">
                <a:solidFill>
                  <a:srgbClr val="FFFFFF"/>
                </a:solidFill>
                <a:latin typeface="Aptos" pitchFamily="34" charset="0"/>
                <a:ea typeface="Aptos" pitchFamily="34" charset="-122"/>
                <a:cs typeface="Aptos" pitchFamily="34" charset="-120"/>
              </a:rPr>
              <a:t>HTML/CSS Techniques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sp>
      <p:sp>
        <p:nvSpPr>
          <p:cNvPr id="7" name="Text 5"/>
          <p:cNvSpPr txBox="1"/>
          <p:nvPr/>
        </p:nvSpPr>
        <p:spPr>
          <a:xfrm>
            <a:off x="6263640" y="1737360"/>
            <a:ext cx="5120640" cy="219456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 11:</a:t>
            </a:r>
            <a:endParaRPr lang="en-US" sz="3000" dirty="0"/>
          </a:p>
          <a:p>
            <a:pPr lvl="1" marL="685800"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Checking your HTML and CSS with the W3C validators, and an Assignment 2 review.</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indent="0" marL="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11: Class Overview</a:t>
            </a:r>
            <a:endParaRPr lang="en-US" sz="2800" dirty="0"/>
          </a:p>
        </p:txBody>
      </p:sp>
      <p:sp>
        <p:nvSpPr>
          <p:cNvPr id="7" name="Text 4"/>
          <p:cNvSpPr txBox="1"/>
          <p:nvPr/>
        </p:nvSpPr>
        <p:spPr>
          <a:xfrm>
            <a:off x="4754880" y="1783080"/>
            <a:ext cx="6903720" cy="329184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pPr indent="0" marL="0">
              <a:buNone/>
            </a:pPr>
            <a:r>
              <a:rPr lang="en-US" sz="2200" dirty="0">
                <a:solidFill>
                  <a:srgbClr val="000000"/>
                </a:solidFill>
                <a:latin typeface="Aptos" pitchFamily="34" charset="0"/>
                <a:ea typeface="Aptos" pitchFamily="34" charset="-122"/>
                <a:cs typeface="Aptos" pitchFamily="34" charset="-120"/>
              </a:rPr>
              <a:t>Validation and Assignment 2 Review</a:t>
            </a:r>
            <a:endParaRPr lang="en-US" sz="2200" dirty="0"/>
          </a:p>
          <a:p>
            <a:pPr indent="0" marL="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HTML validation with validator.w3.org (Try It 7)</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CSS validation with jigsaw.w3.org (Try It 8), then submit</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Assignment 2 review: one stylesheet, many pages</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A worked solution, file by file, then check your own (Try It 9)</a:t>
            </a:r>
            <a:endParaRPr lang="en-US" sz="2200" dirty="0"/>
          </a:p>
        </p:txBody>
      </p:sp>
      <p:sp>
        <p:nvSpPr>
          <p:cNvPr id="8" name="Shape 5"/>
          <p:cNvSpPr/>
          <p:nvPr/>
        </p:nvSpPr>
        <p:spPr>
          <a:xfrm>
            <a:off x="475488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93776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Validate</a:t>
            </a:r>
            <a:endParaRPr lang="en-US" sz="1700" dirty="0"/>
          </a:p>
        </p:txBody>
      </p:sp>
      <p:sp>
        <p:nvSpPr>
          <p:cNvPr id="10" name="Text 7"/>
          <p:cNvSpPr txBox="1"/>
          <p:nvPr/>
        </p:nvSpPr>
        <p:spPr>
          <a:xfrm>
            <a:off x="493776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Find the hidden mistakes</a:t>
            </a:r>
            <a:endParaRPr lang="en-US" sz="1250" dirty="0"/>
          </a:p>
        </p:txBody>
      </p:sp>
      <p:sp>
        <p:nvSpPr>
          <p:cNvPr id="11" name="Text 8"/>
          <p:cNvSpPr txBox="1"/>
          <p:nvPr/>
        </p:nvSpPr>
        <p:spPr>
          <a:xfrm>
            <a:off x="676656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2" name="Shape 9"/>
          <p:cNvSpPr/>
          <p:nvPr/>
        </p:nvSpPr>
        <p:spPr>
          <a:xfrm>
            <a:off x="7132320" y="5120640"/>
            <a:ext cx="2011680" cy="1051560"/>
          </a:xfrm>
          <a:prstGeom prst="roundRect">
            <a:avLst>
              <a:gd name="adj" fmla="val 10435"/>
            </a:avLst>
          </a:prstGeom>
          <a:solidFill>
            <a:srgbClr val="E97132"/>
          </a:solidFill>
          <a:ln w="9525">
            <a:solidFill>
              <a:srgbClr val="E97132"/>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7315200" y="5212080"/>
            <a:ext cx="1645920" cy="41148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Share</a:t>
            </a:r>
            <a:endParaRPr lang="en-US" sz="1700" dirty="0"/>
          </a:p>
        </p:txBody>
      </p:sp>
      <p:sp>
        <p:nvSpPr>
          <p:cNvPr id="14" name="Text 11"/>
          <p:cNvSpPr txBox="1"/>
          <p:nvPr/>
        </p:nvSpPr>
        <p:spPr>
          <a:xfrm>
            <a:off x="7315200" y="5623560"/>
            <a:ext cx="1645920" cy="457200"/>
          </a:xfrm>
          <a:prstGeom prst="rect">
            <a:avLst/>
          </a:prstGeom>
          <a:noFill/>
          <a:ln/>
        </p:spPr>
        <p:txBody>
          <a:bodyPr wrap="square" lIns="0" tIns="0" rIns="0" bIns="0" rtlCol="0" anchor="t"/>
          <a:lstStyle/>
          <a:p>
            <a:pPr indent="0" marL="0">
              <a:buNone/>
            </a:pPr>
            <a:r>
              <a:rPr lang="en-US" sz="1250" dirty="0">
                <a:solidFill>
                  <a:srgbClr val="FFFFFF"/>
                </a:solidFill>
                <a:latin typeface="Aptos" pitchFamily="34" charset="0"/>
                <a:ea typeface="Aptos" pitchFamily="34" charset="-122"/>
                <a:cs typeface="Aptos" pitchFamily="34" charset="-120"/>
              </a:rPr>
              <a:t>One stylesheet, many pages</a:t>
            </a:r>
            <a:endParaRPr lang="en-US" sz="1250" dirty="0"/>
          </a:p>
        </p:txBody>
      </p:sp>
      <p:sp>
        <p:nvSpPr>
          <p:cNvPr id="15" name="Text 12"/>
          <p:cNvSpPr txBox="1"/>
          <p:nvPr/>
        </p:nvSpPr>
        <p:spPr>
          <a:xfrm>
            <a:off x="914400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6" name="Shape 13"/>
          <p:cNvSpPr/>
          <p:nvPr/>
        </p:nvSpPr>
        <p:spPr>
          <a:xfrm>
            <a:off x="950976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969264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Review</a:t>
            </a:r>
            <a:endParaRPr lang="en-US" sz="1700" dirty="0"/>
          </a:p>
        </p:txBody>
      </p:sp>
      <p:sp>
        <p:nvSpPr>
          <p:cNvPr id="18" name="Text 15"/>
          <p:cNvSpPr txBox="1"/>
          <p:nvPr/>
        </p:nvSpPr>
        <p:spPr>
          <a:xfrm>
            <a:off x="969264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Assignment 2, solved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Before We Start: Get the Code</a:t>
            </a:r>
            <a:endParaRPr lang="en-US" sz="2800" dirty="0"/>
          </a:p>
        </p:txBody>
      </p:sp>
      <p:sp>
        <p:nvSpPr>
          <p:cNvPr id="7" name="Text 4"/>
          <p:cNvSpPr txBox="1"/>
          <p:nvPr/>
        </p:nvSpPr>
        <p:spPr>
          <a:xfrm>
            <a:off x="4754880" y="17830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1.  Pull the new folder</a:t>
            </a:r>
            <a:endParaRPr lang="en-US" sz="1800" dirty="0"/>
          </a:p>
        </p:txBody>
      </p:sp>
      <p:sp>
        <p:nvSpPr>
          <p:cNvPr id="8" name="Shape 5"/>
          <p:cNvSpPr/>
          <p:nvPr/>
        </p:nvSpPr>
        <p:spPr>
          <a:xfrm>
            <a:off x="4754880" y="2240280"/>
            <a:ext cx="4754880" cy="6400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9" name="Text 6"/>
          <p:cNvSpPr txBox="1"/>
          <p:nvPr/>
        </p:nvSpPr>
        <p:spPr>
          <a:xfrm>
            <a:off x="4870094" y="2355494"/>
            <a:ext cx="4524451" cy="409651"/>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git pull</a:t>
            </a:r>
            <a:endParaRPr lang="en-US" sz="1600" dirty="0"/>
          </a:p>
        </p:txBody>
      </p:sp>
      <p:sp>
        <p:nvSpPr>
          <p:cNvPr id="10" name="Text 7"/>
          <p:cNvSpPr txBox="1"/>
          <p:nvPr/>
        </p:nvSpPr>
        <p:spPr>
          <a:xfrm>
            <a:off x="4754880" y="2971800"/>
            <a:ext cx="6903720" cy="45720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New in 07_Navigation_Tables_Validation: assignment2_solution (two pages, one stylesheet, three photos).</a:t>
            </a:r>
            <a:endParaRPr lang="en-US" sz="1500" dirty="0"/>
          </a:p>
        </p:txBody>
      </p:sp>
      <p:sp>
        <p:nvSpPr>
          <p:cNvPr id="11" name="Text 8"/>
          <p:cNvSpPr txBox="1"/>
          <p:nvPr/>
        </p:nvSpPr>
        <p:spPr>
          <a:xfrm>
            <a:off x="4754880" y="36118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2.  Open your Harbourside page from last class</a:t>
            </a:r>
            <a:endParaRPr lang="en-US" sz="1800" dirty="0"/>
          </a:p>
        </p:txBody>
      </p:sp>
      <p:sp>
        <p:nvSpPr>
          <p:cNvPr id="12" name="Text 9"/>
          <p:cNvSpPr txBox="1"/>
          <p:nvPr/>
        </p:nvSpPr>
        <p:spPr>
          <a:xfrm>
            <a:off x="4754880" y="402336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activity/index.html with Live Server. Your own copy, nav and table included: that's what we validate.</a:t>
            </a:r>
            <a:endParaRPr lang="en-US" sz="1500" dirty="0"/>
          </a:p>
        </p:txBody>
      </p:sp>
      <p:sp>
        <p:nvSpPr>
          <p:cNvPr id="13" name="Text 10"/>
          <p:cNvSpPr txBox="1"/>
          <p:nvPr/>
        </p:nvSpPr>
        <p:spPr>
          <a:xfrm>
            <a:off x="4754880" y="493776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3.  Have your Assignment 2 folder handy</a:t>
            </a:r>
            <a:endParaRPr lang="en-US" sz="1800" dirty="0"/>
          </a:p>
        </p:txBody>
      </p:sp>
      <p:sp>
        <p:nvSpPr>
          <p:cNvPr id="14" name="Text 11"/>
          <p:cNvSpPr txBox="1"/>
          <p:nvPr/>
        </p:nvSpPr>
        <p:spPr>
          <a:xfrm>
            <a:off x="4754880" y="534924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We'll check it with the same tools at the end of class (Try It 9).</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Validation</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Browsers forgive   ·   validators don't   ·   HTML and CSS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What Is Validation, and Why Bother?</a:t>
            </a:r>
            <a:endParaRPr lang="en-US" sz="2800" dirty="0"/>
          </a:p>
        </p:txBody>
      </p:sp>
      <p:sp>
        <p:nvSpPr>
          <p:cNvPr id="7" name="Shape 4"/>
          <p:cNvSpPr/>
          <p:nvPr/>
        </p:nvSpPr>
        <p:spPr>
          <a:xfrm>
            <a:off x="4754880" y="1783080"/>
            <a:ext cx="331470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937760" y="1874520"/>
            <a:ext cx="2948940" cy="36576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The browser forgives</a:t>
            </a:r>
            <a:endParaRPr lang="en-US" sz="1500" dirty="0"/>
          </a:p>
        </p:txBody>
      </p:sp>
      <p:sp>
        <p:nvSpPr>
          <p:cNvPr id="9" name="Shape 6"/>
          <p:cNvSpPr/>
          <p:nvPr/>
        </p:nvSpPr>
        <p:spPr>
          <a:xfrm>
            <a:off x="4937760" y="2331720"/>
            <a:ext cx="2948940" cy="548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0" name="Text 7"/>
          <p:cNvSpPr txBox="1"/>
          <p:nvPr/>
        </p:nvSpPr>
        <p:spPr>
          <a:xfrm>
            <a:off x="5036515" y="2430475"/>
            <a:ext cx="2751430" cy="351130"/>
          </a:xfrm>
          <a:prstGeom prst="rect">
            <a:avLst/>
          </a:prstGeom>
          <a:noFill/>
          <a:ln/>
        </p:spPr>
        <p:txBody>
          <a:bodyPr wrap="square" lIns="0" tIns="0" rIns="0" bIns="0" rtlCol="0" anchor="t"/>
          <a:lstStyle/>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Lobster Roll</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p:txBody>
      </p:sp>
      <p:sp>
        <p:nvSpPr>
          <p:cNvPr id="11" name="Text 8"/>
          <p:cNvSpPr txBox="1"/>
          <p:nvPr/>
        </p:nvSpPr>
        <p:spPr>
          <a:xfrm>
            <a:off x="4937760" y="3017520"/>
            <a:ext cx="2948940" cy="548640"/>
          </a:xfrm>
          <a:prstGeom prst="rect">
            <a:avLst/>
          </a:prstGeom>
          <a:noFill/>
          <a:ln/>
        </p:spPr>
        <p:txBody>
          <a:bodyPr wrap="square" lIns="0" tIns="0" rIns="0" bIns="0" rtlCol="0" anchor="t"/>
          <a:lstStyle/>
          <a:p>
            <a:pPr indent="0" marL="0">
              <a:buNone/>
            </a:pPr>
            <a:r>
              <a:rPr lang="en-US" sz="1300" dirty="0">
                <a:solidFill>
                  <a:srgbClr val="595959"/>
                </a:solidFill>
                <a:latin typeface="Aptos" pitchFamily="34" charset="0"/>
                <a:ea typeface="Aptos" pitchFamily="34" charset="-122"/>
                <a:cs typeface="Aptos" pitchFamily="34" charset="-120"/>
              </a:rPr>
              <a:t>Shows up fine. You never notice.</a:t>
            </a:r>
            <a:endParaRPr lang="en-US" sz="1300" dirty="0"/>
          </a:p>
        </p:txBody>
      </p:sp>
      <p:sp>
        <p:nvSpPr>
          <p:cNvPr id="12" name="Shape 9"/>
          <p:cNvSpPr/>
          <p:nvPr/>
        </p:nvSpPr>
        <p:spPr>
          <a:xfrm>
            <a:off x="8343900" y="1783080"/>
            <a:ext cx="3314700" cy="1920240"/>
          </a:xfrm>
          <a:prstGeom prst="roundRect">
            <a:avLst>
              <a:gd name="adj" fmla="val 5714"/>
            </a:avLst>
          </a:prstGeom>
          <a:solidFill>
            <a:srgbClr val="FDECEA"/>
          </a:solidFill>
          <a:ln w="9525">
            <a:solidFill>
              <a:srgbClr val="F4B4A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8526780" y="1874520"/>
            <a:ext cx="2948940" cy="36576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The validator doesn't</a:t>
            </a:r>
            <a:endParaRPr lang="en-US" sz="1500" dirty="0"/>
          </a:p>
        </p:txBody>
      </p:sp>
      <p:sp>
        <p:nvSpPr>
          <p:cNvPr id="14" name="Shape 11"/>
          <p:cNvSpPr/>
          <p:nvPr/>
        </p:nvSpPr>
        <p:spPr>
          <a:xfrm>
            <a:off x="8526780" y="2377440"/>
            <a:ext cx="822960" cy="310896"/>
          </a:xfrm>
          <a:prstGeom prst="roundRect">
            <a:avLst>
              <a:gd name="adj" fmla="val 50000"/>
            </a:avLst>
          </a:prstGeom>
          <a:solidFill>
            <a:srgbClr val="C62828"/>
          </a:solidFill>
          <a:ln w="12700">
            <a:solidFill>
              <a:srgbClr val="C62828"/>
            </a:solidFill>
            <a:prstDash val="solid"/>
          </a:ln>
        </p:spPr>
      </p:sp>
      <p:sp>
        <p:nvSpPr>
          <p:cNvPr id="15" name="Text 12"/>
          <p:cNvSpPr txBox="1"/>
          <p:nvPr/>
        </p:nvSpPr>
        <p:spPr>
          <a:xfrm>
            <a:off x="8526780" y="2377440"/>
            <a:ext cx="822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6" name="Text 13"/>
          <p:cNvSpPr txBox="1"/>
          <p:nvPr/>
        </p:nvSpPr>
        <p:spPr>
          <a:xfrm>
            <a:off x="8526780" y="2788920"/>
            <a:ext cx="2948940" cy="77724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End tag “h3” seen, but there were open elements.</a:t>
            </a:r>
            <a:endParaRPr lang="en-US" sz="1300" dirty="0"/>
          </a:p>
        </p:txBody>
      </p:sp>
      <p:sp>
        <p:nvSpPr>
          <p:cNvPr id="17" name="Text 14"/>
          <p:cNvSpPr txBox="1"/>
          <p:nvPr/>
        </p:nvSpPr>
        <p:spPr>
          <a:xfrm>
            <a:off x="4754880" y="3931920"/>
            <a:ext cx="6903720" cy="2468880"/>
          </a:xfrm>
          <a:prstGeom prst="rect">
            <a:avLst/>
          </a:prstGeom>
          <a:noFill/>
          <a:ln/>
        </p:spPr>
        <p:txBody>
          <a:bodyPr wrap="square" lIns="0" tIns="0" rIns="0" bIns="0" rtlCol="0" anchor="t"/>
          <a:lstStyle/>
          <a:p>
            <a:pPr marL="342900" indent="-342900">
              <a:buSzPct val="100000"/>
              <a:buChar char="•"/>
            </a:pPr>
            <a:r>
              <a:rPr lang="en-US" sz="1700" b="1" dirty="0">
                <a:solidFill>
                  <a:srgbClr val="000000"/>
                </a:solidFill>
                <a:latin typeface="Aptos" pitchFamily="34" charset="0"/>
                <a:ea typeface="Aptos" pitchFamily="34" charset="-122"/>
                <a:cs typeface="Aptos" pitchFamily="34" charset="-120"/>
              </a:rPr>
              <a:t>Why bother, if it looks fine?</a:t>
            </a:r>
            <a:endParaRPr lang="en-US" sz="1700" dirty="0"/>
          </a:p>
          <a:p>
            <a:pPr lvl="1" marL="685800" indent="-342900">
              <a:spcBef>
                <a:spcPts val="300"/>
              </a:spcBef>
              <a:buSzPct val="100000"/>
              <a:buChar char="•"/>
            </a:pPr>
            <a:r>
              <a:rPr lang="en-US" sz="1450" dirty="0">
                <a:solidFill>
                  <a:srgbClr val="000000"/>
                </a:solidFill>
                <a:latin typeface="Aptos" pitchFamily="34" charset="0"/>
                <a:ea typeface="Aptos" pitchFamily="34" charset="-122"/>
                <a:cs typeface="Aptos" pitchFamily="34" charset="-120"/>
              </a:rPr>
              <a:t>Browsers and screen readers can guess differently. Valid = the same page for everyone.</a:t>
            </a:r>
            <a:endParaRPr lang="en-US" sz="1700" dirty="0"/>
          </a:p>
          <a:p>
            <a:pPr lvl="1" marL="685800" indent="-342900">
              <a:spcBef>
                <a:spcPts val="300"/>
              </a:spcBef>
              <a:buSzPct val="100000"/>
              <a:buChar char="•"/>
            </a:pPr>
            <a:r>
              <a:rPr lang="en-US" sz="1450" dirty="0">
                <a:solidFill>
                  <a:srgbClr val="000000"/>
                </a:solidFill>
                <a:latin typeface="Aptos" pitchFamily="34" charset="0"/>
                <a:ea typeface="Aptos" pitchFamily="34" charset="-122"/>
                <a:cs typeface="Aptos" pitchFamily="34" charset="-120"/>
              </a:rPr>
              <a:t>It finds bugs you can't see: a duplicate id quietly breaks a link.</a:t>
            </a:r>
            <a:endParaRPr lang="en-US" sz="1700" dirty="0"/>
          </a:p>
          <a:p>
            <a:pPr lvl="1" marL="685800" indent="-342900">
              <a:spcBef>
                <a:spcPts val="300"/>
              </a:spcBef>
              <a:buSzPct val="100000"/>
              <a:buChar char="•"/>
            </a:pPr>
            <a:r>
              <a:rPr lang="en-US" sz="1450" dirty="0">
                <a:solidFill>
                  <a:srgbClr val="000000"/>
                </a:solidFill>
                <a:latin typeface="Aptos" pitchFamily="34" charset="0"/>
                <a:ea typeface="Aptos" pitchFamily="34" charset="-122"/>
                <a:cs typeface="Aptos" pitchFamily="34" charset="-120"/>
              </a:rPr>
              <a:t>Accessibility: missing alt text, tags in the wrong order.</a:t>
            </a:r>
            <a:endParaRPr lang="en-US" sz="1700" dirty="0"/>
          </a:p>
          <a:p>
            <a:pPr lvl="1" marL="685800" indent="-342900">
              <a:spcBef>
                <a:spcPts val="300"/>
              </a:spcBef>
              <a:buSzPct val="100000"/>
              <a:buChar char="•"/>
            </a:pPr>
            <a:r>
              <a:rPr lang="en-US" sz="1450" dirty="0">
                <a:solidFill>
                  <a:srgbClr val="000000"/>
                </a:solidFill>
                <a:latin typeface="Aptos" pitchFamily="34" charset="0"/>
                <a:ea typeface="Aptos" pitchFamily="34" charset="-122"/>
                <a:cs typeface="Aptos" pitchFamily="34" charset="-120"/>
              </a:rPr>
              <a:t>It's a professional habit, and part of how your projects are marked.</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How to Use the W3C Validator</a:t>
            </a:r>
            <a:endParaRPr lang="en-US" sz="2800" dirty="0"/>
          </a:p>
        </p:txBody>
      </p:sp>
      <p:sp>
        <p:nvSpPr>
          <p:cNvPr id="7" name="Shape 4"/>
          <p:cNvSpPr/>
          <p:nvPr/>
        </p:nvSpPr>
        <p:spPr>
          <a:xfrm>
            <a:off x="4754880" y="1783080"/>
            <a:ext cx="3840480" cy="59436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861865" y="1890065"/>
            <a:ext cx="3626510" cy="380390"/>
          </a:xfrm>
          <a:prstGeom prst="rect">
            <a:avLst/>
          </a:prstGeom>
          <a:noFill/>
          <a:ln/>
        </p:spPr>
        <p:txBody>
          <a:bodyPr wrap="square" lIns="0" tIns="0" rIns="0" bIns="0" rtlCol="0" anchor="t"/>
          <a:lstStyle/>
          <a:p>
            <a:pPr indent="0" marL="0">
              <a:lnSpc>
                <a:spcPct val="100000"/>
              </a:lnSpc>
              <a:buNone/>
            </a:pPr>
            <a:r>
              <a:rPr lang="en-US" sz="1800" dirty="0">
                <a:solidFill>
                  <a:srgbClr val="D4D4D4"/>
                </a:solidFill>
                <a:latin typeface="Consolas" pitchFamily="34" charset="0"/>
                <a:ea typeface="Consolas" pitchFamily="34" charset="-122"/>
                <a:cs typeface="Consolas" pitchFamily="34" charset="-120"/>
              </a:rPr>
              <a:t>validator.w3.org</a:t>
            </a:r>
            <a:endParaRPr lang="en-US" sz="1800" dirty="0"/>
          </a:p>
        </p:txBody>
      </p:sp>
      <p:sp>
        <p:nvSpPr>
          <p:cNvPr id="9" name="Shape 6"/>
          <p:cNvSpPr/>
          <p:nvPr/>
        </p:nvSpPr>
        <p:spPr>
          <a:xfrm>
            <a:off x="4754880" y="2606040"/>
            <a:ext cx="2179320" cy="1691640"/>
          </a:xfrm>
          <a:prstGeom prst="roundRect">
            <a:avLst>
              <a:gd name="adj" fmla="val 648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937760" y="2788920"/>
            <a:ext cx="384048" cy="384048"/>
          </a:xfrm>
          <a:prstGeom prst="ellipse">
            <a:avLst/>
          </a:prstGeom>
          <a:solidFill>
            <a:srgbClr val="7F7F7F"/>
          </a:solidFill>
          <a:ln w="12700">
            <a:solidFill>
              <a:srgbClr val="7F7F7F"/>
            </a:solidFill>
            <a:prstDash val="solid"/>
          </a:ln>
        </p:spPr>
      </p:sp>
      <p:sp>
        <p:nvSpPr>
          <p:cNvPr id="11" name="Text 8"/>
          <p:cNvSpPr txBox="1"/>
          <p:nvPr/>
        </p:nvSpPr>
        <p:spPr>
          <a:xfrm>
            <a:off x="4937760"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 name="Text 9"/>
          <p:cNvSpPr txBox="1"/>
          <p:nvPr/>
        </p:nvSpPr>
        <p:spPr>
          <a:xfrm>
            <a:off x="5413248" y="2770632"/>
            <a:ext cx="1402080" cy="41148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By URI</a:t>
            </a:r>
            <a:endParaRPr lang="en-US" sz="1450" dirty="0"/>
          </a:p>
        </p:txBody>
      </p:sp>
      <p:sp>
        <p:nvSpPr>
          <p:cNvPr id="13" name="Text 10"/>
          <p:cNvSpPr txBox="1"/>
          <p:nvPr/>
        </p:nvSpPr>
        <p:spPr>
          <a:xfrm>
            <a:off x="4937760" y="3337560"/>
            <a:ext cx="181356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 page that's already online</a:t>
            </a:r>
            <a:endParaRPr lang="en-US" sz="1300" dirty="0"/>
          </a:p>
        </p:txBody>
      </p:sp>
      <p:sp>
        <p:nvSpPr>
          <p:cNvPr id="14" name="Text 11"/>
          <p:cNvSpPr txBox="1"/>
          <p:nvPr/>
        </p:nvSpPr>
        <p:spPr>
          <a:xfrm>
            <a:off x="4937760" y="3794760"/>
            <a:ext cx="1813560" cy="365760"/>
          </a:xfrm>
          <a:prstGeom prst="rect">
            <a:avLst/>
          </a:prstGeom>
          <a:noFill/>
          <a:ln/>
        </p:spPr>
        <p:txBody>
          <a:bodyPr wrap="square" lIns="0" tIns="0" rIns="0" bIns="0" rtlCol="0" anchor="ctr"/>
          <a:lstStyle/>
          <a:p>
            <a:pPr indent="0" marL="0">
              <a:buNone/>
            </a:pPr>
            <a:r>
              <a:rPr lang="en-US" sz="1200" i="1" dirty="0">
                <a:solidFill>
                  <a:srgbClr val="595959"/>
                </a:solidFill>
                <a:latin typeface="Aptos" pitchFamily="34" charset="0"/>
                <a:ea typeface="Aptos" pitchFamily="34" charset="-122"/>
                <a:cs typeface="Aptos" pitchFamily="34" charset="-120"/>
              </a:rPr>
              <a:t>Later in the program</a:t>
            </a:r>
            <a:endParaRPr lang="en-US" sz="1200" dirty="0"/>
          </a:p>
        </p:txBody>
      </p:sp>
      <p:sp>
        <p:nvSpPr>
          <p:cNvPr id="15" name="Shape 12"/>
          <p:cNvSpPr/>
          <p:nvPr/>
        </p:nvSpPr>
        <p:spPr>
          <a:xfrm>
            <a:off x="7117080" y="2606040"/>
            <a:ext cx="2179320" cy="1691640"/>
          </a:xfrm>
          <a:prstGeom prst="roundRect">
            <a:avLst>
              <a:gd name="adj" fmla="val 648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7299960" y="2788920"/>
            <a:ext cx="384048" cy="384048"/>
          </a:xfrm>
          <a:prstGeom prst="ellipse">
            <a:avLst/>
          </a:prstGeom>
          <a:solidFill>
            <a:srgbClr val="1B5E82"/>
          </a:solidFill>
          <a:ln w="12700">
            <a:solidFill>
              <a:srgbClr val="1B5E82"/>
            </a:solidFill>
            <a:prstDash val="solid"/>
          </a:ln>
        </p:spPr>
      </p:sp>
      <p:sp>
        <p:nvSpPr>
          <p:cNvPr id="17" name="Text 14"/>
          <p:cNvSpPr txBox="1"/>
          <p:nvPr/>
        </p:nvSpPr>
        <p:spPr>
          <a:xfrm>
            <a:off x="7299960"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8" name="Text 15"/>
          <p:cNvSpPr txBox="1"/>
          <p:nvPr/>
        </p:nvSpPr>
        <p:spPr>
          <a:xfrm>
            <a:off x="7775448" y="2770632"/>
            <a:ext cx="1402080" cy="41148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By File Upload</a:t>
            </a:r>
            <a:endParaRPr lang="en-US" sz="1450" dirty="0"/>
          </a:p>
        </p:txBody>
      </p:sp>
      <p:sp>
        <p:nvSpPr>
          <p:cNvPr id="19" name="Text 16"/>
          <p:cNvSpPr txBox="1"/>
          <p:nvPr/>
        </p:nvSpPr>
        <p:spPr>
          <a:xfrm>
            <a:off x="7299960" y="3337560"/>
            <a:ext cx="181356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Pick your .html file</a:t>
            </a:r>
            <a:endParaRPr lang="en-US" sz="1300" dirty="0"/>
          </a:p>
        </p:txBody>
      </p:sp>
      <p:sp>
        <p:nvSpPr>
          <p:cNvPr id="20" name="Text 17"/>
          <p:cNvSpPr txBox="1"/>
          <p:nvPr/>
        </p:nvSpPr>
        <p:spPr>
          <a:xfrm>
            <a:off x="7299960" y="3794760"/>
            <a:ext cx="1813560" cy="365760"/>
          </a:xfrm>
          <a:prstGeom prst="rect">
            <a:avLst/>
          </a:prstGeom>
          <a:noFill/>
          <a:ln/>
        </p:spPr>
        <p:txBody>
          <a:bodyPr wrap="square" lIns="0" tIns="0" rIns="0" bIns="0" rtlCol="0" anchor="ctr"/>
          <a:lstStyle/>
          <a:p>
            <a:pPr indent="0" marL="0">
              <a:buNone/>
            </a:pPr>
            <a:r>
              <a:rPr lang="en-US" sz="1200" i="1" dirty="0">
                <a:solidFill>
                  <a:srgbClr val="595959"/>
                </a:solidFill>
                <a:latin typeface="Aptos" pitchFamily="34" charset="0"/>
                <a:ea typeface="Aptos" pitchFamily="34" charset="-122"/>
                <a:cs typeface="Aptos" pitchFamily="34" charset="-120"/>
              </a:rPr>
              <a:t>Works today</a:t>
            </a:r>
            <a:endParaRPr lang="en-US" sz="1200" dirty="0"/>
          </a:p>
        </p:txBody>
      </p:sp>
      <p:sp>
        <p:nvSpPr>
          <p:cNvPr id="21" name="Shape 18"/>
          <p:cNvSpPr/>
          <p:nvPr/>
        </p:nvSpPr>
        <p:spPr>
          <a:xfrm>
            <a:off x="9479280" y="2606040"/>
            <a:ext cx="2179320" cy="1691640"/>
          </a:xfrm>
          <a:prstGeom prst="roundRect">
            <a:avLst>
              <a:gd name="adj" fmla="val 6486"/>
            </a:avLst>
          </a:prstGeom>
          <a:solidFill>
            <a:srgbClr val="FFFFFF"/>
          </a:solidFill>
          <a:ln w="25400">
            <a:solidFill>
              <a:srgbClr val="E97132"/>
            </a:solidFill>
            <a:prstDash val="solid"/>
          </a:ln>
          <a:effectLst>
            <a:outerShdw sx="100000" sy="100000" kx="0" ky="0" algn="bl" rotWithShape="0" blurRad="76200" dist="25400" dir="5400000">
              <a:srgbClr val="000000">
                <a:alpha val="12000"/>
              </a:srgbClr>
            </a:outerShdw>
          </a:effectLst>
        </p:spPr>
      </p:sp>
      <p:sp>
        <p:nvSpPr>
          <p:cNvPr id="22" name="Shape 19"/>
          <p:cNvSpPr/>
          <p:nvPr/>
        </p:nvSpPr>
        <p:spPr>
          <a:xfrm>
            <a:off x="9662160" y="2788920"/>
            <a:ext cx="384048" cy="384048"/>
          </a:xfrm>
          <a:prstGeom prst="ellipse">
            <a:avLst/>
          </a:prstGeom>
          <a:solidFill>
            <a:srgbClr val="E97132"/>
          </a:solidFill>
          <a:ln w="12700">
            <a:solidFill>
              <a:srgbClr val="E97132"/>
            </a:solidFill>
            <a:prstDash val="solid"/>
          </a:ln>
        </p:spPr>
      </p:sp>
      <p:sp>
        <p:nvSpPr>
          <p:cNvPr id="23" name="Text 20"/>
          <p:cNvSpPr txBox="1"/>
          <p:nvPr/>
        </p:nvSpPr>
        <p:spPr>
          <a:xfrm>
            <a:off x="9662160"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4" name="Text 21"/>
          <p:cNvSpPr txBox="1"/>
          <p:nvPr/>
        </p:nvSpPr>
        <p:spPr>
          <a:xfrm>
            <a:off x="10137648" y="2770632"/>
            <a:ext cx="1402080" cy="41148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By Direct Input</a:t>
            </a:r>
            <a:endParaRPr lang="en-US" sz="1450" dirty="0"/>
          </a:p>
        </p:txBody>
      </p:sp>
      <p:sp>
        <p:nvSpPr>
          <p:cNvPr id="25" name="Text 22"/>
          <p:cNvSpPr txBox="1"/>
          <p:nvPr/>
        </p:nvSpPr>
        <p:spPr>
          <a:xfrm>
            <a:off x="9662160" y="3337560"/>
            <a:ext cx="181356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Paste your code</a:t>
            </a:r>
            <a:endParaRPr lang="en-US" sz="1300" dirty="0"/>
          </a:p>
        </p:txBody>
      </p:sp>
      <p:sp>
        <p:nvSpPr>
          <p:cNvPr id="26" name="Text 23"/>
          <p:cNvSpPr txBox="1"/>
          <p:nvPr/>
        </p:nvSpPr>
        <p:spPr>
          <a:xfrm>
            <a:off x="9662160" y="3794760"/>
            <a:ext cx="1813560" cy="365760"/>
          </a:xfrm>
          <a:prstGeom prst="rect">
            <a:avLst/>
          </a:prstGeom>
          <a:noFill/>
          <a:ln/>
        </p:spPr>
        <p:txBody>
          <a:bodyPr wrap="square" lIns="0" tIns="0" rIns="0" bIns="0" rtlCol="0" anchor="ctr"/>
          <a:lstStyle/>
          <a:p>
            <a:pPr indent="0" marL="0">
              <a:buNone/>
            </a:pPr>
            <a:r>
              <a:rPr lang="en-US" sz="1200" b="1" i="1" dirty="0">
                <a:solidFill>
                  <a:srgbClr val="B5451B"/>
                </a:solidFill>
                <a:latin typeface="Aptos" pitchFamily="34" charset="0"/>
                <a:ea typeface="Aptos" pitchFamily="34" charset="-122"/>
                <a:cs typeface="Aptos" pitchFamily="34" charset="-120"/>
              </a:rPr>
              <a:t>Quickest today!</a:t>
            </a:r>
            <a:endParaRPr lang="en-US" sz="1200" dirty="0"/>
          </a:p>
        </p:txBody>
      </p:sp>
      <p:sp>
        <p:nvSpPr>
          <p:cNvPr id="27" name="Shape 24"/>
          <p:cNvSpPr/>
          <p:nvPr/>
        </p:nvSpPr>
        <p:spPr>
          <a:xfrm>
            <a:off x="4754880" y="4526280"/>
            <a:ext cx="6903720" cy="1417320"/>
          </a:xfrm>
          <a:prstGeom prst="roundRect">
            <a:avLst>
              <a:gd name="adj" fmla="val 774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8" name="Text 25"/>
          <p:cNvSpPr txBox="1"/>
          <p:nvPr/>
        </p:nvSpPr>
        <p:spPr>
          <a:xfrm>
            <a:off x="4983480" y="4645152"/>
            <a:ext cx="6446520" cy="1234440"/>
          </a:xfrm>
          <a:prstGeom prst="rect">
            <a:avLst/>
          </a:prstGeom>
          <a:noFill/>
          <a:ln/>
        </p:spPr>
        <p:txBody>
          <a:bodyPr wrap="square" lIns="0" tIns="0" rIns="0" bIns="0" rtlCol="0" anchor="t"/>
          <a:lstStyle/>
          <a:p>
            <a:pPr marL="342900" indent="-342900">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Error</a:t>
            </a:r>
            <a:pPr indent="0" marL="0">
              <a:buNone/>
            </a:pPr>
            <a:r>
              <a:rPr lang="en-US" sz="1500" dirty="0">
                <a:solidFill>
                  <a:srgbClr val="262626"/>
                </a:solidFill>
                <a:latin typeface="Aptos" pitchFamily="34" charset="0"/>
                <a:ea typeface="Aptos" pitchFamily="34" charset="-122"/>
                <a:cs typeface="Aptos" pitchFamily="34" charset="-120"/>
              </a:rPr>
              <a:t> = breaks the rules. </a:t>
            </a:r>
            <a:pPr indent="0" marL="0">
              <a:buNone/>
            </a:pPr>
            <a:r>
              <a:rPr lang="en-US" sz="1500" b="1" dirty="0">
                <a:solidFill>
                  <a:srgbClr val="262626"/>
                </a:solidFill>
                <a:latin typeface="Aptos" pitchFamily="34" charset="0"/>
                <a:ea typeface="Aptos" pitchFamily="34" charset="-122"/>
                <a:cs typeface="Aptos" pitchFamily="34" charset="-120"/>
              </a:rPr>
              <a:t>Fix it.</a:t>
            </a:r>
            <a:endParaRPr lang="en-US" sz="1500" dirty="0"/>
          </a:p>
          <a:p>
            <a:pPr marL="342900" indent="-342900">
              <a:spcBef>
                <a:spcPts val="10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Warning / Info</a:t>
            </a:r>
            <a:pPr indent="0" marL="0">
              <a:buNone/>
            </a:pPr>
            <a:r>
              <a:rPr lang="en-US" sz="1500" dirty="0">
                <a:solidFill>
                  <a:srgbClr val="262626"/>
                </a:solidFill>
                <a:latin typeface="Aptos" pitchFamily="34" charset="0"/>
                <a:ea typeface="Aptos" pitchFamily="34" charset="-122"/>
                <a:cs typeface="Aptos" pitchFamily="34" charset="-120"/>
              </a:rPr>
              <a:t> = advice. Read it; fix it if you agree.</a:t>
            </a:r>
            <a:endParaRPr lang="en-US" sz="1500" dirty="0"/>
          </a:p>
          <a:p>
            <a:pPr marL="342900" indent="-342900">
              <a:spcBef>
                <a:spcPts val="10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CSS has its own: </a:t>
            </a:r>
            <a:pPr indent="0" marL="0">
              <a:buNone/>
            </a:pPr>
            <a:r>
              <a:rPr lang="en-US" sz="1500" dirty="0">
                <a:solidFill>
                  <a:srgbClr val="8A2B0B"/>
                </a:solidFill>
                <a:latin typeface="Consolas" pitchFamily="34" charset="0"/>
                <a:ea typeface="Consolas" pitchFamily="34" charset="-122"/>
                <a:cs typeface="Consolas" pitchFamily="34" charset="-120"/>
              </a:rPr>
              <a:t>jigsaw.w3.org/css-validator</a:t>
            </a:r>
            <a:pPr indent="0" marL="0">
              <a:buNone/>
            </a:pPr>
            <a:r>
              <a:rPr lang="en-US" sz="1500" dirty="0">
                <a:solidFill>
                  <a:srgbClr val="262626"/>
                </a:solidFill>
                <a:latin typeface="Aptos" pitchFamily="34" charset="0"/>
                <a:ea typeface="Aptos" pitchFamily="34" charset="-122"/>
                <a:cs typeface="Aptos" pitchFamily="34" charset="-120"/>
              </a:rPr>
              <a:t> (after Try It 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2480310"/>
            <a:ext cx="5852160" cy="18973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2708910"/>
            <a:ext cx="5394960" cy="1440180"/>
          </a:xfrm>
          <a:prstGeom prst="rect">
            <a:avLst/>
          </a:prstGeom>
          <a:noFill/>
          <a:ln/>
        </p:spPr>
        <p:txBody>
          <a:bodyPr wrap="square" lIns="0" tIns="0" rIns="0" bIns="0" rtlCol="0" anchor="t"/>
          <a:lstStyle/>
          <a:p>
            <a:pPr indent="0" marL="0">
              <a:lnSpc>
                <a:spcPct val="100000"/>
              </a:lnSpc>
              <a:buNone/>
            </a:pPr>
            <a:r>
              <a:rPr lang="en-US" sz="1250" dirty="0">
                <a:solidFill>
                  <a:srgbClr val="6A9955"/>
                </a:solidFill>
                <a:latin typeface="Consolas" pitchFamily="34" charset="0"/>
                <a:ea typeface="Consolas" pitchFamily="34" charset="-122"/>
                <a:cs typeface="Consolas" pitchFamily="34" charset="-120"/>
              </a:rPr>
              <a:t>&lt;!-- This page has 4 errors. The browser hides them all! --&gt;</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50" dirty="0">
                <a:solidFill>
                  <a:srgbClr val="CE9178"/>
                </a:solidFill>
                <a:latin typeface="Consolas" pitchFamily="34" charset="0"/>
                <a:ea typeface="Consolas" pitchFamily="34" charset="-122"/>
                <a:cs typeface="Consolas" pitchFamily="34" charset="-120"/>
              </a:rPr>
              <a:t>"images/logo.svg"</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50" dirty="0">
                <a:solidFill>
                  <a:srgbClr val="CE9178"/>
                </a:solidFill>
                <a:latin typeface="Consolas" pitchFamily="34" charset="0"/>
                <a:ea typeface="Consolas" pitchFamily="34" charset="-122"/>
                <a:cs typeface="Consolas" pitchFamily="34" charset="-120"/>
              </a:rPr>
              <a:t>"64"</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50" dirty="0">
                <a:solidFill>
                  <a:srgbClr val="CE9178"/>
                </a:solidFill>
                <a:latin typeface="Consolas" pitchFamily="34" charset="0"/>
                <a:ea typeface="Consolas" pitchFamily="34" charset="-122"/>
                <a:cs typeface="Consolas" pitchFamily="34" charset="-120"/>
              </a:rPr>
              <a:t>"64"</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Today's Specials</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a:p>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Lobster Roll</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250" dirty="0">
                <a:solidFill>
                  <a:srgbClr val="CE9178"/>
                </a:solidFill>
                <a:latin typeface="Consolas" pitchFamily="34" charset="0"/>
                <a:ea typeface="Consolas" pitchFamily="34" charset="-122"/>
                <a:cs typeface="Consolas" pitchFamily="34" charset="-120"/>
              </a:rPr>
              <a:t>"red"</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Fresh lobster on a toasted bun.</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a:p>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strong</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em</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250" dirty="0">
                <a:solidFill>
                  <a:srgbClr val="D4D4D4"/>
                </a:solidFill>
                <a:latin typeface="Consolas" pitchFamily="34" charset="0"/>
                <a:ea typeface="Consolas" pitchFamily="34" charset="-122"/>
                <a:cs typeface="Consolas" pitchFamily="34" charset="-120"/>
              </a:rPr>
              <a:t>Today only!</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strong</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em</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2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250" dirty="0">
                <a:solidFill>
                  <a:srgbClr val="808080"/>
                </a:solidFill>
                <a:latin typeface="Consolas" pitchFamily="34" charset="0"/>
                <a:ea typeface="Consolas" pitchFamily="34" charset="-122"/>
                <a:cs typeface="Consolas" pitchFamily="34" charset="-120"/>
              </a:rPr>
              <a:t>&gt;</a:t>
            </a:r>
            <a:endParaRPr lang="en-US" sz="12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VALIDATION · EXAMPLE 09</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Looks Fine. Isn't.</a:t>
            </a:r>
            <a:endParaRPr lang="en-US" sz="3200" dirty="0"/>
          </a:p>
        </p:txBody>
      </p:sp>
      <p:pic>
        <p:nvPicPr>
          <p:cNvPr id="7" name="Image 1" descr="C:\Repos\2026-2027\WEBD1000\07_Navigation_Tables_Validation\_build\shots\ex09.png">    </p:cNvPr>
          <p:cNvPicPr>
            <a:picLocks noChangeAspect="1"/>
          </p:cNvPicPr>
          <p:nvPr/>
        </p:nvPicPr>
        <p:blipFill>
          <a:blip r:embed="rId2"/>
          <a:stretch>
            <a:fillRect/>
          </a:stretch>
        </p:blipFill>
        <p:spPr>
          <a:xfrm>
            <a:off x="6812280" y="3899550"/>
            <a:ext cx="4967935" cy="2318370"/>
          </a:xfrm>
          <a:prstGeom prst="rect">
            <a:avLst/>
          </a:prstGeom>
        </p:spPr>
      </p:pic>
      <p:sp>
        <p:nvSpPr>
          <p:cNvPr id="8" name="Shape 4"/>
          <p:cNvSpPr/>
          <p:nvPr/>
        </p:nvSpPr>
        <p:spPr>
          <a:xfrm>
            <a:off x="6812280" y="3899550"/>
            <a:ext cx="4967935" cy="2318370"/>
          </a:xfrm>
          <a:prstGeom prst="rect">
            <a:avLst/>
          </a:prstGeom>
          <a:ln w="12700">
            <a:solidFill>
              <a:srgbClr val="B0B8BC"/>
            </a:solidFill>
            <a:prstDash val="solid"/>
          </a:ln>
        </p:spPr>
      </p:sp>
      <p:sp>
        <p:nvSpPr>
          <p:cNvPr id="9" name="Text 5"/>
          <p:cNvSpPr txBox="1"/>
          <p:nvPr/>
        </p:nvSpPr>
        <p:spPr>
          <a:xfrm>
            <a:off x="6812280" y="3606942"/>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006742"/>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This page has </a:t>
            </a:r>
            <a:pPr indent="0" marL="0">
              <a:buNone/>
            </a:pPr>
            <a:r>
              <a:rPr lang="en-US" sz="1400" b="1" dirty="0">
                <a:solidFill>
                  <a:srgbClr val="262626"/>
                </a:solidFill>
                <a:latin typeface="Aptos" pitchFamily="34" charset="0"/>
                <a:ea typeface="Aptos" pitchFamily="34" charset="-122"/>
                <a:cs typeface="Aptos" pitchFamily="34" charset="-120"/>
              </a:rPr>
              <a:t>4 mistakes</a:t>
            </a:r>
            <a:pPr indent="0" marL="0">
              <a:buNone/>
            </a:pPr>
            <a:r>
              <a:rPr lang="en-US" sz="1400" dirty="0">
                <a:solidFill>
                  <a:srgbClr val="262626"/>
                </a:solidFill>
                <a:latin typeface="Aptos" pitchFamily="34" charset="0"/>
                <a:ea typeface="Aptos" pitchFamily="34" charset="-122"/>
                <a:cs typeface="Aptos" pitchFamily="34" charset="-120"/>
              </a:rPr>
              <a:t>. Can you spot them before the validator does?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browser shows it </a:t>
            </a:r>
            <a:pPr indent="0" marL="0">
              <a:buNone/>
            </a:pPr>
            <a:r>
              <a:rPr lang="en-US" sz="1400" b="1" dirty="0">
                <a:solidFill>
                  <a:srgbClr val="262626"/>
                </a:solidFill>
                <a:latin typeface="Aptos" pitchFamily="34" charset="0"/>
                <a:ea typeface="Aptos" pitchFamily="34" charset="-122"/>
                <a:cs typeface="Aptos" pitchFamily="34" charset="-120"/>
              </a:rPr>
              <a:t>perfectly</a:t>
            </a:r>
            <a:pPr indent="0" marL="0">
              <a:buNone/>
            </a:pPr>
            <a:r>
              <a:rPr lang="en-US" sz="1400" dirty="0">
                <a:solidFill>
                  <a:srgbClr val="262626"/>
                </a:solidFill>
                <a:latin typeface="Aptos" pitchFamily="34" charset="0"/>
                <a:ea typeface="Aptos" pitchFamily="34" charset="-122"/>
                <a:cs typeface="Aptos" pitchFamily="34" charset="-120"/>
              </a:rPr>
              <a:t>. That's the problem!</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09_validation_broken_example.html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Reading the Results</a:t>
            </a:r>
            <a:endParaRPr lang="en-US" sz="2800" dirty="0"/>
          </a:p>
        </p:txBody>
      </p:sp>
      <p:sp>
        <p:nvSpPr>
          <p:cNvPr id="7" name="Shape 4"/>
          <p:cNvSpPr/>
          <p:nvPr/>
        </p:nvSpPr>
        <p:spPr>
          <a:xfrm>
            <a:off x="4754880" y="1783080"/>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892040" y="1874520"/>
            <a:ext cx="777240" cy="310896"/>
          </a:xfrm>
          <a:prstGeom prst="roundRect">
            <a:avLst>
              <a:gd name="adj" fmla="val 50000"/>
            </a:avLst>
          </a:prstGeom>
          <a:solidFill>
            <a:srgbClr val="C62828"/>
          </a:solidFill>
          <a:ln w="12700">
            <a:solidFill>
              <a:srgbClr val="C62828"/>
            </a:solidFill>
            <a:prstDash val="solid"/>
          </a:ln>
        </p:spPr>
      </p:sp>
      <p:sp>
        <p:nvSpPr>
          <p:cNvPr id="9" name="Text 6"/>
          <p:cNvSpPr txBox="1"/>
          <p:nvPr/>
        </p:nvSpPr>
        <p:spPr>
          <a:xfrm>
            <a:off x="4892040" y="1874520"/>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0" name="Text 7"/>
          <p:cNvSpPr txBox="1"/>
          <p:nvPr/>
        </p:nvSpPr>
        <p:spPr>
          <a:xfrm>
            <a:off x="4892040" y="2185416"/>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16</a:t>
            </a:r>
            <a:endParaRPr lang="en-US" sz="1050" dirty="0"/>
          </a:p>
        </p:txBody>
      </p:sp>
      <p:sp>
        <p:nvSpPr>
          <p:cNvPr id="11" name="Text 8"/>
          <p:cNvSpPr txBox="1"/>
          <p:nvPr/>
        </p:nvSpPr>
        <p:spPr>
          <a:xfrm>
            <a:off x="5806440" y="1783080"/>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An “img” element must have an “alt” attribute…</a:t>
            </a:r>
            <a:endParaRPr lang="en-US" sz="1200" dirty="0"/>
          </a:p>
        </p:txBody>
      </p:sp>
      <p:sp>
        <p:nvSpPr>
          <p:cNvPr id="12" name="Text 9"/>
          <p:cNvSpPr txBox="1"/>
          <p:nvPr/>
        </p:nvSpPr>
        <p:spPr>
          <a:xfrm>
            <a:off x="9281160" y="1783080"/>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Add alt="" (decoration) or alt="description"</a:t>
            </a:r>
            <a:endParaRPr lang="en-US" sz="1200" dirty="0"/>
          </a:p>
        </p:txBody>
      </p:sp>
      <p:sp>
        <p:nvSpPr>
          <p:cNvPr id="13" name="Shape 10"/>
          <p:cNvSpPr/>
          <p:nvPr/>
        </p:nvSpPr>
        <p:spPr>
          <a:xfrm>
            <a:off x="4754880" y="2532888"/>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892040" y="2624328"/>
            <a:ext cx="777240" cy="310896"/>
          </a:xfrm>
          <a:prstGeom prst="roundRect">
            <a:avLst>
              <a:gd name="adj" fmla="val 50000"/>
            </a:avLst>
          </a:prstGeom>
          <a:solidFill>
            <a:srgbClr val="C62828"/>
          </a:solidFill>
          <a:ln w="12700">
            <a:solidFill>
              <a:srgbClr val="C62828"/>
            </a:solidFill>
            <a:prstDash val="solid"/>
          </a:ln>
        </p:spPr>
      </p:sp>
      <p:sp>
        <p:nvSpPr>
          <p:cNvPr id="15" name="Text 12"/>
          <p:cNvSpPr txBox="1"/>
          <p:nvPr/>
        </p:nvSpPr>
        <p:spPr>
          <a:xfrm>
            <a:off x="4892040" y="2624328"/>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6" name="Text 13"/>
          <p:cNvSpPr txBox="1"/>
          <p:nvPr/>
        </p:nvSpPr>
        <p:spPr>
          <a:xfrm>
            <a:off x="4892040" y="2935224"/>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19</a:t>
            </a:r>
            <a:endParaRPr lang="en-US" sz="1050" dirty="0"/>
          </a:p>
        </p:txBody>
      </p:sp>
      <p:sp>
        <p:nvSpPr>
          <p:cNvPr id="17" name="Text 14"/>
          <p:cNvSpPr txBox="1"/>
          <p:nvPr/>
        </p:nvSpPr>
        <p:spPr>
          <a:xfrm>
            <a:off x="5806440" y="2532888"/>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End tag “h3” seen, but there were open elements.</a:t>
            </a:r>
            <a:endParaRPr lang="en-US" sz="1200" dirty="0"/>
          </a:p>
        </p:txBody>
      </p:sp>
      <p:sp>
        <p:nvSpPr>
          <p:cNvPr id="18" name="Text 15"/>
          <p:cNvSpPr txBox="1"/>
          <p:nvPr/>
        </p:nvSpPr>
        <p:spPr>
          <a:xfrm>
            <a:off x="9281160" y="2532888"/>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Close it with the same tag: &lt;/h2&gt;</a:t>
            </a:r>
            <a:endParaRPr lang="en-US" sz="1200" dirty="0"/>
          </a:p>
        </p:txBody>
      </p:sp>
      <p:sp>
        <p:nvSpPr>
          <p:cNvPr id="19" name="Shape 16"/>
          <p:cNvSpPr/>
          <p:nvPr/>
        </p:nvSpPr>
        <p:spPr>
          <a:xfrm>
            <a:off x="4754880" y="3282696"/>
            <a:ext cx="6903720" cy="658368"/>
          </a:xfrm>
          <a:prstGeom prst="roundRect">
            <a:avLst>
              <a:gd name="adj" fmla="val 1666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4892040" y="3374136"/>
            <a:ext cx="777240" cy="310896"/>
          </a:xfrm>
          <a:prstGeom prst="roundRect">
            <a:avLst>
              <a:gd name="adj" fmla="val 50000"/>
            </a:avLst>
          </a:prstGeom>
          <a:solidFill>
            <a:srgbClr val="C62828"/>
          </a:solidFill>
          <a:ln w="12700">
            <a:solidFill>
              <a:srgbClr val="C62828"/>
            </a:solidFill>
            <a:prstDash val="solid"/>
          </a:ln>
        </p:spPr>
      </p:sp>
      <p:sp>
        <p:nvSpPr>
          <p:cNvPr id="21" name="Text 18"/>
          <p:cNvSpPr txBox="1"/>
          <p:nvPr/>
        </p:nvSpPr>
        <p:spPr>
          <a:xfrm>
            <a:off x="4892040" y="3374136"/>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22" name="Text 19"/>
          <p:cNvSpPr txBox="1"/>
          <p:nvPr/>
        </p:nvSpPr>
        <p:spPr>
          <a:xfrm>
            <a:off x="4892040" y="3685032"/>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20</a:t>
            </a:r>
            <a:endParaRPr lang="en-US" sz="1050" dirty="0"/>
          </a:p>
        </p:txBody>
      </p:sp>
      <p:sp>
        <p:nvSpPr>
          <p:cNvPr id="23" name="Text 20"/>
          <p:cNvSpPr txBox="1"/>
          <p:nvPr/>
        </p:nvSpPr>
        <p:spPr>
          <a:xfrm>
            <a:off x="5806440" y="3282696"/>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Attribute “color” not allowed on element “p” at this point.</a:t>
            </a:r>
            <a:endParaRPr lang="en-US" sz="1200" dirty="0"/>
          </a:p>
        </p:txBody>
      </p:sp>
      <p:sp>
        <p:nvSpPr>
          <p:cNvPr id="24" name="Text 21"/>
          <p:cNvSpPr txBox="1"/>
          <p:nvPr/>
        </p:nvSpPr>
        <p:spPr>
          <a:xfrm>
            <a:off x="9281160" y="3282696"/>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Not an HTML attribute: do it in CSS</a:t>
            </a:r>
            <a:endParaRPr lang="en-US" sz="1200" dirty="0"/>
          </a:p>
        </p:txBody>
      </p:sp>
      <p:sp>
        <p:nvSpPr>
          <p:cNvPr id="25" name="Shape 22"/>
          <p:cNvSpPr/>
          <p:nvPr/>
        </p:nvSpPr>
        <p:spPr>
          <a:xfrm>
            <a:off x="4754880" y="4032504"/>
            <a:ext cx="6903720" cy="658368"/>
          </a:xfrm>
          <a:prstGeom prst="roundRect">
            <a:avLst>
              <a:gd name="adj" fmla="val 16667"/>
            </a:avLst>
          </a:prstGeom>
          <a:solidFill>
            <a:srgbClr val="FFF7F6"/>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6" name="Shape 23"/>
          <p:cNvSpPr/>
          <p:nvPr/>
        </p:nvSpPr>
        <p:spPr>
          <a:xfrm>
            <a:off x="4892040" y="4123944"/>
            <a:ext cx="777240" cy="310896"/>
          </a:xfrm>
          <a:prstGeom prst="roundRect">
            <a:avLst>
              <a:gd name="adj" fmla="val 50000"/>
            </a:avLst>
          </a:prstGeom>
          <a:solidFill>
            <a:srgbClr val="C62828"/>
          </a:solidFill>
          <a:ln w="12700">
            <a:solidFill>
              <a:srgbClr val="C62828"/>
            </a:solidFill>
            <a:prstDash val="solid"/>
          </a:ln>
        </p:spPr>
      </p:sp>
      <p:sp>
        <p:nvSpPr>
          <p:cNvPr id="27" name="Text 24"/>
          <p:cNvSpPr txBox="1"/>
          <p:nvPr/>
        </p:nvSpPr>
        <p:spPr>
          <a:xfrm>
            <a:off x="4892040" y="4123944"/>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28" name="Text 25"/>
          <p:cNvSpPr txBox="1"/>
          <p:nvPr/>
        </p:nvSpPr>
        <p:spPr>
          <a:xfrm>
            <a:off x="4892040" y="4434840"/>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21</a:t>
            </a:r>
            <a:endParaRPr lang="en-US" sz="1050" dirty="0"/>
          </a:p>
        </p:txBody>
      </p:sp>
      <p:sp>
        <p:nvSpPr>
          <p:cNvPr id="29" name="Text 26"/>
          <p:cNvSpPr txBox="1"/>
          <p:nvPr/>
        </p:nvSpPr>
        <p:spPr>
          <a:xfrm>
            <a:off x="5806440" y="4032504"/>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End tag “strong” violates nesting rules.</a:t>
            </a:r>
            <a:endParaRPr lang="en-US" sz="1200" dirty="0"/>
          </a:p>
        </p:txBody>
      </p:sp>
      <p:sp>
        <p:nvSpPr>
          <p:cNvPr id="30" name="Text 27"/>
          <p:cNvSpPr txBox="1"/>
          <p:nvPr/>
        </p:nvSpPr>
        <p:spPr>
          <a:xfrm>
            <a:off x="9281160" y="4032504"/>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Last opened, first closed:</a:t>
            </a:r>
            <a:endParaRPr lang="en-US" sz="1200" dirty="0"/>
          </a:p>
        </p:txBody>
      </p:sp>
      <p:sp>
        <p:nvSpPr>
          <p:cNvPr id="31" name="Shape 28"/>
          <p:cNvSpPr/>
          <p:nvPr/>
        </p:nvSpPr>
        <p:spPr>
          <a:xfrm>
            <a:off x="4754880" y="4782312"/>
            <a:ext cx="6903720" cy="658368"/>
          </a:xfrm>
          <a:prstGeom prst="roundRect">
            <a:avLst>
              <a:gd name="adj" fmla="val 16667"/>
            </a:avLst>
          </a:prstGeom>
          <a:solidFill>
            <a:srgbClr val="FFF7F6"/>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2" name="Shape 29"/>
          <p:cNvSpPr/>
          <p:nvPr/>
        </p:nvSpPr>
        <p:spPr>
          <a:xfrm>
            <a:off x="4892040" y="4873752"/>
            <a:ext cx="777240" cy="310896"/>
          </a:xfrm>
          <a:prstGeom prst="roundRect">
            <a:avLst>
              <a:gd name="adj" fmla="val 50000"/>
            </a:avLst>
          </a:prstGeom>
          <a:solidFill>
            <a:srgbClr val="C62828"/>
          </a:solidFill>
          <a:ln w="12700">
            <a:solidFill>
              <a:srgbClr val="C62828"/>
            </a:solidFill>
            <a:prstDash val="solid"/>
          </a:ln>
        </p:spPr>
      </p:sp>
      <p:sp>
        <p:nvSpPr>
          <p:cNvPr id="33" name="Text 30"/>
          <p:cNvSpPr txBox="1"/>
          <p:nvPr/>
        </p:nvSpPr>
        <p:spPr>
          <a:xfrm>
            <a:off x="4892040" y="4873752"/>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34" name="Text 31"/>
          <p:cNvSpPr txBox="1"/>
          <p:nvPr/>
        </p:nvSpPr>
        <p:spPr>
          <a:xfrm>
            <a:off x="4892040" y="5184648"/>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21</a:t>
            </a:r>
            <a:endParaRPr lang="en-US" sz="1050" dirty="0"/>
          </a:p>
        </p:txBody>
      </p:sp>
      <p:sp>
        <p:nvSpPr>
          <p:cNvPr id="35" name="Text 32"/>
          <p:cNvSpPr txBox="1"/>
          <p:nvPr/>
        </p:nvSpPr>
        <p:spPr>
          <a:xfrm>
            <a:off x="5806440" y="4782312"/>
            <a:ext cx="3383280" cy="658368"/>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No “em” element in scope but a “em” end tag seen.</a:t>
            </a:r>
            <a:endParaRPr lang="en-US" sz="1200" dirty="0"/>
          </a:p>
        </p:txBody>
      </p:sp>
      <p:sp>
        <p:nvSpPr>
          <p:cNvPr id="36" name="Text 33"/>
          <p:cNvSpPr txBox="1"/>
          <p:nvPr/>
        </p:nvSpPr>
        <p:spPr>
          <a:xfrm>
            <a:off x="9281160" y="4782312"/>
            <a:ext cx="2286000" cy="658368"/>
          </a:xfrm>
          <a:prstGeom prst="rect">
            <a:avLst/>
          </a:prstGeom>
          <a:noFill/>
          <a:ln/>
        </p:spPr>
        <p:txBody>
          <a:bodyPr wrap="square" lIns="0" tIns="0" rIns="0" bIns="0" rtlCol="0" anchor="ctr"/>
          <a:lstStyle/>
          <a:p>
            <a:pPr indent="0" marL="0">
              <a:buNone/>
            </a:pPr>
            <a:r>
              <a:rPr lang="en-US" sz="1200" b="1" dirty="0">
                <a:solidFill>
                  <a:srgbClr val="1B5E82"/>
                </a:solidFill>
                <a:latin typeface="Consolas" pitchFamily="34" charset="0"/>
                <a:ea typeface="Consolas" pitchFamily="34" charset="-122"/>
                <a:cs typeface="Consolas" pitchFamily="34" charset="-120"/>
              </a:rPr>
              <a:t>&lt;strong&gt;&lt;em&gt;…&lt;/em&gt;&lt;/strong&gt;</a:t>
            </a:r>
            <a:endParaRPr lang="en-US" sz="1200" dirty="0"/>
          </a:p>
        </p:txBody>
      </p:sp>
      <p:sp>
        <p:nvSpPr>
          <p:cNvPr id="37" name="Text 34"/>
          <p:cNvSpPr txBox="1"/>
          <p:nvPr/>
        </p:nvSpPr>
        <p:spPr>
          <a:xfrm>
            <a:off x="5806440" y="5458968"/>
            <a:ext cx="3383280" cy="274320"/>
          </a:xfrm>
          <a:prstGeom prst="rect">
            <a:avLst/>
          </a:prstGeom>
          <a:noFill/>
          <a:ln/>
        </p:spPr>
        <p:txBody>
          <a:bodyPr wrap="square" lIns="0" tIns="0" rIns="0" bIns="0" rtlCol="0" anchor="ctr"/>
          <a:lstStyle/>
          <a:p>
            <a:pPr indent="0" marL="0">
              <a:buNone/>
            </a:pPr>
            <a:r>
              <a:rPr lang="en-US" sz="1100" i="1" dirty="0">
                <a:solidFill>
                  <a:srgbClr val="C62828"/>
                </a:solidFill>
                <a:latin typeface="Aptos" pitchFamily="34" charset="0"/>
                <a:ea typeface="Aptos" pitchFamily="34" charset="-122"/>
                <a:cs typeface="Aptos" pitchFamily="34" charset="-120"/>
              </a:rPr>
              <a:t>↑ one mistake on line 21, two messages</a:t>
            </a:r>
            <a:endParaRPr lang="en-US" sz="1100" dirty="0"/>
          </a:p>
        </p:txBody>
      </p:sp>
      <p:sp>
        <p:nvSpPr>
          <p:cNvPr id="38" name="Shape 35"/>
          <p:cNvSpPr/>
          <p:nvPr/>
        </p:nvSpPr>
        <p:spPr>
          <a:xfrm>
            <a:off x="4754880" y="5760720"/>
            <a:ext cx="6903720" cy="594360"/>
          </a:xfrm>
          <a:prstGeom prst="roundRect">
            <a:avLst>
              <a:gd name="adj" fmla="val 18462"/>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39" name="Text 36"/>
          <p:cNvSpPr txBox="1"/>
          <p:nvPr/>
        </p:nvSpPr>
        <p:spPr>
          <a:xfrm>
            <a:off x="4983480" y="5760720"/>
            <a:ext cx="6446520" cy="59436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Aptos" pitchFamily="34" charset="-122"/>
                <a:cs typeface="Aptos" pitchFamily="34" charset="-120"/>
              </a:rPr>
              <a:t>​</a:t>
            </a:r>
            <a:pPr indent="0" marL="0">
              <a:buNone/>
            </a:pPr>
            <a:r>
              <a:rPr lang="en-US" sz="1400" b="1" dirty="0">
                <a:solidFill>
                  <a:srgbClr val="FFFFFF"/>
                </a:solidFill>
                <a:latin typeface="Aptos" pitchFamily="34" charset="0"/>
                <a:ea typeface="Aptos" pitchFamily="34" charset="-122"/>
                <a:cs typeface="Aptos" pitchFamily="34" charset="-120"/>
              </a:rPr>
              <a:t>Fix the first error, save, check again.</a:t>
            </a:r>
            <a:pPr indent="0" marL="0">
              <a:buNone/>
            </a:pPr>
            <a:r>
              <a:rPr lang="en-US" sz="1400" dirty="0">
                <a:solidFill>
                  <a:srgbClr val="FFFFFF"/>
                </a:solidFill>
                <a:latin typeface="Aptos" pitchFamily="34" charset="0"/>
                <a:ea typeface="Aptos" pitchFamily="34" charset="-122"/>
                <a:cs typeface="Aptos" pitchFamily="34" charset="-120"/>
              </a:rPr>
              <a:t> Repeat until: “No errors or warnings to show.”</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7: Validate the HTML (12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validator.w3.org</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Choose </a:t>
            </a:r>
            <a:pPr indent="0" marL="0">
              <a:buNone/>
            </a:pPr>
            <a:r>
              <a:rPr lang="en-US" sz="1300" b="1" dirty="0">
                <a:solidFill>
                  <a:srgbClr val="262626"/>
                </a:solidFill>
                <a:latin typeface="Aptos" pitchFamily="34" charset="0"/>
                <a:ea typeface="Aptos" pitchFamily="34" charset="-122"/>
                <a:cs typeface="Aptos" pitchFamily="34" charset="-120"/>
              </a:rPr>
              <a:t>Validate by Direct Input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all of index.html</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VS Code: </a:t>
            </a:r>
            <a:pPr indent="0" marL="0">
              <a:buNone/>
            </a:pPr>
            <a:r>
              <a:rPr lang="en-US" sz="1300" b="1" dirty="0">
                <a:solidFill>
                  <a:srgbClr val="262626"/>
                </a:solidFill>
                <a:latin typeface="Aptos" pitchFamily="34" charset="0"/>
                <a:ea typeface="Aptos" pitchFamily="34" charset="-122"/>
                <a:cs typeface="Aptos" pitchFamily="34" charset="-120"/>
              </a:rPr>
              <a:t>Ctrl + A</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b="1" dirty="0">
                <a:solidFill>
                  <a:srgbClr val="262626"/>
                </a:solidFill>
                <a:latin typeface="Aptos" pitchFamily="34" charset="0"/>
                <a:ea typeface="Aptos" pitchFamily="34" charset="-122"/>
                <a:cs typeface="Aptos" pitchFamily="34" charset="-120"/>
              </a:rPr>
              <a:t>Ctrl + C</a:t>
            </a:r>
            <a:pPr indent="0" marL="0">
              <a:buNone/>
            </a:pPr>
            <a:r>
              <a:rPr lang="en-US" sz="1300" dirty="0">
                <a:solidFill>
                  <a:srgbClr val="262626"/>
                </a:solidFill>
                <a:latin typeface="Aptos" pitchFamily="34" charset="0"/>
                <a:ea typeface="Aptos" pitchFamily="34" charset="-122"/>
                <a:cs typeface="Aptos" pitchFamily="34" charset="-120"/>
              </a:rPr>
              <a:t>. Paste it in, then </a:t>
            </a:r>
            <a:pPr indent="0" marL="0">
              <a:buNone/>
            </a:pPr>
            <a:r>
              <a:rPr lang="en-US" sz="1300" b="1" dirty="0">
                <a:solidFill>
                  <a:srgbClr val="262626"/>
                </a:solidFill>
                <a:latin typeface="Aptos" pitchFamily="34" charset="0"/>
                <a:ea typeface="Aptos" pitchFamily="34" charset="-122"/>
                <a:cs typeface="Aptos" pitchFamily="34" charset="-120"/>
              </a:rPr>
              <a:t>Check</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Fix the first error</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Ctrl + G jumps to the line. Fix it and save.</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paste, check again</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Repeat until there are no errors left.</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Screenshot the result</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“Document checking completed. </a:t>
            </a:r>
            <a:pPr indent="0" marL="0">
              <a:buNone/>
            </a:pPr>
            <a:r>
              <a:rPr lang="en-US" sz="1300" b="1" dirty="0">
                <a:solidFill>
                  <a:srgbClr val="262626"/>
                </a:solidFill>
                <a:latin typeface="Aptos" pitchFamily="34" charset="0"/>
                <a:ea typeface="Aptos" pitchFamily="34" charset="-122"/>
                <a:cs typeface="Aptos" pitchFamily="34" charset="-120"/>
              </a:rPr>
              <a:t>No errors or warnings to show.</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5" name="Shape 22"/>
          <p:cNvSpPr/>
          <p:nvPr/>
        </p:nvSpPr>
        <p:spPr>
          <a:xfrm>
            <a:off x="6995160" y="1325880"/>
            <a:ext cx="4647895" cy="3566160"/>
          </a:xfrm>
          <a:prstGeom prst="roundRect">
            <a:avLst>
              <a:gd name="adj" fmla="val 307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7269480" y="1463040"/>
            <a:ext cx="4099255" cy="45720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The starter page had 5 hidden mistakes!</a:t>
            </a:r>
            <a:endParaRPr lang="en-US" sz="1700" dirty="0"/>
          </a:p>
        </p:txBody>
      </p:sp>
      <p:sp>
        <p:nvSpPr>
          <p:cNvPr id="27" name="Text 24"/>
          <p:cNvSpPr txBox="1"/>
          <p:nvPr/>
        </p:nvSpPr>
        <p:spPr>
          <a:xfrm>
            <a:off x="7269480" y="1920240"/>
            <a:ext cx="4099255" cy="320040"/>
          </a:xfrm>
          <a:prstGeom prst="rect">
            <a:avLst/>
          </a:prstGeom>
          <a:noFill/>
          <a:ln/>
        </p:spPr>
        <p:txBody>
          <a:bodyPr wrap="square" lIns="0" tIns="0" rIns="0" bIns="0" rtlCol="0" anchor="ctr"/>
          <a:lstStyle/>
          <a:p>
            <a:pPr indent="0" marL="0">
              <a:buNone/>
            </a:pPr>
            <a:r>
              <a:rPr lang="en-US" sz="1300" b="1" dirty="0">
                <a:solidFill>
                  <a:srgbClr val="F2C6AC"/>
                </a:solidFill>
                <a:latin typeface="Aptos" pitchFamily="34" charset="0"/>
                <a:ea typeface="Aptos" pitchFamily="34" charset="-122"/>
                <a:cs typeface="Aptos" pitchFamily="34" charset="-120"/>
              </a:rPr>
              <a:t>Clues:</a:t>
            </a:r>
            <a:endParaRPr lang="en-US" sz="1300" dirty="0"/>
          </a:p>
        </p:txBody>
      </p:sp>
      <p:sp>
        <p:nvSpPr>
          <p:cNvPr id="28" name="Shape 25"/>
          <p:cNvSpPr/>
          <p:nvPr/>
        </p:nvSpPr>
        <p:spPr>
          <a:xfrm>
            <a:off x="7269480" y="2286000"/>
            <a:ext cx="329184" cy="329184"/>
          </a:xfrm>
          <a:prstGeom prst="ellipse">
            <a:avLst/>
          </a:prstGeom>
          <a:solidFill>
            <a:srgbClr val="E97132"/>
          </a:solidFill>
          <a:ln w="12700">
            <a:solidFill>
              <a:srgbClr val="E97132"/>
            </a:solidFill>
            <a:prstDash val="solid"/>
          </a:ln>
        </p:spPr>
      </p:sp>
      <p:sp>
        <p:nvSpPr>
          <p:cNvPr id="29" name="Text 26"/>
          <p:cNvSpPr txBox="1"/>
          <p:nvPr/>
        </p:nvSpPr>
        <p:spPr>
          <a:xfrm>
            <a:off x="7269480" y="22860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30" name="Text 27"/>
          <p:cNvSpPr txBox="1"/>
          <p:nvPr/>
        </p:nvSpPr>
        <p:spPr>
          <a:xfrm>
            <a:off x="7726680" y="223113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An image that says nothing about itself</a:t>
            </a:r>
            <a:endParaRPr lang="en-US" sz="1350" dirty="0"/>
          </a:p>
        </p:txBody>
      </p:sp>
      <p:sp>
        <p:nvSpPr>
          <p:cNvPr id="31" name="Shape 28"/>
          <p:cNvSpPr/>
          <p:nvPr/>
        </p:nvSpPr>
        <p:spPr>
          <a:xfrm>
            <a:off x="7269480" y="2788920"/>
            <a:ext cx="329184" cy="329184"/>
          </a:xfrm>
          <a:prstGeom prst="ellipse">
            <a:avLst/>
          </a:prstGeom>
          <a:solidFill>
            <a:srgbClr val="E97132"/>
          </a:solidFill>
          <a:ln w="12700">
            <a:solidFill>
              <a:srgbClr val="E97132"/>
            </a:solidFill>
            <a:prstDash val="solid"/>
          </a:ln>
        </p:spPr>
      </p:sp>
      <p:sp>
        <p:nvSpPr>
          <p:cNvPr id="32" name="Text 29"/>
          <p:cNvSpPr txBox="1"/>
          <p:nvPr/>
        </p:nvSpPr>
        <p:spPr>
          <a:xfrm>
            <a:off x="7269480" y="27889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33" name="Text 30"/>
          <p:cNvSpPr txBox="1"/>
          <p:nvPr/>
        </p:nvSpPr>
        <p:spPr>
          <a:xfrm>
            <a:off x="7726680" y="273405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Two tags closed in the wrong order</a:t>
            </a:r>
            <a:endParaRPr lang="en-US" sz="1350" dirty="0"/>
          </a:p>
        </p:txBody>
      </p:sp>
      <p:sp>
        <p:nvSpPr>
          <p:cNvPr id="34" name="Shape 31"/>
          <p:cNvSpPr/>
          <p:nvPr/>
        </p:nvSpPr>
        <p:spPr>
          <a:xfrm>
            <a:off x="7269480" y="3291840"/>
            <a:ext cx="329184" cy="329184"/>
          </a:xfrm>
          <a:prstGeom prst="ellipse">
            <a:avLst/>
          </a:prstGeom>
          <a:solidFill>
            <a:srgbClr val="E97132"/>
          </a:solidFill>
          <a:ln w="12700">
            <a:solidFill>
              <a:srgbClr val="E97132"/>
            </a:solidFill>
            <a:prstDash val="solid"/>
          </a:ln>
        </p:spPr>
      </p:sp>
      <p:sp>
        <p:nvSpPr>
          <p:cNvPr id="35" name="Text 32"/>
          <p:cNvSpPr txBox="1"/>
          <p:nvPr/>
        </p:nvSpPr>
        <p:spPr>
          <a:xfrm>
            <a:off x="7269480"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36" name="Text 33"/>
          <p:cNvSpPr txBox="1"/>
          <p:nvPr/>
        </p:nvSpPr>
        <p:spPr>
          <a:xfrm>
            <a:off x="7726680" y="323697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 closing tag that doesn't match its opening tag</a:t>
            </a:r>
            <a:endParaRPr lang="en-US" sz="1350" dirty="0"/>
          </a:p>
        </p:txBody>
      </p:sp>
      <p:sp>
        <p:nvSpPr>
          <p:cNvPr id="37" name="Shape 34"/>
          <p:cNvSpPr/>
          <p:nvPr/>
        </p:nvSpPr>
        <p:spPr>
          <a:xfrm>
            <a:off x="7269480" y="3794760"/>
            <a:ext cx="329184" cy="329184"/>
          </a:xfrm>
          <a:prstGeom prst="ellipse">
            <a:avLst/>
          </a:prstGeom>
          <a:solidFill>
            <a:srgbClr val="E97132"/>
          </a:solidFill>
          <a:ln w="12700">
            <a:solidFill>
              <a:srgbClr val="E97132"/>
            </a:solidFill>
            <a:prstDash val="solid"/>
          </a:ln>
        </p:spPr>
      </p:sp>
      <p:sp>
        <p:nvSpPr>
          <p:cNvPr id="38" name="Text 35"/>
          <p:cNvSpPr txBox="1"/>
          <p:nvPr/>
        </p:nvSpPr>
        <p:spPr>
          <a:xfrm>
            <a:off x="7269480" y="3794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39" name="Text 36"/>
          <p:cNvSpPr txBox="1"/>
          <p:nvPr/>
        </p:nvSpPr>
        <p:spPr>
          <a:xfrm>
            <a:off x="7726680" y="373989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Two of something there should only be one of</a:t>
            </a:r>
            <a:endParaRPr lang="en-US" sz="1350" dirty="0"/>
          </a:p>
        </p:txBody>
      </p:sp>
      <p:sp>
        <p:nvSpPr>
          <p:cNvPr id="40" name="Shape 37"/>
          <p:cNvSpPr/>
          <p:nvPr/>
        </p:nvSpPr>
        <p:spPr>
          <a:xfrm>
            <a:off x="7269480" y="4297680"/>
            <a:ext cx="329184" cy="329184"/>
          </a:xfrm>
          <a:prstGeom prst="ellipse">
            <a:avLst/>
          </a:prstGeom>
          <a:solidFill>
            <a:srgbClr val="E97132"/>
          </a:solidFill>
          <a:ln w="12700">
            <a:solidFill>
              <a:srgbClr val="E97132"/>
            </a:solidFill>
            <a:prstDash val="solid"/>
          </a:ln>
        </p:spPr>
      </p:sp>
      <p:sp>
        <p:nvSpPr>
          <p:cNvPr id="41" name="Text 38"/>
          <p:cNvSpPr txBox="1"/>
          <p:nvPr/>
        </p:nvSpPr>
        <p:spPr>
          <a:xfrm>
            <a:off x="7269480" y="4297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42" name="Text 39"/>
          <p:cNvSpPr txBox="1"/>
          <p:nvPr/>
        </p:nvSpPr>
        <p:spPr>
          <a:xfrm>
            <a:off x="7726680" y="424281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An attribute HTML has never heard of</a:t>
            </a:r>
            <a:endParaRPr lang="en-US" sz="1350" dirty="0"/>
          </a:p>
        </p:txBody>
      </p:sp>
      <p:sp>
        <p:nvSpPr>
          <p:cNvPr id="43" name="Shape 40"/>
          <p:cNvSpPr/>
          <p:nvPr/>
        </p:nvSpPr>
        <p:spPr>
          <a:xfrm>
            <a:off x="6995160" y="5074920"/>
            <a:ext cx="4647895" cy="1280160"/>
          </a:xfrm>
          <a:prstGeom prst="roundRect">
            <a:avLst>
              <a:gd name="adj" fmla="val 8571"/>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44" name="Text 41"/>
          <p:cNvSpPr txBox="1"/>
          <p:nvPr/>
        </p:nvSpPr>
        <p:spPr>
          <a:xfrm>
            <a:off x="7223760" y="5120640"/>
            <a:ext cx="4190695" cy="118872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Clue 4 explains why the </a:t>
            </a:r>
            <a:pPr indent="0" marL="0">
              <a:buNone/>
            </a:pPr>
            <a:r>
              <a:rPr lang="en-US" sz="1300" b="1" dirty="0">
                <a:solidFill>
                  <a:srgbClr val="262626"/>
                </a:solidFill>
                <a:latin typeface="Aptos" pitchFamily="34" charset="0"/>
                <a:ea typeface="Aptos" pitchFamily="34" charset="-122"/>
                <a:cs typeface="Aptos" pitchFamily="34" charset="-120"/>
              </a:rPr>
              <a:t>Kids' Fish Bites</a:t>
            </a:r>
            <a:pPr indent="0" marL="0">
              <a:buNone/>
            </a:pPr>
            <a:r>
              <a:rPr lang="en-US" sz="1300" dirty="0">
                <a:solidFill>
                  <a:srgbClr val="262626"/>
                </a:solidFill>
                <a:latin typeface="Aptos" pitchFamily="34" charset="0"/>
                <a:ea typeface="Aptos" pitchFamily="34" charset="-122"/>
                <a:cs typeface="Aptos" pitchFamily="34" charset="-120"/>
              </a:rPr>
              <a:t> link in your dropdown doesn't go anywhere!</a:t>
            </a:r>
            <a:endParaRPr lang="en-US" sz="1300" dirty="0"/>
          </a:p>
          <a:p>
            <a:pPr indent="0" marL="0">
              <a:spcBef>
                <a:spcPts val="600"/>
              </a:spcBef>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Errors in the code </a:t>
            </a:r>
            <a:pPr indent="0" marL="0">
              <a:buNone/>
            </a:pPr>
            <a:r>
              <a:rPr lang="en-US" sz="1300" b="1" dirty="0">
                <a:solidFill>
                  <a:srgbClr val="262626"/>
                </a:solidFill>
                <a:latin typeface="Aptos" pitchFamily="34" charset="0"/>
                <a:ea typeface="Aptos" pitchFamily="34" charset="-122"/>
                <a:cs typeface="Aptos" pitchFamily="34" charset="-120"/>
              </a:rPr>
              <a:t>you</a:t>
            </a:r>
            <a:pPr indent="0" marL="0">
              <a:buNone/>
            </a:pPr>
            <a:r>
              <a:rPr lang="en-US" sz="1300" dirty="0">
                <a:solidFill>
                  <a:srgbClr val="262626"/>
                </a:solidFill>
                <a:latin typeface="Aptos" pitchFamily="34" charset="0"/>
                <a:ea typeface="Aptos" pitchFamily="34" charset="-122"/>
                <a:cs typeface="Aptos" pitchFamily="34" charset="-120"/>
              </a:rPr>
              <a:t> typed? Fix those too.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325880"/>
            <a:ext cx="5852160" cy="42062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554480"/>
            <a:ext cx="5394960" cy="3749040"/>
          </a:xfrm>
          <a:prstGeom prst="rect">
            <a:avLst/>
          </a:prstGeom>
          <a:noFill/>
          <a:ln/>
        </p:spPr>
        <p:txBody>
          <a:bodyPr wrap="square" lIns="0" tIns="0" rIns="0" bIns="0" rtlCol="0" anchor="t"/>
          <a:lstStyle/>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h1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colour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p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18</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.price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bold</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.note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middle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CSS VALIDATION · EXAMPLE 11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CSS Fails Quietly</a:t>
            </a:r>
            <a:endParaRPr lang="en-US" sz="3200" dirty="0"/>
          </a:p>
        </p:txBody>
      </p:sp>
      <p:pic>
        <p:nvPicPr>
          <p:cNvPr id="7" name="Image 1" descr="C:\Repos\2026-2027\WEBD1000\07_Navigation_Tables_Validation\_build\shots\ex11.png">    </p:cNvPr>
          <p:cNvPicPr>
            <a:picLocks noChangeAspect="1"/>
          </p:cNvPicPr>
          <p:nvPr/>
        </p:nvPicPr>
        <p:blipFill>
          <a:blip r:embed="rId2"/>
          <a:stretch>
            <a:fillRect/>
          </a:stretch>
        </p:blipFill>
        <p:spPr>
          <a:xfrm>
            <a:off x="6812280" y="5216972"/>
            <a:ext cx="2415388" cy="1046668"/>
          </a:xfrm>
          <a:prstGeom prst="rect">
            <a:avLst/>
          </a:prstGeom>
        </p:spPr>
      </p:pic>
      <p:sp>
        <p:nvSpPr>
          <p:cNvPr id="8" name="Shape 4"/>
          <p:cNvSpPr/>
          <p:nvPr/>
        </p:nvSpPr>
        <p:spPr>
          <a:xfrm>
            <a:off x="6812280" y="5216972"/>
            <a:ext cx="2415388" cy="1046668"/>
          </a:xfrm>
          <a:prstGeom prst="rect">
            <a:avLst/>
          </a:prstGeom>
          <a:ln w="12700">
            <a:solidFill>
              <a:srgbClr val="B0B8BC"/>
            </a:solidFill>
            <a:prstDash val="solid"/>
          </a:ln>
        </p:spPr>
      </p:sp>
      <p:sp>
        <p:nvSpPr>
          <p:cNvPr id="9" name="Text 5"/>
          <p:cNvSpPr txBox="1"/>
          <p:nvPr/>
        </p:nvSpPr>
        <p:spPr>
          <a:xfrm>
            <a:off x="6812280" y="4924364"/>
            <a:ext cx="241538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WHAT YOU GET</a:t>
            </a:r>
            <a:endParaRPr lang="en-US" sz="1100" dirty="0"/>
          </a:p>
        </p:txBody>
      </p:sp>
      <p:pic>
        <p:nvPicPr>
          <p:cNvPr id="10" name="Image 2" descr="C:\Repos\2026-2027\WEBD1000\07_Navigation_Tables_Validation\_build\shots\ex12.png">    </p:cNvPr>
          <p:cNvPicPr>
            <a:picLocks noChangeAspect="1"/>
          </p:cNvPicPr>
          <p:nvPr/>
        </p:nvPicPr>
        <p:blipFill>
          <a:blip r:embed="rId3"/>
          <a:stretch>
            <a:fillRect/>
          </a:stretch>
        </p:blipFill>
        <p:spPr>
          <a:xfrm>
            <a:off x="9364828" y="5216972"/>
            <a:ext cx="2415388" cy="1046668"/>
          </a:xfrm>
          <a:prstGeom prst="rect">
            <a:avLst/>
          </a:prstGeom>
        </p:spPr>
      </p:pic>
      <p:sp>
        <p:nvSpPr>
          <p:cNvPr id="11" name="Shape 6"/>
          <p:cNvSpPr/>
          <p:nvPr/>
        </p:nvSpPr>
        <p:spPr>
          <a:xfrm>
            <a:off x="9364828" y="5216972"/>
            <a:ext cx="2415388" cy="1046668"/>
          </a:xfrm>
          <a:prstGeom prst="rect">
            <a:avLst/>
          </a:prstGeom>
          <a:ln w="12700">
            <a:solidFill>
              <a:srgbClr val="B0B8BC"/>
            </a:solidFill>
            <a:prstDash val="solid"/>
          </a:ln>
        </p:spPr>
      </p:sp>
      <p:sp>
        <p:nvSpPr>
          <p:cNvPr id="12" name="Text 7"/>
          <p:cNvSpPr txBox="1"/>
          <p:nvPr/>
        </p:nvSpPr>
        <p:spPr>
          <a:xfrm>
            <a:off x="9364828" y="4924364"/>
            <a:ext cx="241538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WHAT YOU MEANT (EXAMPLE 12)</a:t>
            </a:r>
            <a:endParaRPr lang="en-US" sz="1100" dirty="0"/>
          </a:p>
        </p:txBody>
      </p:sp>
      <p:sp>
        <p:nvSpPr>
          <p:cNvPr id="13" name="Text 8"/>
          <p:cNvSpPr txBox="1"/>
          <p:nvPr/>
        </p:nvSpPr>
        <p:spPr>
          <a:xfrm>
            <a:off x="6812280" y="1508760"/>
            <a:ext cx="4967935" cy="3324164"/>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The browser </a:t>
            </a:r>
            <a:pPr indent="0" marL="0">
              <a:buNone/>
            </a:pPr>
            <a:r>
              <a:rPr lang="en-US" sz="1350" b="1" dirty="0">
                <a:solidFill>
                  <a:srgbClr val="262626"/>
                </a:solidFill>
                <a:latin typeface="Aptos" pitchFamily="34" charset="0"/>
                <a:ea typeface="Aptos" pitchFamily="34" charset="-122"/>
                <a:cs typeface="Aptos" pitchFamily="34" charset="-120"/>
              </a:rPr>
              <a:t>skips</a:t>
            </a:r>
            <a:pPr indent="0" marL="0">
              <a:buNone/>
            </a:pPr>
            <a:r>
              <a:rPr lang="en-US" sz="1350" dirty="0">
                <a:solidFill>
                  <a:srgbClr val="262626"/>
                </a:solidFill>
                <a:latin typeface="Aptos" pitchFamily="34" charset="0"/>
                <a:ea typeface="Aptos" pitchFamily="34" charset="-122"/>
                <a:cs typeface="Aptos" pitchFamily="34" charset="-120"/>
              </a:rPr>
              <a:t> any CSS it doesn't understand. No error, no warning: it just doesn't happen.</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4 mistakes: the heading isn't navy, the text isn't bigger, the price isn't orange, the note isn't centred.</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The HTML validator checks a </a:t>
            </a:r>
            <a:pPr indent="0" marL="0">
              <a:buNone/>
            </a:pPr>
            <a:r>
              <a:rPr lang="en-US" sz="1350" dirty="0">
                <a:solidFill>
                  <a:srgbClr val="8A2B0B"/>
                </a:solidFill>
                <a:latin typeface="Consolas" pitchFamily="34" charset="0"/>
                <a:ea typeface="Consolas" pitchFamily="34" charset="-122"/>
                <a:cs typeface="Consolas" pitchFamily="34" charset="-120"/>
              </a:rPr>
              <a:t>&lt;style&gt;</a:t>
            </a:r>
            <a:pPr indent="0" marL="0">
              <a:buNone/>
            </a:pPr>
            <a:r>
              <a:rPr lang="en-US" sz="1350" dirty="0">
                <a:solidFill>
                  <a:srgbClr val="262626"/>
                </a:solidFill>
                <a:latin typeface="Aptos" pitchFamily="34" charset="0"/>
                <a:ea typeface="Aptos" pitchFamily="34" charset="-122"/>
                <a:cs typeface="Aptos" pitchFamily="34" charset="-120"/>
              </a:rPr>
              <a:t> block, but </a:t>
            </a:r>
            <a:pPr indent="0" marL="0">
              <a:buNone/>
            </a:pPr>
            <a:r>
              <a:rPr lang="en-US" sz="1350" b="1" dirty="0">
                <a:solidFill>
                  <a:srgbClr val="262626"/>
                </a:solidFill>
                <a:latin typeface="Aptos" pitchFamily="34" charset="0"/>
                <a:ea typeface="Aptos" pitchFamily="34" charset="-122"/>
                <a:cs typeface="Aptos" pitchFamily="34" charset="-120"/>
              </a:rPr>
              <a:t>never opens</a:t>
            </a:r>
            <a:pPr indent="0" marL="0">
              <a:buNone/>
            </a:pPr>
            <a:r>
              <a:rPr lang="en-US" sz="1350" dirty="0">
                <a:solidFill>
                  <a:srgbClr val="262626"/>
                </a:solidFill>
                <a:latin typeface="Aptos" pitchFamily="34" charset="0"/>
                <a:ea typeface="Aptos" pitchFamily="34" charset="-122"/>
                <a:cs typeface="Aptos" pitchFamily="34" charset="-120"/>
              </a:rPr>
              <a:t> your linked </a:t>
            </a:r>
            <a:pPr indent="0" marL="0">
              <a:buNone/>
            </a:pPr>
            <a:r>
              <a:rPr lang="en-US" sz="1350" dirty="0">
                <a:solidFill>
                  <a:srgbClr val="8A2B0B"/>
                </a:solidFill>
                <a:latin typeface="Consolas" pitchFamily="34" charset="0"/>
                <a:ea typeface="Consolas" pitchFamily="34" charset="-122"/>
                <a:cs typeface="Consolas" pitchFamily="34" charset="-120"/>
              </a:rPr>
              <a:t>style.css</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4" name="Text 9"/>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11_css_validation_broken_example.html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The W3C CSS Validator</a:t>
            </a:r>
            <a:endParaRPr lang="en-US" sz="2800" dirty="0"/>
          </a:p>
        </p:txBody>
      </p:sp>
      <p:sp>
        <p:nvSpPr>
          <p:cNvPr id="7" name="Shape 4"/>
          <p:cNvSpPr/>
          <p:nvPr/>
        </p:nvSpPr>
        <p:spPr>
          <a:xfrm>
            <a:off x="4754880" y="1783080"/>
            <a:ext cx="4480560" cy="548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853635" y="1881835"/>
            <a:ext cx="4283050" cy="351130"/>
          </a:xfrm>
          <a:prstGeom prst="rect">
            <a:avLst/>
          </a:prstGeom>
          <a:noFill/>
          <a:ln/>
        </p:spPr>
        <p:txBody>
          <a:bodyPr wrap="square" lIns="0" tIns="0" rIns="0" bIns="0" rtlCol="0" anchor="t"/>
          <a:lstStyle/>
          <a:p>
            <a:pPr indent="0" marL="0">
              <a:lnSpc>
                <a:spcPct val="100000"/>
              </a:lnSpc>
              <a:buNone/>
            </a:pPr>
            <a:r>
              <a:rPr lang="en-US" sz="1700" dirty="0">
                <a:solidFill>
                  <a:srgbClr val="D4D4D4"/>
                </a:solidFill>
                <a:latin typeface="Consolas" pitchFamily="34" charset="0"/>
                <a:ea typeface="Consolas" pitchFamily="34" charset="-122"/>
                <a:cs typeface="Consolas" pitchFamily="34" charset="-120"/>
              </a:rPr>
              <a:t>jigsaw.w3.org/css-validator</a:t>
            </a:r>
            <a:endParaRPr lang="en-US" sz="1700" dirty="0"/>
          </a:p>
        </p:txBody>
      </p:sp>
      <p:sp>
        <p:nvSpPr>
          <p:cNvPr id="9" name="Text 6"/>
          <p:cNvSpPr txBox="1"/>
          <p:nvPr/>
        </p:nvSpPr>
        <p:spPr>
          <a:xfrm>
            <a:off x="9372600" y="1783080"/>
            <a:ext cx="2286000" cy="548640"/>
          </a:xfrm>
          <a:prstGeom prst="rect">
            <a:avLst/>
          </a:prstGeom>
          <a:noFill/>
          <a:ln/>
        </p:spPr>
        <p:txBody>
          <a:bodyPr wrap="square" lIns="0" tIns="0" rIns="0" bIns="0" rtlCol="0" anchor="ctr"/>
          <a:lstStyle/>
          <a:p>
            <a:pPr indent="0" marL="0">
              <a:buNone/>
            </a:pPr>
            <a:r>
              <a:rPr lang="en-US" sz="1500" b="1" dirty="0">
                <a:solidFill>
                  <a:srgbClr val="1B5E82"/>
                </a:solidFill>
                <a:latin typeface="Aptos" pitchFamily="34" charset="0"/>
                <a:ea typeface="Aptos" pitchFamily="34" charset="-122"/>
                <a:cs typeface="Aptos" pitchFamily="34" charset="-120"/>
              </a:rPr>
              <a:t>→ By direct input</a:t>
            </a:r>
            <a:endParaRPr lang="en-US" sz="1500" dirty="0"/>
          </a:p>
        </p:txBody>
      </p:sp>
      <p:sp>
        <p:nvSpPr>
          <p:cNvPr id="10" name="Shape 7"/>
          <p:cNvSpPr/>
          <p:nvPr/>
        </p:nvSpPr>
        <p:spPr>
          <a:xfrm>
            <a:off x="4754880" y="2514600"/>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892040" y="2606040"/>
            <a:ext cx="777240" cy="310896"/>
          </a:xfrm>
          <a:prstGeom prst="roundRect">
            <a:avLst>
              <a:gd name="adj" fmla="val 50000"/>
            </a:avLst>
          </a:prstGeom>
          <a:solidFill>
            <a:srgbClr val="C62828"/>
          </a:solidFill>
          <a:ln w="12700">
            <a:solidFill>
              <a:srgbClr val="C62828"/>
            </a:solidFill>
            <a:prstDash val="solid"/>
          </a:ln>
        </p:spPr>
      </p:sp>
      <p:sp>
        <p:nvSpPr>
          <p:cNvPr id="12" name="Text 9"/>
          <p:cNvSpPr txBox="1"/>
          <p:nvPr/>
        </p:nvSpPr>
        <p:spPr>
          <a:xfrm>
            <a:off x="4892040" y="2606040"/>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3" name="Text 10"/>
          <p:cNvSpPr txBox="1"/>
          <p:nvPr/>
        </p:nvSpPr>
        <p:spPr>
          <a:xfrm>
            <a:off x="4892040" y="2935224"/>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14</a:t>
            </a:r>
            <a:endParaRPr lang="en-US" sz="1050" dirty="0"/>
          </a:p>
        </p:txBody>
      </p:sp>
      <p:sp>
        <p:nvSpPr>
          <p:cNvPr id="14" name="Text 11"/>
          <p:cNvSpPr txBox="1"/>
          <p:nvPr/>
        </p:nvSpPr>
        <p:spPr>
          <a:xfrm>
            <a:off x="5806440" y="2514600"/>
            <a:ext cx="3657600" cy="694944"/>
          </a:xfrm>
          <a:prstGeom prst="rect">
            <a:avLst/>
          </a:prstGeom>
          <a:noFill/>
          <a:ln/>
        </p:spPr>
        <p:txBody>
          <a:bodyPr wrap="square" lIns="0" tIns="0" rIns="0" bIns="0" rtlCol="0" anchor="ctr"/>
          <a:lstStyle/>
          <a:p>
            <a:pPr indent="0" marL="0">
              <a:buNone/>
            </a:pPr>
            <a:r>
              <a:rPr lang="en-US" sz="1150" b="1" dirty="0">
                <a:solidFill>
                  <a:srgbClr val="8A2B0B"/>
                </a:solidFill>
                <a:latin typeface="Consolas" pitchFamily="34" charset="0"/>
                <a:ea typeface="Consolas" pitchFamily="34" charset="-122"/>
                <a:cs typeface="Consolas" pitchFamily="34" charset="-120"/>
              </a:rPr>
              <a:t>h1  </a:t>
            </a:r>
            <a:pPr indent="0" marL="0">
              <a:buNone/>
            </a:pPr>
            <a:r>
              <a:rPr lang="en-US" sz="1150" dirty="0">
                <a:solidFill>
                  <a:srgbClr val="000000"/>
                </a:solidFill>
                <a:latin typeface="Aptos" pitchFamily="34" charset="0"/>
                <a:ea typeface="Aptos" pitchFamily="34" charset="-122"/>
                <a:cs typeface="Aptos" pitchFamily="34" charset="-120"/>
              </a:rPr>
              <a:t>Property “colour” doesn't exist. The closest matching property name is “color”</a:t>
            </a:r>
            <a:endParaRPr lang="en-US" sz="1150" dirty="0"/>
          </a:p>
        </p:txBody>
      </p:sp>
      <p:sp>
        <p:nvSpPr>
          <p:cNvPr id="15" name="Text 12"/>
          <p:cNvSpPr txBox="1"/>
          <p:nvPr/>
        </p:nvSpPr>
        <p:spPr>
          <a:xfrm>
            <a:off x="9601200" y="2514600"/>
            <a:ext cx="1965960" cy="694944"/>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Spell it color</a:t>
            </a:r>
            <a:endParaRPr lang="en-US" sz="1200" dirty="0"/>
          </a:p>
        </p:txBody>
      </p:sp>
      <p:sp>
        <p:nvSpPr>
          <p:cNvPr id="16" name="Shape 13"/>
          <p:cNvSpPr/>
          <p:nvPr/>
        </p:nvSpPr>
        <p:spPr>
          <a:xfrm>
            <a:off x="4754880" y="3300984"/>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4892040" y="3392424"/>
            <a:ext cx="777240" cy="310896"/>
          </a:xfrm>
          <a:prstGeom prst="roundRect">
            <a:avLst>
              <a:gd name="adj" fmla="val 50000"/>
            </a:avLst>
          </a:prstGeom>
          <a:solidFill>
            <a:srgbClr val="C62828"/>
          </a:solidFill>
          <a:ln w="12700">
            <a:solidFill>
              <a:srgbClr val="C62828"/>
            </a:solidFill>
            <a:prstDash val="solid"/>
          </a:ln>
        </p:spPr>
      </p:sp>
      <p:sp>
        <p:nvSpPr>
          <p:cNvPr id="18" name="Text 15"/>
          <p:cNvSpPr txBox="1"/>
          <p:nvPr/>
        </p:nvSpPr>
        <p:spPr>
          <a:xfrm>
            <a:off x="4892040" y="3392424"/>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19" name="Text 16"/>
          <p:cNvSpPr txBox="1"/>
          <p:nvPr/>
        </p:nvSpPr>
        <p:spPr>
          <a:xfrm>
            <a:off x="4892040" y="3721608"/>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18</a:t>
            </a:r>
            <a:endParaRPr lang="en-US" sz="1050" dirty="0"/>
          </a:p>
        </p:txBody>
      </p:sp>
      <p:sp>
        <p:nvSpPr>
          <p:cNvPr id="20" name="Text 17"/>
          <p:cNvSpPr txBox="1"/>
          <p:nvPr/>
        </p:nvSpPr>
        <p:spPr>
          <a:xfrm>
            <a:off x="5806440" y="3300984"/>
            <a:ext cx="3657600" cy="694944"/>
          </a:xfrm>
          <a:prstGeom prst="rect">
            <a:avLst/>
          </a:prstGeom>
          <a:noFill/>
          <a:ln/>
        </p:spPr>
        <p:txBody>
          <a:bodyPr wrap="square" lIns="0" tIns="0" rIns="0" bIns="0" rtlCol="0" anchor="ctr"/>
          <a:lstStyle/>
          <a:p>
            <a:pPr indent="0" marL="0">
              <a:buNone/>
            </a:pPr>
            <a:r>
              <a:rPr lang="en-US" sz="1150" b="1" dirty="0">
                <a:solidFill>
                  <a:srgbClr val="8A2B0B"/>
                </a:solidFill>
                <a:latin typeface="Consolas" pitchFamily="34" charset="0"/>
                <a:ea typeface="Consolas" pitchFamily="34" charset="-122"/>
                <a:cs typeface="Consolas" pitchFamily="34" charset="-120"/>
              </a:rPr>
              <a:t>p  </a:t>
            </a:r>
            <a:pPr indent="0" marL="0">
              <a:buNone/>
            </a:pPr>
            <a:r>
              <a:rPr lang="en-US" sz="1150" dirty="0">
                <a:solidFill>
                  <a:srgbClr val="000000"/>
                </a:solidFill>
                <a:latin typeface="Aptos" pitchFamily="34" charset="0"/>
                <a:ea typeface="Aptos" pitchFamily="34" charset="-122"/>
                <a:cs typeface="Aptos" pitchFamily="34" charset="-120"/>
              </a:rPr>
              <a:t>only “0” can be a “unit”. You must put a unit after your number</a:t>
            </a:r>
            <a:endParaRPr lang="en-US" sz="1150" dirty="0"/>
          </a:p>
        </p:txBody>
      </p:sp>
      <p:sp>
        <p:nvSpPr>
          <p:cNvPr id="21" name="Text 18"/>
          <p:cNvSpPr txBox="1"/>
          <p:nvPr/>
        </p:nvSpPr>
        <p:spPr>
          <a:xfrm>
            <a:off x="9601200" y="3300984"/>
            <a:ext cx="1965960" cy="694944"/>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18px (or 1.1rem)</a:t>
            </a:r>
            <a:endParaRPr lang="en-US" sz="1200" dirty="0"/>
          </a:p>
        </p:txBody>
      </p:sp>
      <p:sp>
        <p:nvSpPr>
          <p:cNvPr id="22" name="Shape 19"/>
          <p:cNvSpPr/>
          <p:nvPr/>
        </p:nvSpPr>
        <p:spPr>
          <a:xfrm>
            <a:off x="4754880" y="4087368"/>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4892040" y="4178808"/>
            <a:ext cx="777240" cy="310896"/>
          </a:xfrm>
          <a:prstGeom prst="roundRect">
            <a:avLst>
              <a:gd name="adj" fmla="val 50000"/>
            </a:avLst>
          </a:prstGeom>
          <a:solidFill>
            <a:srgbClr val="C62828"/>
          </a:solidFill>
          <a:ln w="12700">
            <a:solidFill>
              <a:srgbClr val="C62828"/>
            </a:solidFill>
            <a:prstDash val="solid"/>
          </a:ln>
        </p:spPr>
      </p:sp>
      <p:sp>
        <p:nvSpPr>
          <p:cNvPr id="24" name="Text 21"/>
          <p:cNvSpPr txBox="1"/>
          <p:nvPr/>
        </p:nvSpPr>
        <p:spPr>
          <a:xfrm>
            <a:off x="4892040" y="4178808"/>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25" name="Text 22"/>
          <p:cNvSpPr txBox="1"/>
          <p:nvPr/>
        </p:nvSpPr>
        <p:spPr>
          <a:xfrm>
            <a:off x="4892040" y="4507992"/>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23</a:t>
            </a:r>
            <a:endParaRPr lang="en-US" sz="1050" dirty="0"/>
          </a:p>
        </p:txBody>
      </p:sp>
      <p:sp>
        <p:nvSpPr>
          <p:cNvPr id="26" name="Text 23"/>
          <p:cNvSpPr txBox="1"/>
          <p:nvPr/>
        </p:nvSpPr>
        <p:spPr>
          <a:xfrm>
            <a:off x="5806440" y="4087368"/>
            <a:ext cx="3657600" cy="694944"/>
          </a:xfrm>
          <a:prstGeom prst="rect">
            <a:avLst/>
          </a:prstGeom>
          <a:noFill/>
          <a:ln/>
        </p:spPr>
        <p:txBody>
          <a:bodyPr wrap="square" lIns="0" tIns="0" rIns="0" bIns="0" rtlCol="0" anchor="ctr"/>
          <a:lstStyle/>
          <a:p>
            <a:pPr indent="0" marL="0">
              <a:buNone/>
            </a:pPr>
            <a:r>
              <a:rPr lang="en-US" sz="1150" b="1" dirty="0">
                <a:solidFill>
                  <a:srgbClr val="8A2B0B"/>
                </a:solidFill>
                <a:latin typeface="Consolas" pitchFamily="34" charset="0"/>
                <a:ea typeface="Consolas" pitchFamily="34" charset="-122"/>
                <a:cs typeface="Consolas" pitchFamily="34" charset="-120"/>
              </a:rPr>
              <a:t>.price  </a:t>
            </a:r>
            <a:pPr indent="0" marL="0">
              <a:buNone/>
            </a:pPr>
            <a:r>
              <a:rPr lang="en-US" sz="1150" dirty="0">
                <a:solidFill>
                  <a:srgbClr val="000000"/>
                </a:solidFill>
                <a:latin typeface="Aptos" pitchFamily="34" charset="0"/>
                <a:ea typeface="Aptos" pitchFamily="34" charset="-122"/>
                <a:cs typeface="Aptos" pitchFamily="34" charset="-120"/>
              </a:rPr>
              <a:t>Missing a semicolon before the property name “color”</a:t>
            </a:r>
            <a:endParaRPr lang="en-US" sz="1150" dirty="0"/>
          </a:p>
        </p:txBody>
      </p:sp>
      <p:sp>
        <p:nvSpPr>
          <p:cNvPr id="27" name="Text 24"/>
          <p:cNvSpPr txBox="1"/>
          <p:nvPr/>
        </p:nvSpPr>
        <p:spPr>
          <a:xfrm>
            <a:off x="9601200" y="4087368"/>
            <a:ext cx="1965960" cy="694944"/>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bold;  ← it broke both lines</a:t>
            </a:r>
            <a:endParaRPr lang="en-US" sz="1200" dirty="0"/>
          </a:p>
        </p:txBody>
      </p:sp>
      <p:sp>
        <p:nvSpPr>
          <p:cNvPr id="28" name="Shape 25"/>
          <p:cNvSpPr/>
          <p:nvPr/>
        </p:nvSpPr>
        <p:spPr>
          <a:xfrm>
            <a:off x="4754880" y="4873752"/>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9" name="Shape 26"/>
          <p:cNvSpPr/>
          <p:nvPr/>
        </p:nvSpPr>
        <p:spPr>
          <a:xfrm>
            <a:off x="4892040" y="4965192"/>
            <a:ext cx="777240" cy="310896"/>
          </a:xfrm>
          <a:prstGeom prst="roundRect">
            <a:avLst>
              <a:gd name="adj" fmla="val 50000"/>
            </a:avLst>
          </a:prstGeom>
          <a:solidFill>
            <a:srgbClr val="C62828"/>
          </a:solidFill>
          <a:ln w="12700">
            <a:solidFill>
              <a:srgbClr val="C62828"/>
            </a:solidFill>
            <a:prstDash val="solid"/>
          </a:ln>
        </p:spPr>
      </p:sp>
      <p:sp>
        <p:nvSpPr>
          <p:cNvPr id="30" name="Text 27"/>
          <p:cNvSpPr txBox="1"/>
          <p:nvPr/>
        </p:nvSpPr>
        <p:spPr>
          <a:xfrm>
            <a:off x="4892040" y="4965192"/>
            <a:ext cx="777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ERROR</a:t>
            </a:r>
            <a:endParaRPr lang="en-US" sz="1050" dirty="0"/>
          </a:p>
        </p:txBody>
      </p:sp>
      <p:sp>
        <p:nvSpPr>
          <p:cNvPr id="31" name="Text 28"/>
          <p:cNvSpPr txBox="1"/>
          <p:nvPr/>
        </p:nvSpPr>
        <p:spPr>
          <a:xfrm>
            <a:off x="4892040" y="5294376"/>
            <a:ext cx="777240" cy="228600"/>
          </a:xfrm>
          <a:prstGeom prst="rect">
            <a:avLst/>
          </a:prstGeom>
          <a:noFill/>
          <a:ln/>
        </p:spPr>
        <p:txBody>
          <a:bodyPr wrap="square" lIns="0" tIns="0" rIns="0" bIns="0" rtlCol="0" anchor="ctr"/>
          <a:lstStyle/>
          <a:p>
            <a:pPr algn="ctr" indent="0" marL="0">
              <a:buNone/>
            </a:pPr>
            <a:r>
              <a:rPr lang="en-US" sz="1050" dirty="0">
                <a:solidFill>
                  <a:srgbClr val="595959"/>
                </a:solidFill>
                <a:latin typeface="Consolas" pitchFamily="34" charset="0"/>
                <a:ea typeface="Consolas" pitchFamily="34" charset="-122"/>
                <a:cs typeface="Consolas" pitchFamily="34" charset="-120"/>
              </a:rPr>
              <a:t>line 27</a:t>
            </a:r>
            <a:endParaRPr lang="en-US" sz="1050" dirty="0"/>
          </a:p>
        </p:txBody>
      </p:sp>
      <p:sp>
        <p:nvSpPr>
          <p:cNvPr id="32" name="Text 29"/>
          <p:cNvSpPr txBox="1"/>
          <p:nvPr/>
        </p:nvSpPr>
        <p:spPr>
          <a:xfrm>
            <a:off x="5806440" y="4873752"/>
            <a:ext cx="3657600" cy="694944"/>
          </a:xfrm>
          <a:prstGeom prst="rect">
            <a:avLst/>
          </a:prstGeom>
          <a:noFill/>
          <a:ln/>
        </p:spPr>
        <p:txBody>
          <a:bodyPr wrap="square" lIns="0" tIns="0" rIns="0" bIns="0" rtlCol="0" anchor="ctr"/>
          <a:lstStyle/>
          <a:p>
            <a:pPr indent="0" marL="0">
              <a:buNone/>
            </a:pPr>
            <a:r>
              <a:rPr lang="en-US" sz="1150" b="1" dirty="0">
                <a:solidFill>
                  <a:srgbClr val="8A2B0B"/>
                </a:solidFill>
                <a:latin typeface="Consolas" pitchFamily="34" charset="0"/>
                <a:ea typeface="Consolas" pitchFamily="34" charset="-122"/>
                <a:cs typeface="Consolas" pitchFamily="34" charset="-120"/>
              </a:rPr>
              <a:t>.note  </a:t>
            </a:r>
            <a:pPr indent="0" marL="0">
              <a:buNone/>
            </a:pPr>
            <a:r>
              <a:rPr lang="en-US" sz="1150" dirty="0">
                <a:solidFill>
                  <a:srgbClr val="000000"/>
                </a:solidFill>
                <a:latin typeface="Aptos" pitchFamily="34" charset="0"/>
                <a:ea typeface="Aptos" pitchFamily="34" charset="-122"/>
                <a:cs typeface="Aptos" pitchFamily="34" charset="-120"/>
              </a:rPr>
              <a:t>“middle” is not a “text-align” value</a:t>
            </a:r>
            <a:endParaRPr lang="en-US" sz="1150" dirty="0"/>
          </a:p>
        </p:txBody>
      </p:sp>
      <p:sp>
        <p:nvSpPr>
          <p:cNvPr id="33" name="Text 30"/>
          <p:cNvSpPr txBox="1"/>
          <p:nvPr/>
        </p:nvSpPr>
        <p:spPr>
          <a:xfrm>
            <a:off x="9601200" y="4873752"/>
            <a:ext cx="1965960" cy="694944"/>
          </a:xfrm>
          <a:prstGeom prst="rect">
            <a:avLst/>
          </a:prstGeom>
          <a:noFill/>
          <a:ln/>
        </p:spPr>
        <p:txBody>
          <a:bodyPr wrap="square" lIns="0" tIns="0" rIns="0" bIns="0" rtlCol="0" anchor="ctr"/>
          <a:lstStyle/>
          <a:p>
            <a:pPr indent="0" marL="0">
              <a:buNone/>
            </a:pPr>
            <a:r>
              <a:rPr lang="en-US" sz="1200" b="1" dirty="0">
                <a:solidFill>
                  <a:srgbClr val="1B5E82"/>
                </a:solidFill>
                <a:latin typeface="Aptos" pitchFamily="34" charset="0"/>
                <a:ea typeface="Aptos" pitchFamily="34" charset="-122"/>
                <a:cs typeface="Aptos" pitchFamily="34" charset="-120"/>
              </a:rPr>
              <a:t>text-align: center</a:t>
            </a:r>
            <a:endParaRPr lang="en-US" sz="1200" dirty="0"/>
          </a:p>
        </p:txBody>
      </p:sp>
      <p:sp>
        <p:nvSpPr>
          <p:cNvPr id="34" name="Shape 31"/>
          <p:cNvSpPr/>
          <p:nvPr/>
        </p:nvSpPr>
        <p:spPr>
          <a:xfrm>
            <a:off x="4754880" y="5760720"/>
            <a:ext cx="6903720" cy="594360"/>
          </a:xfrm>
          <a:prstGeom prst="roundRect">
            <a:avLst>
              <a:gd name="adj" fmla="val 18462"/>
            </a:avLst>
          </a:prstGeom>
          <a:solidFill>
            <a:srgbClr val="2E7D32"/>
          </a:solidFill>
          <a:ln w="9525">
            <a:solidFill>
              <a:srgbClr val="2E7D32"/>
            </a:solidFill>
            <a:prstDash val="solid"/>
          </a:ln>
          <a:effectLst>
            <a:outerShdw sx="100000" sy="100000" kx="0" ky="0" algn="bl" rotWithShape="0" blurRad="76200" dist="25400" dir="5400000">
              <a:srgbClr val="000000">
                <a:alpha val="12000"/>
              </a:srgbClr>
            </a:outerShdw>
          </a:effectLst>
        </p:spPr>
      </p:sp>
      <p:sp>
        <p:nvSpPr>
          <p:cNvPr id="35" name="Text 32"/>
          <p:cNvSpPr txBox="1"/>
          <p:nvPr/>
        </p:nvSpPr>
        <p:spPr>
          <a:xfrm>
            <a:off x="4983480" y="5760720"/>
            <a:ext cx="6446520" cy="59436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Aptos" pitchFamily="34" charset="-122"/>
                <a:cs typeface="Aptos" pitchFamily="34" charset="-120"/>
              </a:rPr>
              <a:t>​</a:t>
            </a:r>
            <a:pPr indent="0" marL="0">
              <a:buNone/>
            </a:pPr>
            <a:r>
              <a:rPr lang="en-US" sz="1400" b="1" dirty="0">
                <a:solidFill>
                  <a:srgbClr val="FFFFFF"/>
                </a:solidFill>
                <a:latin typeface="Aptos" pitchFamily="34" charset="0"/>
                <a:ea typeface="Aptos" pitchFamily="34" charset="-122"/>
                <a:cs typeface="Aptos" pitchFamily="34" charset="-120"/>
              </a:rPr>
              <a:t>When it's clean: </a:t>
            </a:r>
            <a:pPr indent="0" marL="0">
              <a:buNone/>
            </a:pPr>
            <a:r>
              <a:rPr lang="en-US" sz="1400" dirty="0">
                <a:solidFill>
                  <a:srgbClr val="FFFFFF"/>
                </a:solidFill>
                <a:latin typeface="Aptos" pitchFamily="34" charset="0"/>
                <a:ea typeface="Aptos" pitchFamily="34" charset="-122"/>
                <a:cs typeface="Aptos" pitchFamily="34" charset="-120"/>
              </a:rPr>
              <a:t>“Congratulations! No Error Found.”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8: Validate the CSS (6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2E7D32"/>
          </a:solidFill>
          <a:ln w="12700">
            <a:solidFill>
              <a:srgbClr val="2E7D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jigsaw.w3.org/css-validator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Choose </a:t>
            </a:r>
            <a:pPr indent="0" marL="0">
              <a:buNone/>
            </a:pPr>
            <a:r>
              <a:rPr lang="en-US" sz="1300" b="1" dirty="0">
                <a:solidFill>
                  <a:srgbClr val="262626"/>
                </a:solidFill>
                <a:latin typeface="Aptos" pitchFamily="34" charset="0"/>
                <a:ea typeface="Aptos" pitchFamily="34" charset="-122"/>
                <a:cs typeface="Aptos" pitchFamily="34" charset="-120"/>
              </a:rPr>
              <a:t>By direct input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487168"/>
            <a:ext cx="402336" cy="402336"/>
          </a:xfrm>
          <a:prstGeom prst="ellipse">
            <a:avLst/>
          </a:prstGeom>
          <a:solidFill>
            <a:srgbClr val="2E7D32"/>
          </a:solidFill>
          <a:ln w="12700">
            <a:solidFill>
              <a:srgbClr val="2E7D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all of style.css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VS Code: </a:t>
            </a:r>
            <a:pPr indent="0" marL="0">
              <a:buNone/>
            </a:pPr>
            <a:r>
              <a:rPr lang="en-US" sz="1300" b="1" dirty="0">
                <a:solidFill>
                  <a:srgbClr val="262626"/>
                </a:solidFill>
                <a:latin typeface="Aptos" pitchFamily="34" charset="0"/>
                <a:ea typeface="Aptos" pitchFamily="34" charset="-122"/>
                <a:cs typeface="Aptos" pitchFamily="34" charset="-120"/>
              </a:rPr>
              <a:t>Ctrl + A</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b="1" dirty="0">
                <a:solidFill>
                  <a:srgbClr val="262626"/>
                </a:solidFill>
                <a:latin typeface="Aptos" pitchFamily="34" charset="0"/>
                <a:ea typeface="Aptos" pitchFamily="34" charset="-122"/>
                <a:cs typeface="Aptos" pitchFamily="34" charset="-120"/>
              </a:rPr>
              <a:t>Ctrl + C</a:t>
            </a:r>
            <a:pPr indent="0" marL="0">
              <a:buNone/>
            </a:pPr>
            <a:r>
              <a:rPr lang="en-US" sz="1300" dirty="0">
                <a:solidFill>
                  <a:srgbClr val="262626"/>
                </a:solidFill>
                <a:latin typeface="Aptos" pitchFamily="34" charset="0"/>
                <a:ea typeface="Aptos" pitchFamily="34" charset="-122"/>
                <a:cs typeface="Aptos" pitchFamily="34" charset="-120"/>
              </a:rPr>
              <a:t>. Paste it in, then </a:t>
            </a:r>
            <a:pPr indent="0" marL="0">
              <a:buNone/>
            </a:pPr>
            <a:r>
              <a:rPr lang="en-US" sz="1300" b="1" dirty="0">
                <a:solidFill>
                  <a:srgbClr val="262626"/>
                </a:solidFill>
                <a:latin typeface="Aptos" pitchFamily="34" charset="0"/>
                <a:ea typeface="Aptos" pitchFamily="34" charset="-122"/>
                <a:cs typeface="Aptos" pitchFamily="34" charset="-120"/>
              </a:rPr>
              <a:t>Check</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401568"/>
            <a:ext cx="402336" cy="402336"/>
          </a:xfrm>
          <a:prstGeom prst="ellipse">
            <a:avLst/>
          </a:prstGeom>
          <a:solidFill>
            <a:srgbClr val="2E7D32"/>
          </a:solidFill>
          <a:ln w="12700">
            <a:solidFill>
              <a:srgbClr val="2E7D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Fix each error</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message names the line and the selector.</a:t>
            </a:r>
            <a:endParaRPr lang="en-US" sz="1300" dirty="0"/>
          </a:p>
        </p:txBody>
      </p:sp>
      <p:sp>
        <p:nvSpPr>
          <p:cNvPr id="17" name="Shape 14"/>
          <p:cNvSpPr/>
          <p:nvPr/>
        </p:nvSpPr>
        <p:spPr>
          <a:xfrm>
            <a:off x="914400" y="4315968"/>
            <a:ext cx="402336" cy="402336"/>
          </a:xfrm>
          <a:prstGeom prst="ellipse">
            <a:avLst/>
          </a:prstGeom>
          <a:solidFill>
            <a:srgbClr val="2E7D32"/>
          </a:solidFill>
          <a:ln w="12700">
            <a:solidFill>
              <a:srgbClr val="2E7D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paste, check again</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Until there are no errors left.</a:t>
            </a:r>
            <a:endParaRPr lang="en-US" sz="1300" dirty="0"/>
          </a:p>
        </p:txBody>
      </p:sp>
      <p:sp>
        <p:nvSpPr>
          <p:cNvPr id="21" name="Shape 18"/>
          <p:cNvSpPr/>
          <p:nvPr/>
        </p:nvSpPr>
        <p:spPr>
          <a:xfrm>
            <a:off x="914400" y="5230368"/>
            <a:ext cx="402336" cy="402336"/>
          </a:xfrm>
          <a:prstGeom prst="ellipse">
            <a:avLst/>
          </a:prstGeom>
          <a:solidFill>
            <a:srgbClr val="2E7D32"/>
          </a:solidFill>
          <a:ln w="12700">
            <a:solidFill>
              <a:srgbClr val="2E7D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Screenshot the result</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“Congratulations! </a:t>
            </a:r>
            <a:pPr indent="0" marL="0">
              <a:buNone/>
            </a:pPr>
            <a:r>
              <a:rPr lang="en-US" sz="1300" b="1" dirty="0">
                <a:solidFill>
                  <a:srgbClr val="262626"/>
                </a:solidFill>
                <a:latin typeface="Aptos" pitchFamily="34" charset="0"/>
                <a:ea typeface="Aptos" pitchFamily="34" charset="-122"/>
                <a:cs typeface="Aptos" pitchFamily="34" charset="-120"/>
              </a:rPr>
              <a:t>No Error Found.</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5" name="Shape 22"/>
          <p:cNvSpPr/>
          <p:nvPr/>
        </p:nvSpPr>
        <p:spPr>
          <a:xfrm>
            <a:off x="6995160" y="1325880"/>
            <a:ext cx="4647895" cy="3017520"/>
          </a:xfrm>
          <a:prstGeom prst="roundRect">
            <a:avLst>
              <a:gd name="adj" fmla="val 3636"/>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7269480" y="1463040"/>
            <a:ext cx="4099255" cy="45720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Our Class 8 CSS had 3 hidden mistakes!</a:t>
            </a:r>
            <a:endParaRPr lang="en-US" sz="1700" dirty="0"/>
          </a:p>
        </p:txBody>
      </p:sp>
      <p:sp>
        <p:nvSpPr>
          <p:cNvPr id="27" name="Text 24"/>
          <p:cNvSpPr txBox="1"/>
          <p:nvPr/>
        </p:nvSpPr>
        <p:spPr>
          <a:xfrm>
            <a:off x="7269480" y="1920240"/>
            <a:ext cx="4099255" cy="320040"/>
          </a:xfrm>
          <a:prstGeom prst="rect">
            <a:avLst/>
          </a:prstGeom>
          <a:noFill/>
          <a:ln/>
        </p:spPr>
        <p:txBody>
          <a:bodyPr wrap="square" lIns="0" tIns="0" rIns="0" bIns="0" rtlCol="0" anchor="ctr"/>
          <a:lstStyle/>
          <a:p>
            <a:pPr indent="0" marL="0">
              <a:buNone/>
            </a:pPr>
            <a:r>
              <a:rPr lang="en-US" sz="1300" b="1" dirty="0">
                <a:solidFill>
                  <a:srgbClr val="F2C6AC"/>
                </a:solidFill>
                <a:latin typeface="Aptos" pitchFamily="34" charset="0"/>
                <a:ea typeface="Aptos" pitchFamily="34" charset="-122"/>
                <a:cs typeface="Aptos" pitchFamily="34" charset="-120"/>
              </a:rPr>
              <a:t>Clues:</a:t>
            </a:r>
            <a:endParaRPr lang="en-US" sz="1300" dirty="0"/>
          </a:p>
        </p:txBody>
      </p:sp>
      <p:sp>
        <p:nvSpPr>
          <p:cNvPr id="28" name="Shape 25"/>
          <p:cNvSpPr/>
          <p:nvPr/>
        </p:nvSpPr>
        <p:spPr>
          <a:xfrm>
            <a:off x="7269480" y="2331720"/>
            <a:ext cx="329184" cy="329184"/>
          </a:xfrm>
          <a:prstGeom prst="ellipse">
            <a:avLst/>
          </a:prstGeom>
          <a:solidFill>
            <a:srgbClr val="2E7D32"/>
          </a:solidFill>
          <a:ln w="12700">
            <a:solidFill>
              <a:srgbClr val="2E7D32"/>
            </a:solidFill>
            <a:prstDash val="solid"/>
          </a:ln>
        </p:spPr>
      </p:sp>
      <p:sp>
        <p:nvSpPr>
          <p:cNvPr id="29" name="Text 26"/>
          <p:cNvSpPr txBox="1"/>
          <p:nvPr/>
        </p:nvSpPr>
        <p:spPr>
          <a:xfrm>
            <a:off x="7269480" y="2331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30" name="Text 27"/>
          <p:cNvSpPr txBox="1"/>
          <p:nvPr/>
        </p:nvSpPr>
        <p:spPr>
          <a:xfrm>
            <a:off x="7726680" y="227685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 number with no unit</a:t>
            </a:r>
            <a:endParaRPr lang="en-US" sz="1350" dirty="0"/>
          </a:p>
        </p:txBody>
      </p:sp>
      <p:sp>
        <p:nvSpPr>
          <p:cNvPr id="31" name="Shape 28"/>
          <p:cNvSpPr/>
          <p:nvPr/>
        </p:nvSpPr>
        <p:spPr>
          <a:xfrm>
            <a:off x="7269480" y="2880360"/>
            <a:ext cx="329184" cy="329184"/>
          </a:xfrm>
          <a:prstGeom prst="ellipse">
            <a:avLst/>
          </a:prstGeom>
          <a:solidFill>
            <a:srgbClr val="2E7D32"/>
          </a:solidFill>
          <a:ln w="12700">
            <a:solidFill>
              <a:srgbClr val="2E7D32"/>
            </a:solidFill>
            <a:prstDash val="solid"/>
          </a:ln>
        </p:spPr>
      </p:sp>
      <p:sp>
        <p:nvSpPr>
          <p:cNvPr id="32" name="Text 29"/>
          <p:cNvSpPr txBox="1"/>
          <p:nvPr/>
        </p:nvSpPr>
        <p:spPr>
          <a:xfrm>
            <a:off x="7269480" y="28803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33" name="Text 30"/>
          <p:cNvSpPr txBox="1"/>
          <p:nvPr/>
        </p:nvSpPr>
        <p:spPr>
          <a:xfrm>
            <a:off x="7726680" y="282549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 word CSS spells differently</a:t>
            </a:r>
            <a:endParaRPr lang="en-US" sz="1350" dirty="0"/>
          </a:p>
        </p:txBody>
      </p:sp>
      <p:sp>
        <p:nvSpPr>
          <p:cNvPr id="34" name="Shape 31"/>
          <p:cNvSpPr/>
          <p:nvPr/>
        </p:nvSpPr>
        <p:spPr>
          <a:xfrm>
            <a:off x="7269480" y="3429000"/>
            <a:ext cx="329184" cy="329184"/>
          </a:xfrm>
          <a:prstGeom prst="ellipse">
            <a:avLst/>
          </a:prstGeom>
          <a:solidFill>
            <a:srgbClr val="2E7D32"/>
          </a:solidFill>
          <a:ln w="12700">
            <a:solidFill>
              <a:srgbClr val="2E7D32"/>
            </a:solidFill>
            <a:prstDash val="solid"/>
          </a:ln>
        </p:spPr>
      </p:sp>
      <p:sp>
        <p:nvSpPr>
          <p:cNvPr id="35" name="Text 32"/>
          <p:cNvSpPr txBox="1"/>
          <p:nvPr/>
        </p:nvSpPr>
        <p:spPr>
          <a:xfrm>
            <a:off x="7269480" y="34290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36" name="Text 33"/>
          <p:cNvSpPr txBox="1"/>
          <p:nvPr/>
        </p:nvSpPr>
        <p:spPr>
          <a:xfrm>
            <a:off x="7726680" y="3374136"/>
            <a:ext cx="3642055" cy="438912"/>
          </a:xfrm>
          <a:prstGeom prst="rect">
            <a:avLst/>
          </a:prstGeom>
          <a:noFill/>
          <a:ln/>
        </p:spPr>
        <p:txBody>
          <a:bodyPr wrap="square" lIns="0" tIns="0" rIns="0" bIns="0" rtlCol="0" anchor="ctr"/>
          <a:lstStyle/>
          <a:p>
            <a:pPr indent="0" marL="0">
              <a:buNone/>
            </a:pPr>
            <a:r>
              <a:rPr lang="en-US" sz="1350" dirty="0">
                <a:solidFill>
                  <a:srgbClr val="D9D9D9"/>
                </a:solidFill>
                <a:latin typeface="Aptos" pitchFamily="34" charset="0"/>
                <a:ea typeface="Aptos" pitchFamily="34" charset="-122"/>
                <a:cs typeface="Aptos" pitchFamily="34" charset="-120"/>
              </a:rPr>
              <a:t>A missing semicolon (it breaks two lines!)</a:t>
            </a:r>
            <a:endParaRPr lang="en-US" sz="1350" dirty="0"/>
          </a:p>
        </p:txBody>
      </p:sp>
      <p:sp>
        <p:nvSpPr>
          <p:cNvPr id="37" name="Shape 34"/>
          <p:cNvSpPr/>
          <p:nvPr/>
        </p:nvSpPr>
        <p:spPr>
          <a:xfrm>
            <a:off x="6995160" y="4526280"/>
            <a:ext cx="4647895" cy="1828800"/>
          </a:xfrm>
          <a:prstGeom prst="roundRect">
            <a:avLst>
              <a:gd name="adj" fmla="val 6000"/>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38" name="Text 35"/>
          <p:cNvSpPr txBox="1"/>
          <p:nvPr/>
        </p:nvSpPr>
        <p:spPr>
          <a:xfrm>
            <a:off x="7223760" y="4572000"/>
            <a:ext cx="4190695" cy="173736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b="1" dirty="0">
                <a:solidFill>
                  <a:srgbClr val="262626"/>
                </a:solidFill>
                <a:latin typeface="Aptos" pitchFamily="34" charset="0"/>
                <a:ea typeface="Aptos" pitchFamily="34" charset="-122"/>
                <a:cs typeface="Aptos" pitchFamily="34" charset="-120"/>
              </a:rPr>
              <a:t>Watch the page as you fix them.</a:t>
            </a:r>
            <a:pPr indent="0" marL="0">
              <a:buNone/>
            </a:pPr>
            <a:r>
              <a:rPr lang="en-US" sz="1300" dirty="0">
                <a:solidFill>
                  <a:srgbClr val="262626"/>
                </a:solidFill>
                <a:latin typeface="Aptos" pitchFamily="34" charset="0"/>
                <a:ea typeface="Aptos" pitchFamily="34" charset="-122"/>
                <a:cs typeface="Aptos" pitchFamily="34" charset="-120"/>
              </a:rPr>
              <a:t> Something changes every time.</a:t>
            </a:r>
            <a:endParaRPr lang="en-US" sz="1300" dirty="0"/>
          </a:p>
          <a:p>
            <a:pPr indent="0" marL="0">
              <a:spcBef>
                <a:spcPts val="600"/>
              </a:spcBef>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Did you notice the prices were </a:t>
            </a:r>
            <a:pPr indent="0" marL="0">
              <a:buNone/>
            </a:pPr>
            <a:r>
              <a:rPr lang="en-US" sz="1300" b="1" dirty="0">
                <a:solidFill>
                  <a:srgbClr val="262626"/>
                </a:solidFill>
                <a:latin typeface="Aptos" pitchFamily="34" charset="0"/>
                <a:ea typeface="Aptos" pitchFamily="34" charset="-122"/>
                <a:cs typeface="Aptos" pitchFamily="34" charset="-120"/>
              </a:rPr>
              <a:t>plain black</a:t>
            </a:r>
            <a:pPr indent="0" marL="0">
              <a:buNone/>
            </a:pPr>
            <a:r>
              <a:rPr lang="en-US" sz="1300" dirty="0">
                <a:solidFill>
                  <a:srgbClr val="262626"/>
                </a:solidFill>
                <a:latin typeface="Aptos" pitchFamily="34" charset="0"/>
                <a:ea typeface="Aptos" pitchFamily="34" charset="-122"/>
                <a:cs typeface="Aptos" pitchFamily="34" charset="-120"/>
              </a:rPr>
              <a:t> last class?</a:t>
            </a:r>
            <a:endParaRPr lang="en-US" sz="1300" dirty="0"/>
          </a:p>
          <a:p>
            <a:pPr indent="0" marL="0">
              <a:spcBef>
                <a:spcPts val="600"/>
              </a:spcBef>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HTML validator </a:t>
            </a:r>
            <a:pPr indent="0" marL="0">
              <a:buNone/>
            </a:pPr>
            <a:r>
              <a:rPr lang="en-US" sz="1300" b="1" dirty="0">
                <a:solidFill>
                  <a:srgbClr val="262626"/>
                </a:solidFill>
                <a:latin typeface="Aptos" pitchFamily="34" charset="0"/>
                <a:ea typeface="Aptos" pitchFamily="34" charset="-122"/>
                <a:cs typeface="Aptos" pitchFamily="34" charset="-120"/>
              </a:rPr>
              <a:t>can't</a:t>
            </a:r>
            <a:pPr indent="0" marL="0">
              <a:buNone/>
            </a:pPr>
            <a:r>
              <a:rPr lang="en-US" sz="1300" dirty="0">
                <a:solidFill>
                  <a:srgbClr val="262626"/>
                </a:solidFill>
                <a:latin typeface="Aptos" pitchFamily="34" charset="0"/>
                <a:ea typeface="Aptos" pitchFamily="34" charset="-122"/>
                <a:cs typeface="Aptos" pitchFamily="34" charset="-120"/>
              </a:rPr>
              <a:t> find these: it never opens style.css.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Submit Harbourside, Part 2</a:t>
            </a:r>
            <a:endParaRPr lang="en-US" sz="2800" dirty="0"/>
          </a:p>
        </p:txBody>
      </p:sp>
      <p:sp>
        <p:nvSpPr>
          <p:cNvPr id="4" name="Shape 1"/>
          <p:cNvSpPr/>
          <p:nvPr/>
        </p:nvSpPr>
        <p:spPr>
          <a:xfrm>
            <a:off x="685800" y="1325880"/>
            <a:ext cx="676656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914400" y="1508760"/>
            <a:ext cx="6309360" cy="41148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Before you submit</a:t>
            </a:r>
            <a:endParaRPr lang="en-US" sz="1800" dirty="0"/>
          </a:p>
        </p:txBody>
      </p:sp>
      <p:sp>
        <p:nvSpPr>
          <p:cNvPr id="6" name="Shape 3"/>
          <p:cNvSpPr/>
          <p:nvPr/>
        </p:nvSpPr>
        <p:spPr>
          <a:xfrm>
            <a:off x="914400" y="2194560"/>
            <a:ext cx="365760" cy="365760"/>
          </a:xfrm>
          <a:prstGeom prst="ellipse">
            <a:avLst/>
          </a:prstGeom>
          <a:solidFill>
            <a:srgbClr val="2E7D32"/>
          </a:solidFill>
          <a:ln w="12700">
            <a:solidFill>
              <a:srgbClr val="2E7D32"/>
            </a:solidFill>
            <a:prstDash val="solid"/>
          </a:ln>
        </p:spPr>
      </p:sp>
      <p:sp>
        <p:nvSpPr>
          <p:cNvPr id="7" name="Text 4"/>
          <p:cNvSpPr txBox="1"/>
          <p:nvPr/>
        </p:nvSpPr>
        <p:spPr>
          <a:xfrm>
            <a:off x="914400" y="2194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8" name="Text 5"/>
          <p:cNvSpPr txBox="1"/>
          <p:nvPr/>
        </p:nvSpPr>
        <p:spPr>
          <a:xfrm>
            <a:off x="1417320" y="208483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Changed anything since Try It 7? </a:t>
            </a:r>
            <a:pPr indent="0" marL="0">
              <a:buNone/>
            </a:pPr>
            <a:r>
              <a:rPr lang="en-US" sz="1450" b="1" dirty="0">
                <a:solidFill>
                  <a:srgbClr val="262626"/>
                </a:solidFill>
                <a:latin typeface="Aptos" pitchFamily="34" charset="0"/>
                <a:ea typeface="Aptos" pitchFamily="34" charset="-122"/>
                <a:cs typeface="Aptos" pitchFamily="34" charset="-120"/>
              </a:rPr>
              <a:t>Validate index.html again.</a:t>
            </a:r>
            <a:endParaRPr lang="en-US" sz="1450" dirty="0"/>
          </a:p>
        </p:txBody>
      </p:sp>
      <p:sp>
        <p:nvSpPr>
          <p:cNvPr id="9" name="Shape 6"/>
          <p:cNvSpPr/>
          <p:nvPr/>
        </p:nvSpPr>
        <p:spPr>
          <a:xfrm>
            <a:off x="914400" y="3108960"/>
            <a:ext cx="365760" cy="365760"/>
          </a:xfrm>
          <a:prstGeom prst="ellipse">
            <a:avLst/>
          </a:prstGeom>
          <a:solidFill>
            <a:srgbClr val="2E7D32"/>
          </a:solidFill>
          <a:ln w="12700">
            <a:solidFill>
              <a:srgbClr val="2E7D32"/>
            </a:solidFill>
            <a:prstDash val="solid"/>
          </a:ln>
        </p:spPr>
      </p:sp>
      <p:sp>
        <p:nvSpPr>
          <p:cNvPr id="10" name="Text 7"/>
          <p:cNvSpPr txBox="1"/>
          <p:nvPr/>
        </p:nvSpPr>
        <p:spPr>
          <a:xfrm>
            <a:off x="914400"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17320" y="299923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Changed anything since Try It 8? </a:t>
            </a:r>
            <a:pPr indent="0" marL="0">
              <a:buNone/>
            </a:pPr>
            <a:r>
              <a:rPr lang="en-US" sz="1450" b="1" dirty="0">
                <a:solidFill>
                  <a:srgbClr val="262626"/>
                </a:solidFill>
                <a:latin typeface="Aptos" pitchFamily="34" charset="0"/>
                <a:ea typeface="Aptos" pitchFamily="34" charset="-122"/>
                <a:cs typeface="Aptos" pitchFamily="34" charset="-120"/>
              </a:rPr>
              <a:t>Validate style.css again.</a:t>
            </a:r>
            <a:endParaRPr lang="en-US" sz="1450" dirty="0"/>
          </a:p>
        </p:txBody>
      </p:sp>
      <p:sp>
        <p:nvSpPr>
          <p:cNvPr id="12" name="Shape 9"/>
          <p:cNvSpPr/>
          <p:nvPr/>
        </p:nvSpPr>
        <p:spPr>
          <a:xfrm>
            <a:off x="914400" y="4023360"/>
            <a:ext cx="365760" cy="365760"/>
          </a:xfrm>
          <a:prstGeom prst="ellipse">
            <a:avLst/>
          </a:prstGeom>
          <a:solidFill>
            <a:srgbClr val="2E7D32"/>
          </a:solidFill>
          <a:ln w="12700">
            <a:solidFill>
              <a:srgbClr val="2E7D32"/>
            </a:solidFill>
            <a:prstDash val="solid"/>
          </a:ln>
        </p:spPr>
      </p:sp>
      <p:sp>
        <p:nvSpPr>
          <p:cNvPr id="13" name="Text 10"/>
          <p:cNvSpPr txBox="1"/>
          <p:nvPr/>
        </p:nvSpPr>
        <p:spPr>
          <a:xfrm>
            <a:off x="914400"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4" name="Text 11"/>
          <p:cNvSpPr txBox="1"/>
          <p:nvPr/>
        </p:nvSpPr>
        <p:spPr>
          <a:xfrm>
            <a:off x="1417320" y="391363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Click every link in the menu, including </a:t>
            </a:r>
            <a:pPr indent="0" marL="0">
              <a:buNone/>
            </a:pPr>
            <a:r>
              <a:rPr lang="en-US" sz="1450" b="1" dirty="0">
                <a:solidFill>
                  <a:srgbClr val="262626"/>
                </a:solidFill>
                <a:latin typeface="Aptos" pitchFamily="34" charset="0"/>
                <a:ea typeface="Aptos" pitchFamily="34" charset="-122"/>
                <a:cs typeface="Aptos" pitchFamily="34" charset="-120"/>
              </a:rPr>
              <a:t>Kids' Fish Bites</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p:txBody>
      </p:sp>
      <p:sp>
        <p:nvSpPr>
          <p:cNvPr id="15" name="Shape 12"/>
          <p:cNvSpPr/>
          <p:nvPr/>
        </p:nvSpPr>
        <p:spPr>
          <a:xfrm>
            <a:off x="914400" y="4937760"/>
            <a:ext cx="365760" cy="365760"/>
          </a:xfrm>
          <a:prstGeom prst="ellipse">
            <a:avLst/>
          </a:prstGeom>
          <a:solidFill>
            <a:srgbClr val="2E7D32"/>
          </a:solidFill>
          <a:ln w="12700">
            <a:solidFill>
              <a:srgbClr val="2E7D32"/>
            </a:solidFill>
            <a:prstDash val="solid"/>
          </a:ln>
        </p:spPr>
      </p:sp>
      <p:sp>
        <p:nvSpPr>
          <p:cNvPr id="16" name="Text 13"/>
          <p:cNvSpPr txBox="1"/>
          <p:nvPr/>
        </p:nvSpPr>
        <p:spPr>
          <a:xfrm>
            <a:off x="914400" y="4937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7" name="Text 14"/>
          <p:cNvSpPr txBox="1"/>
          <p:nvPr/>
        </p:nvSpPr>
        <p:spPr>
          <a:xfrm>
            <a:off x="1417320" y="482803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Press </a:t>
            </a:r>
            <a:pPr indent="0" marL="0">
              <a:buNone/>
            </a:pPr>
            <a:r>
              <a:rPr lang="en-US" sz="1450" b="1" dirty="0">
                <a:solidFill>
                  <a:srgbClr val="262626"/>
                </a:solidFill>
                <a:latin typeface="Aptos" pitchFamily="34" charset="0"/>
                <a:ea typeface="Aptos" pitchFamily="34" charset="-122"/>
                <a:cs typeface="Aptos" pitchFamily="34" charset="-120"/>
              </a:rPr>
              <a:t>Tab</a:t>
            </a:r>
            <a:pPr indent="0" marL="0">
              <a:buNone/>
            </a:pPr>
            <a:r>
              <a:rPr lang="en-US" sz="1450" dirty="0">
                <a:solidFill>
                  <a:srgbClr val="262626"/>
                </a:solidFill>
                <a:latin typeface="Aptos" pitchFamily="34" charset="0"/>
                <a:ea typeface="Aptos" pitchFamily="34" charset="-122"/>
                <a:cs typeface="Aptos" pitchFamily="34" charset="-120"/>
              </a:rPr>
              <a:t> through the page: the dropdown should open for the keyboard too.</a:t>
            </a:r>
            <a:endParaRPr lang="en-US" sz="1450" dirty="0"/>
          </a:p>
        </p:txBody>
      </p:sp>
      <p:sp>
        <p:nvSpPr>
          <p:cNvPr id="18" name="Shape 15"/>
          <p:cNvSpPr/>
          <p:nvPr/>
        </p:nvSpPr>
        <p:spPr>
          <a:xfrm>
            <a:off x="7680960" y="1325880"/>
            <a:ext cx="3962095" cy="5029200"/>
          </a:xfrm>
          <a:prstGeom prst="roundRect">
            <a:avLst>
              <a:gd name="adj" fmla="val 2769"/>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7909560" y="1554480"/>
            <a:ext cx="3504895" cy="685800"/>
          </a:xfrm>
          <a:prstGeom prst="rect">
            <a:avLst/>
          </a:prstGeom>
          <a:noFill/>
          <a:ln/>
        </p:spPr>
        <p:txBody>
          <a:bodyPr wrap="square" lIns="0" tIns="0" rIns="0" bIns="0" rtlCol="0" anchor="t"/>
          <a:lstStyle/>
          <a:p>
            <a:pPr indent="0" marL="0">
              <a:buNone/>
            </a:pPr>
            <a:r>
              <a:rPr lang="en-US" sz="1800" b="1" dirty="0">
                <a:solidFill>
                  <a:srgbClr val="FFFFFF"/>
                </a:solidFill>
                <a:latin typeface="Aptos" pitchFamily="34" charset="0"/>
                <a:ea typeface="Aptos" pitchFamily="34" charset="-122"/>
                <a:cs typeface="Aptos" pitchFamily="34" charset="-120"/>
              </a:rPr>
              <a:t>Submit to Brightspace</a:t>
            </a:r>
            <a:endParaRPr lang="en-US" sz="1800" dirty="0"/>
          </a:p>
        </p:txBody>
      </p:sp>
      <p:sp>
        <p:nvSpPr>
          <p:cNvPr id="20" name="Text 17"/>
          <p:cNvSpPr txBox="1"/>
          <p:nvPr/>
        </p:nvSpPr>
        <p:spPr>
          <a:xfrm>
            <a:off x="7909560" y="2286000"/>
            <a:ext cx="3504895" cy="3931920"/>
          </a:xfrm>
          <a:prstGeom prst="rect">
            <a:avLst/>
          </a:prstGeom>
          <a:noFill/>
          <a:ln/>
        </p:spPr>
        <p:txBody>
          <a:bodyPr wrap="square" lIns="0" tIns="0" rIns="0" bIns="0" rtlCol="0" anchor="t"/>
          <a:lstStyle/>
          <a:p>
            <a:pPr indent="0" marL="0">
              <a:buNone/>
            </a:pPr>
            <a:r>
              <a:rPr lang="en-US" sz="1350" b="1" dirty="0">
                <a:solidFill>
                  <a:srgbClr val="D9D9D9"/>
                </a:solidFill>
                <a:latin typeface="Aptos" pitchFamily="34" charset="0"/>
                <a:ea typeface="Aptos" pitchFamily="34" charset="-122"/>
                <a:cs typeface="Aptos" pitchFamily="34" charset="-120"/>
              </a:rPr>
              <a:t>Three screenshots:</a:t>
            </a:r>
            <a:endParaRPr lang="en-US" sz="1350" dirty="0"/>
          </a:p>
          <a:p>
            <a:pPr indent="0" marL="0">
              <a:buNone/>
            </a:pPr>
            <a:r>
              <a:rPr lang="en-US" sz="6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dirty="0">
                <a:solidFill>
                  <a:srgbClr val="D9D9D9"/>
                </a:solidFill>
                <a:latin typeface="Aptos" pitchFamily="34" charset="0"/>
                <a:ea typeface="Aptos" pitchFamily="34" charset="-122"/>
                <a:cs typeface="Aptos" pitchFamily="34" charset="-120"/>
              </a:rPr>
              <a:t>1. Your page in the browser, with the Menu dropdown open</a:t>
            </a:r>
            <a:endParaRPr lang="en-US" sz="1350" dirty="0"/>
          </a:p>
          <a:p>
            <a:pPr indent="0" marL="0">
              <a:buNone/>
            </a:pPr>
            <a:r>
              <a:rPr lang="en-US" sz="6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dirty="0">
                <a:solidFill>
                  <a:srgbClr val="D9D9D9"/>
                </a:solidFill>
                <a:latin typeface="Aptos" pitchFamily="34" charset="0"/>
                <a:ea typeface="Aptos" pitchFamily="34" charset="-122"/>
                <a:cs typeface="Aptos" pitchFamily="34" charset="-120"/>
              </a:rPr>
              <a:t>2. The HTML validator: “No errors or warnings to show.”</a:t>
            </a:r>
            <a:endParaRPr lang="en-US" sz="1350" dirty="0"/>
          </a:p>
          <a:p>
            <a:pPr indent="0" marL="0">
              <a:buNone/>
            </a:pPr>
            <a:r>
              <a:rPr lang="en-US" sz="6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dirty="0">
                <a:solidFill>
                  <a:srgbClr val="D9D9D9"/>
                </a:solidFill>
                <a:latin typeface="Aptos" pitchFamily="34" charset="0"/>
                <a:ea typeface="Aptos" pitchFamily="34" charset="-122"/>
                <a:cs typeface="Aptos" pitchFamily="34" charset="-120"/>
              </a:rPr>
              <a:t>3. The CSS validator: “No Error Found.”</a:t>
            </a:r>
            <a:endParaRPr lang="en-US" sz="1350" dirty="0"/>
          </a:p>
          <a:p>
            <a:pPr indent="0" marL="0">
              <a:buNone/>
            </a:pPr>
            <a:r>
              <a:rPr lang="en-US" sz="10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b="1" dirty="0">
                <a:solidFill>
                  <a:srgbClr val="F2C6AC"/>
                </a:solidFill>
                <a:latin typeface="Consolas" pitchFamily="34" charset="0"/>
                <a:ea typeface="Consolas" pitchFamily="34" charset="-122"/>
                <a:cs typeface="Consolas" pitchFamily="34" charset="-120"/>
              </a:rPr>
              <a:t>Win + Shift + S</a:t>
            </a:r>
            <a:pPr indent="0" marL="0">
              <a:buNone/>
            </a:pPr>
            <a:r>
              <a:rPr lang="en-US" sz="1350" dirty="0">
                <a:solidFill>
                  <a:srgbClr val="D9D9D9"/>
                </a:solidFill>
                <a:latin typeface="Aptos" pitchFamily="34" charset="0"/>
                <a:ea typeface="Aptos" pitchFamily="34" charset="-122"/>
                <a:cs typeface="Aptos" pitchFamily="34" charset="-120"/>
              </a:rPr>
              <a:t>: hover the menu first, then pick the area.</a:t>
            </a:r>
            <a:endParaRPr lang="en-US" sz="1350" dirty="0"/>
          </a:p>
          <a:p>
            <a:pPr indent="0" marL="0">
              <a:buNone/>
            </a:pPr>
            <a:r>
              <a:rPr lang="en-US" sz="10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b="1" dirty="0">
                <a:solidFill>
                  <a:srgbClr val="F2C6AC"/>
                </a:solidFill>
                <a:latin typeface="Aptos" pitchFamily="34" charset="0"/>
                <a:ea typeface="Aptos" pitchFamily="34" charset="-122"/>
                <a:cs typeface="Aptos" pitchFamily="34" charset="-120"/>
              </a:rPr>
              <a:t>Stuck? </a:t>
            </a:r>
            <a:pPr indent="0" marL="0">
              <a:buNone/>
            </a:pPr>
            <a:r>
              <a:rPr lang="en-US" sz="1350" dirty="0">
                <a:solidFill>
                  <a:srgbClr val="D9D9D9"/>
                </a:solidFill>
                <a:latin typeface="Aptos" pitchFamily="34" charset="0"/>
                <a:ea typeface="Aptos" pitchFamily="34" charset="-122"/>
                <a:cs typeface="Aptos" pitchFamily="34" charset="-120"/>
              </a:rPr>
              <a:t>Peek at activity/answer/. Every fix has a comment.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Cheat Sheet: Validator Messages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54880" y="1737360"/>
          <a:ext cx="6903720" cy="914400"/>
        </p:xfrm>
        <a:graphic>
          <a:graphicData uri="http://schemas.openxmlformats.org/drawingml/2006/table">
            <a:tbl>
              <a:tblPr/>
              <a:tblGrid>
                <a:gridCol w="3657600"/>
                <a:gridCol w="3246120"/>
              </a:tblGrid>
              <a:tr h="365760">
                <a:tc>
                  <a:txBody>
                    <a:bodyPr/>
                    <a:lstStyle/>
                    <a:p>
                      <a:pPr indent="0" marL="0">
                        <a:buNone/>
                      </a:pPr>
                      <a:r>
                        <a:rPr lang="en-US" sz="1200" b="1" dirty="0">
                          <a:solidFill>
                            <a:srgbClr val="FFFFFF"/>
                          </a:solidFill>
                          <a:latin typeface="Aptos" pitchFamily="34" charset="0"/>
                          <a:ea typeface="Aptos" pitchFamily="34" charset="-122"/>
                          <a:cs typeface="Aptos" pitchFamily="34" charset="-120"/>
                        </a:rPr>
                        <a:t>The HTML validator says…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It means… / the fix</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An “img” element must have an “alt” attribute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Add alt="description", or alt="" for decoration</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End tag “h3” seen, but there were open elements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The closing tag doesn't match the opening tag</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Unclosed element “section”</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A closing tag is missing</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End tag “strong” violates nesting rules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Last opened, first closed: &lt;b&gt;&lt;i&gt;…&lt;/i&gt;&lt;/b&gt;</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Duplicate ID “clams”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Every id must be unique on the page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Attribute “color” not allowed on element “p”</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Not an HTML attribute: do it in CSS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754880" y="4572000"/>
          <a:ext cx="6903720" cy="914400"/>
        </p:xfrm>
        <a:graphic>
          <a:graphicData uri="http://schemas.openxmlformats.org/drawingml/2006/table">
            <a:tbl>
              <a:tblPr/>
              <a:tblGrid>
                <a:gridCol w="3657600"/>
                <a:gridCol w="3246120"/>
              </a:tblGrid>
              <a:tr h="365760">
                <a:tc>
                  <a:txBody>
                    <a:bodyPr/>
                    <a:lstStyle/>
                    <a:p>
                      <a:pPr indent="0" marL="0">
                        <a:buNone/>
                      </a:pPr>
                      <a:r>
                        <a:rPr lang="en-US" sz="1200" b="1" dirty="0">
                          <a:solidFill>
                            <a:srgbClr val="FFFFFF"/>
                          </a:solidFill>
                          <a:latin typeface="Aptos" pitchFamily="34" charset="0"/>
                          <a:ea typeface="Aptos" pitchFamily="34" charset="-122"/>
                          <a:cs typeface="Aptos" pitchFamily="34" charset="-120"/>
                        </a:rPr>
                        <a:t>The CSS validator says…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It means… / the fix</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Property “colour” doesn't exist</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Spelling: CSS uses color (and center)</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only “0” can be a “unit”…</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Add a unit: 20px, 1.2rem</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Missing a semicolon before the property name…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End every declaration with ;</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00000"/>
                          </a:solidFill>
                          <a:latin typeface="Aptos" pitchFamily="34" charset="0"/>
                          <a:ea typeface="Aptos" pitchFamily="34" charset="-122"/>
                          <a:cs typeface="Aptos" pitchFamily="34" charset="-120"/>
                        </a:rPr>
                        <a:t>“middle” is not a “text-align” value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Not an allowed value: check MDN</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Assignment 2 Review</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Two pages   ·   one stylesheet   ·   three photos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Assignment 2 at a Glance</a:t>
            </a:r>
            <a:endParaRPr lang="en-US" sz="2800" dirty="0"/>
          </a:p>
        </p:txBody>
      </p:sp>
      <p:sp>
        <p:nvSpPr>
          <p:cNvPr id="7" name="Text 4"/>
          <p:cNvSpPr txBox="1"/>
          <p:nvPr/>
        </p:nvSpPr>
        <p:spPr>
          <a:xfrm>
            <a:off x="4754880" y="1783080"/>
            <a:ext cx="6903720" cy="2514600"/>
          </a:xfrm>
          <a:prstGeom prst="rect">
            <a:avLst/>
          </a:prstGeom>
          <a:noFill/>
          <a:ln/>
        </p:spPr>
        <p:txBody>
          <a:bodyPr wrap="square" lIns="0" tIns="0" rIns="0" bIns="0" rtlCol="0" anchor="t"/>
          <a:lstStyle/>
          <a:p>
            <a:pPr marL="342900" indent="-342900">
              <a:buSzPct val="100000"/>
              <a:buChar char="•"/>
            </a:pPr>
            <a:r>
              <a:rPr lang="en-US" sz="1600" b="1" dirty="0">
                <a:solidFill>
                  <a:srgbClr val="000000"/>
                </a:solidFill>
                <a:latin typeface="Aptos" pitchFamily="34" charset="0"/>
                <a:ea typeface="Aptos" pitchFamily="34" charset="-122"/>
                <a:cs typeface="Aptos" pitchFamily="34" charset="-120"/>
              </a:rPr>
              <a:t>The task</a:t>
            </a:r>
            <a:endParaRPr lang="en-US" sz="1600" dirty="0"/>
          </a:p>
          <a:p>
            <a:pPr lvl="1" marL="685800" indent="-342900">
              <a:spcBef>
                <a:spcPts val="300"/>
              </a:spcBef>
              <a:buSzPct val="100000"/>
              <a:buChar char="•"/>
            </a:pPr>
            <a:r>
              <a:rPr lang="en-US" sz="1400" dirty="0">
                <a:solidFill>
                  <a:srgbClr val="000000"/>
                </a:solidFill>
                <a:latin typeface="Aptos" pitchFamily="34" charset="0"/>
                <a:ea typeface="Aptos" pitchFamily="34" charset="-122"/>
                <a:cs typeface="Aptos" pitchFamily="34" charset="-120"/>
              </a:rPr>
              <a:t>Wireframe two pages (e.g. About Me and Portfolio).</a:t>
            </a:r>
            <a:endParaRPr lang="en-US" sz="1600" dirty="0"/>
          </a:p>
          <a:p>
            <a:pPr lvl="1" marL="685800" indent="-342900">
              <a:spcBef>
                <a:spcPts val="300"/>
              </a:spcBef>
              <a:buSzPct val="100000"/>
              <a:buChar char="•"/>
            </a:pPr>
            <a:r>
              <a:rPr lang="en-US" sz="1400" dirty="0">
                <a:solidFill>
                  <a:srgbClr val="000000"/>
                </a:solidFill>
                <a:latin typeface="Aptos" pitchFamily="34" charset="0"/>
                <a:ea typeface="Aptos" pitchFamily="34" charset="-122"/>
                <a:cs typeface="Aptos" pitchFamily="34" charset="-120"/>
              </a:rPr>
              <a:t>Build them by hand in VS Code. Both share one style sheet and link to each other.</a:t>
            </a:r>
            <a:endParaRPr lang="en-US" sz="1600" dirty="0"/>
          </a:p>
          <a:p>
            <a:pPr lvl="1" marL="685800" indent="-342900">
              <a:spcBef>
                <a:spcPts val="300"/>
              </a:spcBef>
              <a:buSzPct val="100000"/>
              <a:buChar char="•"/>
            </a:pPr>
            <a:r>
              <a:rPr lang="en-US" sz="1400" dirty="0">
                <a:solidFill>
                  <a:srgbClr val="000000"/>
                </a:solidFill>
                <a:latin typeface="Aptos" pitchFamily="34" charset="0"/>
                <a:ea typeface="Aptos" pitchFamily="34" charset="-122"/>
                <a:cs typeface="Aptos" pitchFamily="34" charset="-120"/>
              </a:rPr>
              <a:t>Page 2: at least 3 of your own photos, optimized and responsive.</a:t>
            </a:r>
            <a:endParaRPr lang="en-US" sz="1600" dirty="0"/>
          </a:p>
          <a:p>
            <a:pPr marL="342900" indent="-342900">
              <a:spcBef>
                <a:spcPts val="800"/>
              </a:spcBef>
              <a:buSzPct val="100000"/>
              <a:buChar char="•"/>
            </a:pPr>
            <a:r>
              <a:rPr lang="en-US" sz="1600" b="1" dirty="0">
                <a:solidFill>
                  <a:srgbClr val="000000"/>
                </a:solidFill>
                <a:latin typeface="Aptos" pitchFamily="34" charset="0"/>
                <a:ea typeface="Aptos" pitchFamily="34" charset="-122"/>
                <a:cs typeface="Aptos" pitchFamily="34" charset="-120"/>
              </a:rPr>
              <a:t>Hand in (Brightspace)</a:t>
            </a:r>
            <a:endParaRPr lang="en-US" sz="1600" dirty="0"/>
          </a:p>
          <a:p>
            <a:pPr lvl="1" marL="685800" indent="-342900">
              <a:spcBef>
                <a:spcPts val="300"/>
              </a:spcBef>
              <a:buSzPct val="100000"/>
              <a:buChar char="•"/>
            </a:pPr>
            <a:r>
              <a:rPr lang="en-US" sz="1400" dirty="0">
                <a:solidFill>
                  <a:srgbClr val="000000"/>
                </a:solidFill>
                <a:latin typeface="Aptos" pitchFamily="34" charset="0"/>
                <a:ea typeface="Aptos" pitchFamily="34" charset="-122"/>
                <a:cs typeface="Aptos" pitchFamily="34" charset="-120"/>
              </a:rPr>
              <a:t>One PDF with the two wireframes, and one ZIP: 2 HTML pages, 1 CSS file, 3 images.</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54880" y="4343400"/>
          <a:ext cx="6903720" cy="914400"/>
        </p:xfrm>
        <a:graphic>
          <a:graphicData uri="http://schemas.openxmlformats.org/drawingml/2006/table">
            <a:tbl>
              <a:tblPr/>
              <a:tblGrid>
                <a:gridCol w="1920240"/>
                <a:gridCol w="3977640"/>
                <a:gridCol w="1005840"/>
              </a:tblGrid>
              <a:tr h="329184">
                <a:tc>
                  <a:txBody>
                    <a:bodyPr/>
                    <a:lstStyle/>
                    <a:p>
                      <a:pPr indent="0" marL="0">
                        <a:buNone/>
                      </a:pPr>
                      <a:r>
                        <a:rPr lang="en-US" sz="1300" b="1" dirty="0">
                          <a:solidFill>
                            <a:srgbClr val="FFFFFF"/>
                          </a:solidFill>
                          <a:latin typeface="Aptos" pitchFamily="34" charset="0"/>
                          <a:ea typeface="Aptos" pitchFamily="34" charset="-122"/>
                          <a:cs typeface="Aptos" pitchFamily="34" charset="-120"/>
                        </a:rPr>
                        <a:t>Component</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00" b="1" dirty="0">
                          <a:solidFill>
                            <a:srgbClr val="FFFFFF"/>
                          </a:solidFill>
                          <a:latin typeface="Aptos" pitchFamily="34" charset="0"/>
                          <a:ea typeface="Aptos" pitchFamily="34" charset="-122"/>
                          <a:cs typeface="Aptos" pitchFamily="34" charset="-120"/>
                        </a:rPr>
                        <a:t>Full marks (A)</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00" b="1" dirty="0">
                          <a:solidFill>
                            <a:srgbClr val="FFFFFF"/>
                          </a:solidFill>
                          <a:latin typeface="Aptos" pitchFamily="34" charset="0"/>
                          <a:ea typeface="Aptos" pitchFamily="34" charset="-122"/>
                          <a:cs typeface="Aptos" pitchFamily="34" charset="-120"/>
                        </a:rPr>
                        <a:t>Points</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29184">
                <a:tc>
                  <a:txBody>
                    <a:bodyPr/>
                    <a:lstStyle/>
                    <a:p>
                      <a:pPr indent="0" marL="0">
                        <a:buNone/>
                      </a:pPr>
                      <a:r>
                        <a:rPr lang="en-US" sz="1300" dirty="0">
                          <a:solidFill>
                            <a:srgbClr val="000000"/>
                          </a:solidFill>
                          <a:latin typeface="Aptos" pitchFamily="34" charset="0"/>
                          <a:ea typeface="Aptos" pitchFamily="34" charset="-122"/>
                          <a:cs typeface="Aptos" pitchFamily="34" charset="-120"/>
                        </a:rPr>
                        <a:t>Wireframes (2)</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Detailed, clear, meet the requirements</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/10</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00000"/>
                          </a:solidFill>
                          <a:latin typeface="Aptos" pitchFamily="34" charset="0"/>
                          <a:ea typeface="Aptos" pitchFamily="34" charset="-122"/>
                          <a:cs typeface="Aptos" pitchFamily="34" charset="-120"/>
                        </a:rPr>
                        <a:t>HTML pages (2)</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Clean, organized, valid; fully working</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/10</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29184">
                <a:tc>
                  <a:txBody>
                    <a:bodyPr/>
                    <a:lstStyle/>
                    <a:p>
                      <a:pPr indent="0" marL="0">
                        <a:buNone/>
                      </a:pPr>
                      <a:r>
                        <a:rPr lang="en-US" sz="1300" dirty="0">
                          <a:solidFill>
                            <a:srgbClr val="000000"/>
                          </a:solidFill>
                          <a:latin typeface="Aptos" pitchFamily="34" charset="0"/>
                          <a:ea typeface="Aptos" pitchFamily="34" charset="-122"/>
                          <a:cs typeface="Aptos" pitchFamily="34" charset="-120"/>
                        </a:rPr>
                        <a:t>CSS style sheet</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Clean, valid, consistent; one shared file</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/5</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000000"/>
                          </a:solidFill>
                          <a:latin typeface="Aptos" pitchFamily="34" charset="0"/>
                          <a:ea typeface="Aptos" pitchFamily="34" charset="-122"/>
                          <a:cs typeface="Aptos" pitchFamily="34" charset="-120"/>
                        </a:rPr>
                        <a:t>Photos (3)</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Optimized, responsive, add to the content</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/15</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29184">
                <a:tc>
                  <a:txBody>
                    <a:bodyPr/>
                    <a:lstStyle/>
                    <a:p>
                      <a:pPr indent="0" marL="0">
                        <a:buNone/>
                      </a:pPr>
                      <a:r>
                        <a:rPr lang="en-US" sz="1300" dirty="0">
                          <a:solidFill>
                            <a:srgbClr val="000000"/>
                          </a:solidFill>
                          <a:latin typeface="Aptos" pitchFamily="34" charset="0"/>
                          <a:ea typeface="Aptos" pitchFamily="34" charset="-122"/>
                          <a:cs typeface="Aptos" pitchFamily="34" charset="-120"/>
                        </a:rPr>
                        <a:t>Total</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/40</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From Wireframe to Page</a:t>
            </a:r>
            <a:endParaRPr lang="en-US" sz="2800" dirty="0"/>
          </a:p>
        </p:txBody>
      </p:sp>
      <p:sp>
        <p:nvSpPr>
          <p:cNvPr id="7" name="Text 4"/>
          <p:cNvSpPr txBox="1"/>
          <p:nvPr/>
        </p:nvSpPr>
        <p:spPr>
          <a:xfrm>
            <a:off x="4754880" y="1783080"/>
            <a:ext cx="3246120" cy="320040"/>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index.html</a:t>
            </a:r>
            <a:pPr indent="0" marL="0">
              <a:buNone/>
            </a:pPr>
            <a:r>
              <a:rPr lang="en-US" sz="1300" dirty="0">
                <a:solidFill>
                  <a:srgbClr val="595959"/>
                </a:solidFill>
                <a:latin typeface="Aptos" pitchFamily="34" charset="0"/>
                <a:ea typeface="Aptos" pitchFamily="34" charset="-122"/>
                <a:cs typeface="Aptos" pitchFamily="34" charset="-120"/>
              </a:rPr>
              <a:t>  About Me</a:t>
            </a:r>
            <a:endParaRPr lang="en-US" sz="1300" dirty="0"/>
          </a:p>
        </p:txBody>
      </p:sp>
      <p:sp>
        <p:nvSpPr>
          <p:cNvPr id="8" name="Shape 5"/>
          <p:cNvSpPr/>
          <p:nvPr/>
        </p:nvSpPr>
        <p:spPr>
          <a:xfrm>
            <a:off x="4754880" y="2148840"/>
            <a:ext cx="3246120" cy="3108960"/>
          </a:xfrm>
          <a:prstGeom prst="rect">
            <a:avLst/>
          </a:prstGeom>
          <a:solidFill>
            <a:srgbClr val="FFFFFF"/>
          </a:solidFill>
          <a:ln w="12700">
            <a:solidFill>
              <a:srgbClr val="8C989E"/>
            </a:solidFill>
            <a:prstDash val="solid"/>
          </a:ln>
        </p:spPr>
      </p:sp>
      <p:sp>
        <p:nvSpPr>
          <p:cNvPr id="9" name="Shape 6"/>
          <p:cNvSpPr/>
          <p:nvPr/>
        </p:nvSpPr>
        <p:spPr>
          <a:xfrm>
            <a:off x="4864608" y="2258568"/>
            <a:ext cx="3026664" cy="411480"/>
          </a:xfrm>
          <a:prstGeom prst="rect">
            <a:avLst/>
          </a:prstGeom>
          <a:solidFill>
            <a:srgbClr val="D7E7EE"/>
          </a:solidFill>
          <a:ln w="12700">
            <a:solidFill>
              <a:srgbClr val="1B5E82"/>
            </a:solidFill>
            <a:prstDash val="solid"/>
          </a:ln>
        </p:spPr>
      </p:sp>
      <p:sp>
        <p:nvSpPr>
          <p:cNvPr id="10" name="Text 7"/>
          <p:cNvSpPr txBox="1"/>
          <p:nvPr/>
        </p:nvSpPr>
        <p:spPr>
          <a:xfrm>
            <a:off x="4956048" y="2258568"/>
            <a:ext cx="2843784" cy="411480"/>
          </a:xfrm>
          <a:prstGeom prst="rect">
            <a:avLst/>
          </a:prstGeom>
          <a:noFill/>
          <a:ln/>
        </p:spPr>
        <p:txBody>
          <a:bodyPr wrap="square" lIns="0" tIns="0" rIns="0" bIns="0" rtlCol="0" anchor="ctr"/>
          <a:lstStyle/>
          <a:p>
            <a:pPr indent="0" marL="0">
              <a:buNone/>
            </a:pPr>
            <a:r>
              <a:rPr lang="en-US" sz="1100" dirty="0">
                <a:solidFill>
                  <a:srgbClr val="12304A"/>
                </a:solidFill>
                <a:latin typeface="Aptos" pitchFamily="34" charset="0"/>
                <a:ea typeface="Aptos" pitchFamily="34" charset="-122"/>
                <a:cs typeface="Aptos" pitchFamily="34" charset="-120"/>
              </a:rPr>
              <a:t>header: Sam Rivers (h1)</a:t>
            </a:r>
            <a:endParaRPr lang="en-US" sz="1100" dirty="0"/>
          </a:p>
        </p:txBody>
      </p:sp>
      <p:sp>
        <p:nvSpPr>
          <p:cNvPr id="11" name="Shape 8"/>
          <p:cNvSpPr/>
          <p:nvPr/>
        </p:nvSpPr>
        <p:spPr>
          <a:xfrm>
            <a:off x="4864608" y="2715768"/>
            <a:ext cx="3026664" cy="347472"/>
          </a:xfrm>
          <a:prstGeom prst="rect">
            <a:avLst/>
          </a:prstGeom>
          <a:solidFill>
            <a:srgbClr val="D7E7EE"/>
          </a:solidFill>
          <a:ln w="12700">
            <a:solidFill>
              <a:srgbClr val="1B5E82"/>
            </a:solidFill>
            <a:prstDash val="solid"/>
          </a:ln>
        </p:spPr>
      </p:sp>
      <p:sp>
        <p:nvSpPr>
          <p:cNvPr id="12" name="Text 9"/>
          <p:cNvSpPr txBox="1"/>
          <p:nvPr/>
        </p:nvSpPr>
        <p:spPr>
          <a:xfrm>
            <a:off x="4956048" y="2715768"/>
            <a:ext cx="2843784" cy="347472"/>
          </a:xfrm>
          <a:prstGeom prst="rect">
            <a:avLst/>
          </a:prstGeom>
          <a:noFill/>
          <a:ln/>
        </p:spPr>
        <p:txBody>
          <a:bodyPr wrap="square" lIns="0" tIns="0" rIns="0" bIns="0" rtlCol="0" anchor="ctr"/>
          <a:lstStyle/>
          <a:p>
            <a:pPr indent="0" marL="0">
              <a:buNone/>
            </a:pPr>
            <a:r>
              <a:rPr lang="en-US" sz="1100" dirty="0">
                <a:solidFill>
                  <a:srgbClr val="12304A"/>
                </a:solidFill>
                <a:latin typeface="Aptos" pitchFamily="34" charset="0"/>
                <a:ea typeface="Aptos" pitchFamily="34" charset="-122"/>
                <a:cs typeface="Aptos" pitchFamily="34" charset="-120"/>
              </a:rPr>
              <a:t>nav: About Me  |  Portfolio</a:t>
            </a:r>
            <a:endParaRPr lang="en-US" sz="1100" dirty="0"/>
          </a:p>
        </p:txBody>
      </p:sp>
      <p:sp>
        <p:nvSpPr>
          <p:cNvPr id="13" name="Shape 10"/>
          <p:cNvSpPr/>
          <p:nvPr/>
        </p:nvSpPr>
        <p:spPr>
          <a:xfrm>
            <a:off x="4864608" y="3172968"/>
            <a:ext cx="3026664" cy="1517904"/>
          </a:xfrm>
          <a:prstGeom prst="rect">
            <a:avLst/>
          </a:prstGeom>
          <a:solidFill>
            <a:srgbClr val="FFFFFF"/>
          </a:solidFill>
          <a:ln w="12700">
            <a:solidFill>
              <a:srgbClr val="8C989E"/>
            </a:solidFill>
            <a:prstDash val="dash"/>
          </a:ln>
        </p:spPr>
      </p:sp>
      <p:sp>
        <p:nvSpPr>
          <p:cNvPr id="14" name="Text 11"/>
          <p:cNvSpPr txBox="1"/>
          <p:nvPr/>
        </p:nvSpPr>
        <p:spPr>
          <a:xfrm>
            <a:off x="4956048" y="3218688"/>
            <a:ext cx="2843784" cy="274320"/>
          </a:xfrm>
          <a:prstGeom prst="rect">
            <a:avLst/>
          </a:prstGeom>
          <a:noFill/>
          <a:ln/>
        </p:spPr>
        <p:txBody>
          <a:bodyPr wrap="square" lIns="0" tIns="0" rIns="0" bIns="0" rtlCol="0" anchor="ctr"/>
          <a:lstStyle/>
          <a:p>
            <a:pPr indent="0" marL="0">
              <a:buNone/>
            </a:pPr>
            <a:r>
              <a:rPr lang="en-US" sz="1100" dirty="0">
                <a:solidFill>
                  <a:srgbClr val="595959"/>
                </a:solidFill>
                <a:latin typeface="Aptos" pitchFamily="34" charset="0"/>
                <a:ea typeface="Aptos" pitchFamily="34" charset="-122"/>
                <a:cs typeface="Aptos" pitchFamily="34" charset="-120"/>
              </a:rPr>
              <a:t>main: h2 + 3 paragraphs</a:t>
            </a:r>
            <a:endParaRPr lang="en-US" sz="1100" dirty="0"/>
          </a:p>
        </p:txBody>
      </p:sp>
      <p:sp>
        <p:nvSpPr>
          <p:cNvPr id="15" name="Shape 12"/>
          <p:cNvSpPr/>
          <p:nvPr/>
        </p:nvSpPr>
        <p:spPr>
          <a:xfrm>
            <a:off x="4983480" y="3611880"/>
            <a:ext cx="2788920" cy="64008"/>
          </a:xfrm>
          <a:prstGeom prst="rect">
            <a:avLst/>
          </a:prstGeom>
          <a:solidFill>
            <a:srgbClr val="C8CED1"/>
          </a:solidFill>
          <a:ln w="12700">
            <a:solidFill>
              <a:srgbClr val="C8CED1"/>
            </a:solidFill>
            <a:prstDash val="solid"/>
          </a:ln>
        </p:spPr>
      </p:sp>
      <p:sp>
        <p:nvSpPr>
          <p:cNvPr id="16" name="Shape 13"/>
          <p:cNvSpPr/>
          <p:nvPr/>
        </p:nvSpPr>
        <p:spPr>
          <a:xfrm>
            <a:off x="4983480" y="3739896"/>
            <a:ext cx="1952244" cy="64008"/>
          </a:xfrm>
          <a:prstGeom prst="rect">
            <a:avLst/>
          </a:prstGeom>
          <a:solidFill>
            <a:srgbClr val="C8CED1"/>
          </a:solidFill>
          <a:ln w="12700">
            <a:solidFill>
              <a:srgbClr val="C8CED1"/>
            </a:solidFill>
            <a:prstDash val="solid"/>
          </a:ln>
        </p:spPr>
      </p:sp>
      <p:sp>
        <p:nvSpPr>
          <p:cNvPr id="17" name="Shape 14"/>
          <p:cNvSpPr/>
          <p:nvPr/>
        </p:nvSpPr>
        <p:spPr>
          <a:xfrm>
            <a:off x="4983480" y="3959352"/>
            <a:ext cx="2788920" cy="64008"/>
          </a:xfrm>
          <a:prstGeom prst="rect">
            <a:avLst/>
          </a:prstGeom>
          <a:solidFill>
            <a:srgbClr val="C8CED1"/>
          </a:solidFill>
          <a:ln w="12700">
            <a:solidFill>
              <a:srgbClr val="C8CED1"/>
            </a:solidFill>
            <a:prstDash val="solid"/>
          </a:ln>
        </p:spPr>
      </p:sp>
      <p:sp>
        <p:nvSpPr>
          <p:cNvPr id="18" name="Shape 15"/>
          <p:cNvSpPr/>
          <p:nvPr/>
        </p:nvSpPr>
        <p:spPr>
          <a:xfrm>
            <a:off x="4983480" y="4087368"/>
            <a:ext cx="1952244" cy="64008"/>
          </a:xfrm>
          <a:prstGeom prst="rect">
            <a:avLst/>
          </a:prstGeom>
          <a:solidFill>
            <a:srgbClr val="C8CED1"/>
          </a:solidFill>
          <a:ln w="12700">
            <a:solidFill>
              <a:srgbClr val="C8CED1"/>
            </a:solidFill>
            <a:prstDash val="solid"/>
          </a:ln>
        </p:spPr>
      </p:sp>
      <p:sp>
        <p:nvSpPr>
          <p:cNvPr id="19" name="Shape 16"/>
          <p:cNvSpPr/>
          <p:nvPr/>
        </p:nvSpPr>
        <p:spPr>
          <a:xfrm>
            <a:off x="4983480" y="4306824"/>
            <a:ext cx="2788920" cy="64008"/>
          </a:xfrm>
          <a:prstGeom prst="rect">
            <a:avLst/>
          </a:prstGeom>
          <a:solidFill>
            <a:srgbClr val="C8CED1"/>
          </a:solidFill>
          <a:ln w="12700">
            <a:solidFill>
              <a:srgbClr val="C8CED1"/>
            </a:solidFill>
            <a:prstDash val="solid"/>
          </a:ln>
        </p:spPr>
      </p:sp>
      <p:sp>
        <p:nvSpPr>
          <p:cNvPr id="20" name="Shape 17"/>
          <p:cNvSpPr/>
          <p:nvPr/>
        </p:nvSpPr>
        <p:spPr>
          <a:xfrm>
            <a:off x="4983480" y="4434840"/>
            <a:ext cx="1952244" cy="64008"/>
          </a:xfrm>
          <a:prstGeom prst="rect">
            <a:avLst/>
          </a:prstGeom>
          <a:solidFill>
            <a:srgbClr val="C8CED1"/>
          </a:solidFill>
          <a:ln w="12700">
            <a:solidFill>
              <a:srgbClr val="C8CED1"/>
            </a:solidFill>
            <a:prstDash val="solid"/>
          </a:ln>
        </p:spPr>
      </p:sp>
      <p:sp>
        <p:nvSpPr>
          <p:cNvPr id="21" name="Shape 18"/>
          <p:cNvSpPr/>
          <p:nvPr/>
        </p:nvSpPr>
        <p:spPr>
          <a:xfrm>
            <a:off x="4864608" y="4782312"/>
            <a:ext cx="3026664" cy="347472"/>
          </a:xfrm>
          <a:prstGeom prst="rect">
            <a:avLst/>
          </a:prstGeom>
          <a:solidFill>
            <a:srgbClr val="D7E7EE"/>
          </a:solidFill>
          <a:ln w="12700">
            <a:solidFill>
              <a:srgbClr val="1B5E82"/>
            </a:solidFill>
            <a:prstDash val="solid"/>
          </a:ln>
        </p:spPr>
      </p:sp>
      <p:sp>
        <p:nvSpPr>
          <p:cNvPr id="22" name="Text 19"/>
          <p:cNvSpPr txBox="1"/>
          <p:nvPr/>
        </p:nvSpPr>
        <p:spPr>
          <a:xfrm>
            <a:off x="4956048" y="4782312"/>
            <a:ext cx="2843784" cy="347472"/>
          </a:xfrm>
          <a:prstGeom prst="rect">
            <a:avLst/>
          </a:prstGeom>
          <a:noFill/>
          <a:ln/>
        </p:spPr>
        <p:txBody>
          <a:bodyPr wrap="square" lIns="0" tIns="0" rIns="0" bIns="0" rtlCol="0" anchor="ctr"/>
          <a:lstStyle/>
          <a:p>
            <a:pPr indent="0" marL="0">
              <a:buNone/>
            </a:pPr>
            <a:r>
              <a:rPr lang="en-US" sz="1100" dirty="0">
                <a:solidFill>
                  <a:srgbClr val="12304A"/>
                </a:solidFill>
                <a:latin typeface="Aptos" pitchFamily="34" charset="0"/>
                <a:ea typeface="Aptos" pitchFamily="34" charset="-122"/>
                <a:cs typeface="Aptos" pitchFamily="34" charset="-120"/>
              </a:rPr>
              <a:t>footer: © 2026 Sam Rivers</a:t>
            </a:r>
            <a:endParaRPr lang="en-US" sz="1100" dirty="0"/>
          </a:p>
        </p:txBody>
      </p:sp>
      <p:sp>
        <p:nvSpPr>
          <p:cNvPr id="23" name="Text 20"/>
          <p:cNvSpPr txBox="1"/>
          <p:nvPr/>
        </p:nvSpPr>
        <p:spPr>
          <a:xfrm>
            <a:off x="8412480" y="1783080"/>
            <a:ext cx="3246120" cy="320040"/>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portfolio.html</a:t>
            </a:r>
            <a:pPr indent="0" marL="0">
              <a:buNone/>
            </a:pPr>
            <a:r>
              <a:rPr lang="en-US" sz="1300" dirty="0">
                <a:solidFill>
                  <a:srgbClr val="595959"/>
                </a:solidFill>
                <a:latin typeface="Aptos" pitchFamily="34" charset="0"/>
                <a:ea typeface="Aptos" pitchFamily="34" charset="-122"/>
                <a:cs typeface="Aptos" pitchFamily="34" charset="-120"/>
              </a:rPr>
              <a:t>  Portfolio</a:t>
            </a:r>
            <a:endParaRPr lang="en-US" sz="1300" dirty="0"/>
          </a:p>
        </p:txBody>
      </p:sp>
      <p:sp>
        <p:nvSpPr>
          <p:cNvPr id="24" name="Shape 21"/>
          <p:cNvSpPr/>
          <p:nvPr/>
        </p:nvSpPr>
        <p:spPr>
          <a:xfrm>
            <a:off x="8412480" y="2148840"/>
            <a:ext cx="3246120" cy="3108960"/>
          </a:xfrm>
          <a:prstGeom prst="rect">
            <a:avLst/>
          </a:prstGeom>
          <a:solidFill>
            <a:srgbClr val="FFFFFF"/>
          </a:solidFill>
          <a:ln w="12700">
            <a:solidFill>
              <a:srgbClr val="8C989E"/>
            </a:solidFill>
            <a:prstDash val="solid"/>
          </a:ln>
        </p:spPr>
      </p:sp>
      <p:sp>
        <p:nvSpPr>
          <p:cNvPr id="25" name="Shape 22"/>
          <p:cNvSpPr/>
          <p:nvPr/>
        </p:nvSpPr>
        <p:spPr>
          <a:xfrm>
            <a:off x="8522208" y="2258568"/>
            <a:ext cx="3026664" cy="411480"/>
          </a:xfrm>
          <a:prstGeom prst="rect">
            <a:avLst/>
          </a:prstGeom>
          <a:solidFill>
            <a:srgbClr val="D7E7EE"/>
          </a:solidFill>
          <a:ln w="12700">
            <a:solidFill>
              <a:srgbClr val="1B5E82"/>
            </a:solidFill>
            <a:prstDash val="solid"/>
          </a:ln>
        </p:spPr>
      </p:sp>
      <p:sp>
        <p:nvSpPr>
          <p:cNvPr id="26" name="Text 23"/>
          <p:cNvSpPr txBox="1"/>
          <p:nvPr/>
        </p:nvSpPr>
        <p:spPr>
          <a:xfrm>
            <a:off x="8613648" y="2258568"/>
            <a:ext cx="2843784" cy="411480"/>
          </a:xfrm>
          <a:prstGeom prst="rect">
            <a:avLst/>
          </a:prstGeom>
          <a:noFill/>
          <a:ln/>
        </p:spPr>
        <p:txBody>
          <a:bodyPr wrap="square" lIns="0" tIns="0" rIns="0" bIns="0" rtlCol="0" anchor="ctr"/>
          <a:lstStyle/>
          <a:p>
            <a:pPr indent="0" marL="0">
              <a:buNone/>
            </a:pPr>
            <a:r>
              <a:rPr lang="en-US" sz="1100" dirty="0">
                <a:solidFill>
                  <a:srgbClr val="12304A"/>
                </a:solidFill>
                <a:latin typeface="Aptos" pitchFamily="34" charset="0"/>
                <a:ea typeface="Aptos" pitchFamily="34" charset="-122"/>
                <a:cs typeface="Aptos" pitchFamily="34" charset="-120"/>
              </a:rPr>
              <a:t>header: Sam Rivers (h1)</a:t>
            </a:r>
            <a:endParaRPr lang="en-US" sz="1100" dirty="0"/>
          </a:p>
        </p:txBody>
      </p:sp>
      <p:sp>
        <p:nvSpPr>
          <p:cNvPr id="27" name="Shape 24"/>
          <p:cNvSpPr/>
          <p:nvPr/>
        </p:nvSpPr>
        <p:spPr>
          <a:xfrm>
            <a:off x="8522208" y="2715768"/>
            <a:ext cx="3026664" cy="347472"/>
          </a:xfrm>
          <a:prstGeom prst="rect">
            <a:avLst/>
          </a:prstGeom>
          <a:solidFill>
            <a:srgbClr val="D7E7EE"/>
          </a:solidFill>
          <a:ln w="12700">
            <a:solidFill>
              <a:srgbClr val="1B5E82"/>
            </a:solidFill>
            <a:prstDash val="solid"/>
          </a:ln>
        </p:spPr>
      </p:sp>
      <p:sp>
        <p:nvSpPr>
          <p:cNvPr id="28" name="Text 25"/>
          <p:cNvSpPr txBox="1"/>
          <p:nvPr/>
        </p:nvSpPr>
        <p:spPr>
          <a:xfrm>
            <a:off x="8613648" y="2715768"/>
            <a:ext cx="2843784" cy="347472"/>
          </a:xfrm>
          <a:prstGeom prst="rect">
            <a:avLst/>
          </a:prstGeom>
          <a:noFill/>
          <a:ln/>
        </p:spPr>
        <p:txBody>
          <a:bodyPr wrap="square" lIns="0" tIns="0" rIns="0" bIns="0" rtlCol="0" anchor="ctr"/>
          <a:lstStyle/>
          <a:p>
            <a:pPr indent="0" marL="0">
              <a:buNone/>
            </a:pPr>
            <a:r>
              <a:rPr lang="en-US" sz="1100" dirty="0">
                <a:solidFill>
                  <a:srgbClr val="12304A"/>
                </a:solidFill>
                <a:latin typeface="Aptos" pitchFamily="34" charset="0"/>
                <a:ea typeface="Aptos" pitchFamily="34" charset="-122"/>
                <a:cs typeface="Aptos" pitchFamily="34" charset="-120"/>
              </a:rPr>
              <a:t>nav: About Me  |  Portfolio</a:t>
            </a:r>
            <a:endParaRPr lang="en-US" sz="1100" dirty="0"/>
          </a:p>
        </p:txBody>
      </p:sp>
      <p:sp>
        <p:nvSpPr>
          <p:cNvPr id="29" name="Shape 26"/>
          <p:cNvSpPr/>
          <p:nvPr/>
        </p:nvSpPr>
        <p:spPr>
          <a:xfrm>
            <a:off x="8522208" y="3172968"/>
            <a:ext cx="3026664" cy="1517904"/>
          </a:xfrm>
          <a:prstGeom prst="rect">
            <a:avLst/>
          </a:prstGeom>
          <a:solidFill>
            <a:srgbClr val="FFFFFF"/>
          </a:solidFill>
          <a:ln w="12700">
            <a:solidFill>
              <a:srgbClr val="8C989E"/>
            </a:solidFill>
            <a:prstDash val="dash"/>
          </a:ln>
        </p:spPr>
      </p:sp>
      <p:sp>
        <p:nvSpPr>
          <p:cNvPr id="30" name="Text 27"/>
          <p:cNvSpPr txBox="1"/>
          <p:nvPr/>
        </p:nvSpPr>
        <p:spPr>
          <a:xfrm>
            <a:off x="8613648" y="3218688"/>
            <a:ext cx="2843784" cy="274320"/>
          </a:xfrm>
          <a:prstGeom prst="rect">
            <a:avLst/>
          </a:prstGeom>
          <a:noFill/>
          <a:ln/>
        </p:spPr>
        <p:txBody>
          <a:bodyPr wrap="square" lIns="0" tIns="0" rIns="0" bIns="0" rtlCol="0" anchor="ctr"/>
          <a:lstStyle/>
          <a:p>
            <a:pPr indent="0" marL="0">
              <a:buNone/>
            </a:pPr>
            <a:r>
              <a:rPr lang="en-US" sz="1100" dirty="0">
                <a:solidFill>
                  <a:srgbClr val="595959"/>
                </a:solidFill>
                <a:latin typeface="Aptos" pitchFamily="34" charset="0"/>
                <a:ea typeface="Aptos" pitchFamily="34" charset="-122"/>
                <a:cs typeface="Aptos" pitchFamily="34" charset="-120"/>
              </a:rPr>
              <a:t>main: h2 + 3 photos</a:t>
            </a:r>
            <a:endParaRPr lang="en-US" sz="1100" dirty="0"/>
          </a:p>
        </p:txBody>
      </p:sp>
      <p:sp>
        <p:nvSpPr>
          <p:cNvPr id="31" name="Shape 28"/>
          <p:cNvSpPr/>
          <p:nvPr/>
        </p:nvSpPr>
        <p:spPr>
          <a:xfrm>
            <a:off x="8641080" y="3557016"/>
            <a:ext cx="1325880" cy="310896"/>
          </a:xfrm>
          <a:prstGeom prst="rect">
            <a:avLst/>
          </a:prstGeom>
          <a:solidFill>
            <a:srgbClr val="F2F2F2"/>
          </a:solidFill>
          <a:ln w="9525">
            <a:solidFill>
              <a:srgbClr val="8C989E"/>
            </a:solidFill>
            <a:prstDash val="solid"/>
          </a:ln>
        </p:spPr>
      </p:sp>
      <p:sp>
        <p:nvSpPr>
          <p:cNvPr id="32" name="Shape 29"/>
          <p:cNvSpPr/>
          <p:nvPr/>
        </p:nvSpPr>
        <p:spPr>
          <a:xfrm>
            <a:off x="8641080" y="3557016"/>
            <a:ext cx="1325880" cy="310896"/>
          </a:xfrm>
          <a:prstGeom prst="line">
            <a:avLst/>
          </a:prstGeom>
          <a:noFill/>
          <a:ln w="9525">
            <a:solidFill>
              <a:srgbClr val="8C989E"/>
            </a:solidFill>
            <a:prstDash val="solid"/>
          </a:ln>
        </p:spPr>
      </p:sp>
      <p:sp>
        <p:nvSpPr>
          <p:cNvPr id="33" name="Shape 30"/>
          <p:cNvSpPr/>
          <p:nvPr/>
        </p:nvSpPr>
        <p:spPr>
          <a:xfrm flipV="1">
            <a:off x="8641080" y="3557016"/>
            <a:ext cx="1325880" cy="310896"/>
          </a:xfrm>
          <a:prstGeom prst="line">
            <a:avLst/>
          </a:prstGeom>
          <a:noFill/>
          <a:ln w="9525">
            <a:solidFill>
              <a:srgbClr val="8C989E"/>
            </a:solidFill>
            <a:prstDash val="solid"/>
          </a:ln>
        </p:spPr>
      </p:sp>
      <p:sp>
        <p:nvSpPr>
          <p:cNvPr id="34" name="Shape 31"/>
          <p:cNvSpPr/>
          <p:nvPr/>
        </p:nvSpPr>
        <p:spPr>
          <a:xfrm>
            <a:off x="8641080" y="3922776"/>
            <a:ext cx="1325880" cy="310896"/>
          </a:xfrm>
          <a:prstGeom prst="rect">
            <a:avLst/>
          </a:prstGeom>
          <a:solidFill>
            <a:srgbClr val="F2F2F2"/>
          </a:solidFill>
          <a:ln w="9525">
            <a:solidFill>
              <a:srgbClr val="8C989E"/>
            </a:solidFill>
            <a:prstDash val="solid"/>
          </a:ln>
        </p:spPr>
      </p:sp>
      <p:sp>
        <p:nvSpPr>
          <p:cNvPr id="35" name="Shape 32"/>
          <p:cNvSpPr/>
          <p:nvPr/>
        </p:nvSpPr>
        <p:spPr>
          <a:xfrm>
            <a:off x="8641080" y="3922776"/>
            <a:ext cx="1325880" cy="310896"/>
          </a:xfrm>
          <a:prstGeom prst="line">
            <a:avLst/>
          </a:prstGeom>
          <a:noFill/>
          <a:ln w="9525">
            <a:solidFill>
              <a:srgbClr val="8C989E"/>
            </a:solidFill>
            <a:prstDash val="solid"/>
          </a:ln>
        </p:spPr>
      </p:sp>
      <p:sp>
        <p:nvSpPr>
          <p:cNvPr id="36" name="Shape 33"/>
          <p:cNvSpPr/>
          <p:nvPr/>
        </p:nvSpPr>
        <p:spPr>
          <a:xfrm flipV="1">
            <a:off x="8641080" y="3922776"/>
            <a:ext cx="1325880" cy="310896"/>
          </a:xfrm>
          <a:prstGeom prst="line">
            <a:avLst/>
          </a:prstGeom>
          <a:noFill/>
          <a:ln w="9525">
            <a:solidFill>
              <a:srgbClr val="8C989E"/>
            </a:solidFill>
            <a:prstDash val="solid"/>
          </a:ln>
        </p:spPr>
      </p:sp>
      <p:sp>
        <p:nvSpPr>
          <p:cNvPr id="37" name="Shape 34"/>
          <p:cNvSpPr/>
          <p:nvPr/>
        </p:nvSpPr>
        <p:spPr>
          <a:xfrm>
            <a:off x="8641080" y="4288536"/>
            <a:ext cx="1325880" cy="310896"/>
          </a:xfrm>
          <a:prstGeom prst="rect">
            <a:avLst/>
          </a:prstGeom>
          <a:solidFill>
            <a:srgbClr val="F2F2F2"/>
          </a:solidFill>
          <a:ln w="9525">
            <a:solidFill>
              <a:srgbClr val="8C989E"/>
            </a:solidFill>
            <a:prstDash val="solid"/>
          </a:ln>
        </p:spPr>
      </p:sp>
      <p:sp>
        <p:nvSpPr>
          <p:cNvPr id="38" name="Shape 35"/>
          <p:cNvSpPr/>
          <p:nvPr/>
        </p:nvSpPr>
        <p:spPr>
          <a:xfrm>
            <a:off x="8641080" y="4288536"/>
            <a:ext cx="1325880" cy="310896"/>
          </a:xfrm>
          <a:prstGeom prst="line">
            <a:avLst/>
          </a:prstGeom>
          <a:noFill/>
          <a:ln w="9525">
            <a:solidFill>
              <a:srgbClr val="8C989E"/>
            </a:solidFill>
            <a:prstDash val="solid"/>
          </a:ln>
        </p:spPr>
      </p:sp>
      <p:sp>
        <p:nvSpPr>
          <p:cNvPr id="39" name="Shape 36"/>
          <p:cNvSpPr/>
          <p:nvPr/>
        </p:nvSpPr>
        <p:spPr>
          <a:xfrm flipV="1">
            <a:off x="8641080" y="4288536"/>
            <a:ext cx="1325880" cy="310896"/>
          </a:xfrm>
          <a:prstGeom prst="line">
            <a:avLst/>
          </a:prstGeom>
          <a:noFill/>
          <a:ln w="9525">
            <a:solidFill>
              <a:srgbClr val="8C989E"/>
            </a:solidFill>
            <a:prstDash val="solid"/>
          </a:ln>
        </p:spPr>
      </p:sp>
      <p:sp>
        <p:nvSpPr>
          <p:cNvPr id="40" name="Text 37"/>
          <p:cNvSpPr txBox="1"/>
          <p:nvPr/>
        </p:nvSpPr>
        <p:spPr>
          <a:xfrm>
            <a:off x="10104120" y="3904488"/>
            <a:ext cx="1325880" cy="365760"/>
          </a:xfrm>
          <a:prstGeom prst="rect">
            <a:avLst/>
          </a:prstGeom>
          <a:noFill/>
          <a:ln/>
        </p:spPr>
        <p:txBody>
          <a:bodyPr wrap="square" lIns="0" tIns="0" rIns="0" bIns="0" rtlCol="0" anchor="ctr"/>
          <a:lstStyle/>
          <a:p>
            <a:pPr indent="0" marL="0">
              <a:buNone/>
            </a:pPr>
            <a:r>
              <a:rPr lang="en-US" sz="1000" i="1" dirty="0">
                <a:solidFill>
                  <a:srgbClr val="595959"/>
                </a:solidFill>
                <a:latin typeface="Aptos" pitchFamily="34" charset="0"/>
                <a:ea typeface="Aptos" pitchFamily="34" charset="-122"/>
                <a:cs typeface="Aptos" pitchFamily="34" charset="-120"/>
              </a:rPr>
              <a:t>max-width: 100%</a:t>
            </a:r>
            <a:endParaRPr lang="en-US" sz="1000" dirty="0"/>
          </a:p>
        </p:txBody>
      </p:sp>
      <p:sp>
        <p:nvSpPr>
          <p:cNvPr id="41" name="Shape 38"/>
          <p:cNvSpPr/>
          <p:nvPr/>
        </p:nvSpPr>
        <p:spPr>
          <a:xfrm>
            <a:off x="8522208" y="4782312"/>
            <a:ext cx="3026664" cy="347472"/>
          </a:xfrm>
          <a:prstGeom prst="rect">
            <a:avLst/>
          </a:prstGeom>
          <a:solidFill>
            <a:srgbClr val="D7E7EE"/>
          </a:solidFill>
          <a:ln w="12700">
            <a:solidFill>
              <a:srgbClr val="1B5E82"/>
            </a:solidFill>
            <a:prstDash val="solid"/>
          </a:ln>
        </p:spPr>
      </p:sp>
      <p:sp>
        <p:nvSpPr>
          <p:cNvPr id="42" name="Text 39"/>
          <p:cNvSpPr txBox="1"/>
          <p:nvPr/>
        </p:nvSpPr>
        <p:spPr>
          <a:xfrm>
            <a:off x="8613648" y="4782312"/>
            <a:ext cx="2843784" cy="347472"/>
          </a:xfrm>
          <a:prstGeom prst="rect">
            <a:avLst/>
          </a:prstGeom>
          <a:noFill/>
          <a:ln/>
        </p:spPr>
        <p:txBody>
          <a:bodyPr wrap="square" lIns="0" tIns="0" rIns="0" bIns="0" rtlCol="0" anchor="ctr"/>
          <a:lstStyle/>
          <a:p>
            <a:pPr indent="0" marL="0">
              <a:buNone/>
            </a:pPr>
            <a:r>
              <a:rPr lang="en-US" sz="1100" dirty="0">
                <a:solidFill>
                  <a:srgbClr val="12304A"/>
                </a:solidFill>
                <a:latin typeface="Aptos" pitchFamily="34" charset="0"/>
                <a:ea typeface="Aptos" pitchFamily="34" charset="-122"/>
                <a:cs typeface="Aptos" pitchFamily="34" charset="-120"/>
              </a:rPr>
              <a:t>footer: © 2026 Sam Rivers</a:t>
            </a:r>
            <a:endParaRPr lang="en-US" sz="1100" dirty="0"/>
          </a:p>
        </p:txBody>
      </p:sp>
      <p:sp>
        <p:nvSpPr>
          <p:cNvPr id="43" name="Shape 40"/>
          <p:cNvSpPr/>
          <p:nvPr/>
        </p:nvSpPr>
        <p:spPr>
          <a:xfrm>
            <a:off x="4754880" y="5486400"/>
            <a:ext cx="6903720" cy="822960"/>
          </a:xfrm>
          <a:prstGeom prst="roundRect">
            <a:avLst>
              <a:gd name="adj" fmla="val 13333"/>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44" name="Shape 41"/>
          <p:cNvSpPr/>
          <p:nvPr/>
        </p:nvSpPr>
        <p:spPr>
          <a:xfrm>
            <a:off x="4983480" y="5742432"/>
            <a:ext cx="365760" cy="292608"/>
          </a:xfrm>
          <a:prstGeom prst="rect">
            <a:avLst/>
          </a:prstGeom>
          <a:solidFill>
            <a:srgbClr val="D7E7EE"/>
          </a:solidFill>
          <a:ln w="12700">
            <a:solidFill>
              <a:srgbClr val="1B5E82"/>
            </a:solidFill>
            <a:prstDash val="solid"/>
          </a:ln>
        </p:spPr>
      </p:sp>
      <p:sp>
        <p:nvSpPr>
          <p:cNvPr id="45" name="Text 42"/>
          <p:cNvSpPr txBox="1"/>
          <p:nvPr/>
        </p:nvSpPr>
        <p:spPr>
          <a:xfrm>
            <a:off x="5532120" y="5486400"/>
            <a:ext cx="5943600" cy="822960"/>
          </a:xfrm>
          <a:prstGeom prst="rect">
            <a:avLst/>
          </a:prstGeom>
          <a:noFill/>
          <a:ln/>
        </p:spPr>
        <p:txBody>
          <a:bodyPr wrap="square" lIns="0" tIns="0" rIns="0" bIns="0" rtlCol="0" anchor="ctr"/>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b="1" dirty="0">
                <a:solidFill>
                  <a:srgbClr val="262626"/>
                </a:solidFill>
                <a:latin typeface="Aptos" pitchFamily="34" charset="0"/>
                <a:ea typeface="Aptos" pitchFamily="34" charset="-122"/>
                <a:cs typeface="Aptos" pitchFamily="34" charset="-120"/>
              </a:rPr>
              <a:t>Same on both pages</a:t>
            </a:r>
            <a:pPr indent="0" marL="0">
              <a:buNone/>
            </a:pPr>
            <a:r>
              <a:rPr lang="en-US" sz="1400" dirty="0">
                <a:solidFill>
                  <a:srgbClr val="262626"/>
                </a:solidFill>
                <a:latin typeface="Aptos" pitchFamily="34" charset="0"/>
                <a:ea typeface="Aptos" pitchFamily="34" charset="-122"/>
                <a:cs typeface="Aptos" pitchFamily="34" charset="-120"/>
              </a:rPr>
              <a:t> → written the same way → </a:t>
            </a:r>
            <a:pPr indent="0" marL="0">
              <a:buNone/>
            </a:pPr>
            <a:r>
              <a:rPr lang="en-US" sz="1400" b="1" dirty="0">
                <a:solidFill>
                  <a:srgbClr val="262626"/>
                </a:solidFill>
                <a:latin typeface="Aptos" pitchFamily="34" charset="0"/>
                <a:ea typeface="Aptos" pitchFamily="34" charset="-122"/>
                <a:cs typeface="Aptos" pitchFamily="34" charset="-120"/>
              </a:rPr>
              <a:t>styled once, in style.css</a:t>
            </a:r>
            <a:pPr indent="0" marL="0">
              <a:buNone/>
            </a:pPr>
            <a:r>
              <a:rPr lang="en-US" sz="1400" dirty="0">
                <a:solidFill>
                  <a:srgbClr val="262626"/>
                </a:solidFill>
                <a:latin typeface="Aptos" pitchFamily="34" charset="0"/>
                <a:ea typeface="Aptos" pitchFamily="34" charset="-122"/>
                <a:cs typeface="Aptos" pitchFamily="34" charset="-120"/>
              </a:rPr>
              <a:t>. Only </a:t>
            </a:r>
            <a:pPr indent="0" marL="0">
              <a:buNone/>
            </a:pPr>
            <a:r>
              <a:rPr lang="en-US" sz="1400" dirty="0">
                <a:solidFill>
                  <a:srgbClr val="8A2B0B"/>
                </a:solidFill>
                <a:latin typeface="Consolas" pitchFamily="34" charset="0"/>
                <a:ea typeface="Consolas" pitchFamily="34" charset="-122"/>
                <a:cs typeface="Consolas" pitchFamily="34" charset="-120"/>
              </a:rPr>
              <a:t>main</a:t>
            </a:r>
            <a:pPr indent="0" marL="0">
              <a:buNone/>
            </a:pPr>
            <a:r>
              <a:rPr lang="en-US" sz="1400" dirty="0">
                <a:solidFill>
                  <a:srgbClr val="262626"/>
                </a:solidFill>
                <a:latin typeface="Aptos" pitchFamily="34" charset="0"/>
                <a:ea typeface="Aptos" pitchFamily="34" charset="-122"/>
                <a:cs typeface="Aptos" pitchFamily="34" charset="-120"/>
              </a:rPr>
              <a:t> changes.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One Stylesheet, Many Pages</a:t>
            </a:r>
            <a:endParaRPr lang="en-US" sz="2800" dirty="0"/>
          </a:p>
        </p:txBody>
      </p:sp>
      <p:sp>
        <p:nvSpPr>
          <p:cNvPr id="4" name="Shape 1"/>
          <p:cNvSpPr/>
          <p:nvPr/>
        </p:nvSpPr>
        <p:spPr>
          <a:xfrm>
            <a:off x="685800" y="1371600"/>
            <a:ext cx="3291840" cy="1554480"/>
          </a:xfrm>
          <a:prstGeom prst="roundRect">
            <a:avLst>
              <a:gd name="adj" fmla="val 7059"/>
            </a:avLst>
          </a:prstGeom>
          <a:solidFill>
            <a:srgbClr val="FFFFFF"/>
          </a:solidFill>
          <a:ln w="9525">
            <a:solidFill>
              <a:srgbClr val="D0D7DB"/>
            </a:solidFill>
            <a:prstDash val="solid"/>
          </a:ln>
        </p:spPr>
      </p:sp>
      <p:sp>
        <p:nvSpPr>
          <p:cNvPr id="5" name="Text 2"/>
          <p:cNvSpPr txBox="1"/>
          <p:nvPr/>
        </p:nvSpPr>
        <p:spPr>
          <a:xfrm>
            <a:off x="868680" y="1481328"/>
            <a:ext cx="2926080" cy="365760"/>
          </a:xfrm>
          <a:prstGeom prst="rect">
            <a:avLst/>
          </a:prstGeom>
          <a:noFill/>
          <a:ln/>
        </p:spPr>
        <p:txBody>
          <a:bodyPr wrap="square" lIns="0" tIns="0" rIns="0" bIns="0" rtlCol="0" anchor="ctr"/>
          <a:lstStyle/>
          <a:p>
            <a:pPr indent="0" marL="0">
              <a:buNone/>
            </a:pPr>
            <a:r>
              <a:rPr lang="en-US" sz="1600" b="1" dirty="0">
                <a:solidFill>
                  <a:srgbClr val="000000"/>
                </a:solidFill>
                <a:latin typeface="Consolas" pitchFamily="34" charset="0"/>
                <a:ea typeface="Consolas" pitchFamily="34" charset="-122"/>
                <a:cs typeface="Consolas" pitchFamily="34" charset="-120"/>
              </a:rPr>
              <a:t>index.html</a:t>
            </a:r>
            <a:endParaRPr lang="en-US" sz="1600" dirty="0"/>
          </a:p>
        </p:txBody>
      </p:sp>
      <p:sp>
        <p:nvSpPr>
          <p:cNvPr id="6" name="Text 3"/>
          <p:cNvSpPr txBox="1"/>
          <p:nvPr/>
        </p:nvSpPr>
        <p:spPr>
          <a:xfrm>
            <a:off x="868680" y="1828800"/>
            <a:ext cx="2926080" cy="274320"/>
          </a:xfrm>
          <a:prstGeom prst="rect">
            <a:avLst/>
          </a:prstGeom>
          <a:noFill/>
          <a:ln/>
        </p:spPr>
        <p:txBody>
          <a:bodyPr wrap="square" lIns="0" tIns="0" rIns="0" bIns="0" rtlCol="0" anchor="ctr"/>
          <a:lstStyle/>
          <a:p>
            <a:pPr indent="0" marL="0">
              <a:buNone/>
            </a:pPr>
            <a:r>
              <a:rPr lang="en-US" sz="1200" i="1" dirty="0">
                <a:solidFill>
                  <a:srgbClr val="595959"/>
                </a:solidFill>
                <a:latin typeface="Aptos" pitchFamily="34" charset="0"/>
                <a:ea typeface="Aptos" pitchFamily="34" charset="-122"/>
                <a:cs typeface="Aptos" pitchFamily="34" charset="-120"/>
              </a:rPr>
              <a:t>About Me</a:t>
            </a:r>
            <a:endParaRPr lang="en-US" sz="1200" dirty="0"/>
          </a:p>
        </p:txBody>
      </p:sp>
      <p:sp>
        <p:nvSpPr>
          <p:cNvPr id="7" name="Shape 4"/>
          <p:cNvSpPr/>
          <p:nvPr/>
        </p:nvSpPr>
        <p:spPr>
          <a:xfrm>
            <a:off x="822960" y="2212848"/>
            <a:ext cx="3017520" cy="530352"/>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918423" y="2308311"/>
            <a:ext cx="2826593" cy="339425"/>
          </a:xfrm>
          <a:prstGeom prst="rect">
            <a:avLst/>
          </a:prstGeom>
          <a:noFill/>
          <a:ln/>
        </p:spPr>
        <p:txBody>
          <a:bodyPr wrap="square" lIns="0" tIns="0" rIns="0" bIns="0" rtlCol="0" anchor="t"/>
          <a:lstStyle/>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link</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rel</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"stylesheet"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"style.css"</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p:txBody>
      </p:sp>
      <p:sp>
        <p:nvSpPr>
          <p:cNvPr id="9" name="Shape 6"/>
          <p:cNvSpPr/>
          <p:nvPr/>
        </p:nvSpPr>
        <p:spPr>
          <a:xfrm>
            <a:off x="2331720" y="2971800"/>
            <a:ext cx="2941168" cy="777240"/>
          </a:xfrm>
          <a:prstGeom prst="line">
            <a:avLst/>
          </a:prstGeom>
          <a:noFill/>
          <a:ln w="25400">
            <a:solidFill>
              <a:srgbClr val="12304A"/>
            </a:solidFill>
            <a:prstDash val="solid"/>
            <a:tailEnd type="triangle"/>
          </a:ln>
        </p:spPr>
      </p:sp>
      <p:sp>
        <p:nvSpPr>
          <p:cNvPr id="10" name="Shape 7"/>
          <p:cNvSpPr/>
          <p:nvPr/>
        </p:nvSpPr>
        <p:spPr>
          <a:xfrm>
            <a:off x="4453128" y="1371600"/>
            <a:ext cx="3291840" cy="1554480"/>
          </a:xfrm>
          <a:prstGeom prst="roundRect">
            <a:avLst>
              <a:gd name="adj" fmla="val 7059"/>
            </a:avLst>
          </a:prstGeom>
          <a:solidFill>
            <a:srgbClr val="FFFFFF"/>
          </a:solidFill>
          <a:ln w="9525">
            <a:solidFill>
              <a:srgbClr val="D0D7DB"/>
            </a:solidFill>
            <a:prstDash val="solid"/>
          </a:ln>
        </p:spPr>
      </p:sp>
      <p:sp>
        <p:nvSpPr>
          <p:cNvPr id="11" name="Text 8"/>
          <p:cNvSpPr txBox="1"/>
          <p:nvPr/>
        </p:nvSpPr>
        <p:spPr>
          <a:xfrm>
            <a:off x="4636008" y="1481328"/>
            <a:ext cx="2926080" cy="365760"/>
          </a:xfrm>
          <a:prstGeom prst="rect">
            <a:avLst/>
          </a:prstGeom>
          <a:noFill/>
          <a:ln/>
        </p:spPr>
        <p:txBody>
          <a:bodyPr wrap="square" lIns="0" tIns="0" rIns="0" bIns="0" rtlCol="0" anchor="ctr"/>
          <a:lstStyle/>
          <a:p>
            <a:pPr indent="0" marL="0">
              <a:buNone/>
            </a:pPr>
            <a:r>
              <a:rPr lang="en-US" sz="1600" b="1" dirty="0">
                <a:solidFill>
                  <a:srgbClr val="000000"/>
                </a:solidFill>
                <a:latin typeface="Consolas" pitchFamily="34" charset="0"/>
                <a:ea typeface="Consolas" pitchFamily="34" charset="-122"/>
                <a:cs typeface="Consolas" pitchFamily="34" charset="-120"/>
              </a:rPr>
              <a:t>portfolio.html</a:t>
            </a:r>
            <a:endParaRPr lang="en-US" sz="1600" dirty="0"/>
          </a:p>
        </p:txBody>
      </p:sp>
      <p:sp>
        <p:nvSpPr>
          <p:cNvPr id="12" name="Text 9"/>
          <p:cNvSpPr txBox="1"/>
          <p:nvPr/>
        </p:nvSpPr>
        <p:spPr>
          <a:xfrm>
            <a:off x="4636008" y="1828800"/>
            <a:ext cx="2926080" cy="274320"/>
          </a:xfrm>
          <a:prstGeom prst="rect">
            <a:avLst/>
          </a:prstGeom>
          <a:noFill/>
          <a:ln/>
        </p:spPr>
        <p:txBody>
          <a:bodyPr wrap="square" lIns="0" tIns="0" rIns="0" bIns="0" rtlCol="0" anchor="ctr"/>
          <a:lstStyle/>
          <a:p>
            <a:pPr indent="0" marL="0">
              <a:buNone/>
            </a:pPr>
            <a:r>
              <a:rPr lang="en-US" sz="1200" i="1" dirty="0">
                <a:solidFill>
                  <a:srgbClr val="595959"/>
                </a:solidFill>
                <a:latin typeface="Aptos" pitchFamily="34" charset="0"/>
                <a:ea typeface="Aptos" pitchFamily="34" charset="-122"/>
                <a:cs typeface="Aptos" pitchFamily="34" charset="-120"/>
              </a:rPr>
              <a:t>Portfolio</a:t>
            </a:r>
            <a:endParaRPr lang="en-US" sz="1200" dirty="0"/>
          </a:p>
        </p:txBody>
      </p:sp>
      <p:sp>
        <p:nvSpPr>
          <p:cNvPr id="13" name="Shape 10"/>
          <p:cNvSpPr/>
          <p:nvPr/>
        </p:nvSpPr>
        <p:spPr>
          <a:xfrm>
            <a:off x="4590288" y="2212848"/>
            <a:ext cx="3017520" cy="530352"/>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4" name="Text 11"/>
          <p:cNvSpPr txBox="1"/>
          <p:nvPr/>
        </p:nvSpPr>
        <p:spPr>
          <a:xfrm>
            <a:off x="4685751" y="2308311"/>
            <a:ext cx="2826593" cy="339425"/>
          </a:xfrm>
          <a:prstGeom prst="rect">
            <a:avLst/>
          </a:prstGeom>
          <a:noFill/>
          <a:ln/>
        </p:spPr>
        <p:txBody>
          <a:bodyPr wrap="square" lIns="0" tIns="0" rIns="0" bIns="0" rtlCol="0" anchor="t"/>
          <a:lstStyle/>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link</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rel</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"stylesheet"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"style.css"</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p:txBody>
      </p:sp>
      <p:sp>
        <p:nvSpPr>
          <p:cNvPr id="15" name="Shape 12"/>
          <p:cNvSpPr/>
          <p:nvPr/>
        </p:nvSpPr>
        <p:spPr>
          <a:xfrm flipH="1">
            <a:off x="6095848" y="2971800"/>
            <a:ext cx="3200" cy="777240"/>
          </a:xfrm>
          <a:prstGeom prst="line">
            <a:avLst/>
          </a:prstGeom>
          <a:noFill/>
          <a:ln w="25400">
            <a:solidFill>
              <a:srgbClr val="12304A"/>
            </a:solidFill>
            <a:prstDash val="solid"/>
            <a:tailEnd type="triangle"/>
          </a:ln>
        </p:spPr>
      </p:sp>
      <p:sp>
        <p:nvSpPr>
          <p:cNvPr id="16" name="Shape 13"/>
          <p:cNvSpPr/>
          <p:nvPr/>
        </p:nvSpPr>
        <p:spPr>
          <a:xfrm>
            <a:off x="8220456" y="1371600"/>
            <a:ext cx="3291840" cy="1554480"/>
          </a:xfrm>
          <a:prstGeom prst="roundRect">
            <a:avLst>
              <a:gd name="adj" fmla="val 7059"/>
            </a:avLst>
          </a:prstGeom>
          <a:solidFill>
            <a:srgbClr val="F4F7F8"/>
          </a:solidFill>
          <a:ln w="15875">
            <a:solidFill>
              <a:srgbClr val="7F7F7F"/>
            </a:solidFill>
            <a:prstDash val="dash"/>
          </a:ln>
        </p:spPr>
      </p:sp>
      <p:sp>
        <p:nvSpPr>
          <p:cNvPr id="17" name="Text 14"/>
          <p:cNvSpPr txBox="1"/>
          <p:nvPr/>
        </p:nvSpPr>
        <p:spPr>
          <a:xfrm>
            <a:off x="8403336" y="1481328"/>
            <a:ext cx="2926080" cy="365760"/>
          </a:xfrm>
          <a:prstGeom prst="rect">
            <a:avLst/>
          </a:prstGeom>
          <a:noFill/>
          <a:ln/>
        </p:spPr>
        <p:txBody>
          <a:bodyPr wrap="square" lIns="0" tIns="0" rIns="0" bIns="0" rtlCol="0" anchor="ctr"/>
          <a:lstStyle/>
          <a:p>
            <a:pPr indent="0" marL="0">
              <a:buNone/>
            </a:pPr>
            <a:r>
              <a:rPr lang="en-US" sz="1600" b="1" dirty="0">
                <a:solidFill>
                  <a:srgbClr val="595959"/>
                </a:solidFill>
                <a:latin typeface="Consolas" pitchFamily="34" charset="0"/>
                <a:ea typeface="Consolas" pitchFamily="34" charset="-122"/>
                <a:cs typeface="Consolas" pitchFamily="34" charset="-120"/>
              </a:rPr>
              <a:t>contact.html</a:t>
            </a:r>
            <a:endParaRPr lang="en-US" sz="1600" dirty="0"/>
          </a:p>
        </p:txBody>
      </p:sp>
      <p:sp>
        <p:nvSpPr>
          <p:cNvPr id="18" name="Text 15"/>
          <p:cNvSpPr txBox="1"/>
          <p:nvPr/>
        </p:nvSpPr>
        <p:spPr>
          <a:xfrm>
            <a:off x="8403336" y="1828800"/>
            <a:ext cx="2926080" cy="274320"/>
          </a:xfrm>
          <a:prstGeom prst="rect">
            <a:avLst/>
          </a:prstGeom>
          <a:noFill/>
          <a:ln/>
        </p:spPr>
        <p:txBody>
          <a:bodyPr wrap="square" lIns="0" tIns="0" rIns="0" bIns="0" rtlCol="0" anchor="ctr"/>
          <a:lstStyle/>
          <a:p>
            <a:pPr indent="0" marL="0">
              <a:buNone/>
            </a:pPr>
            <a:r>
              <a:rPr lang="en-US" sz="1200" i="1" dirty="0">
                <a:solidFill>
                  <a:srgbClr val="595959"/>
                </a:solidFill>
                <a:latin typeface="Aptos" pitchFamily="34" charset="0"/>
                <a:ea typeface="Aptos" pitchFamily="34" charset="-122"/>
                <a:cs typeface="Aptos" pitchFamily="34" charset="-120"/>
              </a:rPr>
              <a:t>Any page you add later</a:t>
            </a:r>
            <a:endParaRPr lang="en-US" sz="1200" dirty="0"/>
          </a:p>
        </p:txBody>
      </p:sp>
      <p:sp>
        <p:nvSpPr>
          <p:cNvPr id="19" name="Shape 16"/>
          <p:cNvSpPr/>
          <p:nvPr/>
        </p:nvSpPr>
        <p:spPr>
          <a:xfrm>
            <a:off x="8357616" y="2212848"/>
            <a:ext cx="3017520" cy="530352"/>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0" name="Text 17"/>
          <p:cNvSpPr txBox="1"/>
          <p:nvPr/>
        </p:nvSpPr>
        <p:spPr>
          <a:xfrm>
            <a:off x="8453079" y="2308311"/>
            <a:ext cx="2826593" cy="339425"/>
          </a:xfrm>
          <a:prstGeom prst="rect">
            <a:avLst/>
          </a:prstGeom>
          <a:noFill/>
          <a:ln/>
        </p:spPr>
        <p:txBody>
          <a:bodyPr wrap="square" lIns="0" tIns="0" rIns="0" bIns="0" rtlCol="0" anchor="t"/>
          <a:lstStyle/>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link</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rel</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"stylesheet"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"style.css"</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p:txBody>
      </p:sp>
      <p:sp>
        <p:nvSpPr>
          <p:cNvPr id="21" name="Shape 18"/>
          <p:cNvSpPr/>
          <p:nvPr/>
        </p:nvSpPr>
        <p:spPr>
          <a:xfrm flipH="1">
            <a:off x="6918808" y="2971800"/>
            <a:ext cx="2947568" cy="777240"/>
          </a:xfrm>
          <a:prstGeom prst="line">
            <a:avLst/>
          </a:prstGeom>
          <a:noFill/>
          <a:ln w="25400">
            <a:solidFill>
              <a:srgbClr val="7F7F7F"/>
            </a:solidFill>
            <a:prstDash val="dash"/>
            <a:tailEnd type="triangle"/>
          </a:ln>
        </p:spPr>
      </p:sp>
      <p:sp>
        <p:nvSpPr>
          <p:cNvPr id="22" name="Text 19"/>
          <p:cNvSpPr txBox="1"/>
          <p:nvPr/>
        </p:nvSpPr>
        <p:spPr>
          <a:xfrm>
            <a:off x="822960" y="3108960"/>
            <a:ext cx="2926080" cy="320040"/>
          </a:xfrm>
          <a:prstGeom prst="rect">
            <a:avLst/>
          </a:prstGeom>
          <a:noFill/>
          <a:ln/>
        </p:spPr>
        <p:txBody>
          <a:bodyPr wrap="square" lIns="0" tIns="0" rIns="0" bIns="0" rtlCol="0" anchor="ctr"/>
          <a:lstStyle/>
          <a:p>
            <a:pPr indent="0" marL="0">
              <a:buNone/>
            </a:pPr>
            <a:r>
              <a:rPr lang="en-US" sz="1200" i="1" dirty="0">
                <a:solidFill>
                  <a:srgbClr val="12304A"/>
                </a:solidFill>
                <a:latin typeface="Aptos" pitchFamily="34" charset="0"/>
                <a:ea typeface="Aptos" pitchFamily="34" charset="-122"/>
                <a:cs typeface="Aptos" pitchFamily="34" charset="-120"/>
              </a:rPr>
              <a:t>each page links to it</a:t>
            </a:r>
            <a:endParaRPr lang="en-US" sz="1200" dirty="0"/>
          </a:p>
        </p:txBody>
      </p:sp>
      <p:sp>
        <p:nvSpPr>
          <p:cNvPr id="23" name="Shape 20"/>
          <p:cNvSpPr/>
          <p:nvPr/>
        </p:nvSpPr>
        <p:spPr>
          <a:xfrm>
            <a:off x="4724248" y="3794760"/>
            <a:ext cx="2743200" cy="868680"/>
          </a:xfrm>
          <a:prstGeom prst="roundRect">
            <a:avLst>
              <a:gd name="adj" fmla="val 12632"/>
            </a:avLst>
          </a:prstGeom>
          <a:solidFill>
            <a:srgbClr val="E97132"/>
          </a:solidFill>
          <a:ln w="12700">
            <a:solidFill>
              <a:srgbClr val="E97132"/>
            </a:solidFill>
            <a:prstDash val="solid"/>
          </a:ln>
          <a:effectLst>
            <a:outerShdw sx="100000" sy="100000" kx="0" ky="0" algn="bl" rotWithShape="0" blurRad="76200" dist="25400" dir="5400000">
              <a:srgbClr val="000000">
                <a:alpha val="20000"/>
              </a:srgbClr>
            </a:outerShdw>
          </a:effectLst>
        </p:spPr>
      </p:sp>
      <p:sp>
        <p:nvSpPr>
          <p:cNvPr id="24" name="Text 21"/>
          <p:cNvSpPr txBox="1"/>
          <p:nvPr/>
        </p:nvSpPr>
        <p:spPr>
          <a:xfrm>
            <a:off x="4724248" y="3867912"/>
            <a:ext cx="2743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style.css</a:t>
            </a:r>
            <a:endParaRPr lang="en-US" sz="2200" dirty="0"/>
          </a:p>
        </p:txBody>
      </p:sp>
      <p:sp>
        <p:nvSpPr>
          <p:cNvPr id="25" name="Text 22"/>
          <p:cNvSpPr txBox="1"/>
          <p:nvPr/>
        </p:nvSpPr>
        <p:spPr>
          <a:xfrm>
            <a:off x="4724248" y="4297680"/>
            <a:ext cx="27432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ONE file, for every page</a:t>
            </a:r>
            <a:endParaRPr lang="en-US" sz="1200" dirty="0"/>
          </a:p>
        </p:txBody>
      </p:sp>
      <p:sp>
        <p:nvSpPr>
          <p:cNvPr id="26" name="Shape 23"/>
          <p:cNvSpPr/>
          <p:nvPr/>
        </p:nvSpPr>
        <p:spPr>
          <a:xfrm>
            <a:off x="685800" y="3703320"/>
            <a:ext cx="365760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868680" y="3703320"/>
            <a:ext cx="3291840" cy="1051560"/>
          </a:xfrm>
          <a:prstGeom prst="rect">
            <a:avLst/>
          </a:prstGeom>
          <a:noFill/>
          <a:ln/>
        </p:spPr>
        <p:txBody>
          <a:bodyPr wrap="square" lIns="0" tIns="0" rIns="0" bIns="0" rtlCol="0" anchor="ctr"/>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b="1" dirty="0">
                <a:solidFill>
                  <a:srgbClr val="262626"/>
                </a:solidFill>
                <a:latin typeface="Aptos" pitchFamily="34" charset="0"/>
                <a:ea typeface="Aptos" pitchFamily="34" charset="-122"/>
                <a:cs typeface="Aptos" pitchFamily="34" charset="-120"/>
              </a:rPr>
              <a:t>Change a colour here </a:t>
            </a:r>
            <a:pPr indent="0" marL="0">
              <a:buNone/>
            </a:pPr>
            <a:r>
              <a:rPr lang="en-US" sz="1400" b="1" dirty="0">
                <a:solidFill>
                  <a:srgbClr val="262626"/>
                </a:solidFill>
                <a:latin typeface="Aptos" pitchFamily="34" charset="0"/>
                <a:ea typeface="Aptos" pitchFamily="34" charset="-122"/>
                <a:cs typeface="Aptos" pitchFamily="34" charset="-120"/>
              </a:rPr>
              <a:t>once</a:t>
            </a:r>
            <a:pPr indent="0" marL="0">
              <a:buNone/>
            </a:pPr>
            <a:r>
              <a:rPr lang="en-US" sz="1400" dirty="0">
                <a:solidFill>
                  <a:srgbClr val="262626"/>
                </a:solidFill>
                <a:latin typeface="Aptos" pitchFamily="34" charset="0"/>
                <a:ea typeface="Aptos" pitchFamily="34" charset="-122"/>
                <a:cs typeface="Aptos" pitchFamily="34" charset="-120"/>
              </a:rPr>
              <a:t> → every page changes.</a:t>
            </a:r>
            <a:endParaRPr lang="en-US" sz="1400" dirty="0"/>
          </a:p>
        </p:txBody>
      </p:sp>
      <p:sp>
        <p:nvSpPr>
          <p:cNvPr id="28" name="Shape 25"/>
          <p:cNvSpPr/>
          <p:nvPr/>
        </p:nvSpPr>
        <p:spPr>
          <a:xfrm>
            <a:off x="7985455" y="3703320"/>
            <a:ext cx="365760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8168335" y="3703320"/>
            <a:ext cx="3291840" cy="1051560"/>
          </a:xfrm>
          <a:prstGeom prst="rect">
            <a:avLst/>
          </a:prstGeom>
          <a:noFill/>
          <a:ln/>
        </p:spPr>
        <p:txBody>
          <a:bodyPr wrap="square" lIns="0" tIns="0" rIns="0" bIns="0" rtlCol="0" anchor="ctr"/>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 new page gets the whole look </a:t>
            </a:r>
            <a:pPr indent="0" marL="0">
              <a:buNone/>
            </a:pPr>
            <a:r>
              <a:rPr lang="en-US" sz="1400" b="1" dirty="0">
                <a:solidFill>
                  <a:srgbClr val="262626"/>
                </a:solidFill>
                <a:latin typeface="Aptos" pitchFamily="34" charset="0"/>
                <a:ea typeface="Aptos" pitchFamily="34" charset="-122"/>
                <a:cs typeface="Aptos" pitchFamily="34" charset="-120"/>
              </a:rPr>
              <a:t>for free</a:t>
            </a:r>
            <a:pPr indent="0" marL="0">
              <a:buNone/>
            </a:pPr>
            <a:r>
              <a:rPr lang="en-US" sz="1400" dirty="0">
                <a:solidFill>
                  <a:srgbClr val="262626"/>
                </a:solidFill>
                <a:latin typeface="Aptos" pitchFamily="34" charset="0"/>
                <a:ea typeface="Aptos" pitchFamily="34" charset="-122"/>
                <a:cs typeface="Aptos" pitchFamily="34" charset="-120"/>
              </a:rPr>
              <a:t>: just keep the </a:t>
            </a:r>
            <a:pPr indent="0" marL="0">
              <a:buNone/>
            </a:pPr>
            <a:r>
              <a:rPr lang="en-US" sz="1400" dirty="0">
                <a:solidFill>
                  <a:srgbClr val="8A2B0B"/>
                </a:solidFill>
                <a:latin typeface="Consolas" pitchFamily="34" charset="0"/>
                <a:ea typeface="Consolas" pitchFamily="34" charset="-122"/>
                <a:cs typeface="Consolas" pitchFamily="34" charset="-120"/>
              </a:rPr>
              <a:t>&lt;link&gt;</a:t>
            </a:r>
            <a:pPr indent="0" marL="0">
              <a:buNone/>
            </a:pPr>
            <a:r>
              <a:rPr lang="en-US" sz="1400" dirty="0">
                <a:solidFill>
                  <a:srgbClr val="262626"/>
                </a:solidFill>
                <a:latin typeface="Aptos" pitchFamily="34" charset="0"/>
                <a:ea typeface="Aptos" pitchFamily="34" charset="-122"/>
                <a:cs typeface="Aptos" pitchFamily="34" charset="-120"/>
              </a:rPr>
              <a:t>.</a:t>
            </a:r>
            <a:endParaRPr lang="en-US" sz="1400" dirty="0"/>
          </a:p>
        </p:txBody>
      </p:sp>
      <p:sp>
        <p:nvSpPr>
          <p:cNvPr id="30" name="Shape 27"/>
          <p:cNvSpPr/>
          <p:nvPr/>
        </p:nvSpPr>
        <p:spPr>
          <a:xfrm>
            <a:off x="6095848" y="4709160"/>
            <a:ext cx="0" cy="457200"/>
          </a:xfrm>
          <a:prstGeom prst="line">
            <a:avLst/>
          </a:prstGeom>
          <a:noFill/>
          <a:ln w="31750">
            <a:solidFill>
              <a:srgbClr val="E97132"/>
            </a:solidFill>
            <a:prstDash val="solid"/>
            <a:tailEnd type="triangle"/>
          </a:ln>
        </p:spPr>
      </p:sp>
      <p:sp>
        <p:nvSpPr>
          <p:cNvPr id="31" name="Shape 28"/>
          <p:cNvSpPr/>
          <p:nvPr/>
        </p:nvSpPr>
        <p:spPr>
          <a:xfrm>
            <a:off x="685800" y="5257800"/>
            <a:ext cx="10957255" cy="1097280"/>
          </a:xfrm>
          <a:prstGeom prst="roundRect">
            <a:avLst>
              <a:gd name="adj" fmla="val 10000"/>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32" name="Text 29"/>
          <p:cNvSpPr txBox="1"/>
          <p:nvPr/>
        </p:nvSpPr>
        <p:spPr>
          <a:xfrm>
            <a:off x="914400" y="5257800"/>
            <a:ext cx="6035040" cy="109728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Every page: the same fonts, colours, header and nav</a:t>
            </a:r>
            <a:endParaRPr lang="en-US" sz="1700" dirty="0"/>
          </a:p>
        </p:txBody>
      </p:sp>
      <p:sp>
        <p:nvSpPr>
          <p:cNvPr id="33" name="Shape 30"/>
          <p:cNvSpPr/>
          <p:nvPr/>
        </p:nvSpPr>
        <p:spPr>
          <a:xfrm>
            <a:off x="7223760" y="5440680"/>
            <a:ext cx="1097280" cy="731520"/>
          </a:xfrm>
          <a:prstGeom prst="rect">
            <a:avLst/>
          </a:prstGeom>
          <a:solidFill>
            <a:srgbClr val="FFFFFF"/>
          </a:solidFill>
          <a:ln w="12700">
            <a:solidFill>
              <a:srgbClr val="FFFFFF"/>
            </a:solidFill>
            <a:prstDash val="solid"/>
          </a:ln>
        </p:spPr>
      </p:sp>
      <p:sp>
        <p:nvSpPr>
          <p:cNvPr id="34" name="Shape 31"/>
          <p:cNvSpPr/>
          <p:nvPr/>
        </p:nvSpPr>
        <p:spPr>
          <a:xfrm>
            <a:off x="7223760" y="5440680"/>
            <a:ext cx="1097280" cy="182880"/>
          </a:xfrm>
          <a:prstGeom prst="rect">
            <a:avLst/>
          </a:prstGeom>
          <a:solidFill>
            <a:srgbClr val="12304A"/>
          </a:solidFill>
          <a:ln w="12700">
            <a:solidFill>
              <a:srgbClr val="12304A"/>
            </a:solidFill>
            <a:prstDash val="solid"/>
          </a:ln>
        </p:spPr>
      </p:sp>
      <p:sp>
        <p:nvSpPr>
          <p:cNvPr id="35" name="Shape 32"/>
          <p:cNvSpPr/>
          <p:nvPr/>
        </p:nvSpPr>
        <p:spPr>
          <a:xfrm>
            <a:off x="7333488" y="5715000"/>
            <a:ext cx="548640" cy="73152"/>
          </a:xfrm>
          <a:prstGeom prst="rect">
            <a:avLst/>
          </a:prstGeom>
          <a:solidFill>
            <a:srgbClr val="12304A"/>
          </a:solidFill>
          <a:ln w="12700">
            <a:solidFill>
              <a:srgbClr val="12304A"/>
            </a:solidFill>
            <a:prstDash val="solid"/>
          </a:ln>
        </p:spPr>
      </p:sp>
      <p:sp>
        <p:nvSpPr>
          <p:cNvPr id="36" name="Shape 33"/>
          <p:cNvSpPr/>
          <p:nvPr/>
        </p:nvSpPr>
        <p:spPr>
          <a:xfrm>
            <a:off x="7333488" y="5879592"/>
            <a:ext cx="877824" cy="45720"/>
          </a:xfrm>
          <a:prstGeom prst="rect">
            <a:avLst/>
          </a:prstGeom>
          <a:solidFill>
            <a:srgbClr val="C8CED1"/>
          </a:solidFill>
          <a:ln w="12700">
            <a:solidFill>
              <a:srgbClr val="C8CED1"/>
            </a:solidFill>
            <a:prstDash val="solid"/>
          </a:ln>
        </p:spPr>
      </p:sp>
      <p:sp>
        <p:nvSpPr>
          <p:cNvPr id="37" name="Shape 34"/>
          <p:cNvSpPr/>
          <p:nvPr/>
        </p:nvSpPr>
        <p:spPr>
          <a:xfrm>
            <a:off x="7333488" y="5998464"/>
            <a:ext cx="640080" cy="45720"/>
          </a:xfrm>
          <a:prstGeom prst="rect">
            <a:avLst/>
          </a:prstGeom>
          <a:solidFill>
            <a:srgbClr val="C8CED1"/>
          </a:solidFill>
          <a:ln w="12700">
            <a:solidFill>
              <a:srgbClr val="C8CED1"/>
            </a:solidFill>
            <a:prstDash val="solid"/>
          </a:ln>
        </p:spPr>
      </p:sp>
      <p:sp>
        <p:nvSpPr>
          <p:cNvPr id="38" name="Shape 35"/>
          <p:cNvSpPr/>
          <p:nvPr/>
        </p:nvSpPr>
        <p:spPr>
          <a:xfrm>
            <a:off x="8595360" y="5440680"/>
            <a:ext cx="1097280" cy="731520"/>
          </a:xfrm>
          <a:prstGeom prst="rect">
            <a:avLst/>
          </a:prstGeom>
          <a:solidFill>
            <a:srgbClr val="FFFFFF"/>
          </a:solidFill>
          <a:ln w="12700">
            <a:solidFill>
              <a:srgbClr val="FFFFFF"/>
            </a:solidFill>
            <a:prstDash val="solid"/>
          </a:ln>
        </p:spPr>
      </p:sp>
      <p:sp>
        <p:nvSpPr>
          <p:cNvPr id="39" name="Shape 36"/>
          <p:cNvSpPr/>
          <p:nvPr/>
        </p:nvSpPr>
        <p:spPr>
          <a:xfrm>
            <a:off x="8595360" y="5440680"/>
            <a:ext cx="1097280" cy="182880"/>
          </a:xfrm>
          <a:prstGeom prst="rect">
            <a:avLst/>
          </a:prstGeom>
          <a:solidFill>
            <a:srgbClr val="12304A"/>
          </a:solidFill>
          <a:ln w="12700">
            <a:solidFill>
              <a:srgbClr val="12304A"/>
            </a:solidFill>
            <a:prstDash val="solid"/>
          </a:ln>
        </p:spPr>
      </p:sp>
      <p:sp>
        <p:nvSpPr>
          <p:cNvPr id="40" name="Shape 37"/>
          <p:cNvSpPr/>
          <p:nvPr/>
        </p:nvSpPr>
        <p:spPr>
          <a:xfrm>
            <a:off x="8705088" y="5715000"/>
            <a:ext cx="548640" cy="73152"/>
          </a:xfrm>
          <a:prstGeom prst="rect">
            <a:avLst/>
          </a:prstGeom>
          <a:solidFill>
            <a:srgbClr val="12304A"/>
          </a:solidFill>
          <a:ln w="12700">
            <a:solidFill>
              <a:srgbClr val="12304A"/>
            </a:solidFill>
            <a:prstDash val="solid"/>
          </a:ln>
        </p:spPr>
      </p:sp>
      <p:sp>
        <p:nvSpPr>
          <p:cNvPr id="41" name="Shape 38"/>
          <p:cNvSpPr/>
          <p:nvPr/>
        </p:nvSpPr>
        <p:spPr>
          <a:xfrm>
            <a:off x="8705088" y="5879592"/>
            <a:ext cx="877824" cy="45720"/>
          </a:xfrm>
          <a:prstGeom prst="rect">
            <a:avLst/>
          </a:prstGeom>
          <a:solidFill>
            <a:srgbClr val="C8CED1"/>
          </a:solidFill>
          <a:ln w="12700">
            <a:solidFill>
              <a:srgbClr val="C8CED1"/>
            </a:solidFill>
            <a:prstDash val="solid"/>
          </a:ln>
        </p:spPr>
      </p:sp>
      <p:sp>
        <p:nvSpPr>
          <p:cNvPr id="42" name="Shape 39"/>
          <p:cNvSpPr/>
          <p:nvPr/>
        </p:nvSpPr>
        <p:spPr>
          <a:xfrm>
            <a:off x="8705088" y="5998464"/>
            <a:ext cx="640080" cy="45720"/>
          </a:xfrm>
          <a:prstGeom prst="rect">
            <a:avLst/>
          </a:prstGeom>
          <a:solidFill>
            <a:srgbClr val="C8CED1"/>
          </a:solidFill>
          <a:ln w="12700">
            <a:solidFill>
              <a:srgbClr val="C8CED1"/>
            </a:solidFill>
            <a:prstDash val="solid"/>
          </a:ln>
        </p:spPr>
      </p:sp>
      <p:sp>
        <p:nvSpPr>
          <p:cNvPr id="43" name="Shape 40"/>
          <p:cNvSpPr/>
          <p:nvPr/>
        </p:nvSpPr>
        <p:spPr>
          <a:xfrm>
            <a:off x="9966960" y="5440680"/>
            <a:ext cx="1097280" cy="731520"/>
          </a:xfrm>
          <a:prstGeom prst="rect">
            <a:avLst/>
          </a:prstGeom>
          <a:solidFill>
            <a:srgbClr val="FFFFFF"/>
          </a:solidFill>
          <a:ln w="12700">
            <a:solidFill>
              <a:srgbClr val="FFFFFF"/>
            </a:solidFill>
            <a:prstDash val="solid"/>
          </a:ln>
        </p:spPr>
      </p:sp>
      <p:sp>
        <p:nvSpPr>
          <p:cNvPr id="44" name="Shape 41"/>
          <p:cNvSpPr/>
          <p:nvPr/>
        </p:nvSpPr>
        <p:spPr>
          <a:xfrm>
            <a:off x="9966960" y="5440680"/>
            <a:ext cx="1097280" cy="182880"/>
          </a:xfrm>
          <a:prstGeom prst="rect">
            <a:avLst/>
          </a:prstGeom>
          <a:solidFill>
            <a:srgbClr val="12304A"/>
          </a:solidFill>
          <a:ln w="12700">
            <a:solidFill>
              <a:srgbClr val="12304A"/>
            </a:solidFill>
            <a:prstDash val="solid"/>
          </a:ln>
        </p:spPr>
      </p:sp>
      <p:sp>
        <p:nvSpPr>
          <p:cNvPr id="45" name="Shape 42"/>
          <p:cNvSpPr/>
          <p:nvPr/>
        </p:nvSpPr>
        <p:spPr>
          <a:xfrm>
            <a:off x="10076688" y="5715000"/>
            <a:ext cx="548640" cy="73152"/>
          </a:xfrm>
          <a:prstGeom prst="rect">
            <a:avLst/>
          </a:prstGeom>
          <a:solidFill>
            <a:srgbClr val="12304A"/>
          </a:solidFill>
          <a:ln w="12700">
            <a:solidFill>
              <a:srgbClr val="12304A"/>
            </a:solidFill>
            <a:prstDash val="solid"/>
          </a:ln>
        </p:spPr>
      </p:sp>
      <p:sp>
        <p:nvSpPr>
          <p:cNvPr id="46" name="Shape 43"/>
          <p:cNvSpPr/>
          <p:nvPr/>
        </p:nvSpPr>
        <p:spPr>
          <a:xfrm>
            <a:off x="10076688" y="5879592"/>
            <a:ext cx="877824" cy="45720"/>
          </a:xfrm>
          <a:prstGeom prst="rect">
            <a:avLst/>
          </a:prstGeom>
          <a:solidFill>
            <a:srgbClr val="C8CED1"/>
          </a:solidFill>
          <a:ln w="12700">
            <a:solidFill>
              <a:srgbClr val="C8CED1"/>
            </a:solidFill>
            <a:prstDash val="solid"/>
          </a:ln>
        </p:spPr>
      </p:sp>
      <p:sp>
        <p:nvSpPr>
          <p:cNvPr id="47" name="Shape 44"/>
          <p:cNvSpPr/>
          <p:nvPr/>
        </p:nvSpPr>
        <p:spPr>
          <a:xfrm>
            <a:off x="10076688" y="5998464"/>
            <a:ext cx="640080" cy="45720"/>
          </a:xfrm>
          <a:prstGeom prst="rect">
            <a:avLst/>
          </a:prstGeom>
          <a:solidFill>
            <a:srgbClr val="C8CED1"/>
          </a:solidFill>
          <a:ln w="12700">
            <a:solidFill>
              <a:srgbClr val="C8CED1"/>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What the Browser Does with the &lt;link&gt;</a:t>
            </a:r>
            <a:endParaRPr lang="en-US" sz="2800" dirty="0"/>
          </a:p>
        </p:txBody>
      </p:sp>
      <p:sp>
        <p:nvSpPr>
          <p:cNvPr id="4" name="Shape 1"/>
          <p:cNvSpPr/>
          <p:nvPr/>
        </p:nvSpPr>
        <p:spPr>
          <a:xfrm>
            <a:off x="685800" y="1600200"/>
            <a:ext cx="1920240" cy="914400"/>
          </a:xfrm>
          <a:prstGeom prst="roundRect">
            <a:avLst>
              <a:gd name="adj" fmla="val 50000"/>
            </a:avLst>
          </a:prstGeom>
          <a:solidFill>
            <a:srgbClr val="12304A"/>
          </a:solidFill>
          <a:ln w="15875">
            <a:solidFill>
              <a:srgbClr val="12304A"/>
            </a:solidFill>
            <a:prstDash val="solid"/>
          </a:ln>
        </p:spPr>
      </p:sp>
      <p:sp>
        <p:nvSpPr>
          <p:cNvPr id="5" name="Text 2"/>
          <p:cNvSpPr txBox="1"/>
          <p:nvPr/>
        </p:nvSpPr>
        <p:spPr>
          <a:xfrm>
            <a:off x="795528" y="1600200"/>
            <a:ext cx="1700784" cy="914400"/>
          </a:xfrm>
          <a:prstGeom prst="rect">
            <a:avLst/>
          </a:prstGeom>
          <a:noFill/>
          <a:ln/>
        </p:spPr>
        <p:txBody>
          <a:bodyPr wrap="square" lIns="0" tIns="0" rIns="0" bIns="0" rtlCol="0" anchor="ctr"/>
          <a:lstStyle/>
          <a:p>
            <a:pPr indent="0" marL="0">
              <a:buNone/>
            </a:pPr>
            <a:r>
              <a:rPr lang="en-US" sz="1250" dirty="0">
                <a:solidFill>
                  <a:srgbClr val="FFFFFF"/>
                </a:solidFill>
                <a:latin typeface="Aptos" pitchFamily="34" charset="0"/>
                <a:ea typeface="Aptos" pitchFamily="34" charset="-122"/>
                <a:cs typeface="Aptos" pitchFamily="34" charset="-120"/>
              </a:rPr>
              <a:t>​</a:t>
            </a:r>
            <a:pPr indent="0" marL="0">
              <a:buNone/>
            </a:pPr>
            <a:r>
              <a:rPr lang="en-US" sz="1250" dirty="0">
                <a:solidFill>
                  <a:srgbClr val="FFFFFF"/>
                </a:solidFill>
                <a:latin typeface="Aptos" pitchFamily="34" charset="0"/>
                <a:ea typeface="Aptos" pitchFamily="34" charset="-122"/>
                <a:cs typeface="Aptos" pitchFamily="34" charset="-120"/>
              </a:rPr>
              <a:t>You open </a:t>
            </a:r>
            <a:pPr indent="0" marL="0">
              <a:buNone/>
            </a:pPr>
            <a:r>
              <a:rPr lang="en-US" sz="1250" b="1" dirty="0">
                <a:solidFill>
                  <a:srgbClr val="FFFFFF"/>
                </a:solidFill>
                <a:latin typeface="Aptos" pitchFamily="34" charset="0"/>
                <a:ea typeface="Aptos" pitchFamily="34" charset="-122"/>
                <a:cs typeface="Aptos" pitchFamily="34" charset="-120"/>
              </a:rPr>
              <a:t>portfolio.html</a:t>
            </a:r>
            <a:endParaRPr lang="en-US" sz="1250" dirty="0"/>
          </a:p>
        </p:txBody>
      </p:sp>
      <p:sp>
        <p:nvSpPr>
          <p:cNvPr id="6" name="Shape 3"/>
          <p:cNvSpPr/>
          <p:nvPr/>
        </p:nvSpPr>
        <p:spPr>
          <a:xfrm>
            <a:off x="548640" y="1463040"/>
            <a:ext cx="310896" cy="310896"/>
          </a:xfrm>
          <a:prstGeom prst="ellipse">
            <a:avLst/>
          </a:prstGeom>
          <a:solidFill>
            <a:srgbClr val="12304A"/>
          </a:solidFill>
          <a:ln w="12700">
            <a:solidFill>
              <a:srgbClr val="12304A"/>
            </a:solidFill>
            <a:prstDash val="solid"/>
          </a:ln>
        </p:spPr>
      </p:sp>
      <p:sp>
        <p:nvSpPr>
          <p:cNvPr id="7" name="Text 4"/>
          <p:cNvSpPr txBox="1"/>
          <p:nvPr/>
        </p:nvSpPr>
        <p:spPr>
          <a:xfrm>
            <a:off x="548640" y="14630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8" name="Shape 5"/>
          <p:cNvSpPr/>
          <p:nvPr/>
        </p:nvSpPr>
        <p:spPr>
          <a:xfrm>
            <a:off x="2834640" y="1600200"/>
            <a:ext cx="1920240" cy="914400"/>
          </a:xfrm>
          <a:prstGeom prst="rect">
            <a:avLst/>
          </a:prstGeom>
          <a:solidFill>
            <a:srgbClr val="FFFFFF"/>
          </a:solidFill>
          <a:ln w="15875">
            <a:solidFill>
              <a:srgbClr val="8C989E"/>
            </a:solidFill>
            <a:prstDash val="solid"/>
          </a:ln>
        </p:spPr>
      </p:sp>
      <p:sp>
        <p:nvSpPr>
          <p:cNvPr id="9" name="Text 6"/>
          <p:cNvSpPr txBox="1"/>
          <p:nvPr/>
        </p:nvSpPr>
        <p:spPr>
          <a:xfrm>
            <a:off x="2944368" y="1600200"/>
            <a:ext cx="1700784" cy="914400"/>
          </a:xfrm>
          <a:prstGeom prst="rect">
            <a:avLst/>
          </a:prstGeom>
          <a:noFill/>
          <a:ln/>
        </p:spPr>
        <p:txBody>
          <a:bodyPr wrap="square" lIns="0" tIns="0" rIns="0" bIns="0" rtlCol="0" anchor="ctr"/>
          <a:lstStyle/>
          <a:p>
            <a:pPr indent="0" marL="0">
              <a:buNone/>
            </a:pPr>
            <a:r>
              <a:rPr lang="en-US" sz="1250" dirty="0">
                <a:solidFill>
                  <a:srgbClr val="000000"/>
                </a:solidFill>
                <a:latin typeface="Aptos" pitchFamily="34" charset="0"/>
                <a:ea typeface="Aptos" pitchFamily="34" charset="-122"/>
                <a:cs typeface="Aptos" pitchFamily="34" charset="-120"/>
              </a:rPr>
              <a:t>​</a:t>
            </a:r>
            <a:pPr indent="0" marL="0">
              <a:buNone/>
            </a:pPr>
            <a:r>
              <a:rPr lang="en-US" sz="1250" dirty="0">
                <a:solidFill>
                  <a:srgbClr val="000000"/>
                </a:solidFill>
                <a:latin typeface="Aptos" pitchFamily="34" charset="0"/>
                <a:ea typeface="Aptos" pitchFamily="34" charset="-122"/>
                <a:cs typeface="Aptos" pitchFamily="34" charset="-120"/>
              </a:rPr>
              <a:t>In the </a:t>
            </a:r>
            <a:pPr indent="0" marL="0">
              <a:buNone/>
            </a:pPr>
            <a:r>
              <a:rPr lang="en-US" sz="1250" dirty="0">
                <a:solidFill>
                  <a:srgbClr val="8A2B0B"/>
                </a:solidFill>
                <a:latin typeface="Consolas" pitchFamily="34" charset="0"/>
                <a:ea typeface="Consolas" pitchFamily="34" charset="-122"/>
                <a:cs typeface="Consolas" pitchFamily="34" charset="-120"/>
              </a:rPr>
              <a:t>&lt;head&gt;</a:t>
            </a:r>
            <a:pPr indent="0" marL="0">
              <a:buNone/>
            </a:pPr>
            <a:r>
              <a:rPr lang="en-US" sz="1250" dirty="0">
                <a:solidFill>
                  <a:srgbClr val="000000"/>
                </a:solidFill>
                <a:latin typeface="Aptos" pitchFamily="34" charset="0"/>
                <a:ea typeface="Aptos" pitchFamily="34" charset="-122"/>
                <a:cs typeface="Aptos" pitchFamily="34" charset="-120"/>
              </a:rPr>
              <a:t> it finds </a:t>
            </a:r>
            <a:pPr indent="0" marL="0">
              <a:buNone/>
            </a:pPr>
            <a:r>
              <a:rPr lang="en-US" sz="1250" dirty="0">
                <a:solidFill>
                  <a:srgbClr val="8A2B0B"/>
                </a:solidFill>
                <a:latin typeface="Consolas" pitchFamily="34" charset="0"/>
                <a:ea typeface="Consolas" pitchFamily="34" charset="-122"/>
                <a:cs typeface="Consolas" pitchFamily="34" charset="-120"/>
              </a:rPr>
              <a:t>&lt;link href="style.css"&gt;</a:t>
            </a:r>
            <a:endParaRPr lang="en-US" sz="1250" dirty="0"/>
          </a:p>
        </p:txBody>
      </p:sp>
      <p:sp>
        <p:nvSpPr>
          <p:cNvPr id="10" name="Shape 7"/>
          <p:cNvSpPr/>
          <p:nvPr/>
        </p:nvSpPr>
        <p:spPr>
          <a:xfrm>
            <a:off x="2697480" y="1463040"/>
            <a:ext cx="310896" cy="310896"/>
          </a:xfrm>
          <a:prstGeom prst="ellipse">
            <a:avLst/>
          </a:prstGeom>
          <a:solidFill>
            <a:srgbClr val="12304A"/>
          </a:solidFill>
          <a:ln w="12700">
            <a:solidFill>
              <a:srgbClr val="12304A"/>
            </a:solidFill>
            <a:prstDash val="solid"/>
          </a:ln>
        </p:spPr>
      </p:sp>
      <p:sp>
        <p:nvSpPr>
          <p:cNvPr id="11" name="Text 8"/>
          <p:cNvSpPr txBox="1"/>
          <p:nvPr/>
        </p:nvSpPr>
        <p:spPr>
          <a:xfrm>
            <a:off x="2697480" y="14630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2" name="Shape 9"/>
          <p:cNvSpPr/>
          <p:nvPr/>
        </p:nvSpPr>
        <p:spPr>
          <a:xfrm>
            <a:off x="4937760" y="1399032"/>
            <a:ext cx="2011680" cy="1316736"/>
          </a:xfrm>
          <a:prstGeom prst="diamond">
            <a:avLst/>
          </a:prstGeom>
          <a:solidFill>
            <a:srgbClr val="FBE9DF"/>
          </a:solidFill>
          <a:ln w="19050">
            <a:solidFill>
              <a:srgbClr val="E97132"/>
            </a:solidFill>
            <a:prstDash val="solid"/>
          </a:ln>
        </p:spPr>
      </p:sp>
      <p:sp>
        <p:nvSpPr>
          <p:cNvPr id="13" name="Text 10"/>
          <p:cNvSpPr txBox="1"/>
          <p:nvPr/>
        </p:nvSpPr>
        <p:spPr>
          <a:xfrm>
            <a:off x="5303520" y="1600200"/>
            <a:ext cx="1280160" cy="914400"/>
          </a:xfrm>
          <a:prstGeom prst="rect">
            <a:avLst/>
          </a:prstGeom>
          <a:noFill/>
          <a:ln/>
        </p:spPr>
        <p:txBody>
          <a:bodyPr wrap="square" lIns="0" tIns="0" rIns="0" bIns="0" rtlCol="0" anchor="ctr"/>
          <a:lstStyle/>
          <a:p>
            <a:pPr algn="ctr" indent="0" marL="0">
              <a:buNone/>
            </a:pPr>
            <a:r>
              <a:rPr lang="en-US" sz="1200" b="1" dirty="0">
                <a:solidFill>
                  <a:srgbClr val="000000"/>
                </a:solidFill>
                <a:latin typeface="Aptos" pitchFamily="34" charset="0"/>
                <a:ea typeface="Aptos" pitchFamily="34" charset="-122"/>
                <a:cs typeface="Aptos" pitchFamily="34" charset="-120"/>
              </a:rPr>
              <a:t>Already got style.css?</a:t>
            </a:r>
            <a:endParaRPr lang="en-US" sz="1200" dirty="0"/>
          </a:p>
        </p:txBody>
      </p:sp>
      <p:sp>
        <p:nvSpPr>
          <p:cNvPr id="14" name="Shape 11"/>
          <p:cNvSpPr/>
          <p:nvPr/>
        </p:nvSpPr>
        <p:spPr>
          <a:xfrm>
            <a:off x="9555480" y="1600200"/>
            <a:ext cx="1920240" cy="914400"/>
          </a:xfrm>
          <a:prstGeom prst="rect">
            <a:avLst/>
          </a:prstGeom>
          <a:solidFill>
            <a:srgbClr val="FFFFFF"/>
          </a:solidFill>
          <a:ln w="15875">
            <a:solidFill>
              <a:srgbClr val="8C989E"/>
            </a:solidFill>
            <a:prstDash val="solid"/>
          </a:ln>
        </p:spPr>
      </p:sp>
      <p:sp>
        <p:nvSpPr>
          <p:cNvPr id="15" name="Text 12"/>
          <p:cNvSpPr txBox="1"/>
          <p:nvPr/>
        </p:nvSpPr>
        <p:spPr>
          <a:xfrm>
            <a:off x="9665208" y="1600200"/>
            <a:ext cx="1700784" cy="914400"/>
          </a:xfrm>
          <a:prstGeom prst="rect">
            <a:avLst/>
          </a:prstGeom>
          <a:noFill/>
          <a:ln/>
        </p:spPr>
        <p:txBody>
          <a:bodyPr wrap="square" lIns="0" tIns="0" rIns="0" bIns="0" rtlCol="0" anchor="ctr"/>
          <a:lstStyle/>
          <a:p>
            <a:pPr indent="0" marL="0">
              <a:buNone/>
            </a:pPr>
            <a:r>
              <a:rPr lang="en-US" sz="1250" dirty="0">
                <a:solidFill>
                  <a:srgbClr val="000000"/>
                </a:solidFill>
                <a:latin typeface="Aptos" pitchFamily="34" charset="0"/>
                <a:ea typeface="Aptos" pitchFamily="34" charset="-122"/>
                <a:cs typeface="Aptos" pitchFamily="34" charset="-120"/>
              </a:rPr>
              <a:t>​</a:t>
            </a:r>
            <a:pPr indent="0" marL="0">
              <a:buNone/>
            </a:pPr>
            <a:r>
              <a:rPr lang="en-US" sz="1250" b="1" dirty="0">
                <a:solidFill>
                  <a:srgbClr val="000000"/>
                </a:solidFill>
                <a:latin typeface="Aptos" pitchFamily="34" charset="0"/>
                <a:ea typeface="Aptos" pitchFamily="34" charset="-122"/>
                <a:cs typeface="Aptos" pitchFamily="34" charset="-120"/>
              </a:rPr>
              <a:t>Use the saved copy</a:t>
            </a:r>
            <a:pPr indent="0" marL="0">
              <a:buNone/>
            </a:pPr>
            <a:r>
              <a:rPr lang="en-US" sz="1250" dirty="0">
                <a:solidFill>
                  <a:srgbClr val="000000"/>
                </a:solidFill>
                <a:latin typeface="Aptos" pitchFamily="34" charset="0"/>
                <a:ea typeface="Aptos" pitchFamily="34" charset="-122"/>
                <a:cs typeface="Aptos" pitchFamily="34" charset="-120"/>
              </a:rPr>
              <a:t> (from index.html)</a:t>
            </a:r>
            <a:endParaRPr lang="en-US" sz="1250" dirty="0"/>
          </a:p>
        </p:txBody>
      </p:sp>
      <p:sp>
        <p:nvSpPr>
          <p:cNvPr id="16" name="Shape 13"/>
          <p:cNvSpPr/>
          <p:nvPr/>
        </p:nvSpPr>
        <p:spPr>
          <a:xfrm>
            <a:off x="9418320" y="1463040"/>
            <a:ext cx="310896" cy="310896"/>
          </a:xfrm>
          <a:prstGeom prst="ellipse">
            <a:avLst/>
          </a:prstGeom>
          <a:solidFill>
            <a:srgbClr val="12304A"/>
          </a:solidFill>
          <a:ln w="12700">
            <a:solidFill>
              <a:srgbClr val="12304A"/>
            </a:solidFill>
            <a:prstDash val="solid"/>
          </a:ln>
        </p:spPr>
      </p:sp>
      <p:sp>
        <p:nvSpPr>
          <p:cNvPr id="17" name="Text 14"/>
          <p:cNvSpPr txBox="1"/>
          <p:nvPr/>
        </p:nvSpPr>
        <p:spPr>
          <a:xfrm>
            <a:off x="9418320" y="14630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8" name="Shape 15"/>
          <p:cNvSpPr/>
          <p:nvPr/>
        </p:nvSpPr>
        <p:spPr>
          <a:xfrm>
            <a:off x="4983480" y="3383280"/>
            <a:ext cx="1920240" cy="914400"/>
          </a:xfrm>
          <a:prstGeom prst="rect">
            <a:avLst/>
          </a:prstGeom>
          <a:solidFill>
            <a:srgbClr val="FFFFFF"/>
          </a:solidFill>
          <a:ln w="15875">
            <a:solidFill>
              <a:srgbClr val="8C989E"/>
            </a:solidFill>
            <a:prstDash val="solid"/>
          </a:ln>
        </p:spPr>
      </p:sp>
      <p:sp>
        <p:nvSpPr>
          <p:cNvPr id="19" name="Text 16"/>
          <p:cNvSpPr txBox="1"/>
          <p:nvPr/>
        </p:nvSpPr>
        <p:spPr>
          <a:xfrm>
            <a:off x="5093208" y="3383280"/>
            <a:ext cx="1700784" cy="914400"/>
          </a:xfrm>
          <a:prstGeom prst="rect">
            <a:avLst/>
          </a:prstGeom>
          <a:noFill/>
          <a:ln/>
        </p:spPr>
        <p:txBody>
          <a:bodyPr wrap="square" lIns="0" tIns="0" rIns="0" bIns="0" rtlCol="0" anchor="ctr"/>
          <a:lstStyle/>
          <a:p>
            <a:pPr indent="0" marL="0">
              <a:buNone/>
            </a:pPr>
            <a:r>
              <a:rPr lang="en-US" sz="1250" dirty="0">
                <a:solidFill>
                  <a:srgbClr val="000000"/>
                </a:solidFill>
                <a:latin typeface="Aptos" pitchFamily="34" charset="0"/>
                <a:ea typeface="Aptos" pitchFamily="34" charset="-122"/>
                <a:cs typeface="Aptos" pitchFamily="34" charset="-120"/>
              </a:rPr>
              <a:t>​</a:t>
            </a:r>
            <a:pPr indent="0" marL="0">
              <a:buNone/>
            </a:pPr>
            <a:r>
              <a:rPr lang="en-US" sz="1250" b="1" dirty="0">
                <a:solidFill>
                  <a:srgbClr val="000000"/>
                </a:solidFill>
                <a:latin typeface="Aptos" pitchFamily="34" charset="0"/>
                <a:ea typeface="Aptos" pitchFamily="34" charset="-122"/>
                <a:cs typeface="Aptos" pitchFamily="34" charset="-120"/>
              </a:rPr>
              <a:t>Download</a:t>
            </a:r>
            <a:pPr indent="0" marL="0">
              <a:buNone/>
            </a:pPr>
            <a:r>
              <a:rPr lang="en-US" sz="1250" dirty="0">
                <a:solidFill>
                  <a:srgbClr val="000000"/>
                </a:solidFill>
                <a:latin typeface="Aptos" pitchFamily="34" charset="0"/>
                <a:ea typeface="Aptos" pitchFamily="34" charset="-122"/>
                <a:cs typeface="Aptos" pitchFamily="34" charset="-120"/>
              </a:rPr>
              <a:t> style.css</a:t>
            </a:r>
            <a:endParaRPr lang="en-US" sz="1250" dirty="0"/>
          </a:p>
        </p:txBody>
      </p:sp>
      <p:sp>
        <p:nvSpPr>
          <p:cNvPr id="20" name="Shape 17"/>
          <p:cNvSpPr/>
          <p:nvPr/>
        </p:nvSpPr>
        <p:spPr>
          <a:xfrm>
            <a:off x="4846320" y="3246120"/>
            <a:ext cx="310896" cy="310896"/>
          </a:xfrm>
          <a:prstGeom prst="ellipse">
            <a:avLst/>
          </a:prstGeom>
          <a:solidFill>
            <a:srgbClr val="12304A"/>
          </a:solidFill>
          <a:ln w="12700">
            <a:solidFill>
              <a:srgbClr val="12304A"/>
            </a:solidFill>
            <a:prstDash val="solid"/>
          </a:ln>
        </p:spPr>
      </p:sp>
      <p:sp>
        <p:nvSpPr>
          <p:cNvPr id="21" name="Text 18"/>
          <p:cNvSpPr txBox="1"/>
          <p:nvPr/>
        </p:nvSpPr>
        <p:spPr>
          <a:xfrm>
            <a:off x="4846320" y="32461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2" name="Shape 19"/>
          <p:cNvSpPr/>
          <p:nvPr/>
        </p:nvSpPr>
        <p:spPr>
          <a:xfrm>
            <a:off x="7086600" y="3182112"/>
            <a:ext cx="2011680" cy="1316736"/>
          </a:xfrm>
          <a:prstGeom prst="diamond">
            <a:avLst/>
          </a:prstGeom>
          <a:solidFill>
            <a:srgbClr val="FBE9DF"/>
          </a:solidFill>
          <a:ln w="19050">
            <a:solidFill>
              <a:srgbClr val="E97132"/>
            </a:solidFill>
            <a:prstDash val="solid"/>
          </a:ln>
        </p:spPr>
      </p:sp>
      <p:sp>
        <p:nvSpPr>
          <p:cNvPr id="23" name="Text 20"/>
          <p:cNvSpPr txBox="1"/>
          <p:nvPr/>
        </p:nvSpPr>
        <p:spPr>
          <a:xfrm>
            <a:off x="7452360" y="3383280"/>
            <a:ext cx="1280160" cy="914400"/>
          </a:xfrm>
          <a:prstGeom prst="rect">
            <a:avLst/>
          </a:prstGeom>
          <a:noFill/>
          <a:ln/>
        </p:spPr>
        <p:txBody>
          <a:bodyPr wrap="square" lIns="0" tIns="0" rIns="0" bIns="0" rtlCol="0" anchor="ctr"/>
          <a:lstStyle/>
          <a:p>
            <a:pPr algn="ctr" indent="0" marL="0">
              <a:buNone/>
            </a:pPr>
            <a:r>
              <a:rPr lang="en-US" sz="1200" b="1" dirty="0">
                <a:solidFill>
                  <a:srgbClr val="000000"/>
                </a:solidFill>
                <a:latin typeface="Aptos" pitchFamily="34" charset="0"/>
                <a:ea typeface="Aptos" pitchFamily="34" charset="-122"/>
                <a:cs typeface="Aptos" pitchFamily="34" charset="-120"/>
              </a:rPr>
              <a:t>Found it?</a:t>
            </a:r>
            <a:endParaRPr lang="en-US" sz="1200" dirty="0"/>
          </a:p>
        </p:txBody>
      </p:sp>
      <p:sp>
        <p:nvSpPr>
          <p:cNvPr id="24" name="Shape 21"/>
          <p:cNvSpPr/>
          <p:nvPr/>
        </p:nvSpPr>
        <p:spPr>
          <a:xfrm>
            <a:off x="9555480" y="3383280"/>
            <a:ext cx="1920240" cy="914400"/>
          </a:xfrm>
          <a:prstGeom prst="roundRect">
            <a:avLst>
              <a:gd name="adj" fmla="val 50000"/>
            </a:avLst>
          </a:prstGeom>
          <a:solidFill>
            <a:srgbClr val="2E7D32"/>
          </a:solidFill>
          <a:ln w="15875">
            <a:solidFill>
              <a:srgbClr val="2E7D32"/>
            </a:solidFill>
            <a:prstDash val="solid"/>
          </a:ln>
        </p:spPr>
      </p:sp>
      <p:sp>
        <p:nvSpPr>
          <p:cNvPr id="25" name="Text 22"/>
          <p:cNvSpPr txBox="1"/>
          <p:nvPr/>
        </p:nvSpPr>
        <p:spPr>
          <a:xfrm>
            <a:off x="9665208" y="3383280"/>
            <a:ext cx="1700784" cy="914400"/>
          </a:xfrm>
          <a:prstGeom prst="rect">
            <a:avLst/>
          </a:prstGeom>
          <a:noFill/>
          <a:ln/>
        </p:spPr>
        <p:txBody>
          <a:bodyPr wrap="square" lIns="0" tIns="0" rIns="0" bIns="0" rtlCol="0" anchor="ctr"/>
          <a:lstStyle/>
          <a:p>
            <a:pPr indent="0" marL="0">
              <a:buNone/>
            </a:pPr>
            <a:r>
              <a:rPr lang="en-US" sz="1250" dirty="0">
                <a:solidFill>
                  <a:srgbClr val="FFFFFF"/>
                </a:solidFill>
                <a:latin typeface="Aptos" pitchFamily="34" charset="0"/>
                <a:ea typeface="Aptos" pitchFamily="34" charset="-122"/>
                <a:cs typeface="Aptos" pitchFamily="34" charset="-120"/>
              </a:rPr>
              <a:t>​</a:t>
            </a:r>
            <a:pPr indent="0" marL="0">
              <a:buNone/>
            </a:pPr>
            <a:r>
              <a:rPr lang="en-US" sz="1250" b="1" dirty="0">
                <a:solidFill>
                  <a:srgbClr val="FFFFFF"/>
                </a:solidFill>
                <a:latin typeface="Aptos" pitchFamily="34" charset="0"/>
                <a:ea typeface="Aptos" pitchFamily="34" charset="-122"/>
                <a:cs typeface="Aptos" pitchFamily="34" charset="-120"/>
              </a:rPr>
              <a:t>Apply the rules.</a:t>
            </a:r>
            <a:pPr indent="0" marL="0">
              <a:buNone/>
            </a:pPr>
            <a:r>
              <a:rPr lang="en-US" sz="1250" dirty="0">
                <a:solidFill>
                  <a:srgbClr val="FFFFFF"/>
                </a:solidFill>
                <a:latin typeface="Aptos" pitchFamily="34" charset="0"/>
                <a:ea typeface="Aptos" pitchFamily="34" charset="-122"/>
                <a:cs typeface="Aptos" pitchFamily="34" charset="-120"/>
              </a:rPr>
              <a:t> The page appears, styled.</a:t>
            </a:r>
            <a:endParaRPr lang="en-US" sz="1250" dirty="0"/>
          </a:p>
        </p:txBody>
      </p:sp>
      <p:sp>
        <p:nvSpPr>
          <p:cNvPr id="26" name="Shape 23"/>
          <p:cNvSpPr/>
          <p:nvPr/>
        </p:nvSpPr>
        <p:spPr>
          <a:xfrm>
            <a:off x="9418320" y="3246120"/>
            <a:ext cx="310896" cy="310896"/>
          </a:xfrm>
          <a:prstGeom prst="ellipse">
            <a:avLst/>
          </a:prstGeom>
          <a:solidFill>
            <a:srgbClr val="12304A"/>
          </a:solidFill>
          <a:ln w="12700">
            <a:solidFill>
              <a:srgbClr val="12304A"/>
            </a:solidFill>
            <a:prstDash val="solid"/>
          </a:ln>
        </p:spPr>
      </p:sp>
      <p:sp>
        <p:nvSpPr>
          <p:cNvPr id="27" name="Text 24"/>
          <p:cNvSpPr txBox="1"/>
          <p:nvPr/>
        </p:nvSpPr>
        <p:spPr>
          <a:xfrm>
            <a:off x="9418320" y="32461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7</a:t>
            </a:r>
            <a:endParaRPr lang="en-US" sz="1300" dirty="0"/>
          </a:p>
        </p:txBody>
      </p:sp>
      <p:sp>
        <p:nvSpPr>
          <p:cNvPr id="28" name="Shape 25"/>
          <p:cNvSpPr/>
          <p:nvPr/>
        </p:nvSpPr>
        <p:spPr>
          <a:xfrm>
            <a:off x="7132320" y="5120640"/>
            <a:ext cx="1920240" cy="914400"/>
          </a:xfrm>
          <a:prstGeom prst="rect">
            <a:avLst/>
          </a:prstGeom>
          <a:solidFill>
            <a:srgbClr val="FDECEA"/>
          </a:solidFill>
          <a:ln w="15875">
            <a:solidFill>
              <a:srgbClr val="C62828"/>
            </a:solidFill>
            <a:prstDash val="solid"/>
          </a:ln>
        </p:spPr>
      </p:sp>
      <p:sp>
        <p:nvSpPr>
          <p:cNvPr id="29" name="Text 26"/>
          <p:cNvSpPr txBox="1"/>
          <p:nvPr/>
        </p:nvSpPr>
        <p:spPr>
          <a:xfrm>
            <a:off x="7242048" y="5120640"/>
            <a:ext cx="1700784" cy="914400"/>
          </a:xfrm>
          <a:prstGeom prst="rect">
            <a:avLst/>
          </a:prstGeom>
          <a:noFill/>
          <a:ln/>
        </p:spPr>
        <p:txBody>
          <a:bodyPr wrap="square" lIns="0" tIns="0" rIns="0" bIns="0" rtlCol="0" anchor="ctr"/>
          <a:lstStyle/>
          <a:p>
            <a:pPr indent="0" marL="0">
              <a:buNone/>
            </a:pPr>
            <a:r>
              <a:rPr lang="en-US" sz="1250" dirty="0">
                <a:solidFill>
                  <a:srgbClr val="000000"/>
                </a:solidFill>
                <a:latin typeface="Aptos" pitchFamily="34" charset="0"/>
                <a:ea typeface="Aptos" pitchFamily="34" charset="-122"/>
                <a:cs typeface="Aptos" pitchFamily="34" charset="-120"/>
              </a:rPr>
              <a:t>​</a:t>
            </a:r>
            <a:pPr indent="0" marL="0">
              <a:buNone/>
            </a:pPr>
            <a:r>
              <a:rPr lang="en-US" sz="1250" b="1" dirty="0">
                <a:solidFill>
                  <a:srgbClr val="000000"/>
                </a:solidFill>
                <a:latin typeface="Aptos" pitchFamily="34" charset="0"/>
                <a:ea typeface="Aptos" pitchFamily="34" charset="-122"/>
                <a:cs typeface="Aptos" pitchFamily="34" charset="-120"/>
              </a:rPr>
              <a:t>No styles at all,</a:t>
            </a:r>
            <a:pPr indent="0" marL="0">
              <a:buNone/>
            </a:pPr>
            <a:r>
              <a:rPr lang="en-US" sz="1250" dirty="0">
                <a:solidFill>
                  <a:srgbClr val="000000"/>
                </a:solidFill>
                <a:latin typeface="Aptos" pitchFamily="34" charset="0"/>
                <a:ea typeface="Aptos" pitchFamily="34" charset="-122"/>
                <a:cs typeface="Aptos" pitchFamily="34" charset="-120"/>
              </a:rPr>
              <a:t> and no error message!</a:t>
            </a:r>
            <a:endParaRPr lang="en-US" sz="1250" dirty="0"/>
          </a:p>
        </p:txBody>
      </p:sp>
      <p:sp>
        <p:nvSpPr>
          <p:cNvPr id="30" name="Shape 27"/>
          <p:cNvSpPr/>
          <p:nvPr/>
        </p:nvSpPr>
        <p:spPr>
          <a:xfrm>
            <a:off x="6995160" y="4983480"/>
            <a:ext cx="310896" cy="310896"/>
          </a:xfrm>
          <a:prstGeom prst="ellipse">
            <a:avLst/>
          </a:prstGeom>
          <a:solidFill>
            <a:srgbClr val="12304A"/>
          </a:solidFill>
          <a:ln w="12700">
            <a:solidFill>
              <a:srgbClr val="12304A"/>
            </a:solidFill>
            <a:prstDash val="solid"/>
          </a:ln>
        </p:spPr>
      </p:sp>
      <p:sp>
        <p:nvSpPr>
          <p:cNvPr id="31" name="Text 28"/>
          <p:cNvSpPr txBox="1"/>
          <p:nvPr/>
        </p:nvSpPr>
        <p:spPr>
          <a:xfrm>
            <a:off x="6995160" y="49834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8</a:t>
            </a:r>
            <a:endParaRPr lang="en-US" sz="1300" dirty="0"/>
          </a:p>
        </p:txBody>
      </p:sp>
      <p:sp>
        <p:nvSpPr>
          <p:cNvPr id="32" name="Shape 29"/>
          <p:cNvSpPr/>
          <p:nvPr/>
        </p:nvSpPr>
        <p:spPr>
          <a:xfrm>
            <a:off x="5788152" y="1188720"/>
            <a:ext cx="310896" cy="310896"/>
          </a:xfrm>
          <a:prstGeom prst="ellipse">
            <a:avLst/>
          </a:prstGeom>
          <a:solidFill>
            <a:srgbClr val="12304A"/>
          </a:solidFill>
          <a:ln w="12700">
            <a:solidFill>
              <a:srgbClr val="12304A"/>
            </a:solidFill>
            <a:prstDash val="solid"/>
          </a:ln>
        </p:spPr>
      </p:sp>
      <p:sp>
        <p:nvSpPr>
          <p:cNvPr id="33" name="Text 30"/>
          <p:cNvSpPr txBox="1"/>
          <p:nvPr/>
        </p:nvSpPr>
        <p:spPr>
          <a:xfrm>
            <a:off x="5788152" y="11887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34" name="Shape 31"/>
          <p:cNvSpPr/>
          <p:nvPr/>
        </p:nvSpPr>
        <p:spPr>
          <a:xfrm>
            <a:off x="7936992" y="2971800"/>
            <a:ext cx="310896" cy="310896"/>
          </a:xfrm>
          <a:prstGeom prst="ellipse">
            <a:avLst/>
          </a:prstGeom>
          <a:solidFill>
            <a:srgbClr val="12304A"/>
          </a:solidFill>
          <a:ln w="12700">
            <a:solidFill>
              <a:srgbClr val="12304A"/>
            </a:solidFill>
            <a:prstDash val="solid"/>
          </a:ln>
        </p:spPr>
      </p:sp>
      <p:sp>
        <p:nvSpPr>
          <p:cNvPr id="35" name="Text 32"/>
          <p:cNvSpPr txBox="1"/>
          <p:nvPr/>
        </p:nvSpPr>
        <p:spPr>
          <a:xfrm>
            <a:off x="7936992" y="29718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36" name="Shape 33"/>
          <p:cNvSpPr/>
          <p:nvPr/>
        </p:nvSpPr>
        <p:spPr>
          <a:xfrm>
            <a:off x="2606040" y="2057400"/>
            <a:ext cx="228600" cy="0"/>
          </a:xfrm>
          <a:prstGeom prst="line">
            <a:avLst/>
          </a:prstGeom>
          <a:noFill/>
          <a:ln w="22225">
            <a:solidFill>
              <a:srgbClr val="262626"/>
            </a:solidFill>
            <a:prstDash val="solid"/>
            <a:tailEnd type="triangle"/>
          </a:ln>
        </p:spPr>
      </p:sp>
      <p:sp>
        <p:nvSpPr>
          <p:cNvPr id="37" name="Shape 34"/>
          <p:cNvSpPr/>
          <p:nvPr/>
        </p:nvSpPr>
        <p:spPr>
          <a:xfrm>
            <a:off x="4754880" y="2057400"/>
            <a:ext cx="182880" cy="0"/>
          </a:xfrm>
          <a:prstGeom prst="line">
            <a:avLst/>
          </a:prstGeom>
          <a:noFill/>
          <a:ln w="22225">
            <a:solidFill>
              <a:srgbClr val="262626"/>
            </a:solidFill>
            <a:prstDash val="solid"/>
            <a:tailEnd type="triangle"/>
          </a:ln>
        </p:spPr>
      </p:sp>
      <p:sp>
        <p:nvSpPr>
          <p:cNvPr id="38" name="Shape 35"/>
          <p:cNvSpPr/>
          <p:nvPr/>
        </p:nvSpPr>
        <p:spPr>
          <a:xfrm>
            <a:off x="6949440" y="2057400"/>
            <a:ext cx="2606040" cy="0"/>
          </a:xfrm>
          <a:prstGeom prst="line">
            <a:avLst/>
          </a:prstGeom>
          <a:noFill/>
          <a:ln w="22225">
            <a:solidFill>
              <a:srgbClr val="262626"/>
            </a:solidFill>
            <a:prstDash val="solid"/>
            <a:tailEnd type="triangle"/>
          </a:ln>
        </p:spPr>
      </p:sp>
      <p:sp>
        <p:nvSpPr>
          <p:cNvPr id="39" name="Text 36"/>
          <p:cNvSpPr txBox="1"/>
          <p:nvPr/>
        </p:nvSpPr>
        <p:spPr>
          <a:xfrm>
            <a:off x="7223760" y="1737360"/>
            <a:ext cx="457200" cy="274320"/>
          </a:xfrm>
          <a:prstGeom prst="rect">
            <a:avLst/>
          </a:prstGeom>
          <a:noFill/>
          <a:ln/>
        </p:spPr>
        <p:txBody>
          <a:bodyPr wrap="square" lIns="0" tIns="0" rIns="0" bIns="0" rtlCol="0" anchor="ctr"/>
          <a:lstStyle/>
          <a:p>
            <a:pPr indent="0" marL="0">
              <a:buNone/>
            </a:pPr>
            <a:r>
              <a:rPr lang="en-US" sz="1200" b="1" dirty="0">
                <a:solidFill>
                  <a:srgbClr val="2E7D32"/>
                </a:solidFill>
                <a:latin typeface="Aptos" pitchFamily="34" charset="0"/>
                <a:ea typeface="Aptos" pitchFamily="34" charset="-122"/>
                <a:cs typeface="Aptos" pitchFamily="34" charset="-120"/>
              </a:rPr>
              <a:t>Yes</a:t>
            </a:r>
            <a:endParaRPr lang="en-US" sz="1200" dirty="0"/>
          </a:p>
        </p:txBody>
      </p:sp>
      <p:sp>
        <p:nvSpPr>
          <p:cNvPr id="40" name="Shape 37"/>
          <p:cNvSpPr/>
          <p:nvPr/>
        </p:nvSpPr>
        <p:spPr>
          <a:xfrm>
            <a:off x="5943600" y="2715768"/>
            <a:ext cx="0" cy="667512"/>
          </a:xfrm>
          <a:prstGeom prst="line">
            <a:avLst/>
          </a:prstGeom>
          <a:noFill/>
          <a:ln w="22225">
            <a:solidFill>
              <a:srgbClr val="262626"/>
            </a:solidFill>
            <a:prstDash val="solid"/>
            <a:tailEnd type="triangle"/>
          </a:ln>
        </p:spPr>
      </p:sp>
      <p:sp>
        <p:nvSpPr>
          <p:cNvPr id="41" name="Text 38"/>
          <p:cNvSpPr txBox="1"/>
          <p:nvPr/>
        </p:nvSpPr>
        <p:spPr>
          <a:xfrm>
            <a:off x="6035040" y="2834640"/>
            <a:ext cx="457200" cy="274320"/>
          </a:xfrm>
          <a:prstGeom prst="rect">
            <a:avLst/>
          </a:prstGeom>
          <a:noFill/>
          <a:ln/>
        </p:spPr>
        <p:txBody>
          <a:bodyPr wrap="square" lIns="0" tIns="0" rIns="0" bIns="0" rtlCol="0" anchor="ctr"/>
          <a:lstStyle/>
          <a:p>
            <a:pPr indent="0" marL="0">
              <a:buNone/>
            </a:pPr>
            <a:r>
              <a:rPr lang="en-US" sz="1200" b="1" dirty="0">
                <a:solidFill>
                  <a:srgbClr val="C62828"/>
                </a:solidFill>
                <a:latin typeface="Aptos" pitchFamily="34" charset="0"/>
                <a:ea typeface="Aptos" pitchFamily="34" charset="-122"/>
                <a:cs typeface="Aptos" pitchFamily="34" charset="-120"/>
              </a:rPr>
              <a:t>No</a:t>
            </a:r>
            <a:endParaRPr lang="en-US" sz="1200" dirty="0"/>
          </a:p>
        </p:txBody>
      </p:sp>
      <p:sp>
        <p:nvSpPr>
          <p:cNvPr id="42" name="Shape 39"/>
          <p:cNvSpPr/>
          <p:nvPr/>
        </p:nvSpPr>
        <p:spPr>
          <a:xfrm>
            <a:off x="6903720" y="3840480"/>
            <a:ext cx="182880" cy="0"/>
          </a:xfrm>
          <a:prstGeom prst="line">
            <a:avLst/>
          </a:prstGeom>
          <a:noFill/>
          <a:ln w="22225">
            <a:solidFill>
              <a:srgbClr val="262626"/>
            </a:solidFill>
            <a:prstDash val="solid"/>
            <a:tailEnd type="triangle"/>
          </a:ln>
        </p:spPr>
      </p:sp>
      <p:sp>
        <p:nvSpPr>
          <p:cNvPr id="43" name="Shape 40"/>
          <p:cNvSpPr/>
          <p:nvPr/>
        </p:nvSpPr>
        <p:spPr>
          <a:xfrm>
            <a:off x="9098280" y="3840480"/>
            <a:ext cx="457200" cy="0"/>
          </a:xfrm>
          <a:prstGeom prst="line">
            <a:avLst/>
          </a:prstGeom>
          <a:noFill/>
          <a:ln w="22225">
            <a:solidFill>
              <a:srgbClr val="262626"/>
            </a:solidFill>
            <a:prstDash val="solid"/>
            <a:tailEnd type="triangle"/>
          </a:ln>
        </p:spPr>
      </p:sp>
      <p:sp>
        <p:nvSpPr>
          <p:cNvPr id="44" name="Text 41"/>
          <p:cNvSpPr txBox="1"/>
          <p:nvPr/>
        </p:nvSpPr>
        <p:spPr>
          <a:xfrm>
            <a:off x="9144000" y="3493008"/>
            <a:ext cx="457200" cy="274320"/>
          </a:xfrm>
          <a:prstGeom prst="rect">
            <a:avLst/>
          </a:prstGeom>
          <a:noFill/>
          <a:ln/>
        </p:spPr>
        <p:txBody>
          <a:bodyPr wrap="square" lIns="0" tIns="0" rIns="0" bIns="0" rtlCol="0" anchor="ctr"/>
          <a:lstStyle/>
          <a:p>
            <a:pPr indent="0" marL="0">
              <a:buNone/>
            </a:pPr>
            <a:r>
              <a:rPr lang="en-US" sz="1200" b="1" dirty="0">
                <a:solidFill>
                  <a:srgbClr val="2E7D32"/>
                </a:solidFill>
                <a:latin typeface="Aptos" pitchFamily="34" charset="0"/>
                <a:ea typeface="Aptos" pitchFamily="34" charset="-122"/>
                <a:cs typeface="Aptos" pitchFamily="34" charset="-120"/>
              </a:rPr>
              <a:t>Yes</a:t>
            </a:r>
            <a:endParaRPr lang="en-US" sz="1200" dirty="0"/>
          </a:p>
        </p:txBody>
      </p:sp>
      <p:sp>
        <p:nvSpPr>
          <p:cNvPr id="45" name="Shape 42"/>
          <p:cNvSpPr/>
          <p:nvPr/>
        </p:nvSpPr>
        <p:spPr>
          <a:xfrm>
            <a:off x="10515600" y="2514600"/>
            <a:ext cx="0" cy="868680"/>
          </a:xfrm>
          <a:prstGeom prst="line">
            <a:avLst/>
          </a:prstGeom>
          <a:noFill/>
          <a:ln w="22225">
            <a:solidFill>
              <a:srgbClr val="262626"/>
            </a:solidFill>
            <a:prstDash val="solid"/>
            <a:tailEnd type="triangle"/>
          </a:ln>
        </p:spPr>
      </p:sp>
      <p:sp>
        <p:nvSpPr>
          <p:cNvPr id="46" name="Shape 43"/>
          <p:cNvSpPr/>
          <p:nvPr/>
        </p:nvSpPr>
        <p:spPr>
          <a:xfrm>
            <a:off x="8092440" y="4498848"/>
            <a:ext cx="0" cy="621792"/>
          </a:xfrm>
          <a:prstGeom prst="line">
            <a:avLst/>
          </a:prstGeom>
          <a:noFill/>
          <a:ln w="22225">
            <a:solidFill>
              <a:srgbClr val="262626"/>
            </a:solidFill>
            <a:prstDash val="solid"/>
            <a:tailEnd type="triangle"/>
          </a:ln>
        </p:spPr>
      </p:sp>
      <p:sp>
        <p:nvSpPr>
          <p:cNvPr id="47" name="Text 44"/>
          <p:cNvSpPr txBox="1"/>
          <p:nvPr/>
        </p:nvSpPr>
        <p:spPr>
          <a:xfrm>
            <a:off x="8183880" y="4572000"/>
            <a:ext cx="457200" cy="274320"/>
          </a:xfrm>
          <a:prstGeom prst="rect">
            <a:avLst/>
          </a:prstGeom>
          <a:noFill/>
          <a:ln/>
        </p:spPr>
        <p:txBody>
          <a:bodyPr wrap="square" lIns="0" tIns="0" rIns="0" bIns="0" rtlCol="0" anchor="ctr"/>
          <a:lstStyle/>
          <a:p>
            <a:pPr indent="0" marL="0">
              <a:buNone/>
            </a:pPr>
            <a:r>
              <a:rPr lang="en-US" sz="1200" b="1" dirty="0">
                <a:solidFill>
                  <a:srgbClr val="C62828"/>
                </a:solidFill>
                <a:latin typeface="Aptos" pitchFamily="34" charset="0"/>
                <a:ea typeface="Aptos" pitchFamily="34" charset="-122"/>
                <a:cs typeface="Aptos" pitchFamily="34" charset="-120"/>
              </a:rPr>
              <a:t>No</a:t>
            </a:r>
            <a:endParaRPr lang="en-US" sz="1200" dirty="0"/>
          </a:p>
        </p:txBody>
      </p:sp>
      <p:sp>
        <p:nvSpPr>
          <p:cNvPr id="48" name="Shape 45"/>
          <p:cNvSpPr/>
          <p:nvPr/>
        </p:nvSpPr>
        <p:spPr>
          <a:xfrm>
            <a:off x="685800" y="3246120"/>
            <a:ext cx="4114800" cy="3108960"/>
          </a:xfrm>
          <a:prstGeom prst="roundRect">
            <a:avLst>
              <a:gd name="adj" fmla="val 3529"/>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49" name="Text 46"/>
          <p:cNvSpPr txBox="1"/>
          <p:nvPr/>
        </p:nvSpPr>
        <p:spPr>
          <a:xfrm>
            <a:off x="914400" y="3383280"/>
            <a:ext cx="3657600" cy="365760"/>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Why it matters</a:t>
            </a:r>
            <a:endParaRPr lang="en-US" sz="1600" dirty="0"/>
          </a:p>
        </p:txBody>
      </p:sp>
      <p:sp>
        <p:nvSpPr>
          <p:cNvPr id="50" name="Text 47"/>
          <p:cNvSpPr txBox="1"/>
          <p:nvPr/>
        </p:nvSpPr>
        <p:spPr>
          <a:xfrm>
            <a:off x="914400" y="3794760"/>
            <a:ext cx="3703320" cy="2468880"/>
          </a:xfrm>
          <a:prstGeom prst="rect">
            <a:avLst/>
          </a:prstGeom>
          <a:noFill/>
          <a:ln/>
        </p:spPr>
        <p:txBody>
          <a:bodyPr wrap="square" lIns="0" tIns="0" rIns="0" bIns="0" rtlCol="0" anchor="t"/>
          <a:lstStyle/>
          <a:p>
            <a:pPr marL="342900" indent="-342900">
              <a:buSzPct val="100000"/>
              <a:buChar char="•"/>
            </a:pPr>
            <a:r>
              <a:rPr lang="en-US" sz="1300" dirty="0">
                <a:solidFill>
                  <a:srgbClr val="D9D9D9"/>
                </a:solidFill>
                <a:latin typeface="Aptos" pitchFamily="34" charset="0"/>
                <a:ea typeface="Aptos" pitchFamily="34" charset="-122"/>
                <a:cs typeface="Aptos" pitchFamily="34" charset="-120"/>
              </a:rPr>
              <a:t>​</a:t>
            </a:r>
            <a:pPr indent="0" marL="0">
              <a:buNone/>
            </a:pPr>
            <a:r>
              <a:rPr lang="en-US" sz="1300" b="1" dirty="0">
                <a:solidFill>
                  <a:srgbClr val="D9D9D9"/>
                </a:solidFill>
                <a:latin typeface="Aptos" pitchFamily="34" charset="0"/>
                <a:ea typeface="Aptos" pitchFamily="34" charset="-122"/>
                <a:cs typeface="Aptos" pitchFamily="34" charset="-120"/>
              </a:rPr>
              <a:t>One file = </a:t>
            </a:r>
            <a:pPr indent="0" marL="0">
              <a:buNone/>
            </a:pPr>
            <a:r>
              <a:rPr lang="en-US" sz="1300" dirty="0">
                <a:solidFill>
                  <a:srgbClr val="D9D9D9"/>
                </a:solidFill>
                <a:latin typeface="Aptos" pitchFamily="34" charset="0"/>
                <a:ea typeface="Aptos" pitchFamily="34" charset="-122"/>
                <a:cs typeface="Aptos" pitchFamily="34" charset="-120"/>
              </a:rPr>
              <a:t>downloaded once, reused on every page. The second page opens faster.</a:t>
            </a:r>
            <a:endParaRPr lang="en-US" sz="1300" dirty="0"/>
          </a:p>
          <a:p>
            <a:pPr marL="342900" indent="-342900">
              <a:spcBef>
                <a:spcPts val="800"/>
              </a:spcBef>
              <a:buSzPct val="100000"/>
              <a:buChar char="•"/>
            </a:pPr>
            <a:r>
              <a:rPr lang="en-US" sz="1300" dirty="0">
                <a:solidFill>
                  <a:srgbClr val="D9D9D9"/>
                </a:solidFill>
                <a:latin typeface="Aptos" pitchFamily="34" charset="0"/>
                <a:ea typeface="Aptos" pitchFamily="34" charset="-122"/>
                <a:cs typeface="Aptos" pitchFamily="34" charset="-120"/>
              </a:rPr>
              <a:t>​</a:t>
            </a:r>
            <a:pPr indent="0" marL="0">
              <a:buNone/>
            </a:pPr>
            <a:r>
              <a:rPr lang="en-US" sz="1300" b="1" dirty="0">
                <a:solidFill>
                  <a:srgbClr val="D9D9D9"/>
                </a:solidFill>
                <a:latin typeface="Aptos" pitchFamily="34" charset="0"/>
                <a:ea typeface="Aptos" pitchFamily="34" charset="-122"/>
                <a:cs typeface="Aptos" pitchFamily="34" charset="-120"/>
              </a:rPr>
              <a:t>Wrong path = </a:t>
            </a:r>
            <a:pPr indent="0" marL="0">
              <a:buNone/>
            </a:pPr>
            <a:r>
              <a:rPr lang="en-US" sz="1300" dirty="0">
                <a:solidFill>
                  <a:srgbClr val="D9D9D9"/>
                </a:solidFill>
                <a:latin typeface="Aptos" pitchFamily="34" charset="0"/>
                <a:ea typeface="Aptos" pitchFamily="34" charset="-122"/>
                <a:cs typeface="Aptos" pitchFamily="34" charset="-120"/>
              </a:rPr>
              <a:t>a plain page and no warning. </a:t>
            </a:r>
            <a:pPr indent="0" marL="0">
              <a:buNone/>
            </a:pPr>
            <a:r>
              <a:rPr lang="en-US" sz="1300" dirty="0">
                <a:solidFill>
                  <a:srgbClr val="8A2B0B"/>
                </a:solidFill>
                <a:latin typeface="Consolas" pitchFamily="34" charset="0"/>
                <a:ea typeface="Consolas" pitchFamily="34" charset="-122"/>
                <a:cs typeface="Consolas" pitchFamily="34" charset="-120"/>
              </a:rPr>
              <a:t>Style.css</a:t>
            </a:r>
            <a:pPr indent="0" marL="0">
              <a:buNone/>
            </a:pPr>
            <a:r>
              <a:rPr lang="en-US" sz="1300" dirty="0">
                <a:solidFill>
                  <a:srgbClr val="D9D9D9"/>
                </a:solidFill>
                <a:latin typeface="Aptos" pitchFamily="34" charset="0"/>
                <a:ea typeface="Aptos" pitchFamily="34" charset="-122"/>
                <a:cs typeface="Aptos" pitchFamily="34" charset="-120"/>
              </a:rPr>
              <a:t> isn't </a:t>
            </a:r>
            <a:pPr indent="0" marL="0">
              <a:buNone/>
            </a:pPr>
            <a:r>
              <a:rPr lang="en-US" sz="1300" dirty="0">
                <a:solidFill>
                  <a:srgbClr val="8A2B0B"/>
                </a:solidFill>
                <a:latin typeface="Consolas" pitchFamily="34" charset="0"/>
                <a:ea typeface="Consolas" pitchFamily="34" charset="-122"/>
                <a:cs typeface="Consolas" pitchFamily="34" charset="-120"/>
              </a:rPr>
              <a:t>style.css</a:t>
            </a:r>
            <a:pPr indent="0" marL="0">
              <a:buNone/>
            </a:pPr>
            <a:r>
              <a:rPr lang="en-US" sz="1300" dirty="0">
                <a:solidFill>
                  <a:srgbClr val="D9D9D9"/>
                </a:solidFill>
                <a:latin typeface="Aptos" pitchFamily="34" charset="0"/>
                <a:ea typeface="Aptos" pitchFamily="34" charset="-122"/>
                <a:cs typeface="Aptos" pitchFamily="34" charset="-120"/>
              </a:rPr>
              <a:t> on most web servers.</a:t>
            </a:r>
            <a:endParaRPr lang="en-US" sz="1300" dirty="0"/>
          </a:p>
          <a:p>
            <a:pPr marL="342900" indent="-342900">
              <a:spcBef>
                <a:spcPts val="800"/>
              </a:spcBef>
              <a:buSzPct val="100000"/>
              <a:buChar char="•"/>
            </a:pPr>
            <a:r>
              <a:rPr lang="en-US" sz="1300" dirty="0">
                <a:solidFill>
                  <a:srgbClr val="D9D9D9"/>
                </a:solidFill>
                <a:latin typeface="Aptos" pitchFamily="34" charset="0"/>
                <a:ea typeface="Aptos" pitchFamily="34" charset="-122"/>
                <a:cs typeface="Aptos" pitchFamily="34" charset="-120"/>
              </a:rPr>
              <a:t>​</a:t>
            </a:r>
            <a:pPr indent="0" marL="0">
              <a:buNone/>
            </a:pPr>
            <a:r>
              <a:rPr lang="en-US" sz="1300" b="1" dirty="0">
                <a:solidFill>
                  <a:srgbClr val="D9D9D9"/>
                </a:solidFill>
                <a:latin typeface="Aptos" pitchFamily="34" charset="0"/>
                <a:ea typeface="Aptos" pitchFamily="34" charset="-122"/>
                <a:cs typeface="Aptos" pitchFamily="34" charset="-120"/>
              </a:rPr>
              <a:t>Check it: </a:t>
            </a:r>
            <a:pPr indent="0" marL="0">
              <a:buNone/>
            </a:pPr>
            <a:r>
              <a:rPr lang="en-US" sz="1300" dirty="0">
                <a:solidFill>
                  <a:srgbClr val="D9D9D9"/>
                </a:solidFill>
                <a:latin typeface="Aptos" pitchFamily="34" charset="0"/>
                <a:ea typeface="Aptos" pitchFamily="34" charset="-122"/>
                <a:cs typeface="Aptos" pitchFamily="34" charset="-120"/>
              </a:rPr>
              <a:t>F12 → Network → reload. style.css should say 200, not 404.</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402149"/>
            <a:ext cx="5852160" cy="6053701"/>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630749"/>
            <a:ext cx="5394960" cy="5596501"/>
          </a:xfrm>
          <a:prstGeom prst="rect">
            <a:avLst/>
          </a:prstGeom>
          <a:noFill/>
          <a:ln/>
        </p:spPr>
        <p:txBody>
          <a:bodyPr wrap="square" lIns="0" tIns="0" rIns="0" bIns="0" rtlCol="0" anchor="t"/>
          <a:lstStyle/>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One stylesheet, linked from index.html and portfolio.html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max-width</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800px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16px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line-height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1.6</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#262626</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h1, h2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ul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list-style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flex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gap</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a[aria-current="page"]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Responsive photos: fit any screen, never stretched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img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max-width</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margin-bottom</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16px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p:txBody>
      </p:sp>
      <p:sp>
        <p:nvSpPr>
          <p:cNvPr id="5" name="Shape 2"/>
          <p:cNvSpPr/>
          <p:nvPr/>
        </p:nvSpPr>
        <p:spPr>
          <a:xfrm>
            <a:off x="342900" y="5221037"/>
            <a:ext cx="54864" cy="146304"/>
          </a:xfrm>
          <a:prstGeom prst="rect">
            <a:avLst/>
          </a:prstGeom>
          <a:solidFill>
            <a:srgbClr val="E97132"/>
          </a:solidFill>
          <a:ln w="12700">
            <a:solidFill>
              <a:srgbClr val="E97132"/>
            </a:solidFill>
            <a:prstDash val="solid"/>
          </a:ln>
        </p:spPr>
      </p:sp>
      <p:sp>
        <p:nvSpPr>
          <p:cNvPr id="6" name="Shape 3"/>
          <p:cNvSpPr/>
          <p:nvPr/>
        </p:nvSpPr>
        <p:spPr>
          <a:xfrm>
            <a:off x="342900" y="5403917"/>
            <a:ext cx="54864" cy="146304"/>
          </a:xfrm>
          <a:prstGeom prst="rect">
            <a:avLst/>
          </a:prstGeom>
          <a:solidFill>
            <a:srgbClr val="E97132"/>
          </a:solidFill>
          <a:ln w="12700">
            <a:solidFill>
              <a:srgbClr val="E97132"/>
            </a:solidFill>
            <a:prstDash val="solid"/>
          </a:ln>
        </p:spPr>
      </p:sp>
      <p:sp>
        <p:nvSpPr>
          <p:cNvPr id="7" name="Text 4"/>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ASSIGNMENT 2 · THE SOLUTION</a:t>
            </a:r>
            <a:endParaRPr lang="en-US" sz="1400" dirty="0"/>
          </a:p>
        </p:txBody>
      </p:sp>
      <p:sp>
        <p:nvSpPr>
          <p:cNvPr id="8" name="Text 5"/>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style.css: The One Stylesheet</a:t>
            </a:r>
            <a:endParaRPr lang="en-US" sz="2600" dirty="0"/>
          </a:p>
        </p:txBody>
      </p:sp>
      <p:pic>
        <p:nvPicPr>
          <p:cNvPr id="9" name="Image 1" descr="C:\Repos\2026-2027\WEBD1000\07_Navigation_Tables_Validation\_build\shots\a2About.png">    </p:cNvPr>
          <p:cNvPicPr>
            <a:picLocks noChangeAspect="1"/>
          </p:cNvPicPr>
          <p:nvPr/>
        </p:nvPicPr>
        <p:blipFill>
          <a:blip r:embed="rId2"/>
          <a:stretch>
            <a:fillRect/>
          </a:stretch>
        </p:blipFill>
        <p:spPr>
          <a:xfrm>
            <a:off x="6812280" y="4935177"/>
            <a:ext cx="2415388" cy="1328463"/>
          </a:xfrm>
          <a:prstGeom prst="rect">
            <a:avLst/>
          </a:prstGeom>
        </p:spPr>
      </p:pic>
      <p:sp>
        <p:nvSpPr>
          <p:cNvPr id="10" name="Shape 6"/>
          <p:cNvSpPr/>
          <p:nvPr/>
        </p:nvSpPr>
        <p:spPr>
          <a:xfrm>
            <a:off x="6812280" y="4935177"/>
            <a:ext cx="2415388" cy="1328463"/>
          </a:xfrm>
          <a:prstGeom prst="rect">
            <a:avLst/>
          </a:prstGeom>
          <a:ln w="12700">
            <a:solidFill>
              <a:srgbClr val="B0B8BC"/>
            </a:solidFill>
            <a:prstDash val="solid"/>
          </a:ln>
        </p:spPr>
      </p:sp>
      <p:sp>
        <p:nvSpPr>
          <p:cNvPr id="11" name="Text 7"/>
          <p:cNvSpPr txBox="1"/>
          <p:nvPr/>
        </p:nvSpPr>
        <p:spPr>
          <a:xfrm>
            <a:off x="6812280" y="4642569"/>
            <a:ext cx="241538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INDEX.HTML</a:t>
            </a:r>
            <a:endParaRPr lang="en-US" sz="1100" dirty="0"/>
          </a:p>
        </p:txBody>
      </p:sp>
      <p:pic>
        <p:nvPicPr>
          <p:cNvPr id="12" name="Image 2" descr="C:\Repos\2026-2027\WEBD1000\07_Navigation_Tables_Validation\_build\shots\a2PortTop.png">    </p:cNvPr>
          <p:cNvPicPr>
            <a:picLocks noChangeAspect="1"/>
          </p:cNvPicPr>
          <p:nvPr/>
        </p:nvPicPr>
        <p:blipFill>
          <a:blip r:embed="rId3"/>
          <a:stretch>
            <a:fillRect/>
          </a:stretch>
        </p:blipFill>
        <p:spPr>
          <a:xfrm>
            <a:off x="9364828" y="4935177"/>
            <a:ext cx="2415388" cy="1328463"/>
          </a:xfrm>
          <a:prstGeom prst="rect">
            <a:avLst/>
          </a:prstGeom>
        </p:spPr>
      </p:pic>
      <p:sp>
        <p:nvSpPr>
          <p:cNvPr id="13" name="Shape 8"/>
          <p:cNvSpPr/>
          <p:nvPr/>
        </p:nvSpPr>
        <p:spPr>
          <a:xfrm>
            <a:off x="9364828" y="4935177"/>
            <a:ext cx="2415388" cy="1328463"/>
          </a:xfrm>
          <a:prstGeom prst="rect">
            <a:avLst/>
          </a:prstGeom>
          <a:ln w="12700">
            <a:solidFill>
              <a:srgbClr val="B0B8BC"/>
            </a:solidFill>
            <a:prstDash val="solid"/>
          </a:ln>
        </p:spPr>
      </p:sp>
      <p:sp>
        <p:nvSpPr>
          <p:cNvPr id="14" name="Text 9"/>
          <p:cNvSpPr txBox="1"/>
          <p:nvPr/>
        </p:nvSpPr>
        <p:spPr>
          <a:xfrm>
            <a:off x="9364828" y="4642569"/>
            <a:ext cx="241538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PORTFOLIO.HTML</a:t>
            </a:r>
            <a:endParaRPr lang="en-US" sz="1100" dirty="0"/>
          </a:p>
        </p:txBody>
      </p:sp>
      <p:sp>
        <p:nvSpPr>
          <p:cNvPr id="15" name="Text 10"/>
          <p:cNvSpPr txBox="1"/>
          <p:nvPr/>
        </p:nvSpPr>
        <p:spPr>
          <a:xfrm>
            <a:off x="6812280" y="1783080"/>
            <a:ext cx="4967935" cy="2768049"/>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Nothing in it belongs to one page, so </a:t>
            </a:r>
            <a:pPr indent="0" marL="0">
              <a:buNone/>
            </a:pPr>
            <a:r>
              <a:rPr lang="en-US" sz="1400" b="1" dirty="0">
                <a:solidFill>
                  <a:srgbClr val="262626"/>
                </a:solidFill>
                <a:latin typeface="Aptos" pitchFamily="34" charset="0"/>
                <a:ea typeface="Aptos" pitchFamily="34" charset="-122"/>
                <a:cs typeface="Aptos" pitchFamily="34" charset="-120"/>
              </a:rPr>
              <a:t>both pages</a:t>
            </a:r>
            <a:pPr indent="0" marL="0">
              <a:buNone/>
            </a:pPr>
            <a:r>
              <a:rPr lang="en-US" sz="1400" dirty="0">
                <a:solidFill>
                  <a:srgbClr val="262626"/>
                </a:solidFill>
                <a:latin typeface="Aptos" pitchFamily="34" charset="0"/>
                <a:ea typeface="Aptos" pitchFamily="34" charset="-122"/>
                <a:cs typeface="Aptos" pitchFamily="34" charset="-120"/>
              </a:rPr>
              <a:t> can use it.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max-width: 800px</a:t>
            </a:r>
            <a:pPr indent="0" marL="0">
              <a:buNone/>
            </a:pPr>
            <a:r>
              <a:rPr lang="en-US" sz="1400" dirty="0">
                <a:solidFill>
                  <a:srgbClr val="262626"/>
                </a:solidFill>
                <a:latin typeface="Aptos" pitchFamily="34" charset="0"/>
                <a:ea typeface="Aptos" pitchFamily="34" charset="-122"/>
                <a:cs typeface="Aptos" pitchFamily="34" charset="-120"/>
              </a:rPr>
              <a:t> + </a:t>
            </a:r>
            <a:pPr indent="0" marL="0">
              <a:buNone/>
            </a:pPr>
            <a:r>
              <a:rPr lang="en-US" sz="1400" dirty="0">
                <a:solidFill>
                  <a:srgbClr val="8A2B0B"/>
                </a:solidFill>
                <a:latin typeface="Consolas" pitchFamily="34" charset="0"/>
                <a:ea typeface="Consolas" pitchFamily="34" charset="-122"/>
                <a:cs typeface="Consolas" pitchFamily="34" charset="-120"/>
              </a:rPr>
              <a:t>margin: 0 auto</a:t>
            </a:r>
            <a:pPr indent="0" marL="0">
              <a:buNone/>
            </a:pPr>
            <a:r>
              <a:rPr lang="en-US" sz="1400" dirty="0">
                <a:solidFill>
                  <a:srgbClr val="262626"/>
                </a:solidFill>
                <a:latin typeface="Aptos" pitchFamily="34" charset="0"/>
                <a:ea typeface="Aptos" pitchFamily="34" charset="-122"/>
                <a:cs typeface="Aptos" pitchFamily="34" charset="-120"/>
              </a:rPr>
              <a:t>: readable lines, centred page.</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a:t>
            </a:r>
            <a:pPr indent="0" marL="0">
              <a:buNone/>
            </a:pPr>
            <a:r>
              <a:rPr lang="en-US" sz="1400" dirty="0">
                <a:solidFill>
                  <a:srgbClr val="8A2B0B"/>
                </a:solidFill>
                <a:latin typeface="Consolas" pitchFamily="34" charset="0"/>
                <a:ea typeface="Consolas" pitchFamily="34" charset="-122"/>
                <a:cs typeface="Consolas" pitchFamily="34" charset="-120"/>
              </a:rPr>
              <a:t>nav ul</a:t>
            </a:r>
            <a:pPr indent="0" marL="0">
              <a:buNone/>
            </a:pPr>
            <a:r>
              <a:rPr lang="en-US" sz="1400" dirty="0">
                <a:solidFill>
                  <a:srgbClr val="262626"/>
                </a:solidFill>
                <a:latin typeface="Aptos" pitchFamily="34" charset="0"/>
                <a:ea typeface="Aptos" pitchFamily="34" charset="-122"/>
                <a:cs typeface="Aptos" pitchFamily="34" charset="-120"/>
              </a:rPr>
              <a:t> rule is Class 10's horizontal menu.</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max-width: 100%</a:t>
            </a:r>
            <a:pPr indent="0" marL="0">
              <a:buNone/>
            </a:pPr>
            <a:r>
              <a:rPr lang="en-US" sz="1400" dirty="0">
                <a:solidFill>
                  <a:srgbClr val="262626"/>
                </a:solidFill>
                <a:latin typeface="Aptos" pitchFamily="34" charset="0"/>
                <a:ea typeface="Aptos" pitchFamily="34" charset="-122"/>
                <a:cs typeface="Aptos" pitchFamily="34" charset="-120"/>
              </a:rPr>
              <a:t> + </a:t>
            </a:r>
            <a:pPr indent="0" marL="0">
              <a:buNone/>
            </a:pPr>
            <a:r>
              <a:rPr lang="en-US" sz="1400" dirty="0">
                <a:solidFill>
                  <a:srgbClr val="8A2B0B"/>
                </a:solidFill>
                <a:latin typeface="Consolas" pitchFamily="34" charset="0"/>
                <a:ea typeface="Consolas" pitchFamily="34" charset="-122"/>
                <a:cs typeface="Consolas" pitchFamily="34" charset="-120"/>
              </a:rPr>
              <a:t>height: auto</a:t>
            </a:r>
            <a:pPr indent="0" marL="0">
              <a:buNone/>
            </a:pPr>
            <a:r>
              <a:rPr lang="en-US" sz="1400" dirty="0">
                <a:solidFill>
                  <a:srgbClr val="262626"/>
                </a:solidFill>
                <a:latin typeface="Aptos" pitchFamily="34" charset="0"/>
                <a:ea typeface="Aptos" pitchFamily="34" charset="-122"/>
                <a:cs typeface="Aptos" pitchFamily="34" charset="-120"/>
              </a:rPr>
              <a:t>: the photos fit any screen, and keep their shape.</a:t>
            </a:r>
            <a:endParaRPr lang="en-US" sz="1400" dirty="0"/>
          </a:p>
        </p:txBody>
      </p:sp>
      <p:sp>
        <p:nvSpPr>
          <p:cNvPr id="16" name="Text 11"/>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assignment2_solution/style.css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987062"/>
            <a:ext cx="5852160" cy="4883876"/>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215662"/>
            <a:ext cx="5394960" cy="4426676"/>
          </a:xfrm>
          <a:prstGeom prst="rect">
            <a:avLst/>
          </a:prstGeom>
          <a:noFill/>
          <a:ln/>
        </p:spPr>
        <p:txBody>
          <a:bodyPr wrap="square" lIns="0" tIns="0" rIns="0" bIns="0" rtlCol="0" anchor="t"/>
          <a:lstStyle/>
          <a:p>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!DOCTYPE</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html</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html</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lang</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"en"</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head</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meta</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charset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"UTF-8"</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meta</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name</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"viewport"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content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"width=device-width, initial-scale=1.0"</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title</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About Me | Sam Rivers</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title</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link</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rel</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"stylesheet"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"style.css"</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head</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body</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header</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Sam Rivers</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"index.html"</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aria-current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"page"</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About Me</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"portfolio.html"</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Portfolio</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header</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main</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About Me</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Hi! I'm Sam, a first-year Web Development student.</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On weekends I walk Nova Scotia's beaches with my camera.</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See my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"portfolio.html"</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Portfolio</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for my best shots.</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main</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footer</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&amp;copy;</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2026 Sam Rivers</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footer</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body</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50" dirty="0">
                <a:solidFill>
                  <a:srgbClr val="569CD6"/>
                </a:solidFill>
                <a:latin typeface="Consolas" pitchFamily="34" charset="0"/>
                <a:ea typeface="Consolas" pitchFamily="34" charset="-122"/>
                <a:cs typeface="Consolas" pitchFamily="34" charset="-120"/>
              </a:rPr>
              <a:t>html</a:t>
            </a:r>
            <a:pPr indent="0" marL="0">
              <a:lnSpc>
                <a:spcPct val="100000"/>
              </a:lnSpc>
              <a:buNone/>
            </a:pPr>
            <a:r>
              <a:rPr lang="en-US" sz="950" dirty="0">
                <a:solidFill>
                  <a:srgbClr val="808080"/>
                </a:solidFill>
                <a:latin typeface="Consolas" pitchFamily="34" charset="0"/>
                <a:ea typeface="Consolas" pitchFamily="34" charset="-122"/>
                <a:cs typeface="Consolas" pitchFamily="34" charset="-120"/>
              </a:rPr>
              <a:t>&gt;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p:txBody>
      </p:sp>
      <p:sp>
        <p:nvSpPr>
          <p:cNvPr id="5" name="Shape 2"/>
          <p:cNvSpPr/>
          <p:nvPr/>
        </p:nvSpPr>
        <p:spPr>
          <a:xfrm>
            <a:off x="342900" y="2098820"/>
            <a:ext cx="54864" cy="115824"/>
          </a:xfrm>
          <a:prstGeom prst="rect">
            <a:avLst/>
          </a:prstGeom>
          <a:solidFill>
            <a:srgbClr val="E97132"/>
          </a:solidFill>
          <a:ln w="12700">
            <a:solidFill>
              <a:srgbClr val="E97132"/>
            </a:solidFill>
            <a:prstDash val="solid"/>
          </a:ln>
        </p:spPr>
      </p:sp>
      <p:sp>
        <p:nvSpPr>
          <p:cNvPr id="6" name="Shape 3"/>
          <p:cNvSpPr/>
          <p:nvPr/>
        </p:nvSpPr>
        <p:spPr>
          <a:xfrm>
            <a:off x="342900" y="3112280"/>
            <a:ext cx="54864" cy="115824"/>
          </a:xfrm>
          <a:prstGeom prst="rect">
            <a:avLst/>
          </a:prstGeom>
          <a:solidFill>
            <a:srgbClr val="E97132"/>
          </a:solidFill>
          <a:ln w="12700">
            <a:solidFill>
              <a:srgbClr val="E97132"/>
            </a:solidFill>
            <a:prstDash val="solid"/>
          </a:ln>
        </p:spPr>
      </p:sp>
      <p:sp>
        <p:nvSpPr>
          <p:cNvPr id="7" name="Text 4"/>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ASSIGNMENT 2 · THE SOLUTION</a:t>
            </a:r>
            <a:endParaRPr lang="en-US" sz="1400" dirty="0"/>
          </a:p>
        </p:txBody>
      </p:sp>
      <p:sp>
        <p:nvSpPr>
          <p:cNvPr id="8" name="Text 5"/>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index.html: About Me</a:t>
            </a:r>
            <a:endParaRPr lang="en-US" sz="3200" dirty="0"/>
          </a:p>
        </p:txBody>
      </p:sp>
      <p:pic>
        <p:nvPicPr>
          <p:cNvPr id="9" name="Image 1" descr="C:\Repos\2026-2027\WEBD1000\07_Navigation_Tables_Validation\_build\shots\a2About.png">    </p:cNvPr>
          <p:cNvPicPr>
            <a:picLocks noChangeAspect="1"/>
          </p:cNvPicPr>
          <p:nvPr/>
        </p:nvPicPr>
        <p:blipFill>
          <a:blip r:embed="rId2"/>
          <a:stretch>
            <a:fillRect/>
          </a:stretch>
        </p:blipFill>
        <p:spPr>
          <a:xfrm>
            <a:off x="6812280" y="3485556"/>
            <a:ext cx="4967935" cy="2732364"/>
          </a:xfrm>
          <a:prstGeom prst="rect">
            <a:avLst/>
          </a:prstGeom>
        </p:spPr>
      </p:pic>
      <p:sp>
        <p:nvSpPr>
          <p:cNvPr id="10" name="Shape 6"/>
          <p:cNvSpPr/>
          <p:nvPr/>
        </p:nvSpPr>
        <p:spPr>
          <a:xfrm>
            <a:off x="6812280" y="3485556"/>
            <a:ext cx="4967935" cy="2732364"/>
          </a:xfrm>
          <a:prstGeom prst="rect">
            <a:avLst/>
          </a:prstGeom>
          <a:ln w="12700">
            <a:solidFill>
              <a:srgbClr val="B0B8BC"/>
            </a:solidFill>
            <a:prstDash val="solid"/>
          </a:ln>
        </p:spPr>
      </p:sp>
      <p:sp>
        <p:nvSpPr>
          <p:cNvPr id="11" name="Text 7"/>
          <p:cNvSpPr txBox="1"/>
          <p:nvPr/>
        </p:nvSpPr>
        <p:spPr>
          <a:xfrm>
            <a:off x="6812280" y="3192948"/>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2" name="Text 8"/>
          <p:cNvSpPr txBox="1"/>
          <p:nvPr/>
        </p:nvSpPr>
        <p:spPr>
          <a:xfrm>
            <a:off x="6812280" y="1508760"/>
            <a:ext cx="4967935" cy="1592748"/>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a:t>
            </a:r>
            <a:pPr indent="0" marL="0">
              <a:buNone/>
            </a:pPr>
            <a:r>
              <a:rPr lang="en-US" sz="1400" dirty="0">
                <a:solidFill>
                  <a:srgbClr val="8A2B0B"/>
                </a:solidFill>
                <a:latin typeface="Consolas" pitchFamily="34" charset="0"/>
                <a:ea typeface="Consolas" pitchFamily="34" charset="-122"/>
                <a:cs typeface="Consolas" pitchFamily="34" charset="-120"/>
              </a:rPr>
              <a:t>&lt;link&gt;</a:t>
            </a:r>
            <a:pPr indent="0" marL="0">
              <a:buNone/>
            </a:pPr>
            <a:r>
              <a:rPr lang="en-US" sz="1400" dirty="0">
                <a:solidFill>
                  <a:srgbClr val="262626"/>
                </a:solidFill>
                <a:latin typeface="Aptos" pitchFamily="34" charset="0"/>
                <a:ea typeface="Aptos" pitchFamily="34" charset="-122"/>
                <a:cs typeface="Aptos" pitchFamily="34" charset="-120"/>
              </a:rPr>
              <a:t> in the </a:t>
            </a:r>
            <a:pPr indent="0" marL="0">
              <a:buNone/>
            </a:pPr>
            <a:r>
              <a:rPr lang="en-US" sz="1400" dirty="0">
                <a:solidFill>
                  <a:srgbClr val="8A2B0B"/>
                </a:solidFill>
                <a:latin typeface="Consolas" pitchFamily="34" charset="0"/>
                <a:ea typeface="Consolas" pitchFamily="34" charset="-122"/>
                <a:cs typeface="Consolas" pitchFamily="34" charset="-120"/>
              </a:rPr>
              <a:t>&lt;head&gt;</a:t>
            </a:r>
            <a:pPr indent="0" marL="0">
              <a:buNone/>
            </a:pPr>
            <a:r>
              <a:rPr lang="en-US" sz="1400" dirty="0">
                <a:solidFill>
                  <a:srgbClr val="262626"/>
                </a:solidFill>
                <a:latin typeface="Aptos" pitchFamily="34" charset="0"/>
                <a:ea typeface="Aptos" pitchFamily="34" charset="-122"/>
                <a:cs typeface="Aptos" pitchFamily="34" charset="-120"/>
              </a:rPr>
              <a:t> joins the page to style.css. It's the same line on every page.</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Links between pages are just the file name: </a:t>
            </a:r>
            <a:pPr indent="0" marL="0">
              <a:buNone/>
            </a:pPr>
            <a:r>
              <a:rPr lang="en-US" sz="1400" dirty="0">
                <a:solidFill>
                  <a:srgbClr val="8A2B0B"/>
                </a:solidFill>
                <a:latin typeface="Consolas" pitchFamily="34" charset="0"/>
                <a:ea typeface="Consolas" pitchFamily="34" charset="-122"/>
                <a:cs typeface="Consolas" pitchFamily="34" charset="-120"/>
              </a:rPr>
              <a:t>href="portfolio.html"</a:t>
            </a:r>
            <a:pPr indent="0" marL="0">
              <a:buNone/>
            </a:pP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aria-current</a:t>
            </a:r>
            <a:pPr indent="0" marL="0">
              <a:buNone/>
            </a:pPr>
            <a:r>
              <a:rPr lang="en-US" sz="1400" dirty="0">
                <a:solidFill>
                  <a:srgbClr val="262626"/>
                </a:solidFill>
                <a:latin typeface="Aptos" pitchFamily="34" charset="0"/>
                <a:ea typeface="Aptos" pitchFamily="34" charset="-122"/>
                <a:cs typeface="Aptos" pitchFamily="34" charset="-120"/>
              </a:rPr>
              <a:t> moves to whichever page you're on.</a:t>
            </a:r>
            <a:endParaRPr lang="en-US" sz="1400" dirty="0"/>
          </a:p>
        </p:txBody>
      </p:sp>
      <p:sp>
        <p:nvSpPr>
          <p:cNvPr id="13" name="Text 9"/>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assignment2_solution/index.html</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937276"/>
            <a:ext cx="5852160" cy="2983448"/>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2047004"/>
            <a:ext cx="5394960"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THE &lt;MAIN&gt; (THE HEAD, HEADER AND FOOTER MATCH INDEX.HTML)</a:t>
            </a:r>
            <a:endParaRPr lang="en-US" sz="1100" dirty="0"/>
          </a:p>
        </p:txBody>
      </p:sp>
      <p:sp>
        <p:nvSpPr>
          <p:cNvPr id="5" name="Text 2"/>
          <p:cNvSpPr txBox="1"/>
          <p:nvPr/>
        </p:nvSpPr>
        <p:spPr>
          <a:xfrm>
            <a:off x="502920" y="2513348"/>
            <a:ext cx="5394960" cy="2178776"/>
          </a:xfrm>
          <a:prstGeom prst="rect">
            <a:avLst/>
          </a:prstGeom>
          <a:noFill/>
          <a:ln/>
        </p:spPr>
        <p:txBody>
          <a:bodyPr wrap="square" lIns="0" tIns="0" rIns="0" bIns="0" rtlCol="0" anchor="t"/>
          <a:lstStyle/>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main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Portfolio</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Three photos from one beach walk, resized for the web.</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"images/beach_trees.jpg"</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"Spruce trees on a sandy bank above a rocky beach"</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"640"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"427"</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"images/beach_rocks.jpg"</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"Round grey boulders on wet sand at the water's edge"</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"640"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"427"</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"images/beach_water.jpg"</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"Calm sea under a pale blue sky, a low shore on the horizon"</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"640"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"427"</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main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6" name="Text 3"/>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ASSIGNMENT 2 · THE SOLUTION</a:t>
            </a:r>
            <a:endParaRPr lang="en-US" sz="1400" dirty="0"/>
          </a:p>
        </p:txBody>
      </p:sp>
      <p:sp>
        <p:nvSpPr>
          <p:cNvPr id="7" name="Text 4"/>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portfolio.html: Three Photos</a:t>
            </a:r>
            <a:endParaRPr lang="en-US" sz="2600" dirty="0"/>
          </a:p>
        </p:txBody>
      </p:sp>
      <p:pic>
        <p:nvPicPr>
          <p:cNvPr id="8" name="Image 1" descr="C:\Repos\2026-2027\WEBD1000\07_Navigation_Tables_Validation\_build\shots\a2Port.png">    </p:cNvPr>
          <p:cNvPicPr>
            <a:picLocks noChangeAspect="1"/>
          </p:cNvPicPr>
          <p:nvPr/>
        </p:nvPicPr>
        <p:blipFill>
          <a:blip r:embed="rId2"/>
          <a:stretch>
            <a:fillRect/>
          </a:stretch>
        </p:blipFill>
        <p:spPr>
          <a:xfrm>
            <a:off x="6812280" y="3429000"/>
            <a:ext cx="3921919" cy="2788920"/>
          </a:xfrm>
          <a:prstGeom prst="rect">
            <a:avLst/>
          </a:prstGeom>
        </p:spPr>
      </p:pic>
      <p:sp>
        <p:nvSpPr>
          <p:cNvPr id="9" name="Shape 5"/>
          <p:cNvSpPr/>
          <p:nvPr/>
        </p:nvSpPr>
        <p:spPr>
          <a:xfrm>
            <a:off x="6812280" y="3429000"/>
            <a:ext cx="3921919" cy="2788920"/>
          </a:xfrm>
          <a:prstGeom prst="rect">
            <a:avLst/>
          </a:prstGeom>
          <a:ln w="12700">
            <a:solidFill>
              <a:srgbClr val="B0B8BC"/>
            </a:solidFill>
            <a:prstDash val="solid"/>
          </a:ln>
        </p:spPr>
      </p:sp>
      <p:sp>
        <p:nvSpPr>
          <p:cNvPr id="10" name="Text 6"/>
          <p:cNvSpPr txBox="1"/>
          <p:nvPr/>
        </p:nvSpPr>
        <p:spPr>
          <a:xfrm>
            <a:off x="6812280" y="3136392"/>
            <a:ext cx="3921919"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1" name="Text 7"/>
          <p:cNvSpPr txBox="1"/>
          <p:nvPr/>
        </p:nvSpPr>
        <p:spPr>
          <a:xfrm>
            <a:off x="6812280" y="1783080"/>
            <a:ext cx="4967935" cy="1261872"/>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Same </a:t>
            </a:r>
            <a:pPr indent="0" marL="0">
              <a:buNone/>
            </a:pPr>
            <a:r>
              <a:rPr lang="en-US" sz="1400" dirty="0">
                <a:solidFill>
                  <a:srgbClr val="8A2B0B"/>
                </a:solidFill>
                <a:latin typeface="Consolas" pitchFamily="34" charset="0"/>
                <a:ea typeface="Consolas" pitchFamily="34" charset="-122"/>
                <a:cs typeface="Consolas" pitchFamily="34" charset="-120"/>
              </a:rPr>
              <a:t>&lt;head&gt;</a:t>
            </a:r>
            <a:pPr indent="0" marL="0">
              <a:buNone/>
            </a:pPr>
            <a:r>
              <a:rPr lang="en-US" sz="1400" dirty="0">
                <a:solidFill>
                  <a:srgbClr val="262626"/>
                </a:solidFill>
                <a:latin typeface="Aptos" pitchFamily="34" charset="0"/>
                <a:ea typeface="Aptos" pitchFamily="34" charset="-122"/>
                <a:cs typeface="Aptos" pitchFamily="34" charset="-120"/>
              </a:rPr>
              <a:t>, header and footer as index.html. Only the title, </a:t>
            </a:r>
            <a:pPr indent="0" marL="0">
              <a:buNone/>
            </a:pPr>
            <a:r>
              <a:rPr lang="en-US" sz="1400" dirty="0">
                <a:solidFill>
                  <a:srgbClr val="8A2B0B"/>
                </a:solidFill>
                <a:latin typeface="Consolas" pitchFamily="34" charset="0"/>
                <a:ea typeface="Consolas" pitchFamily="34" charset="-122"/>
                <a:cs typeface="Consolas" pitchFamily="34" charset="-120"/>
              </a:rPr>
              <a:t>aria-current</a:t>
            </a:r>
            <a:pPr indent="0" marL="0">
              <a:buNone/>
            </a:pPr>
            <a:r>
              <a:rPr lang="en-US" sz="1400" dirty="0">
                <a:solidFill>
                  <a:srgbClr val="262626"/>
                </a:solidFill>
                <a:latin typeface="Aptos" pitchFamily="34" charset="0"/>
                <a:ea typeface="Aptos" pitchFamily="34" charset="-122"/>
                <a:cs typeface="Aptos" pitchFamily="34" charset="-120"/>
              </a:rPr>
              <a:t> and </a:t>
            </a:r>
            <a:pPr indent="0" marL="0">
              <a:buNone/>
            </a:pPr>
            <a:r>
              <a:rPr lang="en-US" sz="1400" dirty="0">
                <a:solidFill>
                  <a:srgbClr val="8A2B0B"/>
                </a:solidFill>
                <a:latin typeface="Consolas" pitchFamily="34" charset="0"/>
                <a:ea typeface="Consolas" pitchFamily="34" charset="-122"/>
                <a:cs typeface="Consolas" pitchFamily="34" charset="-120"/>
              </a:rPr>
              <a:t>main</a:t>
            </a:r>
            <a:pPr indent="0" marL="0">
              <a:buNone/>
            </a:pPr>
            <a:r>
              <a:rPr lang="en-US" sz="1400" dirty="0">
                <a:solidFill>
                  <a:srgbClr val="262626"/>
                </a:solidFill>
                <a:latin typeface="Aptos" pitchFamily="34" charset="0"/>
                <a:ea typeface="Aptos" pitchFamily="34" charset="-122"/>
                <a:cs typeface="Aptos" pitchFamily="34" charset="-120"/>
              </a:rPr>
              <a:t> change.</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alt</a:t>
            </a:r>
            <a:pPr indent="0" marL="0">
              <a:buNone/>
            </a:pPr>
            <a:r>
              <a:rPr lang="en-US" sz="1400" dirty="0">
                <a:solidFill>
                  <a:srgbClr val="262626"/>
                </a:solidFill>
                <a:latin typeface="Aptos" pitchFamily="34" charset="0"/>
                <a:ea typeface="Aptos" pitchFamily="34" charset="-122"/>
                <a:cs typeface="Aptos" pitchFamily="34" charset="-120"/>
              </a:rPr>
              <a:t> says what's in each photo. </a:t>
            </a:r>
            <a:pPr indent="0" marL="0">
              <a:buNone/>
            </a:pPr>
            <a:r>
              <a:rPr lang="en-US" sz="1400" dirty="0">
                <a:solidFill>
                  <a:srgbClr val="8A2B0B"/>
                </a:solidFill>
                <a:latin typeface="Consolas" pitchFamily="34" charset="0"/>
                <a:ea typeface="Consolas" pitchFamily="34" charset="-122"/>
                <a:cs typeface="Consolas" pitchFamily="34" charset="-120"/>
              </a:rPr>
              <a:t>width</a:t>
            </a:r>
            <a:pPr indent="0" marL="0">
              <a:buNone/>
            </a:pPr>
            <a:r>
              <a:rPr lang="en-US" sz="1400" dirty="0">
                <a:solidFill>
                  <a:srgbClr val="262626"/>
                </a:solidFill>
                <a:latin typeface="Aptos" pitchFamily="34" charset="0"/>
                <a:ea typeface="Aptos" pitchFamily="34" charset="-122"/>
                <a:cs typeface="Aptos" pitchFamily="34" charset="-120"/>
              </a:rPr>
              <a:t> and </a:t>
            </a:r>
            <a:pPr indent="0" marL="0">
              <a:buNone/>
            </a:pPr>
            <a:r>
              <a:rPr lang="en-US" sz="1400" dirty="0">
                <a:solidFill>
                  <a:srgbClr val="8A2B0B"/>
                </a:solidFill>
                <a:latin typeface="Consolas" pitchFamily="34" charset="0"/>
                <a:ea typeface="Consolas" pitchFamily="34" charset="-122"/>
                <a:cs typeface="Consolas" pitchFamily="34" charset="-120"/>
              </a:rPr>
              <a:t>height</a:t>
            </a:r>
            <a:pPr indent="0" marL="0">
              <a:buNone/>
            </a:pPr>
            <a:r>
              <a:rPr lang="en-US" sz="1400" dirty="0">
                <a:solidFill>
                  <a:srgbClr val="262626"/>
                </a:solidFill>
                <a:latin typeface="Aptos" pitchFamily="34" charset="0"/>
                <a:ea typeface="Aptos" pitchFamily="34" charset="-122"/>
                <a:cs typeface="Aptos" pitchFamily="34" charset="-120"/>
              </a:rPr>
              <a:t> (the real size) save its space while it loads.</a:t>
            </a:r>
            <a:endParaRPr lang="en-US" sz="1400" dirty="0"/>
          </a:p>
        </p:txBody>
      </p:sp>
      <p:sp>
        <p:nvSpPr>
          <p:cNvPr id="12" name="Text 8"/>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assignment2_solution/portfolio.html</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Paths: How Pages Find Their Files</a:t>
            </a:r>
            <a:endParaRPr lang="en-US" sz="2800" dirty="0"/>
          </a:p>
        </p:txBody>
      </p:sp>
      <p:sp>
        <p:nvSpPr>
          <p:cNvPr id="7" name="Shape 4"/>
          <p:cNvSpPr/>
          <p:nvPr/>
        </p:nvSpPr>
        <p:spPr>
          <a:xfrm>
            <a:off x="4754880" y="1783080"/>
            <a:ext cx="3017520" cy="23774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983480" y="1892808"/>
            <a:ext cx="2560320"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ONE FOLDER, ZIPPED</a:t>
            </a:r>
            <a:endParaRPr lang="en-US" sz="1100" dirty="0"/>
          </a:p>
        </p:txBody>
      </p:sp>
      <p:sp>
        <p:nvSpPr>
          <p:cNvPr id="9" name="Text 6"/>
          <p:cNvSpPr txBox="1"/>
          <p:nvPr/>
        </p:nvSpPr>
        <p:spPr>
          <a:xfrm>
            <a:off x="4983480" y="2359152"/>
            <a:ext cx="2560320" cy="1572768"/>
          </a:xfrm>
          <a:prstGeom prst="rect">
            <a:avLst/>
          </a:prstGeom>
          <a:noFill/>
          <a:ln/>
        </p:spPr>
        <p:txBody>
          <a:bodyPr wrap="square" lIns="0" tIns="0" rIns="0" bIns="0" rtlCol="0" anchor="t"/>
          <a:lstStyle/>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assignment2_solution/</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index.html</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portfolio.html</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style.css</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images/</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 beach_trees.jpg</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 beach_rocks.jpg</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 beach_water.jpg</a:t>
            </a:r>
            <a:endParaRPr lang="en-US" sz="1300" dirty="0"/>
          </a:p>
        </p:txBody>
      </p:sp>
      <p:sp>
        <p:nvSpPr>
          <p:cNvPr id="10" name="Text 7"/>
          <p:cNvSpPr txBox="1"/>
          <p:nvPr/>
        </p:nvSpPr>
        <p:spPr>
          <a:xfrm>
            <a:off x="8046720" y="1828800"/>
            <a:ext cx="3611880" cy="233172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Everything in </a:t>
            </a:r>
            <a:pPr indent="0" marL="0">
              <a:buNone/>
            </a:pPr>
            <a:r>
              <a:rPr lang="en-US" sz="1450" b="1" dirty="0">
                <a:solidFill>
                  <a:srgbClr val="262626"/>
                </a:solidFill>
                <a:latin typeface="Aptos" pitchFamily="34" charset="0"/>
                <a:ea typeface="Aptos" pitchFamily="34" charset="-122"/>
                <a:cs typeface="Aptos" pitchFamily="34" charset="-120"/>
              </a:rPr>
              <a:t>one folder</a:t>
            </a:r>
            <a:pPr indent="0" marL="0">
              <a:buNone/>
            </a:pPr>
            <a:r>
              <a:rPr lang="en-US" sz="1450" dirty="0">
                <a:solidFill>
                  <a:srgbClr val="262626"/>
                </a:solidFill>
                <a:latin typeface="Aptos" pitchFamily="34" charset="0"/>
                <a:ea typeface="Aptos" pitchFamily="34" charset="-122"/>
                <a:cs typeface="Aptos" pitchFamily="34" charset="-120"/>
              </a:rPr>
              <a:t>. Zip the folder.</a:t>
            </a:r>
            <a:endParaRPr lang="en-US" sz="1450" dirty="0"/>
          </a:p>
          <a:p>
            <a:pPr marL="342900" indent="-342900">
              <a:spcBef>
                <a:spcPts val="12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Lowercase</a:t>
            </a:r>
            <a:pPr indent="0" marL="0">
              <a:buNone/>
            </a:pPr>
            <a:r>
              <a:rPr lang="en-US" sz="1450" dirty="0">
                <a:solidFill>
                  <a:srgbClr val="262626"/>
                </a:solidFill>
                <a:latin typeface="Aptos" pitchFamily="34" charset="0"/>
                <a:ea typeface="Aptos" pitchFamily="34" charset="-122"/>
                <a:cs typeface="Aptos" pitchFamily="34" charset="-120"/>
              </a:rPr>
              <a:t> names, </a:t>
            </a:r>
            <a:pPr indent="0" marL="0">
              <a:buNone/>
            </a:pPr>
            <a:r>
              <a:rPr lang="en-US" sz="1450" b="1" dirty="0">
                <a:solidFill>
                  <a:srgbClr val="262626"/>
                </a:solidFill>
                <a:latin typeface="Aptos" pitchFamily="34" charset="0"/>
                <a:ea typeface="Aptos" pitchFamily="34" charset="-122"/>
                <a:cs typeface="Aptos" pitchFamily="34" charset="-120"/>
              </a:rPr>
              <a:t>no spaces</a:t>
            </a:r>
            <a:pPr indent="0" marL="0">
              <a:buNone/>
            </a:pPr>
            <a:r>
              <a:rPr lang="en-US" sz="1450" dirty="0">
                <a:solidFill>
                  <a:srgbClr val="262626"/>
                </a:solidFill>
                <a:latin typeface="Aptos" pitchFamily="34" charset="0"/>
                <a:ea typeface="Aptos" pitchFamily="34" charset="-122"/>
                <a:cs typeface="Aptos" pitchFamily="34" charset="-120"/>
              </a:rPr>
              <a:t>: beach_trees.jpg</a:t>
            </a:r>
            <a:endParaRPr lang="en-US" sz="1450" dirty="0"/>
          </a:p>
          <a:p>
            <a:pPr marL="342900" indent="-342900">
              <a:spcBef>
                <a:spcPts val="12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Test the ZIP: </a:t>
            </a:r>
            <a:pPr indent="0" marL="0">
              <a:buNone/>
            </a:pPr>
            <a:r>
              <a:rPr lang="en-US" sz="1450" dirty="0">
                <a:solidFill>
                  <a:srgbClr val="262626"/>
                </a:solidFill>
                <a:latin typeface="Aptos" pitchFamily="34" charset="0"/>
                <a:ea typeface="Aptos" pitchFamily="34" charset="-122"/>
                <a:cs typeface="Aptos" pitchFamily="34" charset="-120"/>
              </a:rPr>
              <a:t>unzip it somewhere else, open index.html, click every link.</a:t>
            </a:r>
            <a:endParaRPr lang="en-US" sz="14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754880" y="4389120"/>
          <a:ext cx="6903720" cy="914400"/>
        </p:xfrm>
        <a:graphic>
          <a:graphicData uri="http://schemas.openxmlformats.org/drawingml/2006/table">
            <a:tbl>
              <a:tblPr/>
              <a:tblGrid>
                <a:gridCol w="3383280"/>
                <a:gridCol w="3520440"/>
              </a:tblGrid>
              <a:tr h="329184">
                <a:tc>
                  <a:txBody>
                    <a:bodyPr/>
                    <a:lstStyle/>
                    <a:p>
                      <a:pPr indent="0" marL="0">
                        <a:buNone/>
                      </a:pPr>
                      <a:r>
                        <a:rPr lang="en-US" sz="1300" b="1" dirty="0">
                          <a:solidFill>
                            <a:srgbClr val="FFFFFF"/>
                          </a:solidFill>
                          <a:latin typeface="Aptos" pitchFamily="34" charset="0"/>
                          <a:ea typeface="Aptos" pitchFamily="34" charset="-122"/>
                          <a:cs typeface="Aptos" pitchFamily="34" charset="-120"/>
                        </a:rPr>
                        <a:t>From index.html, you write…</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00" b="1" dirty="0">
                          <a:solidFill>
                            <a:srgbClr val="FFFFFF"/>
                          </a:solidFill>
                          <a:latin typeface="Aptos" pitchFamily="34" charset="0"/>
                          <a:ea typeface="Aptos" pitchFamily="34" charset="-122"/>
                          <a:cs typeface="Aptos" pitchFamily="34" charset="-120"/>
                        </a:rPr>
                        <a:t>It means…</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29184">
                <a:tc>
                  <a:txBody>
                    <a:bodyPr/>
                    <a:lstStyle/>
                    <a:p>
                      <a:pPr indent="0" marL="0">
                        <a:buNone/>
                      </a:pPr>
                      <a:r>
                        <a:rPr lang="en-US" sz="1200" dirty="0">
                          <a:solidFill>
                            <a:srgbClr val="8A2B0B"/>
                          </a:solidFill>
                          <a:latin typeface="Consolas" pitchFamily="34" charset="0"/>
                          <a:ea typeface="Consolas" pitchFamily="34" charset="-122"/>
                          <a:cs typeface="Consolas" pitchFamily="34" charset="-120"/>
                        </a:rPr>
                        <a:t>href="portfolio.html"</a:t>
                      </a:r>
                      <a:endParaRPr lang="en-US" sz="12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A file in the same folder</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8A2B0B"/>
                          </a:solidFill>
                          <a:latin typeface="Consolas" pitchFamily="34" charset="0"/>
                          <a:ea typeface="Consolas" pitchFamily="34" charset="-122"/>
                          <a:cs typeface="Consolas" pitchFamily="34" charset="-120"/>
                        </a:rPr>
                        <a:t>href="style.css"</a:t>
                      </a:r>
                      <a:endParaRPr lang="en-US" sz="12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The same folder too</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29184">
                <a:tc>
                  <a:txBody>
                    <a:bodyPr/>
                    <a:lstStyle/>
                    <a:p>
                      <a:pPr indent="0" marL="0">
                        <a:buNone/>
                      </a:pPr>
                      <a:r>
                        <a:rPr lang="en-US" sz="1200" dirty="0">
                          <a:solidFill>
                            <a:srgbClr val="8A2B0B"/>
                          </a:solidFill>
                          <a:latin typeface="Consolas" pitchFamily="34" charset="0"/>
                          <a:ea typeface="Consolas" pitchFamily="34" charset="-122"/>
                          <a:cs typeface="Consolas" pitchFamily="34" charset="-120"/>
                        </a:rPr>
                        <a:t>src="images/beach_trees.jpg"</a:t>
                      </a:r>
                      <a:endParaRPr lang="en-US" sz="12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Go into the images folder, then the file</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8A2B0B"/>
                          </a:solidFill>
                          <a:latin typeface="Consolas" pitchFamily="34" charset="0"/>
                          <a:ea typeface="Consolas" pitchFamily="34" charset="-122"/>
                          <a:cs typeface="Consolas" pitchFamily="34" charset="-120"/>
                        </a:rPr>
                        <a:t>src="C:\Users\sam\…\beach.jpg"</a:t>
                      </a:r>
                      <a:endParaRPr lang="en-US" sz="12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 Only works on your own computer</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29184">
                <a:tc>
                  <a:txBody>
                    <a:bodyPr/>
                    <a:lstStyle/>
                    <a:p>
                      <a:pPr indent="0" marL="0">
                        <a:buNone/>
                      </a:pPr>
                      <a:r>
                        <a:rPr lang="en-US" sz="1200" dirty="0">
                          <a:solidFill>
                            <a:srgbClr val="8A2B0B"/>
                          </a:solidFill>
                          <a:latin typeface="Consolas" pitchFamily="34" charset="0"/>
                          <a:ea typeface="Consolas" pitchFamily="34" charset="-122"/>
                          <a:cs typeface="Consolas" pitchFamily="34" charset="-120"/>
                        </a:rPr>
                        <a:t>src="images/Beach_Trees.JPG"</a:t>
                      </a:r>
                      <a:endParaRPr lang="en-US" sz="12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ptos" pitchFamily="34" charset="0"/>
                          <a:ea typeface="Aptos" pitchFamily="34" charset="-122"/>
                          <a:cs typeface="Aptos" pitchFamily="34" charset="-120"/>
                        </a:rPr>
                        <a:t>✗ Capitals matter on a web server</a:t>
                      </a:r>
                      <a:endParaRPr lang="en-US" sz="13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Photos: Optimized and Responsive</a:t>
            </a:r>
            <a:endParaRPr lang="en-US" sz="2800" dirty="0"/>
          </a:p>
        </p:txBody>
      </p:sp>
      <p:pic>
        <p:nvPicPr>
          <p:cNvPr id="7" name="Image 0" descr="C:\Repos\2026-2027\WEBD1000\07_Navigation_Tables_Validation\_build\shots\a2Phone.png">    </p:cNvPr>
          <p:cNvPicPr>
            <a:picLocks noChangeAspect="1"/>
          </p:cNvPicPr>
          <p:nvPr/>
        </p:nvPicPr>
        <p:blipFill>
          <a:blip r:embed="rId1"/>
          <a:stretch>
            <a:fillRect/>
          </a:stretch>
        </p:blipFill>
        <p:spPr>
          <a:xfrm>
            <a:off x="9509760" y="2103120"/>
            <a:ext cx="2148840" cy="3820160"/>
          </a:xfrm>
          <a:prstGeom prst="rect">
            <a:avLst/>
          </a:prstGeom>
        </p:spPr>
      </p:pic>
      <p:sp>
        <p:nvSpPr>
          <p:cNvPr id="8" name="Shape 4"/>
          <p:cNvSpPr/>
          <p:nvPr/>
        </p:nvSpPr>
        <p:spPr>
          <a:xfrm>
            <a:off x="9509760" y="2103120"/>
            <a:ext cx="2148840" cy="3820160"/>
          </a:xfrm>
          <a:prstGeom prst="rect">
            <a:avLst/>
          </a:prstGeom>
          <a:ln w="12700">
            <a:solidFill>
              <a:srgbClr val="B0B8BC"/>
            </a:solidFill>
            <a:prstDash val="solid"/>
          </a:ln>
        </p:spPr>
      </p:sp>
      <p:sp>
        <p:nvSpPr>
          <p:cNvPr id="9" name="Text 5"/>
          <p:cNvSpPr txBox="1"/>
          <p:nvPr/>
        </p:nvSpPr>
        <p:spPr>
          <a:xfrm>
            <a:off x="9509760" y="1810512"/>
            <a:ext cx="2148840"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ON A PHONE (360 PX)</a:t>
            </a:r>
            <a:endParaRPr lang="en-US" sz="1100" dirty="0"/>
          </a:p>
        </p:txBody>
      </p:sp>
      <p:sp>
        <p:nvSpPr>
          <p:cNvPr id="10" name="Text 6"/>
          <p:cNvSpPr txBox="1"/>
          <p:nvPr/>
        </p:nvSpPr>
        <p:spPr>
          <a:xfrm>
            <a:off x="4754880" y="1783080"/>
            <a:ext cx="4434840" cy="3657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Optimized: a small file</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754880" y="2194560"/>
          <a:ext cx="4434840" cy="914400"/>
        </p:xfrm>
        <a:graphic>
          <a:graphicData uri="http://schemas.openxmlformats.org/drawingml/2006/table">
            <a:tbl>
              <a:tblPr/>
              <a:tblGrid>
                <a:gridCol w="1828800"/>
                <a:gridCol w="1325880"/>
                <a:gridCol w="1280160"/>
              </a:tblGrid>
              <a:tr h="310896">
                <a:tc>
                  <a:txBody>
                    <a:bodyPr/>
                    <a:lstStyle/>
                    <a:p>
                      <a:pPr indent="0" marL="0">
                        <a:buNone/>
                      </a:pPr>
                      <a:r>
                        <a:rPr lang="en-US" sz="1250" b="1" dirty="0">
                          <a:solidFill>
                            <a:srgbClr val="FFFFFF"/>
                          </a:solidFill>
                          <a:latin typeface="Aptos" pitchFamily="34" charset="0"/>
                          <a:ea typeface="Aptos" pitchFamily="34" charset="-122"/>
                          <a:cs typeface="Aptos" pitchFamily="34" charset="-120"/>
                        </a:rPr>
                        <a:t>Photo</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Size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File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10896">
                <a:tc>
                  <a:txBody>
                    <a:bodyPr/>
                    <a:lstStyle/>
                    <a:p>
                      <a:pPr indent="0" marL="0">
                        <a:buNone/>
                      </a:pPr>
                      <a:r>
                        <a:rPr lang="en-US" sz="1250" dirty="0">
                          <a:solidFill>
                            <a:srgbClr val="000000"/>
                          </a:solidFill>
                          <a:latin typeface="Aptos" pitchFamily="34" charset="0"/>
                          <a:ea typeface="Aptos" pitchFamily="34" charset="-122"/>
                          <a:cs typeface="Aptos" pitchFamily="34" charset="-120"/>
                        </a:rPr>
                        <a:t>Straight off a phone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4000 × 3000</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2–5 MB</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10896">
                <a:tc>
                  <a:txBody>
                    <a:bodyPr/>
                    <a:lstStyle/>
                    <a:p>
                      <a:pPr indent="0" marL="0">
                        <a:buNone/>
                      </a:pPr>
                      <a:r>
                        <a:rPr lang="en-US" sz="1250" dirty="0">
                          <a:solidFill>
                            <a:srgbClr val="000000"/>
                          </a:solidFill>
                          <a:latin typeface="Aptos" pitchFamily="34" charset="0"/>
                          <a:ea typeface="Aptos" pitchFamily="34" charset="-122"/>
                          <a:cs typeface="Aptos" pitchFamily="34" charset="-120"/>
                        </a:rPr>
                        <a:t>beach_trees.jpg</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640 × 427</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50 KB</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10896">
                <a:tc>
                  <a:txBody>
                    <a:bodyPr/>
                    <a:lstStyle/>
                    <a:p>
                      <a:pPr indent="0" marL="0">
                        <a:buNone/>
                      </a:pPr>
                      <a:r>
                        <a:rPr lang="en-US" sz="1250" dirty="0">
                          <a:solidFill>
                            <a:srgbClr val="000000"/>
                          </a:solidFill>
                          <a:latin typeface="Aptos" pitchFamily="34" charset="0"/>
                          <a:ea typeface="Aptos" pitchFamily="34" charset="-122"/>
                          <a:cs typeface="Aptos" pitchFamily="34" charset="-120"/>
                        </a:rPr>
                        <a:t>beach_rocks.jpg</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640 × 427</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58 KB</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10896">
                <a:tc>
                  <a:txBody>
                    <a:bodyPr/>
                    <a:lstStyle/>
                    <a:p>
                      <a:pPr indent="0" marL="0">
                        <a:buNone/>
                      </a:pPr>
                      <a:r>
                        <a:rPr lang="en-US" sz="1250" dirty="0">
                          <a:solidFill>
                            <a:srgbClr val="000000"/>
                          </a:solidFill>
                          <a:latin typeface="Aptos" pitchFamily="34" charset="0"/>
                          <a:ea typeface="Aptos" pitchFamily="34" charset="-122"/>
                          <a:cs typeface="Aptos" pitchFamily="34" charset="-120"/>
                        </a:rPr>
                        <a:t>beach_water.jpg</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640 × 427</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32 KB</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
        <p:nvSpPr>
          <p:cNvPr id="12" name="Text 7"/>
          <p:cNvSpPr txBox="1"/>
          <p:nvPr/>
        </p:nvSpPr>
        <p:spPr>
          <a:xfrm>
            <a:off x="4754880" y="3840480"/>
            <a:ext cx="4434840" cy="59436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Resize to the size it's shown at, then JPG quality 70–80 (Pixlr or squoosh.app). Aim for under 200 KB.</a:t>
            </a:r>
            <a:endParaRPr lang="en-US" sz="1300" dirty="0"/>
          </a:p>
        </p:txBody>
      </p:sp>
      <p:sp>
        <p:nvSpPr>
          <p:cNvPr id="13" name="Text 8"/>
          <p:cNvSpPr txBox="1"/>
          <p:nvPr/>
        </p:nvSpPr>
        <p:spPr>
          <a:xfrm>
            <a:off x="4754880" y="4572000"/>
            <a:ext cx="4434840" cy="3657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Responsive: fits any screen</a:t>
            </a:r>
            <a:endParaRPr lang="en-US" sz="1600" dirty="0"/>
          </a:p>
        </p:txBody>
      </p:sp>
      <p:sp>
        <p:nvSpPr>
          <p:cNvPr id="14" name="Shape 9"/>
          <p:cNvSpPr/>
          <p:nvPr/>
        </p:nvSpPr>
        <p:spPr>
          <a:xfrm>
            <a:off x="4754880" y="4983480"/>
            <a:ext cx="4434840" cy="13258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5" name="Text 10"/>
          <p:cNvSpPr txBox="1"/>
          <p:nvPr/>
        </p:nvSpPr>
        <p:spPr>
          <a:xfrm>
            <a:off x="4983480" y="5212080"/>
            <a:ext cx="3977640" cy="868680"/>
          </a:xfrm>
          <a:prstGeom prst="rect">
            <a:avLst/>
          </a:prstGeom>
          <a:noFill/>
          <a:ln/>
        </p:spPr>
        <p:txBody>
          <a:bodyPr wrap="square" lIns="0" tIns="0" rIns="0" bIns="0" rtlCol="0" anchor="t"/>
          <a:lstStyle/>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img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max-width</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never wider than the page */</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keep its shape */</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Common Mistakes (and the Fix)</a:t>
            </a:r>
            <a:endParaRPr lang="en-US" sz="2800" dirty="0"/>
          </a:p>
        </p:txBody>
      </p:sp>
      <p:sp>
        <p:nvSpPr>
          <p:cNvPr id="7" name="Shape 4"/>
          <p:cNvSpPr/>
          <p:nvPr/>
        </p:nvSpPr>
        <p:spPr>
          <a:xfrm>
            <a:off x="4754880" y="1783080"/>
            <a:ext cx="3360420" cy="1371600"/>
          </a:xfrm>
          <a:prstGeom prst="roundRect">
            <a:avLst>
              <a:gd name="adj" fmla="val 8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919472" y="1965960"/>
            <a:ext cx="365760" cy="365760"/>
          </a:xfrm>
          <a:prstGeom prst="ellipse">
            <a:avLst/>
          </a:prstGeom>
          <a:solidFill>
            <a:srgbClr val="C62828"/>
          </a:solidFill>
          <a:ln w="12700">
            <a:solidFill>
              <a:srgbClr val="C62828"/>
            </a:solidFill>
            <a:prstDash val="solid"/>
          </a:ln>
        </p:spPr>
      </p:sp>
      <p:sp>
        <p:nvSpPr>
          <p:cNvPr id="9" name="Text 6"/>
          <p:cNvSpPr txBox="1"/>
          <p:nvPr/>
        </p:nvSpPr>
        <p:spPr>
          <a:xfrm>
            <a:off x="4919472" y="1965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0" name="Text 7"/>
          <p:cNvSpPr txBox="1"/>
          <p:nvPr/>
        </p:nvSpPr>
        <p:spPr>
          <a:xfrm>
            <a:off x="5394960" y="1920240"/>
            <a:ext cx="2583180" cy="45720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A &lt;style&gt; block on each page</a:t>
            </a:r>
            <a:endParaRPr lang="en-US" sz="1450" dirty="0"/>
          </a:p>
        </p:txBody>
      </p:sp>
      <p:sp>
        <p:nvSpPr>
          <p:cNvPr id="11" name="Text 8"/>
          <p:cNvSpPr txBox="1"/>
          <p:nvPr/>
        </p:nvSpPr>
        <p:spPr>
          <a:xfrm>
            <a:off x="5394960" y="2423160"/>
            <a:ext cx="2583180" cy="594360"/>
          </a:xfrm>
          <a:prstGeom prst="rect">
            <a:avLst/>
          </a:prstGeom>
          <a:noFill/>
          <a:ln/>
        </p:spPr>
        <p:txBody>
          <a:bodyPr wrap="square" lIns="0" tIns="0" rIns="0" bIns="0" rtlCol="0" anchor="t"/>
          <a:lstStyle/>
          <a:p>
            <a:pPr indent="0" marL="0">
              <a:buNone/>
            </a:pPr>
            <a:r>
              <a:rPr lang="en-US" sz="1250" b="1" dirty="0">
                <a:solidFill>
                  <a:srgbClr val="2E7D32"/>
                </a:solidFill>
                <a:latin typeface="Aptos" pitchFamily="34" charset="0"/>
                <a:ea typeface="Aptos" pitchFamily="34" charset="-122"/>
                <a:cs typeface="Aptos" pitchFamily="34" charset="-120"/>
              </a:rPr>
              <a:t>Fix: </a:t>
            </a:r>
            <a:pPr indent="0" marL="0">
              <a:buNone/>
            </a:pPr>
            <a:r>
              <a:rPr lang="en-US" sz="1250" dirty="0">
                <a:solidFill>
                  <a:srgbClr val="262626"/>
                </a:solidFill>
                <a:latin typeface="Aptos" pitchFamily="34" charset="0"/>
                <a:ea typeface="Aptos" pitchFamily="34" charset="-122"/>
                <a:cs typeface="Aptos" pitchFamily="34" charset="-120"/>
              </a:rPr>
              <a:t>One style.css, linked from every page</a:t>
            </a:r>
            <a:endParaRPr lang="en-US" sz="1250" dirty="0"/>
          </a:p>
        </p:txBody>
      </p:sp>
      <p:sp>
        <p:nvSpPr>
          <p:cNvPr id="12" name="Shape 9"/>
          <p:cNvSpPr/>
          <p:nvPr/>
        </p:nvSpPr>
        <p:spPr>
          <a:xfrm>
            <a:off x="8298180" y="1783080"/>
            <a:ext cx="3360420" cy="1371600"/>
          </a:xfrm>
          <a:prstGeom prst="roundRect">
            <a:avLst>
              <a:gd name="adj" fmla="val 8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8462772" y="1965960"/>
            <a:ext cx="365760" cy="365760"/>
          </a:xfrm>
          <a:prstGeom prst="ellipse">
            <a:avLst/>
          </a:prstGeom>
          <a:solidFill>
            <a:srgbClr val="C62828"/>
          </a:solidFill>
          <a:ln w="12700">
            <a:solidFill>
              <a:srgbClr val="C62828"/>
            </a:solidFill>
            <a:prstDash val="solid"/>
          </a:ln>
        </p:spPr>
      </p:sp>
      <p:sp>
        <p:nvSpPr>
          <p:cNvPr id="14" name="Text 11"/>
          <p:cNvSpPr txBox="1"/>
          <p:nvPr/>
        </p:nvSpPr>
        <p:spPr>
          <a:xfrm>
            <a:off x="8462772" y="1965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5" name="Text 12"/>
          <p:cNvSpPr txBox="1"/>
          <p:nvPr/>
        </p:nvSpPr>
        <p:spPr>
          <a:xfrm>
            <a:off x="8938260" y="1920240"/>
            <a:ext cx="2583180" cy="45720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The page shows with no styles</a:t>
            </a:r>
            <a:endParaRPr lang="en-US" sz="1450" dirty="0"/>
          </a:p>
        </p:txBody>
      </p:sp>
      <p:sp>
        <p:nvSpPr>
          <p:cNvPr id="16" name="Text 13"/>
          <p:cNvSpPr txBox="1"/>
          <p:nvPr/>
        </p:nvSpPr>
        <p:spPr>
          <a:xfrm>
            <a:off x="8938260" y="2423160"/>
            <a:ext cx="2583180" cy="594360"/>
          </a:xfrm>
          <a:prstGeom prst="rect">
            <a:avLst/>
          </a:prstGeom>
          <a:noFill/>
          <a:ln/>
        </p:spPr>
        <p:txBody>
          <a:bodyPr wrap="square" lIns="0" tIns="0" rIns="0" bIns="0" rtlCol="0" anchor="t"/>
          <a:lstStyle/>
          <a:p>
            <a:pPr indent="0" marL="0">
              <a:buNone/>
            </a:pPr>
            <a:r>
              <a:rPr lang="en-US" sz="1250" b="1" dirty="0">
                <a:solidFill>
                  <a:srgbClr val="2E7D32"/>
                </a:solidFill>
                <a:latin typeface="Aptos" pitchFamily="34" charset="0"/>
                <a:ea typeface="Aptos" pitchFamily="34" charset="-122"/>
                <a:cs typeface="Aptos" pitchFamily="34" charset="-120"/>
              </a:rPr>
              <a:t>Fix: </a:t>
            </a:r>
            <a:pPr indent="0" marL="0">
              <a:buNone/>
            </a:pPr>
            <a:r>
              <a:rPr lang="en-US" sz="1250" dirty="0">
                <a:solidFill>
                  <a:srgbClr val="262626"/>
                </a:solidFill>
                <a:latin typeface="Aptos" pitchFamily="34" charset="0"/>
                <a:ea typeface="Aptos" pitchFamily="34" charset="-122"/>
                <a:cs typeface="Aptos" pitchFamily="34" charset="-120"/>
              </a:rPr>
              <a:t>Check the &lt;link&gt; href: spelling, folder, capitals</a:t>
            </a:r>
            <a:endParaRPr lang="en-US" sz="1250" dirty="0"/>
          </a:p>
        </p:txBody>
      </p:sp>
      <p:sp>
        <p:nvSpPr>
          <p:cNvPr id="17" name="Shape 14"/>
          <p:cNvSpPr/>
          <p:nvPr/>
        </p:nvSpPr>
        <p:spPr>
          <a:xfrm>
            <a:off x="4754880" y="3291840"/>
            <a:ext cx="3360420" cy="1371600"/>
          </a:xfrm>
          <a:prstGeom prst="roundRect">
            <a:avLst>
              <a:gd name="adj" fmla="val 8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4919472" y="3474720"/>
            <a:ext cx="365760" cy="365760"/>
          </a:xfrm>
          <a:prstGeom prst="ellipse">
            <a:avLst/>
          </a:prstGeom>
          <a:solidFill>
            <a:srgbClr val="C62828"/>
          </a:solidFill>
          <a:ln w="12700">
            <a:solidFill>
              <a:srgbClr val="C62828"/>
            </a:solidFill>
            <a:prstDash val="solid"/>
          </a:ln>
        </p:spPr>
      </p:sp>
      <p:sp>
        <p:nvSpPr>
          <p:cNvPr id="19" name="Text 16"/>
          <p:cNvSpPr txBox="1"/>
          <p:nvPr/>
        </p:nvSpPr>
        <p:spPr>
          <a:xfrm>
            <a:off x="4919472" y="34747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7"/>
          <p:cNvSpPr txBox="1"/>
          <p:nvPr/>
        </p:nvSpPr>
        <p:spPr>
          <a:xfrm>
            <a:off x="5394960" y="3429000"/>
            <a:ext cx="2583180" cy="45720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Photos straight off the phone</a:t>
            </a:r>
            <a:endParaRPr lang="en-US" sz="1450" dirty="0"/>
          </a:p>
        </p:txBody>
      </p:sp>
      <p:sp>
        <p:nvSpPr>
          <p:cNvPr id="21" name="Text 18"/>
          <p:cNvSpPr txBox="1"/>
          <p:nvPr/>
        </p:nvSpPr>
        <p:spPr>
          <a:xfrm>
            <a:off x="5394960" y="3931920"/>
            <a:ext cx="2583180" cy="594360"/>
          </a:xfrm>
          <a:prstGeom prst="rect">
            <a:avLst/>
          </a:prstGeom>
          <a:noFill/>
          <a:ln/>
        </p:spPr>
        <p:txBody>
          <a:bodyPr wrap="square" lIns="0" tIns="0" rIns="0" bIns="0" rtlCol="0" anchor="t"/>
          <a:lstStyle/>
          <a:p>
            <a:pPr indent="0" marL="0">
              <a:buNone/>
            </a:pPr>
            <a:r>
              <a:rPr lang="en-US" sz="1250" b="1" dirty="0">
                <a:solidFill>
                  <a:srgbClr val="2E7D32"/>
                </a:solidFill>
                <a:latin typeface="Aptos" pitchFamily="34" charset="0"/>
                <a:ea typeface="Aptos" pitchFamily="34" charset="-122"/>
                <a:cs typeface="Aptos" pitchFamily="34" charset="-120"/>
              </a:rPr>
              <a:t>Fix: </a:t>
            </a:r>
            <a:pPr indent="0" marL="0">
              <a:buNone/>
            </a:pPr>
            <a:r>
              <a:rPr lang="en-US" sz="1250" dirty="0">
                <a:solidFill>
                  <a:srgbClr val="262626"/>
                </a:solidFill>
                <a:latin typeface="Aptos" pitchFamily="34" charset="0"/>
                <a:ea typeface="Aptos" pitchFamily="34" charset="-122"/>
                <a:cs typeface="Aptos" pitchFamily="34" charset="-120"/>
              </a:rPr>
              <a:t>Resize and compress: under 200 KB each</a:t>
            </a:r>
            <a:endParaRPr lang="en-US" sz="1250" dirty="0"/>
          </a:p>
        </p:txBody>
      </p:sp>
      <p:sp>
        <p:nvSpPr>
          <p:cNvPr id="22" name="Shape 19"/>
          <p:cNvSpPr/>
          <p:nvPr/>
        </p:nvSpPr>
        <p:spPr>
          <a:xfrm>
            <a:off x="8298180" y="3291840"/>
            <a:ext cx="3360420" cy="1371600"/>
          </a:xfrm>
          <a:prstGeom prst="roundRect">
            <a:avLst>
              <a:gd name="adj" fmla="val 8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8462772" y="3474720"/>
            <a:ext cx="365760" cy="365760"/>
          </a:xfrm>
          <a:prstGeom prst="ellipse">
            <a:avLst/>
          </a:prstGeom>
          <a:solidFill>
            <a:srgbClr val="C62828"/>
          </a:solidFill>
          <a:ln w="12700">
            <a:solidFill>
              <a:srgbClr val="C62828"/>
            </a:solidFill>
            <a:prstDash val="solid"/>
          </a:ln>
        </p:spPr>
      </p:sp>
      <p:sp>
        <p:nvSpPr>
          <p:cNvPr id="24" name="Text 21"/>
          <p:cNvSpPr txBox="1"/>
          <p:nvPr/>
        </p:nvSpPr>
        <p:spPr>
          <a:xfrm>
            <a:off x="8462772" y="34747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5" name="Text 22"/>
          <p:cNvSpPr txBox="1"/>
          <p:nvPr/>
        </p:nvSpPr>
        <p:spPr>
          <a:xfrm>
            <a:off x="8938260" y="3429000"/>
            <a:ext cx="2583180" cy="45720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A photo sticks out on a phone</a:t>
            </a:r>
            <a:endParaRPr lang="en-US" sz="1450" dirty="0"/>
          </a:p>
        </p:txBody>
      </p:sp>
      <p:sp>
        <p:nvSpPr>
          <p:cNvPr id="26" name="Text 23"/>
          <p:cNvSpPr txBox="1"/>
          <p:nvPr/>
        </p:nvSpPr>
        <p:spPr>
          <a:xfrm>
            <a:off x="8938260" y="3931920"/>
            <a:ext cx="2583180" cy="594360"/>
          </a:xfrm>
          <a:prstGeom prst="rect">
            <a:avLst/>
          </a:prstGeom>
          <a:noFill/>
          <a:ln/>
        </p:spPr>
        <p:txBody>
          <a:bodyPr wrap="square" lIns="0" tIns="0" rIns="0" bIns="0" rtlCol="0" anchor="t"/>
          <a:lstStyle/>
          <a:p>
            <a:pPr indent="0" marL="0">
              <a:buNone/>
            </a:pPr>
            <a:r>
              <a:rPr lang="en-US" sz="1250" b="1" dirty="0">
                <a:solidFill>
                  <a:srgbClr val="2E7D32"/>
                </a:solidFill>
                <a:latin typeface="Aptos" pitchFamily="34" charset="0"/>
                <a:ea typeface="Aptos" pitchFamily="34" charset="-122"/>
                <a:cs typeface="Aptos" pitchFamily="34" charset="-120"/>
              </a:rPr>
              <a:t>Fix: </a:t>
            </a:r>
            <a:pPr indent="0" marL="0">
              <a:buNone/>
            </a:pPr>
            <a:r>
              <a:rPr lang="en-US" sz="1250" dirty="0">
                <a:solidFill>
                  <a:srgbClr val="262626"/>
                </a:solidFill>
                <a:latin typeface="Consolas" pitchFamily="34" charset="0"/>
                <a:ea typeface="Consolas" pitchFamily="34" charset="-122"/>
                <a:cs typeface="Consolas" pitchFamily="34" charset="-120"/>
              </a:rPr>
              <a:t>img { max-width: 100%; height: auto; }</a:t>
            </a:r>
            <a:endParaRPr lang="en-US" sz="1250" dirty="0"/>
          </a:p>
        </p:txBody>
      </p:sp>
      <p:sp>
        <p:nvSpPr>
          <p:cNvPr id="27" name="Shape 24"/>
          <p:cNvSpPr/>
          <p:nvPr/>
        </p:nvSpPr>
        <p:spPr>
          <a:xfrm>
            <a:off x="4754880" y="4800600"/>
            <a:ext cx="3360420" cy="1371600"/>
          </a:xfrm>
          <a:prstGeom prst="roundRect">
            <a:avLst>
              <a:gd name="adj" fmla="val 8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4919472" y="4983480"/>
            <a:ext cx="365760" cy="365760"/>
          </a:xfrm>
          <a:prstGeom prst="ellipse">
            <a:avLst/>
          </a:prstGeom>
          <a:solidFill>
            <a:srgbClr val="C62828"/>
          </a:solidFill>
          <a:ln w="12700">
            <a:solidFill>
              <a:srgbClr val="C62828"/>
            </a:solidFill>
            <a:prstDash val="solid"/>
          </a:ln>
        </p:spPr>
      </p:sp>
      <p:sp>
        <p:nvSpPr>
          <p:cNvPr id="29" name="Text 26"/>
          <p:cNvSpPr txBox="1"/>
          <p:nvPr/>
        </p:nvSpPr>
        <p:spPr>
          <a:xfrm>
            <a:off x="4919472" y="4983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30" name="Text 27"/>
          <p:cNvSpPr txBox="1"/>
          <p:nvPr/>
        </p:nvSpPr>
        <p:spPr>
          <a:xfrm>
            <a:off x="5394960" y="4937760"/>
            <a:ext cx="2583180" cy="45720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Works on your laptop only</a:t>
            </a:r>
            <a:endParaRPr lang="en-US" sz="1450" dirty="0"/>
          </a:p>
        </p:txBody>
      </p:sp>
      <p:sp>
        <p:nvSpPr>
          <p:cNvPr id="31" name="Text 28"/>
          <p:cNvSpPr txBox="1"/>
          <p:nvPr/>
        </p:nvSpPr>
        <p:spPr>
          <a:xfrm>
            <a:off x="5394960" y="5440680"/>
            <a:ext cx="2583180" cy="594360"/>
          </a:xfrm>
          <a:prstGeom prst="rect">
            <a:avLst/>
          </a:prstGeom>
          <a:noFill/>
          <a:ln/>
        </p:spPr>
        <p:txBody>
          <a:bodyPr wrap="square" lIns="0" tIns="0" rIns="0" bIns="0" rtlCol="0" anchor="t"/>
          <a:lstStyle/>
          <a:p>
            <a:pPr indent="0" marL="0">
              <a:buNone/>
            </a:pPr>
            <a:r>
              <a:rPr lang="en-US" sz="1250" b="1" dirty="0">
                <a:solidFill>
                  <a:srgbClr val="2E7D32"/>
                </a:solidFill>
                <a:latin typeface="Aptos" pitchFamily="34" charset="0"/>
                <a:ea typeface="Aptos" pitchFamily="34" charset="-122"/>
                <a:cs typeface="Aptos" pitchFamily="34" charset="-120"/>
              </a:rPr>
              <a:t>Fix: </a:t>
            </a:r>
            <a:pPr indent="0" marL="0">
              <a:buNone/>
            </a:pPr>
            <a:r>
              <a:rPr lang="en-US" sz="1250" dirty="0">
                <a:solidFill>
                  <a:srgbClr val="262626"/>
                </a:solidFill>
                <a:latin typeface="Consolas" pitchFamily="34" charset="0"/>
                <a:ea typeface="Consolas" pitchFamily="34" charset="-122"/>
                <a:cs typeface="Consolas" pitchFamily="34" charset="-120"/>
              </a:rPr>
              <a:t>No C:\ paths. Just href="portfolio.html"</a:t>
            </a:r>
            <a:endParaRPr lang="en-US" sz="1250" dirty="0"/>
          </a:p>
        </p:txBody>
      </p:sp>
      <p:sp>
        <p:nvSpPr>
          <p:cNvPr id="32" name="Shape 29"/>
          <p:cNvSpPr/>
          <p:nvPr/>
        </p:nvSpPr>
        <p:spPr>
          <a:xfrm>
            <a:off x="8298180" y="4800600"/>
            <a:ext cx="3360420" cy="1371600"/>
          </a:xfrm>
          <a:prstGeom prst="roundRect">
            <a:avLst>
              <a:gd name="adj" fmla="val 8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3" name="Shape 30"/>
          <p:cNvSpPr/>
          <p:nvPr/>
        </p:nvSpPr>
        <p:spPr>
          <a:xfrm>
            <a:off x="8462772" y="4983480"/>
            <a:ext cx="365760" cy="365760"/>
          </a:xfrm>
          <a:prstGeom prst="ellipse">
            <a:avLst/>
          </a:prstGeom>
          <a:solidFill>
            <a:srgbClr val="C62828"/>
          </a:solidFill>
          <a:ln w="12700">
            <a:solidFill>
              <a:srgbClr val="C62828"/>
            </a:solidFill>
            <a:prstDash val="solid"/>
          </a:ln>
        </p:spPr>
      </p:sp>
      <p:sp>
        <p:nvSpPr>
          <p:cNvPr id="34" name="Text 31"/>
          <p:cNvSpPr txBox="1"/>
          <p:nvPr/>
        </p:nvSpPr>
        <p:spPr>
          <a:xfrm>
            <a:off x="8462772" y="4983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35" name="Text 32"/>
          <p:cNvSpPr txBox="1"/>
          <p:nvPr/>
        </p:nvSpPr>
        <p:spPr>
          <a:xfrm>
            <a:off x="8938260" y="4937760"/>
            <a:ext cx="2583180" cy="45720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Broken images after unzipping</a:t>
            </a:r>
            <a:endParaRPr lang="en-US" sz="1450" dirty="0"/>
          </a:p>
        </p:txBody>
      </p:sp>
      <p:sp>
        <p:nvSpPr>
          <p:cNvPr id="36" name="Text 33"/>
          <p:cNvSpPr txBox="1"/>
          <p:nvPr/>
        </p:nvSpPr>
        <p:spPr>
          <a:xfrm>
            <a:off x="8938260" y="5440680"/>
            <a:ext cx="2583180" cy="594360"/>
          </a:xfrm>
          <a:prstGeom prst="rect">
            <a:avLst/>
          </a:prstGeom>
          <a:noFill/>
          <a:ln/>
        </p:spPr>
        <p:txBody>
          <a:bodyPr wrap="square" lIns="0" tIns="0" rIns="0" bIns="0" rtlCol="0" anchor="t"/>
          <a:lstStyle/>
          <a:p>
            <a:pPr indent="0" marL="0">
              <a:buNone/>
            </a:pPr>
            <a:r>
              <a:rPr lang="en-US" sz="1250" b="1" dirty="0">
                <a:solidFill>
                  <a:srgbClr val="2E7D32"/>
                </a:solidFill>
                <a:latin typeface="Aptos" pitchFamily="34" charset="0"/>
                <a:ea typeface="Aptos" pitchFamily="34" charset="-122"/>
                <a:cs typeface="Aptos" pitchFamily="34" charset="-120"/>
              </a:rPr>
              <a:t>Fix: </a:t>
            </a:r>
            <a:pPr indent="0" marL="0">
              <a:buNone/>
            </a:pPr>
            <a:r>
              <a:rPr lang="en-US" sz="1250" dirty="0">
                <a:solidFill>
                  <a:srgbClr val="262626"/>
                </a:solidFill>
                <a:latin typeface="Aptos" pitchFamily="34" charset="0"/>
                <a:ea typeface="Aptos" pitchFamily="34" charset="-122"/>
                <a:cs typeface="Aptos" pitchFamily="34" charset="-120"/>
              </a:rPr>
              <a:t>Zip the whole folder, images/ too. Test it.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9: Check Your Assignment 2 (12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your Assignment 2 folder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VS Code, with Live Server.</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Validate both HTML pages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validator.w3.org, </a:t>
            </a:r>
            <a:pPr indent="0" marL="0">
              <a:buNone/>
            </a:pPr>
            <a:r>
              <a:rPr lang="en-US" sz="1300" b="1" dirty="0">
                <a:solidFill>
                  <a:srgbClr val="262626"/>
                </a:solidFill>
                <a:latin typeface="Aptos" pitchFamily="34" charset="0"/>
                <a:ea typeface="Aptos" pitchFamily="34" charset="-122"/>
                <a:cs typeface="Aptos" pitchFamily="34" charset="-120"/>
              </a:rPr>
              <a:t>By Direct Input</a:t>
            </a:r>
            <a:pPr indent="0" marL="0">
              <a:buNone/>
            </a:pPr>
            <a:r>
              <a:rPr lang="en-US" sz="1300" dirty="0">
                <a:solidFill>
                  <a:srgbClr val="262626"/>
                </a:solidFill>
                <a:latin typeface="Aptos" pitchFamily="34" charset="0"/>
                <a:ea typeface="Aptos" pitchFamily="34" charset="-122"/>
                <a:cs typeface="Aptos" pitchFamily="34" charset="-120"/>
              </a:rPr>
              <a:t>. One page at a time.</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Validate style.css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jigsaw.w3.org/css-validator. Aim for </a:t>
            </a:r>
            <a:pPr indent="0" marL="0">
              <a:buNone/>
            </a:pPr>
            <a:r>
              <a:rPr lang="en-US" sz="1300" b="1" dirty="0">
                <a:solidFill>
                  <a:srgbClr val="262626"/>
                </a:solidFill>
                <a:latin typeface="Aptos" pitchFamily="34" charset="0"/>
                <a:ea typeface="Aptos" pitchFamily="34" charset="-122"/>
                <a:cs typeface="Aptos" pitchFamily="34" charset="-120"/>
              </a:rPr>
              <a:t>No Error Found</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Be a phone</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F12, then </a:t>
            </a:r>
            <a:pPr indent="0" marL="0">
              <a:buNone/>
            </a:pPr>
            <a:r>
              <a:rPr lang="en-US" sz="1300" b="1" dirty="0">
                <a:solidFill>
                  <a:srgbClr val="262626"/>
                </a:solidFill>
                <a:latin typeface="Aptos" pitchFamily="34" charset="0"/>
                <a:ea typeface="Aptos" pitchFamily="34" charset="-122"/>
                <a:cs typeface="Aptos" pitchFamily="34" charset="-120"/>
              </a:rPr>
              <a:t>Ctrl + Shift + M</a:t>
            </a:r>
            <a:pPr indent="0" marL="0">
              <a:buNone/>
            </a:pPr>
            <a:r>
              <a:rPr lang="en-US" sz="1300" dirty="0">
                <a:solidFill>
                  <a:srgbClr val="262626"/>
                </a:solidFill>
                <a:latin typeface="Aptos" pitchFamily="34" charset="0"/>
                <a:ea typeface="Aptos" pitchFamily="34" charset="-122"/>
                <a:cs typeface="Aptos" pitchFamily="34" charset="-120"/>
              </a:rPr>
              <a:t>. At 360 px wide, do the photos fit?</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sp>
      <p:sp>
        <p:nvSpPr>
          <p:cNvPr id="22" name="Text 19"/>
          <p:cNvSpPr txBox="1"/>
          <p:nvPr/>
        </p:nvSpPr>
        <p:spPr>
          <a:xfrm>
            <a:off x="914400" y="52303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Change one colour in style.css</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Save, then open the other page. Did it change too?</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6" name="Text 23"/>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THE TWO MUST-HAVES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450" dirty="0">
                <a:solidFill>
                  <a:srgbClr val="6A9955"/>
                </a:solidFill>
                <a:latin typeface="Consolas" pitchFamily="34" charset="0"/>
                <a:ea typeface="Consolas" pitchFamily="34" charset="-122"/>
                <a:cs typeface="Consolas" pitchFamily="34" charset="-120"/>
              </a:rPr>
              <a:t>&lt;!-- in the &lt;head&gt; of EVERY page --&gt;</a:t>
            </a:r>
            <a:endParaRPr lang="en-US" sz="1450" dirty="0"/>
          </a:p>
          <a:p>
            <a:pPr indent="0" marL="0">
              <a:lnSpc>
                <a:spcPct val="100000"/>
              </a:lnSpc>
              <a:buNone/>
            </a:pPr>
            <a:r>
              <a:rPr lang="en-US" sz="14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50" dirty="0">
                <a:solidFill>
                  <a:srgbClr val="569CD6"/>
                </a:solidFill>
                <a:latin typeface="Consolas" pitchFamily="34" charset="0"/>
                <a:ea typeface="Consolas" pitchFamily="34" charset="-122"/>
                <a:cs typeface="Consolas" pitchFamily="34" charset="-120"/>
              </a:rPr>
              <a:t>link</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rel</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"stylesheet"</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"style.css"</a:t>
            </a:r>
            <a:pPr indent="0" marL="0">
              <a:lnSpc>
                <a:spcPct val="100000"/>
              </a:lnSpc>
              <a:buNone/>
            </a:pPr>
            <a:r>
              <a:rPr lang="en-US" sz="1450" dirty="0">
                <a:solidFill>
                  <a:srgbClr val="808080"/>
                </a:solidFill>
                <a:latin typeface="Consolas" pitchFamily="34" charset="0"/>
                <a:ea typeface="Consolas" pitchFamily="34" charset="-122"/>
                <a:cs typeface="Consolas" pitchFamily="34" charset="-120"/>
              </a:rPr>
              <a:t>&gt;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endParaRPr lang="en-US" sz="1450" dirty="0"/>
          </a:p>
          <a:p>
            <a:pPr indent="0" marL="0">
              <a:lnSpc>
                <a:spcPct val="100000"/>
              </a:lnSpc>
              <a:buNone/>
            </a:pPr>
            <a:r>
              <a:rPr lang="en-US" sz="1450" dirty="0">
                <a:solidFill>
                  <a:srgbClr val="6A9955"/>
                </a:solidFill>
                <a:latin typeface="Consolas" pitchFamily="34" charset="0"/>
                <a:ea typeface="Consolas" pitchFamily="34" charset="-122"/>
                <a:cs typeface="Consolas" pitchFamily="34" charset="-120"/>
              </a:rPr>
              <a:t>/* in style.css */</a:t>
            </a:r>
            <a:endParaRPr lang="en-US" sz="1450" dirty="0"/>
          </a:p>
          <a:p>
            <a:pPr indent="0" marL="0">
              <a:lnSpc>
                <a:spcPct val="100000"/>
              </a:lnSpc>
              <a:buNone/>
            </a:pPr>
            <a:r>
              <a:rPr lang="en-US" sz="1450" dirty="0">
                <a:solidFill>
                  <a:srgbClr val="D7BA7D"/>
                </a:solidFill>
                <a:latin typeface="Consolas" pitchFamily="34" charset="0"/>
                <a:ea typeface="Consolas" pitchFamily="34" charset="-122"/>
                <a:cs typeface="Consolas" pitchFamily="34" charset="-120"/>
              </a:rPr>
              <a:t>img </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max-width</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Every multi-page site you build this term needs these checks: </a:t>
            </a:r>
            <a:pPr indent="0" marL="0">
              <a:buNone/>
            </a:pPr>
            <a:r>
              <a:rPr lang="en-US" sz="1300" b="1" dirty="0">
                <a:solidFill>
                  <a:srgbClr val="262626"/>
                </a:solidFill>
                <a:latin typeface="Aptos" pitchFamily="34" charset="0"/>
                <a:ea typeface="Aptos" pitchFamily="34" charset="-122"/>
                <a:cs typeface="Aptos" pitchFamily="34" charset="-120"/>
              </a:rPr>
              <a:t>valid</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b="1" dirty="0">
                <a:solidFill>
                  <a:srgbClr val="262626"/>
                </a:solidFill>
                <a:latin typeface="Aptos" pitchFamily="34" charset="0"/>
                <a:ea typeface="Aptos" pitchFamily="34" charset="-122"/>
                <a:cs typeface="Aptos" pitchFamily="34" charset="-120"/>
              </a:rPr>
              <a:t>shared</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b="1" dirty="0">
                <a:solidFill>
                  <a:srgbClr val="262626"/>
                </a:solidFill>
                <a:latin typeface="Aptos" pitchFamily="34" charset="0"/>
                <a:ea typeface="Aptos" pitchFamily="34" charset="-122"/>
                <a:cs typeface="Aptos" pitchFamily="34" charset="-120"/>
              </a:rPr>
              <a:t>small</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b="1" dirty="0">
                <a:solidFill>
                  <a:srgbClr val="262626"/>
                </a:solidFill>
                <a:latin typeface="Aptos" pitchFamily="34" charset="0"/>
                <a:ea typeface="Aptos" pitchFamily="34" charset="-122"/>
                <a:cs typeface="Aptos" pitchFamily="34" charset="-120"/>
              </a:rPr>
              <a:t>responsive</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11 Recap and Next Steps</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Browsers forgive broken HTML. The W3C validator doesn't: fix the first error, then check again.</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Browsers silently skip broken CSS. The W3C CSS validator checks style.css (the HTML one can't).</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One stylesheet, many pages: one &lt;link&gt; in each &lt;head&gt;. Change it once, every page changes.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A wrong href gives a plain page and no error. Check the Network tab.</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Photos: resize and compress (optimized), max-width: 100% + height: auto (responsive).</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This week:</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Submit your three Harbourside screenshots to Brightspace.</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Next class: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Page layout: display, position, and Flexbox.</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11: Validation and an Assignment 2 Review</dc:title>
  <dc:subject>PptxGenJS Presentation</dc:subject>
  <dc:creator>Jamie Symonds</dc:creator>
  <cp:lastModifiedBy>Jamie Symonds</cp:lastModifiedBy>
  <cp:revision>1</cp:revision>
  <dcterms:created xsi:type="dcterms:W3CDTF">2026-10-21T00:41:15Z</dcterms:created>
  <dcterms:modified xsi:type="dcterms:W3CDTF">2026-10-21T00:41:15Z</dcterms:modified>
</cp:coreProperties>
</file>