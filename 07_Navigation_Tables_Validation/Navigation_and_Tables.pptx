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back! Last class: advanced selectors and CSS animation.
This week has two classes. Today is about the furniture every real site has: a navigation menu to get around, and tables for data like prices and opening hours. Next class (Class 11) we check our HTML and CSS with the W3C validators, then review Assignment 2.
We're back on the Harbourside page from Class 8. By the end of today it will have a real navigation bar with a dropdown and a styled opening-hours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attendance. While you do, have students git pull and open the 07_Navigation_Tables_Validation folder in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Rough plan for the two hours:
- 8 min: intro and getting the code
- 40 min: navigation menus (four examples, then Try Its 1 to 4)
- 30 min: tables (four examples, then Try Its 5 and 6)
- 15 min: make it yours, cheat sheet and recap
That's about 95 minutes, so there's room to go slowly on the dropdown (Try It 3 is the one people get stuck on) and to help anyone who's behind.
Every Try It adds to the same Harbourside page, so it builds up across the class, like Class 8. Students need to keep their page: Class 11 starts by validating it (Try Its 7 and 8), and the three screenshots are submitted after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Examples 01–04 are navigation, 05–08 are tables, 09–10 are HTML validation and 11–12 are CSS validation. Every example is a single file with its CSS in a &lt;style&gt; block.
The activity folder is the Harbourside page from Class 8, with our finished Class 8 CSS already in style.css (tidied up). There's no nav yet, and the hours are still a bulleted list.
The starter index.html has 5 deliberate mistakes in it, and the Class 8 part of style.css has 3. Don't mention them yet! They're the surprises in Try Its 7 and 8.
Ask students not to open activity/answer until they're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site you use has a navigation menu: the set of links that gets you around. It's often the first thing people look for, so it has to be easy to find, easy to read and easy to click (or tap, or Tab to).
The good news: every menu, however fancy, starts as the same plain HTML. The difference is all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Horizontal: the classic bar across the top. Best for a handful of main links (about 3 to 7).
Vertical: a stack of links down the side. Good for longer lists: sections of a menu, account settings, documentation.
Dropdown: a horizontal bar where some items open a smaller list. Good for grouping related pages without making the bar too long.
On phones, a horizontal menu usually collapses into a 'hamburger' button (☰). That needs a little JavaScript, which we'll meet later in the program.
The key point is the bottom of the slide: all three are the same HTML structure. nav, then ul, then li, then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01_nav_structure_example.html. With no CSS it's just a bulleted list of links. That's fine! It works, it's accessible, and it's the starting point for every menu we'll build.
Why a list? Because it is one: a group of related links. A screen reader announces 'navigation, list, 4 items', so the user knows how big the menu is before they start. A row of bare links or a pile of divs doesn't tell them that.
We met &lt;nav&gt; as a landmark in Class 4. Only use it for major navigation blocks (the main menu, maybe a table of contents), not for every group of links on the page. A link list in the footer doesn't need one.
On a real site the href values would be page names like menu.html or contact.html. Here they're # links so nothing breaks when you click.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02_nav_horizontal_example.html. Walk through the four numbered comments; each one is one step from Example 01 to a real menu bar.
1. The bullets and indent go. (Last year's version of this slide used display: inline-block on each li, which also works. Flexbox is the modern way, and it lines things up more reliably.)
2. display: flex on the ul lays its children, the li's, out in a row. gap adds space between them, but not at the ends. We'll do Flexbox properly next class; today we just need these two lines.
3. Put the padding on the a, not the li, and make the a display: block. Then the whole coloured box is the link: a much bigger target for a mouse, and especially for a finger on a phone. WCAG 2.5.8 asks for targets of at least 24 by 24 pixels.
4. aria-current="page" tells screen readers 'you are here', and the attribute selector from Class 9 lets us style it too. One attribute does both jobs.
Try in class: comment out display: flex and save. The menu goes back to a stacked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03_nav_vertical_example.html. This is the kind of menu you see down the side of a page: menu sections, account settings, a course's list of weeks in Brightspace.
Same starting point (remove the bullets), but no display: flex this time, because a list stacks vertically on its own.
The transparent border trick: the left border is always there, just invisible. On hover it changes colour. If the border only appeared on hover, the box would get 4px wider and the text would shift. Little details like this make a menu feel solid.
The 'current page' style is the strongest one (navy with white text), so you can see where you are at a glance.
The width: 220px on the nav keeps it narrow, like a sidebar. Placing it beside the page content is a layout job (Flexbox), coming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04_nav_dropdown_example.html. Hover Menu: the list drops down. Now click in the page and press Tab: when you reach Menu, the dropdown opens too, and you can Tab through its links. That's :focus-within. It matches an element when it, or anything inside it, has focus.
Last year's version of this slide only used :hover, which means keyboard users could never open the dropdown. That's a WCAG failure (2.1.1 Keyboard). One extra selector fixes it.
The HTML: look at the body of the file. The Menu li contains a link AND a whole second &lt;ul&gt;.
The CSS, step by step:
1. position: relative on each li. On its own it does nothing visible. It just says 'measure absolute things inside me from here'.
2. The inner list is hidden (display: none) and positioned absolutely: top: 100% means 'just below the bottom of my li', left: 0 lines it up with the li's left edge. Absolute elements don't take up space, so the dropdown floats over the paragraph instead of pushing it down.
3. When the li is hovered or has focus inside it, show the list.
The &gt; in 'li:hover &gt; ul' is the child combinator from Class 9: only the li's own list, not lists deeper down.
Try: remove position: relative from nav li. The dropdown jumps to the left edge of the page, because it's now measured from the page itself.
Real-world note: big sites usually open dropdowns with a button and a few lines of JavaScript, so they work on touch screens too. The CSS version is the foundation.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plan for the hands-on part. Same Harbourside page as Class 8, with eight Try Its: four for the nav and two for the table today, then two for validation (HTML, then CSS) at the start of Class 11.
The left picture is the starter: our Class 8 page, no nav, hours as a bullet list. (Look closely: the prices are plain black. That's one of the hidden CSS mistakes Try It 8 finds.) The right pictures are where we'll be by the end.
The starter style.css has the Class 8 CSS at the top, then an empty heading for each Try It. Everything we type goes under those headings.
Submission (participation, after Try It 8 in Class 11): three screenshots on Brightspace: the page with the dropdown open, the HTML validator saying 'No errors', and the CSS validator saying 'No Error Found'. Students can take screenshot 1 today, after Try It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it together. Two files this time: the HTML in index.html (inside the header, under the h1, where the 'Try It 1' comment is), then the CSS in style.css.
Save after the HTML first, so they see the plain bulleted list (Example 01). Then save after the CSS and watch it become a row (Example 02). Seeing both steps makes the point that CSS is doing all the work.
&amp;amp; is the entity for &amp; from Class 1. A bare &amp; usually works, but the entity is the safe habit.
The links jump down the page to the sections with those ids. That's an in-page link: href="#hours" goes to id="hours".
Until Try It 2, the links are the browser's default blue and purple on navy: hard to read. That's fixed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it looks like a real menu bar.
White on navy is 13.6 : 1 contrast (from Class 8). White on the hover teal #1B5E82 is about 7 : 1, still well over 4.5 : 1.
The orange underline is decoration, not text, so the 3 : 1 rule for non-text elements applies, and #E97132 on navy passes that.
Why hover AND focus-visible in one rule: anything that reacts to the mouse should also react to the keyboard. Grouping them means you can't forget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trickiest Try It, so go slowly and check the HTML first. The most common mistake: putting the new &lt;ul&gt; after the &lt;/li&gt; instead of inside it. Then it's a sibling, not a child, and the CSS never finds it.
&amp;#9662; is a numbered entity for the small down-triangle ▾ (Class 1 entities again). It tells sighted users 'this one opens'.
nav li { position: relative; } is written on one line to save space. It's exactly the same as three lines.
The planned 'bug': when the dropdown opens, the links are white (from Try It 2) on a transparent background, so they almost disappear against the pale page. Let students discover this, then fix it in Try It 4. A good moment to point out that a white-on-white menu passes no contrast test.
Why does the dropdown stack vertically when the main menu is a row? 'nav ul ul' is more specific than 'nav ul', so its display wins: none, then block. The cascade again!
One more thing to notice: the Kids' Fish Bites link won't jump anywhere when clicked. There's a reason, and the validator finds it in Try It 7. Don't give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Short and satisfying: the dropdown becomes a proper white panel with a shadow, and navy links.
box-shadow: 0 4px 12px rgba(0, 0, 0, 0.25) means: 0 across, 4px down, 12px of blur, in black at 25% opacity. A soft shadow just below makes it look like it's floating above the page.
nav ul ul a is more specific than nav a, so the dropdown links are navy, not white. The hover rule overrides the teal from Try It 2 with peach.
Checkpoint: everyone should now have a working menu bar with a dropdown. That's half of today's activity. Have them take screenshot 1 now (the dropdown open), while they're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Tables are for data that has rows AND columns: prices, schedules, results, timetables. If you'd put it in a spreadsheet, it's probably a table.
In the 1990s, whole websites were laid out with tables. Don't do that! It's a nightmare for screen readers and phones. Today, CSS does layout, and tables are only for tabular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met accessible tables in Class 4 (caption, th, scope). Here they are all together, because these are exactly the tags we'll style.
The nesting: a table contains rows (tr), and rows contain cells (th or td). There's no 'column' tag: columns are made by lining cells up, row after row. So every row needs the same number of cells.
thead and tbody split the header rows from the data. They matter for CSS: 'tbody tr:nth-child(even)' stripes the data rows only.
scope="col" says 'this heading labels the column below it'. scope="row" says 'this heading labels the row to its right'. With these, a screen reader can say 'Halibut, Price per lb, $24.50' instead of just '$24.50'.
caption is the table's name, and it's the first thing a screen reader announces.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05_table_structure_example.html. It works, and it's accessible, but it's hard to read: no lines, the columns are squashed together, and the headings are centred.
Notice the browser already treats the th cells differently: bold, and centred in the header row. The first cell of each data row is a th too (scope="row"), so the fish names are bold.
All of the next three examples use exactly this HTML. Only the CSS changes. That's the point of separating structure (HTML) from presentation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06_table_styled_example.html, then comment out border-collapse: collapse and save. Every cell gets its own border with a gap in between: double lines everywhere. That's the browser default, and almost nobody wants it.
Padding goes on th and td. Padding on the table itself only adds space around the outside.
text-align: left on th undoes the browser's centred headings, so headings line up with their data.
Right-aligning prices is a typography habit: the decimal points line up, so it's easy to compare numbers down a column. th:last-child, td:last-child picks the last cell in every row, no classes needed.
width: 100% makes the table fill its container. Without it, a table is only as wide as its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07_table_zebra_example.html and hover the rows.
Zebra stripes (alternating row colours) help your eye stay on the same row as it moves across a wide table. nth-child from Class 9 does it automatically: no classes on rows, and if you add or delete a row, the stripes fix themselves.
Why tbody tr and not just tr? Plain tr:nth-child(even) would also work here, because each tr is counted inside its own parent (thead or tbody). But writing tbody makes your intent clear, and keeps your header style safe if the stripe rule ever changes to odd.
Also new: borders on the bottom only. A full grid can look busy; lines between rows are cleaner and very common on real sites.
Keep the stripe colour gentle. The text still needs 4.5 : 1 contrast on both colours.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08_table_responsive_example.html and make the browser narrow (or use the DevTools device toolbar: Ctrl + Shift + M). The table keeps its width and the wrapper scrolls sideways. The rest of the page stays put.
Without the wrapper, a wide table pokes out of the page, and the WHOLE page scrolls sideways on a phone. That's WCAG 1.4.10 Reflow: content shouldn't need two-way scrolling at 320px wide (data tables are an allowed exception, but they should only scroll themselves).
Last year's slide put overflow-x: auto and display: block on the table itself. That works visually, but changing a table's display can make some screen readers stop treating it as a table. The wrapper div is the safer way.
role="region" + aria-label + tabindex="0": the scrolling box can get keyboard focus (so the arrow keys scroll it), and a screen reader announces its name. Nice to have, not required today.
min-width: 700px stops the browser from squashing the columns down to nothing before it scrolls.
The other approach, turning each row into a 'card' on small screens, needs media queries, which come with responsive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div with class table-wrap is the wrapper from Example 08. Our table is narrow, so it may never actually scroll, but wrapping every table is a good habit.
VS Code shortcut: select the five lines of the Monday row, then Shift + Alt + Down Arrow copies them below. Press it six times, then change the days and times. Much faster than typing, and no typos in the tags.
Common mistakes:
- A row with only two cells: the columns go out of line.
- &lt;th&gt; for the day but forgetting scope="row".
- Rows typed outside the &lt;/tbody&gt;.
Don't remove the 'Try It 5' comment if you don't want to. Comments are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recipe as Examples 06 and 07: collapse the borders, padding and lines on the cells, a navy header row, zebra stripes on the data rows.
thead th, not just th: the day names are th too (scope="row"). Plain th would make every day name white on navy as well.
The stripes land on Tuesday, Thursday and Saturday, rows 2, 4 and 6 of the tbody.
Checkpoint: everyone should have a styled nav with a dropdown and a styled hours table. That's all of today's typing. Next class we find out whether our HTML and CSS are actually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Anyone with a working dropdown and a styled hours table has done today's job. The ideas are for fast finishers, or homework.
Remind everyone to keep their Harbourside folder as it is: Class 11 starts by validating it (Try Its 7 and 8), and the three screenshots go on Brightspace after that.
Screenshot 1 (the page with the Menu dropdown open) can be taken now: hover Menu, then Win + Shift + S. The Snipping Tool waits for you to pick an area, so the dropdown stays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from today's CSS in one place. It's in the README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class (Class 11): the W3C HTML and CSS validators, which find the hidden mistakes in today's Harbourside page, then a review of Assignment 2, with a worked solution: two pages that share one stylesheet.
Ask students to bring their Assignment 2 folder to Class 11. We'll check it with the validators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274320" y="274320"/>
            <a:ext cx="2743200" cy="365760"/>
          </a:xfrm>
          <a:prstGeom prst="rect">
            <a:avLst/>
          </a:prstGeom>
          <a:noFill/>
          <a:ln/>
        </p:spPr>
        <p:txBody>
          <a:bodyPr wrap="square" lIns="0" tIns="0" rIns="0" bIns="0" rtlCol="0" anchor="ctr"/>
          <a:lstStyle/>
          <a:p>
            <a:pPr indent="0" marL="0">
              <a:buNone/>
            </a:pPr>
            <a:r>
              <a:rPr lang="en-US" sz="1600" dirty="0">
                <a:solidFill>
                  <a:srgbClr val="000000"/>
                </a:solidFill>
                <a:latin typeface="Aptos" pitchFamily="34" charset="0"/>
                <a:ea typeface="Aptos" pitchFamily="34" charset="-122"/>
                <a:cs typeface="Aptos" pitchFamily="34" charset="-120"/>
              </a:rPr>
              <a:t>WEBD 1000</a:t>
            </a:r>
            <a:endParaRPr lang="en-US" sz="1600" dirty="0"/>
          </a:p>
        </p:txBody>
      </p:sp>
      <p:sp>
        <p:nvSpPr>
          <p:cNvPr id="3" name="Shape 1"/>
          <p:cNvSpPr/>
          <p:nvPr/>
        </p:nvSpPr>
        <p:spPr>
          <a:xfrm>
            <a:off x="502920" y="1005840"/>
            <a:ext cx="5120640" cy="5120640"/>
          </a:xfrm>
          <a:prstGeom prst="ellipse">
            <a:avLst/>
          </a:prstGeom>
          <a:solidFill>
            <a:srgbClr val="E97132"/>
          </a:solidFill>
          <a:ln w="12700">
            <a:solidFill>
              <a:srgbClr val="E97132"/>
            </a:solidFill>
            <a:prstDash val="solid"/>
          </a:ln>
        </p:spPr>
      </p:sp>
      <p:sp>
        <p:nvSpPr>
          <p:cNvPr id="4" name="Text 2"/>
          <p:cNvSpPr txBox="1"/>
          <p:nvPr/>
        </p:nvSpPr>
        <p:spPr>
          <a:xfrm>
            <a:off x="1325880" y="2194560"/>
            <a:ext cx="3840480" cy="2651760"/>
          </a:xfrm>
          <a:prstGeom prst="rect">
            <a:avLst/>
          </a:prstGeom>
          <a:noFill/>
          <a:ln/>
        </p:spPr>
        <p:txBody>
          <a:bodyPr wrap="square" lIns="0" tIns="0" rIns="0" bIns="0" rtlCol="0" anchor="ctr"/>
          <a:lstStyle/>
          <a:p>
            <a:pPr indent="0" marL="0">
              <a:buNone/>
            </a:pPr>
            <a:r>
              <a:rPr lang="en-US" sz="4600" dirty="0">
                <a:solidFill>
                  <a:srgbClr val="FFFFFF"/>
                </a:solidFill>
                <a:latin typeface="Aptos" pitchFamily="34" charset="0"/>
                <a:ea typeface="Aptos" pitchFamily="34" charset="-122"/>
                <a:cs typeface="Aptos" pitchFamily="34" charset="-120"/>
              </a:rPr>
              <a:t>HTML/CSS Techniques</a:t>
            </a:r>
            <a:endParaRPr lang="en-US" sz="4600" dirty="0"/>
          </a:p>
        </p:txBody>
      </p:sp>
      <p:sp>
        <p:nvSpPr>
          <p:cNvPr id="5" name="Shape 3"/>
          <p:cNvSpPr/>
          <p:nvPr/>
        </p:nvSpPr>
        <p:spPr>
          <a:xfrm>
            <a:off x="914400" y="5257800"/>
            <a:ext cx="566928" cy="566928"/>
          </a:xfrm>
          <a:prstGeom prst="ellipse">
            <a:avLst/>
          </a:prstGeom>
          <a:solidFill>
            <a:srgbClr val="A02B93"/>
          </a:solidFill>
          <a:ln w="12700">
            <a:solidFill>
              <a:srgbClr val="A02B93"/>
            </a:solidFill>
            <a:prstDash val="solid"/>
          </a:ln>
        </p:spPr>
      </p:sp>
      <p:sp>
        <p:nvSpPr>
          <p:cNvPr id="6" name="Shape 4"/>
          <p:cNvSpPr/>
          <p:nvPr/>
        </p:nvSpPr>
        <p:spPr>
          <a:xfrm>
            <a:off x="8778240" y="685800"/>
            <a:ext cx="3017520" cy="3017520"/>
          </a:xfrm>
          <a:prstGeom prst="arc">
            <a:avLst>
              <a:gd name="adj1" fmla="val 12000000"/>
              <a:gd name="adj2" fmla="val 1200000"/>
            </a:avLst>
          </a:prstGeom>
          <a:noFill/>
          <a:ln w="88900">
            <a:solidFill>
              <a:srgbClr val="0F9ED5"/>
            </a:solidFill>
            <a:prstDash val="dash"/>
          </a:ln>
        </p:spPr>
      </p:sp>
      <p:sp>
        <p:nvSpPr>
          <p:cNvPr id="7" name="Text 5"/>
          <p:cNvSpPr txBox="1"/>
          <p:nvPr/>
        </p:nvSpPr>
        <p:spPr>
          <a:xfrm>
            <a:off x="6263640" y="1737360"/>
            <a:ext cx="5120640" cy="2194560"/>
          </a:xfrm>
          <a:prstGeom prst="rect">
            <a:avLst/>
          </a:prstGeom>
          <a:noFill/>
          <a:ln/>
        </p:spPr>
        <p:txBody>
          <a:bodyPr wrap="square" lIns="0" tIns="0" rIns="0" bIns="0" rtlCol="0" anchor="t"/>
          <a:lstStyle/>
          <a:p>
            <a:pPr marL="342900" indent="-342900">
              <a:buSzPct val="100000"/>
              <a:buChar char="•"/>
            </a:pPr>
            <a:r>
              <a:rPr lang="en-US" sz="3000" dirty="0">
                <a:solidFill>
                  <a:srgbClr val="000000"/>
                </a:solidFill>
                <a:latin typeface="Aptos" pitchFamily="34" charset="0"/>
                <a:ea typeface="Aptos" pitchFamily="34" charset="-122"/>
                <a:cs typeface="Aptos" pitchFamily="34" charset="-120"/>
              </a:rPr>
              <a:t>Class 10:</a:t>
            </a:r>
            <a:endParaRPr lang="en-US" sz="3000" dirty="0"/>
          </a:p>
          <a:p>
            <a:pPr lvl="1" marL="685800" indent="-342900">
              <a:spcBef>
                <a:spcPts val="600"/>
              </a:spcBef>
              <a:buSzPct val="100000"/>
              <a:buChar char="○"/>
            </a:pPr>
            <a:r>
              <a:rPr lang="en-US" sz="2600" dirty="0">
                <a:solidFill>
                  <a:srgbClr val="000000"/>
                </a:solidFill>
                <a:latin typeface="Aptos" pitchFamily="34" charset="0"/>
                <a:ea typeface="Aptos" pitchFamily="34" charset="-122"/>
                <a:cs typeface="Aptos" pitchFamily="34" charset="-120"/>
              </a:rPr>
              <a:t>Navigation menus, and tables for data like prices and opening hours.</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005840" y="685800"/>
            <a:ext cx="7315200" cy="822960"/>
          </a:xfrm>
          <a:prstGeom prst="rect">
            <a:avLst/>
          </a:prstGeom>
          <a:noFill/>
          <a:ln/>
        </p:spPr>
        <p:txBody>
          <a:bodyPr wrap="square" lIns="0" tIns="0" rIns="0" bIns="0" rtlCol="0" anchor="ctr"/>
          <a:lstStyle/>
          <a:p>
            <a:pPr indent="0" marL="0">
              <a:buNone/>
            </a:pPr>
            <a:r>
              <a:rPr lang="en-US" sz="4400" dirty="0">
                <a:solidFill>
                  <a:srgbClr val="000000"/>
                </a:solidFill>
                <a:latin typeface="Aptos" pitchFamily="34" charset="0"/>
                <a:ea typeface="Aptos" pitchFamily="34" charset="-122"/>
                <a:cs typeface="Aptos" pitchFamily="34" charset="-120"/>
              </a:rPr>
              <a:t>Attendance</a:t>
            </a:r>
            <a:endParaRPr lang="en-US" sz="4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10: Class Overview</a:t>
            </a:r>
            <a:endParaRPr lang="en-US" sz="2800" dirty="0"/>
          </a:p>
        </p:txBody>
      </p:sp>
      <p:sp>
        <p:nvSpPr>
          <p:cNvPr id="7" name="Text 4"/>
          <p:cNvSpPr txBox="1"/>
          <p:nvPr/>
        </p:nvSpPr>
        <p:spPr>
          <a:xfrm>
            <a:off x="4754880" y="1783080"/>
            <a:ext cx="6903720" cy="3291840"/>
          </a:xfrm>
          <a:prstGeom prst="rect">
            <a:avLst/>
          </a:prstGeom>
          <a:noFill/>
          <a:ln/>
        </p:spPr>
        <p:txBody>
          <a:bodyPr wrap="square" lIns="0" tIns="0" rIns="0" bIns="0" rtlCol="0" anchor="t"/>
          <a:lstStyle/>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Title: </a:t>
            </a:r>
            <a:pPr indent="0" marL="0">
              <a:buNone/>
            </a:pPr>
            <a:r>
              <a:rPr lang="en-US" sz="2200" dirty="0">
                <a:solidFill>
                  <a:srgbClr val="000000"/>
                </a:solidFill>
                <a:latin typeface="Aptos" pitchFamily="34" charset="0"/>
                <a:ea typeface="Aptos" pitchFamily="34" charset="-122"/>
                <a:cs typeface="Aptos" pitchFamily="34" charset="-120"/>
              </a:rPr>
              <a:t>Navigation Menus and Tables</a:t>
            </a:r>
            <a:endParaRPr lang="en-US" sz="2200" dirty="0"/>
          </a:p>
          <a:p>
            <a:pPr indent="0" marL="0">
              <a:buNone/>
            </a:pPr>
            <a:r>
              <a:rPr lang="en-US" sz="1000" dirty="0">
                <a:solidFill>
                  <a:srgbClr val="000000"/>
                </a:solidFill>
                <a:latin typeface="Aptos" pitchFamily="34" charset="0"/>
                <a:ea typeface="Aptos" pitchFamily="34" charset="-122"/>
                <a:cs typeface="Aptos" pitchFamily="34" charset="-120"/>
              </a:rPr>
              <a:t> </a:t>
            </a:r>
            <a:endParaRPr lang="en-US" sz="2200" dirty="0"/>
          </a:p>
          <a:p>
            <a:pPr marL="342900" indent="-342900">
              <a:buSzPct val="100000"/>
              <a:buChar char="•"/>
            </a:pPr>
            <a:r>
              <a:rPr lang="en-US" sz="2200" b="1" dirty="0">
                <a:solidFill>
                  <a:srgbClr val="000000"/>
                </a:solidFill>
                <a:latin typeface="Aptos" pitchFamily="34" charset="0"/>
                <a:ea typeface="Aptos" pitchFamily="34" charset="-122"/>
                <a:cs typeface="Aptos" pitchFamily="34" charset="-120"/>
              </a:rPr>
              <a:t>Agenda:</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Navigation menus: horizontal, vertical and dropdown</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Tables for data: structure, styling, zebra stripes, small screens</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Harbourside, Part 2: Try Its 1 to 6</a:t>
            </a:r>
            <a:endParaRPr lang="en-US" sz="2200" dirty="0"/>
          </a:p>
          <a:p>
            <a:pPr lvl="1" marL="685800" indent="-342900">
              <a:spcBef>
                <a:spcPts val="400"/>
              </a:spcBef>
              <a:buSzPct val="100000"/>
              <a:buChar char="•"/>
            </a:pPr>
            <a:r>
              <a:rPr lang="en-US" sz="1800" dirty="0">
                <a:solidFill>
                  <a:srgbClr val="000000"/>
                </a:solidFill>
                <a:latin typeface="Aptos" pitchFamily="34" charset="0"/>
                <a:ea typeface="Aptos" pitchFamily="34" charset="-122"/>
                <a:cs typeface="Aptos" pitchFamily="34" charset="-120"/>
              </a:rPr>
              <a:t>Next class: validation (Try Its 7 and 8), then an Assignment 2 review</a:t>
            </a:r>
            <a:endParaRPr lang="en-US" sz="2200" dirty="0"/>
          </a:p>
        </p:txBody>
      </p:sp>
      <p:sp>
        <p:nvSpPr>
          <p:cNvPr id="8" name="Shape 5"/>
          <p:cNvSpPr/>
          <p:nvPr/>
        </p:nvSpPr>
        <p:spPr>
          <a:xfrm>
            <a:off x="475488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9" name="Text 6"/>
          <p:cNvSpPr txBox="1"/>
          <p:nvPr/>
        </p:nvSpPr>
        <p:spPr>
          <a:xfrm>
            <a:off x="493776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Navigate</a:t>
            </a:r>
            <a:endParaRPr lang="en-US" sz="1700" dirty="0"/>
          </a:p>
        </p:txBody>
      </p:sp>
      <p:sp>
        <p:nvSpPr>
          <p:cNvPr id="10" name="Text 7"/>
          <p:cNvSpPr txBox="1"/>
          <p:nvPr/>
        </p:nvSpPr>
        <p:spPr>
          <a:xfrm>
            <a:off x="493776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A menu to get around</a:t>
            </a:r>
            <a:endParaRPr lang="en-US" sz="1250" dirty="0"/>
          </a:p>
        </p:txBody>
      </p:sp>
      <p:sp>
        <p:nvSpPr>
          <p:cNvPr id="11" name="Text 8"/>
          <p:cNvSpPr txBox="1"/>
          <p:nvPr/>
        </p:nvSpPr>
        <p:spPr>
          <a:xfrm>
            <a:off x="676656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2" name="Shape 9"/>
          <p:cNvSpPr/>
          <p:nvPr/>
        </p:nvSpPr>
        <p:spPr>
          <a:xfrm>
            <a:off x="7132320" y="5120640"/>
            <a:ext cx="2011680" cy="1051560"/>
          </a:xfrm>
          <a:prstGeom prst="roundRect">
            <a:avLst>
              <a:gd name="adj" fmla="val 10435"/>
            </a:avLst>
          </a:prstGeom>
          <a:solidFill>
            <a:srgbClr val="E97132"/>
          </a:solidFill>
          <a:ln w="9525">
            <a:solidFill>
              <a:srgbClr val="E97132"/>
            </a:solidFill>
            <a:prstDash val="solid"/>
          </a:ln>
          <a:effectLst>
            <a:outerShdw sx="100000" sy="100000" kx="0" ky="0" algn="bl" rotWithShape="0" blurRad="76200" dist="25400" dir="5400000">
              <a:srgbClr val="000000">
                <a:alpha val="12000"/>
              </a:srgbClr>
            </a:outerShdw>
          </a:effectLst>
        </p:spPr>
      </p:sp>
      <p:sp>
        <p:nvSpPr>
          <p:cNvPr id="13" name="Text 10"/>
          <p:cNvSpPr txBox="1"/>
          <p:nvPr/>
        </p:nvSpPr>
        <p:spPr>
          <a:xfrm>
            <a:off x="7315200" y="5212080"/>
            <a:ext cx="1645920" cy="41148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Tabulate</a:t>
            </a:r>
            <a:endParaRPr lang="en-US" sz="1700" dirty="0"/>
          </a:p>
        </p:txBody>
      </p:sp>
      <p:sp>
        <p:nvSpPr>
          <p:cNvPr id="14" name="Text 11"/>
          <p:cNvSpPr txBox="1"/>
          <p:nvPr/>
        </p:nvSpPr>
        <p:spPr>
          <a:xfrm>
            <a:off x="7315200" y="5623560"/>
            <a:ext cx="1645920" cy="457200"/>
          </a:xfrm>
          <a:prstGeom prst="rect">
            <a:avLst/>
          </a:prstGeom>
          <a:noFill/>
          <a:ln/>
        </p:spPr>
        <p:txBody>
          <a:bodyPr wrap="square" lIns="0" tIns="0" rIns="0" bIns="0" rtlCol="0" anchor="t"/>
          <a:lstStyle/>
          <a:p>
            <a:pPr indent="0" marL="0">
              <a:buNone/>
            </a:pPr>
            <a:r>
              <a:rPr lang="en-US" sz="1250" dirty="0">
                <a:solidFill>
                  <a:srgbClr val="FFFFFF"/>
                </a:solidFill>
                <a:latin typeface="Aptos" pitchFamily="34" charset="0"/>
                <a:ea typeface="Aptos" pitchFamily="34" charset="-122"/>
                <a:cs typeface="Aptos" pitchFamily="34" charset="-120"/>
              </a:rPr>
              <a:t>Data in rows and columns</a:t>
            </a:r>
            <a:endParaRPr lang="en-US" sz="1250" dirty="0"/>
          </a:p>
        </p:txBody>
      </p:sp>
      <p:sp>
        <p:nvSpPr>
          <p:cNvPr id="15" name="Text 12"/>
          <p:cNvSpPr txBox="1"/>
          <p:nvPr/>
        </p:nvSpPr>
        <p:spPr>
          <a:xfrm>
            <a:off x="9144000" y="5120640"/>
            <a:ext cx="365760" cy="1051560"/>
          </a:xfrm>
          <a:prstGeom prst="rect">
            <a:avLst/>
          </a:prstGeom>
          <a:noFill/>
          <a:ln/>
        </p:spPr>
        <p:txBody>
          <a:bodyPr wrap="square" lIns="0" tIns="0" rIns="0" bIns="0" rtlCol="0" anchor="ctr"/>
          <a:lstStyle/>
          <a:p>
            <a:pPr algn="ctr" indent="0" marL="0">
              <a:buNone/>
            </a:pPr>
            <a:r>
              <a:rPr lang="en-US" sz="2200" b="1" dirty="0">
                <a:solidFill>
                  <a:srgbClr val="E97132"/>
                </a:solidFill>
                <a:latin typeface="Aptos" pitchFamily="34" charset="0"/>
                <a:ea typeface="Aptos" pitchFamily="34" charset="-122"/>
                <a:cs typeface="Aptos" pitchFamily="34" charset="-120"/>
              </a:rPr>
              <a:t>→</a:t>
            </a:r>
            <a:endParaRPr lang="en-US" sz="2200" dirty="0"/>
          </a:p>
        </p:txBody>
      </p:sp>
      <p:sp>
        <p:nvSpPr>
          <p:cNvPr id="16" name="Shape 13"/>
          <p:cNvSpPr/>
          <p:nvPr/>
        </p:nvSpPr>
        <p:spPr>
          <a:xfrm>
            <a:off x="9509760" y="5120640"/>
            <a:ext cx="2011680" cy="1051560"/>
          </a:xfrm>
          <a:prstGeom prst="roundRect">
            <a:avLst>
              <a:gd name="adj" fmla="val 10435"/>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Text 14"/>
          <p:cNvSpPr txBox="1"/>
          <p:nvPr/>
        </p:nvSpPr>
        <p:spPr>
          <a:xfrm>
            <a:off x="9692640" y="5212080"/>
            <a:ext cx="1645920" cy="41148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Make it yours</a:t>
            </a:r>
            <a:endParaRPr lang="en-US" sz="1700" dirty="0"/>
          </a:p>
        </p:txBody>
      </p:sp>
      <p:sp>
        <p:nvSpPr>
          <p:cNvPr id="18" name="Text 15"/>
          <p:cNvSpPr txBox="1"/>
          <p:nvPr/>
        </p:nvSpPr>
        <p:spPr>
          <a:xfrm>
            <a:off x="9692640" y="5623560"/>
            <a:ext cx="1645920" cy="457200"/>
          </a:xfrm>
          <a:prstGeom prst="rect">
            <a:avLst/>
          </a:prstGeom>
          <a:noFill/>
          <a:ln/>
        </p:spPr>
        <p:txBody>
          <a:bodyPr wrap="square" lIns="0" tIns="0" rIns="0" bIns="0" rtlCol="0" anchor="t"/>
          <a:lstStyle/>
          <a:p>
            <a:pPr indent="0" marL="0">
              <a:buNone/>
            </a:pPr>
            <a:r>
              <a:rPr lang="en-US" sz="1250" dirty="0">
                <a:solidFill>
                  <a:srgbClr val="595959"/>
                </a:solidFill>
                <a:latin typeface="Aptos" pitchFamily="34" charset="0"/>
                <a:ea typeface="Aptos" pitchFamily="34" charset="-122"/>
                <a:cs typeface="Aptos" pitchFamily="34" charset="-120"/>
              </a:rPr>
              <a:t>Then save it for Class 11</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Before We Start: Get the Code</a:t>
            </a:r>
            <a:endParaRPr lang="en-US" sz="2800" dirty="0"/>
          </a:p>
        </p:txBody>
      </p:sp>
      <p:sp>
        <p:nvSpPr>
          <p:cNvPr id="7" name="Text 4"/>
          <p:cNvSpPr txBox="1"/>
          <p:nvPr/>
        </p:nvSpPr>
        <p:spPr>
          <a:xfrm>
            <a:off x="4754880" y="17830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1.  Pull this week's examples</a:t>
            </a:r>
            <a:endParaRPr lang="en-US" sz="1800" dirty="0"/>
          </a:p>
        </p:txBody>
      </p:sp>
      <p:sp>
        <p:nvSpPr>
          <p:cNvPr id="8" name="Shape 5"/>
          <p:cNvSpPr/>
          <p:nvPr/>
        </p:nvSpPr>
        <p:spPr>
          <a:xfrm>
            <a:off x="4754880" y="2240280"/>
            <a:ext cx="4754880" cy="6400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9" name="Text 6"/>
          <p:cNvSpPr txBox="1"/>
          <p:nvPr/>
        </p:nvSpPr>
        <p:spPr>
          <a:xfrm>
            <a:off x="4870094" y="2355494"/>
            <a:ext cx="4524451" cy="409651"/>
          </a:xfrm>
          <a:prstGeom prst="rect">
            <a:avLst/>
          </a:prstGeom>
          <a:noFill/>
          <a:ln/>
        </p:spPr>
        <p:txBody>
          <a:bodyPr wrap="square" lIns="0" tIns="0" rIns="0" bIns="0" rtlCol="0" anchor="t"/>
          <a:lstStyle/>
          <a:p>
            <a:pPr indent="0" marL="0">
              <a:lnSpc>
                <a:spcPct val="100000"/>
              </a:lnSpc>
              <a:buNone/>
            </a:pPr>
            <a:r>
              <a:rPr lang="en-US" sz="1600" dirty="0">
                <a:solidFill>
                  <a:srgbClr val="D4D4D4"/>
                </a:solidFill>
                <a:latin typeface="Consolas" pitchFamily="34" charset="0"/>
                <a:ea typeface="Consolas" pitchFamily="34" charset="-122"/>
                <a:cs typeface="Consolas" pitchFamily="34" charset="-120"/>
              </a:rPr>
              <a:t>git pull</a:t>
            </a:r>
            <a:endParaRPr lang="en-US" sz="1600" dirty="0"/>
          </a:p>
        </p:txBody>
      </p:sp>
      <p:sp>
        <p:nvSpPr>
          <p:cNvPr id="10" name="Text 7"/>
          <p:cNvSpPr txBox="1"/>
          <p:nvPr/>
        </p:nvSpPr>
        <p:spPr>
          <a:xfrm>
            <a:off x="4754880" y="2971800"/>
            <a:ext cx="6903720" cy="45720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New folder: 07_Navigation_Tables_Validation (examples 01–12, and the activity folder).</a:t>
            </a:r>
            <a:endParaRPr lang="en-US" sz="1500" dirty="0"/>
          </a:p>
        </p:txBody>
      </p:sp>
      <p:sp>
        <p:nvSpPr>
          <p:cNvPr id="11" name="Text 8"/>
          <p:cNvSpPr txBox="1"/>
          <p:nvPr/>
        </p:nvSpPr>
        <p:spPr>
          <a:xfrm>
            <a:off x="4754880" y="361188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2.  Open each example with Live Server as we go</a:t>
            </a:r>
            <a:endParaRPr lang="en-US" sz="1800" dirty="0"/>
          </a:p>
        </p:txBody>
      </p:sp>
      <p:sp>
        <p:nvSpPr>
          <p:cNvPr id="12" name="Text 9"/>
          <p:cNvSpPr txBox="1"/>
          <p:nvPr/>
        </p:nvSpPr>
        <p:spPr>
          <a:xfrm>
            <a:off x="4754880" y="402336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Hover the menus, press Tab, shrink the window. Change a value, save, and see what happens.</a:t>
            </a:r>
            <a:endParaRPr lang="en-US" sz="1500" dirty="0"/>
          </a:p>
        </p:txBody>
      </p:sp>
      <p:sp>
        <p:nvSpPr>
          <p:cNvPr id="13" name="Text 10"/>
          <p:cNvSpPr txBox="1"/>
          <p:nvPr/>
        </p:nvSpPr>
        <p:spPr>
          <a:xfrm>
            <a:off x="4754880" y="4937760"/>
            <a:ext cx="6903720" cy="36576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3.  The activity: Harbourside, Part 2</a:t>
            </a:r>
            <a:endParaRPr lang="en-US" sz="1800" dirty="0"/>
          </a:p>
        </p:txBody>
      </p:sp>
      <p:sp>
        <p:nvSpPr>
          <p:cNvPr id="14" name="Text 11"/>
          <p:cNvSpPr txBox="1"/>
          <p:nvPr/>
        </p:nvSpPr>
        <p:spPr>
          <a:xfrm>
            <a:off x="4754880" y="5349240"/>
            <a:ext cx="6903720" cy="731520"/>
          </a:xfrm>
          <a:prstGeom prst="rect">
            <a:avLst/>
          </a:prstGeom>
          <a:noFill/>
          <a:ln/>
        </p:spPr>
        <p:txBody>
          <a:bodyPr wrap="square" lIns="0" tIns="0" rIns="0" bIns="0" rtlCol="0" anchor="ctr"/>
          <a:lstStyle/>
          <a:p>
            <a:pPr indent="0" marL="0">
              <a:buNone/>
            </a:pPr>
            <a:r>
              <a:rPr lang="en-US" sz="1500" dirty="0">
                <a:solidFill>
                  <a:srgbClr val="262626"/>
                </a:solidFill>
                <a:latin typeface="Aptos" pitchFamily="34" charset="0"/>
                <a:ea typeface="Aptos" pitchFamily="34" charset="-122"/>
                <a:cs typeface="Aptos" pitchFamily="34" charset="-120"/>
              </a:rPr>
              <a:t>activity/index.html and activity/style.css. Our Class 8 page, ready for a nav and a table.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Navigation Menus</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Every menu is a list   ·   horizontal   ·   vertical   ·   dropdown</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Three Kinds of Menu</a:t>
            </a:r>
            <a:endParaRPr lang="en-US" sz="2800" dirty="0"/>
          </a:p>
        </p:txBody>
      </p:sp>
      <p:sp>
        <p:nvSpPr>
          <p:cNvPr id="7" name="Shape 4"/>
          <p:cNvSpPr/>
          <p:nvPr/>
        </p:nvSpPr>
        <p:spPr>
          <a:xfrm>
            <a:off x="4754880" y="1783080"/>
            <a:ext cx="2194560" cy="306324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8" name="Shape 5"/>
          <p:cNvSpPr/>
          <p:nvPr/>
        </p:nvSpPr>
        <p:spPr>
          <a:xfrm>
            <a:off x="4937760" y="2286000"/>
            <a:ext cx="1828800" cy="384048"/>
          </a:xfrm>
          <a:prstGeom prst="rect">
            <a:avLst/>
          </a:prstGeom>
          <a:solidFill>
            <a:srgbClr val="12304A"/>
          </a:solidFill>
          <a:ln w="12700">
            <a:solidFill>
              <a:srgbClr val="12304A"/>
            </a:solidFill>
            <a:prstDash val="solid"/>
          </a:ln>
        </p:spPr>
      </p:sp>
      <p:sp>
        <p:nvSpPr>
          <p:cNvPr id="9" name="Text 6"/>
          <p:cNvSpPr txBox="1"/>
          <p:nvPr/>
        </p:nvSpPr>
        <p:spPr>
          <a:xfrm>
            <a:off x="5010912" y="228600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Home</a:t>
            </a:r>
            <a:endParaRPr lang="en-US" sz="1000" dirty="0"/>
          </a:p>
        </p:txBody>
      </p:sp>
      <p:sp>
        <p:nvSpPr>
          <p:cNvPr id="10" name="Text 7"/>
          <p:cNvSpPr txBox="1"/>
          <p:nvPr/>
        </p:nvSpPr>
        <p:spPr>
          <a:xfrm>
            <a:off x="5605272" y="228600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Menu</a:t>
            </a:r>
            <a:endParaRPr lang="en-US" sz="1000" dirty="0"/>
          </a:p>
        </p:txBody>
      </p:sp>
      <p:sp>
        <p:nvSpPr>
          <p:cNvPr id="11" name="Text 8"/>
          <p:cNvSpPr txBox="1"/>
          <p:nvPr/>
        </p:nvSpPr>
        <p:spPr>
          <a:xfrm>
            <a:off x="6199632" y="228600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Contact</a:t>
            </a:r>
            <a:endParaRPr lang="en-US" sz="1000" dirty="0"/>
          </a:p>
        </p:txBody>
      </p:sp>
      <p:sp>
        <p:nvSpPr>
          <p:cNvPr id="12" name="Shape 9"/>
          <p:cNvSpPr/>
          <p:nvPr/>
        </p:nvSpPr>
        <p:spPr>
          <a:xfrm>
            <a:off x="5010912" y="2633472"/>
            <a:ext cx="384048" cy="36576"/>
          </a:xfrm>
          <a:prstGeom prst="rect">
            <a:avLst/>
          </a:prstGeom>
          <a:solidFill>
            <a:srgbClr val="E97132"/>
          </a:solidFill>
          <a:ln w="12700">
            <a:solidFill>
              <a:srgbClr val="E97132"/>
            </a:solidFill>
            <a:prstDash val="solid"/>
          </a:ln>
        </p:spPr>
      </p:sp>
      <p:sp>
        <p:nvSpPr>
          <p:cNvPr id="13" name="Text 10"/>
          <p:cNvSpPr txBox="1"/>
          <p:nvPr/>
        </p:nvSpPr>
        <p:spPr>
          <a:xfrm>
            <a:off x="4937760" y="3383280"/>
            <a:ext cx="1828800" cy="36576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Horizontal</a:t>
            </a:r>
            <a:endParaRPr lang="en-US" sz="1700" dirty="0"/>
          </a:p>
        </p:txBody>
      </p:sp>
      <p:sp>
        <p:nvSpPr>
          <p:cNvPr id="14" name="Text 11"/>
          <p:cNvSpPr txBox="1"/>
          <p:nvPr/>
        </p:nvSpPr>
        <p:spPr>
          <a:xfrm>
            <a:off x="4937760" y="3749040"/>
            <a:ext cx="182880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Side by side across the top</a:t>
            </a:r>
            <a:endParaRPr lang="en-US" sz="1300" dirty="0"/>
          </a:p>
        </p:txBody>
      </p:sp>
      <p:sp>
        <p:nvSpPr>
          <p:cNvPr id="15" name="Text 12"/>
          <p:cNvSpPr txBox="1"/>
          <p:nvPr/>
        </p:nvSpPr>
        <p:spPr>
          <a:xfrm>
            <a:off x="4937760" y="4251960"/>
            <a:ext cx="1828800" cy="457200"/>
          </a:xfrm>
          <a:prstGeom prst="rect">
            <a:avLst/>
          </a:prstGeom>
          <a:noFill/>
          <a:ln/>
        </p:spPr>
        <p:txBody>
          <a:bodyPr wrap="square" lIns="0" tIns="0" rIns="0" bIns="0" rtlCol="0" anchor="t"/>
          <a:lstStyle/>
          <a:p>
            <a:pPr indent="0" marL="0">
              <a:buNone/>
            </a:pPr>
            <a:r>
              <a:rPr lang="en-US" sz="1150" i="1" dirty="0">
                <a:solidFill>
                  <a:srgbClr val="595959"/>
                </a:solidFill>
                <a:latin typeface="Aptos" pitchFamily="34" charset="0"/>
                <a:ea typeface="Aptos" pitchFamily="34" charset="-122"/>
                <a:cs typeface="Aptos" pitchFamily="34" charset="-120"/>
              </a:rPr>
              <a:t>Use for: A few main links</a:t>
            </a:r>
            <a:endParaRPr lang="en-US" sz="1150" dirty="0"/>
          </a:p>
        </p:txBody>
      </p:sp>
      <p:sp>
        <p:nvSpPr>
          <p:cNvPr id="16" name="Shape 13"/>
          <p:cNvSpPr/>
          <p:nvPr/>
        </p:nvSpPr>
        <p:spPr>
          <a:xfrm>
            <a:off x="7114032" y="1783080"/>
            <a:ext cx="2194560" cy="306324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7" name="Shape 14"/>
          <p:cNvSpPr/>
          <p:nvPr/>
        </p:nvSpPr>
        <p:spPr>
          <a:xfrm>
            <a:off x="7296912" y="2011680"/>
            <a:ext cx="1234440" cy="256032"/>
          </a:xfrm>
          <a:prstGeom prst="rect">
            <a:avLst/>
          </a:prstGeom>
          <a:solidFill>
            <a:srgbClr val="E1E8EB"/>
          </a:solidFill>
          <a:ln w="12700">
            <a:solidFill>
              <a:srgbClr val="E1E8EB"/>
            </a:solidFill>
            <a:prstDash val="solid"/>
          </a:ln>
        </p:spPr>
      </p:sp>
      <p:sp>
        <p:nvSpPr>
          <p:cNvPr id="18" name="Text 15"/>
          <p:cNvSpPr txBox="1"/>
          <p:nvPr/>
        </p:nvSpPr>
        <p:spPr>
          <a:xfrm>
            <a:off x="7370064" y="2011680"/>
            <a:ext cx="1143000" cy="256032"/>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Starters</a:t>
            </a:r>
            <a:endParaRPr lang="en-US" sz="900" dirty="0"/>
          </a:p>
        </p:txBody>
      </p:sp>
      <p:sp>
        <p:nvSpPr>
          <p:cNvPr id="19" name="Shape 16"/>
          <p:cNvSpPr/>
          <p:nvPr/>
        </p:nvSpPr>
        <p:spPr>
          <a:xfrm>
            <a:off x="7296912" y="2313432"/>
            <a:ext cx="1234440" cy="256032"/>
          </a:xfrm>
          <a:prstGeom prst="rect">
            <a:avLst/>
          </a:prstGeom>
          <a:solidFill>
            <a:srgbClr val="12304A"/>
          </a:solidFill>
          <a:ln w="12700">
            <a:solidFill>
              <a:srgbClr val="12304A"/>
            </a:solidFill>
            <a:prstDash val="solid"/>
          </a:ln>
        </p:spPr>
      </p:sp>
      <p:sp>
        <p:nvSpPr>
          <p:cNvPr id="20" name="Text 17"/>
          <p:cNvSpPr txBox="1"/>
          <p:nvPr/>
        </p:nvSpPr>
        <p:spPr>
          <a:xfrm>
            <a:off x="7370064" y="2313432"/>
            <a:ext cx="1143000" cy="256032"/>
          </a:xfrm>
          <a:prstGeom prst="rect">
            <a:avLst/>
          </a:prstGeom>
          <a:noFill/>
          <a:ln/>
        </p:spPr>
        <p:txBody>
          <a:bodyPr wrap="square" lIns="0" tIns="0" rIns="0" bIns="0" rtlCol="0" anchor="ctr"/>
          <a:lstStyle/>
          <a:p>
            <a:pPr indent="0" marL="0">
              <a:buNone/>
            </a:pPr>
            <a:r>
              <a:rPr lang="en-US" sz="900" dirty="0">
                <a:solidFill>
                  <a:srgbClr val="FFFFFF"/>
                </a:solidFill>
                <a:latin typeface="Aptos" pitchFamily="34" charset="0"/>
                <a:ea typeface="Aptos" pitchFamily="34" charset="-122"/>
                <a:cs typeface="Aptos" pitchFamily="34" charset="-120"/>
              </a:rPr>
              <a:t>Fish &amp; Chips</a:t>
            </a:r>
            <a:endParaRPr lang="en-US" sz="900" dirty="0"/>
          </a:p>
        </p:txBody>
      </p:sp>
      <p:sp>
        <p:nvSpPr>
          <p:cNvPr id="21" name="Shape 18"/>
          <p:cNvSpPr/>
          <p:nvPr/>
        </p:nvSpPr>
        <p:spPr>
          <a:xfrm>
            <a:off x="7296912" y="2615184"/>
            <a:ext cx="1234440" cy="256032"/>
          </a:xfrm>
          <a:prstGeom prst="rect">
            <a:avLst/>
          </a:prstGeom>
          <a:solidFill>
            <a:srgbClr val="E1E8EB"/>
          </a:solidFill>
          <a:ln w="12700">
            <a:solidFill>
              <a:srgbClr val="E1E8EB"/>
            </a:solidFill>
            <a:prstDash val="solid"/>
          </a:ln>
        </p:spPr>
      </p:sp>
      <p:sp>
        <p:nvSpPr>
          <p:cNvPr id="22" name="Text 19"/>
          <p:cNvSpPr txBox="1"/>
          <p:nvPr/>
        </p:nvSpPr>
        <p:spPr>
          <a:xfrm>
            <a:off x="7370064" y="2615184"/>
            <a:ext cx="1143000" cy="256032"/>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Lobster</a:t>
            </a:r>
            <a:endParaRPr lang="en-US" sz="900" dirty="0"/>
          </a:p>
        </p:txBody>
      </p:sp>
      <p:sp>
        <p:nvSpPr>
          <p:cNvPr id="23" name="Shape 20"/>
          <p:cNvSpPr/>
          <p:nvPr/>
        </p:nvSpPr>
        <p:spPr>
          <a:xfrm>
            <a:off x="7296912" y="2916936"/>
            <a:ext cx="1234440" cy="256032"/>
          </a:xfrm>
          <a:prstGeom prst="rect">
            <a:avLst/>
          </a:prstGeom>
          <a:solidFill>
            <a:srgbClr val="E1E8EB"/>
          </a:solidFill>
          <a:ln w="12700">
            <a:solidFill>
              <a:srgbClr val="E1E8EB"/>
            </a:solidFill>
            <a:prstDash val="solid"/>
          </a:ln>
        </p:spPr>
      </p:sp>
      <p:sp>
        <p:nvSpPr>
          <p:cNvPr id="24" name="Text 21"/>
          <p:cNvSpPr txBox="1"/>
          <p:nvPr/>
        </p:nvSpPr>
        <p:spPr>
          <a:xfrm>
            <a:off x="7370064" y="2916936"/>
            <a:ext cx="1143000" cy="256032"/>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Drinks</a:t>
            </a:r>
            <a:endParaRPr lang="en-US" sz="900" dirty="0"/>
          </a:p>
        </p:txBody>
      </p:sp>
      <p:sp>
        <p:nvSpPr>
          <p:cNvPr id="25" name="Text 22"/>
          <p:cNvSpPr txBox="1"/>
          <p:nvPr/>
        </p:nvSpPr>
        <p:spPr>
          <a:xfrm>
            <a:off x="7296912" y="3383280"/>
            <a:ext cx="1828800" cy="36576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Vertical</a:t>
            </a:r>
            <a:endParaRPr lang="en-US" sz="1700" dirty="0"/>
          </a:p>
        </p:txBody>
      </p:sp>
      <p:sp>
        <p:nvSpPr>
          <p:cNvPr id="26" name="Text 23"/>
          <p:cNvSpPr txBox="1"/>
          <p:nvPr/>
        </p:nvSpPr>
        <p:spPr>
          <a:xfrm>
            <a:off x="7296912" y="3749040"/>
            <a:ext cx="182880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Stacked down the side</a:t>
            </a:r>
            <a:endParaRPr lang="en-US" sz="1300" dirty="0"/>
          </a:p>
        </p:txBody>
      </p:sp>
      <p:sp>
        <p:nvSpPr>
          <p:cNvPr id="27" name="Text 24"/>
          <p:cNvSpPr txBox="1"/>
          <p:nvPr/>
        </p:nvSpPr>
        <p:spPr>
          <a:xfrm>
            <a:off x="7296912" y="4251960"/>
            <a:ext cx="1828800" cy="457200"/>
          </a:xfrm>
          <a:prstGeom prst="rect">
            <a:avLst/>
          </a:prstGeom>
          <a:noFill/>
          <a:ln/>
        </p:spPr>
        <p:txBody>
          <a:bodyPr wrap="square" lIns="0" tIns="0" rIns="0" bIns="0" rtlCol="0" anchor="t"/>
          <a:lstStyle/>
          <a:p>
            <a:pPr indent="0" marL="0">
              <a:buNone/>
            </a:pPr>
            <a:r>
              <a:rPr lang="en-US" sz="1150" i="1" dirty="0">
                <a:solidFill>
                  <a:srgbClr val="595959"/>
                </a:solidFill>
                <a:latin typeface="Aptos" pitchFamily="34" charset="0"/>
                <a:ea typeface="Aptos" pitchFamily="34" charset="-122"/>
                <a:cs typeface="Aptos" pitchFamily="34" charset="-120"/>
              </a:rPr>
              <a:t>Use for: Longer lists, sections</a:t>
            </a:r>
            <a:endParaRPr lang="en-US" sz="1150" dirty="0"/>
          </a:p>
        </p:txBody>
      </p:sp>
      <p:sp>
        <p:nvSpPr>
          <p:cNvPr id="28" name="Shape 25"/>
          <p:cNvSpPr/>
          <p:nvPr/>
        </p:nvSpPr>
        <p:spPr>
          <a:xfrm>
            <a:off x="9473184" y="1783080"/>
            <a:ext cx="2194560" cy="3063240"/>
          </a:xfrm>
          <a:prstGeom prst="roundRect">
            <a:avLst>
              <a:gd name="adj" fmla="val 5000"/>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29" name="Shape 26"/>
          <p:cNvSpPr/>
          <p:nvPr/>
        </p:nvSpPr>
        <p:spPr>
          <a:xfrm>
            <a:off x="9656064" y="2011680"/>
            <a:ext cx="1828800" cy="384048"/>
          </a:xfrm>
          <a:prstGeom prst="rect">
            <a:avLst/>
          </a:prstGeom>
          <a:solidFill>
            <a:srgbClr val="12304A"/>
          </a:solidFill>
          <a:ln w="12700">
            <a:solidFill>
              <a:srgbClr val="12304A"/>
            </a:solidFill>
            <a:prstDash val="solid"/>
          </a:ln>
        </p:spPr>
      </p:sp>
      <p:sp>
        <p:nvSpPr>
          <p:cNvPr id="30" name="Text 27"/>
          <p:cNvSpPr txBox="1"/>
          <p:nvPr/>
        </p:nvSpPr>
        <p:spPr>
          <a:xfrm>
            <a:off x="9729216" y="201168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Home</a:t>
            </a:r>
            <a:endParaRPr lang="en-US" sz="1000" dirty="0"/>
          </a:p>
        </p:txBody>
      </p:sp>
      <p:sp>
        <p:nvSpPr>
          <p:cNvPr id="31" name="Text 28"/>
          <p:cNvSpPr txBox="1"/>
          <p:nvPr/>
        </p:nvSpPr>
        <p:spPr>
          <a:xfrm>
            <a:off x="10323576" y="201168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Menu ▾</a:t>
            </a:r>
            <a:endParaRPr lang="en-US" sz="1000" dirty="0"/>
          </a:p>
        </p:txBody>
      </p:sp>
      <p:sp>
        <p:nvSpPr>
          <p:cNvPr id="32" name="Text 29"/>
          <p:cNvSpPr txBox="1"/>
          <p:nvPr/>
        </p:nvSpPr>
        <p:spPr>
          <a:xfrm>
            <a:off x="10917936" y="2011680"/>
            <a:ext cx="566928" cy="384048"/>
          </a:xfrm>
          <a:prstGeom prst="rect">
            <a:avLst/>
          </a:prstGeom>
          <a:noFill/>
          <a:ln/>
        </p:spPr>
        <p:txBody>
          <a:bodyPr wrap="square" lIns="0" tIns="0" rIns="0" bIns="0" rtlCol="0" anchor="ctr"/>
          <a:lstStyle/>
          <a:p>
            <a:pPr indent="0" marL="0">
              <a:buNone/>
            </a:pPr>
            <a:r>
              <a:rPr lang="en-US" sz="1000" b="1" dirty="0">
                <a:solidFill>
                  <a:srgbClr val="FFFFFF"/>
                </a:solidFill>
                <a:latin typeface="Aptos" pitchFamily="34" charset="0"/>
                <a:ea typeface="Aptos" pitchFamily="34" charset="-122"/>
                <a:cs typeface="Aptos" pitchFamily="34" charset="-120"/>
              </a:rPr>
              <a:t>Contact</a:t>
            </a:r>
            <a:endParaRPr lang="en-US" sz="1000" dirty="0"/>
          </a:p>
        </p:txBody>
      </p:sp>
      <p:sp>
        <p:nvSpPr>
          <p:cNvPr id="33" name="Shape 30"/>
          <p:cNvSpPr/>
          <p:nvPr/>
        </p:nvSpPr>
        <p:spPr>
          <a:xfrm>
            <a:off x="10259568" y="2395728"/>
            <a:ext cx="1051560" cy="768096"/>
          </a:xfrm>
          <a:prstGeom prst="rect">
            <a:avLst/>
          </a:prstGeom>
          <a:solidFill>
            <a:srgbClr val="FFFFFF"/>
          </a:solidFill>
          <a:ln w="9525">
            <a:solidFill>
              <a:srgbClr val="B0B8BC"/>
            </a:solidFill>
            <a:prstDash val="solid"/>
          </a:ln>
          <a:effectLst>
            <a:outerShdw sx="100000" sy="100000" kx="0" ky="0" algn="bl" rotWithShape="0" blurRad="50800" dist="25400" dir="5400000">
              <a:srgbClr val="000000">
                <a:alpha val="25000"/>
              </a:srgbClr>
            </a:outerShdw>
          </a:effectLst>
        </p:spPr>
      </p:sp>
      <p:sp>
        <p:nvSpPr>
          <p:cNvPr id="34" name="Text 31"/>
          <p:cNvSpPr txBox="1"/>
          <p:nvPr/>
        </p:nvSpPr>
        <p:spPr>
          <a:xfrm>
            <a:off x="10332720" y="2423160"/>
            <a:ext cx="960120" cy="237744"/>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Fish &amp; Chips</a:t>
            </a:r>
            <a:endParaRPr lang="en-US" sz="900" dirty="0"/>
          </a:p>
        </p:txBody>
      </p:sp>
      <p:sp>
        <p:nvSpPr>
          <p:cNvPr id="35" name="Text 32"/>
          <p:cNvSpPr txBox="1"/>
          <p:nvPr/>
        </p:nvSpPr>
        <p:spPr>
          <a:xfrm>
            <a:off x="10332720" y="2660904"/>
            <a:ext cx="960120" cy="237744"/>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Lobster</a:t>
            </a:r>
            <a:endParaRPr lang="en-US" sz="900" dirty="0"/>
          </a:p>
        </p:txBody>
      </p:sp>
      <p:sp>
        <p:nvSpPr>
          <p:cNvPr id="36" name="Text 33"/>
          <p:cNvSpPr txBox="1"/>
          <p:nvPr/>
        </p:nvSpPr>
        <p:spPr>
          <a:xfrm>
            <a:off x="10332720" y="2898648"/>
            <a:ext cx="960120" cy="237744"/>
          </a:xfrm>
          <a:prstGeom prst="rect">
            <a:avLst/>
          </a:prstGeom>
          <a:noFill/>
          <a:ln/>
        </p:spPr>
        <p:txBody>
          <a:bodyPr wrap="square" lIns="0" tIns="0" rIns="0" bIns="0" rtlCol="0" anchor="ctr"/>
          <a:lstStyle/>
          <a:p>
            <a:pPr indent="0" marL="0">
              <a:buNone/>
            </a:pPr>
            <a:r>
              <a:rPr lang="en-US" sz="900" dirty="0">
                <a:solidFill>
                  <a:srgbClr val="12304A"/>
                </a:solidFill>
                <a:latin typeface="Aptos" pitchFamily="34" charset="0"/>
                <a:ea typeface="Aptos" pitchFamily="34" charset="-122"/>
                <a:cs typeface="Aptos" pitchFamily="34" charset="-120"/>
              </a:rPr>
              <a:t>Kids' Menu</a:t>
            </a:r>
            <a:endParaRPr lang="en-US" sz="900" dirty="0"/>
          </a:p>
        </p:txBody>
      </p:sp>
      <p:sp>
        <p:nvSpPr>
          <p:cNvPr id="37" name="Text 34"/>
          <p:cNvSpPr txBox="1"/>
          <p:nvPr/>
        </p:nvSpPr>
        <p:spPr>
          <a:xfrm>
            <a:off x="9656064" y="3383280"/>
            <a:ext cx="1828800" cy="365760"/>
          </a:xfrm>
          <a:prstGeom prst="rect">
            <a:avLst/>
          </a:prstGeom>
          <a:noFill/>
          <a:ln/>
        </p:spPr>
        <p:txBody>
          <a:bodyPr wrap="square" lIns="0" tIns="0" rIns="0" bIns="0" rtlCol="0" anchor="ctr"/>
          <a:lstStyle/>
          <a:p>
            <a:pPr indent="0" marL="0">
              <a:buNone/>
            </a:pPr>
            <a:r>
              <a:rPr lang="en-US" sz="1700" b="1" dirty="0">
                <a:solidFill>
                  <a:srgbClr val="000000"/>
                </a:solidFill>
                <a:latin typeface="Aptos" pitchFamily="34" charset="0"/>
                <a:ea typeface="Aptos" pitchFamily="34" charset="-122"/>
                <a:cs typeface="Aptos" pitchFamily="34" charset="-120"/>
              </a:rPr>
              <a:t>Dropdown</a:t>
            </a:r>
            <a:endParaRPr lang="en-US" sz="1700" dirty="0"/>
          </a:p>
        </p:txBody>
      </p:sp>
      <p:sp>
        <p:nvSpPr>
          <p:cNvPr id="38" name="Text 35"/>
          <p:cNvSpPr txBox="1"/>
          <p:nvPr/>
        </p:nvSpPr>
        <p:spPr>
          <a:xfrm>
            <a:off x="9656064" y="3749040"/>
            <a:ext cx="1828800" cy="457200"/>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 list inside a list</a:t>
            </a:r>
            <a:endParaRPr lang="en-US" sz="1300" dirty="0"/>
          </a:p>
        </p:txBody>
      </p:sp>
      <p:sp>
        <p:nvSpPr>
          <p:cNvPr id="39" name="Text 36"/>
          <p:cNvSpPr txBox="1"/>
          <p:nvPr/>
        </p:nvSpPr>
        <p:spPr>
          <a:xfrm>
            <a:off x="9656064" y="4251960"/>
            <a:ext cx="1828800" cy="457200"/>
          </a:xfrm>
          <a:prstGeom prst="rect">
            <a:avLst/>
          </a:prstGeom>
          <a:noFill/>
          <a:ln/>
        </p:spPr>
        <p:txBody>
          <a:bodyPr wrap="square" lIns="0" tIns="0" rIns="0" bIns="0" rtlCol="0" anchor="t"/>
          <a:lstStyle/>
          <a:p>
            <a:pPr indent="0" marL="0">
              <a:buNone/>
            </a:pPr>
            <a:r>
              <a:rPr lang="en-US" sz="1150" i="1" dirty="0">
                <a:solidFill>
                  <a:srgbClr val="595959"/>
                </a:solidFill>
                <a:latin typeface="Aptos" pitchFamily="34" charset="0"/>
                <a:ea typeface="Aptos" pitchFamily="34" charset="-122"/>
                <a:cs typeface="Aptos" pitchFamily="34" charset="-120"/>
              </a:rPr>
              <a:t>Use for: Grouping related pages</a:t>
            </a:r>
            <a:endParaRPr lang="en-US" sz="1150" dirty="0"/>
          </a:p>
        </p:txBody>
      </p:sp>
      <p:sp>
        <p:nvSpPr>
          <p:cNvPr id="40" name="Text 37"/>
          <p:cNvSpPr txBox="1"/>
          <p:nvPr/>
        </p:nvSpPr>
        <p:spPr>
          <a:xfrm>
            <a:off x="4754880" y="5120640"/>
            <a:ext cx="6903720" cy="365760"/>
          </a:xfrm>
          <a:prstGeom prst="rect">
            <a:avLst/>
          </a:prstGeom>
          <a:noFill/>
          <a:ln/>
        </p:spPr>
        <p:txBody>
          <a:bodyPr wrap="square" lIns="0" tIns="0" rIns="0" bIns="0" rtlCol="0" anchor="ctr"/>
          <a:lstStyle/>
          <a:p>
            <a:pPr indent="0" marL="0">
              <a:buNone/>
            </a:pPr>
            <a:r>
              <a:rPr lang="en-US" sz="1500" b="1" dirty="0">
                <a:solidFill>
                  <a:srgbClr val="000000"/>
                </a:solidFill>
                <a:latin typeface="Aptos" pitchFamily="34" charset="0"/>
                <a:ea typeface="Aptos" pitchFamily="34" charset="-122"/>
                <a:cs typeface="Aptos" pitchFamily="34" charset="-120"/>
              </a:rPr>
              <a:t>Same HTML every time:</a:t>
            </a:r>
            <a:endParaRPr lang="en-US" sz="1500" dirty="0"/>
          </a:p>
        </p:txBody>
      </p:sp>
      <p:sp>
        <p:nvSpPr>
          <p:cNvPr id="41" name="Shape 38"/>
          <p:cNvSpPr/>
          <p:nvPr/>
        </p:nvSpPr>
        <p:spPr>
          <a:xfrm>
            <a:off x="4754880" y="5577840"/>
            <a:ext cx="1005840" cy="310896"/>
          </a:xfrm>
          <a:prstGeom prst="roundRect">
            <a:avLst>
              <a:gd name="adj" fmla="val 50000"/>
            </a:avLst>
          </a:prstGeom>
          <a:solidFill>
            <a:srgbClr val="12304A"/>
          </a:solidFill>
          <a:ln w="12700">
            <a:solidFill>
              <a:srgbClr val="12304A"/>
            </a:solidFill>
            <a:prstDash val="solid"/>
          </a:ln>
        </p:spPr>
      </p:sp>
      <p:sp>
        <p:nvSpPr>
          <p:cNvPr id="42" name="Text 39"/>
          <p:cNvSpPr txBox="1"/>
          <p:nvPr/>
        </p:nvSpPr>
        <p:spPr>
          <a:xfrm>
            <a:off x="4754880" y="5577840"/>
            <a:ext cx="1005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&lt;nav&gt;</a:t>
            </a:r>
            <a:endParaRPr lang="en-US" sz="1050" dirty="0"/>
          </a:p>
        </p:txBody>
      </p:sp>
      <p:sp>
        <p:nvSpPr>
          <p:cNvPr id="43" name="Text 40"/>
          <p:cNvSpPr txBox="1"/>
          <p:nvPr/>
        </p:nvSpPr>
        <p:spPr>
          <a:xfrm>
            <a:off x="5760720" y="5550408"/>
            <a:ext cx="411480" cy="365760"/>
          </a:xfrm>
          <a:prstGeom prst="rect">
            <a:avLst/>
          </a:prstGeom>
          <a:noFill/>
          <a:ln/>
        </p:spPr>
        <p:txBody>
          <a:bodyPr wrap="square" lIns="0" tIns="0" rIns="0" bIns="0" rtlCol="0" anchor="ctr"/>
          <a:lstStyle/>
          <a:p>
            <a:pPr algn="ctr" indent="0" marL="0">
              <a:buNone/>
            </a:pPr>
            <a:r>
              <a:rPr lang="en-US" sz="1600" b="1" dirty="0">
                <a:solidFill>
                  <a:srgbClr val="595959"/>
                </a:solidFill>
                <a:latin typeface="Aptos" pitchFamily="34" charset="0"/>
                <a:ea typeface="Aptos" pitchFamily="34" charset="-122"/>
                <a:cs typeface="Aptos" pitchFamily="34" charset="-120"/>
              </a:rPr>
              <a:t>→</a:t>
            </a:r>
            <a:endParaRPr lang="en-US" sz="1600" dirty="0"/>
          </a:p>
        </p:txBody>
      </p:sp>
      <p:sp>
        <p:nvSpPr>
          <p:cNvPr id="44" name="Shape 41"/>
          <p:cNvSpPr/>
          <p:nvPr/>
        </p:nvSpPr>
        <p:spPr>
          <a:xfrm>
            <a:off x="6172200" y="5577840"/>
            <a:ext cx="1005840" cy="310896"/>
          </a:xfrm>
          <a:prstGeom prst="roundRect">
            <a:avLst>
              <a:gd name="adj" fmla="val 50000"/>
            </a:avLst>
          </a:prstGeom>
          <a:solidFill>
            <a:srgbClr val="1B5E82"/>
          </a:solidFill>
          <a:ln w="12700">
            <a:solidFill>
              <a:srgbClr val="1B5E82"/>
            </a:solidFill>
            <a:prstDash val="solid"/>
          </a:ln>
        </p:spPr>
      </p:sp>
      <p:sp>
        <p:nvSpPr>
          <p:cNvPr id="45" name="Text 42"/>
          <p:cNvSpPr txBox="1"/>
          <p:nvPr/>
        </p:nvSpPr>
        <p:spPr>
          <a:xfrm>
            <a:off x="6172200" y="5577840"/>
            <a:ext cx="1005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&lt;ul&gt;</a:t>
            </a:r>
            <a:endParaRPr lang="en-US" sz="1050" dirty="0"/>
          </a:p>
        </p:txBody>
      </p:sp>
      <p:sp>
        <p:nvSpPr>
          <p:cNvPr id="46" name="Text 43"/>
          <p:cNvSpPr txBox="1"/>
          <p:nvPr/>
        </p:nvSpPr>
        <p:spPr>
          <a:xfrm>
            <a:off x="7178040" y="5550408"/>
            <a:ext cx="411480" cy="365760"/>
          </a:xfrm>
          <a:prstGeom prst="rect">
            <a:avLst/>
          </a:prstGeom>
          <a:noFill/>
          <a:ln/>
        </p:spPr>
        <p:txBody>
          <a:bodyPr wrap="square" lIns="0" tIns="0" rIns="0" bIns="0" rtlCol="0" anchor="ctr"/>
          <a:lstStyle/>
          <a:p>
            <a:pPr algn="ctr" indent="0" marL="0">
              <a:buNone/>
            </a:pPr>
            <a:r>
              <a:rPr lang="en-US" sz="1600" b="1" dirty="0">
                <a:solidFill>
                  <a:srgbClr val="595959"/>
                </a:solidFill>
                <a:latin typeface="Aptos" pitchFamily="34" charset="0"/>
                <a:ea typeface="Aptos" pitchFamily="34" charset="-122"/>
                <a:cs typeface="Aptos" pitchFamily="34" charset="-120"/>
              </a:rPr>
              <a:t>→</a:t>
            </a:r>
            <a:endParaRPr lang="en-US" sz="1600" dirty="0"/>
          </a:p>
        </p:txBody>
      </p:sp>
      <p:sp>
        <p:nvSpPr>
          <p:cNvPr id="47" name="Shape 44"/>
          <p:cNvSpPr/>
          <p:nvPr/>
        </p:nvSpPr>
        <p:spPr>
          <a:xfrm>
            <a:off x="7589520" y="5577840"/>
            <a:ext cx="1005840" cy="310896"/>
          </a:xfrm>
          <a:prstGeom prst="roundRect">
            <a:avLst>
              <a:gd name="adj" fmla="val 50000"/>
            </a:avLst>
          </a:prstGeom>
          <a:solidFill>
            <a:srgbClr val="A02B93"/>
          </a:solidFill>
          <a:ln w="12700">
            <a:solidFill>
              <a:srgbClr val="A02B93"/>
            </a:solidFill>
            <a:prstDash val="solid"/>
          </a:ln>
        </p:spPr>
      </p:sp>
      <p:sp>
        <p:nvSpPr>
          <p:cNvPr id="48" name="Text 45"/>
          <p:cNvSpPr txBox="1"/>
          <p:nvPr/>
        </p:nvSpPr>
        <p:spPr>
          <a:xfrm>
            <a:off x="7589520" y="5577840"/>
            <a:ext cx="1005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&lt;li&gt;</a:t>
            </a:r>
            <a:endParaRPr lang="en-US" sz="1050" dirty="0"/>
          </a:p>
        </p:txBody>
      </p:sp>
      <p:sp>
        <p:nvSpPr>
          <p:cNvPr id="49" name="Text 46"/>
          <p:cNvSpPr txBox="1"/>
          <p:nvPr/>
        </p:nvSpPr>
        <p:spPr>
          <a:xfrm>
            <a:off x="8595360" y="5550408"/>
            <a:ext cx="411480" cy="365760"/>
          </a:xfrm>
          <a:prstGeom prst="rect">
            <a:avLst/>
          </a:prstGeom>
          <a:noFill/>
          <a:ln/>
        </p:spPr>
        <p:txBody>
          <a:bodyPr wrap="square" lIns="0" tIns="0" rIns="0" bIns="0" rtlCol="0" anchor="ctr"/>
          <a:lstStyle/>
          <a:p>
            <a:pPr algn="ctr" indent="0" marL="0">
              <a:buNone/>
            </a:pPr>
            <a:r>
              <a:rPr lang="en-US" sz="1600" b="1" dirty="0">
                <a:solidFill>
                  <a:srgbClr val="595959"/>
                </a:solidFill>
                <a:latin typeface="Aptos" pitchFamily="34" charset="0"/>
                <a:ea typeface="Aptos" pitchFamily="34" charset="-122"/>
                <a:cs typeface="Aptos" pitchFamily="34" charset="-120"/>
              </a:rPr>
              <a:t>→</a:t>
            </a:r>
            <a:endParaRPr lang="en-US" sz="1600" dirty="0"/>
          </a:p>
        </p:txBody>
      </p:sp>
      <p:sp>
        <p:nvSpPr>
          <p:cNvPr id="50" name="Shape 47"/>
          <p:cNvSpPr/>
          <p:nvPr/>
        </p:nvSpPr>
        <p:spPr>
          <a:xfrm>
            <a:off x="9006840" y="5577840"/>
            <a:ext cx="1005840" cy="310896"/>
          </a:xfrm>
          <a:prstGeom prst="roundRect">
            <a:avLst>
              <a:gd name="adj" fmla="val 50000"/>
            </a:avLst>
          </a:prstGeom>
          <a:solidFill>
            <a:srgbClr val="E97132"/>
          </a:solidFill>
          <a:ln w="12700">
            <a:solidFill>
              <a:srgbClr val="E97132"/>
            </a:solidFill>
            <a:prstDash val="solid"/>
          </a:ln>
        </p:spPr>
      </p:sp>
      <p:sp>
        <p:nvSpPr>
          <p:cNvPr id="51" name="Text 48"/>
          <p:cNvSpPr txBox="1"/>
          <p:nvPr/>
        </p:nvSpPr>
        <p:spPr>
          <a:xfrm>
            <a:off x="9006840" y="5577840"/>
            <a:ext cx="1005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Aptos" pitchFamily="34" charset="0"/>
                <a:ea typeface="Aptos" pitchFamily="34" charset="-122"/>
                <a:cs typeface="Aptos" pitchFamily="34" charset="-120"/>
              </a:rPr>
              <a:t>&lt;a&gt;</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812821"/>
            <a:ext cx="5852160" cy="3232357"/>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2041421"/>
            <a:ext cx="5394960" cy="2775157"/>
          </a:xfrm>
          <a:prstGeom prst="rect">
            <a:avLst/>
          </a:prstGeom>
          <a:noFill/>
          <a:ln/>
        </p:spPr>
        <p:txBody>
          <a:bodyPr wrap="square" lIns="0" tIns="0" rIns="0" bIns="0" rtlCol="0" anchor="t"/>
          <a:lstStyle/>
          <a:p>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header</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Harbourside</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h1</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&lt;!-- nav = "this is the main way around the site" --&gt;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aria-label</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"Main"</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"#home"</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Home</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"#menu"</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Menu</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"#about"</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About</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"#contact"</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Contact</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a:p>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350" dirty="0">
                <a:solidFill>
                  <a:srgbClr val="569CD6"/>
                </a:solidFill>
                <a:latin typeface="Consolas" pitchFamily="34" charset="0"/>
                <a:ea typeface="Consolas" pitchFamily="34" charset="-122"/>
                <a:cs typeface="Consolas" pitchFamily="34" charset="-120"/>
              </a:rPr>
              <a:t>header</a:t>
            </a:r>
            <a:pPr indent="0" marL="0">
              <a:lnSpc>
                <a:spcPct val="100000"/>
              </a:lnSpc>
              <a:buNone/>
            </a:pPr>
            <a:r>
              <a:rPr lang="en-US" sz="1350" dirty="0">
                <a:solidFill>
                  <a:srgbClr val="808080"/>
                </a:solidFill>
                <a:latin typeface="Consolas" pitchFamily="34" charset="0"/>
                <a:ea typeface="Consolas" pitchFamily="34" charset="-122"/>
                <a:cs typeface="Consolas" pitchFamily="34" charset="-120"/>
              </a:rPr>
              <a:t>&gt;</a:t>
            </a:r>
            <a:endParaRPr lang="en-US" sz="13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NAVIGATION 1 · EXAMPLE 01</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Every Menu Is a List</a:t>
            </a:r>
            <a:endParaRPr lang="en-US" sz="3200" dirty="0"/>
          </a:p>
        </p:txBody>
      </p:sp>
      <p:pic>
        <p:nvPicPr>
          <p:cNvPr id="7" name="Image 1" descr="C:\Repos\2026-2027\WEBD1000\07_Navigation_Tables_Validation\_build\shots\ex01.png">    </p:cNvPr>
          <p:cNvPicPr>
            <a:picLocks noChangeAspect="1"/>
          </p:cNvPicPr>
          <p:nvPr/>
        </p:nvPicPr>
        <p:blipFill>
          <a:blip r:embed="rId2"/>
          <a:stretch>
            <a:fillRect/>
          </a:stretch>
        </p:blipFill>
        <p:spPr>
          <a:xfrm>
            <a:off x="6812280" y="4147947"/>
            <a:ext cx="4967935" cy="2069973"/>
          </a:xfrm>
          <a:prstGeom prst="rect">
            <a:avLst/>
          </a:prstGeom>
        </p:spPr>
      </p:pic>
      <p:sp>
        <p:nvSpPr>
          <p:cNvPr id="8" name="Shape 4"/>
          <p:cNvSpPr/>
          <p:nvPr/>
        </p:nvSpPr>
        <p:spPr>
          <a:xfrm>
            <a:off x="6812280" y="4147947"/>
            <a:ext cx="4967935" cy="2069973"/>
          </a:xfrm>
          <a:prstGeom prst="rect">
            <a:avLst/>
          </a:prstGeom>
          <a:ln w="12700">
            <a:solidFill>
              <a:srgbClr val="B0B8BC"/>
            </a:solidFill>
            <a:prstDash val="solid"/>
          </a:ln>
        </p:spPr>
      </p:sp>
      <p:sp>
        <p:nvSpPr>
          <p:cNvPr id="9" name="Text 5"/>
          <p:cNvSpPr txBox="1"/>
          <p:nvPr/>
        </p:nvSpPr>
        <p:spPr>
          <a:xfrm>
            <a:off x="6812280" y="3855339"/>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255139"/>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&lt;nav&gt;</a:t>
            </a:r>
            <a:pPr indent="0" marL="0">
              <a:buNone/>
            </a:pPr>
            <a:r>
              <a:rPr lang="en-US" sz="1400" dirty="0">
                <a:solidFill>
                  <a:srgbClr val="262626"/>
                </a:solidFill>
                <a:latin typeface="Aptos" pitchFamily="34" charset="0"/>
                <a:ea typeface="Aptos" pitchFamily="34" charset="-122"/>
                <a:cs typeface="Aptos" pitchFamily="34" charset="-120"/>
              </a:rPr>
              <a:t> says </a:t>
            </a:r>
            <a:pPr indent="0" marL="0">
              <a:buNone/>
            </a:pPr>
            <a:r>
              <a:rPr lang="en-US" sz="1400" b="1" dirty="0">
                <a:solidFill>
                  <a:srgbClr val="262626"/>
                </a:solidFill>
                <a:latin typeface="Aptos" pitchFamily="34" charset="0"/>
                <a:ea typeface="Aptos" pitchFamily="34" charset="-122"/>
                <a:cs typeface="Aptos" pitchFamily="34" charset="-120"/>
              </a:rPr>
              <a:t>"this is the main way around the site"</a:t>
            </a:r>
            <a:pPr indent="0" marL="0">
              <a:buNone/>
            </a:pPr>
            <a:r>
              <a:rPr lang="en-US" sz="1400" dirty="0">
                <a:solidFill>
                  <a:srgbClr val="262626"/>
                </a:solidFill>
                <a:latin typeface="Aptos" pitchFamily="34" charset="0"/>
                <a:ea typeface="Aptos" pitchFamily="34" charset="-122"/>
                <a:cs typeface="Aptos" pitchFamily="34" charset="-120"/>
              </a:rPr>
              <a:t>. Screen readers can jump straight to it.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 </a:t>
            </a:r>
            <a:pPr indent="0" marL="0">
              <a:buNone/>
            </a:pPr>
            <a:r>
              <a:rPr lang="en-US" sz="1400" dirty="0">
                <a:solidFill>
                  <a:srgbClr val="8A2B0B"/>
                </a:solidFill>
                <a:latin typeface="Consolas" pitchFamily="34" charset="0"/>
                <a:ea typeface="Consolas" pitchFamily="34" charset="-122"/>
                <a:cs typeface="Consolas" pitchFamily="34" charset="-120"/>
              </a:rPr>
              <a:t>&lt;ul&gt;</a:t>
            </a:r>
            <a:pPr indent="0" marL="0">
              <a:buNone/>
            </a:pPr>
            <a:r>
              <a:rPr lang="en-US" sz="1400" dirty="0">
                <a:solidFill>
                  <a:srgbClr val="262626"/>
                </a:solidFill>
                <a:latin typeface="Aptos" pitchFamily="34" charset="0"/>
                <a:ea typeface="Aptos" pitchFamily="34" charset="-122"/>
                <a:cs typeface="Aptos" pitchFamily="34" charset="-120"/>
              </a:rPr>
              <a:t> of links, because a menu </a:t>
            </a:r>
            <a:pPr indent="0" marL="0">
              <a:buNone/>
            </a:pPr>
            <a:r>
              <a:rPr lang="en-US" sz="1400" b="1" dirty="0">
                <a:solidFill>
                  <a:srgbClr val="262626"/>
                </a:solidFill>
                <a:latin typeface="Aptos" pitchFamily="34" charset="0"/>
                <a:ea typeface="Aptos" pitchFamily="34" charset="-122"/>
                <a:cs typeface="Aptos" pitchFamily="34" charset="-120"/>
              </a:rPr>
              <a:t>is</a:t>
            </a:r>
            <a:pPr indent="0" marL="0">
              <a:buNone/>
            </a:pPr>
            <a:r>
              <a:rPr lang="en-US" sz="1400" dirty="0">
                <a:solidFill>
                  <a:srgbClr val="262626"/>
                </a:solidFill>
                <a:latin typeface="Aptos" pitchFamily="34" charset="0"/>
                <a:ea typeface="Aptos" pitchFamily="34" charset="-122"/>
                <a:cs typeface="Aptos" pitchFamily="34" charset="-120"/>
              </a:rPr>
              <a:t> a list. Screen readers say "list, 4 items".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aria-label</a:t>
            </a:r>
            <a:pPr indent="0" marL="0">
              <a:buNone/>
            </a:pPr>
            <a:r>
              <a:rPr lang="en-US" sz="1400" dirty="0">
                <a:solidFill>
                  <a:srgbClr val="262626"/>
                </a:solidFill>
                <a:latin typeface="Aptos" pitchFamily="34" charset="0"/>
                <a:ea typeface="Aptos" pitchFamily="34" charset="-122"/>
                <a:cs typeface="Aptos" pitchFamily="34" charset="-120"/>
              </a:rPr>
              <a:t> names it, if a page has more than one nav.</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01_nav_structure_example.html</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535475"/>
            <a:ext cx="5852160" cy="578705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764075"/>
            <a:ext cx="5394960" cy="5329850"/>
          </a:xfrm>
          <a:prstGeom prst="rect">
            <a:avLst/>
          </a:prstGeom>
          <a:noFill/>
          <a:ln/>
        </p:spPr>
        <p:txBody>
          <a:bodyPr wrap="square" lIns="0" tIns="0" rIns="0" bIns="0" rtlCol="0" anchor="t"/>
          <a:lstStyle/>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1. Remove the bullets and the indent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ul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list-style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2. Put the items side by side (a sneak peek at Flexbox) */</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flex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gap</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3. Make the whole link a big box that's easy to click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14px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18px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a:hover,</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a:focus-visible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endParaRPr lang="en-US" sz="1200" dirty="0"/>
          </a:p>
          <a:p>
            <a:pPr indent="0" marL="0">
              <a:lnSpc>
                <a:spcPct val="100000"/>
              </a:lnSpc>
              <a:buNone/>
            </a:pPr>
            <a:r>
              <a:rPr lang="en-US" sz="1200" dirty="0">
                <a:solidFill>
                  <a:srgbClr val="6A9955"/>
                </a:solidFill>
                <a:latin typeface="Consolas" pitchFamily="34" charset="0"/>
                <a:ea typeface="Consolas" pitchFamily="34" charset="-122"/>
                <a:cs typeface="Consolas" pitchFamily="34" charset="-120"/>
              </a:rPr>
              <a:t>/* 4. Show which page you're on */</a:t>
            </a:r>
            <a:endParaRPr lang="en-US" sz="1200" dirty="0"/>
          </a:p>
          <a:p>
            <a:pPr indent="0" marL="0">
              <a:lnSpc>
                <a:spcPct val="100000"/>
              </a:lnSpc>
              <a:buNone/>
            </a:pPr>
            <a:r>
              <a:rPr lang="en-US" sz="1200" dirty="0">
                <a:solidFill>
                  <a:srgbClr val="D7BA7D"/>
                </a:solidFill>
                <a:latin typeface="Consolas" pitchFamily="34" charset="0"/>
                <a:ea typeface="Consolas" pitchFamily="34" charset="-122"/>
                <a:cs typeface="Consolas" pitchFamily="34" charset="-120"/>
              </a:rPr>
              <a:t>nav a[aria-current="page"] </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2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a:p>
            <a:pPr indent="0" marL="0">
              <a:lnSpc>
                <a:spcPct val="100000"/>
              </a:lnSpc>
              <a:buNone/>
            </a:pPr>
            <a:r>
              <a:rPr lang="en-US" sz="1200" dirty="0">
                <a:solidFill>
                  <a:srgbClr val="D4D4D4"/>
                </a:solidFill>
                <a:latin typeface="Consolas" pitchFamily="34" charset="0"/>
                <a:ea typeface="Consolas" pitchFamily="34" charset="-122"/>
                <a:cs typeface="Consolas" pitchFamily="34" charset="-120"/>
              </a:rPr>
              <a:t>}</a:t>
            </a:r>
            <a:endParaRPr lang="en-US" sz="12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NAVIGATION 2 · EXAMPLE 02</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Horizontal Menu</a:t>
            </a:r>
            <a:endParaRPr lang="en-US" sz="3200" dirty="0"/>
          </a:p>
        </p:txBody>
      </p:sp>
      <p:pic>
        <p:nvPicPr>
          <p:cNvPr id="7" name="Image 1" descr="C:\Repos\2026-2027\WEBD1000\07_Navigation_Tables_Validation\_build\shots\ex02.png">    </p:cNvPr>
          <p:cNvPicPr>
            <a:picLocks noChangeAspect="1"/>
          </p:cNvPicPr>
          <p:nvPr/>
        </p:nvPicPr>
        <p:blipFill>
          <a:blip r:embed="rId2"/>
          <a:stretch>
            <a:fillRect/>
          </a:stretch>
        </p:blipFill>
        <p:spPr>
          <a:xfrm>
            <a:off x="6812280" y="4544568"/>
            <a:ext cx="3516284" cy="644652"/>
          </a:xfrm>
          <a:prstGeom prst="rect">
            <a:avLst/>
          </a:prstGeom>
        </p:spPr>
      </p:pic>
      <p:sp>
        <p:nvSpPr>
          <p:cNvPr id="8" name="Shape 4"/>
          <p:cNvSpPr/>
          <p:nvPr/>
        </p:nvSpPr>
        <p:spPr>
          <a:xfrm>
            <a:off x="6812280" y="4544568"/>
            <a:ext cx="3516284" cy="644652"/>
          </a:xfrm>
          <a:prstGeom prst="rect">
            <a:avLst/>
          </a:prstGeom>
          <a:ln w="12700">
            <a:solidFill>
              <a:srgbClr val="B0B8BC"/>
            </a:solidFill>
            <a:prstDash val="solid"/>
          </a:ln>
        </p:spPr>
      </p:sp>
      <p:sp>
        <p:nvSpPr>
          <p:cNvPr id="9" name="Text 5"/>
          <p:cNvSpPr txBox="1"/>
          <p:nvPr/>
        </p:nvSpPr>
        <p:spPr>
          <a:xfrm>
            <a:off x="6812280" y="4251960"/>
            <a:ext cx="351628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NORMAL</a:t>
            </a:r>
            <a:endParaRPr lang="en-US" sz="1100" dirty="0"/>
          </a:p>
        </p:txBody>
      </p:sp>
      <p:pic>
        <p:nvPicPr>
          <p:cNvPr id="10" name="Image 2" descr="C:\Repos\2026-2027\WEBD1000\07_Navigation_Tables_Validation\_build\shots\ex02h.png">    </p:cNvPr>
          <p:cNvPicPr>
            <a:picLocks noChangeAspect="1"/>
          </p:cNvPicPr>
          <p:nvPr/>
        </p:nvPicPr>
        <p:blipFill>
          <a:blip r:embed="rId3"/>
          <a:stretch>
            <a:fillRect/>
          </a:stretch>
        </p:blipFill>
        <p:spPr>
          <a:xfrm>
            <a:off x="6812280" y="5618988"/>
            <a:ext cx="3516284" cy="644652"/>
          </a:xfrm>
          <a:prstGeom prst="rect">
            <a:avLst/>
          </a:prstGeom>
        </p:spPr>
      </p:pic>
      <p:sp>
        <p:nvSpPr>
          <p:cNvPr id="11" name="Shape 6"/>
          <p:cNvSpPr/>
          <p:nvPr/>
        </p:nvSpPr>
        <p:spPr>
          <a:xfrm>
            <a:off x="6812280" y="5618988"/>
            <a:ext cx="3516284" cy="644652"/>
          </a:xfrm>
          <a:prstGeom prst="rect">
            <a:avLst/>
          </a:prstGeom>
          <a:ln w="12700">
            <a:solidFill>
              <a:srgbClr val="B0B8BC"/>
            </a:solidFill>
            <a:prstDash val="solid"/>
          </a:ln>
        </p:spPr>
      </p:sp>
      <p:sp>
        <p:nvSpPr>
          <p:cNvPr id="12" name="Text 7"/>
          <p:cNvSpPr txBox="1"/>
          <p:nvPr/>
        </p:nvSpPr>
        <p:spPr>
          <a:xfrm>
            <a:off x="6812280" y="5326380"/>
            <a:ext cx="3516284"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HOVER ON "ABOUT"</a:t>
            </a:r>
            <a:endParaRPr lang="en-US" sz="1100" dirty="0"/>
          </a:p>
        </p:txBody>
      </p:sp>
      <p:sp>
        <p:nvSpPr>
          <p:cNvPr id="13" name="Text 8"/>
          <p:cNvSpPr txBox="1"/>
          <p:nvPr/>
        </p:nvSpPr>
        <p:spPr>
          <a:xfrm>
            <a:off x="6812280" y="1508760"/>
            <a:ext cx="4967935" cy="2651760"/>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list-style: none</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padding: 0</a:t>
            </a:r>
            <a:pPr indent="0" marL="0">
              <a:buNone/>
            </a:pPr>
            <a:r>
              <a:rPr lang="en-US" sz="1300" dirty="0">
                <a:solidFill>
                  <a:srgbClr val="262626"/>
                </a:solidFill>
                <a:latin typeface="Aptos" pitchFamily="34" charset="0"/>
                <a:ea typeface="Aptos" pitchFamily="34" charset="-122"/>
                <a:cs typeface="Aptos" pitchFamily="34" charset="-120"/>
              </a:rPr>
              <a:t> remove the bullets and the indent.</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display: flex</a:t>
            </a:r>
            <a:pPr indent="0" marL="0">
              <a:buNone/>
            </a:pPr>
            <a:r>
              <a:rPr lang="en-US" sz="1300" dirty="0">
                <a:solidFill>
                  <a:srgbClr val="262626"/>
                </a:solidFill>
                <a:latin typeface="Aptos" pitchFamily="34" charset="0"/>
                <a:ea typeface="Aptos" pitchFamily="34" charset="-122"/>
                <a:cs typeface="Aptos" pitchFamily="34" charset="-120"/>
              </a:rPr>
              <a:t> puts the items side by side; </a:t>
            </a:r>
            <a:pPr indent="0" marL="0">
              <a:buNone/>
            </a:pPr>
            <a:r>
              <a:rPr lang="en-US" sz="1300" dirty="0">
                <a:solidFill>
                  <a:srgbClr val="8A2B0B"/>
                </a:solidFill>
                <a:latin typeface="Consolas" pitchFamily="34" charset="0"/>
                <a:ea typeface="Consolas" pitchFamily="34" charset="-122"/>
                <a:cs typeface="Consolas" pitchFamily="34" charset="-120"/>
              </a:rPr>
              <a:t>gap</a:t>
            </a:r>
            <a:pPr indent="0" marL="0">
              <a:buNone/>
            </a:pPr>
            <a:r>
              <a:rPr lang="en-US" sz="1300" dirty="0">
                <a:solidFill>
                  <a:srgbClr val="262626"/>
                </a:solidFill>
                <a:latin typeface="Aptos" pitchFamily="34" charset="0"/>
                <a:ea typeface="Aptos" pitchFamily="34" charset="-122"/>
                <a:cs typeface="Aptos" pitchFamily="34" charset="-120"/>
              </a:rPr>
              <a:t> spaces them. (A sneak peek: more on Flexbox next class.)</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display: block</a:t>
            </a:r>
            <a:pPr indent="0" marL="0">
              <a:buNone/>
            </a:pPr>
            <a:r>
              <a:rPr lang="en-US" sz="1300" dirty="0">
                <a:solidFill>
                  <a:srgbClr val="262626"/>
                </a:solidFill>
                <a:latin typeface="Aptos" pitchFamily="34" charset="0"/>
                <a:ea typeface="Aptos" pitchFamily="34" charset="-122"/>
                <a:cs typeface="Aptos" pitchFamily="34" charset="-120"/>
              </a:rPr>
              <a:t> + </a:t>
            </a:r>
            <a:pPr indent="0" marL="0">
              <a:buNone/>
            </a:pPr>
            <a:r>
              <a:rPr lang="en-US" sz="1300" dirty="0">
                <a:solidFill>
                  <a:srgbClr val="8A2B0B"/>
                </a:solidFill>
                <a:latin typeface="Consolas" pitchFamily="34" charset="0"/>
                <a:ea typeface="Consolas" pitchFamily="34" charset="-122"/>
                <a:cs typeface="Consolas" pitchFamily="34" charset="-120"/>
              </a:rPr>
              <a:t>padding</a:t>
            </a:r>
            <a:pPr indent="0" marL="0">
              <a:buNone/>
            </a:pPr>
            <a:r>
              <a:rPr lang="en-US" sz="1300" dirty="0">
                <a:solidFill>
                  <a:srgbClr val="262626"/>
                </a:solidFill>
                <a:latin typeface="Aptos" pitchFamily="34" charset="0"/>
                <a:ea typeface="Aptos" pitchFamily="34" charset="-122"/>
                <a:cs typeface="Aptos" pitchFamily="34" charset="-120"/>
              </a:rPr>
              <a:t> on the </a:t>
            </a:r>
            <a:pPr indent="0" marL="0">
              <a:buNone/>
            </a:pPr>
            <a:r>
              <a:rPr lang="en-US" sz="1300" b="1" dirty="0">
                <a:solidFill>
                  <a:srgbClr val="262626"/>
                </a:solidFill>
                <a:latin typeface="Aptos" pitchFamily="34" charset="0"/>
                <a:ea typeface="Aptos" pitchFamily="34" charset="-122"/>
                <a:cs typeface="Aptos" pitchFamily="34" charset="-120"/>
              </a:rPr>
              <a:t>a</a:t>
            </a:r>
            <a:pPr indent="0" marL="0">
              <a:buNone/>
            </a:pPr>
            <a:r>
              <a:rPr lang="en-US" sz="1300" dirty="0">
                <a:solidFill>
                  <a:srgbClr val="262626"/>
                </a:solidFill>
                <a:latin typeface="Aptos" pitchFamily="34" charset="0"/>
                <a:ea typeface="Aptos" pitchFamily="34" charset="-122"/>
                <a:cs typeface="Aptos" pitchFamily="34" charset="-120"/>
              </a:rPr>
              <a:t> makes the whole box clickable, not just the word.</a:t>
            </a:r>
            <a:endParaRPr lang="en-US" sz="1300" dirty="0"/>
          </a:p>
        </p:txBody>
      </p:sp>
      <p:sp>
        <p:nvSpPr>
          <p:cNvPr id="14" name="Text 9"/>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02_nav_horizontal_example.html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557727"/>
            <a:ext cx="5852160" cy="5742546"/>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786327"/>
            <a:ext cx="5394960" cy="5285346"/>
          </a:xfrm>
          <a:prstGeom prst="rect">
            <a:avLst/>
          </a:prstGeom>
          <a:noFill/>
          <a:ln/>
        </p:spPr>
        <p:txBody>
          <a:bodyPr wrap="square" lIns="0" tIns="0" rIns="0" bIns="0" rtlCol="0" anchor="t"/>
          <a:lstStyle/>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ul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list-style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li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margin-bottom</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6A9955"/>
                </a:solidFill>
                <a:latin typeface="Consolas" pitchFamily="34" charset="0"/>
                <a:ea typeface="Consolas" pitchFamily="34" charset="-122"/>
                <a:cs typeface="Consolas" pitchFamily="34" charset="-120"/>
              </a:rPr>
              <a:t>/* display: block = the whole row is clickable, not just the words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10px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14px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#E1E8EB</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border-left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transparent</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border-radius</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a:hover,</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a:focus-visible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border-left-color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endParaRPr lang="en-US" sz="1100" dirty="0"/>
          </a:p>
          <a:p>
            <a:pPr indent="0" marL="0">
              <a:lnSpc>
                <a:spcPct val="100000"/>
              </a:lnSpc>
              <a:buNone/>
            </a:pPr>
            <a:r>
              <a:rPr lang="en-US" sz="1100" dirty="0">
                <a:solidFill>
                  <a:srgbClr val="D7BA7D"/>
                </a:solidFill>
                <a:latin typeface="Consolas" pitchFamily="34" charset="0"/>
                <a:ea typeface="Consolas" pitchFamily="34" charset="-122"/>
                <a:cs typeface="Consolas" pitchFamily="34" charset="-120"/>
              </a:rPr>
              <a:t>nav a[aria-current="page"] </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a:p>
            <a:pPr indent="0" marL="0">
              <a:lnSpc>
                <a:spcPct val="100000"/>
              </a:lnSpc>
              <a:buNone/>
            </a:pPr>
            <a:r>
              <a:rPr lang="en-US" sz="1100" dirty="0">
                <a:solidFill>
                  <a:srgbClr val="D4D4D4"/>
                </a:solidFill>
                <a:latin typeface="Consolas" pitchFamily="34" charset="0"/>
                <a:ea typeface="Consolas" pitchFamily="34" charset="-122"/>
                <a:cs typeface="Consolas" pitchFamily="34" charset="-120"/>
              </a:rPr>
              <a:t>}</a:t>
            </a:r>
            <a:endParaRPr lang="en-US" sz="11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NAVIGATION 3 · EXAMPLE 03</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Vertical Menu</a:t>
            </a:r>
            <a:endParaRPr lang="en-US" sz="3200" dirty="0"/>
          </a:p>
        </p:txBody>
      </p:sp>
      <p:pic>
        <p:nvPicPr>
          <p:cNvPr id="7" name="Image 1" descr="C:\Repos\2026-2027\WEBD1000\07_Navigation_Tables_Validation\_build\shots\ex03.png">    </p:cNvPr>
          <p:cNvPicPr>
            <a:picLocks noChangeAspect="1"/>
          </p:cNvPicPr>
          <p:nvPr/>
        </p:nvPicPr>
        <p:blipFill>
          <a:blip r:embed="rId2"/>
          <a:stretch>
            <a:fillRect/>
          </a:stretch>
        </p:blipFill>
        <p:spPr>
          <a:xfrm>
            <a:off x="6812280" y="3429000"/>
            <a:ext cx="3380509" cy="2788920"/>
          </a:xfrm>
          <a:prstGeom prst="rect">
            <a:avLst/>
          </a:prstGeom>
        </p:spPr>
      </p:pic>
      <p:sp>
        <p:nvSpPr>
          <p:cNvPr id="8" name="Shape 4"/>
          <p:cNvSpPr/>
          <p:nvPr/>
        </p:nvSpPr>
        <p:spPr>
          <a:xfrm>
            <a:off x="6812280" y="3429000"/>
            <a:ext cx="3380509" cy="2788920"/>
          </a:xfrm>
          <a:prstGeom prst="rect">
            <a:avLst/>
          </a:prstGeom>
          <a:ln w="12700">
            <a:solidFill>
              <a:srgbClr val="B0B8BC"/>
            </a:solidFill>
            <a:prstDash val="solid"/>
          </a:ln>
        </p:spPr>
      </p:sp>
      <p:sp>
        <p:nvSpPr>
          <p:cNvPr id="9" name="Text 5"/>
          <p:cNvSpPr txBox="1"/>
          <p:nvPr/>
        </p:nvSpPr>
        <p:spPr>
          <a:xfrm>
            <a:off x="6812280" y="3136392"/>
            <a:ext cx="3380509"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1536192"/>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A list is </a:t>
            </a:r>
            <a:pPr indent="0" marL="0">
              <a:buNone/>
            </a:pPr>
            <a:r>
              <a:rPr lang="en-US" sz="1400" b="1" dirty="0">
                <a:solidFill>
                  <a:srgbClr val="262626"/>
                </a:solidFill>
                <a:latin typeface="Aptos" pitchFamily="34" charset="0"/>
                <a:ea typeface="Aptos" pitchFamily="34" charset="-122"/>
                <a:cs typeface="Aptos" pitchFamily="34" charset="-120"/>
              </a:rPr>
              <a:t>already vertical</a:t>
            </a:r>
            <a:pPr indent="0" marL="0">
              <a:buNone/>
            </a:pPr>
            <a:r>
              <a:rPr lang="en-US" sz="1400" dirty="0">
                <a:solidFill>
                  <a:srgbClr val="262626"/>
                </a:solidFill>
                <a:latin typeface="Aptos" pitchFamily="34" charset="0"/>
                <a:ea typeface="Aptos" pitchFamily="34" charset="-122"/>
                <a:cs typeface="Aptos" pitchFamily="34" charset="-120"/>
              </a:rPr>
              <a:t>. No flex needed: just remove the bullets and style the links.</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8A2B0B"/>
                </a:solidFill>
                <a:latin typeface="Consolas" pitchFamily="34" charset="0"/>
                <a:ea typeface="Consolas" pitchFamily="34" charset="-122"/>
                <a:cs typeface="Consolas" pitchFamily="34" charset="-120"/>
              </a:rPr>
              <a:t>border-left</a:t>
            </a:r>
            <a:pPr indent="0" marL="0">
              <a:buNone/>
            </a:pPr>
            <a:r>
              <a:rPr lang="en-US" sz="1400" dirty="0">
                <a:solidFill>
                  <a:srgbClr val="262626"/>
                </a:solidFill>
                <a:latin typeface="Aptos" pitchFamily="34" charset="0"/>
                <a:ea typeface="Aptos" pitchFamily="34" charset="-122"/>
                <a:cs typeface="Aptos" pitchFamily="34" charset="-120"/>
              </a:rPr>
              <a:t> that's </a:t>
            </a:r>
            <a:pPr indent="0" marL="0">
              <a:buNone/>
            </a:pPr>
            <a:r>
              <a:rPr lang="en-US" sz="1400" dirty="0">
                <a:solidFill>
                  <a:srgbClr val="8A2B0B"/>
                </a:solidFill>
                <a:latin typeface="Consolas" pitchFamily="34" charset="0"/>
                <a:ea typeface="Consolas" pitchFamily="34" charset="-122"/>
                <a:cs typeface="Consolas" pitchFamily="34" charset="-120"/>
              </a:rPr>
              <a:t>transparent</a:t>
            </a:r>
            <a:pPr indent="0" marL="0">
              <a:buNone/>
            </a:pPr>
            <a:r>
              <a:rPr lang="en-US" sz="1400" dirty="0">
                <a:solidFill>
                  <a:srgbClr val="262626"/>
                </a:solidFill>
                <a:latin typeface="Aptos" pitchFamily="34" charset="0"/>
                <a:ea typeface="Aptos" pitchFamily="34" charset="-122"/>
                <a:cs typeface="Aptos" pitchFamily="34" charset="-120"/>
              </a:rPr>
              <a:t> until you hover: the text doesn't jump sideways.</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03_nav_vertical_example.html</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025091"/>
            <a:ext cx="5852160" cy="4807819"/>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253691"/>
            <a:ext cx="5394960" cy="4350619"/>
          </a:xfrm>
          <a:prstGeom prst="rect">
            <a:avLst/>
          </a:prstGeom>
          <a:noFill/>
          <a:ln/>
        </p:spPr>
        <p:txBody>
          <a:bodyPr wrap="square" lIns="0" tIns="0" rIns="0" bIns="0" rtlCol="0" anchor="t"/>
          <a:lstStyle/>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1. The dropdown is placed against its own li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li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relative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2. Hide the inner list, and float it above the page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ul ul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absolute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top</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left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min-width</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200px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box-shadow</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rgba(0,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0.25</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3. Show it on hover, or on keyboard focus inside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li:hover &gt; ul,</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nav li:focus-within &gt; ul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NAVIGATION 4 · EXAMPLE 04</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Dropdown Menu</a:t>
            </a:r>
            <a:endParaRPr lang="en-US" sz="3200" dirty="0"/>
          </a:p>
        </p:txBody>
      </p:sp>
      <p:pic>
        <p:nvPicPr>
          <p:cNvPr id="7" name="Image 1" descr="C:\Repos\2026-2027\WEBD1000\07_Navigation_Tables_Validation\_build\shots\ex04b.png">    </p:cNvPr>
          <p:cNvPicPr>
            <a:picLocks noChangeAspect="1"/>
          </p:cNvPicPr>
          <p:nvPr/>
        </p:nvPicPr>
        <p:blipFill>
          <a:blip r:embed="rId2"/>
          <a:stretch>
            <a:fillRect/>
          </a:stretch>
        </p:blipFill>
        <p:spPr>
          <a:xfrm>
            <a:off x="6812280" y="4359265"/>
            <a:ext cx="4967935" cy="1904375"/>
          </a:xfrm>
          <a:prstGeom prst="rect">
            <a:avLst/>
          </a:prstGeom>
        </p:spPr>
      </p:pic>
      <p:sp>
        <p:nvSpPr>
          <p:cNvPr id="8" name="Shape 4"/>
          <p:cNvSpPr/>
          <p:nvPr/>
        </p:nvSpPr>
        <p:spPr>
          <a:xfrm>
            <a:off x="6812280" y="4359265"/>
            <a:ext cx="4967935" cy="1904375"/>
          </a:xfrm>
          <a:prstGeom prst="rect">
            <a:avLst/>
          </a:prstGeom>
          <a:ln w="12700">
            <a:solidFill>
              <a:srgbClr val="B0B8BC"/>
            </a:solidFill>
            <a:prstDash val="solid"/>
          </a:ln>
        </p:spPr>
      </p:sp>
      <p:sp>
        <p:nvSpPr>
          <p:cNvPr id="9" name="Text 5"/>
          <p:cNvSpPr txBox="1"/>
          <p:nvPr/>
        </p:nvSpPr>
        <p:spPr>
          <a:xfrm>
            <a:off x="6812280" y="4066657"/>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MOUSE OVER "MENU"</a:t>
            </a:r>
            <a:endParaRPr lang="en-US" sz="1100" dirty="0"/>
          </a:p>
        </p:txBody>
      </p:sp>
      <p:sp>
        <p:nvSpPr>
          <p:cNvPr id="10" name="Text 6"/>
          <p:cNvSpPr txBox="1"/>
          <p:nvPr/>
        </p:nvSpPr>
        <p:spPr>
          <a:xfrm>
            <a:off x="6812280" y="1508760"/>
            <a:ext cx="4967935" cy="2466457"/>
          </a:xfrm>
          <a:prstGeom prst="rect">
            <a:avLst/>
          </a:prstGeom>
          <a:noFill/>
          <a:ln/>
        </p:spPr>
        <p:txBody>
          <a:bodyPr wrap="square" lIns="0" tIns="0" rIns="0" bIns="0" rtlCol="0" anchor="t"/>
          <a:lstStyle/>
          <a:p>
            <a:pPr marL="342900" indent="-342900">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dropdown is a </a:t>
            </a:r>
            <a:pPr indent="0" marL="0">
              <a:buNone/>
            </a:pPr>
            <a:r>
              <a:rPr lang="en-US" sz="1300" b="1" dirty="0">
                <a:solidFill>
                  <a:srgbClr val="262626"/>
                </a:solidFill>
                <a:latin typeface="Aptos" pitchFamily="34" charset="0"/>
                <a:ea typeface="Aptos" pitchFamily="34" charset="-122"/>
                <a:cs typeface="Aptos" pitchFamily="34" charset="-120"/>
              </a:rPr>
              <a:t>list inside a list item</a:t>
            </a:r>
            <a:pPr indent="0" marL="0">
              <a:buNone/>
            </a:pPr>
            <a:r>
              <a:rPr lang="en-US" sz="1300" dirty="0">
                <a:solidFill>
                  <a:srgbClr val="262626"/>
                </a:solidFill>
                <a:latin typeface="Aptos" pitchFamily="34" charset="0"/>
                <a:ea typeface="Aptos" pitchFamily="34" charset="-122"/>
                <a:cs typeface="Aptos" pitchFamily="34" charset="-120"/>
              </a:rPr>
              <a:t>: a </a:t>
            </a:r>
            <a:pPr indent="0" marL="0">
              <a:buNone/>
            </a:pPr>
            <a:r>
              <a:rPr lang="en-US" sz="1300" dirty="0">
                <a:solidFill>
                  <a:srgbClr val="8A2B0B"/>
                </a:solidFill>
                <a:latin typeface="Consolas" pitchFamily="34" charset="0"/>
                <a:ea typeface="Consolas" pitchFamily="34" charset="-122"/>
                <a:cs typeface="Consolas" pitchFamily="34" charset="-120"/>
              </a:rPr>
              <a:t>&lt;ul&gt;</a:t>
            </a:r>
            <a:pPr indent="0" marL="0">
              <a:buNone/>
            </a:pPr>
            <a:r>
              <a:rPr lang="en-US" sz="1300" dirty="0">
                <a:solidFill>
                  <a:srgbClr val="262626"/>
                </a:solidFill>
                <a:latin typeface="Aptos" pitchFamily="34" charset="0"/>
                <a:ea typeface="Aptos" pitchFamily="34" charset="-122"/>
                <a:cs typeface="Aptos" pitchFamily="34" charset="-120"/>
              </a:rPr>
              <a:t> inside the Menu </a:t>
            </a:r>
            <a:pPr indent="0" marL="0">
              <a:buNone/>
            </a:pPr>
            <a:r>
              <a:rPr lang="en-US" sz="1300" dirty="0">
                <a:solidFill>
                  <a:srgbClr val="8A2B0B"/>
                </a:solidFill>
                <a:latin typeface="Consolas" pitchFamily="34" charset="0"/>
                <a:ea typeface="Consolas" pitchFamily="34" charset="-122"/>
                <a:cs typeface="Consolas" pitchFamily="34" charset="-120"/>
              </a:rPr>
              <a:t>&lt;li&gt;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position: absolute</a:t>
            </a:r>
            <a:pPr indent="0" marL="0">
              <a:buNone/>
            </a:pPr>
            <a:r>
              <a:rPr lang="en-US" sz="1300" dirty="0">
                <a:solidFill>
                  <a:srgbClr val="262626"/>
                </a:solidFill>
                <a:latin typeface="Aptos" pitchFamily="34" charset="0"/>
                <a:ea typeface="Aptos" pitchFamily="34" charset="-122"/>
                <a:cs typeface="Aptos" pitchFamily="34" charset="-120"/>
              </a:rPr>
              <a:t> floats it over the page; </a:t>
            </a:r>
            <a:pPr indent="0" marL="0">
              <a:buNone/>
            </a:pPr>
            <a:r>
              <a:rPr lang="en-US" sz="1300" dirty="0">
                <a:solidFill>
                  <a:srgbClr val="8A2B0B"/>
                </a:solidFill>
                <a:latin typeface="Consolas" pitchFamily="34" charset="0"/>
                <a:ea typeface="Consolas" pitchFamily="34" charset="-122"/>
                <a:cs typeface="Consolas" pitchFamily="34" charset="-120"/>
              </a:rPr>
              <a:t>position: relative</a:t>
            </a:r>
            <a:pPr indent="0" marL="0">
              <a:buNone/>
            </a:pPr>
            <a:r>
              <a:rPr lang="en-US" sz="1300" dirty="0">
                <a:solidFill>
                  <a:srgbClr val="262626"/>
                </a:solidFill>
                <a:latin typeface="Aptos" pitchFamily="34" charset="0"/>
                <a:ea typeface="Aptos" pitchFamily="34" charset="-122"/>
                <a:cs typeface="Aptos" pitchFamily="34" charset="-120"/>
              </a:rPr>
              <a:t> on the </a:t>
            </a:r>
            <a:pPr indent="0" marL="0">
              <a:buNone/>
            </a:pPr>
            <a:r>
              <a:rPr lang="en-US" sz="1300" b="1" dirty="0">
                <a:solidFill>
                  <a:srgbClr val="262626"/>
                </a:solidFill>
                <a:latin typeface="Aptos" pitchFamily="34" charset="0"/>
                <a:ea typeface="Aptos" pitchFamily="34" charset="-122"/>
                <a:cs typeface="Aptos" pitchFamily="34" charset="-120"/>
              </a:rPr>
              <a:t>li</a:t>
            </a:r>
            <a:pPr indent="0" marL="0">
              <a:buNone/>
            </a:pPr>
            <a:r>
              <a:rPr lang="en-US" sz="1300" dirty="0">
                <a:solidFill>
                  <a:srgbClr val="262626"/>
                </a:solidFill>
                <a:latin typeface="Aptos" pitchFamily="34" charset="0"/>
                <a:ea typeface="Aptos" pitchFamily="34" charset="-122"/>
                <a:cs typeface="Aptos" pitchFamily="34" charset="-120"/>
              </a:rPr>
              <a:t> keeps it under its own item.</a:t>
            </a:r>
            <a:endParaRPr lang="en-US" sz="1300" dirty="0"/>
          </a:p>
          <a:p>
            <a:pPr marL="342900" indent="-342900">
              <a:spcBef>
                <a:spcPts val="900"/>
              </a:spcBef>
              <a:buSzPct val="100000"/>
              <a:buChar char="•"/>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:focus-within</a:t>
            </a:r>
            <a:pPr indent="0" marL="0">
              <a:buNone/>
            </a:pPr>
            <a:r>
              <a:rPr lang="en-US" sz="1300" dirty="0">
                <a:solidFill>
                  <a:srgbClr val="262626"/>
                </a:solidFill>
                <a:latin typeface="Aptos" pitchFamily="34" charset="0"/>
                <a:ea typeface="Aptos" pitchFamily="34" charset="-122"/>
                <a:cs typeface="Aptos" pitchFamily="34" charset="-120"/>
              </a:rPr>
              <a:t> opens it for </a:t>
            </a:r>
            <a:pPr indent="0" marL="0">
              <a:buNone/>
            </a:pPr>
            <a:r>
              <a:rPr lang="en-US" sz="1300" b="1" dirty="0">
                <a:solidFill>
                  <a:srgbClr val="262626"/>
                </a:solidFill>
                <a:latin typeface="Aptos" pitchFamily="34" charset="0"/>
                <a:ea typeface="Aptos" pitchFamily="34" charset="-122"/>
                <a:cs typeface="Aptos" pitchFamily="34" charset="-120"/>
              </a:rPr>
              <a:t>keyboard</a:t>
            </a:r>
            <a:pPr indent="0" marL="0">
              <a:buNone/>
            </a:pPr>
            <a:r>
              <a:rPr lang="en-US" sz="1300" dirty="0">
                <a:solidFill>
                  <a:srgbClr val="262626"/>
                </a:solidFill>
                <a:latin typeface="Aptos" pitchFamily="34" charset="0"/>
                <a:ea typeface="Aptos" pitchFamily="34" charset="-122"/>
                <a:cs typeface="Aptos" pitchFamily="34" charset="-120"/>
              </a:rPr>
              <a:t> users too, not just the mouse.</a:t>
            </a:r>
            <a:endParaRPr lang="en-US" sz="13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04_nav_dropdown_example.html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Harbourside, Part 2: Today's Activity</a:t>
            </a:r>
            <a:endParaRPr lang="en-US" sz="2800" dirty="0"/>
          </a:p>
        </p:txBody>
      </p:sp>
      <p:pic>
        <p:nvPicPr>
          <p:cNvPr id="4" name="Image 0" descr="C:\Repos\2026-2027\WEBD1000\07_Navigation_Tables_Validation\_build\shots\before.png">    </p:cNvPr>
          <p:cNvPicPr>
            <a:picLocks noChangeAspect="1"/>
          </p:cNvPicPr>
          <p:nvPr/>
        </p:nvPicPr>
        <p:blipFill>
          <a:blip r:embed="rId1"/>
          <a:stretch>
            <a:fillRect/>
          </a:stretch>
        </p:blipFill>
        <p:spPr>
          <a:xfrm>
            <a:off x="685800" y="1600200"/>
            <a:ext cx="3484778" cy="2478065"/>
          </a:xfrm>
          <a:prstGeom prst="rect">
            <a:avLst/>
          </a:prstGeom>
        </p:spPr>
      </p:pic>
      <p:sp>
        <p:nvSpPr>
          <p:cNvPr id="5" name="Shape 1"/>
          <p:cNvSpPr/>
          <p:nvPr/>
        </p:nvSpPr>
        <p:spPr>
          <a:xfrm>
            <a:off x="685800" y="1600200"/>
            <a:ext cx="3484778" cy="2478065"/>
          </a:xfrm>
          <a:prstGeom prst="rect">
            <a:avLst/>
          </a:prstGeom>
          <a:ln w="12700">
            <a:solidFill>
              <a:srgbClr val="B0B8BC"/>
            </a:solidFill>
            <a:prstDash val="solid"/>
          </a:ln>
        </p:spPr>
      </p:sp>
      <p:sp>
        <p:nvSpPr>
          <p:cNvPr id="6" name="Text 2"/>
          <p:cNvSpPr txBox="1"/>
          <p:nvPr/>
        </p:nvSpPr>
        <p:spPr>
          <a:xfrm>
            <a:off x="685800" y="1307592"/>
            <a:ext cx="348477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START</a:t>
            </a:r>
            <a:endParaRPr lang="en-US" sz="1100" dirty="0"/>
          </a:p>
        </p:txBody>
      </p:sp>
      <p:pic>
        <p:nvPicPr>
          <p:cNvPr id="7" name="Image 1" descr="C:\Repos\2026-2027\WEBD1000\07_Navigation_Tables_Validation\_build\shots\afterNav.png">    </p:cNvPr>
          <p:cNvPicPr>
            <a:picLocks noChangeAspect="1"/>
          </p:cNvPicPr>
          <p:nvPr/>
        </p:nvPicPr>
        <p:blipFill>
          <a:blip r:embed="rId2"/>
          <a:stretch>
            <a:fillRect/>
          </a:stretch>
        </p:blipFill>
        <p:spPr>
          <a:xfrm>
            <a:off x="4353458" y="1600200"/>
            <a:ext cx="3484778" cy="2478065"/>
          </a:xfrm>
          <a:prstGeom prst="rect">
            <a:avLst/>
          </a:prstGeom>
        </p:spPr>
      </p:pic>
      <p:sp>
        <p:nvSpPr>
          <p:cNvPr id="8" name="Shape 3"/>
          <p:cNvSpPr/>
          <p:nvPr/>
        </p:nvSpPr>
        <p:spPr>
          <a:xfrm>
            <a:off x="4353458" y="1600200"/>
            <a:ext cx="3484778" cy="2478065"/>
          </a:xfrm>
          <a:prstGeom prst="rect">
            <a:avLst/>
          </a:prstGeom>
          <a:ln w="12700">
            <a:solidFill>
              <a:srgbClr val="B0B8BC"/>
            </a:solidFill>
            <a:prstDash val="solid"/>
          </a:ln>
        </p:spPr>
      </p:sp>
      <p:sp>
        <p:nvSpPr>
          <p:cNvPr id="9" name="Text 4"/>
          <p:cNvSpPr txBox="1"/>
          <p:nvPr/>
        </p:nvSpPr>
        <p:spPr>
          <a:xfrm>
            <a:off x="4353458" y="1307592"/>
            <a:ext cx="348477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END: THE NAV</a:t>
            </a:r>
            <a:endParaRPr lang="en-US" sz="1100" dirty="0"/>
          </a:p>
        </p:txBody>
      </p:sp>
      <p:pic>
        <p:nvPicPr>
          <p:cNvPr id="10" name="Image 2" descr="C:\Repos\2026-2027\WEBD1000\07_Navigation_Tables_Validation\_build\shots\afterTable.png">    </p:cNvPr>
          <p:cNvPicPr>
            <a:picLocks noChangeAspect="1"/>
          </p:cNvPicPr>
          <p:nvPr/>
        </p:nvPicPr>
        <p:blipFill>
          <a:blip r:embed="rId3"/>
          <a:stretch>
            <a:fillRect/>
          </a:stretch>
        </p:blipFill>
        <p:spPr>
          <a:xfrm>
            <a:off x="8021117" y="1600200"/>
            <a:ext cx="3484778" cy="2478065"/>
          </a:xfrm>
          <a:prstGeom prst="rect">
            <a:avLst/>
          </a:prstGeom>
        </p:spPr>
      </p:pic>
      <p:sp>
        <p:nvSpPr>
          <p:cNvPr id="11" name="Shape 5"/>
          <p:cNvSpPr/>
          <p:nvPr/>
        </p:nvSpPr>
        <p:spPr>
          <a:xfrm>
            <a:off x="8021117" y="1600200"/>
            <a:ext cx="3484778" cy="2478065"/>
          </a:xfrm>
          <a:prstGeom prst="rect">
            <a:avLst/>
          </a:prstGeom>
          <a:ln w="12700">
            <a:solidFill>
              <a:srgbClr val="B0B8BC"/>
            </a:solidFill>
            <a:prstDash val="solid"/>
          </a:ln>
        </p:spPr>
      </p:sp>
      <p:sp>
        <p:nvSpPr>
          <p:cNvPr id="12" name="Text 6"/>
          <p:cNvSpPr txBox="1"/>
          <p:nvPr/>
        </p:nvSpPr>
        <p:spPr>
          <a:xfrm>
            <a:off x="8021117" y="1307592"/>
            <a:ext cx="348477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END: THE TABLE</a:t>
            </a:r>
            <a:endParaRPr lang="en-US" sz="1100" dirty="0"/>
          </a:p>
        </p:txBody>
      </p:sp>
      <p:sp>
        <p:nvSpPr>
          <p:cNvPr id="13" name="Shape 7"/>
          <p:cNvSpPr/>
          <p:nvPr/>
        </p:nvSpPr>
        <p:spPr>
          <a:xfrm>
            <a:off x="685800" y="4306865"/>
            <a:ext cx="6675120" cy="2048215"/>
          </a:xfrm>
          <a:prstGeom prst="roundRect">
            <a:avLst>
              <a:gd name="adj" fmla="val 5357"/>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14" name="Shape 8"/>
          <p:cNvSpPr/>
          <p:nvPr/>
        </p:nvSpPr>
        <p:spPr>
          <a:xfrm>
            <a:off x="914400" y="4471457"/>
            <a:ext cx="329184" cy="329184"/>
          </a:xfrm>
          <a:prstGeom prst="ellipse">
            <a:avLst/>
          </a:prstGeom>
          <a:solidFill>
            <a:srgbClr val="E97132"/>
          </a:solidFill>
          <a:ln w="12700">
            <a:solidFill>
              <a:srgbClr val="E97132"/>
            </a:solidFill>
            <a:prstDash val="solid"/>
          </a:ln>
        </p:spPr>
      </p:sp>
      <p:sp>
        <p:nvSpPr>
          <p:cNvPr id="15" name="Text 9"/>
          <p:cNvSpPr txBox="1"/>
          <p:nvPr/>
        </p:nvSpPr>
        <p:spPr>
          <a:xfrm>
            <a:off x="914400" y="447145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16" name="Text 10"/>
          <p:cNvSpPr txBox="1"/>
          <p:nvPr/>
        </p:nvSpPr>
        <p:spPr>
          <a:xfrm>
            <a:off x="1353312" y="4434881"/>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Nav HTML + horizontal</a:t>
            </a:r>
            <a:endParaRPr lang="en-US" sz="1350" dirty="0"/>
          </a:p>
        </p:txBody>
      </p:sp>
      <p:sp>
        <p:nvSpPr>
          <p:cNvPr id="17" name="Shape 11"/>
          <p:cNvSpPr/>
          <p:nvPr/>
        </p:nvSpPr>
        <p:spPr>
          <a:xfrm>
            <a:off x="914400" y="4914930"/>
            <a:ext cx="329184" cy="329184"/>
          </a:xfrm>
          <a:prstGeom prst="ellipse">
            <a:avLst/>
          </a:prstGeom>
          <a:solidFill>
            <a:srgbClr val="E97132"/>
          </a:solidFill>
          <a:ln w="12700">
            <a:solidFill>
              <a:srgbClr val="E97132"/>
            </a:solidFill>
            <a:prstDash val="solid"/>
          </a:ln>
        </p:spPr>
      </p:sp>
      <p:sp>
        <p:nvSpPr>
          <p:cNvPr id="18" name="Text 12"/>
          <p:cNvSpPr txBox="1"/>
          <p:nvPr/>
        </p:nvSpPr>
        <p:spPr>
          <a:xfrm>
            <a:off x="914400" y="491493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9" name="Text 13"/>
          <p:cNvSpPr txBox="1"/>
          <p:nvPr/>
        </p:nvSpPr>
        <p:spPr>
          <a:xfrm>
            <a:off x="1353312" y="4878354"/>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Style the links</a:t>
            </a:r>
            <a:endParaRPr lang="en-US" sz="1350" dirty="0"/>
          </a:p>
        </p:txBody>
      </p:sp>
      <p:sp>
        <p:nvSpPr>
          <p:cNvPr id="20" name="Shape 14"/>
          <p:cNvSpPr/>
          <p:nvPr/>
        </p:nvSpPr>
        <p:spPr>
          <a:xfrm>
            <a:off x="914400" y="5358404"/>
            <a:ext cx="329184" cy="329184"/>
          </a:xfrm>
          <a:prstGeom prst="ellipse">
            <a:avLst/>
          </a:prstGeom>
          <a:solidFill>
            <a:srgbClr val="E97132"/>
          </a:solidFill>
          <a:ln w="12700">
            <a:solidFill>
              <a:srgbClr val="E97132"/>
            </a:solidFill>
            <a:prstDash val="solid"/>
          </a:ln>
        </p:spPr>
      </p:sp>
      <p:sp>
        <p:nvSpPr>
          <p:cNvPr id="21" name="Text 15"/>
          <p:cNvSpPr txBox="1"/>
          <p:nvPr/>
        </p:nvSpPr>
        <p:spPr>
          <a:xfrm>
            <a:off x="914400" y="53584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22" name="Text 16"/>
          <p:cNvSpPr txBox="1"/>
          <p:nvPr/>
        </p:nvSpPr>
        <p:spPr>
          <a:xfrm>
            <a:off x="1353312" y="5321828"/>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A dropdown</a:t>
            </a:r>
            <a:endParaRPr lang="en-US" sz="1350" dirty="0"/>
          </a:p>
        </p:txBody>
      </p:sp>
      <p:sp>
        <p:nvSpPr>
          <p:cNvPr id="23" name="Shape 17"/>
          <p:cNvSpPr/>
          <p:nvPr/>
        </p:nvSpPr>
        <p:spPr>
          <a:xfrm>
            <a:off x="914400" y="5801878"/>
            <a:ext cx="329184" cy="329184"/>
          </a:xfrm>
          <a:prstGeom prst="ellipse">
            <a:avLst/>
          </a:prstGeom>
          <a:solidFill>
            <a:srgbClr val="E97132"/>
          </a:solidFill>
          <a:ln w="12700">
            <a:solidFill>
              <a:srgbClr val="E97132"/>
            </a:solidFill>
            <a:prstDash val="solid"/>
          </a:ln>
        </p:spPr>
      </p:sp>
      <p:sp>
        <p:nvSpPr>
          <p:cNvPr id="24" name="Text 18"/>
          <p:cNvSpPr txBox="1"/>
          <p:nvPr/>
        </p:nvSpPr>
        <p:spPr>
          <a:xfrm>
            <a:off x="914400" y="580187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25" name="Text 19"/>
          <p:cNvSpPr txBox="1"/>
          <p:nvPr/>
        </p:nvSpPr>
        <p:spPr>
          <a:xfrm>
            <a:off x="1353312" y="5765302"/>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Make it readable</a:t>
            </a:r>
            <a:endParaRPr lang="en-US" sz="1350" dirty="0"/>
          </a:p>
        </p:txBody>
      </p:sp>
      <p:sp>
        <p:nvSpPr>
          <p:cNvPr id="26" name="Shape 20"/>
          <p:cNvSpPr/>
          <p:nvPr/>
        </p:nvSpPr>
        <p:spPr>
          <a:xfrm>
            <a:off x="4160520" y="4471457"/>
            <a:ext cx="329184" cy="329184"/>
          </a:xfrm>
          <a:prstGeom prst="ellipse">
            <a:avLst/>
          </a:prstGeom>
          <a:solidFill>
            <a:srgbClr val="0F9ED5"/>
          </a:solidFill>
          <a:ln w="12700">
            <a:solidFill>
              <a:srgbClr val="0F9ED5"/>
            </a:solidFill>
            <a:prstDash val="solid"/>
          </a:ln>
        </p:spPr>
      </p:sp>
      <p:sp>
        <p:nvSpPr>
          <p:cNvPr id="27" name="Text 21"/>
          <p:cNvSpPr txBox="1"/>
          <p:nvPr/>
        </p:nvSpPr>
        <p:spPr>
          <a:xfrm>
            <a:off x="4160520" y="4471457"/>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8" name="Text 22"/>
          <p:cNvSpPr txBox="1"/>
          <p:nvPr/>
        </p:nvSpPr>
        <p:spPr>
          <a:xfrm>
            <a:off x="4599432" y="4434881"/>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Hours table HTML</a:t>
            </a:r>
            <a:endParaRPr lang="en-US" sz="1350" dirty="0"/>
          </a:p>
        </p:txBody>
      </p:sp>
      <p:sp>
        <p:nvSpPr>
          <p:cNvPr id="29" name="Shape 23"/>
          <p:cNvSpPr/>
          <p:nvPr/>
        </p:nvSpPr>
        <p:spPr>
          <a:xfrm>
            <a:off x="4160520" y="4914930"/>
            <a:ext cx="329184" cy="329184"/>
          </a:xfrm>
          <a:prstGeom prst="ellipse">
            <a:avLst/>
          </a:prstGeom>
          <a:solidFill>
            <a:srgbClr val="0F9ED5"/>
          </a:solidFill>
          <a:ln w="12700">
            <a:solidFill>
              <a:srgbClr val="0F9ED5"/>
            </a:solidFill>
            <a:prstDash val="solid"/>
          </a:ln>
        </p:spPr>
      </p:sp>
      <p:sp>
        <p:nvSpPr>
          <p:cNvPr id="30" name="Text 24"/>
          <p:cNvSpPr txBox="1"/>
          <p:nvPr/>
        </p:nvSpPr>
        <p:spPr>
          <a:xfrm>
            <a:off x="4160520" y="491493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6</a:t>
            </a:r>
            <a:endParaRPr lang="en-US" sz="1300" dirty="0"/>
          </a:p>
        </p:txBody>
      </p:sp>
      <p:sp>
        <p:nvSpPr>
          <p:cNvPr id="31" name="Text 25"/>
          <p:cNvSpPr txBox="1"/>
          <p:nvPr/>
        </p:nvSpPr>
        <p:spPr>
          <a:xfrm>
            <a:off x="4599432" y="4878354"/>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Style the table</a:t>
            </a:r>
            <a:endParaRPr lang="en-US" sz="1350" dirty="0"/>
          </a:p>
        </p:txBody>
      </p:sp>
      <p:sp>
        <p:nvSpPr>
          <p:cNvPr id="32" name="Shape 26"/>
          <p:cNvSpPr/>
          <p:nvPr/>
        </p:nvSpPr>
        <p:spPr>
          <a:xfrm>
            <a:off x="4160520" y="5358404"/>
            <a:ext cx="329184" cy="329184"/>
          </a:xfrm>
          <a:prstGeom prst="ellipse">
            <a:avLst/>
          </a:prstGeom>
          <a:solidFill>
            <a:srgbClr val="2E7D32"/>
          </a:solidFill>
          <a:ln w="12700">
            <a:solidFill>
              <a:srgbClr val="2E7D32"/>
            </a:solidFill>
            <a:prstDash val="solid"/>
          </a:ln>
        </p:spPr>
      </p:sp>
      <p:sp>
        <p:nvSpPr>
          <p:cNvPr id="33" name="Text 27"/>
          <p:cNvSpPr txBox="1"/>
          <p:nvPr/>
        </p:nvSpPr>
        <p:spPr>
          <a:xfrm>
            <a:off x="4160520" y="535840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7</a:t>
            </a:r>
            <a:endParaRPr lang="en-US" sz="1300" dirty="0"/>
          </a:p>
        </p:txBody>
      </p:sp>
      <p:sp>
        <p:nvSpPr>
          <p:cNvPr id="34" name="Text 28"/>
          <p:cNvSpPr txBox="1"/>
          <p:nvPr/>
        </p:nvSpPr>
        <p:spPr>
          <a:xfrm>
            <a:off x="4599432" y="5321828"/>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Validate the HTML</a:t>
            </a:r>
            <a:endParaRPr lang="en-US" sz="1350" dirty="0"/>
          </a:p>
        </p:txBody>
      </p:sp>
      <p:sp>
        <p:nvSpPr>
          <p:cNvPr id="35" name="Shape 29"/>
          <p:cNvSpPr/>
          <p:nvPr/>
        </p:nvSpPr>
        <p:spPr>
          <a:xfrm>
            <a:off x="4160520" y="5801878"/>
            <a:ext cx="329184" cy="329184"/>
          </a:xfrm>
          <a:prstGeom prst="ellipse">
            <a:avLst/>
          </a:prstGeom>
          <a:solidFill>
            <a:srgbClr val="2E7D32"/>
          </a:solidFill>
          <a:ln w="12700">
            <a:solidFill>
              <a:srgbClr val="2E7D32"/>
            </a:solidFill>
            <a:prstDash val="solid"/>
          </a:ln>
        </p:spPr>
      </p:sp>
      <p:sp>
        <p:nvSpPr>
          <p:cNvPr id="36" name="Text 30"/>
          <p:cNvSpPr txBox="1"/>
          <p:nvPr/>
        </p:nvSpPr>
        <p:spPr>
          <a:xfrm>
            <a:off x="4160520" y="580187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8</a:t>
            </a:r>
            <a:endParaRPr lang="en-US" sz="1300" dirty="0"/>
          </a:p>
        </p:txBody>
      </p:sp>
      <p:sp>
        <p:nvSpPr>
          <p:cNvPr id="37" name="Text 31"/>
          <p:cNvSpPr txBox="1"/>
          <p:nvPr/>
        </p:nvSpPr>
        <p:spPr>
          <a:xfrm>
            <a:off x="4599432" y="5765302"/>
            <a:ext cx="2651760" cy="402336"/>
          </a:xfrm>
          <a:prstGeom prst="rect">
            <a:avLst/>
          </a:prstGeom>
          <a:noFill/>
          <a:ln/>
        </p:spPr>
        <p:txBody>
          <a:bodyPr wrap="square" lIns="0" tIns="0" rIns="0" bIns="0" rtlCol="0" anchor="ctr"/>
          <a:lstStyle/>
          <a:p>
            <a:pPr indent="0" marL="0">
              <a:buNone/>
            </a:pPr>
            <a:r>
              <a:rPr lang="en-US" sz="1350" b="1" dirty="0">
                <a:solidFill>
                  <a:srgbClr val="000000"/>
                </a:solidFill>
                <a:latin typeface="Aptos" pitchFamily="34" charset="0"/>
                <a:ea typeface="Aptos" pitchFamily="34" charset="-122"/>
                <a:cs typeface="Aptos" pitchFamily="34" charset="-120"/>
              </a:rPr>
              <a:t>Validate the CSS</a:t>
            </a:r>
            <a:endParaRPr lang="en-US" sz="1350" dirty="0"/>
          </a:p>
        </p:txBody>
      </p:sp>
      <p:sp>
        <p:nvSpPr>
          <p:cNvPr id="38" name="Shape 32"/>
          <p:cNvSpPr/>
          <p:nvPr/>
        </p:nvSpPr>
        <p:spPr>
          <a:xfrm>
            <a:off x="7589520" y="4306865"/>
            <a:ext cx="4053535" cy="2048215"/>
          </a:xfrm>
          <a:prstGeom prst="roundRect">
            <a:avLst>
              <a:gd name="adj" fmla="val 5357"/>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39" name="Text 33"/>
          <p:cNvSpPr txBox="1"/>
          <p:nvPr/>
        </p:nvSpPr>
        <p:spPr>
          <a:xfrm>
            <a:off x="7818120" y="4444025"/>
            <a:ext cx="3596335" cy="365760"/>
          </a:xfrm>
          <a:prstGeom prst="rect">
            <a:avLst/>
          </a:prstGeom>
          <a:noFill/>
          <a:ln/>
        </p:spPr>
        <p:txBody>
          <a:bodyPr wrap="square" lIns="0" tIns="0" rIns="0" bIns="0" rtlCol="0" anchor="ctr"/>
          <a:lstStyle/>
          <a:p>
            <a:pPr indent="0" marL="0">
              <a:buNone/>
            </a:pPr>
            <a:r>
              <a:rPr lang="en-US" sz="1700" b="1" dirty="0">
                <a:solidFill>
                  <a:srgbClr val="FFFFFF"/>
                </a:solidFill>
                <a:latin typeface="Aptos" pitchFamily="34" charset="0"/>
                <a:ea typeface="Aptos" pitchFamily="34" charset="-122"/>
                <a:cs typeface="Aptos" pitchFamily="34" charset="-120"/>
              </a:rPr>
              <a:t>Submit after Class 11</a:t>
            </a:r>
            <a:endParaRPr lang="en-US" sz="1700" dirty="0"/>
          </a:p>
        </p:txBody>
      </p:sp>
      <p:sp>
        <p:nvSpPr>
          <p:cNvPr id="40" name="Text 34"/>
          <p:cNvSpPr txBox="1"/>
          <p:nvPr/>
        </p:nvSpPr>
        <p:spPr>
          <a:xfrm>
            <a:off x="7818120" y="4855505"/>
            <a:ext cx="3596335" cy="1362415"/>
          </a:xfrm>
          <a:prstGeom prst="rect">
            <a:avLst/>
          </a:prstGeom>
          <a:noFill/>
          <a:ln/>
        </p:spPr>
        <p:txBody>
          <a:bodyPr wrap="square" lIns="0" tIns="0" rIns="0" bIns="0" rtlCol="0" anchor="t"/>
          <a:lstStyle/>
          <a:p>
            <a:pPr indent="0" marL="0">
              <a:spcBef>
                <a:spcPts val="400"/>
              </a:spcBef>
              <a:buNone/>
            </a:pPr>
            <a:r>
              <a:rPr lang="en-US" sz="1350" b="1" dirty="0">
                <a:solidFill>
                  <a:srgbClr val="D9D9D9"/>
                </a:solidFill>
                <a:latin typeface="Aptos" pitchFamily="34" charset="0"/>
                <a:ea typeface="Aptos" pitchFamily="34" charset="-122"/>
                <a:cs typeface="Aptos" pitchFamily="34" charset="-120"/>
              </a:rPr>
              <a:t>Three screenshots:</a:t>
            </a:r>
            <a:endParaRPr lang="en-US" sz="1350" dirty="0"/>
          </a:p>
          <a:p>
            <a:pPr indent="0" marL="0">
              <a:spcBef>
                <a:spcPts val="400"/>
              </a:spcBef>
              <a:buNone/>
            </a:pPr>
            <a:r>
              <a:rPr lang="en-US" sz="1350" dirty="0">
                <a:solidFill>
                  <a:srgbClr val="D9D9D9"/>
                </a:solidFill>
                <a:latin typeface="Aptos" pitchFamily="34" charset="0"/>
                <a:ea typeface="Aptos" pitchFamily="34" charset="-122"/>
                <a:cs typeface="Aptos" pitchFamily="34" charset="-120"/>
              </a:rPr>
              <a:t>1. Your page, with the dropdown open</a:t>
            </a:r>
            <a:endParaRPr lang="en-US" sz="1350" dirty="0"/>
          </a:p>
          <a:p>
            <a:pPr indent="0" marL="0">
              <a:spcBef>
                <a:spcPts val="400"/>
              </a:spcBef>
              <a:buNone/>
            </a:pPr>
            <a:r>
              <a:rPr lang="en-US" sz="1350" dirty="0">
                <a:solidFill>
                  <a:srgbClr val="D9D9D9"/>
                </a:solidFill>
                <a:latin typeface="Aptos" pitchFamily="34" charset="0"/>
                <a:ea typeface="Aptos" pitchFamily="34" charset="-122"/>
                <a:cs typeface="Aptos" pitchFamily="34" charset="-120"/>
              </a:rPr>
              <a:t>2. The HTML validator: "No errors"</a:t>
            </a:r>
            <a:endParaRPr lang="en-US" sz="1350" dirty="0"/>
          </a:p>
          <a:p>
            <a:pPr indent="0" marL="0">
              <a:spcBef>
                <a:spcPts val="400"/>
              </a:spcBef>
              <a:buNone/>
            </a:pPr>
            <a:r>
              <a:rPr lang="en-US" sz="1350" dirty="0">
                <a:solidFill>
                  <a:srgbClr val="D9D9D9"/>
                </a:solidFill>
                <a:latin typeface="Aptos" pitchFamily="34" charset="0"/>
                <a:ea typeface="Aptos" pitchFamily="34" charset="-122"/>
                <a:cs typeface="Aptos" pitchFamily="34" charset="-120"/>
              </a:rPr>
              <a:t>3. The CSS validator: "No Error Found"</a:t>
            </a:r>
            <a:endParaRPr lang="en-US" sz="1350" dirty="0"/>
          </a:p>
          <a:p>
            <a:pPr indent="0" marL="0">
              <a:spcBef>
                <a:spcPts val="400"/>
              </a:spcBef>
              <a:buNone/>
            </a:pPr>
            <a:r>
              <a:rPr lang="en-US" sz="1350" b="1" dirty="0">
                <a:solidFill>
                  <a:srgbClr val="F2C6AC"/>
                </a:solidFill>
                <a:latin typeface="Consolas" pitchFamily="34" charset="0"/>
                <a:ea typeface="Consolas" pitchFamily="34" charset="-122"/>
                <a:cs typeface="Consolas" pitchFamily="34" charset="-120"/>
              </a:rPr>
              <a:t>Win + Shift + S</a:t>
            </a:r>
            <a:pPr indent="0" marL="0">
              <a:spcBef>
                <a:spcPts val="400"/>
              </a:spcBef>
              <a:buNone/>
            </a:pPr>
            <a:r>
              <a:rPr lang="en-US" sz="1350" dirty="0">
                <a:solidFill>
                  <a:srgbClr val="D9D9D9"/>
                </a:solidFill>
                <a:latin typeface="Aptos" pitchFamily="34" charset="0"/>
                <a:ea typeface="Aptos" pitchFamily="34" charset="-122"/>
                <a:cs typeface="Aptos" pitchFamily="34" charset="-120"/>
              </a:rPr>
              <a:t> takes a screenshot.</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1: Add the Nav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Open activity/index.html with Live Server</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Our Class 8 page, with no menu yet.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nav HTML</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index.html, inside </a:t>
            </a:r>
            <a:pPr indent="0" marL="0">
              <a:buNone/>
            </a:pPr>
            <a:r>
              <a:rPr lang="en-US" sz="1300" dirty="0">
                <a:solidFill>
                  <a:srgbClr val="8A2B0B"/>
                </a:solidFill>
                <a:latin typeface="Consolas" pitchFamily="34" charset="0"/>
                <a:ea typeface="Consolas" pitchFamily="34" charset="-122"/>
                <a:cs typeface="Consolas" pitchFamily="34" charset="-120"/>
              </a:rPr>
              <a:t>&lt;header&gt;</a:t>
            </a:r>
            <a:pPr indent="0" marL="0">
              <a:buNone/>
            </a:pPr>
            <a:r>
              <a:rPr lang="en-US" sz="1300" dirty="0">
                <a:solidFill>
                  <a:srgbClr val="262626"/>
                </a:solidFill>
                <a:latin typeface="Aptos" pitchFamily="34" charset="0"/>
                <a:ea typeface="Aptos" pitchFamily="34" charset="-122"/>
                <a:cs typeface="Aptos" pitchFamily="34" charset="-120"/>
              </a:rPr>
              <a:t>, under the </a:t>
            </a:r>
            <a:pPr indent="0" marL="0">
              <a:buNone/>
            </a:pPr>
            <a:r>
              <a:rPr lang="en-US" sz="1300" dirty="0">
                <a:solidFill>
                  <a:srgbClr val="8A2B0B"/>
                </a:solidFill>
                <a:latin typeface="Consolas" pitchFamily="34" charset="0"/>
                <a:ea typeface="Consolas" pitchFamily="34" charset="-122"/>
                <a:cs typeface="Consolas" pitchFamily="34" charset="-120"/>
              </a:rPr>
              <a:t>h1</a:t>
            </a:r>
            <a:pPr indent="0" marL="0">
              <a:buNone/>
            </a:pPr>
            <a:r>
              <a:rPr lang="en-US" sz="1300" dirty="0">
                <a:solidFill>
                  <a:srgbClr val="262626"/>
                </a:solidFill>
                <a:latin typeface="Aptos" pitchFamily="34" charset="0"/>
                <a:ea typeface="Aptos" pitchFamily="34" charset="-122"/>
                <a:cs typeface="Aptos" pitchFamily="34" charset="-120"/>
              </a:rPr>
              <a:t>. Save: a bulleted list appears.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style.css, under </a:t>
            </a:r>
            <a:pPr indent="0" marL="0">
              <a:buNone/>
            </a:pPr>
            <a:r>
              <a:rPr lang="en-US" sz="1300" b="1" dirty="0">
                <a:solidFill>
                  <a:srgbClr val="262626"/>
                </a:solidFill>
                <a:latin typeface="Aptos" pitchFamily="34" charset="0"/>
                <a:ea typeface="Aptos" pitchFamily="34" charset="-122"/>
                <a:cs typeface="Aptos" pitchFamily="34" charset="-120"/>
              </a:rPr>
              <a:t>Try It 1</a:t>
            </a:r>
            <a:pPr indent="0" marL="0">
              <a:buNone/>
            </a:pPr>
            <a:r>
              <a:rPr lang="en-US" sz="1300" dirty="0">
                <a:solidFill>
                  <a:srgbClr val="262626"/>
                </a:solidFill>
                <a:latin typeface="Aptos" pitchFamily="34" charset="0"/>
                <a:ea typeface="Aptos" pitchFamily="34" charset="-122"/>
                <a:cs typeface="Aptos" pitchFamily="34" charset="-120"/>
              </a:rPr>
              <a:t>. Save: the links line up in a row.</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Change </a:t>
            </a:r>
            <a:pPr indent="0" marL="0">
              <a:buNone/>
            </a:pPr>
            <a:r>
              <a:rPr lang="en-US" sz="1300" dirty="0">
                <a:solidFill>
                  <a:srgbClr val="8A2B0B"/>
                </a:solidFill>
                <a:latin typeface="Consolas" pitchFamily="34" charset="0"/>
                <a:ea typeface="Consolas" pitchFamily="34" charset="-122"/>
                <a:cs typeface="Consolas" pitchFamily="34" charset="-120"/>
              </a:rPr>
              <a:t>gap: 4px</a:t>
            </a:r>
            <a:pPr indent="0" marL="0">
              <a:buNone/>
            </a:pPr>
            <a:r>
              <a:rPr lang="en-US" sz="1300" dirty="0">
                <a:solidFill>
                  <a:srgbClr val="262626"/>
                </a:solidFill>
                <a:latin typeface="Aptos" pitchFamily="34" charset="0"/>
                <a:ea typeface="Aptos" pitchFamily="34" charset="-122"/>
                <a:cs typeface="Aptos" pitchFamily="34" charset="-120"/>
              </a:rPr>
              <a:t> to </a:t>
            </a:r>
            <a:pPr indent="0" marL="0">
              <a:buNone/>
            </a:pPr>
            <a:r>
              <a:rPr lang="en-US" sz="1300" dirty="0">
                <a:solidFill>
                  <a:srgbClr val="8A2B0B"/>
                </a:solidFill>
                <a:latin typeface="Consolas" pitchFamily="34" charset="0"/>
                <a:ea typeface="Consolas" pitchFamily="34" charset="-122"/>
                <a:cs typeface="Consolas" pitchFamily="34" charset="-120"/>
              </a:rPr>
              <a:t>40px</a:t>
            </a:r>
            <a:pPr indent="0" marL="0">
              <a:buNone/>
            </a:pPr>
            <a:r>
              <a:rPr lang="en-US" sz="1300" dirty="0">
                <a:solidFill>
                  <a:srgbClr val="262626"/>
                </a:solidFill>
                <a:latin typeface="Aptos" pitchFamily="34" charset="0"/>
                <a:ea typeface="Aptos" pitchFamily="34" charset="-122"/>
                <a:cs typeface="Aptos" pitchFamily="34" charset="-120"/>
              </a:rPr>
              <a:t>. Then take out </a:t>
            </a:r>
            <a:pPr indent="0" marL="0">
              <a:buNone/>
            </a:pPr>
            <a:r>
              <a:rPr lang="en-US" sz="1300" dirty="0">
                <a:solidFill>
                  <a:srgbClr val="8A2B0B"/>
                </a:solidFill>
                <a:latin typeface="Consolas" pitchFamily="34" charset="0"/>
                <a:ea typeface="Consolas" pitchFamily="34" charset="-122"/>
                <a:cs typeface="Consolas" pitchFamily="34" charset="-120"/>
              </a:rPr>
              <a:t>display: flex</a:t>
            </a:r>
            <a:pPr indent="0" marL="0">
              <a:buNone/>
            </a:pPr>
            <a:r>
              <a:rPr lang="en-US" sz="1300" dirty="0">
                <a:solidFill>
                  <a:srgbClr val="262626"/>
                </a:solidFill>
                <a:latin typeface="Aptos" pitchFamily="34" charset="0"/>
                <a:ea typeface="Aptos" pitchFamily="34" charset="-122"/>
                <a:cs typeface="Aptos" pitchFamily="34" charset="-120"/>
              </a:rPr>
              <a:t> and put it back.</a:t>
            </a:r>
            <a:endParaRPr lang="en-US" sz="1300" dirty="0"/>
          </a:p>
        </p:txBody>
      </p:sp>
      <p:sp>
        <p:nvSpPr>
          <p:cNvPr id="21" name="Shape 18"/>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INDEX.HTML, THEN STYLE.CSS</a:t>
            </a:r>
            <a:endParaRPr lang="en-US" sz="1100" dirty="0"/>
          </a:p>
        </p:txBody>
      </p:sp>
      <p:sp>
        <p:nvSpPr>
          <p:cNvPr id="23" name="Text 20"/>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aria-label</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"Main"</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"#menu"</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aria-current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"page"</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Menu</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"#hours"</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Hours </a:t>
            </a:r>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&amp;amp;</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Location</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"#contact"</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Contact</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00" dirty="0">
                <a:solidFill>
                  <a:srgbClr val="569CD6"/>
                </a:solidFill>
                <a:latin typeface="Consolas" pitchFamily="34" charset="0"/>
                <a:ea typeface="Consolas" pitchFamily="34" charset="-122"/>
                <a:cs typeface="Consolas" pitchFamily="34" charset="-120"/>
              </a:rPr>
              <a:t>nav</a:t>
            </a:r>
            <a:pPr indent="0" marL="0">
              <a:lnSpc>
                <a:spcPct val="100000"/>
              </a:lnSpc>
              <a:buNone/>
            </a:pPr>
            <a:r>
              <a:rPr lang="en-US" sz="1000" dirty="0">
                <a:solidFill>
                  <a:srgbClr val="808080"/>
                </a:solidFill>
                <a:latin typeface="Consolas" pitchFamily="34" charset="0"/>
                <a:ea typeface="Consolas" pitchFamily="34" charset="-122"/>
                <a:cs typeface="Consolas" pitchFamily="34" charset="-120"/>
              </a:rPr>
              <a:t>&gt;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endParaRPr lang="en-US" sz="1000" dirty="0"/>
          </a:p>
          <a:p>
            <a:pPr indent="0" marL="0">
              <a:lnSpc>
                <a:spcPct val="100000"/>
              </a:lnSpc>
              <a:buNone/>
            </a:pPr>
            <a:r>
              <a:rPr lang="en-US" sz="1000" dirty="0">
                <a:solidFill>
                  <a:srgbClr val="6A9955"/>
                </a:solidFill>
                <a:latin typeface="Consolas" pitchFamily="34" charset="0"/>
                <a:ea typeface="Consolas" pitchFamily="34" charset="-122"/>
                <a:cs typeface="Consolas" pitchFamily="34" charset="-120"/>
              </a:rPr>
              <a:t>/* style.css, Try It 1 */</a:t>
            </a:r>
            <a:endParaRPr lang="en-US" sz="1000" dirty="0"/>
          </a:p>
          <a:p>
            <a:pPr indent="0" marL="0">
              <a:lnSpc>
                <a:spcPct val="100000"/>
              </a:lnSpc>
              <a:buNone/>
            </a:pPr>
            <a:r>
              <a:rPr lang="en-US" sz="1000" dirty="0">
                <a:solidFill>
                  <a:srgbClr val="D7BA7D"/>
                </a:solidFill>
                <a:latin typeface="Consolas" pitchFamily="34" charset="0"/>
                <a:ea typeface="Consolas" pitchFamily="34" charset="-122"/>
                <a:cs typeface="Consolas" pitchFamily="34" charset="-120"/>
              </a:rPr>
              <a:t>nav ul </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list-style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margin</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CE9178"/>
                </a:solidFill>
                <a:latin typeface="Consolas" pitchFamily="34" charset="0"/>
                <a:ea typeface="Consolas" pitchFamily="34" charset="-122"/>
                <a:cs typeface="Consolas" pitchFamily="34" charset="-120"/>
              </a:rPr>
              <a:t>flex</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9CDCFE"/>
                </a:solidFill>
                <a:latin typeface="Consolas" pitchFamily="34" charset="0"/>
                <a:ea typeface="Consolas" pitchFamily="34" charset="-122"/>
                <a:cs typeface="Consolas" pitchFamily="34" charset="-120"/>
              </a:rPr>
              <a:t>gap</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a:p>
            <a:pPr indent="0" marL="0">
              <a:lnSpc>
                <a:spcPct val="100000"/>
              </a:lnSpc>
              <a:buNone/>
            </a:pPr>
            <a:r>
              <a:rPr lang="en-US" sz="1000" dirty="0">
                <a:solidFill>
                  <a:srgbClr val="D4D4D4"/>
                </a:solidFill>
                <a:latin typeface="Consolas" pitchFamily="34" charset="0"/>
                <a:ea typeface="Consolas" pitchFamily="34" charset="-122"/>
                <a:cs typeface="Consolas" pitchFamily="34" charset="-120"/>
              </a:rPr>
              <a:t>}</a:t>
            </a:r>
            <a:endParaRPr lang="en-US" sz="1000" dirty="0"/>
          </a:p>
        </p:txBody>
      </p:sp>
      <p:sp>
        <p:nvSpPr>
          <p:cNvPr id="24" name="Shape 21"/>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links go to the </a:t>
            </a:r>
            <a:pPr indent="0" marL="0">
              <a:buNone/>
            </a:pPr>
            <a:r>
              <a:rPr lang="en-US" sz="1300" b="1" dirty="0">
                <a:solidFill>
                  <a:srgbClr val="262626"/>
                </a:solidFill>
                <a:latin typeface="Aptos" pitchFamily="34" charset="0"/>
                <a:ea typeface="Aptos" pitchFamily="34" charset="-122"/>
                <a:cs typeface="Aptos" pitchFamily="34" charset="-120"/>
              </a:rPr>
              <a:t>ids</a:t>
            </a:r>
            <a:pPr indent="0" marL="0">
              <a:buNone/>
            </a:pPr>
            <a:r>
              <a:rPr lang="en-US" sz="1300" dirty="0">
                <a:solidFill>
                  <a:srgbClr val="262626"/>
                </a:solidFill>
                <a:latin typeface="Aptos" pitchFamily="34" charset="0"/>
                <a:ea typeface="Aptos" pitchFamily="34" charset="-122"/>
                <a:cs typeface="Aptos" pitchFamily="34" charset="-120"/>
              </a:rPr>
              <a:t> already on the page: </a:t>
            </a:r>
            <a:pPr indent="0" marL="0">
              <a:buNone/>
            </a:pPr>
            <a:r>
              <a:rPr lang="en-US" sz="1300" dirty="0">
                <a:solidFill>
                  <a:srgbClr val="8A2B0B"/>
                </a:solidFill>
                <a:latin typeface="Consolas" pitchFamily="34" charset="0"/>
                <a:ea typeface="Consolas" pitchFamily="34" charset="-122"/>
                <a:cs typeface="Consolas" pitchFamily="34" charset="-120"/>
              </a:rPr>
              <a:t>#menu</a:t>
            </a:r>
            <a:pPr indent="0" marL="0">
              <a:buNone/>
            </a:pPr>
            <a:r>
              <a:rPr lang="en-US" sz="1300" dirty="0">
                <a:solidFill>
                  <a:srgbClr val="262626"/>
                </a:solidFill>
                <a:latin typeface="Aptos" pitchFamily="34" charset="0"/>
                <a:ea typeface="Aptos" pitchFamily="34" charset="-122"/>
                <a:cs typeface="Aptos" pitchFamily="34" charset="-120"/>
              </a:rPr>
              <a:t>, </a:t>
            </a:r>
            <a:pPr indent="0" marL="0">
              <a:buNone/>
            </a:pPr>
            <a:r>
              <a:rPr lang="en-US" sz="1300" dirty="0">
                <a:solidFill>
                  <a:srgbClr val="8A2B0B"/>
                </a:solidFill>
                <a:latin typeface="Consolas" pitchFamily="34" charset="0"/>
                <a:ea typeface="Consolas" pitchFamily="34" charset="-122"/>
                <a:cs typeface="Consolas" pitchFamily="34" charset="-120"/>
              </a:rPr>
              <a:t>#hours</a:t>
            </a:r>
            <a:pPr indent="0" marL="0">
              <a:buNone/>
            </a:pPr>
            <a:r>
              <a:rPr lang="en-US" sz="1300" dirty="0">
                <a:solidFill>
                  <a:srgbClr val="262626"/>
                </a:solidFill>
                <a:latin typeface="Aptos" pitchFamily="34" charset="0"/>
                <a:ea typeface="Aptos" pitchFamily="34" charset="-122"/>
                <a:cs typeface="Aptos" pitchFamily="34" charset="-120"/>
              </a:rPr>
              <a:t> and </a:t>
            </a:r>
            <a:pPr indent="0" marL="0">
              <a:buNone/>
            </a:pPr>
            <a:r>
              <a:rPr lang="en-US" sz="1300" dirty="0">
                <a:solidFill>
                  <a:srgbClr val="8A2B0B"/>
                </a:solidFill>
                <a:latin typeface="Consolas" pitchFamily="34" charset="0"/>
                <a:ea typeface="Consolas" pitchFamily="34" charset="-122"/>
                <a:cs typeface="Consolas" pitchFamily="34" charset="-120"/>
              </a:rPr>
              <a:t>#contact</a:t>
            </a:r>
            <a:pPr indent="0" marL="0">
              <a:buNone/>
            </a:pPr>
            <a:r>
              <a:rPr lang="en-US" sz="1300" dirty="0">
                <a:solidFill>
                  <a:srgbClr val="262626"/>
                </a:solidFill>
                <a:latin typeface="Aptos" pitchFamily="34" charset="0"/>
                <a:ea typeface="Aptos" pitchFamily="34" charset="-122"/>
                <a:cs typeface="Aptos" pitchFamily="34" charset="-120"/>
              </a:rPr>
              <a:t>. Click them!</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2: Style the Links (6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 on the right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Under </a:t>
            </a:r>
            <a:pPr indent="0" marL="0">
              <a:buNone/>
            </a:pPr>
            <a:r>
              <a:rPr lang="en-US" sz="1300" b="1" dirty="0">
                <a:solidFill>
                  <a:srgbClr val="262626"/>
                </a:solidFill>
                <a:latin typeface="Aptos" pitchFamily="34" charset="0"/>
                <a:ea typeface="Aptos" pitchFamily="34" charset="-122"/>
                <a:cs typeface="Aptos" pitchFamily="34" charset="-120"/>
              </a:rPr>
              <a:t>Try It 2</a:t>
            </a:r>
            <a:pPr indent="0" marL="0">
              <a:buNone/>
            </a:pPr>
            <a:r>
              <a:rPr lang="en-US" sz="1300" dirty="0">
                <a:solidFill>
                  <a:srgbClr val="262626"/>
                </a:solidFill>
                <a:latin typeface="Aptos" pitchFamily="34" charset="0"/>
                <a:ea typeface="Aptos" pitchFamily="34" charset="-122"/>
                <a:cs typeface="Aptos" pitchFamily="34" charset="-120"/>
              </a:rPr>
              <a:t>. Save.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Hover each link</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whole box lights up, not just the word.</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Press Tab</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Click in the page, then Tab: the </a:t>
            </a:r>
            <a:pPr indent="0" marL="0">
              <a:buNone/>
            </a:pPr>
            <a:r>
              <a:rPr lang="en-US" sz="1300" dirty="0">
                <a:solidFill>
                  <a:srgbClr val="8A2B0B"/>
                </a:solidFill>
                <a:latin typeface="Consolas" pitchFamily="34" charset="0"/>
                <a:ea typeface="Consolas" pitchFamily="34" charset="-122"/>
                <a:cs typeface="Consolas" pitchFamily="34" charset="-120"/>
              </a:rPr>
              <a:t>:focus-visible</a:t>
            </a:r>
            <a:pPr indent="0" marL="0">
              <a:buNone/>
            </a:pPr>
            <a:r>
              <a:rPr lang="en-US" sz="1300" dirty="0">
                <a:solidFill>
                  <a:srgbClr val="262626"/>
                </a:solidFill>
                <a:latin typeface="Aptos" pitchFamily="34" charset="0"/>
                <a:ea typeface="Aptos" pitchFamily="34" charset="-122"/>
                <a:cs typeface="Aptos" pitchFamily="34" charset="-120"/>
              </a:rPr>
              <a:t> style follows the keyboard.</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Change the hover colour. Try </a:t>
            </a:r>
            <a:pPr indent="0" marL="0">
              <a:buNone/>
            </a:pPr>
            <a:r>
              <a:rPr lang="en-US" sz="1300" dirty="0">
                <a:solidFill>
                  <a:srgbClr val="8A2B0B"/>
                </a:solidFill>
                <a:latin typeface="Consolas" pitchFamily="34" charset="0"/>
                <a:ea typeface="Consolas" pitchFamily="34" charset="-122"/>
                <a:cs typeface="Consolas" pitchFamily="34" charset="-120"/>
              </a:rPr>
              <a:t>border-bottom: 4px dotted</a:t>
            </a:r>
            <a:pPr indent="0" marL="0">
              <a:buNone/>
            </a:pPr>
            <a:r>
              <a:rPr lang="en-US" sz="1300" dirty="0">
                <a:solidFill>
                  <a:srgbClr val="262626"/>
                </a:solidFill>
                <a:latin typeface="Aptos" pitchFamily="34" charset="0"/>
                <a:ea typeface="Aptos" pitchFamily="34" charset="-122"/>
                <a:cs typeface="Aptos" pitchFamily="34" charset="-120"/>
              </a:rPr>
              <a:t> on the current page.</a:t>
            </a:r>
            <a:endParaRPr lang="en-US" sz="1300" dirty="0"/>
          </a:p>
        </p:txBody>
      </p:sp>
      <p:sp>
        <p:nvSpPr>
          <p:cNvPr id="21" name="Shape 18"/>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23" name="Text 20"/>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16px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text-decoration</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a:hover,</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a:focus-visible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#1B5E82</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a[aria-current="page"]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#E97132</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24" name="Shape 21"/>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5" name="Text 22"/>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aria-current="page"</a:t>
            </a:r>
            <a:pPr indent="0" marL="0">
              <a:buNone/>
            </a:pPr>
            <a:r>
              <a:rPr lang="en-US" sz="1300" dirty="0">
                <a:solidFill>
                  <a:srgbClr val="262626"/>
                </a:solidFill>
                <a:latin typeface="Aptos" pitchFamily="34" charset="0"/>
                <a:ea typeface="Aptos" pitchFamily="34" charset="-122"/>
                <a:cs typeface="Aptos" pitchFamily="34" charset="-120"/>
              </a:rPr>
              <a:t> tells screen readers "you are here". The attribute selector (Class 9) styles it.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3: A Dropdown (10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Replace the Menu li</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index.html. The new </a:t>
            </a:r>
            <a:pPr indent="0" marL="0">
              <a:buNone/>
            </a:pPr>
            <a:r>
              <a:rPr lang="en-US" sz="1300" dirty="0">
                <a:solidFill>
                  <a:srgbClr val="8A2B0B"/>
                </a:solidFill>
                <a:latin typeface="Consolas" pitchFamily="34" charset="0"/>
                <a:ea typeface="Consolas" pitchFamily="34" charset="-122"/>
                <a:cs typeface="Consolas" pitchFamily="34" charset="-120"/>
              </a:rPr>
              <a:t>&lt;ul&gt;</a:t>
            </a:r>
            <a:pPr indent="0" marL="0">
              <a:buNone/>
            </a:pPr>
            <a:r>
              <a:rPr lang="en-US" sz="1300" dirty="0">
                <a:solidFill>
                  <a:srgbClr val="262626"/>
                </a:solidFill>
                <a:latin typeface="Aptos" pitchFamily="34" charset="0"/>
                <a:ea typeface="Aptos" pitchFamily="34" charset="-122"/>
                <a:cs typeface="Aptos" pitchFamily="34" charset="-120"/>
              </a:rPr>
              <a:t> goes </a:t>
            </a:r>
            <a:pPr indent="0" marL="0">
              <a:buNone/>
            </a:pPr>
            <a:r>
              <a:rPr lang="en-US" sz="1300" b="1" dirty="0">
                <a:solidFill>
                  <a:srgbClr val="262626"/>
                </a:solidFill>
                <a:latin typeface="Aptos" pitchFamily="34" charset="0"/>
                <a:ea typeface="Aptos" pitchFamily="34" charset="-122"/>
                <a:cs typeface="Aptos" pitchFamily="34" charset="-120"/>
              </a:rPr>
              <a:t>inside</a:t>
            </a:r>
            <a:pPr indent="0" marL="0">
              <a:buNone/>
            </a:pPr>
            <a:r>
              <a:rPr lang="en-US" sz="1300" dirty="0">
                <a:solidFill>
                  <a:srgbClr val="262626"/>
                </a:solidFill>
                <a:latin typeface="Aptos" pitchFamily="34" charset="0"/>
                <a:ea typeface="Aptos" pitchFamily="34" charset="-122"/>
                <a:cs typeface="Aptos" pitchFamily="34" charset="-120"/>
              </a:rPr>
              <a:t> the </a:t>
            </a:r>
            <a:pPr indent="0" marL="0">
              <a:buNone/>
            </a:pPr>
            <a:r>
              <a:rPr lang="en-US" sz="1300" dirty="0">
                <a:solidFill>
                  <a:srgbClr val="8A2B0B"/>
                </a:solidFill>
                <a:latin typeface="Consolas" pitchFamily="34" charset="0"/>
                <a:ea typeface="Consolas" pitchFamily="34" charset="-122"/>
                <a:cs typeface="Consolas" pitchFamily="34" charset="-120"/>
              </a:rPr>
              <a:t>&lt;li&gt;</a:t>
            </a:r>
            <a:pPr indent="0" marL="0">
              <a:buNone/>
            </a:pPr>
            <a:r>
              <a:rPr lang="en-US" sz="1300" dirty="0">
                <a:solidFill>
                  <a:srgbClr val="262626"/>
                </a:solidFill>
                <a:latin typeface="Aptos" pitchFamily="34" charset="0"/>
                <a:ea typeface="Aptos" pitchFamily="34" charset="-122"/>
                <a:cs typeface="Aptos" pitchFamily="34" charset="-120"/>
              </a:rPr>
              <a:t>, after the link.</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Under </a:t>
            </a:r>
            <a:pPr indent="0" marL="0">
              <a:buNone/>
            </a:pPr>
            <a:r>
              <a:rPr lang="en-US" sz="1300" b="1" dirty="0">
                <a:solidFill>
                  <a:srgbClr val="262626"/>
                </a:solidFill>
                <a:latin typeface="Aptos" pitchFamily="34" charset="0"/>
                <a:ea typeface="Aptos" pitchFamily="34" charset="-122"/>
                <a:cs typeface="Aptos" pitchFamily="34" charset="-120"/>
              </a:rPr>
              <a:t>Try It 3</a:t>
            </a:r>
            <a:pPr indent="0" marL="0">
              <a:buNone/>
            </a:pPr>
            <a:r>
              <a:rPr lang="en-US" sz="1300" dirty="0">
                <a:solidFill>
                  <a:srgbClr val="262626"/>
                </a:solidFill>
                <a:latin typeface="Aptos" pitchFamily="34" charset="0"/>
                <a:ea typeface="Aptos" pitchFamily="34" charset="-122"/>
                <a:cs typeface="Aptos" pitchFamily="34" charset="-120"/>
              </a:rPr>
              <a:t>. Save and hover Menu.</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Can't read it? Good!</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The links are white on a pale page. Try It 4 fixes it.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Press Tab</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When you reach Menu, it opens. That's </a:t>
            </a:r>
            <a:pPr indent="0" marL="0">
              <a:buNone/>
            </a:pPr>
            <a:r>
              <a:rPr lang="en-US" sz="1300" dirty="0">
                <a:solidFill>
                  <a:srgbClr val="8A2B0B"/>
                </a:solidFill>
                <a:latin typeface="Consolas" pitchFamily="34" charset="0"/>
                <a:ea typeface="Consolas" pitchFamily="34" charset="-122"/>
                <a:cs typeface="Consolas" pitchFamily="34" charset="-120"/>
              </a:rPr>
              <a:t>:focus-within</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21" name="Shape 18"/>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INDEX.HTML, THEN STYLE.CSS</a:t>
            </a:r>
            <a:endParaRPr lang="en-US" sz="1100" dirty="0"/>
          </a:p>
        </p:txBody>
      </p:sp>
      <p:sp>
        <p:nvSpPr>
          <p:cNvPr id="23" name="Text 20"/>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"#menu"</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aria-current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"page"</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Menu </a:t>
            </a:r>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&amp;#9662;</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"#haddock"</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Haddock </a:t>
            </a:r>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&amp;amp;</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Chips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"#clams"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Clam Strips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"#lobster"</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Lobster Roll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href</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"#kids"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Kids' Fish Bites</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a</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ul</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050" dirty="0">
                <a:solidFill>
                  <a:srgbClr val="569CD6"/>
                </a:solidFill>
                <a:latin typeface="Consolas" pitchFamily="34" charset="0"/>
                <a:ea typeface="Consolas" pitchFamily="34" charset="-122"/>
                <a:cs typeface="Consolas" pitchFamily="34" charset="-120"/>
              </a:rPr>
              <a:t>li</a:t>
            </a:r>
            <a:pPr indent="0" marL="0">
              <a:lnSpc>
                <a:spcPct val="100000"/>
              </a:lnSpc>
              <a:buNone/>
            </a:pPr>
            <a:r>
              <a:rPr lang="en-US" sz="1050" dirty="0">
                <a:solidFill>
                  <a:srgbClr val="808080"/>
                </a:solidFill>
                <a:latin typeface="Consolas" pitchFamily="34" charset="0"/>
                <a:ea typeface="Consolas" pitchFamily="34" charset="-122"/>
                <a:cs typeface="Consolas" pitchFamily="34" charset="-120"/>
              </a:rPr>
              <a:t>&gt;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6A9955"/>
                </a:solidFill>
                <a:latin typeface="Consolas" pitchFamily="34" charset="0"/>
                <a:ea typeface="Consolas" pitchFamily="34" charset="-122"/>
                <a:cs typeface="Consolas" pitchFamily="34" charset="-120"/>
              </a:rPr>
              <a:t>/* style.css, Try It 3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nav li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relative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nav ul ul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none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position</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absolute</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top</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left</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nav li:hover &gt; ul,</a:t>
            </a:r>
            <a:endParaRPr lang="en-US" sz="1050" dirty="0"/>
          </a:p>
          <a:p>
            <a:pPr indent="0" marL="0">
              <a:lnSpc>
                <a:spcPct val="100000"/>
              </a:lnSpc>
              <a:buNone/>
            </a:pPr>
            <a:r>
              <a:rPr lang="en-US" sz="1050" dirty="0">
                <a:solidFill>
                  <a:srgbClr val="D7BA7D"/>
                </a:solidFill>
                <a:latin typeface="Consolas" pitchFamily="34" charset="0"/>
                <a:ea typeface="Consolas" pitchFamily="34" charset="-122"/>
                <a:cs typeface="Consolas" pitchFamily="34" charset="-120"/>
              </a:rPr>
              <a:t>nav li:focus-within &gt; ul </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9CDCFE"/>
                </a:solidFill>
                <a:latin typeface="Consolas" pitchFamily="34" charset="0"/>
                <a:ea typeface="Consolas" pitchFamily="34" charset="-122"/>
                <a:cs typeface="Consolas" pitchFamily="34" charset="-120"/>
              </a:rPr>
              <a:t>display</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050" dirty="0">
                <a:solidFill>
                  <a:srgbClr val="CE9178"/>
                </a:solidFill>
                <a:latin typeface="Consolas" pitchFamily="34" charset="0"/>
                <a:ea typeface="Consolas" pitchFamily="34" charset="-122"/>
                <a:cs typeface="Consolas" pitchFamily="34" charset="-120"/>
              </a:rPr>
              <a:t>block</a:t>
            </a:r>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a:p>
            <a:pPr indent="0" marL="0">
              <a:lnSpc>
                <a:spcPct val="100000"/>
              </a:lnSpc>
              <a:buNone/>
            </a:pPr>
            <a:r>
              <a:rPr lang="en-US" sz="1050" dirty="0">
                <a:solidFill>
                  <a:srgbClr val="D4D4D4"/>
                </a:solidFill>
                <a:latin typeface="Consolas" pitchFamily="34" charset="0"/>
                <a:ea typeface="Consolas" pitchFamily="34" charset="-122"/>
                <a:cs typeface="Consolas" pitchFamily="34" charset="-120"/>
              </a:rPr>
              <a: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4: Make the Dropdown Readable (4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 on the right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Under </a:t>
            </a:r>
            <a:pPr indent="0" marL="0">
              <a:buNone/>
            </a:pPr>
            <a:r>
              <a:rPr lang="en-US" sz="1300" b="1" dirty="0">
                <a:solidFill>
                  <a:srgbClr val="262626"/>
                </a:solidFill>
                <a:latin typeface="Aptos" pitchFamily="34" charset="0"/>
                <a:ea typeface="Aptos" pitchFamily="34" charset="-122"/>
                <a:cs typeface="Aptos" pitchFamily="34" charset="-120"/>
              </a:rPr>
              <a:t>Try It 4</a:t>
            </a:r>
            <a:pPr indent="0" marL="0">
              <a:buNone/>
            </a:pPr>
            <a:r>
              <a:rPr lang="en-US" sz="1300" dirty="0">
                <a:solidFill>
                  <a:srgbClr val="262626"/>
                </a:solidFill>
                <a:latin typeface="Aptos" pitchFamily="34" charset="0"/>
                <a:ea typeface="Aptos" pitchFamily="34" charset="-122"/>
                <a:cs typeface="Aptos" pitchFamily="34" charset="-120"/>
              </a:rPr>
              <a:t>. Save and hover Menu.</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Two nav ul ul rules?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That's fine: the browser combines them.</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Make the shadow bigger: </a:t>
            </a:r>
            <a:pPr indent="0" marL="0">
              <a:buNone/>
            </a:pPr>
            <a:r>
              <a:rPr lang="en-US" sz="1300" dirty="0">
                <a:solidFill>
                  <a:srgbClr val="8A2B0B"/>
                </a:solidFill>
                <a:latin typeface="Consolas" pitchFamily="34" charset="0"/>
                <a:ea typeface="Consolas" pitchFamily="34" charset="-122"/>
                <a:cs typeface="Consolas" pitchFamily="34" charset="-120"/>
              </a:rPr>
              <a:t>0 8px 24px</a:t>
            </a:r>
            <a:pPr indent="0" marL="0">
              <a:buNone/>
            </a:pPr>
            <a:r>
              <a:rPr lang="en-US" sz="1300" dirty="0">
                <a:solidFill>
                  <a:srgbClr val="262626"/>
                </a:solidFill>
                <a:latin typeface="Aptos" pitchFamily="34" charset="0"/>
                <a:ea typeface="Aptos" pitchFamily="34" charset="-122"/>
                <a:cs typeface="Aptos" pitchFamily="34" charset="-120"/>
              </a:rPr>
              <a:t>. Or change </a:t>
            </a:r>
            <a:pPr indent="0" marL="0">
              <a:buNone/>
            </a:pPr>
            <a:r>
              <a:rPr lang="en-US" sz="1300" dirty="0">
                <a:solidFill>
                  <a:srgbClr val="8A2B0B"/>
                </a:solidFill>
                <a:latin typeface="Consolas" pitchFamily="34" charset="0"/>
                <a:ea typeface="Consolas" pitchFamily="34" charset="-122"/>
                <a:cs typeface="Consolas" pitchFamily="34" charset="-120"/>
              </a:rPr>
              <a:t>min-width</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17" name="Shape 14"/>
          <p:cNvSpPr/>
          <p:nvPr/>
        </p:nvSpPr>
        <p:spPr>
          <a:xfrm>
            <a:off x="6995160" y="1325880"/>
            <a:ext cx="4647895" cy="39776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8" name="Text 15"/>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19" name="Text 16"/>
          <p:cNvSpPr txBox="1"/>
          <p:nvPr/>
        </p:nvSpPr>
        <p:spPr>
          <a:xfrm>
            <a:off x="7223760" y="1901952"/>
            <a:ext cx="4190695" cy="3172968"/>
          </a:xfrm>
          <a:prstGeom prst="rect">
            <a:avLst/>
          </a:prstGeom>
          <a:noFill/>
          <a:ln/>
        </p:spPr>
        <p:txBody>
          <a:bodyPr wrap="square" lIns="0" tIns="0" rIns="0" bIns="0" rtlCol="0" anchor="t"/>
          <a:lstStyle/>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ul ul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min-width</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220px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box-shadow</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4px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rgba(0,</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B5CEA8"/>
                </a:solidFill>
                <a:latin typeface="Consolas" pitchFamily="34" charset="0"/>
                <a:ea typeface="Consolas" pitchFamily="34" charset="-122"/>
                <a:cs typeface="Consolas" pitchFamily="34" charset="-120"/>
              </a:rPr>
              <a:t>0.25</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ul ul a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normal</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ul ul a:hover,</a:t>
            </a:r>
            <a:endParaRPr lang="en-US" sz="1300" dirty="0"/>
          </a:p>
          <a:p>
            <a:pPr indent="0" marL="0">
              <a:lnSpc>
                <a:spcPct val="100000"/>
              </a:lnSpc>
              <a:buNone/>
            </a:pPr>
            <a:r>
              <a:rPr lang="en-US" sz="1300" dirty="0">
                <a:solidFill>
                  <a:srgbClr val="D7BA7D"/>
                </a:solidFill>
                <a:latin typeface="Consolas" pitchFamily="34" charset="0"/>
                <a:ea typeface="Consolas" pitchFamily="34" charset="-122"/>
                <a:cs typeface="Consolas" pitchFamily="34" charset="-120"/>
              </a:rPr>
              <a:t>nav ul ul a:focus-visible </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0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a:p>
            <a:pPr indent="0" marL="0">
              <a:lnSpc>
                <a:spcPct val="100000"/>
              </a:lnSpc>
              <a:buNone/>
            </a:pPr>
            <a:r>
              <a:rPr lang="en-US" sz="1300" dirty="0">
                <a:solidFill>
                  <a:srgbClr val="D4D4D4"/>
                </a:solidFill>
                <a:latin typeface="Consolas" pitchFamily="34" charset="0"/>
                <a:ea typeface="Consolas" pitchFamily="34" charset="-122"/>
                <a:cs typeface="Consolas" pitchFamily="34" charset="-120"/>
              </a:rPr>
              <a:t>}</a:t>
            </a:r>
            <a:endParaRPr lang="en-US" sz="1300" dirty="0"/>
          </a:p>
        </p:txBody>
      </p:sp>
      <p:sp>
        <p:nvSpPr>
          <p:cNvPr id="20" name="Shape 17"/>
          <p:cNvSpPr/>
          <p:nvPr/>
        </p:nvSpPr>
        <p:spPr>
          <a:xfrm>
            <a:off x="6995160" y="5486400"/>
            <a:ext cx="4647895" cy="868680"/>
          </a:xfrm>
          <a:prstGeom prst="roundRect">
            <a:avLst>
              <a:gd name="adj" fmla="val 12632"/>
            </a:avLst>
          </a:prstGeom>
          <a:solidFill>
            <a:srgbClr val="FBE9DF"/>
          </a:solidFill>
          <a:ln w="9525">
            <a:solidFill>
              <a:srgbClr val="F2C6AC"/>
            </a:solidFill>
            <a:prstDash val="solid"/>
          </a:ln>
          <a:effectLst>
            <a:outerShdw sx="100000" sy="100000" kx="0" ky="0" algn="bl" rotWithShape="0" blurRad="76200" dist="25400" dir="5400000">
              <a:srgbClr val="000000">
                <a:alpha val="12000"/>
              </a:srgbClr>
            </a:outerShdw>
          </a:effectLst>
        </p:spPr>
      </p:sp>
      <p:sp>
        <p:nvSpPr>
          <p:cNvPr id="21" name="Text 18"/>
          <p:cNvSpPr txBox="1"/>
          <p:nvPr/>
        </p:nvSpPr>
        <p:spPr>
          <a:xfrm>
            <a:off x="7223760" y="5486400"/>
            <a:ext cx="4190695" cy="868680"/>
          </a:xfrm>
          <a:prstGeom prst="rect">
            <a:avLst/>
          </a:prstGeom>
          <a:noFill/>
          <a:ln/>
        </p:spPr>
        <p:txBody>
          <a:bodyPr wrap="square" lIns="0" tIns="0" rIns="0" bIns="0" rtlCol="0" anchor="ctr"/>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8A2B0B"/>
                </a:solidFill>
                <a:latin typeface="Consolas" pitchFamily="34" charset="0"/>
                <a:ea typeface="Consolas" pitchFamily="34" charset="-122"/>
                <a:cs typeface="Consolas" pitchFamily="34" charset="-120"/>
              </a:rPr>
              <a:t>box-shadow</a:t>
            </a:r>
            <a:pPr indent="0" marL="0">
              <a:buNone/>
            </a:pPr>
            <a:r>
              <a:rPr lang="en-US" sz="1300" dirty="0">
                <a:solidFill>
                  <a:srgbClr val="262626"/>
                </a:solidFill>
                <a:latin typeface="Aptos" pitchFamily="34" charset="0"/>
                <a:ea typeface="Aptos" pitchFamily="34" charset="-122"/>
                <a:cs typeface="Aptos" pitchFamily="34" charset="-120"/>
              </a:rPr>
              <a:t>: across, down, blur, colour. </a:t>
            </a:r>
            <a:pPr indent="0" marL="0">
              <a:buNone/>
            </a:pPr>
            <a:r>
              <a:rPr lang="en-US" sz="1300" dirty="0">
                <a:solidFill>
                  <a:srgbClr val="8A2B0B"/>
                </a:solidFill>
                <a:latin typeface="Consolas" pitchFamily="34" charset="0"/>
                <a:ea typeface="Consolas" pitchFamily="34" charset="-122"/>
                <a:cs typeface="Consolas" pitchFamily="34" charset="-120"/>
              </a:rPr>
              <a:t>rgba</a:t>
            </a:r>
            <a:pPr indent="0" marL="0">
              <a:buNone/>
            </a:pPr>
            <a:r>
              <a:rPr lang="en-US" sz="1300" dirty="0">
                <a:solidFill>
                  <a:srgbClr val="262626"/>
                </a:solidFill>
                <a:latin typeface="Aptos" pitchFamily="34" charset="0"/>
                <a:ea typeface="Aptos" pitchFamily="34" charset="-122"/>
                <a:cs typeface="Aptos" pitchFamily="34" charset="-120"/>
              </a:rPr>
              <a:t> = a colour you can see through (0.25 = 25%).</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2926080" y="640080"/>
            <a:ext cx="8412480" cy="4206240"/>
          </a:xfrm>
          <a:prstGeom prst="rect">
            <a:avLst/>
          </a:prstGeom>
          <a:noFill/>
          <a:ln/>
        </p:spPr>
        <p:txBody>
          <a:bodyPr wrap="square" lIns="0" tIns="0" rIns="0" bIns="0" rtlCol="0" anchor="ctr"/>
          <a:lstStyle/>
          <a:p>
            <a:pPr algn="r" indent="0" marL="0">
              <a:buNone/>
            </a:pPr>
            <a:r>
              <a:rPr lang="en-US" sz="6000" dirty="0">
                <a:solidFill>
                  <a:srgbClr val="FFFFFF"/>
                </a:solidFill>
                <a:latin typeface="Aptos" pitchFamily="34" charset="0"/>
                <a:ea typeface="Aptos" pitchFamily="34" charset="-122"/>
                <a:cs typeface="Aptos" pitchFamily="34" charset="-120"/>
              </a:rPr>
              <a:t>Tables</a:t>
            </a:r>
            <a:endParaRPr lang="en-US" sz="6000" dirty="0"/>
          </a:p>
        </p:txBody>
      </p:sp>
      <p:sp>
        <p:nvSpPr>
          <p:cNvPr id="3" name="Text 1"/>
          <p:cNvSpPr txBox="1"/>
          <p:nvPr/>
        </p:nvSpPr>
        <p:spPr>
          <a:xfrm>
            <a:off x="1417320" y="5989320"/>
            <a:ext cx="10058400" cy="411480"/>
          </a:xfrm>
          <a:prstGeom prst="rect">
            <a:avLst/>
          </a:prstGeom>
          <a:noFill/>
          <a:ln/>
        </p:spPr>
        <p:txBody>
          <a:bodyPr wrap="square" lIns="0" tIns="0" rIns="0" bIns="0" rtlCol="0" anchor="ctr"/>
          <a:lstStyle/>
          <a:p>
            <a:pPr indent="0" marL="0">
              <a:buNone/>
            </a:pPr>
            <a:r>
              <a:rPr lang="en-US" sz="1800" dirty="0">
                <a:solidFill>
                  <a:srgbClr val="FFFFFF"/>
                </a:solidFill>
                <a:latin typeface="Aptos" pitchFamily="34" charset="0"/>
                <a:ea typeface="Aptos" pitchFamily="34" charset="-122"/>
                <a:cs typeface="Aptos" pitchFamily="34" charset="-120"/>
              </a:rPr>
              <a:t>For data, not layout   ·   structure   ·   styling   ·   zebra stripes   ·   small screens</a:t>
            </a:r>
            <a:endParaRPr lang="en-US" sz="1800" dirty="0"/>
          </a:p>
        </p:txBody>
      </p:sp>
      <p:sp>
        <p:nvSpPr>
          <p:cNvPr id="4" name="Shape 2"/>
          <p:cNvSpPr/>
          <p:nvPr/>
        </p:nvSpPr>
        <p:spPr>
          <a:xfrm>
            <a:off x="914400" y="3840480"/>
            <a:ext cx="0" cy="3017520"/>
          </a:xfrm>
          <a:prstGeom prst="line">
            <a:avLst/>
          </a:prstGeom>
          <a:noFill/>
          <a:ln w="25400">
            <a:solidFill>
              <a:srgbClr val="FFFFFF"/>
            </a:solidFill>
            <a:prstDash val="solid"/>
          </a:ln>
        </p:spPr>
      </p:sp>
      <p:sp>
        <p:nvSpPr>
          <p:cNvPr id="5" name="Text 3"/>
          <p:cNvSpPr txBox="1"/>
          <p:nvPr/>
        </p:nvSpPr>
        <p:spPr>
          <a:xfrm>
            <a:off x="3794760" y="5029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6" name="Text 4"/>
          <p:cNvSpPr txBox="1"/>
          <p:nvPr/>
        </p:nvSpPr>
        <p:spPr>
          <a:xfrm>
            <a:off x="4160520" y="7315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7" name="Text 5"/>
          <p:cNvSpPr txBox="1"/>
          <p:nvPr/>
        </p:nvSpPr>
        <p:spPr>
          <a:xfrm>
            <a:off x="3749040" y="914400"/>
            <a:ext cx="365760" cy="365760"/>
          </a:xfrm>
          <a:prstGeom prst="rect">
            <a:avLst/>
          </a:prstGeom>
          <a:noFill/>
          <a:ln/>
        </p:spPr>
        <p:txBody>
          <a:bodyPr wrap="square" lIns="0" tIns="0" rIns="0" bIns="0" rtlCol="0" anchor="ctr"/>
          <a:lstStyle/>
          <a:p>
            <a:pPr algn="ctr" indent="0" marL="0">
              <a:buNone/>
            </a:pPr>
            <a:r>
              <a:rPr lang="en-US" sz="1600" dirty="0">
                <a:solidFill>
                  <a:srgbClr val="FFFFFF"/>
                </a:solidFill>
                <a:latin typeface="Aptos" pitchFamily="34" charset="0"/>
                <a:ea typeface="Aptos" pitchFamily="34" charset="-122"/>
                <a:cs typeface="Aptos" pitchFamily="34" charset="-120"/>
              </a:rPr>
              <a:t>○</a:t>
            </a:r>
            <a:endParaRPr lang="en-US" sz="1600" dirty="0"/>
          </a:p>
        </p:txBody>
      </p:sp>
      <p:sp>
        <p:nvSpPr>
          <p:cNvPr id="8" name="Text 6"/>
          <p:cNvSpPr txBox="1"/>
          <p:nvPr/>
        </p:nvSpPr>
        <p:spPr>
          <a:xfrm>
            <a:off x="11521440" y="576072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9" name="Text 7"/>
          <p:cNvSpPr txBox="1"/>
          <p:nvPr/>
        </p:nvSpPr>
        <p:spPr>
          <a:xfrm>
            <a:off x="11292840" y="6263640"/>
            <a:ext cx="365760" cy="365760"/>
          </a:xfrm>
          <a:prstGeom prst="rect">
            <a:avLst/>
          </a:prstGeom>
          <a:noFill/>
          <a:ln/>
        </p:spPr>
        <p:txBody>
          <a:bodyPr wrap="square" lIns="0" tIns="0" rIns="0" bIns="0" rtlCol="0" anchor="ctr"/>
          <a:lstStyle/>
          <a:p>
            <a:pPr algn="ctr" indent="0" marL="0">
              <a:buNone/>
            </a:pPr>
            <a:r>
              <a:rPr lang="en-US" sz="2000" dirty="0">
                <a:solidFill>
                  <a:srgbClr val="FFFFFF"/>
                </a:solidFill>
                <a:latin typeface="Aptos" pitchFamily="34" charset="0"/>
                <a:ea typeface="Aptos" pitchFamily="34" charset="-122"/>
                <a:cs typeface="Aptos" pitchFamily="34" charset="-120"/>
              </a:rPr>
              <a:t>•</a:t>
            </a:r>
            <a:endParaRPr lang="en-US" sz="2000" dirty="0"/>
          </a:p>
        </p:txBody>
      </p:sp>
      <p:sp>
        <p:nvSpPr>
          <p:cNvPr id="10" name="Text 8"/>
          <p:cNvSpPr txBox="1"/>
          <p:nvPr/>
        </p:nvSpPr>
        <p:spPr>
          <a:xfrm>
            <a:off x="11887200" y="6263640"/>
            <a:ext cx="365760" cy="365760"/>
          </a:xfrm>
          <a:prstGeom prst="rect">
            <a:avLst/>
          </a:prstGeom>
          <a:noFill/>
          <a:ln/>
        </p:spPr>
        <p:txBody>
          <a:bodyPr wrap="square" lIns="0" tIns="0" rIns="0" bIns="0" rtlCol="0" anchor="ctr"/>
          <a:lstStyle/>
          <a:p>
            <a:pPr algn="ctr" indent="0" marL="0">
              <a:buNone/>
            </a:pPr>
            <a:r>
              <a:rPr lang="en-US" sz="1400" dirty="0">
                <a:solidFill>
                  <a:srgbClr val="FFFFFF"/>
                </a:solidFill>
                <a:latin typeface="Aptos" pitchFamily="34" charset="0"/>
                <a:ea typeface="Aptos" pitchFamily="34" charset="-122"/>
                <a:cs typeface="Aptos" pitchFamily="34" charset="-120"/>
              </a:rPr>
              <a: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The Parts of a Table</a:t>
            </a:r>
            <a:endParaRPr lang="en-US" sz="2800" dirty="0"/>
          </a:p>
        </p:txBody>
      </p:sp>
      <p:sp>
        <p:nvSpPr>
          <p:cNvPr id="7" name="Text 4"/>
          <p:cNvSpPr txBox="1"/>
          <p:nvPr/>
        </p:nvSpPr>
        <p:spPr>
          <a:xfrm>
            <a:off x="4754880" y="1783080"/>
            <a:ext cx="3703320" cy="347472"/>
          </a:xfrm>
          <a:prstGeom prst="rect">
            <a:avLst/>
          </a:prstGeom>
          <a:noFill/>
          <a:ln/>
        </p:spPr>
        <p:txBody>
          <a:bodyPr wrap="square" lIns="0" tIns="0" rIns="0" bIns="0" rtlCol="0" anchor="ctr"/>
          <a:lstStyle/>
          <a:p>
            <a:pPr indent="0" marL="0">
              <a:buNone/>
            </a:pPr>
            <a:r>
              <a:rPr lang="en-US" sz="1400" b="1" dirty="0">
                <a:solidFill>
                  <a:srgbClr val="000000"/>
                </a:solidFill>
                <a:latin typeface="Aptos" pitchFamily="34" charset="0"/>
                <a:ea typeface="Aptos" pitchFamily="34" charset="-122"/>
                <a:cs typeface="Aptos" pitchFamily="34" charset="-120"/>
              </a:rPr>
              <a:t>Fresh Fish Prices</a:t>
            </a:r>
            <a:endParaRPr lang="en-US" sz="1400" dirty="0"/>
          </a:p>
        </p:txBody>
      </p:sp>
      <p:sp>
        <p:nvSpPr>
          <p:cNvPr id="8" name="Shape 5"/>
          <p:cNvSpPr/>
          <p:nvPr/>
        </p:nvSpPr>
        <p:spPr>
          <a:xfrm>
            <a:off x="4754880" y="2148840"/>
            <a:ext cx="1234440" cy="438912"/>
          </a:xfrm>
          <a:prstGeom prst="rect">
            <a:avLst/>
          </a:prstGeom>
          <a:solidFill>
            <a:srgbClr val="12304A"/>
          </a:solidFill>
          <a:ln w="9525">
            <a:solidFill>
              <a:srgbClr val="B0B8BC"/>
            </a:solidFill>
            <a:prstDash val="solid"/>
          </a:ln>
        </p:spPr>
      </p:sp>
      <p:sp>
        <p:nvSpPr>
          <p:cNvPr id="9" name="Text 6"/>
          <p:cNvSpPr txBox="1"/>
          <p:nvPr/>
        </p:nvSpPr>
        <p:spPr>
          <a:xfrm>
            <a:off x="4846320" y="2148840"/>
            <a:ext cx="1051560" cy="438912"/>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Fish</a:t>
            </a:r>
            <a:endParaRPr lang="en-US" sz="1200" dirty="0"/>
          </a:p>
        </p:txBody>
      </p:sp>
      <p:sp>
        <p:nvSpPr>
          <p:cNvPr id="10" name="Shape 7"/>
          <p:cNvSpPr/>
          <p:nvPr/>
        </p:nvSpPr>
        <p:spPr>
          <a:xfrm>
            <a:off x="5989320" y="2148840"/>
            <a:ext cx="1234440" cy="438912"/>
          </a:xfrm>
          <a:prstGeom prst="rect">
            <a:avLst/>
          </a:prstGeom>
          <a:solidFill>
            <a:srgbClr val="12304A"/>
          </a:solidFill>
          <a:ln w="9525">
            <a:solidFill>
              <a:srgbClr val="B0B8BC"/>
            </a:solidFill>
            <a:prstDash val="solid"/>
          </a:ln>
        </p:spPr>
      </p:sp>
      <p:sp>
        <p:nvSpPr>
          <p:cNvPr id="11" name="Text 8"/>
          <p:cNvSpPr txBox="1"/>
          <p:nvPr/>
        </p:nvSpPr>
        <p:spPr>
          <a:xfrm>
            <a:off x="6080760" y="2148840"/>
            <a:ext cx="1051560" cy="438912"/>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Caught in</a:t>
            </a:r>
            <a:endParaRPr lang="en-US" sz="1200" dirty="0"/>
          </a:p>
        </p:txBody>
      </p:sp>
      <p:sp>
        <p:nvSpPr>
          <p:cNvPr id="12" name="Shape 9"/>
          <p:cNvSpPr/>
          <p:nvPr/>
        </p:nvSpPr>
        <p:spPr>
          <a:xfrm>
            <a:off x="7223760" y="2148840"/>
            <a:ext cx="1234440" cy="438912"/>
          </a:xfrm>
          <a:prstGeom prst="rect">
            <a:avLst/>
          </a:prstGeom>
          <a:solidFill>
            <a:srgbClr val="12304A"/>
          </a:solidFill>
          <a:ln w="9525">
            <a:solidFill>
              <a:srgbClr val="B0B8BC"/>
            </a:solidFill>
            <a:prstDash val="solid"/>
          </a:ln>
        </p:spPr>
      </p:sp>
      <p:sp>
        <p:nvSpPr>
          <p:cNvPr id="13" name="Text 10"/>
          <p:cNvSpPr txBox="1"/>
          <p:nvPr/>
        </p:nvSpPr>
        <p:spPr>
          <a:xfrm>
            <a:off x="7315200" y="2148840"/>
            <a:ext cx="1051560" cy="438912"/>
          </a:xfrm>
          <a:prstGeom prst="rect">
            <a:avLst/>
          </a:prstGeom>
          <a:noFill/>
          <a:ln/>
        </p:spPr>
        <p:txBody>
          <a:bodyPr wrap="square" lIns="0" tIns="0" rIns="0" bIns="0" rtlCol="0" anchor="ctr"/>
          <a:lstStyle/>
          <a:p>
            <a:pPr indent="0" marL="0">
              <a:buNone/>
            </a:pPr>
            <a:r>
              <a:rPr lang="en-US" sz="1200" b="1" dirty="0">
                <a:solidFill>
                  <a:srgbClr val="FFFFFF"/>
                </a:solidFill>
                <a:latin typeface="Aptos" pitchFamily="34" charset="0"/>
                <a:ea typeface="Aptos" pitchFamily="34" charset="-122"/>
                <a:cs typeface="Aptos" pitchFamily="34" charset="-120"/>
              </a:rPr>
              <a:t>Price / lb</a:t>
            </a:r>
            <a:endParaRPr lang="en-US" sz="1200" dirty="0"/>
          </a:p>
        </p:txBody>
      </p:sp>
      <p:sp>
        <p:nvSpPr>
          <p:cNvPr id="14" name="Shape 11"/>
          <p:cNvSpPr/>
          <p:nvPr/>
        </p:nvSpPr>
        <p:spPr>
          <a:xfrm>
            <a:off x="4754880" y="2679192"/>
            <a:ext cx="1234440" cy="438912"/>
          </a:xfrm>
          <a:prstGeom prst="rect">
            <a:avLst/>
          </a:prstGeom>
          <a:solidFill>
            <a:srgbClr val="F4F8FA"/>
          </a:solidFill>
          <a:ln w="9525">
            <a:solidFill>
              <a:srgbClr val="B0B8BC"/>
            </a:solidFill>
            <a:prstDash val="solid"/>
          </a:ln>
        </p:spPr>
      </p:sp>
      <p:sp>
        <p:nvSpPr>
          <p:cNvPr id="15" name="Text 12"/>
          <p:cNvSpPr txBox="1"/>
          <p:nvPr/>
        </p:nvSpPr>
        <p:spPr>
          <a:xfrm>
            <a:off x="4846320" y="2679192"/>
            <a:ext cx="1051560" cy="438912"/>
          </a:xfrm>
          <a:prstGeom prst="rect">
            <a:avLst/>
          </a:prstGeom>
          <a:noFill/>
          <a:ln/>
        </p:spPr>
        <p:txBody>
          <a:bodyPr wrap="square" lIns="0" tIns="0" rIns="0" bIns="0" rtlCol="0" anchor="ctr"/>
          <a:lstStyle/>
          <a:p>
            <a:pPr indent="0" marL="0">
              <a:buNone/>
            </a:pPr>
            <a:r>
              <a:rPr lang="en-US" sz="1200" b="1" dirty="0">
                <a:solidFill>
                  <a:srgbClr val="000000"/>
                </a:solidFill>
                <a:latin typeface="Aptos" pitchFamily="34" charset="0"/>
                <a:ea typeface="Aptos" pitchFamily="34" charset="-122"/>
                <a:cs typeface="Aptos" pitchFamily="34" charset="-120"/>
              </a:rPr>
              <a:t>Haddock</a:t>
            </a:r>
            <a:endParaRPr lang="en-US" sz="1200" dirty="0"/>
          </a:p>
        </p:txBody>
      </p:sp>
      <p:sp>
        <p:nvSpPr>
          <p:cNvPr id="16" name="Shape 13"/>
          <p:cNvSpPr/>
          <p:nvPr/>
        </p:nvSpPr>
        <p:spPr>
          <a:xfrm>
            <a:off x="5989320" y="2679192"/>
            <a:ext cx="1234440" cy="438912"/>
          </a:xfrm>
          <a:prstGeom prst="rect">
            <a:avLst/>
          </a:prstGeom>
          <a:solidFill>
            <a:srgbClr val="FFFFFF"/>
          </a:solidFill>
          <a:ln w="9525">
            <a:solidFill>
              <a:srgbClr val="B0B8BC"/>
            </a:solidFill>
            <a:prstDash val="solid"/>
          </a:ln>
        </p:spPr>
      </p:sp>
      <p:sp>
        <p:nvSpPr>
          <p:cNvPr id="17" name="Text 14"/>
          <p:cNvSpPr txBox="1"/>
          <p:nvPr/>
        </p:nvSpPr>
        <p:spPr>
          <a:xfrm>
            <a:off x="6080760" y="2679192"/>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Yarmouth</a:t>
            </a:r>
            <a:endParaRPr lang="en-US" sz="1200" dirty="0"/>
          </a:p>
        </p:txBody>
      </p:sp>
      <p:sp>
        <p:nvSpPr>
          <p:cNvPr id="18" name="Shape 15"/>
          <p:cNvSpPr/>
          <p:nvPr/>
        </p:nvSpPr>
        <p:spPr>
          <a:xfrm>
            <a:off x="7223760" y="2679192"/>
            <a:ext cx="1234440" cy="438912"/>
          </a:xfrm>
          <a:prstGeom prst="rect">
            <a:avLst/>
          </a:prstGeom>
          <a:solidFill>
            <a:srgbClr val="FFFFFF"/>
          </a:solidFill>
          <a:ln w="9525">
            <a:solidFill>
              <a:srgbClr val="B0B8BC"/>
            </a:solidFill>
            <a:prstDash val="solid"/>
          </a:ln>
        </p:spPr>
      </p:sp>
      <p:sp>
        <p:nvSpPr>
          <p:cNvPr id="19" name="Text 16"/>
          <p:cNvSpPr txBox="1"/>
          <p:nvPr/>
        </p:nvSpPr>
        <p:spPr>
          <a:xfrm>
            <a:off x="7315200" y="2679192"/>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$11.99</a:t>
            </a:r>
            <a:endParaRPr lang="en-US" sz="1200" dirty="0"/>
          </a:p>
        </p:txBody>
      </p:sp>
      <p:sp>
        <p:nvSpPr>
          <p:cNvPr id="20" name="Shape 17"/>
          <p:cNvSpPr/>
          <p:nvPr/>
        </p:nvSpPr>
        <p:spPr>
          <a:xfrm>
            <a:off x="4754880" y="3118104"/>
            <a:ext cx="1234440" cy="438912"/>
          </a:xfrm>
          <a:prstGeom prst="rect">
            <a:avLst/>
          </a:prstGeom>
          <a:solidFill>
            <a:srgbClr val="F4F8FA"/>
          </a:solidFill>
          <a:ln w="9525">
            <a:solidFill>
              <a:srgbClr val="B0B8BC"/>
            </a:solidFill>
            <a:prstDash val="solid"/>
          </a:ln>
        </p:spPr>
      </p:sp>
      <p:sp>
        <p:nvSpPr>
          <p:cNvPr id="21" name="Text 18"/>
          <p:cNvSpPr txBox="1"/>
          <p:nvPr/>
        </p:nvSpPr>
        <p:spPr>
          <a:xfrm>
            <a:off x="4846320" y="3118104"/>
            <a:ext cx="1051560" cy="438912"/>
          </a:xfrm>
          <a:prstGeom prst="rect">
            <a:avLst/>
          </a:prstGeom>
          <a:noFill/>
          <a:ln/>
        </p:spPr>
        <p:txBody>
          <a:bodyPr wrap="square" lIns="0" tIns="0" rIns="0" bIns="0" rtlCol="0" anchor="ctr"/>
          <a:lstStyle/>
          <a:p>
            <a:pPr indent="0" marL="0">
              <a:buNone/>
            </a:pPr>
            <a:r>
              <a:rPr lang="en-US" sz="1200" b="1" dirty="0">
                <a:solidFill>
                  <a:srgbClr val="000000"/>
                </a:solidFill>
                <a:latin typeface="Aptos" pitchFamily="34" charset="0"/>
                <a:ea typeface="Aptos" pitchFamily="34" charset="-122"/>
                <a:cs typeface="Aptos" pitchFamily="34" charset="-120"/>
              </a:rPr>
              <a:t>Halibut</a:t>
            </a:r>
            <a:endParaRPr lang="en-US" sz="1200" dirty="0"/>
          </a:p>
        </p:txBody>
      </p:sp>
      <p:sp>
        <p:nvSpPr>
          <p:cNvPr id="22" name="Shape 19"/>
          <p:cNvSpPr/>
          <p:nvPr/>
        </p:nvSpPr>
        <p:spPr>
          <a:xfrm>
            <a:off x="5989320" y="3118104"/>
            <a:ext cx="1234440" cy="438912"/>
          </a:xfrm>
          <a:prstGeom prst="rect">
            <a:avLst/>
          </a:prstGeom>
          <a:solidFill>
            <a:srgbClr val="FFFFFF"/>
          </a:solidFill>
          <a:ln w="9525">
            <a:solidFill>
              <a:srgbClr val="B0B8BC"/>
            </a:solidFill>
            <a:prstDash val="solid"/>
          </a:ln>
        </p:spPr>
      </p:sp>
      <p:sp>
        <p:nvSpPr>
          <p:cNvPr id="23" name="Text 20"/>
          <p:cNvSpPr txBox="1"/>
          <p:nvPr/>
        </p:nvSpPr>
        <p:spPr>
          <a:xfrm>
            <a:off x="6080760" y="3118104"/>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Digby</a:t>
            </a:r>
            <a:endParaRPr lang="en-US" sz="1200" dirty="0"/>
          </a:p>
        </p:txBody>
      </p:sp>
      <p:sp>
        <p:nvSpPr>
          <p:cNvPr id="24" name="Shape 21"/>
          <p:cNvSpPr/>
          <p:nvPr/>
        </p:nvSpPr>
        <p:spPr>
          <a:xfrm>
            <a:off x="7223760" y="3118104"/>
            <a:ext cx="1234440" cy="438912"/>
          </a:xfrm>
          <a:prstGeom prst="rect">
            <a:avLst/>
          </a:prstGeom>
          <a:solidFill>
            <a:srgbClr val="FFFFFF"/>
          </a:solidFill>
          <a:ln w="9525">
            <a:solidFill>
              <a:srgbClr val="B0B8BC"/>
            </a:solidFill>
            <a:prstDash val="solid"/>
          </a:ln>
        </p:spPr>
      </p:sp>
      <p:sp>
        <p:nvSpPr>
          <p:cNvPr id="25" name="Text 22"/>
          <p:cNvSpPr txBox="1"/>
          <p:nvPr/>
        </p:nvSpPr>
        <p:spPr>
          <a:xfrm>
            <a:off x="7315200" y="3118104"/>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$24.50</a:t>
            </a:r>
            <a:endParaRPr lang="en-US" sz="1200" dirty="0"/>
          </a:p>
        </p:txBody>
      </p:sp>
      <p:sp>
        <p:nvSpPr>
          <p:cNvPr id="26" name="Shape 23"/>
          <p:cNvSpPr/>
          <p:nvPr/>
        </p:nvSpPr>
        <p:spPr>
          <a:xfrm>
            <a:off x="4754880" y="3557016"/>
            <a:ext cx="1234440" cy="438912"/>
          </a:xfrm>
          <a:prstGeom prst="rect">
            <a:avLst/>
          </a:prstGeom>
          <a:solidFill>
            <a:srgbClr val="F4F8FA"/>
          </a:solidFill>
          <a:ln w="9525">
            <a:solidFill>
              <a:srgbClr val="B0B8BC"/>
            </a:solidFill>
            <a:prstDash val="solid"/>
          </a:ln>
        </p:spPr>
      </p:sp>
      <p:sp>
        <p:nvSpPr>
          <p:cNvPr id="27" name="Text 24"/>
          <p:cNvSpPr txBox="1"/>
          <p:nvPr/>
        </p:nvSpPr>
        <p:spPr>
          <a:xfrm>
            <a:off x="4846320" y="3557016"/>
            <a:ext cx="1051560" cy="438912"/>
          </a:xfrm>
          <a:prstGeom prst="rect">
            <a:avLst/>
          </a:prstGeom>
          <a:noFill/>
          <a:ln/>
        </p:spPr>
        <p:txBody>
          <a:bodyPr wrap="square" lIns="0" tIns="0" rIns="0" bIns="0" rtlCol="0" anchor="ctr"/>
          <a:lstStyle/>
          <a:p>
            <a:pPr indent="0" marL="0">
              <a:buNone/>
            </a:pPr>
            <a:r>
              <a:rPr lang="en-US" sz="1200" b="1" dirty="0">
                <a:solidFill>
                  <a:srgbClr val="000000"/>
                </a:solidFill>
                <a:latin typeface="Aptos" pitchFamily="34" charset="0"/>
                <a:ea typeface="Aptos" pitchFamily="34" charset="-122"/>
                <a:cs typeface="Aptos" pitchFamily="34" charset="-120"/>
              </a:rPr>
              <a:t>Scallops</a:t>
            </a:r>
            <a:endParaRPr lang="en-US" sz="1200" dirty="0"/>
          </a:p>
        </p:txBody>
      </p:sp>
      <p:sp>
        <p:nvSpPr>
          <p:cNvPr id="28" name="Shape 25"/>
          <p:cNvSpPr/>
          <p:nvPr/>
        </p:nvSpPr>
        <p:spPr>
          <a:xfrm>
            <a:off x="5989320" y="3557016"/>
            <a:ext cx="1234440" cy="438912"/>
          </a:xfrm>
          <a:prstGeom prst="rect">
            <a:avLst/>
          </a:prstGeom>
          <a:solidFill>
            <a:srgbClr val="FFFFFF"/>
          </a:solidFill>
          <a:ln w="9525">
            <a:solidFill>
              <a:srgbClr val="B0B8BC"/>
            </a:solidFill>
            <a:prstDash val="solid"/>
          </a:ln>
        </p:spPr>
      </p:sp>
      <p:sp>
        <p:nvSpPr>
          <p:cNvPr id="29" name="Text 26"/>
          <p:cNvSpPr txBox="1"/>
          <p:nvPr/>
        </p:nvSpPr>
        <p:spPr>
          <a:xfrm>
            <a:off x="6080760" y="3557016"/>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Digby</a:t>
            </a:r>
            <a:endParaRPr lang="en-US" sz="1200" dirty="0"/>
          </a:p>
        </p:txBody>
      </p:sp>
      <p:sp>
        <p:nvSpPr>
          <p:cNvPr id="30" name="Shape 27"/>
          <p:cNvSpPr/>
          <p:nvPr/>
        </p:nvSpPr>
        <p:spPr>
          <a:xfrm>
            <a:off x="7223760" y="3557016"/>
            <a:ext cx="1234440" cy="438912"/>
          </a:xfrm>
          <a:prstGeom prst="rect">
            <a:avLst/>
          </a:prstGeom>
          <a:solidFill>
            <a:srgbClr val="FFFFFF"/>
          </a:solidFill>
          <a:ln w="9525">
            <a:solidFill>
              <a:srgbClr val="B0B8BC"/>
            </a:solidFill>
            <a:prstDash val="solid"/>
          </a:ln>
        </p:spPr>
      </p:sp>
      <p:sp>
        <p:nvSpPr>
          <p:cNvPr id="31" name="Text 28"/>
          <p:cNvSpPr txBox="1"/>
          <p:nvPr/>
        </p:nvSpPr>
        <p:spPr>
          <a:xfrm>
            <a:off x="7315200" y="3557016"/>
            <a:ext cx="1051560" cy="438912"/>
          </a:xfrm>
          <a:prstGeom prst="rect">
            <a:avLst/>
          </a:prstGeom>
          <a:noFill/>
          <a:ln/>
        </p:spPr>
        <p:txBody>
          <a:bodyPr wrap="square" lIns="0" tIns="0" rIns="0" bIns="0" rtlCol="0" anchor="ctr"/>
          <a:lstStyle/>
          <a:p>
            <a:pPr indent="0" marL="0">
              <a:buNone/>
            </a:pPr>
            <a:r>
              <a:rPr lang="en-US" sz="1200" dirty="0">
                <a:solidFill>
                  <a:srgbClr val="000000"/>
                </a:solidFill>
                <a:latin typeface="Aptos" pitchFamily="34" charset="0"/>
                <a:ea typeface="Aptos" pitchFamily="34" charset="-122"/>
                <a:cs typeface="Aptos" pitchFamily="34" charset="-120"/>
              </a:rPr>
              <a:t>$29.99</a:t>
            </a:r>
            <a:endParaRPr lang="en-US" sz="1200" dirty="0"/>
          </a:p>
        </p:txBody>
      </p:sp>
      <p:sp>
        <p:nvSpPr>
          <p:cNvPr id="32" name="Shape 29"/>
          <p:cNvSpPr/>
          <p:nvPr/>
        </p:nvSpPr>
        <p:spPr>
          <a:xfrm>
            <a:off x="8567928" y="2185416"/>
            <a:ext cx="45720" cy="365760"/>
          </a:xfrm>
          <a:prstGeom prst="rect">
            <a:avLst/>
          </a:prstGeom>
          <a:solidFill>
            <a:srgbClr val="12304A"/>
          </a:solidFill>
          <a:ln w="12700">
            <a:solidFill>
              <a:srgbClr val="12304A"/>
            </a:solidFill>
            <a:prstDash val="solid"/>
          </a:ln>
        </p:spPr>
      </p:sp>
      <p:sp>
        <p:nvSpPr>
          <p:cNvPr id="33" name="Text 30"/>
          <p:cNvSpPr txBox="1"/>
          <p:nvPr/>
        </p:nvSpPr>
        <p:spPr>
          <a:xfrm>
            <a:off x="8677656" y="2148840"/>
            <a:ext cx="822960" cy="438912"/>
          </a:xfrm>
          <a:prstGeom prst="rect">
            <a:avLst/>
          </a:prstGeom>
          <a:noFill/>
          <a:ln/>
        </p:spPr>
        <p:txBody>
          <a:bodyPr wrap="square" lIns="0" tIns="0" rIns="0" bIns="0" rtlCol="0" anchor="ctr"/>
          <a:lstStyle/>
          <a:p>
            <a:pPr indent="0" marL="0">
              <a:buNone/>
            </a:pPr>
            <a:r>
              <a:rPr lang="en-US" sz="1200" b="1" dirty="0">
                <a:solidFill>
                  <a:srgbClr val="12304A"/>
                </a:solidFill>
                <a:latin typeface="Consolas" pitchFamily="34" charset="0"/>
                <a:ea typeface="Consolas" pitchFamily="34" charset="-122"/>
                <a:cs typeface="Consolas" pitchFamily="34" charset="-120"/>
              </a:rPr>
              <a:t>&lt;thead&gt;</a:t>
            </a:r>
            <a:endParaRPr lang="en-US" sz="1200" dirty="0"/>
          </a:p>
        </p:txBody>
      </p:sp>
      <p:sp>
        <p:nvSpPr>
          <p:cNvPr id="34" name="Shape 31"/>
          <p:cNvSpPr/>
          <p:nvPr/>
        </p:nvSpPr>
        <p:spPr>
          <a:xfrm>
            <a:off x="8567928" y="2715768"/>
            <a:ext cx="45720" cy="1243584"/>
          </a:xfrm>
          <a:prstGeom prst="rect">
            <a:avLst/>
          </a:prstGeom>
          <a:solidFill>
            <a:srgbClr val="1B5E82"/>
          </a:solidFill>
          <a:ln w="12700">
            <a:solidFill>
              <a:srgbClr val="1B5E82"/>
            </a:solidFill>
            <a:prstDash val="solid"/>
          </a:ln>
        </p:spPr>
      </p:sp>
      <p:sp>
        <p:nvSpPr>
          <p:cNvPr id="35" name="Text 32"/>
          <p:cNvSpPr txBox="1"/>
          <p:nvPr/>
        </p:nvSpPr>
        <p:spPr>
          <a:xfrm>
            <a:off x="8677656" y="2679192"/>
            <a:ext cx="822960" cy="1316736"/>
          </a:xfrm>
          <a:prstGeom prst="rect">
            <a:avLst/>
          </a:prstGeom>
          <a:noFill/>
          <a:ln/>
        </p:spPr>
        <p:txBody>
          <a:bodyPr wrap="square" lIns="0" tIns="0" rIns="0" bIns="0" rtlCol="0" anchor="ctr"/>
          <a:lstStyle/>
          <a:p>
            <a:pPr indent="0" marL="0">
              <a:buNone/>
            </a:pPr>
            <a:r>
              <a:rPr lang="en-US" sz="1200" b="1" dirty="0">
                <a:solidFill>
                  <a:srgbClr val="1B5E82"/>
                </a:solidFill>
                <a:latin typeface="Consolas" pitchFamily="34" charset="0"/>
                <a:ea typeface="Consolas" pitchFamily="34" charset="-122"/>
                <a:cs typeface="Consolas" pitchFamily="34" charset="-120"/>
              </a:rPr>
              <a:t>&lt;tbody&gt;</a:t>
            </a:r>
            <a:endParaRPr lang="en-US" sz="1200" dirty="0"/>
          </a:p>
        </p:txBody>
      </p:sp>
      <p:sp>
        <p:nvSpPr>
          <p:cNvPr id="36" name="Text 33"/>
          <p:cNvSpPr txBox="1"/>
          <p:nvPr/>
        </p:nvSpPr>
        <p:spPr>
          <a:xfrm>
            <a:off x="4754880" y="420624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&lt;caption&gt;</a:t>
            </a:r>
            <a:endParaRPr lang="en-US" sz="1300" dirty="0"/>
          </a:p>
        </p:txBody>
      </p:sp>
      <p:sp>
        <p:nvSpPr>
          <p:cNvPr id="37" name="Text 34"/>
          <p:cNvSpPr txBox="1"/>
          <p:nvPr/>
        </p:nvSpPr>
        <p:spPr>
          <a:xfrm>
            <a:off x="7086600" y="420624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The table's name: read out first</a:t>
            </a:r>
            <a:endParaRPr lang="en-US" sz="1350" dirty="0"/>
          </a:p>
        </p:txBody>
      </p:sp>
      <p:sp>
        <p:nvSpPr>
          <p:cNvPr id="38" name="Text 35"/>
          <p:cNvSpPr txBox="1"/>
          <p:nvPr/>
        </p:nvSpPr>
        <p:spPr>
          <a:xfrm>
            <a:off x="4754880" y="457200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&lt;thead&gt; &lt;tbody&gt;</a:t>
            </a:r>
            <a:endParaRPr lang="en-US" sz="1300" dirty="0"/>
          </a:p>
        </p:txBody>
      </p:sp>
      <p:sp>
        <p:nvSpPr>
          <p:cNvPr id="39" name="Text 36"/>
          <p:cNvSpPr txBox="1"/>
          <p:nvPr/>
        </p:nvSpPr>
        <p:spPr>
          <a:xfrm>
            <a:off x="7086600" y="457200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The header rows, and the data rows</a:t>
            </a:r>
            <a:endParaRPr lang="en-US" sz="1350" dirty="0"/>
          </a:p>
        </p:txBody>
      </p:sp>
      <p:sp>
        <p:nvSpPr>
          <p:cNvPr id="40" name="Text 37"/>
          <p:cNvSpPr txBox="1"/>
          <p:nvPr/>
        </p:nvSpPr>
        <p:spPr>
          <a:xfrm>
            <a:off x="4754880" y="493776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&lt;tr&gt;</a:t>
            </a:r>
            <a:endParaRPr lang="en-US" sz="1300" dirty="0"/>
          </a:p>
        </p:txBody>
      </p:sp>
      <p:sp>
        <p:nvSpPr>
          <p:cNvPr id="41" name="Text 38"/>
          <p:cNvSpPr txBox="1"/>
          <p:nvPr/>
        </p:nvSpPr>
        <p:spPr>
          <a:xfrm>
            <a:off x="7086600" y="493776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 table row</a:t>
            </a:r>
            <a:endParaRPr lang="en-US" sz="1350" dirty="0"/>
          </a:p>
        </p:txBody>
      </p:sp>
      <p:sp>
        <p:nvSpPr>
          <p:cNvPr id="42" name="Text 39"/>
          <p:cNvSpPr txBox="1"/>
          <p:nvPr/>
        </p:nvSpPr>
        <p:spPr>
          <a:xfrm>
            <a:off x="4754880" y="530352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&lt;th scope="col"&gt;</a:t>
            </a:r>
            <a:endParaRPr lang="en-US" sz="1300" dirty="0"/>
          </a:p>
        </p:txBody>
      </p:sp>
      <p:sp>
        <p:nvSpPr>
          <p:cNvPr id="43" name="Text 40"/>
          <p:cNvSpPr txBox="1"/>
          <p:nvPr/>
        </p:nvSpPr>
        <p:spPr>
          <a:xfrm>
            <a:off x="7086600" y="530352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 heading for the column below</a:t>
            </a:r>
            <a:endParaRPr lang="en-US" sz="1350" dirty="0"/>
          </a:p>
        </p:txBody>
      </p:sp>
      <p:sp>
        <p:nvSpPr>
          <p:cNvPr id="44" name="Text 41"/>
          <p:cNvSpPr txBox="1"/>
          <p:nvPr/>
        </p:nvSpPr>
        <p:spPr>
          <a:xfrm>
            <a:off x="4754880" y="566928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&lt;th scope="row"&gt;</a:t>
            </a:r>
            <a:endParaRPr lang="en-US" sz="1300" dirty="0"/>
          </a:p>
        </p:txBody>
      </p:sp>
      <p:sp>
        <p:nvSpPr>
          <p:cNvPr id="45" name="Text 42"/>
          <p:cNvSpPr txBox="1"/>
          <p:nvPr/>
        </p:nvSpPr>
        <p:spPr>
          <a:xfrm>
            <a:off x="7086600" y="566928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 heading for the row beside it</a:t>
            </a:r>
            <a:endParaRPr lang="en-US" sz="1350" dirty="0"/>
          </a:p>
        </p:txBody>
      </p:sp>
      <p:sp>
        <p:nvSpPr>
          <p:cNvPr id="46" name="Text 43"/>
          <p:cNvSpPr txBox="1"/>
          <p:nvPr/>
        </p:nvSpPr>
        <p:spPr>
          <a:xfrm>
            <a:off x="4754880" y="6035040"/>
            <a:ext cx="2286000" cy="329184"/>
          </a:xfrm>
          <a:prstGeom prst="rect">
            <a:avLst/>
          </a:prstGeom>
          <a:noFill/>
          <a:ln/>
        </p:spPr>
        <p:txBody>
          <a:bodyPr wrap="square" lIns="0" tIns="0" rIns="0" bIns="0" rtlCol="0" anchor="ctr"/>
          <a:lstStyle/>
          <a:p>
            <a:pPr indent="0" marL="0">
              <a:buNone/>
            </a:pPr>
            <a:r>
              <a:rPr lang="en-US" sz="1300" b="1" dirty="0">
                <a:solidFill>
                  <a:srgbClr val="8A2B0B"/>
                </a:solidFill>
                <a:latin typeface="Consolas" pitchFamily="34" charset="0"/>
                <a:ea typeface="Consolas" pitchFamily="34" charset="-122"/>
                <a:cs typeface="Consolas" pitchFamily="34" charset="-120"/>
              </a:rPr>
              <a:t>&lt;td&gt;</a:t>
            </a:r>
            <a:endParaRPr lang="en-US" sz="1300" dirty="0"/>
          </a:p>
        </p:txBody>
      </p:sp>
      <p:sp>
        <p:nvSpPr>
          <p:cNvPr id="47" name="Text 44"/>
          <p:cNvSpPr txBox="1"/>
          <p:nvPr/>
        </p:nvSpPr>
        <p:spPr>
          <a:xfrm>
            <a:off x="7086600" y="6035040"/>
            <a:ext cx="4572000" cy="329184"/>
          </a:xfrm>
          <a:prstGeom prst="rect">
            <a:avLst/>
          </a:prstGeom>
          <a:noFill/>
          <a:ln/>
        </p:spPr>
        <p:txBody>
          <a:bodyPr wrap="square" lIns="0" tIns="0" rIns="0" bIns="0" rtlCol="0" anchor="ctr"/>
          <a:lstStyle/>
          <a:p>
            <a:pPr indent="0" marL="0">
              <a:buNone/>
            </a:pPr>
            <a:r>
              <a:rPr lang="en-US" sz="1350" dirty="0">
                <a:solidFill>
                  <a:srgbClr val="262626"/>
                </a:solidFill>
                <a:latin typeface="Aptos" pitchFamily="34" charset="0"/>
                <a:ea typeface="Aptos" pitchFamily="34" charset="-122"/>
                <a:cs typeface="Aptos" pitchFamily="34" charset="-120"/>
              </a:rPr>
              <a:t>A table data cell: the actual data</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525780"/>
            <a:ext cx="5852160" cy="580644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754380"/>
            <a:ext cx="5394960" cy="5349240"/>
          </a:xfrm>
          <a:prstGeom prst="rect">
            <a:avLst/>
          </a:prstGeom>
          <a:noFill/>
          <a:ln/>
        </p:spPr>
        <p:txBody>
          <a:bodyPr wrap="square" lIns="0" tIns="0" rIns="0" bIns="0" rtlCol="0" anchor="t"/>
          <a:lstStyle/>
          <a:p>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caption</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Fresh Fish Prices</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caption</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thead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Fish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Caught in</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Price / lb</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thead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tbody</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"row"</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Haddock</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Yarmouth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$11.99</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500" dirty="0">
                <a:solidFill>
                  <a:srgbClr val="CE9178"/>
                </a:solidFill>
                <a:latin typeface="Consolas" pitchFamily="34" charset="0"/>
                <a:ea typeface="Consolas" pitchFamily="34" charset="-122"/>
                <a:cs typeface="Consolas" pitchFamily="34" charset="-120"/>
              </a:rPr>
              <a:t>"row"</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Halibut</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Digby</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$24.50</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6A9955"/>
                </a:solidFill>
                <a:latin typeface="Consolas" pitchFamily="34" charset="0"/>
                <a:ea typeface="Consolas" pitchFamily="34" charset="-122"/>
                <a:cs typeface="Consolas" pitchFamily="34" charset="-120"/>
              </a:rPr>
              <a:t>&lt;!-- …two more rows… --&gt;</a:t>
            </a:r>
            <a:endParaRPr lang="en-US" sz="1500" dirty="0"/>
          </a:p>
          <a:p>
            <a:pPr indent="0" marL="0">
              <a:lnSpc>
                <a:spcPct val="100000"/>
              </a:lnSpc>
              <a:buNone/>
            </a:pPr>
            <a:r>
              <a:rPr lang="en-US" sz="15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tbody</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a:p>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5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500" dirty="0">
                <a:solidFill>
                  <a:srgbClr val="808080"/>
                </a:solidFill>
                <a:latin typeface="Consolas" pitchFamily="34" charset="0"/>
                <a:ea typeface="Consolas" pitchFamily="34" charset="-122"/>
                <a:cs typeface="Consolas" pitchFamily="34" charset="-120"/>
              </a:rPr>
              <a:t>&gt;</a:t>
            </a:r>
            <a:endParaRPr lang="en-US" sz="15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TABLES 1 · EXAMPLE 05</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A Table, No CSS</a:t>
            </a:r>
            <a:endParaRPr lang="en-US" sz="3200" dirty="0"/>
          </a:p>
        </p:txBody>
      </p:sp>
      <p:pic>
        <p:nvPicPr>
          <p:cNvPr id="7" name="Image 1" descr="C:\Repos\2026-2027\WEBD1000\07_Navigation_Tables_Validation\_build\shots\ex05.png">    </p:cNvPr>
          <p:cNvPicPr>
            <a:picLocks noChangeAspect="1"/>
          </p:cNvPicPr>
          <p:nvPr/>
        </p:nvPicPr>
        <p:blipFill>
          <a:blip r:embed="rId2"/>
          <a:stretch>
            <a:fillRect/>
          </a:stretch>
        </p:blipFill>
        <p:spPr>
          <a:xfrm>
            <a:off x="6812280" y="4230746"/>
            <a:ext cx="4967935" cy="1987174"/>
          </a:xfrm>
          <a:prstGeom prst="rect">
            <a:avLst/>
          </a:prstGeom>
        </p:spPr>
      </p:pic>
      <p:sp>
        <p:nvSpPr>
          <p:cNvPr id="8" name="Shape 4"/>
          <p:cNvSpPr/>
          <p:nvPr/>
        </p:nvSpPr>
        <p:spPr>
          <a:xfrm>
            <a:off x="6812280" y="4230746"/>
            <a:ext cx="4967935" cy="1987174"/>
          </a:xfrm>
          <a:prstGeom prst="rect">
            <a:avLst/>
          </a:prstGeom>
          <a:ln w="12700">
            <a:solidFill>
              <a:srgbClr val="B0B8BC"/>
            </a:solidFill>
            <a:prstDash val="solid"/>
          </a:ln>
        </p:spPr>
      </p:sp>
      <p:sp>
        <p:nvSpPr>
          <p:cNvPr id="9" name="Text 5"/>
          <p:cNvSpPr txBox="1"/>
          <p:nvPr/>
        </p:nvSpPr>
        <p:spPr>
          <a:xfrm>
            <a:off x="6812280" y="3938138"/>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337938"/>
          </a:xfrm>
          <a:prstGeom prst="rect">
            <a:avLst/>
          </a:prstGeom>
          <a:noFill/>
          <a:ln/>
        </p:spPr>
        <p:txBody>
          <a:bodyPr wrap="square" lIns="0" tIns="0" rIns="0" bIns="0" rtlCol="0" anchor="t"/>
          <a:lstStyle/>
          <a:p>
            <a:pPr marL="342900" indent="-342900">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The browser bolds and centres every </a:t>
            </a:r>
            <a:pPr indent="0" marL="0">
              <a:buNone/>
            </a:pPr>
            <a:r>
              <a:rPr lang="en-US" sz="1400" dirty="0">
                <a:solidFill>
                  <a:srgbClr val="8A2B0B"/>
                </a:solidFill>
                <a:latin typeface="Consolas" pitchFamily="34" charset="0"/>
                <a:ea typeface="Consolas" pitchFamily="34" charset="-122"/>
                <a:cs typeface="Consolas" pitchFamily="34" charset="-120"/>
              </a:rPr>
              <a:t>th</a:t>
            </a:r>
            <a:pPr indent="0" marL="0">
              <a:buNone/>
            </a:pPr>
            <a:r>
              <a:rPr lang="en-US" sz="1400" dirty="0">
                <a:solidFill>
                  <a:srgbClr val="262626"/>
                </a:solidFill>
                <a:latin typeface="Aptos" pitchFamily="34" charset="0"/>
                <a:ea typeface="Aptos" pitchFamily="34" charset="-122"/>
                <a:cs typeface="Aptos" pitchFamily="34" charset="-120"/>
              </a:rPr>
              <a:t>. There are no borders yet.</a:t>
            </a:r>
            <a:endParaRPr lang="en-US" sz="1400" dirty="0"/>
          </a:p>
          <a:p>
            <a:pPr marL="342900" indent="-342900">
              <a:spcBef>
                <a:spcPts val="900"/>
              </a:spcBef>
              <a:buSzPct val="100000"/>
              <a:buChar char="•"/>
            </a:pPr>
            <a:r>
              <a:rPr lang="en-US" sz="1400" dirty="0">
                <a:solidFill>
                  <a:srgbClr val="262626"/>
                </a:solidFill>
                <a:latin typeface="Aptos" pitchFamily="34" charset="0"/>
                <a:ea typeface="Aptos" pitchFamily="34" charset="-122"/>
                <a:cs typeface="Aptos" pitchFamily="34" charset="-120"/>
              </a:rPr>
              <a:t>​</a:t>
            </a:r>
            <a:pPr indent="0" marL="0">
              <a:buNone/>
            </a:pPr>
            <a:r>
              <a:rPr lang="en-US" sz="1400" dirty="0">
                <a:solidFill>
                  <a:srgbClr val="262626"/>
                </a:solidFill>
                <a:latin typeface="Aptos" pitchFamily="34" charset="0"/>
                <a:ea typeface="Aptos" pitchFamily="34" charset="-122"/>
                <a:cs typeface="Aptos" pitchFamily="34" charset="-120"/>
              </a:rPr>
              <a:t>Write the </a:t>
            </a:r>
            <a:pPr indent="0" marL="0">
              <a:buNone/>
            </a:pPr>
            <a:r>
              <a:rPr lang="en-US" sz="1400" b="1" dirty="0">
                <a:solidFill>
                  <a:srgbClr val="262626"/>
                </a:solidFill>
                <a:latin typeface="Aptos" pitchFamily="34" charset="0"/>
                <a:ea typeface="Aptos" pitchFamily="34" charset="-122"/>
                <a:cs typeface="Aptos" pitchFamily="34" charset="-120"/>
              </a:rPr>
              <a:t>structure first</a:t>
            </a:r>
            <a:pPr indent="0" marL="0">
              <a:buNone/>
            </a:pPr>
            <a:r>
              <a:rPr lang="en-US" sz="1400" dirty="0">
                <a:solidFill>
                  <a:srgbClr val="262626"/>
                </a:solidFill>
                <a:latin typeface="Aptos" pitchFamily="34" charset="0"/>
                <a:ea typeface="Aptos" pitchFamily="34" charset="-122"/>
                <a:cs typeface="Aptos" pitchFamily="34" charset="-120"/>
              </a:rPr>
              <a:t>: caption, thead, tbody, th with scope. Then style it.</a:t>
            </a:r>
            <a:endParaRPr lang="en-US" sz="140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05_table_structure_example.html</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365760"/>
            <a:ext cx="5852160" cy="612648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594360"/>
            <a:ext cx="5394960" cy="5669280"/>
          </a:xfrm>
          <a:prstGeom prst="rect">
            <a:avLst/>
          </a:prstGeom>
          <a:noFill/>
          <a:ln/>
        </p:spPr>
        <p:txBody>
          <a:bodyPr wrap="square" lIns="0" tIns="0" rIns="0" bIns="0" rtlCol="0" anchor="t"/>
          <a:lstStyle/>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collapse = one line between cells, not two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table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border-collapse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collapse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caption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padding-bottom</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th, td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border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#D0D7DB</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thead th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endParaRPr lang="en-US" sz="1350" dirty="0"/>
          </a:p>
          <a:p>
            <a:pPr indent="0" marL="0">
              <a:lnSpc>
                <a:spcPct val="100000"/>
              </a:lnSpc>
              <a:buNone/>
            </a:pPr>
            <a:r>
              <a:rPr lang="en-US" sz="1350" dirty="0">
                <a:solidFill>
                  <a:srgbClr val="6A9955"/>
                </a:solidFill>
                <a:latin typeface="Consolas" pitchFamily="34" charset="0"/>
                <a:ea typeface="Consolas" pitchFamily="34" charset="-122"/>
                <a:cs typeface="Consolas" pitchFamily="34" charset="-120"/>
              </a:rPr>
              <a:t>/* Line up the prices on the right */</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th:last-child,</a:t>
            </a:r>
            <a:endParaRPr lang="en-US" sz="1350" dirty="0"/>
          </a:p>
          <a:p>
            <a:pPr indent="0" marL="0">
              <a:lnSpc>
                <a:spcPct val="100000"/>
              </a:lnSpc>
              <a:buNone/>
            </a:pPr>
            <a:r>
              <a:rPr lang="en-US" sz="1350" dirty="0">
                <a:solidFill>
                  <a:srgbClr val="D7BA7D"/>
                </a:solidFill>
                <a:latin typeface="Consolas" pitchFamily="34" charset="0"/>
                <a:ea typeface="Consolas" pitchFamily="34" charset="-122"/>
                <a:cs typeface="Consolas" pitchFamily="34" charset="-120"/>
              </a:rPr>
              <a:t>td:last-child </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350" dirty="0">
                <a:solidFill>
                  <a:srgbClr val="CE9178"/>
                </a:solidFill>
                <a:latin typeface="Consolas" pitchFamily="34" charset="0"/>
                <a:ea typeface="Consolas" pitchFamily="34" charset="-122"/>
                <a:cs typeface="Consolas" pitchFamily="34" charset="-120"/>
              </a:rPr>
              <a:t>right</a:t>
            </a:r>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a:p>
            <a:pPr indent="0" marL="0">
              <a:lnSpc>
                <a:spcPct val="100000"/>
              </a:lnSpc>
              <a:buNone/>
            </a:pPr>
            <a:r>
              <a:rPr lang="en-US" sz="1350" dirty="0">
                <a:solidFill>
                  <a:srgbClr val="D4D4D4"/>
                </a:solidFill>
                <a:latin typeface="Consolas" pitchFamily="34" charset="0"/>
                <a:ea typeface="Consolas" pitchFamily="34" charset="-122"/>
                <a:cs typeface="Consolas" pitchFamily="34" charset="-120"/>
              </a:rPr>
              <a:t>}</a:t>
            </a:r>
            <a:endParaRPr lang="en-US" sz="135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TABLES 2 · EXAMPLE 06</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Styling a Table</a:t>
            </a:r>
            <a:endParaRPr lang="en-US" sz="3200" dirty="0"/>
          </a:p>
        </p:txBody>
      </p:sp>
      <p:pic>
        <p:nvPicPr>
          <p:cNvPr id="7" name="Image 1" descr="C:\Repos\2026-2027\WEBD1000\07_Navigation_Tables_Validation\_build\shots\ex06.png">    </p:cNvPr>
          <p:cNvPicPr>
            <a:picLocks noChangeAspect="1"/>
          </p:cNvPicPr>
          <p:nvPr/>
        </p:nvPicPr>
        <p:blipFill>
          <a:blip r:embed="rId2"/>
          <a:stretch>
            <a:fillRect/>
          </a:stretch>
        </p:blipFill>
        <p:spPr>
          <a:xfrm>
            <a:off x="6812280" y="4230746"/>
            <a:ext cx="4967935" cy="1987174"/>
          </a:xfrm>
          <a:prstGeom prst="rect">
            <a:avLst/>
          </a:prstGeom>
        </p:spPr>
      </p:pic>
      <p:sp>
        <p:nvSpPr>
          <p:cNvPr id="8" name="Shape 4"/>
          <p:cNvSpPr/>
          <p:nvPr/>
        </p:nvSpPr>
        <p:spPr>
          <a:xfrm>
            <a:off x="6812280" y="4230746"/>
            <a:ext cx="4967935" cy="1987174"/>
          </a:xfrm>
          <a:prstGeom prst="rect">
            <a:avLst/>
          </a:prstGeom>
          <a:ln w="12700">
            <a:solidFill>
              <a:srgbClr val="B0B8BC"/>
            </a:solidFill>
            <a:prstDash val="solid"/>
          </a:ln>
        </p:spPr>
      </p:sp>
      <p:sp>
        <p:nvSpPr>
          <p:cNvPr id="9" name="Text 5"/>
          <p:cNvSpPr txBox="1"/>
          <p:nvPr/>
        </p:nvSpPr>
        <p:spPr>
          <a:xfrm>
            <a:off x="6812280" y="3938138"/>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a:t>
            </a:r>
            <a:endParaRPr lang="en-US" sz="1100" dirty="0"/>
          </a:p>
        </p:txBody>
      </p:sp>
      <p:sp>
        <p:nvSpPr>
          <p:cNvPr id="10" name="Text 6"/>
          <p:cNvSpPr txBox="1"/>
          <p:nvPr/>
        </p:nvSpPr>
        <p:spPr>
          <a:xfrm>
            <a:off x="6812280" y="1508760"/>
            <a:ext cx="4967935" cy="2337938"/>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border-collapse: collapse</a:t>
            </a:r>
            <a:pPr indent="0" marL="0">
              <a:buNone/>
            </a:pPr>
            <a:r>
              <a:rPr lang="en-US" sz="1350" dirty="0">
                <a:solidFill>
                  <a:srgbClr val="262626"/>
                </a:solidFill>
                <a:latin typeface="Aptos" pitchFamily="34" charset="0"/>
                <a:ea typeface="Aptos" pitchFamily="34" charset="-122"/>
                <a:cs typeface="Aptos" pitchFamily="34" charset="-120"/>
              </a:rPr>
              <a:t>: one line between cells, not two.</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Borders and padding go on the </a:t>
            </a:r>
            <a:pPr indent="0" marL="0">
              <a:buNone/>
            </a:pPr>
            <a:r>
              <a:rPr lang="en-US" sz="1350" b="1" dirty="0">
                <a:solidFill>
                  <a:srgbClr val="262626"/>
                </a:solidFill>
                <a:latin typeface="Aptos" pitchFamily="34" charset="0"/>
                <a:ea typeface="Aptos" pitchFamily="34" charset="-122"/>
                <a:cs typeface="Aptos" pitchFamily="34" charset="-120"/>
              </a:rPr>
              <a:t>cells</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th, td</a:t>
            </a:r>
            <a:pPr indent="0" marL="0">
              <a:buNone/>
            </a:pPr>
            <a:r>
              <a:rPr lang="en-US" sz="1350" dirty="0">
                <a:solidFill>
                  <a:srgbClr val="262626"/>
                </a:solidFill>
                <a:latin typeface="Aptos" pitchFamily="34" charset="0"/>
                <a:ea typeface="Aptos" pitchFamily="34" charset="-122"/>
                <a:cs typeface="Aptos" pitchFamily="34" charset="-120"/>
              </a:rPr>
              <a:t>), not the table.</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Line numbers up on the </a:t>
            </a:r>
            <a:pPr indent="0" marL="0">
              <a:buNone/>
            </a:pPr>
            <a:r>
              <a:rPr lang="en-US" sz="1350" b="1" dirty="0">
                <a:solidFill>
                  <a:srgbClr val="262626"/>
                </a:solidFill>
                <a:latin typeface="Aptos" pitchFamily="34" charset="0"/>
                <a:ea typeface="Aptos" pitchFamily="34" charset="-122"/>
                <a:cs typeface="Aptos" pitchFamily="34" charset="-120"/>
              </a:rPr>
              <a:t>right</a:t>
            </a:r>
            <a:pPr indent="0" marL="0">
              <a:buNone/>
            </a:pPr>
            <a:r>
              <a:rPr lang="en-US" sz="1350" dirty="0">
                <a:solidFill>
                  <a:srgbClr val="262626"/>
                </a:solidFill>
                <a:latin typeface="Aptos" pitchFamily="34" charset="0"/>
                <a:ea typeface="Aptos" pitchFamily="34" charset="-122"/>
                <a:cs typeface="Aptos" pitchFamily="34" charset="-120"/>
              </a:rPr>
              <a:t>: </a:t>
            </a:r>
            <a:pPr indent="0" marL="0">
              <a:buNone/>
            </a:pPr>
            <a:r>
              <a:rPr lang="en-US" sz="1350" dirty="0">
                <a:solidFill>
                  <a:srgbClr val="8A2B0B"/>
                </a:solidFill>
                <a:latin typeface="Consolas" pitchFamily="34" charset="0"/>
                <a:ea typeface="Consolas" pitchFamily="34" charset="-122"/>
                <a:cs typeface="Consolas" pitchFamily="34" charset="-120"/>
              </a:rPr>
              <a:t>td:last-child</a:t>
            </a:r>
            <a:pPr indent="0" marL="0">
              <a:buNone/>
            </a:pPr>
            <a:r>
              <a:rPr lang="en-US" sz="1350" dirty="0">
                <a:solidFill>
                  <a:srgbClr val="262626"/>
                </a:solidFill>
                <a:latin typeface="Aptos" pitchFamily="34" charset="0"/>
                <a:ea typeface="Aptos" pitchFamily="34" charset="-122"/>
                <a:cs typeface="Aptos" pitchFamily="34" charset="-120"/>
              </a:rPr>
              <a:t> (a Class 9 selector).</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06_table_styled_example.html</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947651"/>
            <a:ext cx="5852160" cy="4962698"/>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176251"/>
            <a:ext cx="5394960" cy="4505498"/>
          </a:xfrm>
          <a:prstGeom prst="rect">
            <a:avLst/>
          </a:prstGeom>
          <a:noFill/>
          <a:ln/>
        </p:spPr>
        <p:txBody>
          <a:bodyPr wrap="square" lIns="0" tIns="0" rIns="0" bIns="0" rtlCol="0" anchor="t"/>
          <a:lstStyle/>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Lines between rows only: cleaner than a full grid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th, td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1px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#D0D7DB</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thead th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tbody: so the header row isn't counted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tbody tr:nth-child(even)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#E1E8EB</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Helps your eye follow a row across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tbody tr:hover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#FBE9DF</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TABLES 3 · EXAMPLE 07</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Zebra Stripes</a:t>
            </a:r>
            <a:endParaRPr lang="en-US" sz="3200" dirty="0"/>
          </a:p>
        </p:txBody>
      </p:sp>
      <p:pic>
        <p:nvPicPr>
          <p:cNvPr id="7" name="Image 1" descr="C:\Repos\2026-2027\WEBD1000\07_Navigation_Tables_Validation\_build\shots\ex07.png">    </p:cNvPr>
          <p:cNvPicPr>
            <a:picLocks noChangeAspect="1"/>
          </p:cNvPicPr>
          <p:nvPr/>
        </p:nvPicPr>
        <p:blipFill>
          <a:blip r:embed="rId2"/>
          <a:stretch>
            <a:fillRect/>
          </a:stretch>
        </p:blipFill>
        <p:spPr>
          <a:xfrm>
            <a:off x="6812280" y="3531276"/>
            <a:ext cx="4967935" cy="2732364"/>
          </a:xfrm>
          <a:prstGeom prst="rect">
            <a:avLst/>
          </a:prstGeom>
        </p:spPr>
      </p:pic>
      <p:sp>
        <p:nvSpPr>
          <p:cNvPr id="8" name="Shape 4"/>
          <p:cNvSpPr/>
          <p:nvPr/>
        </p:nvSpPr>
        <p:spPr>
          <a:xfrm>
            <a:off x="6812280" y="3531276"/>
            <a:ext cx="4967935" cy="2732364"/>
          </a:xfrm>
          <a:prstGeom prst="rect">
            <a:avLst/>
          </a:prstGeom>
          <a:ln w="12700">
            <a:solidFill>
              <a:srgbClr val="B0B8BC"/>
            </a:solidFill>
            <a:prstDash val="solid"/>
          </a:ln>
        </p:spPr>
      </p:sp>
      <p:sp>
        <p:nvSpPr>
          <p:cNvPr id="9" name="Text 5"/>
          <p:cNvSpPr txBox="1"/>
          <p:nvPr/>
        </p:nvSpPr>
        <p:spPr>
          <a:xfrm>
            <a:off x="6812280" y="3238668"/>
            <a:ext cx="4967935"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RESULT (MOUSE OVER SCALLOPS)</a:t>
            </a:r>
            <a:endParaRPr lang="en-US" sz="1100" dirty="0"/>
          </a:p>
        </p:txBody>
      </p:sp>
      <p:sp>
        <p:nvSpPr>
          <p:cNvPr id="10" name="Text 6"/>
          <p:cNvSpPr txBox="1"/>
          <p:nvPr/>
        </p:nvSpPr>
        <p:spPr>
          <a:xfrm>
            <a:off x="6812280" y="1508760"/>
            <a:ext cx="4967935" cy="1638468"/>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tbody tr:nth-child(even)</a:t>
            </a:r>
            <a:pPr indent="0" marL="0">
              <a:buNone/>
            </a:pPr>
            <a:r>
              <a:rPr lang="en-US" sz="1350" dirty="0">
                <a:solidFill>
                  <a:srgbClr val="262626"/>
                </a:solidFill>
                <a:latin typeface="Aptos" pitchFamily="34" charset="0"/>
                <a:ea typeface="Aptos" pitchFamily="34" charset="-122"/>
                <a:cs typeface="Aptos" pitchFamily="34" charset="-120"/>
              </a:rPr>
              <a:t>: every second data row. Add a row and the stripes still work.</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tbody</a:t>
            </a:r>
            <a:pPr indent="0" marL="0">
              <a:buNone/>
            </a:pPr>
            <a:r>
              <a:rPr lang="en-US" sz="1350" dirty="0">
                <a:solidFill>
                  <a:srgbClr val="262626"/>
                </a:solidFill>
                <a:latin typeface="Aptos" pitchFamily="34" charset="0"/>
                <a:ea typeface="Aptos" pitchFamily="34" charset="-122"/>
                <a:cs typeface="Aptos" pitchFamily="34" charset="-120"/>
              </a:rPr>
              <a:t> so the header row isn't counted. </a:t>
            </a:r>
            <a:pPr indent="0" marL="0">
              <a:buNone/>
            </a:pPr>
            <a:r>
              <a:rPr lang="en-US" sz="1350" dirty="0">
                <a:solidFill>
                  <a:srgbClr val="8A2B0B"/>
                </a:solidFill>
                <a:latin typeface="Consolas" pitchFamily="34" charset="0"/>
                <a:ea typeface="Consolas" pitchFamily="34" charset="-122"/>
                <a:cs typeface="Consolas" pitchFamily="34" charset="-120"/>
              </a:rPr>
              <a:t>tr:hover</a:t>
            </a:r>
            <a:pPr indent="0" marL="0">
              <a:buNone/>
            </a:pPr>
            <a:r>
              <a:rPr lang="en-US" sz="1350" dirty="0">
                <a:solidFill>
                  <a:srgbClr val="262626"/>
                </a:solidFill>
                <a:latin typeface="Aptos" pitchFamily="34" charset="0"/>
                <a:ea typeface="Aptos" pitchFamily="34" charset="-122"/>
                <a:cs typeface="Aptos" pitchFamily="34" charset="-120"/>
              </a:rPr>
              <a:t> helps the eye follow a row.</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07_table_zebra_example.html</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C:\Repos\2026-2027\WEBD1000\07_Navigation_Tables_Validation\_build\grad_left.png">    </p:cNvPr>
          <p:cNvPicPr>
            <a:picLocks noChangeAspect="1"/>
          </p:cNvPicPr>
          <p:nvPr/>
        </p:nvPicPr>
        <p:blipFill>
          <a:blip r:embed="rId1"/>
          <a:stretch>
            <a:fillRect/>
          </a:stretch>
        </p:blipFill>
        <p:spPr>
          <a:xfrm>
            <a:off x="0" y="0"/>
            <a:ext cx="6400800" cy="6858000"/>
          </a:xfrm>
          <a:prstGeom prst="rect">
            <a:avLst/>
          </a:prstGeom>
        </p:spPr>
      </p:pic>
      <p:sp>
        <p:nvSpPr>
          <p:cNvPr id="3" name="Shape 0"/>
          <p:cNvSpPr/>
          <p:nvPr/>
        </p:nvSpPr>
        <p:spPr>
          <a:xfrm>
            <a:off x="274320" y="1441994"/>
            <a:ext cx="5852160" cy="3974011"/>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4" name="Text 1"/>
          <p:cNvSpPr txBox="1"/>
          <p:nvPr/>
        </p:nvSpPr>
        <p:spPr>
          <a:xfrm>
            <a:off x="502920" y="1670594"/>
            <a:ext cx="5394960" cy="3516811"/>
          </a:xfrm>
          <a:prstGeom prst="rect">
            <a:avLst/>
          </a:prstGeom>
          <a:noFill/>
          <a:ln/>
        </p:spPr>
        <p:txBody>
          <a:bodyPr wrap="square" lIns="0" tIns="0" rIns="0" bIns="0" rtlCol="0" anchor="t"/>
          <a:lstStyle/>
          <a:p>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 The wrapper scrolls sideways, not the whole page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.table-wrap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overflow-x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7BA7D"/>
                </a:solidFill>
                <a:latin typeface="Consolas" pitchFamily="34" charset="0"/>
                <a:ea typeface="Consolas" pitchFamily="34" charset="-122"/>
                <a:cs typeface="Consolas" pitchFamily="34" charset="-120"/>
              </a:rPr>
              <a:t>table </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min-width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B5CEA8"/>
                </a:solidFill>
                <a:latin typeface="Consolas" pitchFamily="34" charset="0"/>
                <a:ea typeface="Consolas" pitchFamily="34" charset="-122"/>
                <a:cs typeface="Consolas" pitchFamily="34" charset="-120"/>
              </a:rPr>
              <a:t>700px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border-collapse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collapse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div</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class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"table-wrap"</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role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"region"</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aria-label</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"Weekly specials"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tabindex</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"0"</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div</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p:txBody>
      </p:sp>
      <p:sp>
        <p:nvSpPr>
          <p:cNvPr id="5" name="Text 2"/>
          <p:cNvSpPr txBox="1"/>
          <p:nvPr/>
        </p:nvSpPr>
        <p:spPr>
          <a:xfrm>
            <a:off x="6812280" y="411480"/>
            <a:ext cx="4967935" cy="320040"/>
          </a:xfrm>
          <a:prstGeom prst="rect">
            <a:avLst/>
          </a:prstGeom>
          <a:noFill/>
          <a:ln/>
        </p:spPr>
        <p:txBody>
          <a:bodyPr wrap="square" lIns="0" tIns="0" rIns="0" bIns="0" rtlCol="0" anchor="ctr"/>
          <a:lstStyle/>
          <a:p>
            <a:pPr indent="0" marL="0">
              <a:buNone/>
            </a:pPr>
            <a:r>
              <a:rPr lang="en-US" sz="1400" b="1" spc="100" kern="0" dirty="0">
                <a:solidFill>
                  <a:srgbClr val="595959"/>
                </a:solidFill>
                <a:latin typeface="Aptos" pitchFamily="34" charset="0"/>
                <a:ea typeface="Aptos" pitchFamily="34" charset="-122"/>
                <a:cs typeface="Aptos" pitchFamily="34" charset="-120"/>
              </a:rPr>
              <a:t>TABLES 4 · EXAMPLE 08</a:t>
            </a:r>
            <a:endParaRPr lang="en-US" sz="1400" dirty="0"/>
          </a:p>
        </p:txBody>
      </p:sp>
      <p:sp>
        <p:nvSpPr>
          <p:cNvPr id="6" name="Text 3"/>
          <p:cNvSpPr txBox="1"/>
          <p:nvPr/>
        </p:nvSpPr>
        <p:spPr>
          <a:xfrm>
            <a:off x="6812280" y="731520"/>
            <a:ext cx="4967935" cy="640080"/>
          </a:xfrm>
          <a:prstGeom prst="rect">
            <a:avLst/>
          </a:prstGeom>
          <a:noFill/>
          <a:ln/>
        </p:spPr>
        <p:txBody>
          <a:bodyPr wrap="square" lIns="0" tIns="0" rIns="0" bIns="0" rtlCol="0" anchor="t"/>
          <a:lstStyle/>
          <a:p>
            <a:pPr indent="0" marL="0">
              <a:buNone/>
            </a:pPr>
            <a:r>
              <a:rPr lang="en-US" sz="3200" dirty="0">
                <a:solidFill>
                  <a:srgbClr val="000000"/>
                </a:solidFill>
                <a:latin typeface="Aptos" pitchFamily="34" charset="0"/>
                <a:ea typeface="Aptos" pitchFamily="34" charset="-122"/>
                <a:cs typeface="Aptos" pitchFamily="34" charset="-120"/>
              </a:rPr>
              <a:t>Tables on Small Screens</a:t>
            </a:r>
            <a:endParaRPr lang="en-US" sz="3200" dirty="0"/>
          </a:p>
        </p:txBody>
      </p:sp>
      <p:pic>
        <p:nvPicPr>
          <p:cNvPr id="7" name="Image 1" descr="C:\Repos\2026-2027\WEBD1000\07_Navigation_Tables_Validation\_build\shots\ex08.png">    </p:cNvPr>
          <p:cNvPicPr>
            <a:picLocks noChangeAspect="1"/>
          </p:cNvPicPr>
          <p:nvPr/>
        </p:nvPicPr>
        <p:blipFill>
          <a:blip r:embed="rId2"/>
          <a:stretch>
            <a:fillRect/>
          </a:stretch>
        </p:blipFill>
        <p:spPr>
          <a:xfrm>
            <a:off x="6812280" y="3630168"/>
            <a:ext cx="3706368" cy="2633472"/>
          </a:xfrm>
          <a:prstGeom prst="rect">
            <a:avLst/>
          </a:prstGeom>
        </p:spPr>
      </p:pic>
      <p:sp>
        <p:nvSpPr>
          <p:cNvPr id="8" name="Shape 4"/>
          <p:cNvSpPr/>
          <p:nvPr/>
        </p:nvSpPr>
        <p:spPr>
          <a:xfrm>
            <a:off x="6812280" y="3630168"/>
            <a:ext cx="3706368" cy="2633472"/>
          </a:xfrm>
          <a:prstGeom prst="rect">
            <a:avLst/>
          </a:prstGeom>
          <a:ln w="12700">
            <a:solidFill>
              <a:srgbClr val="B0B8BC"/>
            </a:solidFill>
            <a:prstDash val="solid"/>
          </a:ln>
        </p:spPr>
      </p:sp>
      <p:sp>
        <p:nvSpPr>
          <p:cNvPr id="9" name="Text 5"/>
          <p:cNvSpPr txBox="1"/>
          <p:nvPr/>
        </p:nvSpPr>
        <p:spPr>
          <a:xfrm>
            <a:off x="6812280" y="3337560"/>
            <a:ext cx="3706368" cy="256032"/>
          </a:xfrm>
          <a:prstGeom prst="rect">
            <a:avLst/>
          </a:prstGeom>
          <a:noFill/>
          <a:ln/>
        </p:spPr>
        <p:txBody>
          <a:bodyPr wrap="square" lIns="0" tIns="0" rIns="0" bIns="0" rtlCol="0" anchor="ctr"/>
          <a:lstStyle/>
          <a:p>
            <a:pPr indent="0" marL="0">
              <a:buNone/>
            </a:pPr>
            <a:r>
              <a:rPr lang="en-US" sz="1100" b="1" spc="100" kern="0" dirty="0">
                <a:solidFill>
                  <a:srgbClr val="1B5E82"/>
                </a:solidFill>
                <a:latin typeface="Aptos" pitchFamily="34" charset="0"/>
                <a:ea typeface="Aptos" pitchFamily="34" charset="-122"/>
                <a:cs typeface="Aptos" pitchFamily="34" charset="-120"/>
              </a:rPr>
              <a:t>ON A PHONE: IT SCROLLS SIDEWAYS</a:t>
            </a:r>
            <a:endParaRPr lang="en-US" sz="1100" dirty="0"/>
          </a:p>
        </p:txBody>
      </p:sp>
      <p:sp>
        <p:nvSpPr>
          <p:cNvPr id="10" name="Text 6"/>
          <p:cNvSpPr txBox="1"/>
          <p:nvPr/>
        </p:nvSpPr>
        <p:spPr>
          <a:xfrm>
            <a:off x="6812280" y="1508760"/>
            <a:ext cx="4967935" cy="1737360"/>
          </a:xfrm>
          <a:prstGeom prst="rect">
            <a:avLst/>
          </a:prstGeom>
          <a:noFill/>
          <a:ln/>
        </p:spPr>
        <p:txBody>
          <a:bodyPr wrap="square" lIns="0" tIns="0" rIns="0" bIns="0" rtlCol="0" anchor="t"/>
          <a:lstStyle/>
          <a:p>
            <a:pPr marL="342900" indent="-342900">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Wrap the table in a </a:t>
            </a:r>
            <a:pPr indent="0" marL="0">
              <a:buNone/>
            </a:pPr>
            <a:r>
              <a:rPr lang="en-US" sz="1350" dirty="0">
                <a:solidFill>
                  <a:srgbClr val="8A2B0B"/>
                </a:solidFill>
                <a:latin typeface="Consolas" pitchFamily="34" charset="0"/>
                <a:ea typeface="Consolas" pitchFamily="34" charset="-122"/>
                <a:cs typeface="Consolas" pitchFamily="34" charset="-120"/>
              </a:rPr>
              <a:t>div</a:t>
            </a:r>
            <a:pPr indent="0" marL="0">
              <a:buNone/>
            </a:pPr>
            <a:r>
              <a:rPr lang="en-US" sz="1350" dirty="0">
                <a:solidFill>
                  <a:srgbClr val="262626"/>
                </a:solidFill>
                <a:latin typeface="Aptos" pitchFamily="34" charset="0"/>
                <a:ea typeface="Aptos" pitchFamily="34" charset="-122"/>
                <a:cs typeface="Aptos" pitchFamily="34" charset="-120"/>
              </a:rPr>
              <a:t> with </a:t>
            </a:r>
            <a:pPr indent="0" marL="0">
              <a:buNone/>
            </a:pPr>
            <a:r>
              <a:rPr lang="en-US" sz="1350" dirty="0">
                <a:solidFill>
                  <a:srgbClr val="8A2B0B"/>
                </a:solidFill>
                <a:latin typeface="Consolas" pitchFamily="34" charset="0"/>
                <a:ea typeface="Consolas" pitchFamily="34" charset="-122"/>
                <a:cs typeface="Consolas" pitchFamily="34" charset="-120"/>
              </a:rPr>
              <a:t>overflow-x: auto</a:t>
            </a:r>
            <a:pPr indent="0" marL="0">
              <a:buNone/>
            </a:pPr>
            <a:r>
              <a:rPr lang="en-US" sz="1350" dirty="0">
                <a:solidFill>
                  <a:srgbClr val="262626"/>
                </a:solidFill>
                <a:latin typeface="Aptos" pitchFamily="34" charset="0"/>
                <a:ea typeface="Aptos" pitchFamily="34" charset="-122"/>
                <a:cs typeface="Aptos" pitchFamily="34" charset="-120"/>
              </a:rPr>
              <a:t>. The </a:t>
            </a:r>
            <a:pPr indent="0" marL="0">
              <a:buNone/>
            </a:pPr>
            <a:r>
              <a:rPr lang="en-US" sz="1350" b="1" dirty="0">
                <a:solidFill>
                  <a:srgbClr val="262626"/>
                </a:solidFill>
                <a:latin typeface="Aptos" pitchFamily="34" charset="0"/>
                <a:ea typeface="Aptos" pitchFamily="34" charset="-122"/>
                <a:cs typeface="Aptos" pitchFamily="34" charset="-120"/>
              </a:rPr>
              <a:t>box</a:t>
            </a:r>
            <a:pPr indent="0" marL="0">
              <a:buNone/>
            </a:pPr>
            <a:r>
              <a:rPr lang="en-US" sz="1350" dirty="0">
                <a:solidFill>
                  <a:srgbClr val="262626"/>
                </a:solidFill>
                <a:latin typeface="Aptos" pitchFamily="34" charset="0"/>
                <a:ea typeface="Aptos" pitchFamily="34" charset="-122"/>
                <a:cs typeface="Aptos" pitchFamily="34" charset="-120"/>
              </a:rPr>
              <a:t> scrolls, not the whole page.</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8A2B0B"/>
                </a:solidFill>
                <a:latin typeface="Consolas" pitchFamily="34" charset="0"/>
                <a:ea typeface="Consolas" pitchFamily="34" charset="-122"/>
                <a:cs typeface="Consolas" pitchFamily="34" charset="-120"/>
              </a:rPr>
              <a:t>tabindex="0"</a:t>
            </a:r>
            <a:pPr indent="0" marL="0">
              <a:buNone/>
            </a:pPr>
            <a:r>
              <a:rPr lang="en-US" sz="1350" dirty="0">
                <a:solidFill>
                  <a:srgbClr val="262626"/>
                </a:solidFill>
                <a:latin typeface="Aptos" pitchFamily="34" charset="0"/>
                <a:ea typeface="Aptos" pitchFamily="34" charset="-122"/>
                <a:cs typeface="Aptos" pitchFamily="34" charset="-120"/>
              </a:rPr>
              <a:t> + a label: keyboard users can scroll it with the arrow keys.</a:t>
            </a:r>
            <a:endParaRPr lang="en-US" sz="1350" dirty="0"/>
          </a:p>
          <a:p>
            <a:pPr marL="342900" indent="-342900">
              <a:spcBef>
                <a:spcPts val="900"/>
              </a:spcBef>
              <a:buSzPct val="100000"/>
              <a:buChar char="•"/>
            </a:pPr>
            <a:r>
              <a:rPr lang="en-US" sz="1350" dirty="0">
                <a:solidFill>
                  <a:srgbClr val="262626"/>
                </a:solidFill>
                <a:latin typeface="Aptos" pitchFamily="34" charset="0"/>
                <a:ea typeface="Aptos" pitchFamily="34" charset="-122"/>
                <a:cs typeface="Aptos" pitchFamily="34" charset="-120"/>
              </a:rPr>
              <a:t>​</a:t>
            </a:r>
            <a:pPr indent="0" marL="0">
              <a:buNone/>
            </a:pPr>
            <a:r>
              <a:rPr lang="en-US" sz="1350" dirty="0">
                <a:solidFill>
                  <a:srgbClr val="262626"/>
                </a:solidFill>
                <a:latin typeface="Aptos" pitchFamily="34" charset="0"/>
                <a:ea typeface="Aptos" pitchFamily="34" charset="-122"/>
                <a:cs typeface="Aptos" pitchFamily="34" charset="-120"/>
              </a:rPr>
              <a:t>Or show it another way on phones, like cards (later, with media queries).</a:t>
            </a:r>
            <a:endParaRPr lang="en-US" sz="1350" dirty="0"/>
          </a:p>
        </p:txBody>
      </p:sp>
      <p:sp>
        <p:nvSpPr>
          <p:cNvPr id="11" name="Text 7"/>
          <p:cNvSpPr txBox="1"/>
          <p:nvPr/>
        </p:nvSpPr>
        <p:spPr>
          <a:xfrm>
            <a:off x="6812280" y="6355080"/>
            <a:ext cx="4967935" cy="274320"/>
          </a:xfrm>
          <a:prstGeom prst="rect">
            <a:avLst/>
          </a:prstGeom>
          <a:noFill/>
          <a:ln/>
        </p:spPr>
        <p:txBody>
          <a:bodyPr wrap="square" lIns="0" tIns="0" rIns="0" bIns="0" rtlCol="0" anchor="ctr"/>
          <a:lstStyle/>
          <a:p>
            <a:pPr indent="0" marL="0">
              <a:buNone/>
            </a:pPr>
            <a:r>
              <a:rPr lang="en-US" sz="1100" dirty="0">
                <a:solidFill>
                  <a:srgbClr val="7F7F7F"/>
                </a:solidFill>
                <a:latin typeface="Consolas" pitchFamily="34" charset="0"/>
                <a:ea typeface="Consolas" pitchFamily="34" charset="-122"/>
                <a:cs typeface="Consolas" pitchFamily="34" charset="-120"/>
              </a:rPr>
              <a:t>08_table_responsive_example.html</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5: An Hours Table (10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Find the hours list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index.html, in </a:t>
            </a:r>
            <a:pPr indent="0" marL="0">
              <a:buNone/>
            </a:pPr>
            <a:r>
              <a:rPr lang="en-US" sz="1300" dirty="0">
                <a:solidFill>
                  <a:srgbClr val="8A2B0B"/>
                </a:solidFill>
                <a:latin typeface="Consolas" pitchFamily="34" charset="0"/>
                <a:ea typeface="Consolas" pitchFamily="34" charset="-122"/>
                <a:cs typeface="Consolas" pitchFamily="34" charset="-120"/>
              </a:rPr>
              <a:t>&lt;aside id="hours"&gt;</a:t>
            </a:r>
            <a:pPr indent="0" marL="0">
              <a:buNone/>
            </a:pPr>
            <a:r>
              <a:rPr lang="en-US" sz="1300" dirty="0">
                <a:solidFill>
                  <a:srgbClr val="262626"/>
                </a:solidFill>
                <a:latin typeface="Aptos" pitchFamily="34" charset="0"/>
                <a:ea typeface="Aptos" pitchFamily="34" charset="-122"/>
                <a:cs typeface="Aptos" pitchFamily="34" charset="-120"/>
              </a:rPr>
              <a:t>. Delete the </a:t>
            </a:r>
            <a:pPr indent="0" marL="0">
              <a:buNone/>
            </a:pPr>
            <a:r>
              <a:rPr lang="en-US" sz="1300" dirty="0">
                <a:solidFill>
                  <a:srgbClr val="8A2B0B"/>
                </a:solidFill>
                <a:latin typeface="Consolas" pitchFamily="34" charset="0"/>
                <a:ea typeface="Consolas" pitchFamily="34" charset="-122"/>
                <a:cs typeface="Consolas" pitchFamily="34" charset="-120"/>
              </a:rPr>
              <a:t>&lt;ul&gt;</a:t>
            </a:r>
            <a:pPr indent="0" marL="0">
              <a:buNone/>
            </a:pPr>
            <a:r>
              <a:rPr lang="en-US" sz="1300" dirty="0">
                <a:solidFill>
                  <a:srgbClr val="262626"/>
                </a:solidFill>
                <a:latin typeface="Aptos" pitchFamily="34" charset="0"/>
                <a:ea typeface="Aptos" pitchFamily="34" charset="-122"/>
                <a:cs typeface="Aptos" pitchFamily="34" charset="-120"/>
              </a:rPr>
              <a:t>.</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table on the right</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its place. Save: an unstyled table appears.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Copy the row, six times</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Select the Monday </a:t>
            </a:r>
            <a:pPr indent="0" marL="0">
              <a:buNone/>
            </a:pPr>
            <a:r>
              <a:rPr lang="en-US" sz="1300" dirty="0">
                <a:solidFill>
                  <a:srgbClr val="8A2B0B"/>
                </a:solidFill>
                <a:latin typeface="Consolas" pitchFamily="34" charset="0"/>
                <a:ea typeface="Consolas" pitchFamily="34" charset="-122"/>
                <a:cs typeface="Consolas" pitchFamily="34" charset="-120"/>
              </a:rPr>
              <a:t>&lt;tr&gt;</a:t>
            </a:r>
            <a:pPr indent="0" marL="0">
              <a:buNone/>
            </a:pPr>
            <a:r>
              <a:rPr lang="en-US" sz="1300" dirty="0">
                <a:solidFill>
                  <a:srgbClr val="262626"/>
                </a:solidFill>
                <a:latin typeface="Aptos" pitchFamily="34" charset="0"/>
                <a:ea typeface="Aptos" pitchFamily="34" charset="-122"/>
                <a:cs typeface="Aptos" pitchFamily="34" charset="-120"/>
              </a:rPr>
              <a:t> (5 lines), then </a:t>
            </a:r>
            <a:pPr indent="0" marL="0">
              <a:buNone/>
            </a:pPr>
            <a:r>
              <a:rPr lang="en-US" sz="1300" b="1" dirty="0">
                <a:solidFill>
                  <a:srgbClr val="262626"/>
                </a:solidFill>
                <a:latin typeface="Aptos" pitchFamily="34" charset="0"/>
                <a:ea typeface="Aptos" pitchFamily="34" charset="-122"/>
                <a:cs typeface="Aptos" pitchFamily="34" charset="-120"/>
              </a:rPr>
              <a:t>Shift + Alt + ↓</a:t>
            </a:r>
            <a:pPr indent="0" marL="0">
              <a:buNone/>
            </a:pPr>
            <a:r>
              <a:rPr lang="en-US" sz="1300" dirty="0">
                <a:solidFill>
                  <a:srgbClr val="262626"/>
                </a:solidFill>
                <a:latin typeface="Aptos" pitchFamily="34" charset="0"/>
                <a:ea typeface="Aptos" pitchFamily="34" charset="-122"/>
                <a:cs typeface="Aptos" pitchFamily="34" charset="-120"/>
              </a:rPr>
              <a:t> copies it.</a:t>
            </a:r>
            <a:endParaRPr lang="en-US" sz="1300" dirty="0"/>
          </a:p>
        </p:txBody>
      </p:sp>
      <p:sp>
        <p:nvSpPr>
          <p:cNvPr id="17" name="Shape 14"/>
          <p:cNvSpPr/>
          <p:nvPr/>
        </p:nvSpPr>
        <p:spPr>
          <a:xfrm>
            <a:off x="914400" y="4315968"/>
            <a:ext cx="402336" cy="402336"/>
          </a:xfrm>
          <a:prstGeom prst="ellipse">
            <a:avLst/>
          </a:prstGeom>
          <a:solidFill>
            <a:srgbClr val="E97132"/>
          </a:solidFill>
          <a:ln w="12700">
            <a:solidFill>
              <a:srgbClr val="E97132"/>
            </a:solidFill>
            <a:prstDash val="solid"/>
          </a:ln>
        </p:spPr>
      </p:sp>
      <p:sp>
        <p:nvSpPr>
          <p:cNvPr id="18" name="Text 15"/>
          <p:cNvSpPr txBox="1"/>
          <p:nvPr/>
        </p:nvSpPr>
        <p:spPr>
          <a:xfrm>
            <a:off x="914400" y="43159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9" name="Text 16"/>
          <p:cNvSpPr txBox="1"/>
          <p:nvPr/>
        </p:nvSpPr>
        <p:spPr>
          <a:xfrm>
            <a:off x="1463040" y="42976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Fill in the days</a:t>
            </a:r>
            <a:endParaRPr lang="en-US" sz="1550" dirty="0"/>
          </a:p>
        </p:txBody>
      </p:sp>
      <p:sp>
        <p:nvSpPr>
          <p:cNvPr id="20" name="Text 17"/>
          <p:cNvSpPr txBox="1"/>
          <p:nvPr/>
        </p:nvSpPr>
        <p:spPr>
          <a:xfrm>
            <a:off x="1463040" y="46085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Mon–Thu: 11am to 8pm. Fri–Sat: 11am to 9pm. Sun: Noon to 7pm.</a:t>
            </a:r>
            <a:endParaRPr lang="en-US" sz="1300" dirty="0"/>
          </a:p>
        </p:txBody>
      </p:sp>
      <p:sp>
        <p:nvSpPr>
          <p:cNvPr id="21" name="Shape 18"/>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22" name="Text 19"/>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INDEX.HTML</a:t>
            </a:r>
            <a:endParaRPr lang="en-US" sz="1100" dirty="0"/>
          </a:p>
        </p:txBody>
      </p:sp>
      <p:sp>
        <p:nvSpPr>
          <p:cNvPr id="23" name="Text 20"/>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div</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class</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"table-wrap"</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caption</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Opening hours</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caption</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thead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Day</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Open</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"col"</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Close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thead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tbody</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9CDCFE"/>
                </a:solidFill>
                <a:latin typeface="Consolas" pitchFamily="34" charset="0"/>
                <a:ea typeface="Consolas" pitchFamily="34" charset="-122"/>
                <a:cs typeface="Consolas" pitchFamily="34" charset="-120"/>
              </a:rPr>
              <a:t>scope</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a:t>
            </a:r>
            <a:pPr indent="0" marL="0">
              <a:lnSpc>
                <a:spcPct val="100000"/>
              </a:lnSpc>
              <a:buNone/>
            </a:pPr>
            <a:r>
              <a:rPr lang="en-US" sz="1400" dirty="0">
                <a:solidFill>
                  <a:srgbClr val="CE9178"/>
                </a:solidFill>
                <a:latin typeface="Consolas" pitchFamily="34" charset="0"/>
                <a:ea typeface="Consolas" pitchFamily="34" charset="-122"/>
                <a:cs typeface="Consolas" pitchFamily="34" charset="-120"/>
              </a:rPr>
              <a:t>"row"</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Monday</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th</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11am</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8pm</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td</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tr</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6A9955"/>
                </a:solidFill>
                <a:latin typeface="Consolas" pitchFamily="34" charset="0"/>
                <a:ea typeface="Consolas" pitchFamily="34" charset="-122"/>
                <a:cs typeface="Consolas" pitchFamily="34" charset="-120"/>
              </a:rPr>
              <a:t>&lt;!-- Tuesday to Sunday --&gt;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tbody</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table</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a:p>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&lt;/</a:t>
            </a:r>
            <a:pPr indent="0" marL="0">
              <a:lnSpc>
                <a:spcPct val="100000"/>
              </a:lnSpc>
              <a:buNone/>
            </a:pPr>
            <a:r>
              <a:rPr lang="en-US" sz="1400" dirty="0">
                <a:solidFill>
                  <a:srgbClr val="569CD6"/>
                </a:solidFill>
                <a:latin typeface="Consolas" pitchFamily="34" charset="0"/>
                <a:ea typeface="Consolas" pitchFamily="34" charset="-122"/>
                <a:cs typeface="Consolas" pitchFamily="34" charset="-120"/>
              </a:rPr>
              <a:t>div</a:t>
            </a:r>
            <a:pPr indent="0" marL="0">
              <a:lnSpc>
                <a:spcPct val="100000"/>
              </a:lnSpc>
              <a:buNone/>
            </a:pPr>
            <a:r>
              <a:rPr lang="en-US" sz="1400" dirty="0">
                <a:solidFill>
                  <a:srgbClr val="808080"/>
                </a:solidFill>
                <a:latin typeface="Consolas" pitchFamily="34" charset="0"/>
                <a:ea typeface="Consolas" pitchFamily="34" charset="-122"/>
                <a:cs typeface="Consolas" pitchFamily="34" charset="-120"/>
              </a:rPr>
              <a:t>&gt;</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Try It 6: Style the Table (8 min)</a:t>
            </a:r>
            <a:endParaRPr lang="en-US" sz="2800" dirty="0"/>
          </a:p>
        </p:txBody>
      </p:sp>
      <p:sp>
        <p:nvSpPr>
          <p:cNvPr id="4" name="Shape 1"/>
          <p:cNvSpPr/>
          <p:nvPr/>
        </p:nvSpPr>
        <p:spPr>
          <a:xfrm>
            <a:off x="685800" y="1325880"/>
            <a:ext cx="598932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Shape 2"/>
          <p:cNvSpPr/>
          <p:nvPr/>
        </p:nvSpPr>
        <p:spPr>
          <a:xfrm>
            <a:off x="914400" y="1572768"/>
            <a:ext cx="402336" cy="402336"/>
          </a:xfrm>
          <a:prstGeom prst="ellipse">
            <a:avLst/>
          </a:prstGeom>
          <a:solidFill>
            <a:srgbClr val="E97132"/>
          </a:solidFill>
          <a:ln w="12700">
            <a:solidFill>
              <a:srgbClr val="E97132"/>
            </a:solidFill>
            <a:prstDash val="solid"/>
          </a:ln>
        </p:spPr>
      </p:sp>
      <p:sp>
        <p:nvSpPr>
          <p:cNvPr id="6" name="Text 3"/>
          <p:cNvSpPr txBox="1"/>
          <p:nvPr/>
        </p:nvSpPr>
        <p:spPr>
          <a:xfrm>
            <a:off x="9144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7" name="Text 4"/>
          <p:cNvSpPr txBox="1"/>
          <p:nvPr/>
        </p:nvSpPr>
        <p:spPr>
          <a:xfrm>
            <a:off x="1463040" y="15544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Type the CSS on the right</a:t>
            </a:r>
            <a:endParaRPr lang="en-US" sz="1550" dirty="0"/>
          </a:p>
        </p:txBody>
      </p:sp>
      <p:sp>
        <p:nvSpPr>
          <p:cNvPr id="8" name="Text 5"/>
          <p:cNvSpPr txBox="1"/>
          <p:nvPr/>
        </p:nvSpPr>
        <p:spPr>
          <a:xfrm>
            <a:off x="1463040" y="18653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In style.css, under </a:t>
            </a:r>
            <a:pPr indent="0" marL="0">
              <a:buNone/>
            </a:pPr>
            <a:r>
              <a:rPr lang="en-US" sz="1300" b="1" dirty="0">
                <a:solidFill>
                  <a:srgbClr val="262626"/>
                </a:solidFill>
                <a:latin typeface="Aptos" pitchFamily="34" charset="0"/>
                <a:ea typeface="Aptos" pitchFamily="34" charset="-122"/>
                <a:cs typeface="Aptos" pitchFamily="34" charset="-120"/>
              </a:rPr>
              <a:t>Try It 6</a:t>
            </a:r>
            <a:pPr indent="0" marL="0">
              <a:buNone/>
            </a:pPr>
            <a:r>
              <a:rPr lang="en-US" sz="1300" dirty="0">
                <a:solidFill>
                  <a:srgbClr val="262626"/>
                </a:solidFill>
                <a:latin typeface="Aptos" pitchFamily="34" charset="0"/>
                <a:ea typeface="Aptos" pitchFamily="34" charset="-122"/>
                <a:cs typeface="Aptos" pitchFamily="34" charset="-120"/>
              </a:rPr>
              <a:t>. Save.</a:t>
            </a:r>
            <a:endParaRPr lang="en-US" sz="1300" dirty="0"/>
          </a:p>
        </p:txBody>
      </p:sp>
      <p:sp>
        <p:nvSpPr>
          <p:cNvPr id="9" name="Shape 6"/>
          <p:cNvSpPr/>
          <p:nvPr/>
        </p:nvSpPr>
        <p:spPr>
          <a:xfrm>
            <a:off x="914400" y="2487168"/>
            <a:ext cx="402336" cy="402336"/>
          </a:xfrm>
          <a:prstGeom prst="ellipse">
            <a:avLst/>
          </a:prstGeom>
          <a:solidFill>
            <a:srgbClr val="E97132"/>
          </a:solidFill>
          <a:ln w="12700">
            <a:solidFill>
              <a:srgbClr val="E97132"/>
            </a:solidFill>
            <a:prstDash val="solid"/>
          </a:ln>
        </p:spPr>
      </p:sp>
      <p:sp>
        <p:nvSpPr>
          <p:cNvPr id="10" name="Text 7"/>
          <p:cNvSpPr txBox="1"/>
          <p:nvPr/>
        </p:nvSpPr>
        <p:spPr>
          <a:xfrm>
            <a:off x="914400" y="24871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63040" y="24688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Find the stripes</a:t>
            </a:r>
            <a:endParaRPr lang="en-US" sz="1550" dirty="0"/>
          </a:p>
        </p:txBody>
      </p:sp>
      <p:sp>
        <p:nvSpPr>
          <p:cNvPr id="12" name="Text 9"/>
          <p:cNvSpPr txBox="1"/>
          <p:nvPr/>
        </p:nvSpPr>
        <p:spPr>
          <a:xfrm>
            <a:off x="1463040" y="27797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Tuesday, Thursday and Saturday: </a:t>
            </a:r>
            <a:pPr indent="0" marL="0">
              <a:buNone/>
            </a:pPr>
            <a:r>
              <a:rPr lang="en-US" sz="1300" dirty="0">
                <a:solidFill>
                  <a:srgbClr val="8A2B0B"/>
                </a:solidFill>
                <a:latin typeface="Consolas" pitchFamily="34" charset="0"/>
                <a:ea typeface="Consolas" pitchFamily="34" charset="-122"/>
                <a:cs typeface="Consolas" pitchFamily="34" charset="-120"/>
              </a:rPr>
              <a:t>even</a:t>
            </a:r>
            <a:pPr indent="0" marL="0">
              <a:buNone/>
            </a:pPr>
            <a:r>
              <a:rPr lang="en-US" sz="1300" dirty="0">
                <a:solidFill>
                  <a:srgbClr val="262626"/>
                </a:solidFill>
                <a:latin typeface="Aptos" pitchFamily="34" charset="0"/>
                <a:ea typeface="Aptos" pitchFamily="34" charset="-122"/>
                <a:cs typeface="Aptos" pitchFamily="34" charset="-120"/>
              </a:rPr>
              <a:t> rows.</a:t>
            </a:r>
            <a:endParaRPr lang="en-US" sz="1300" dirty="0"/>
          </a:p>
        </p:txBody>
      </p:sp>
      <p:sp>
        <p:nvSpPr>
          <p:cNvPr id="13" name="Shape 10"/>
          <p:cNvSpPr/>
          <p:nvPr/>
        </p:nvSpPr>
        <p:spPr>
          <a:xfrm>
            <a:off x="914400" y="3401568"/>
            <a:ext cx="402336" cy="402336"/>
          </a:xfrm>
          <a:prstGeom prst="ellipse">
            <a:avLst/>
          </a:prstGeom>
          <a:solidFill>
            <a:srgbClr val="E97132"/>
          </a:solidFill>
          <a:ln w="12700">
            <a:solidFill>
              <a:srgbClr val="E97132"/>
            </a:solidFill>
            <a:prstDash val="solid"/>
          </a:ln>
        </p:spPr>
      </p:sp>
      <p:sp>
        <p:nvSpPr>
          <p:cNvPr id="14" name="Text 11"/>
          <p:cNvSpPr txBox="1"/>
          <p:nvPr/>
        </p:nvSpPr>
        <p:spPr>
          <a:xfrm>
            <a:off x="914400" y="34015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5" name="Text 12"/>
          <p:cNvSpPr txBox="1"/>
          <p:nvPr/>
        </p:nvSpPr>
        <p:spPr>
          <a:xfrm>
            <a:off x="1463040" y="3383280"/>
            <a:ext cx="5029200" cy="320040"/>
          </a:xfrm>
          <a:prstGeom prst="rect">
            <a:avLst/>
          </a:prstGeom>
          <a:noFill/>
          <a:ln/>
        </p:spPr>
        <p:txBody>
          <a:bodyPr wrap="square" lIns="0" tIns="0" rIns="0" bIns="0" rtlCol="0" anchor="ctr"/>
          <a:lstStyle/>
          <a:p>
            <a:pPr indent="0" marL="0">
              <a:buNone/>
            </a:pPr>
            <a:r>
              <a:rPr lang="en-US" sz="1550" b="1" dirty="0">
                <a:solidFill>
                  <a:srgbClr val="000000"/>
                </a:solidFill>
                <a:latin typeface="Aptos" pitchFamily="34" charset="0"/>
                <a:ea typeface="Aptos" pitchFamily="34" charset="-122"/>
                <a:cs typeface="Aptos" pitchFamily="34" charset="-120"/>
              </a:rPr>
              <a:t>Play with it</a:t>
            </a:r>
            <a:endParaRPr lang="en-US" sz="1550" dirty="0"/>
          </a:p>
        </p:txBody>
      </p:sp>
      <p:sp>
        <p:nvSpPr>
          <p:cNvPr id="16" name="Text 13"/>
          <p:cNvSpPr txBox="1"/>
          <p:nvPr/>
        </p:nvSpPr>
        <p:spPr>
          <a:xfrm>
            <a:off x="1463040" y="3694176"/>
            <a:ext cx="5029200" cy="585216"/>
          </a:xfrm>
          <a:prstGeom prst="rect">
            <a:avLst/>
          </a:prstGeom>
          <a:noFill/>
          <a:ln/>
        </p:spPr>
        <p:txBody>
          <a:bodyPr wrap="square" lIns="0" tIns="0" rIns="0" bIns="0" rtlCol="0" anchor="t"/>
          <a:lstStyle/>
          <a:p>
            <a:pPr indent="0" marL="0">
              <a:buNone/>
            </a:pPr>
            <a:r>
              <a:rPr lang="en-US" sz="1300" dirty="0">
                <a:solidFill>
                  <a:srgbClr val="262626"/>
                </a:solidFill>
                <a:latin typeface="Aptos" pitchFamily="34" charset="0"/>
                <a:ea typeface="Aptos" pitchFamily="34" charset="-122"/>
                <a:cs typeface="Aptos" pitchFamily="34" charset="-120"/>
              </a:rPr>
              <a:t>​</a:t>
            </a:r>
            <a:pPr indent="0" marL="0">
              <a:buNone/>
            </a:pPr>
            <a:r>
              <a:rPr lang="en-US" sz="1300" dirty="0">
                <a:solidFill>
                  <a:srgbClr val="262626"/>
                </a:solidFill>
                <a:latin typeface="Aptos" pitchFamily="34" charset="0"/>
                <a:ea typeface="Aptos" pitchFamily="34" charset="-122"/>
                <a:cs typeface="Aptos" pitchFamily="34" charset="-120"/>
              </a:rPr>
              <a:t>Change </a:t>
            </a:r>
            <a:pPr indent="0" marL="0">
              <a:buNone/>
            </a:pPr>
            <a:r>
              <a:rPr lang="en-US" sz="1300" dirty="0">
                <a:solidFill>
                  <a:srgbClr val="8A2B0B"/>
                </a:solidFill>
                <a:latin typeface="Consolas" pitchFamily="34" charset="0"/>
                <a:ea typeface="Consolas" pitchFamily="34" charset="-122"/>
                <a:cs typeface="Consolas" pitchFamily="34" charset="-120"/>
              </a:rPr>
              <a:t>even</a:t>
            </a:r>
            <a:pPr indent="0" marL="0">
              <a:buNone/>
            </a:pPr>
            <a:r>
              <a:rPr lang="en-US" sz="1300" dirty="0">
                <a:solidFill>
                  <a:srgbClr val="262626"/>
                </a:solidFill>
                <a:latin typeface="Aptos" pitchFamily="34" charset="0"/>
                <a:ea typeface="Aptos" pitchFamily="34" charset="-122"/>
                <a:cs typeface="Aptos" pitchFamily="34" charset="-120"/>
              </a:rPr>
              <a:t> to </a:t>
            </a:r>
            <a:pPr indent="0" marL="0">
              <a:buNone/>
            </a:pPr>
            <a:r>
              <a:rPr lang="en-US" sz="1300" dirty="0">
                <a:solidFill>
                  <a:srgbClr val="8A2B0B"/>
                </a:solidFill>
                <a:latin typeface="Consolas" pitchFamily="34" charset="0"/>
                <a:ea typeface="Consolas" pitchFamily="34" charset="-122"/>
                <a:cs typeface="Consolas" pitchFamily="34" charset="-120"/>
              </a:rPr>
              <a:t>odd</a:t>
            </a:r>
            <a:pPr indent="0" marL="0">
              <a:buNone/>
            </a:pPr>
            <a:r>
              <a:rPr lang="en-US" sz="1300" dirty="0">
                <a:solidFill>
                  <a:srgbClr val="262626"/>
                </a:solidFill>
                <a:latin typeface="Aptos" pitchFamily="34" charset="0"/>
                <a:ea typeface="Aptos" pitchFamily="34" charset="-122"/>
                <a:cs typeface="Aptos" pitchFamily="34" charset="-120"/>
              </a:rPr>
              <a:t>. Then take out </a:t>
            </a:r>
            <a:pPr indent="0" marL="0">
              <a:buNone/>
            </a:pPr>
            <a:r>
              <a:rPr lang="en-US" sz="1300" dirty="0">
                <a:solidFill>
                  <a:srgbClr val="8A2B0B"/>
                </a:solidFill>
                <a:latin typeface="Consolas" pitchFamily="34" charset="0"/>
                <a:ea typeface="Consolas" pitchFamily="34" charset="-122"/>
                <a:cs typeface="Consolas" pitchFamily="34" charset="-120"/>
              </a:rPr>
              <a:t>border-collapse</a:t>
            </a:r>
            <a:pPr indent="0" marL="0">
              <a:buNone/>
            </a:pPr>
            <a:r>
              <a:rPr lang="en-US" sz="1300" dirty="0">
                <a:solidFill>
                  <a:srgbClr val="262626"/>
                </a:solidFill>
                <a:latin typeface="Aptos" pitchFamily="34" charset="0"/>
                <a:ea typeface="Aptos" pitchFamily="34" charset="-122"/>
                <a:cs typeface="Aptos" pitchFamily="34" charset="-120"/>
              </a:rPr>
              <a:t> and look closely.</a:t>
            </a:r>
            <a:endParaRPr lang="en-US" sz="1300" dirty="0"/>
          </a:p>
        </p:txBody>
      </p:sp>
      <p:sp>
        <p:nvSpPr>
          <p:cNvPr id="17" name="Shape 14"/>
          <p:cNvSpPr/>
          <p:nvPr/>
        </p:nvSpPr>
        <p:spPr>
          <a:xfrm>
            <a:off x="6995160" y="1325880"/>
            <a:ext cx="4647895" cy="5029200"/>
          </a:xfrm>
          <a:prstGeom prst="rect">
            <a:avLst/>
          </a:prstGeom>
          <a:solidFill>
            <a:srgbClr val="1E1E1E"/>
          </a:solidFill>
          <a:ln w="12700">
            <a:solidFill>
              <a:srgbClr val="1E1E1E"/>
            </a:solidFill>
            <a:prstDash val="solid"/>
          </a:ln>
          <a:effectLst>
            <a:outerShdw sx="100000" sy="100000" kx="0" ky="0" algn="bl" rotWithShape="0" blurRad="101600" dist="38100" dir="5400000">
              <a:srgbClr val="000000">
                <a:alpha val="35000"/>
              </a:srgbClr>
            </a:outerShdw>
          </a:effectLst>
        </p:spPr>
      </p:sp>
      <p:sp>
        <p:nvSpPr>
          <p:cNvPr id="18" name="Text 15"/>
          <p:cNvSpPr txBox="1"/>
          <p:nvPr/>
        </p:nvSpPr>
        <p:spPr>
          <a:xfrm>
            <a:off x="7223760" y="1435608"/>
            <a:ext cx="4190695" cy="274320"/>
          </a:xfrm>
          <a:prstGeom prst="rect">
            <a:avLst/>
          </a:prstGeom>
          <a:noFill/>
          <a:ln/>
        </p:spPr>
        <p:txBody>
          <a:bodyPr wrap="square" lIns="0" tIns="0" rIns="0" bIns="0" rtlCol="0" anchor="ctr"/>
          <a:lstStyle/>
          <a:p>
            <a:pPr indent="0" marL="0">
              <a:buNone/>
            </a:pPr>
            <a:r>
              <a:rPr lang="en-US" sz="1100" b="1" spc="100" kern="0" dirty="0">
                <a:solidFill>
                  <a:srgbClr val="F2C6AC"/>
                </a:solidFill>
                <a:latin typeface="Aptos" pitchFamily="34" charset="0"/>
                <a:ea typeface="Aptos" pitchFamily="34" charset="-122"/>
                <a:cs typeface="Aptos" pitchFamily="34" charset="-120"/>
              </a:rPr>
              <a:t>IN STYLE.CSS</a:t>
            </a:r>
            <a:endParaRPr lang="en-US" sz="1100" dirty="0"/>
          </a:p>
        </p:txBody>
      </p:sp>
      <p:sp>
        <p:nvSpPr>
          <p:cNvPr id="19" name="Text 16"/>
          <p:cNvSpPr txBox="1"/>
          <p:nvPr/>
        </p:nvSpPr>
        <p:spPr>
          <a:xfrm>
            <a:off x="7223760" y="1901952"/>
            <a:ext cx="4190695" cy="4224528"/>
          </a:xfrm>
          <a:prstGeom prst="rect">
            <a:avLst/>
          </a:prstGeom>
          <a:noFill/>
          <a:ln/>
        </p:spPr>
        <p:txBody>
          <a:bodyPr wrap="square" lIns="0" tIns="0" rIns="0" bIns="0" rtlCol="0" anchor="t"/>
          <a:lstStyle/>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.table-wrap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overflow-x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auto</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table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width</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100%</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border-collapse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collapse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caption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font-weight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bold</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th, td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padding</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8px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12px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border-bottom</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B5CEA8"/>
                </a:solidFill>
                <a:latin typeface="Consolas" pitchFamily="34" charset="0"/>
                <a:ea typeface="Consolas" pitchFamily="34" charset="-122"/>
                <a:cs typeface="Consolas" pitchFamily="34" charset="-120"/>
              </a:rPr>
              <a:t>1px</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solid</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#D0D7DB</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text-align</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left</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thead th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#12304A</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white</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endParaRPr lang="en-US" sz="1150" dirty="0"/>
          </a:p>
          <a:p>
            <a:pPr indent="0" marL="0">
              <a:lnSpc>
                <a:spcPct val="100000"/>
              </a:lnSpc>
              <a:buNone/>
            </a:pPr>
            <a:r>
              <a:rPr lang="en-US" sz="1150" dirty="0">
                <a:solidFill>
                  <a:srgbClr val="D7BA7D"/>
                </a:solidFill>
                <a:latin typeface="Consolas" pitchFamily="34" charset="0"/>
                <a:ea typeface="Consolas" pitchFamily="34" charset="-122"/>
                <a:cs typeface="Consolas" pitchFamily="34" charset="-120"/>
              </a:rPr>
              <a:t>tbody tr:nth-child(even) </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9CDCFE"/>
                </a:solidFill>
                <a:latin typeface="Consolas" pitchFamily="34" charset="0"/>
                <a:ea typeface="Consolas" pitchFamily="34" charset="-122"/>
                <a:cs typeface="Consolas" pitchFamily="34" charset="-120"/>
              </a:rPr>
              <a:t>background-color</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 </a:t>
            </a:r>
            <a:pPr indent="0" marL="0">
              <a:lnSpc>
                <a:spcPct val="100000"/>
              </a:lnSpc>
              <a:buNone/>
            </a:pPr>
            <a:r>
              <a:rPr lang="en-US" sz="1150" dirty="0">
                <a:solidFill>
                  <a:srgbClr val="CE9178"/>
                </a:solidFill>
                <a:latin typeface="Consolas" pitchFamily="34" charset="0"/>
                <a:ea typeface="Consolas" pitchFamily="34" charset="-122"/>
                <a:cs typeface="Consolas" pitchFamily="34" charset="-120"/>
              </a:rPr>
              <a:t>#E9EFF2</a:t>
            </a:r>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a:p>
            <a:pPr indent="0" marL="0">
              <a:lnSpc>
                <a:spcPct val="100000"/>
              </a:lnSpc>
              <a:buNone/>
            </a:pPr>
            <a:r>
              <a:rPr lang="en-US" sz="1150" dirty="0">
                <a:solidFill>
                  <a:srgbClr val="D4D4D4"/>
                </a:solidFill>
                <a:latin typeface="Consolas" pitchFamily="34" charset="0"/>
                <a:ea typeface="Consolas" pitchFamily="34" charset="-122"/>
                <a:cs typeface="Consolas" pitchFamily="34" charset="-120"/>
              </a:rPr>
              <a:t>}</a:t>
            </a:r>
            <a:endParaRPr lang="en-US" sz="11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1E8EB"/>
        </a:solidFill>
      </p:bgPr>
    </p:bg>
    <p:spTree>
      <p:nvGrpSpPr>
        <p:cNvPr id="1" name=""/>
        <p:cNvGrpSpPr/>
        <p:nvPr/>
      </p:nvGrpSpPr>
      <p:grpSpPr>
        <a:xfrm>
          <a:off x="0" y="0"/>
          <a:ext cx="0" cy="0"/>
          <a:chOff x="0" y="0"/>
          <a:chExt cx="0" cy="0"/>
        </a:xfrm>
      </p:grpSpPr>
      <p:sp>
        <p:nvSpPr>
          <p:cNvPr id="2" name="Text 0"/>
          <p:cNvSpPr txBox="1"/>
          <p:nvPr/>
        </p:nvSpPr>
        <p:spPr>
          <a:xfrm>
            <a:off x="685800" y="457200"/>
            <a:ext cx="10789920" cy="640080"/>
          </a:xfrm>
          <a:prstGeom prst="rect">
            <a:avLst/>
          </a:prstGeom>
          <a:noFill/>
          <a:ln/>
        </p:spPr>
        <p:txBody>
          <a:bodyPr wrap="square" lIns="0" tIns="0" rIns="0" bIns="0" rtlCol="0" anchor="ctr"/>
          <a:lstStyle/>
          <a:p>
            <a:pPr indent="0" marL="0">
              <a:buNone/>
            </a:pPr>
            <a:r>
              <a:rPr lang="en-US" sz="2800" dirty="0">
                <a:solidFill>
                  <a:srgbClr val="000000"/>
                </a:solidFill>
                <a:latin typeface="Aptos" pitchFamily="34" charset="0"/>
                <a:ea typeface="Aptos" pitchFamily="34" charset="-122"/>
                <a:cs typeface="Aptos" pitchFamily="34" charset="-120"/>
              </a:rPr>
              <a:t>Make It Yours</a:t>
            </a:r>
            <a:endParaRPr lang="en-US" sz="2800" dirty="0"/>
          </a:p>
        </p:txBody>
      </p:sp>
      <p:sp>
        <p:nvSpPr>
          <p:cNvPr id="4" name="Shape 1"/>
          <p:cNvSpPr/>
          <p:nvPr/>
        </p:nvSpPr>
        <p:spPr>
          <a:xfrm>
            <a:off x="685800" y="1325880"/>
            <a:ext cx="6766560" cy="5029200"/>
          </a:xfrm>
          <a:prstGeom prst="roundRect">
            <a:avLst>
              <a:gd name="adj" fmla="val 2182"/>
            </a:avLst>
          </a:prstGeom>
          <a:solidFill>
            <a:srgbClr val="FFFFFF"/>
          </a:solidFill>
          <a:ln w="9525">
            <a:solidFill>
              <a:srgbClr val="D0D7DB"/>
            </a:solidFill>
            <a:prstDash val="solid"/>
          </a:ln>
          <a:effectLst>
            <a:outerShdw sx="100000" sy="100000" kx="0" ky="0" algn="bl" rotWithShape="0" blurRad="76200" dist="25400" dir="5400000">
              <a:srgbClr val="000000">
                <a:alpha val="12000"/>
              </a:srgbClr>
            </a:outerShdw>
          </a:effectLst>
        </p:spPr>
      </p:sp>
      <p:sp>
        <p:nvSpPr>
          <p:cNvPr id="5" name="Text 2"/>
          <p:cNvSpPr txBox="1"/>
          <p:nvPr/>
        </p:nvSpPr>
        <p:spPr>
          <a:xfrm>
            <a:off x="914400" y="1508760"/>
            <a:ext cx="6309360" cy="411480"/>
          </a:xfrm>
          <a:prstGeom prst="rect">
            <a:avLst/>
          </a:prstGeom>
          <a:noFill/>
          <a:ln/>
        </p:spPr>
        <p:txBody>
          <a:bodyPr wrap="square" lIns="0" tIns="0" rIns="0" bIns="0" rtlCol="0" anchor="ctr"/>
          <a:lstStyle/>
          <a:p>
            <a:pPr indent="0" marL="0">
              <a:buNone/>
            </a:pPr>
            <a:r>
              <a:rPr lang="en-US" sz="1800" b="1" dirty="0">
                <a:solidFill>
                  <a:srgbClr val="000000"/>
                </a:solidFill>
                <a:latin typeface="Aptos" pitchFamily="34" charset="0"/>
                <a:ea typeface="Aptos" pitchFamily="34" charset="-122"/>
                <a:cs typeface="Aptos" pitchFamily="34" charset="-120"/>
              </a:rPr>
              <a:t>Make it yours</a:t>
            </a:r>
            <a:endParaRPr lang="en-US" sz="1800" dirty="0"/>
          </a:p>
        </p:txBody>
      </p:sp>
      <p:sp>
        <p:nvSpPr>
          <p:cNvPr id="6" name="Shape 3"/>
          <p:cNvSpPr/>
          <p:nvPr/>
        </p:nvSpPr>
        <p:spPr>
          <a:xfrm>
            <a:off x="914400" y="2148840"/>
            <a:ext cx="365760" cy="365760"/>
          </a:xfrm>
          <a:prstGeom prst="ellipse">
            <a:avLst/>
          </a:prstGeom>
          <a:solidFill>
            <a:srgbClr val="E97132"/>
          </a:solidFill>
          <a:ln w="12700">
            <a:solidFill>
              <a:srgbClr val="E97132"/>
            </a:solidFill>
            <a:prstDash val="solid"/>
          </a:ln>
        </p:spPr>
      </p:sp>
      <p:sp>
        <p:nvSpPr>
          <p:cNvPr id="7" name="Text 4"/>
          <p:cNvSpPr txBox="1"/>
          <p:nvPr/>
        </p:nvSpPr>
        <p:spPr>
          <a:xfrm>
            <a:off x="914400" y="21488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1</a:t>
            </a:r>
            <a:endParaRPr lang="en-US" sz="1300" dirty="0"/>
          </a:p>
        </p:txBody>
      </p:sp>
      <p:sp>
        <p:nvSpPr>
          <p:cNvPr id="8" name="Text 5"/>
          <p:cNvSpPr txBox="1"/>
          <p:nvPr/>
        </p:nvSpPr>
        <p:spPr>
          <a:xfrm>
            <a:off x="1417320" y="203911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Highlight the row under the mouse: </a:t>
            </a:r>
            <a:pPr indent="0" marL="0">
              <a:buNone/>
            </a:pPr>
            <a:r>
              <a:rPr lang="en-US" sz="1450" dirty="0">
                <a:solidFill>
                  <a:srgbClr val="8A2B0B"/>
                </a:solidFill>
                <a:latin typeface="Consolas" pitchFamily="34" charset="0"/>
                <a:ea typeface="Consolas" pitchFamily="34" charset="-122"/>
                <a:cs typeface="Consolas" pitchFamily="34" charset="-120"/>
              </a:rPr>
              <a:t>tbody tr:hover</a:t>
            </a:r>
            <a:endParaRPr lang="en-US" sz="1450" dirty="0"/>
          </a:p>
        </p:txBody>
      </p:sp>
      <p:sp>
        <p:nvSpPr>
          <p:cNvPr id="9" name="Shape 6"/>
          <p:cNvSpPr/>
          <p:nvPr/>
        </p:nvSpPr>
        <p:spPr>
          <a:xfrm>
            <a:off x="914400" y="2926080"/>
            <a:ext cx="365760" cy="365760"/>
          </a:xfrm>
          <a:prstGeom prst="ellipse">
            <a:avLst/>
          </a:prstGeom>
          <a:solidFill>
            <a:srgbClr val="E97132"/>
          </a:solidFill>
          <a:ln w="12700">
            <a:solidFill>
              <a:srgbClr val="E97132"/>
            </a:solidFill>
            <a:prstDash val="solid"/>
          </a:ln>
        </p:spPr>
      </p:sp>
      <p:sp>
        <p:nvSpPr>
          <p:cNvPr id="10" name="Text 7"/>
          <p:cNvSpPr txBox="1"/>
          <p:nvPr/>
        </p:nvSpPr>
        <p:spPr>
          <a:xfrm>
            <a:off x="914400" y="29260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2</a:t>
            </a:r>
            <a:endParaRPr lang="en-US" sz="1300" dirty="0"/>
          </a:p>
        </p:txBody>
      </p:sp>
      <p:sp>
        <p:nvSpPr>
          <p:cNvPr id="11" name="Text 8"/>
          <p:cNvSpPr txBox="1"/>
          <p:nvPr/>
        </p:nvSpPr>
        <p:spPr>
          <a:xfrm>
            <a:off x="1417320" y="281635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Bold Friday to Sunday: </a:t>
            </a:r>
            <a:pPr indent="0" marL="0">
              <a:buNone/>
            </a:pPr>
            <a:r>
              <a:rPr lang="en-US" sz="1450" dirty="0">
                <a:solidFill>
                  <a:srgbClr val="8A2B0B"/>
                </a:solidFill>
                <a:latin typeface="Consolas" pitchFamily="34" charset="0"/>
                <a:ea typeface="Consolas" pitchFamily="34" charset="-122"/>
                <a:cs typeface="Consolas" pitchFamily="34" charset="-120"/>
              </a:rPr>
              <a:t>tbody tr:nth-child(n+5)</a:t>
            </a:r>
            <a:endParaRPr lang="en-US" sz="1450" dirty="0"/>
          </a:p>
        </p:txBody>
      </p:sp>
      <p:sp>
        <p:nvSpPr>
          <p:cNvPr id="12" name="Shape 9"/>
          <p:cNvSpPr/>
          <p:nvPr/>
        </p:nvSpPr>
        <p:spPr>
          <a:xfrm>
            <a:off x="914400" y="3703320"/>
            <a:ext cx="365760" cy="365760"/>
          </a:xfrm>
          <a:prstGeom prst="ellipse">
            <a:avLst/>
          </a:prstGeom>
          <a:solidFill>
            <a:srgbClr val="E97132"/>
          </a:solidFill>
          <a:ln w="12700">
            <a:solidFill>
              <a:srgbClr val="E97132"/>
            </a:solidFill>
            <a:prstDash val="solid"/>
          </a:ln>
        </p:spPr>
      </p:sp>
      <p:sp>
        <p:nvSpPr>
          <p:cNvPr id="13" name="Text 10"/>
          <p:cNvSpPr txBox="1"/>
          <p:nvPr/>
        </p:nvSpPr>
        <p:spPr>
          <a:xfrm>
            <a:off x="914400" y="37033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3</a:t>
            </a:r>
            <a:endParaRPr lang="en-US" sz="1300" dirty="0"/>
          </a:p>
        </p:txBody>
      </p:sp>
      <p:sp>
        <p:nvSpPr>
          <p:cNvPr id="14" name="Text 11"/>
          <p:cNvSpPr txBox="1"/>
          <p:nvPr/>
        </p:nvSpPr>
        <p:spPr>
          <a:xfrm>
            <a:off x="1417320" y="359359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Give the dropdown </a:t>
            </a:r>
            <a:pPr indent="0" marL="0">
              <a:buNone/>
            </a:pPr>
            <a:r>
              <a:rPr lang="en-US" sz="1450" b="1" dirty="0">
                <a:solidFill>
                  <a:srgbClr val="262626"/>
                </a:solidFill>
                <a:latin typeface="Aptos" pitchFamily="34" charset="0"/>
                <a:ea typeface="Aptos" pitchFamily="34" charset="-122"/>
                <a:cs typeface="Aptos" pitchFamily="34" charset="-120"/>
              </a:rPr>
              <a:t>rounded corners</a:t>
            </a:r>
            <a:pPr indent="0" marL="0">
              <a:buNone/>
            </a:pPr>
            <a:r>
              <a:rPr lang="en-US" sz="1450" dirty="0">
                <a:solidFill>
                  <a:srgbClr val="262626"/>
                </a:solidFill>
                <a:latin typeface="Aptos" pitchFamily="34" charset="0"/>
                <a:ea typeface="Aptos" pitchFamily="34" charset="-122"/>
                <a:cs typeface="Aptos" pitchFamily="34" charset="-120"/>
              </a:rPr>
              <a:t>: </a:t>
            </a:r>
            <a:pPr indent="0" marL="0">
              <a:buNone/>
            </a:pPr>
            <a:r>
              <a:rPr lang="en-US" sz="1450" dirty="0">
                <a:solidFill>
                  <a:srgbClr val="8A2B0B"/>
                </a:solidFill>
                <a:latin typeface="Consolas" pitchFamily="34" charset="0"/>
                <a:ea typeface="Consolas" pitchFamily="34" charset="-122"/>
                <a:cs typeface="Consolas" pitchFamily="34" charset="-120"/>
              </a:rPr>
              <a:t>border-radius</a:t>
            </a:r>
            <a:pPr indent="0" marL="0">
              <a:buNone/>
            </a:pPr>
            <a:r>
              <a:rPr lang="en-US" sz="1450" dirty="0">
                <a:solidFill>
                  <a:srgbClr val="262626"/>
                </a:solidFill>
                <a:latin typeface="Aptos" pitchFamily="34" charset="0"/>
                <a:ea typeface="Aptos" pitchFamily="34" charset="-122"/>
                <a:cs typeface="Aptos" pitchFamily="34" charset="-120"/>
              </a:rPr>
              <a:t> (try </a:t>
            </a:r>
            <a:pPr indent="0" marL="0">
              <a:buNone/>
            </a:pPr>
            <a:r>
              <a:rPr lang="en-US" sz="1450" dirty="0">
                <a:solidFill>
                  <a:srgbClr val="8A2B0B"/>
                </a:solidFill>
                <a:latin typeface="Consolas" pitchFamily="34" charset="0"/>
                <a:ea typeface="Consolas" pitchFamily="34" charset="-122"/>
                <a:cs typeface="Consolas" pitchFamily="34" charset="-120"/>
              </a:rPr>
              <a:t>0 0 8px 8px</a:t>
            </a:r>
            <a:pPr indent="0" marL="0">
              <a:buNone/>
            </a:pPr>
            <a:r>
              <a:rPr lang="en-US" sz="1450" dirty="0">
                <a:solidFill>
                  <a:srgbClr val="262626"/>
                </a:solidFill>
                <a:latin typeface="Aptos" pitchFamily="34" charset="0"/>
                <a:ea typeface="Aptos" pitchFamily="34" charset="-122"/>
                <a:cs typeface="Aptos" pitchFamily="34" charset="-120"/>
              </a:rPr>
              <a:t>)</a:t>
            </a:r>
            <a:endParaRPr lang="en-US" sz="1450" dirty="0"/>
          </a:p>
        </p:txBody>
      </p:sp>
      <p:sp>
        <p:nvSpPr>
          <p:cNvPr id="15" name="Shape 12"/>
          <p:cNvSpPr/>
          <p:nvPr/>
        </p:nvSpPr>
        <p:spPr>
          <a:xfrm>
            <a:off x="914400" y="4480560"/>
            <a:ext cx="365760" cy="365760"/>
          </a:xfrm>
          <a:prstGeom prst="ellipse">
            <a:avLst/>
          </a:prstGeom>
          <a:solidFill>
            <a:srgbClr val="E97132"/>
          </a:solidFill>
          <a:ln w="12700">
            <a:solidFill>
              <a:srgbClr val="E97132"/>
            </a:solidFill>
            <a:prstDash val="solid"/>
          </a:ln>
        </p:spPr>
      </p:sp>
      <p:sp>
        <p:nvSpPr>
          <p:cNvPr id="16" name="Text 13"/>
          <p:cNvSpPr txBox="1"/>
          <p:nvPr/>
        </p:nvSpPr>
        <p:spPr>
          <a:xfrm>
            <a:off x="914400" y="44805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4</a:t>
            </a:r>
            <a:endParaRPr lang="en-US" sz="1300" dirty="0"/>
          </a:p>
        </p:txBody>
      </p:sp>
      <p:sp>
        <p:nvSpPr>
          <p:cNvPr id="17" name="Text 14"/>
          <p:cNvSpPr txBox="1"/>
          <p:nvPr/>
        </p:nvSpPr>
        <p:spPr>
          <a:xfrm>
            <a:off x="1417320" y="437083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A new colour for the </a:t>
            </a:r>
            <a:pPr indent="0" marL="0">
              <a:buNone/>
            </a:pPr>
            <a:r>
              <a:rPr lang="en-US" sz="1450" b="1" dirty="0">
                <a:solidFill>
                  <a:srgbClr val="262626"/>
                </a:solidFill>
                <a:latin typeface="Aptos" pitchFamily="34" charset="0"/>
                <a:ea typeface="Aptos" pitchFamily="34" charset="-122"/>
                <a:cs typeface="Aptos" pitchFamily="34" charset="-120"/>
              </a:rPr>
              <a:t>current page</a:t>
            </a:r>
            <a:pPr indent="0" marL="0">
              <a:buNone/>
            </a:pPr>
            <a:r>
              <a:rPr lang="en-US" sz="1450" dirty="0">
                <a:solidFill>
                  <a:srgbClr val="262626"/>
                </a:solidFill>
                <a:latin typeface="Aptos" pitchFamily="34" charset="0"/>
                <a:ea typeface="Aptos" pitchFamily="34" charset="-122"/>
                <a:cs typeface="Aptos" pitchFamily="34" charset="-120"/>
              </a:rPr>
              <a:t> underline</a:t>
            </a:r>
            <a:endParaRPr lang="en-US" sz="1450" dirty="0"/>
          </a:p>
        </p:txBody>
      </p:sp>
      <p:sp>
        <p:nvSpPr>
          <p:cNvPr id="18" name="Shape 15"/>
          <p:cNvSpPr/>
          <p:nvPr/>
        </p:nvSpPr>
        <p:spPr>
          <a:xfrm>
            <a:off x="914400" y="5257800"/>
            <a:ext cx="365760" cy="365760"/>
          </a:xfrm>
          <a:prstGeom prst="ellipse">
            <a:avLst/>
          </a:prstGeom>
          <a:solidFill>
            <a:srgbClr val="E97132"/>
          </a:solidFill>
          <a:ln w="12700">
            <a:solidFill>
              <a:srgbClr val="E97132"/>
            </a:solidFill>
            <a:prstDash val="solid"/>
          </a:ln>
        </p:spPr>
      </p:sp>
      <p:sp>
        <p:nvSpPr>
          <p:cNvPr id="19" name="Text 16"/>
          <p:cNvSpPr txBox="1"/>
          <p:nvPr/>
        </p:nvSpPr>
        <p:spPr>
          <a:xfrm>
            <a:off x="914400" y="52578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Aptos" pitchFamily="34" charset="0"/>
                <a:ea typeface="Aptos" pitchFamily="34" charset="-122"/>
                <a:cs typeface="Aptos" pitchFamily="34" charset="-120"/>
              </a:rPr>
              <a:t>5</a:t>
            </a:r>
            <a:endParaRPr lang="en-US" sz="1300" dirty="0"/>
          </a:p>
        </p:txBody>
      </p:sp>
      <p:sp>
        <p:nvSpPr>
          <p:cNvPr id="20" name="Text 17"/>
          <p:cNvSpPr txBox="1"/>
          <p:nvPr/>
        </p:nvSpPr>
        <p:spPr>
          <a:xfrm>
            <a:off x="1417320" y="5148072"/>
            <a:ext cx="5852160" cy="594360"/>
          </a:xfrm>
          <a:prstGeom prst="rect">
            <a:avLst/>
          </a:prstGeom>
          <a:noFill/>
          <a:ln/>
        </p:spPr>
        <p:txBody>
          <a:bodyPr wrap="square" lIns="0" tIns="0" rIns="0" bIns="0" rtlCol="0" anchor="ctr"/>
          <a:lstStyle/>
          <a:p>
            <a:pPr indent="0" marL="0">
              <a:buNone/>
            </a:pPr>
            <a:r>
              <a:rPr lang="en-US" sz="1450" dirty="0">
                <a:solidFill>
                  <a:srgbClr val="262626"/>
                </a:solidFill>
                <a:latin typeface="Aptos" pitchFamily="34" charset="0"/>
                <a:ea typeface="Aptos" pitchFamily="34" charset="-122"/>
                <a:cs typeface="Aptos" pitchFamily="34" charset="-120"/>
              </a:rPr>
              <a:t>​</a:t>
            </a:r>
            <a:pPr indent="0" marL="0">
              <a:buNone/>
            </a:pPr>
            <a:r>
              <a:rPr lang="en-US" sz="1450" dirty="0">
                <a:solidFill>
                  <a:srgbClr val="262626"/>
                </a:solidFill>
                <a:latin typeface="Aptos" pitchFamily="34" charset="0"/>
                <a:ea typeface="Aptos" pitchFamily="34" charset="-122"/>
                <a:cs typeface="Aptos" pitchFamily="34" charset="-120"/>
              </a:rPr>
              <a:t>Line up the Open and Close times on the right: </a:t>
            </a:r>
            <a:pPr indent="0" marL="0">
              <a:buNone/>
            </a:pPr>
            <a:r>
              <a:rPr lang="en-US" sz="1450" dirty="0">
                <a:solidFill>
                  <a:srgbClr val="8A2B0B"/>
                </a:solidFill>
                <a:latin typeface="Consolas" pitchFamily="34" charset="0"/>
                <a:ea typeface="Consolas" pitchFamily="34" charset="-122"/>
                <a:cs typeface="Consolas" pitchFamily="34" charset="-120"/>
              </a:rPr>
              <a:t>td</a:t>
            </a:r>
            <a:pPr indent="0" marL="0">
              <a:buNone/>
            </a:pPr>
            <a:r>
              <a:rPr lang="en-US" sz="1450" dirty="0">
                <a:solidFill>
                  <a:srgbClr val="262626"/>
                </a:solidFill>
                <a:latin typeface="Aptos" pitchFamily="34" charset="0"/>
                <a:ea typeface="Aptos" pitchFamily="34" charset="-122"/>
                <a:cs typeface="Aptos" pitchFamily="34" charset="-120"/>
              </a:rPr>
              <a:t> + </a:t>
            </a:r>
            <a:pPr indent="0" marL="0">
              <a:buNone/>
            </a:pPr>
            <a:r>
              <a:rPr lang="en-US" sz="1450" dirty="0">
                <a:solidFill>
                  <a:srgbClr val="8A2B0B"/>
                </a:solidFill>
                <a:latin typeface="Consolas" pitchFamily="34" charset="0"/>
                <a:ea typeface="Consolas" pitchFamily="34" charset="-122"/>
                <a:cs typeface="Consolas" pitchFamily="34" charset="-120"/>
              </a:rPr>
              <a:t>text-align</a:t>
            </a:r>
            <a:endParaRPr lang="en-US" sz="1450" dirty="0"/>
          </a:p>
        </p:txBody>
      </p:sp>
      <p:sp>
        <p:nvSpPr>
          <p:cNvPr id="21" name="Shape 18"/>
          <p:cNvSpPr/>
          <p:nvPr/>
        </p:nvSpPr>
        <p:spPr>
          <a:xfrm>
            <a:off x="7680960" y="1325880"/>
            <a:ext cx="3962095" cy="5029200"/>
          </a:xfrm>
          <a:prstGeom prst="roundRect">
            <a:avLst>
              <a:gd name="adj" fmla="val 2769"/>
            </a:avLst>
          </a:prstGeom>
          <a:solidFill>
            <a:srgbClr val="262626"/>
          </a:solidFill>
          <a:ln w="9525">
            <a:solidFill>
              <a:srgbClr val="262626"/>
            </a:solidFill>
            <a:prstDash val="solid"/>
          </a:ln>
          <a:effectLst>
            <a:outerShdw sx="100000" sy="100000" kx="0" ky="0" algn="bl" rotWithShape="0" blurRad="76200" dist="25400" dir="5400000">
              <a:srgbClr val="000000">
                <a:alpha val="12000"/>
              </a:srgbClr>
            </a:outerShdw>
          </a:effectLst>
        </p:spPr>
      </p:sp>
      <p:sp>
        <p:nvSpPr>
          <p:cNvPr id="22" name="Text 19"/>
          <p:cNvSpPr txBox="1"/>
          <p:nvPr/>
        </p:nvSpPr>
        <p:spPr>
          <a:xfrm>
            <a:off x="7909560" y="1554480"/>
            <a:ext cx="3504895" cy="685800"/>
          </a:xfrm>
          <a:prstGeom prst="rect">
            <a:avLst/>
          </a:prstGeom>
          <a:noFill/>
          <a:ln/>
        </p:spPr>
        <p:txBody>
          <a:bodyPr wrap="square" lIns="0" tIns="0" rIns="0" bIns="0" rtlCol="0" anchor="t"/>
          <a:lstStyle/>
          <a:p>
            <a:pPr indent="0" marL="0">
              <a:buNone/>
            </a:pPr>
            <a:r>
              <a:rPr lang="en-US" sz="1800" b="1" dirty="0">
                <a:solidFill>
                  <a:srgbClr val="FFFFFF"/>
                </a:solidFill>
                <a:latin typeface="Aptos" pitchFamily="34" charset="0"/>
                <a:ea typeface="Aptos" pitchFamily="34" charset="-122"/>
                <a:cs typeface="Aptos" pitchFamily="34" charset="-120"/>
              </a:rPr>
              <a:t>Before next class</a:t>
            </a:r>
            <a:endParaRPr lang="en-US" sz="1800" dirty="0"/>
          </a:p>
        </p:txBody>
      </p:sp>
      <p:sp>
        <p:nvSpPr>
          <p:cNvPr id="23" name="Text 20"/>
          <p:cNvSpPr txBox="1"/>
          <p:nvPr/>
        </p:nvSpPr>
        <p:spPr>
          <a:xfrm>
            <a:off x="7909560" y="2286000"/>
            <a:ext cx="3504895" cy="3931920"/>
          </a:xfrm>
          <a:prstGeom prst="rect">
            <a:avLst/>
          </a:prstGeom>
          <a:noFill/>
          <a:ln/>
        </p:spPr>
        <p:txBody>
          <a:bodyPr wrap="square" lIns="0" tIns="0" rIns="0" bIns="0" rtlCol="0" anchor="t"/>
          <a:lstStyle/>
          <a:p>
            <a:pPr indent="0" marL="0">
              <a:buNone/>
            </a:pPr>
            <a:r>
              <a:rPr lang="en-US" sz="1350" b="1" dirty="0">
                <a:solidFill>
                  <a:srgbClr val="D9D9D9"/>
                </a:solidFill>
                <a:latin typeface="Aptos" pitchFamily="34" charset="0"/>
                <a:ea typeface="Aptos" pitchFamily="34" charset="-122"/>
                <a:cs typeface="Aptos" pitchFamily="34" charset="-120"/>
              </a:rPr>
              <a:t>Keep your Harbourside page!</a:t>
            </a:r>
            <a:endParaRPr lang="en-US" sz="1350" dirty="0"/>
          </a:p>
          <a:p>
            <a:pPr indent="0" marL="0">
              <a:buNone/>
            </a:pPr>
            <a:r>
              <a:rPr lang="en-US" sz="1350" dirty="0">
                <a:solidFill>
                  <a:srgbClr val="D9D9D9"/>
                </a:solidFill>
                <a:latin typeface="Aptos" pitchFamily="34" charset="0"/>
                <a:ea typeface="Aptos" pitchFamily="34" charset="-122"/>
                <a:cs typeface="Aptos" pitchFamily="34" charset="-120"/>
              </a:rPr>
              <a:t>Class 11 starts by validating it (Try Its 7 and 8).</a:t>
            </a:r>
            <a:endParaRPr lang="en-US" sz="1350" dirty="0"/>
          </a:p>
          <a:p>
            <a:pPr indent="0" marL="0">
              <a:buNone/>
            </a:pPr>
            <a:r>
              <a:rPr lang="en-US" sz="10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b="1" dirty="0">
                <a:solidFill>
                  <a:srgbClr val="F2C6AC"/>
                </a:solidFill>
                <a:latin typeface="Aptos" pitchFamily="34" charset="0"/>
                <a:ea typeface="Aptos" pitchFamily="34" charset="-122"/>
                <a:cs typeface="Aptos" pitchFamily="34" charset="-120"/>
              </a:rPr>
              <a:t>Screenshot 1 now? </a:t>
            </a:r>
            <a:pPr indent="0" marL="0">
              <a:buNone/>
            </a:pPr>
            <a:r>
              <a:rPr lang="en-US" sz="1350" dirty="0">
                <a:solidFill>
                  <a:srgbClr val="D9D9D9"/>
                </a:solidFill>
                <a:latin typeface="Aptos" pitchFamily="34" charset="0"/>
                <a:ea typeface="Aptos" pitchFamily="34" charset="-122"/>
                <a:cs typeface="Aptos" pitchFamily="34" charset="-120"/>
              </a:rPr>
              <a:t>Hover Menu, then </a:t>
            </a:r>
            <a:pPr indent="0" marL="0">
              <a:buNone/>
            </a:pPr>
            <a:r>
              <a:rPr lang="en-US" sz="1350" b="1" dirty="0">
                <a:solidFill>
                  <a:srgbClr val="F2C6AC"/>
                </a:solidFill>
                <a:latin typeface="Consolas" pitchFamily="34" charset="0"/>
                <a:ea typeface="Consolas" pitchFamily="34" charset="-122"/>
                <a:cs typeface="Consolas" pitchFamily="34" charset="-120"/>
              </a:rPr>
              <a:t>Win + Shift + S</a:t>
            </a:r>
            <a:pPr indent="0" marL="0">
              <a:buNone/>
            </a:pPr>
            <a:r>
              <a:rPr lang="en-US" sz="1350" dirty="0">
                <a:solidFill>
                  <a:srgbClr val="D9D9D9"/>
                </a:solidFill>
                <a:latin typeface="Aptos" pitchFamily="34" charset="0"/>
                <a:ea typeface="Aptos" pitchFamily="34" charset="-122"/>
                <a:cs typeface="Aptos" pitchFamily="34" charset="-120"/>
              </a:rPr>
              <a:t>. All three go on Brightspace after Class 11.</a:t>
            </a:r>
            <a:endParaRPr lang="en-US" sz="1350" dirty="0"/>
          </a:p>
          <a:p>
            <a:pPr indent="0" marL="0">
              <a:buNone/>
            </a:pPr>
            <a:r>
              <a:rPr lang="en-US" sz="1000" dirty="0">
                <a:solidFill>
                  <a:srgbClr val="D9D9D9"/>
                </a:solidFill>
                <a:latin typeface="Aptos" pitchFamily="34" charset="0"/>
                <a:ea typeface="Aptos" pitchFamily="34" charset="-122"/>
                <a:cs typeface="Aptos" pitchFamily="34" charset="-120"/>
              </a:rPr>
              <a:t> </a:t>
            </a:r>
            <a:endParaRPr lang="en-US" sz="1350" dirty="0"/>
          </a:p>
          <a:p>
            <a:pPr indent="0" marL="0">
              <a:buNone/>
            </a:pPr>
            <a:r>
              <a:rPr lang="en-US" sz="1350" b="1" dirty="0">
                <a:solidFill>
                  <a:srgbClr val="F2C6AC"/>
                </a:solidFill>
                <a:latin typeface="Aptos" pitchFamily="34" charset="0"/>
                <a:ea typeface="Aptos" pitchFamily="34" charset="-122"/>
                <a:cs typeface="Aptos" pitchFamily="34" charset="-120"/>
              </a:rPr>
              <a:t>Stuck? </a:t>
            </a:r>
            <a:pPr indent="0" marL="0">
              <a:buNone/>
            </a:pPr>
            <a:r>
              <a:rPr lang="en-US" sz="1350" dirty="0">
                <a:solidFill>
                  <a:srgbClr val="D9D9D9"/>
                </a:solidFill>
                <a:latin typeface="Aptos" pitchFamily="34" charset="0"/>
                <a:ea typeface="Aptos" pitchFamily="34" charset="-122"/>
                <a:cs typeface="Aptos" pitchFamily="34" charset="-120"/>
              </a:rPr>
              <a:t>Peek at activity/answer/.</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Cheat Sheet: Menus and Tables</a:t>
            </a:r>
            <a:endParaRPr lang="en-US" sz="28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754880" y="1737360"/>
          <a:ext cx="6903720" cy="914400"/>
        </p:xfrm>
        <a:graphic>
          <a:graphicData uri="http://schemas.openxmlformats.org/drawingml/2006/table">
            <a:tbl>
              <a:tblPr/>
              <a:tblGrid>
                <a:gridCol w="3794760"/>
                <a:gridCol w="3108960"/>
              </a:tblGrid>
              <a:tr h="402336">
                <a:tc>
                  <a:txBody>
                    <a:bodyPr/>
                    <a:lstStyle/>
                    <a:p>
                      <a:pPr indent="0" marL="0">
                        <a:buNone/>
                      </a:pPr>
                      <a:r>
                        <a:rPr lang="en-US" sz="1250" b="1" dirty="0">
                          <a:solidFill>
                            <a:srgbClr val="FFFFFF"/>
                          </a:solidFill>
                          <a:latin typeface="Aptos" pitchFamily="34" charset="0"/>
                          <a:ea typeface="Aptos" pitchFamily="34" charset="-122"/>
                          <a:cs typeface="Aptos" pitchFamily="34" charset="-120"/>
                        </a:rPr>
                        <a:t>Code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c>
                  <a:txBody>
                    <a:bodyPr/>
                    <a:lstStyle/>
                    <a:p>
                      <a:pPr indent="0" marL="0">
                        <a:buNone/>
                      </a:pPr>
                      <a:r>
                        <a:rPr lang="en-US" sz="1250" b="1" dirty="0">
                          <a:solidFill>
                            <a:srgbClr val="FFFFFF"/>
                          </a:solidFill>
                          <a:latin typeface="Aptos" pitchFamily="34" charset="0"/>
                          <a:ea typeface="Aptos" pitchFamily="34" charset="-122"/>
                          <a:cs typeface="Aptos" pitchFamily="34" charset="-120"/>
                        </a:rPr>
                        <a:t>What it does</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262626"/>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nav ul { list-style: none; padding: 0;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Remove the bullets and the indent</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nav ul { display: flex; gap: 4px;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Links side by side, with space between</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nav a { display: block; padding: …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The whole box is clickable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a[aria-current="page"]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Style the "you are here" link</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li { position: relative;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Dropdowns are placed against their li</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ul ul { display: none; position: absolute;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Hide the dropdown; float it over the page</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li:hover &gt; ul, li:focus-within &gt; ul</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Show it for the mouse and the keyboard</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border-collapse: collapse</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One line between table cells, not two</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tbody tr:nth-child(even)</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Zebra stripes on the data rows</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FFFFFF"/>
                    </a:solidFill>
                  </a:tcPr>
                </a:tc>
              </a:tr>
              <a:tr h="402336">
                <a:tc>
                  <a:txBody>
                    <a:bodyPr/>
                    <a:lstStyle/>
                    <a:p>
                      <a:pPr indent="0" marL="0">
                        <a:buNone/>
                      </a:pPr>
                      <a:r>
                        <a:rPr lang="en-US" sz="1150" dirty="0">
                          <a:solidFill>
                            <a:srgbClr val="8A2B0B"/>
                          </a:solidFill>
                          <a:latin typeface="Consolas" pitchFamily="34" charset="0"/>
                          <a:ea typeface="Consolas" pitchFamily="34" charset="-122"/>
                          <a:cs typeface="Consolas" pitchFamily="34" charset="-120"/>
                        </a:rPr>
                        <a:t>.table-wrap { overflow-x: auto; }</a:t>
                      </a:r>
                      <a:endParaRPr lang="en-US" sz="1150" dirty="0">
                        <a:latin typeface="Consolas" charset="0"/>
                        <a:ea typeface="Consolas" charset="0"/>
                        <a:cs typeface="Consola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c>
                  <a:txBody>
                    <a:bodyPr/>
                    <a:lstStyle/>
                    <a:p>
                      <a:pPr indent="0" marL="0">
                        <a:buNone/>
                      </a:pPr>
                      <a:r>
                        <a:rPr lang="en-US" sz="1250" dirty="0">
                          <a:solidFill>
                            <a:srgbClr val="000000"/>
                          </a:solidFill>
                          <a:latin typeface="Aptos" pitchFamily="34" charset="0"/>
                          <a:ea typeface="Aptos" pitchFamily="34" charset="-122"/>
                          <a:cs typeface="Aptos" pitchFamily="34" charset="-120"/>
                        </a:rPr>
                        <a:t>A wide table scrolls in its own box</a:t>
                      </a:r>
                      <a:endParaRPr lang="en-US" sz="1250" dirty="0">
                        <a:latin typeface="Aptos" charset="0"/>
                        <a:ea typeface="Aptos" charset="0"/>
                        <a:cs typeface="Aptos" charset="0"/>
                      </a:endParaRPr>
                    </a:p>
                  </a:txBody>
                  <a:tcPr marL="76200" marR="76200" marT="38100" marB="38100" anchor="ctr">
                    <a:lnL w="6350" cap="flat" cmpd="sng" algn="ctr">
                      <a:solidFill>
                        <a:srgbClr val="C8C8C8"/>
                      </a:solidFill>
                      <a:prstDash val="solid"/>
                      <a:round/>
                      <a:headEnd type="none" w="med" len="med"/>
                      <a:tailEnd type="none" w="med" len="med"/>
                    </a:lnL>
                    <a:lnR w="6350" cap="flat" cmpd="sng" algn="ctr">
                      <a:solidFill>
                        <a:srgbClr val="C8C8C8"/>
                      </a:solidFill>
                      <a:prstDash val="solid"/>
                      <a:round/>
                      <a:headEnd type="none" w="med" len="med"/>
                      <a:tailEnd type="none" w="med" len="med"/>
                    </a:lnR>
                    <a:lnT w="6350" cap="flat" cmpd="sng" algn="ctr">
                      <a:solidFill>
                        <a:srgbClr val="C8C8C8"/>
                      </a:solidFill>
                      <a:prstDash val="solid"/>
                      <a:round/>
                      <a:headEnd type="none" w="med" len="med"/>
                      <a:tailEnd type="none" w="med" len="med"/>
                    </a:lnT>
                    <a:lnB w="6350" cap="flat" cmpd="sng" algn="ctr">
                      <a:solidFill>
                        <a:srgbClr val="C8C8C8"/>
                      </a:solidFill>
                      <a:prstDash val="solid"/>
                      <a:round/>
                      <a:headEnd type="none" w="med" len="med"/>
                      <a:tailEnd type="none" w="med" len="med"/>
                    </a:lnB>
                    <a:solidFill>
                      <a:srgbClr val="E4E4E4"/>
                    </a:solidFill>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2F2F2"/>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262626"/>
          </a:solidFill>
          <a:ln w="12700">
            <a:solidFill>
              <a:srgbClr val="262626"/>
            </a:solidFill>
            <a:prstDash val="solid"/>
          </a:ln>
        </p:spPr>
      </p:sp>
      <p:sp>
        <p:nvSpPr>
          <p:cNvPr id="3" name="Text 1"/>
          <p:cNvSpPr txBox="1"/>
          <p:nvPr/>
        </p:nvSpPr>
        <p:spPr>
          <a:xfrm>
            <a:off x="868680" y="548640"/>
            <a:ext cx="2560320" cy="1280160"/>
          </a:xfrm>
          <a:prstGeom prst="rect">
            <a:avLst/>
          </a:prstGeom>
          <a:noFill/>
          <a:ln/>
        </p:spPr>
        <p:txBody>
          <a:bodyPr wrap="square" lIns="0" tIns="0" rIns="0" bIns="0" rtlCol="0" anchor="t"/>
          <a:lstStyle/>
          <a:p>
            <a:pPr indent="0" marL="0">
              <a:buNone/>
            </a:pPr>
            <a:r>
              <a:rPr lang="en-US" sz="2200" dirty="0">
                <a:solidFill>
                  <a:srgbClr val="F2F2F2"/>
                </a:solidFill>
                <a:latin typeface="Aptos" pitchFamily="34" charset="0"/>
                <a:ea typeface="Aptos" pitchFamily="34" charset="-122"/>
                <a:cs typeface="Aptos" pitchFamily="34" charset="-120"/>
              </a:rPr>
              <a:t>HTML/CSS Techniques</a:t>
            </a:r>
            <a:endParaRPr lang="en-US" sz="2200" dirty="0"/>
          </a:p>
        </p:txBody>
      </p:sp>
      <p:sp>
        <p:nvSpPr>
          <p:cNvPr id="4" name="Shape 2"/>
          <p:cNvSpPr/>
          <p:nvPr/>
        </p:nvSpPr>
        <p:spPr>
          <a:xfrm>
            <a:off x="4754880" y="658368"/>
            <a:ext cx="457200" cy="45720"/>
          </a:xfrm>
          <a:prstGeom prst="rect">
            <a:avLst/>
          </a:prstGeom>
          <a:solidFill>
            <a:srgbClr val="000000"/>
          </a:solidFill>
          <a:ln w="12700">
            <a:solidFill>
              <a:srgbClr val="000000"/>
            </a:solidFill>
            <a:prstDash val="solid"/>
          </a:ln>
        </p:spPr>
      </p:sp>
      <p:sp>
        <p:nvSpPr>
          <p:cNvPr id="5" name="Text 3"/>
          <p:cNvSpPr txBox="1"/>
          <p:nvPr/>
        </p:nvSpPr>
        <p:spPr>
          <a:xfrm>
            <a:off x="4754880" y="822960"/>
            <a:ext cx="6903720" cy="868680"/>
          </a:xfrm>
          <a:prstGeom prst="rect">
            <a:avLst/>
          </a:prstGeom>
          <a:noFill/>
          <a:ln/>
        </p:spPr>
        <p:txBody>
          <a:bodyPr wrap="square" lIns="0" tIns="0" rIns="0" bIns="0" rtlCol="0" anchor="t"/>
          <a:lstStyle/>
          <a:p>
            <a:pPr indent="0" marL="0">
              <a:buNone/>
            </a:pPr>
            <a:r>
              <a:rPr lang="en-US" sz="2800" b="1" dirty="0">
                <a:solidFill>
                  <a:srgbClr val="000000"/>
                </a:solidFill>
                <a:latin typeface="Aptos" pitchFamily="34" charset="0"/>
                <a:ea typeface="Aptos" pitchFamily="34" charset="-122"/>
                <a:cs typeface="Aptos" pitchFamily="34" charset="-120"/>
              </a:rPr>
              <a:t>Class 10 Recap and Next Steps</a:t>
            </a:r>
            <a:endParaRPr lang="en-US" sz="2800" dirty="0"/>
          </a:p>
        </p:txBody>
      </p:sp>
      <p:sp>
        <p:nvSpPr>
          <p:cNvPr id="7" name="Text 4"/>
          <p:cNvSpPr txBox="1"/>
          <p:nvPr/>
        </p:nvSpPr>
        <p:spPr>
          <a:xfrm>
            <a:off x="4754880" y="1783080"/>
            <a:ext cx="6903720" cy="4663440"/>
          </a:xfrm>
          <a:prstGeom prst="rect">
            <a:avLst/>
          </a:prstGeom>
          <a:noFill/>
          <a:ln/>
        </p:spPr>
        <p:txBody>
          <a:bodyPr wrap="square" lIns="0" tIns="0" rIns="0" bIns="0" rtlCol="0" anchor="t"/>
          <a:lstStyle/>
          <a:p>
            <a:pPr marL="342900" indent="-342900">
              <a:buSzPct val="100000"/>
              <a:buChar char="•"/>
            </a:pPr>
            <a:r>
              <a:rPr lang="en-US" sz="2000" b="1" dirty="0">
                <a:solidFill>
                  <a:srgbClr val="000000"/>
                </a:solidFill>
                <a:latin typeface="Aptos" pitchFamily="34" charset="0"/>
                <a:ea typeface="Aptos" pitchFamily="34" charset="-122"/>
                <a:cs typeface="Aptos" pitchFamily="34" charset="-120"/>
              </a:rPr>
              <a:t>Recap:</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Every menu is nav → ul → li → a. CSS makes it horizontal, vertical or a dropdown.</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Make the whole link clickable (display: block + padding), and open dropdowns with :focus-within too.</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Tables are for data: caption, thead, tbody, th with scope, td.</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border-collapse, padding on cells, zebra stripes with nth-child, and a scrolling wrapper for small screens.</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Before next class:</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Keep your Harbourside page as it is. Bring your Assignment 2 folder too.</a:t>
            </a:r>
            <a:endParaRPr lang="en-US" sz="2000" dirty="0"/>
          </a:p>
          <a:p>
            <a:pPr marL="342900" indent="-342900">
              <a:spcBef>
                <a:spcPts val="800"/>
              </a:spcBef>
              <a:buSzPct val="100000"/>
              <a:buChar char="•"/>
            </a:pPr>
            <a:r>
              <a:rPr lang="en-US" sz="2000" b="1" dirty="0">
                <a:solidFill>
                  <a:srgbClr val="000000"/>
                </a:solidFill>
                <a:latin typeface="Aptos" pitchFamily="34" charset="0"/>
                <a:ea typeface="Aptos" pitchFamily="34" charset="-122"/>
                <a:cs typeface="Aptos" pitchFamily="34" charset="-120"/>
              </a:rPr>
              <a:t>Next class (Class 11):</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Validation: the W3C HTML and CSS validators (Try Its 7 and 8).</a:t>
            </a:r>
            <a:endParaRPr lang="en-US" sz="2000" dirty="0"/>
          </a:p>
          <a:p>
            <a:pPr lvl="1" marL="685800" indent="-342900">
              <a:spcBef>
                <a:spcPts val="300"/>
              </a:spcBef>
              <a:buSzPct val="100000"/>
              <a:buChar char="•"/>
            </a:pPr>
            <a:r>
              <a:rPr lang="en-US" sz="1550" dirty="0">
                <a:solidFill>
                  <a:srgbClr val="000000"/>
                </a:solidFill>
                <a:latin typeface="Aptos" pitchFamily="34" charset="0"/>
                <a:ea typeface="Aptos" pitchFamily="34" charset="-122"/>
                <a:cs typeface="Aptos" pitchFamily="34" charset="-120"/>
              </a:rPr>
              <a:t>Assignment 2 review: one stylesheet for many pages.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Navigation Menus and Tables</dc:title>
  <dc:subject>PptxGenJS Presentation</dc:subject>
  <dc:creator>Jamie Symonds</dc:creator>
  <cp:lastModifiedBy>Jamie Symonds</cp:lastModifiedBy>
  <cp:revision>1</cp:revision>
  <dcterms:created xsi:type="dcterms:W3CDTF">2026-10-21T00:41:15Z</dcterms:created>
  <dcterms:modified xsi:type="dcterms:W3CDTF">2026-10-21T00:41:15Z</dcterms:modified>
</cp:coreProperties>
</file>