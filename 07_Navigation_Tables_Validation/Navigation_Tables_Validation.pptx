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class: advanced selectors and CSS animation.
Today is about the furniture every real site has: a navigation menu to get around, tables for data like prices and opening hours, and a way to check our HTML for the mistakes the browser quietly hides from us.
We're back on the Harbourside page from Class 8. By the end of class it will have a real navigation bar with a dropdown, an opening-hours table, and HTML that passes the W3C validator with zero errors.
Reminder: no class on Wednesday, October 21 (Assessment &amp; Evaluation day, college open). Today is our only class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have students git pull and open the 07_Navigation_Tables_Validation folder in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plan for the two hours:
- 8 min: intro and getting the code
- 40 min: navigation menus (four examples, then Try Its 1 to 4)
- 30 min: tables (four examples, then Try Its 5 and 6)
- 22 min: HTML validation (what, why, how, then Try It 7)
- 10 min: CSS validation (Example 11, then Try It 8)
- 7 min: make it yours and submit
That's about 117 minutes, so there's very little slack. If time runs short, Try It 8 can be finished as homework.
Every Try It adds to the same Harbourside page, so it builds up across the class, like Class 8. The submission is three screenshots on Brightspace (participation).
No class Wednesday, October 21: Assessment &amp; Evaluation day. The college is open, there are just no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01–04 are navigation, 05–08 are tables, 09–10 are HTML validation and 11–12 are CSS validation. Every example is a single file with its CSS in a &lt;style&gt; block.
The activity folder is the Harbourside page from Class 8, with our finished Class 8 CSS already in style.css (tidied up). There's no nav yet, and the hours are still a bulleted list.
The starter index.html has 5 deliberate mistakes in it, and the Class 8 part of style.css has 3. Don't mention them yet! They're the surprises in Try Its 7 and 8.
Ask students not to open activity/answer until they're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site you use has a navigation menu: the set of links that gets you around. It's often the first thing people look for, so it has to be easy to find, easy to read and easy to click (or tap, or Tab to).
The good news: every menu, however fancy, starts as the same plain HTML. The difference is all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the classic bar across the top. Best for a handful of main links (about 3 to 7).
Vertical: a stack of links down the side. Good for longer lists: sections of a menu, account settings, documentation.
Dropdown: a horizontal bar where some items open a smaller list. Good for grouping related pages without making the bar too long.
On phones, a horizontal menu usually collapses into a 'hamburger' button (☰). That needs a little JavaScript, which we'll meet later in the program.
The key point is the bottom of the slide: all three are the same HTML structure. nav, then ul, then li, then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01_nav_structure_example.html. With no CSS it's just a bulleted list of links. That's fine! It works, it's accessible, and it's the starting point for every menu we'll build.
Why a list? Because it is one: a group of related links. A screen reader announces 'navigation, list, 4 items', so the user knows how big the menu is before they start. A row of bare links or a pile of divs doesn't tell them that.
We met &lt;nav&gt; as a landmark in Class 4. Only use it for major navigation blocks (the main menu, maybe a table of contents), not for every group of links on the page. A link list in the footer doesn't need one.
On a real site the href values would be page names like menu.html or contact.html. Here they're # links so nothing breaks when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02_nav_horizontal_example.html. Walk through the four numbered comments; each one is one step from Example 01 to a real menu bar.
1. The bullets and indent go. (Last year's version of this slide used display: inline-block on each li, which also works. Flexbox is the modern way, and it lines things up more reliably.)
2. display: flex on the ul lays its children, the li's, out in a row. gap adds space between them, but not at the ends. We'll do Flexbox properly next class; today we just need these two lines.
3. Put the padding on the a, not the li, and make the a display: block. Then the whole coloured box is the link: a much bigger target for a mouse, and especially for a finger on a phone. WCAG 2.5.8 asks for targets of at least 24 by 24 pixels.
4. aria-current="page" tells screen readers 'you are here', and the attribute selector from Class 9 lets us style it too. One attribute does both jobs.
Try in class: comment out display: flex and save. The menu goes back to a stacked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03_nav_vertical_example.html. This is the kind of menu you see down the side of a page: menu sections, account settings, a course's list of weeks in Brightspace.
Same starting point (remove the bullets), but no display: flex this time, because a list stacks vertically on its own.
The transparent border trick: the left border is always there, just invisible. On hover it changes colour. If the border only appeared on hover, the box would get 4px wider and the text would shift. Little details like this make a menu feel solid.
The 'current page' style is the strongest one (navy with white text), so you can see where you are at a glance.
The width: 220px on the nav keeps it narrow, like a sidebar. Placing it beside the page content is a layout job (Flexbox), coming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04_nav_dropdown_example.html. Hover Menu: the list drops down. Now click in the page and press Tab: when you reach Menu, the dropdown opens too, and you can Tab through its links. That's :focus-within. It matches an element when it, or anything inside it, has focus.
Last year's version of this slide only used :hover, which means keyboard users could never open the dropdown. That's a WCAG failure (2.1.1 Keyboard). One extra selector fixes it.
The HTML: look at the body of the file. The Menu li contains a link AND a whole second &lt;ul&gt;.
The CSS, step by step:
1. position: relative on each li. On its own it does nothing visible. It just says 'measure absolute things inside me from here'.
2. The inner list is hidden (display: none) and positioned absolutely: top: 100% means 'just below the bottom of my li', left: 0 lines it up with the li's left edge. Absolute elements don't take up space, so the dropdown floats over the paragraph instead of pushing it down.
3. When the li is hovered or has focus inside it, show the list.
The &gt; in 'li:hover &gt; ul' is the child combinator from Class 9: only the li's own list, not lists deeper down.
Try: remove position: relative from nav li. The dropdown jumps to the left edge of the page, because it's now measured from the page itself.
Real-world note: big sites usually open dropdowns with a button and a few lines of JavaScript, so they work on touch screens too. The CSS version is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the hands-on part. Same Harbourside page as Class 8, with eight Try Its spread through the class: four for the nav, two for the table, and two for validation (HTML, then CSS).
The left picture is the starter: our Class 8 page, no nav, hours as a bullet list. (Look closely: the prices are plain black. That's one of the hidden CSS mistakes Try It 8 finds.) The right pictures are where we'll be by the end.
The starter style.css has the Class 8 CSS at the top, then an empty heading for each Try It. Everything we type goes under those headings.
Submission (participation): three screenshots on Brightspace: the page with the dropdown open, the HTML validator saying 'No errors', and the CSS validator saying 'No Error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it together. Two files this time: the HTML in index.html (inside the header, under the h1, where the 'Try It 1' comment is), then the CSS in style.css.
Save after the HTML first, so they see the plain bulleted list (Example 01). Then save after the CSS and watch it become a row (Example 02). Seeing both steps makes the point that CSS is doing all the work.
&amp;amp; is the entity for &amp; from Class 1. A bare &amp; usually works, but the entity is the safe habit.
The links jump down the page to the sections with those ids. That's an in-page link: href="#hours" goes to id="hours".
Until Try It 2, the links are the browser's default blue and purple on navy: hard to read. That's fixed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looks like a real menu bar.
White on navy is 13.6 : 1 contrast (from Class 8). White on the hover teal #1B5E82 is about 7 : 1, still well over 4.5 : 1.
The orange underline is decoration, not text, so the 3 : 1 rule for non-text elements applies, and #E97132 on navy passes that.
Why hover AND focus-visible in one rule: anything that reacts to the mouse should also react to the keyboard. Grouping them means you can't forget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trickiest Try It, so go slowly and check the HTML first. The most common mistake: putting the new &lt;ul&gt; after the &lt;/li&gt; instead of inside it. Then it's a sibling, not a child, and the CSS never finds it.
&amp;#9662; is a numbered entity for the small down-triangle ▾ (Class 1 entities again). It tells sighted users 'this one opens'.
nav li { position: relative; } is written on one line to save space. It's exactly the same as three lines.
The planned 'bug': when the dropdown opens, the links are white (from Try It 2) on a transparent background, so they almost disappear against the pale page. Let students discover this, then fix it in Try It 4. A good moment to point out that a white-on-white menu passes no contrast test.
Why does the dropdown stack vertically when the main menu is a row? 'nav ul ul' is more specific than 'nav ul', so its display wins: none, then block. The cascade again!
One more thing to notice: the Kids' Fish Bites link won't jump anywhere when clicked. There's a reason, and the validator finds it in Try It 7. Don't give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satisfying: the dropdown becomes a proper white panel with a shadow, and navy links.
box-shadow: 0 4px 12px rgba(0, 0, 0, 0.25) means: 0 across, 4px down, 12px of blur, in black at 25% opacity. A soft shadow just below makes it look like it's floating above the page.
nav ul ul a is more specific than nav a, so the dropdown links are navy, not white. The hover rule overrides the teal from Try It 2 with peach.
Checkpoint: everyone should now have a working menu bar with a dropdown. That's half of today's activity. Have them take screenshot 1 now (the dropdown open), while they're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are for data that has rows AND columns: prices, schedules, results, timetables. If you'd put it in a spreadsheet, it's probably a table.
In the 1990s, whole websites were laid out with tables. Don't do that! It's a nightmare for screen readers and phones. Today, CSS does layout, and tables are only for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met accessible tables in Class 4 (caption, th, scope). Here they are all together, because these are exactly the tags we'll style.
The nesting: a table contains rows (tr), and rows contain cells (th or td). There's no 'column' tag: columns are made by lining cells up, row after row. So every row needs the same number of cells.
thead and tbody split the header rows from the data. They matter for CSS: 'tbody tr:nth-child(even)' stripes the data rows only.
scope="col" says 'this heading labels the column below it'. scope="row" says 'this heading labels the row to its right'. With these, a screen reader can say 'Halibut, Price per lb, $24.50' instead of just '$24.50'.
caption is the table's name, and it's the first thing a screen reader announces.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05_table_structure_example.html. It works, and it's accessible, but it's hard to read: no lines, the columns are squashed together, and the headings are centred.
Notice the browser already treats the th cells differently: bold, and centred in the header row. The first cell of each data row is a th too (scope="row"), so the fish names are bold.
All of the next three examples use exactly this HTML. Only the CSS changes. That's the point of separating structure (HTML) from presentation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06_table_styled_example.html, then comment out border-collapse: collapse and save. Every cell gets its own border with a gap in between: double lines everywhere. That's the browser default, and almost nobody wants it.
Padding goes on th and td. Padding on the table itself only adds space around the outside.
text-align: left on th undoes the browser's centred headings, so headings line up with their data.
Right-aligning prices is a typography habit: the decimal points line up, so it's easy to compare numbers down a column. th:last-child, td:last-child picks the last cell in every row, no classes needed.
width: 100% makes the table fill its container. Without it, a table is only as wide as its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07_table_zebra_example.html and hover the rows.
Zebra stripes (alternating row colours) help your eye stay on the same row as it moves across a wide table. nth-child from Class 9 does it automatically: no classes on rows, and if you add or delete a row, the stripes fix themselves.
Why tbody tr and not just tr? Plain tr:nth-child(even) would also work here, because each tr is counted inside its own parent (thead or tbody). But writing tbody makes your intent clear, and keeps your header style safe if the stripe rule ever changes to odd.
Also new: borders on the bottom only. A full grid can look busy; lines between rows are cleaner and very common on real sites.
Keep the stripe colour gentle. The text still needs 4.5 : 1 contrast on both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08_table_responsive_example.html and make the browser narrow (or use the DevTools device toolbar: Ctrl + Shift + M). The table keeps its width and the wrapper scrolls sideways. The rest of the page stays put.
Without the wrapper, a wide table pokes out of the page, and the WHOLE page scrolls sideways on a phone. That's WCAG 1.4.10 Reflow: content shouldn't need two-way scrolling at 320px wide (data tables are an allowed exception, but they should only scroll themselves).
Last year's slide put overflow-x: auto and display: block on the table itself. That works visually, but changing a table's display can make some screen readers stop treating it as a table. The wrapper div is the safer way.
role="region" + aria-label + tabindex="0": the scrolling box can get keyboard focus (so the arrow keys scroll it), and a screen reader announces its name. Nice to have, not required today.
min-width: 700px stops the browser from squashing the columns down to nothing before it scrolls.
The other approach, turning each row into a 'card' on small screens, needs media queries, which come with responsive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 with class table-wrap is the wrapper from Example 08. Our table is narrow, so it may never actually scroll, but wrapping every table is a good habit.
VS Code shortcut: select the five lines of the Monday row, then Shift + Alt + Down Arrow copies them below. Press it six times, then change the days and times. Much faster than typing, and no typos in the tags.
Common mistakes:
- A row with only two cells: the columns go out of line.
- &lt;th&gt; for the day but forgetting scope="row".
- Rows typed outside the &lt;/tbody&gt;.
Don't remove the 'Try It 5' comment if you don't want to. Comments are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recipe as Examples 06 and 07: collapse the borders, padding and lines on the cells, a navy header row, zebra stripes on the data rows.
thead th, not just th: the day names are th too (scope="row"). Plain th would make every day name white on navy as well.
The stripes land on Tuesday, Thursday and Saturday, rows 2, 4 and 6 of the tbody.
Checkpoint: everyone should have a styled nav with a dropdown and a styled hours table. Next: is our HTML actually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secret: browsers are very forgiving. If your HTML has a mistake, the browser quietly guesses what you meant and shows the page anyway. Most of the time it guesses right, so you never notice.
That's great for people browsing the web, but terrible for finding your own mistakes. A validator is a tool that doesn't forgive: it reads your HTML and lists every place it breaks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checking your HTML against the official rules (the HTML standard, maintained by WHATWG and W3C). The W3C validator is a free website that does this.
Why, honestly:
- The browser's guess isn't always the same guess. Different browsers, and especially screen readers, can repair broken HTML differently. Valid HTML means everyone gets the same page.
- It finds bugs you can't see. A duplicate id breaks in-page links and form labels. A wrongly closed tag can swallow half your page.
- Accessibility: missing alt text and broken nesting confuse assistive technology.
- It's a professional habit. Clients and employers notice, and it's part of how your projects are marked in this program.
A myth from last year's slide: validation doesn't directly change your Google ranking. Search engines read broken HTML fine. But a clean, well-structured page helps everything that reads it, search engines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validator.w3.org has three tabs across the top.
Validate by URI (address): for pages that are already online. Ours aren't yet, so this one's for later in the program.
Validate by File Upload: pick the .html file from your computer.
Validate by Direct Input: paste the code into a box. This is the quickest today: in VS Code, Ctrl + A then Ctrl + C, and paste.
The results are a numbered list. Red 'Error' messages are rule-breakers: fix them. 'Warning' and 'Info' messages are advice: read them, and fix them if you agree. For example, a slash at the end of &lt;img ... /&gt; gets an info message. It's harmless.
There's a separate CSS validator at jigsaw.w3.org/css-validator, with the same three tabs. We'll use it after Try It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09_validation_broken_example.html in the browser: it looks completely normal.
Give the class a minute to spot the four mistakes in the code (don't reveal yet):
1. The img has no alt attribute.
2. &lt;h2&gt; is closed with &lt;/h3&gt;.
3. color="red" isn't an HTML attribute (and the text isn't even red: the browser ignored it).
4. &lt;strong&gt;&lt;em&gt; … &lt;/strong&gt;&lt;/em&gt;: closed in the wrong order.
Then demo it live: validator.w3.org → Validate by Direct Input → paste the whole file → Check. The next slide shows what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Example 09 (copied from validator.w3.org). Four mistakes, but FIVE error messages: the wrong nesting on line 21 creates two. One mistake often causes a little chain of messages.
So the method is:
1. Read the FIRST error.
2. Go to that line in VS Code (Ctrl + G, then the line number).
3. Fix it, save, and validate again.
4. Repeat until it says 'Document checking completed. No errors or warnings to show.'
Often fixing one error makes others disappear too.
The messages use the official names, so they can sound scary. 'End tag h3 seen, but there were open elements' just means 'you closed an h3, but the h2 you opened is still open'.
Example 10 is the fixed version, with a comment on each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surprise: the starter index.html had five mistakes in it from the start. Not in anything students typed today (hopefully!), but in the page they were given.
The five, for you (all fixed and commented in activity/answer/index.html):
1. Line ~15: the header logo &lt;img&gt; has no alt. It's decoration (the h1 says the name), so alt="".
2. Line ~30: &lt;strong&gt;…&lt;em&gt;boats&lt;/strong&gt;&lt;/em&gt;, closed in the wrong order (two messages).
3. Line ~44: &lt;h3&gt;Clam Strips&lt;/h2&gt;.
4. Line ~55: Duplicate ID “clams”. The Kids' Fish Bites article is id="clams" (copy-and-paste!). It should be id="kids", and that's why the dropdown's Kids link didn't work in Try It 3.
5. Line ~77: &lt;p font="small"&gt;. Not an attribute: use class="small" and CSS.
Line numbers move a little, depending on what each student typed.
If students get errors in their own nav or table code, even better: they fix those too. Common ones: a missing &lt;/li&gt;, a &lt;ul&gt; outside its &lt;li&gt;, or a missing &lt;/tr&gt;.
The HTML validator doesn't open style.css, so it can't see the CSS mistakes. That's next, in Try It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11_css_validation_broken_example.html. It looks like a plain, unstyled page, and nothing tells you why. Open DevTools (F12) and look at the Styles panel: the broken declarations are crossed out, with a little warning triangle. That's the browser's only hint.
Give the class a minute to spot the four mistakes:
1. colour (British spelling). CSS only knows color.
2. font-size: 18 with no unit. Only 0 can go without a unit.
3. A missing semicolon after font-weight: bold. The browser reads 'bold color: #B5451B' as one broken value, so BOTH lines are lost: the price is neither bold nor orange.
4. text-align: middle. The word is center.
Then demo it live: jigsaw.w3.org/css-validator → By direct input → paste the whole file → Check. The CSS validator accepts a whole HTML file and checks its &lt;style&gt; block. The next slide shows what comes back.
Why we need a second validator: validator.w3.org does check CSS inside a &lt;style&gt; block (paste Example 11 into it and you get the same four errors). But it never downloads linked stylesheets. Our Harbourside CSS lives in style.css, so only the CSS validator can check it.
Right-hand picture: Example 12, the fixed version (each fix has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Example 11 (from jigsaw.w3.org/css-validator, October 2026). One message per mistake this time, and they're friendlier than the HTML ones: the first even suggests the right spelling.
The page has the same three tabs as the HTML validator: By URI, By file upload, By direct input. Direct input is quickest: Ctrl + A, Ctrl + C in style.css, paste, Check.
Each message gives the line number and the selector it's in (h1, p, .price, .note), which makes it easy to find.
When it's clean, the result says 'Congratulations! No Error Found.' (with a green banner). That's screenshot 3.
Warnings: the CSS validator sometimes warns about things that are fine, like vendor prefixes (-webkit-…). Errors matter; warnings are advice, same as with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surprise: the Class 8 part of the starter style.css has three mistakes in it. They've been there all class, and nobody noticed, because the browser just skipped them.
The three, for you (fixed and commented as CSS Fix 1–3 in activity/answer/style.css):
1. Line ~50: main { padding: 20; }, no unit, so main has no padding at all.
2. Line ~70: figcaption { colour: #595959; }, so the caption is black instead of grey.
3. Line ~74: .price { font-weight: bold  (no semicolon) color: #B5451B; }, so the prices are neither bold nor orange.
Line numbers move depending on what each student typed below.
After fixing, the page visibly changes: orange bold prices, a grey caption, and the main column gets its padding back. Ask: 'Did anyone notice the prices were black all class?'
Also possible: errors in the CSS students typed today, e.g. a missing } or a typo in a property. They fix those too.
If time is short, this one is fine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a working dropdown, a styled table and two clean validator results has done the job. The ideas are for fast finishers, or homework.
Re-validate after making changes! It's easy to break something while adding to it.
What to collect on Brightspace (participation): three screenshots. 1: the page in the browser with the Menu dropdown open (hover it, then Win + Shift + S. The Snipping Tool waits for you to pick an area, so the dropdown stays open). 2: the HTML validator showing no errors. 3: the CSS validator showing 'No Error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today's CSS in one place. It's in the README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messages students will see most often this term, and what they really mean. Top: validator.w3.org (HTML). Bottom: jigsaw.w3.org/css-validator (CSS).
Two more HTML ones worth knowing: 'Element li not allowed as child of element nav' (an li must be inside a ul or ol) and 'Stray end tag div' (a closing tag with no opening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page layout. Today's display: flex was a sneak peek; next time we look at display, position and Flexbox properly, and use them to put the Harbourside menu cards side by side.
Reminder: no class Wednesday, October 21 (Assessment &amp; Evaluation day). Make sure the three screenshots are on Brightspace.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19456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10:</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Navigation menus, tables, and checking your HTML with the W3C validator.</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10: Class Overview</a:t>
            </a:r>
            <a:endParaRPr lang="en-US" sz="2800" dirty="0"/>
          </a:p>
        </p:txBody>
      </p:sp>
      <p:sp>
        <p:nvSpPr>
          <p:cNvPr id="7" name="Text 4"/>
          <p:cNvSpPr txBox="1"/>
          <p:nvPr/>
        </p:nvSpPr>
        <p:spPr>
          <a:xfrm>
            <a:off x="4754880" y="1783080"/>
            <a:ext cx="6903720" cy="329184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Navigation Menus, Tables and HTML Validation</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Navigation menus: horizontal, vertical and dropdown</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Tables for data: structure, styling, zebra stripes, small screens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Validation with the W3C HTML and CSS validators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Harbourside, Part 2: eight Try Its, then submit</a:t>
            </a:r>
            <a:endParaRPr lang="en-US" sz="2200" dirty="0"/>
          </a:p>
          <a:p>
            <a:pPr lvl="2" marL="1028700" indent="-342900">
              <a:spcBef>
                <a:spcPts val="600"/>
              </a:spcBef>
              <a:buSzPct val="100000"/>
              <a:buChar char="•"/>
            </a:pPr>
            <a:r>
              <a:rPr lang="en-US" sz="1400" dirty="0">
                <a:solidFill>
                  <a:srgbClr val="595959"/>
                </a:solidFill>
                <a:latin typeface="Aptos" pitchFamily="34" charset="0"/>
                <a:ea typeface="Aptos" pitchFamily="34" charset="-122"/>
                <a:cs typeface="Aptos" pitchFamily="34" charset="-120"/>
              </a:rPr>
              <a:t>No class Wednesday, October 21 (Assessment &amp; Evaluation day)</a:t>
            </a:r>
            <a:endParaRPr lang="en-US" sz="2200" dirty="0"/>
          </a:p>
        </p:txBody>
      </p:sp>
      <p:sp>
        <p:nvSpPr>
          <p:cNvPr id="8" name="Shape 5"/>
          <p:cNvSpPr/>
          <p:nvPr/>
        </p:nvSpPr>
        <p:spPr>
          <a:xfrm>
            <a:off x="475488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93776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Navigate</a:t>
            </a:r>
            <a:endParaRPr lang="en-US" sz="1700" dirty="0"/>
          </a:p>
        </p:txBody>
      </p:sp>
      <p:sp>
        <p:nvSpPr>
          <p:cNvPr id="10" name="Text 7"/>
          <p:cNvSpPr txBox="1"/>
          <p:nvPr/>
        </p:nvSpPr>
        <p:spPr>
          <a:xfrm>
            <a:off x="493776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A menu to get around</a:t>
            </a:r>
            <a:endParaRPr lang="en-US" sz="1250" dirty="0"/>
          </a:p>
        </p:txBody>
      </p:sp>
      <p:sp>
        <p:nvSpPr>
          <p:cNvPr id="11" name="Text 8"/>
          <p:cNvSpPr txBox="1"/>
          <p:nvPr/>
        </p:nvSpPr>
        <p:spPr>
          <a:xfrm>
            <a:off x="676656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7132320" y="5120640"/>
            <a:ext cx="2011680" cy="1051560"/>
          </a:xfrm>
          <a:prstGeom prst="roundRect">
            <a:avLst>
              <a:gd name="adj" fmla="val 10435"/>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315200" y="5212080"/>
            <a:ext cx="1645920" cy="41148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Tabulate</a:t>
            </a:r>
            <a:endParaRPr lang="en-US" sz="1700" dirty="0"/>
          </a:p>
        </p:txBody>
      </p:sp>
      <p:sp>
        <p:nvSpPr>
          <p:cNvPr id="14" name="Text 11"/>
          <p:cNvSpPr txBox="1"/>
          <p:nvPr/>
        </p:nvSpPr>
        <p:spPr>
          <a:xfrm>
            <a:off x="7315200" y="5623560"/>
            <a:ext cx="1645920" cy="457200"/>
          </a:xfrm>
          <a:prstGeom prst="rect">
            <a:avLst/>
          </a:prstGeom>
          <a:noFill/>
          <a:ln/>
        </p:spPr>
        <p:txBody>
          <a:bodyPr wrap="square" lIns="0" tIns="0" rIns="0" bIns="0" rtlCol="0" anchor="t"/>
          <a:lstStyle/>
          <a:p>
            <a:pPr indent="0" marL="0">
              <a:buNone/>
            </a:pPr>
            <a:r>
              <a:rPr lang="en-US" sz="1250" dirty="0">
                <a:solidFill>
                  <a:srgbClr val="FFFFFF"/>
                </a:solidFill>
                <a:latin typeface="Aptos" pitchFamily="34" charset="0"/>
                <a:ea typeface="Aptos" pitchFamily="34" charset="-122"/>
                <a:cs typeface="Aptos" pitchFamily="34" charset="-120"/>
              </a:rPr>
              <a:t>Data in rows and columns</a:t>
            </a:r>
            <a:endParaRPr lang="en-US" sz="1250" dirty="0"/>
          </a:p>
        </p:txBody>
      </p:sp>
      <p:sp>
        <p:nvSpPr>
          <p:cNvPr id="15" name="Text 12"/>
          <p:cNvSpPr txBox="1"/>
          <p:nvPr/>
        </p:nvSpPr>
        <p:spPr>
          <a:xfrm>
            <a:off x="914400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950976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969264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Validate</a:t>
            </a:r>
            <a:endParaRPr lang="en-US" sz="1700" dirty="0"/>
          </a:p>
        </p:txBody>
      </p:sp>
      <p:sp>
        <p:nvSpPr>
          <p:cNvPr id="18" name="Text 15"/>
          <p:cNvSpPr txBox="1"/>
          <p:nvPr/>
        </p:nvSpPr>
        <p:spPr>
          <a:xfrm>
            <a:off x="969264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Find the hidden mistakes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Before We Start: Get the Code</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4870094" y="2355494"/>
            <a:ext cx="4524451" cy="409651"/>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New folder: 07_Navigation_Tables_Validation (examples 01–12, and the activity folder).</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2.  Open each example with Live Server as we go</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Hover the menus, press Tab, shrink the window. Change a value, save, and see what happens.</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3.  The activity: Harbourside, Part 2</a:t>
            </a:r>
            <a:endParaRPr lang="en-US" sz="1800" dirty="0"/>
          </a:p>
        </p:txBody>
      </p:sp>
      <p:sp>
        <p:nvSpPr>
          <p:cNvPr id="14" name="Text 11"/>
          <p:cNvSpPr txBox="1"/>
          <p:nvPr/>
        </p:nvSpPr>
        <p:spPr>
          <a:xfrm>
            <a:off x="4754880" y="534924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activity/index.html and activity/style.css. Our Class 8 page, ready for a nav and a table.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Navigation Menus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Every menu is a list   ·   horizontal   ·   vertical   ·   dropdown</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Three Kinds of Menu</a:t>
            </a:r>
            <a:endParaRPr lang="en-US" sz="2800" dirty="0"/>
          </a:p>
        </p:txBody>
      </p:sp>
      <p:sp>
        <p:nvSpPr>
          <p:cNvPr id="7" name="Shape 4"/>
          <p:cNvSpPr/>
          <p:nvPr/>
        </p:nvSpPr>
        <p:spPr>
          <a:xfrm>
            <a:off x="4754880" y="1783080"/>
            <a:ext cx="2194560" cy="306324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37760" y="2286000"/>
            <a:ext cx="1828800" cy="384048"/>
          </a:xfrm>
          <a:prstGeom prst="rect">
            <a:avLst/>
          </a:prstGeom>
          <a:solidFill>
            <a:srgbClr val="12304A"/>
          </a:solidFill>
          <a:ln w="12700">
            <a:solidFill>
              <a:srgbClr val="12304A"/>
            </a:solidFill>
            <a:prstDash val="solid"/>
          </a:ln>
        </p:spPr>
      </p:sp>
      <p:sp>
        <p:nvSpPr>
          <p:cNvPr id="9" name="Text 6"/>
          <p:cNvSpPr txBox="1"/>
          <p:nvPr/>
        </p:nvSpPr>
        <p:spPr>
          <a:xfrm>
            <a:off x="5010912" y="228600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Home</a:t>
            </a:r>
            <a:endParaRPr lang="en-US" sz="1000" dirty="0"/>
          </a:p>
        </p:txBody>
      </p:sp>
      <p:sp>
        <p:nvSpPr>
          <p:cNvPr id="10" name="Text 7"/>
          <p:cNvSpPr txBox="1"/>
          <p:nvPr/>
        </p:nvSpPr>
        <p:spPr>
          <a:xfrm>
            <a:off x="5605272" y="228600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Menu</a:t>
            </a:r>
            <a:endParaRPr lang="en-US" sz="1000" dirty="0"/>
          </a:p>
        </p:txBody>
      </p:sp>
      <p:sp>
        <p:nvSpPr>
          <p:cNvPr id="11" name="Text 8"/>
          <p:cNvSpPr txBox="1"/>
          <p:nvPr/>
        </p:nvSpPr>
        <p:spPr>
          <a:xfrm>
            <a:off x="6199632" y="228600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Contact</a:t>
            </a:r>
            <a:endParaRPr lang="en-US" sz="1000" dirty="0"/>
          </a:p>
        </p:txBody>
      </p:sp>
      <p:sp>
        <p:nvSpPr>
          <p:cNvPr id="12" name="Shape 9"/>
          <p:cNvSpPr/>
          <p:nvPr/>
        </p:nvSpPr>
        <p:spPr>
          <a:xfrm>
            <a:off x="5010912" y="2633472"/>
            <a:ext cx="384048" cy="36576"/>
          </a:xfrm>
          <a:prstGeom prst="rect">
            <a:avLst/>
          </a:prstGeom>
          <a:solidFill>
            <a:srgbClr val="E97132"/>
          </a:solidFill>
          <a:ln w="12700">
            <a:solidFill>
              <a:srgbClr val="E97132"/>
            </a:solidFill>
            <a:prstDash val="solid"/>
          </a:ln>
        </p:spPr>
      </p:sp>
      <p:sp>
        <p:nvSpPr>
          <p:cNvPr id="13" name="Text 10"/>
          <p:cNvSpPr txBox="1"/>
          <p:nvPr/>
        </p:nvSpPr>
        <p:spPr>
          <a:xfrm>
            <a:off x="4937760" y="3383280"/>
            <a:ext cx="1828800" cy="36576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Horizontal</a:t>
            </a:r>
            <a:endParaRPr lang="en-US" sz="1700" dirty="0"/>
          </a:p>
        </p:txBody>
      </p:sp>
      <p:sp>
        <p:nvSpPr>
          <p:cNvPr id="14" name="Text 11"/>
          <p:cNvSpPr txBox="1"/>
          <p:nvPr/>
        </p:nvSpPr>
        <p:spPr>
          <a:xfrm>
            <a:off x="4937760" y="3749040"/>
            <a:ext cx="182880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Side by side across the top</a:t>
            </a:r>
            <a:endParaRPr lang="en-US" sz="1300" dirty="0"/>
          </a:p>
        </p:txBody>
      </p:sp>
      <p:sp>
        <p:nvSpPr>
          <p:cNvPr id="15" name="Text 12"/>
          <p:cNvSpPr txBox="1"/>
          <p:nvPr/>
        </p:nvSpPr>
        <p:spPr>
          <a:xfrm>
            <a:off x="4937760" y="4251960"/>
            <a:ext cx="1828800" cy="457200"/>
          </a:xfrm>
          <a:prstGeom prst="rect">
            <a:avLst/>
          </a:prstGeom>
          <a:noFill/>
          <a:ln/>
        </p:spPr>
        <p:txBody>
          <a:bodyPr wrap="square" lIns="0" tIns="0" rIns="0" bIns="0" rtlCol="0" anchor="t"/>
          <a:lstStyle/>
          <a:p>
            <a:pPr indent="0" marL="0">
              <a:buNone/>
            </a:pPr>
            <a:r>
              <a:rPr lang="en-US" sz="1150" i="1" dirty="0">
                <a:solidFill>
                  <a:srgbClr val="595959"/>
                </a:solidFill>
                <a:latin typeface="Aptos" pitchFamily="34" charset="0"/>
                <a:ea typeface="Aptos" pitchFamily="34" charset="-122"/>
                <a:cs typeface="Aptos" pitchFamily="34" charset="-120"/>
              </a:rPr>
              <a:t>Use for: A few main links</a:t>
            </a:r>
            <a:endParaRPr lang="en-US" sz="1150" dirty="0"/>
          </a:p>
        </p:txBody>
      </p:sp>
      <p:sp>
        <p:nvSpPr>
          <p:cNvPr id="16" name="Shape 13"/>
          <p:cNvSpPr/>
          <p:nvPr/>
        </p:nvSpPr>
        <p:spPr>
          <a:xfrm>
            <a:off x="7114032" y="1783080"/>
            <a:ext cx="2194560" cy="306324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7296912" y="2011680"/>
            <a:ext cx="1234440" cy="256032"/>
          </a:xfrm>
          <a:prstGeom prst="rect">
            <a:avLst/>
          </a:prstGeom>
          <a:solidFill>
            <a:srgbClr val="E1E8EB"/>
          </a:solidFill>
          <a:ln w="12700">
            <a:solidFill>
              <a:srgbClr val="E1E8EB"/>
            </a:solidFill>
            <a:prstDash val="solid"/>
          </a:ln>
        </p:spPr>
      </p:sp>
      <p:sp>
        <p:nvSpPr>
          <p:cNvPr id="18" name="Text 15"/>
          <p:cNvSpPr txBox="1"/>
          <p:nvPr/>
        </p:nvSpPr>
        <p:spPr>
          <a:xfrm>
            <a:off x="7370064" y="2011680"/>
            <a:ext cx="1143000" cy="256032"/>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Starters</a:t>
            </a:r>
            <a:endParaRPr lang="en-US" sz="900" dirty="0"/>
          </a:p>
        </p:txBody>
      </p:sp>
      <p:sp>
        <p:nvSpPr>
          <p:cNvPr id="19" name="Shape 16"/>
          <p:cNvSpPr/>
          <p:nvPr/>
        </p:nvSpPr>
        <p:spPr>
          <a:xfrm>
            <a:off x="7296912" y="2313432"/>
            <a:ext cx="1234440" cy="256032"/>
          </a:xfrm>
          <a:prstGeom prst="rect">
            <a:avLst/>
          </a:prstGeom>
          <a:solidFill>
            <a:srgbClr val="12304A"/>
          </a:solidFill>
          <a:ln w="12700">
            <a:solidFill>
              <a:srgbClr val="12304A"/>
            </a:solidFill>
            <a:prstDash val="solid"/>
          </a:ln>
        </p:spPr>
      </p:sp>
      <p:sp>
        <p:nvSpPr>
          <p:cNvPr id="20" name="Text 17"/>
          <p:cNvSpPr txBox="1"/>
          <p:nvPr/>
        </p:nvSpPr>
        <p:spPr>
          <a:xfrm>
            <a:off x="7370064" y="2313432"/>
            <a:ext cx="1143000" cy="256032"/>
          </a:xfrm>
          <a:prstGeom prst="rect">
            <a:avLst/>
          </a:prstGeom>
          <a:noFill/>
          <a:ln/>
        </p:spPr>
        <p:txBody>
          <a:bodyPr wrap="square" lIns="0" tIns="0" rIns="0" bIns="0" rtlCol="0" anchor="ctr"/>
          <a:lstStyle/>
          <a:p>
            <a:pPr indent="0" marL="0">
              <a:buNone/>
            </a:pPr>
            <a:r>
              <a:rPr lang="en-US" sz="900" dirty="0">
                <a:solidFill>
                  <a:srgbClr val="FFFFFF"/>
                </a:solidFill>
                <a:latin typeface="Aptos" pitchFamily="34" charset="0"/>
                <a:ea typeface="Aptos" pitchFamily="34" charset="-122"/>
                <a:cs typeface="Aptos" pitchFamily="34" charset="-120"/>
              </a:rPr>
              <a:t>Fish &amp; Chips</a:t>
            </a:r>
            <a:endParaRPr lang="en-US" sz="900" dirty="0"/>
          </a:p>
        </p:txBody>
      </p:sp>
      <p:sp>
        <p:nvSpPr>
          <p:cNvPr id="21" name="Shape 18"/>
          <p:cNvSpPr/>
          <p:nvPr/>
        </p:nvSpPr>
        <p:spPr>
          <a:xfrm>
            <a:off x="7296912" y="2615184"/>
            <a:ext cx="1234440" cy="256032"/>
          </a:xfrm>
          <a:prstGeom prst="rect">
            <a:avLst/>
          </a:prstGeom>
          <a:solidFill>
            <a:srgbClr val="E1E8EB"/>
          </a:solidFill>
          <a:ln w="12700">
            <a:solidFill>
              <a:srgbClr val="E1E8EB"/>
            </a:solidFill>
            <a:prstDash val="solid"/>
          </a:ln>
        </p:spPr>
      </p:sp>
      <p:sp>
        <p:nvSpPr>
          <p:cNvPr id="22" name="Text 19"/>
          <p:cNvSpPr txBox="1"/>
          <p:nvPr/>
        </p:nvSpPr>
        <p:spPr>
          <a:xfrm>
            <a:off x="7370064" y="2615184"/>
            <a:ext cx="1143000" cy="256032"/>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Lobster</a:t>
            </a:r>
            <a:endParaRPr lang="en-US" sz="900" dirty="0"/>
          </a:p>
        </p:txBody>
      </p:sp>
      <p:sp>
        <p:nvSpPr>
          <p:cNvPr id="23" name="Shape 20"/>
          <p:cNvSpPr/>
          <p:nvPr/>
        </p:nvSpPr>
        <p:spPr>
          <a:xfrm>
            <a:off x="7296912" y="2916936"/>
            <a:ext cx="1234440" cy="256032"/>
          </a:xfrm>
          <a:prstGeom prst="rect">
            <a:avLst/>
          </a:prstGeom>
          <a:solidFill>
            <a:srgbClr val="E1E8EB"/>
          </a:solidFill>
          <a:ln w="12700">
            <a:solidFill>
              <a:srgbClr val="E1E8EB"/>
            </a:solidFill>
            <a:prstDash val="solid"/>
          </a:ln>
        </p:spPr>
      </p:sp>
      <p:sp>
        <p:nvSpPr>
          <p:cNvPr id="24" name="Text 21"/>
          <p:cNvSpPr txBox="1"/>
          <p:nvPr/>
        </p:nvSpPr>
        <p:spPr>
          <a:xfrm>
            <a:off x="7370064" y="2916936"/>
            <a:ext cx="1143000" cy="256032"/>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Drinks</a:t>
            </a:r>
            <a:endParaRPr lang="en-US" sz="900" dirty="0"/>
          </a:p>
        </p:txBody>
      </p:sp>
      <p:sp>
        <p:nvSpPr>
          <p:cNvPr id="25" name="Text 22"/>
          <p:cNvSpPr txBox="1"/>
          <p:nvPr/>
        </p:nvSpPr>
        <p:spPr>
          <a:xfrm>
            <a:off x="7296912" y="3383280"/>
            <a:ext cx="1828800" cy="36576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Vertical</a:t>
            </a:r>
            <a:endParaRPr lang="en-US" sz="1700" dirty="0"/>
          </a:p>
        </p:txBody>
      </p:sp>
      <p:sp>
        <p:nvSpPr>
          <p:cNvPr id="26" name="Text 23"/>
          <p:cNvSpPr txBox="1"/>
          <p:nvPr/>
        </p:nvSpPr>
        <p:spPr>
          <a:xfrm>
            <a:off x="7296912" y="3749040"/>
            <a:ext cx="182880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Stacked down the side</a:t>
            </a:r>
            <a:endParaRPr lang="en-US" sz="1300" dirty="0"/>
          </a:p>
        </p:txBody>
      </p:sp>
      <p:sp>
        <p:nvSpPr>
          <p:cNvPr id="27" name="Text 24"/>
          <p:cNvSpPr txBox="1"/>
          <p:nvPr/>
        </p:nvSpPr>
        <p:spPr>
          <a:xfrm>
            <a:off x="7296912" y="4251960"/>
            <a:ext cx="1828800" cy="457200"/>
          </a:xfrm>
          <a:prstGeom prst="rect">
            <a:avLst/>
          </a:prstGeom>
          <a:noFill/>
          <a:ln/>
        </p:spPr>
        <p:txBody>
          <a:bodyPr wrap="square" lIns="0" tIns="0" rIns="0" bIns="0" rtlCol="0" anchor="t"/>
          <a:lstStyle/>
          <a:p>
            <a:pPr indent="0" marL="0">
              <a:buNone/>
            </a:pPr>
            <a:r>
              <a:rPr lang="en-US" sz="1150" i="1" dirty="0">
                <a:solidFill>
                  <a:srgbClr val="595959"/>
                </a:solidFill>
                <a:latin typeface="Aptos" pitchFamily="34" charset="0"/>
                <a:ea typeface="Aptos" pitchFamily="34" charset="-122"/>
                <a:cs typeface="Aptos" pitchFamily="34" charset="-120"/>
              </a:rPr>
              <a:t>Use for: Longer lists, sections</a:t>
            </a:r>
            <a:endParaRPr lang="en-US" sz="1150" dirty="0"/>
          </a:p>
        </p:txBody>
      </p:sp>
      <p:sp>
        <p:nvSpPr>
          <p:cNvPr id="28" name="Shape 25"/>
          <p:cNvSpPr/>
          <p:nvPr/>
        </p:nvSpPr>
        <p:spPr>
          <a:xfrm>
            <a:off x="9473184" y="1783080"/>
            <a:ext cx="2194560" cy="306324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9656064" y="2011680"/>
            <a:ext cx="1828800" cy="384048"/>
          </a:xfrm>
          <a:prstGeom prst="rect">
            <a:avLst/>
          </a:prstGeom>
          <a:solidFill>
            <a:srgbClr val="12304A"/>
          </a:solidFill>
          <a:ln w="12700">
            <a:solidFill>
              <a:srgbClr val="12304A"/>
            </a:solidFill>
            <a:prstDash val="solid"/>
          </a:ln>
        </p:spPr>
      </p:sp>
      <p:sp>
        <p:nvSpPr>
          <p:cNvPr id="30" name="Text 27"/>
          <p:cNvSpPr txBox="1"/>
          <p:nvPr/>
        </p:nvSpPr>
        <p:spPr>
          <a:xfrm>
            <a:off x="9729216" y="201168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Home</a:t>
            </a:r>
            <a:endParaRPr lang="en-US" sz="1000" dirty="0"/>
          </a:p>
        </p:txBody>
      </p:sp>
      <p:sp>
        <p:nvSpPr>
          <p:cNvPr id="31" name="Text 28"/>
          <p:cNvSpPr txBox="1"/>
          <p:nvPr/>
        </p:nvSpPr>
        <p:spPr>
          <a:xfrm>
            <a:off x="10323576" y="201168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Menu ▾</a:t>
            </a:r>
            <a:endParaRPr lang="en-US" sz="1000" dirty="0"/>
          </a:p>
        </p:txBody>
      </p:sp>
      <p:sp>
        <p:nvSpPr>
          <p:cNvPr id="32" name="Text 29"/>
          <p:cNvSpPr txBox="1"/>
          <p:nvPr/>
        </p:nvSpPr>
        <p:spPr>
          <a:xfrm>
            <a:off x="10917936" y="201168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Contact</a:t>
            </a:r>
            <a:endParaRPr lang="en-US" sz="1000" dirty="0"/>
          </a:p>
        </p:txBody>
      </p:sp>
      <p:sp>
        <p:nvSpPr>
          <p:cNvPr id="33" name="Shape 30"/>
          <p:cNvSpPr/>
          <p:nvPr/>
        </p:nvSpPr>
        <p:spPr>
          <a:xfrm>
            <a:off x="10259568" y="2395728"/>
            <a:ext cx="1051560" cy="768096"/>
          </a:xfrm>
          <a:prstGeom prst="rect">
            <a:avLst/>
          </a:prstGeom>
          <a:solidFill>
            <a:srgbClr val="FFFFFF"/>
          </a:solidFill>
          <a:ln w="9525">
            <a:solidFill>
              <a:srgbClr val="B0B8BC"/>
            </a:solidFill>
            <a:prstDash val="solid"/>
          </a:ln>
          <a:effectLst>
            <a:outerShdw sx="100000" sy="100000" kx="0" ky="0" algn="bl" rotWithShape="0" blurRad="50800" dist="25400" dir="5400000">
              <a:srgbClr val="000000">
                <a:alpha val="25000"/>
              </a:srgbClr>
            </a:outerShdw>
          </a:effectLst>
        </p:spPr>
      </p:sp>
      <p:sp>
        <p:nvSpPr>
          <p:cNvPr id="34" name="Text 31"/>
          <p:cNvSpPr txBox="1"/>
          <p:nvPr/>
        </p:nvSpPr>
        <p:spPr>
          <a:xfrm>
            <a:off x="10332720" y="2423160"/>
            <a:ext cx="960120" cy="237744"/>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Fish &amp; Chips</a:t>
            </a:r>
            <a:endParaRPr lang="en-US" sz="900" dirty="0"/>
          </a:p>
        </p:txBody>
      </p:sp>
      <p:sp>
        <p:nvSpPr>
          <p:cNvPr id="35" name="Text 32"/>
          <p:cNvSpPr txBox="1"/>
          <p:nvPr/>
        </p:nvSpPr>
        <p:spPr>
          <a:xfrm>
            <a:off x="10332720" y="2660904"/>
            <a:ext cx="960120" cy="237744"/>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Lobster</a:t>
            </a:r>
            <a:endParaRPr lang="en-US" sz="900" dirty="0"/>
          </a:p>
        </p:txBody>
      </p:sp>
      <p:sp>
        <p:nvSpPr>
          <p:cNvPr id="36" name="Text 33"/>
          <p:cNvSpPr txBox="1"/>
          <p:nvPr/>
        </p:nvSpPr>
        <p:spPr>
          <a:xfrm>
            <a:off x="10332720" y="2898648"/>
            <a:ext cx="960120" cy="237744"/>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Kids' Menu</a:t>
            </a:r>
            <a:endParaRPr lang="en-US" sz="900" dirty="0"/>
          </a:p>
        </p:txBody>
      </p:sp>
      <p:sp>
        <p:nvSpPr>
          <p:cNvPr id="37" name="Text 34"/>
          <p:cNvSpPr txBox="1"/>
          <p:nvPr/>
        </p:nvSpPr>
        <p:spPr>
          <a:xfrm>
            <a:off x="9656064" y="3383280"/>
            <a:ext cx="1828800" cy="36576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Dropdown</a:t>
            </a:r>
            <a:endParaRPr lang="en-US" sz="1700" dirty="0"/>
          </a:p>
        </p:txBody>
      </p:sp>
      <p:sp>
        <p:nvSpPr>
          <p:cNvPr id="38" name="Text 35"/>
          <p:cNvSpPr txBox="1"/>
          <p:nvPr/>
        </p:nvSpPr>
        <p:spPr>
          <a:xfrm>
            <a:off x="9656064" y="3749040"/>
            <a:ext cx="182880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 list inside a list</a:t>
            </a:r>
            <a:endParaRPr lang="en-US" sz="1300" dirty="0"/>
          </a:p>
        </p:txBody>
      </p:sp>
      <p:sp>
        <p:nvSpPr>
          <p:cNvPr id="39" name="Text 36"/>
          <p:cNvSpPr txBox="1"/>
          <p:nvPr/>
        </p:nvSpPr>
        <p:spPr>
          <a:xfrm>
            <a:off x="9656064" y="4251960"/>
            <a:ext cx="1828800" cy="457200"/>
          </a:xfrm>
          <a:prstGeom prst="rect">
            <a:avLst/>
          </a:prstGeom>
          <a:noFill/>
          <a:ln/>
        </p:spPr>
        <p:txBody>
          <a:bodyPr wrap="square" lIns="0" tIns="0" rIns="0" bIns="0" rtlCol="0" anchor="t"/>
          <a:lstStyle/>
          <a:p>
            <a:pPr indent="0" marL="0">
              <a:buNone/>
            </a:pPr>
            <a:r>
              <a:rPr lang="en-US" sz="1150" i="1" dirty="0">
                <a:solidFill>
                  <a:srgbClr val="595959"/>
                </a:solidFill>
                <a:latin typeface="Aptos" pitchFamily="34" charset="0"/>
                <a:ea typeface="Aptos" pitchFamily="34" charset="-122"/>
                <a:cs typeface="Aptos" pitchFamily="34" charset="-120"/>
              </a:rPr>
              <a:t>Use for: Grouping related pages</a:t>
            </a:r>
            <a:endParaRPr lang="en-US" sz="1150" dirty="0"/>
          </a:p>
        </p:txBody>
      </p:sp>
      <p:sp>
        <p:nvSpPr>
          <p:cNvPr id="40" name="Text 37"/>
          <p:cNvSpPr txBox="1"/>
          <p:nvPr/>
        </p:nvSpPr>
        <p:spPr>
          <a:xfrm>
            <a:off x="4754880" y="5120640"/>
            <a:ext cx="690372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Same HTML every time:</a:t>
            </a:r>
            <a:endParaRPr lang="en-US" sz="1500" dirty="0"/>
          </a:p>
        </p:txBody>
      </p:sp>
      <p:sp>
        <p:nvSpPr>
          <p:cNvPr id="41" name="Shape 38"/>
          <p:cNvSpPr/>
          <p:nvPr/>
        </p:nvSpPr>
        <p:spPr>
          <a:xfrm>
            <a:off x="4754880" y="5577840"/>
            <a:ext cx="1005840" cy="310896"/>
          </a:xfrm>
          <a:prstGeom prst="roundRect">
            <a:avLst>
              <a:gd name="adj" fmla="val 50000"/>
            </a:avLst>
          </a:prstGeom>
          <a:solidFill>
            <a:srgbClr val="12304A"/>
          </a:solidFill>
          <a:ln w="12700">
            <a:solidFill>
              <a:srgbClr val="12304A"/>
            </a:solidFill>
            <a:prstDash val="solid"/>
          </a:ln>
        </p:spPr>
      </p:sp>
      <p:sp>
        <p:nvSpPr>
          <p:cNvPr id="42" name="Text 39"/>
          <p:cNvSpPr txBox="1"/>
          <p:nvPr/>
        </p:nvSpPr>
        <p:spPr>
          <a:xfrm>
            <a:off x="475488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&lt;nav&gt;</a:t>
            </a:r>
            <a:endParaRPr lang="en-US" sz="1050" dirty="0"/>
          </a:p>
        </p:txBody>
      </p:sp>
      <p:sp>
        <p:nvSpPr>
          <p:cNvPr id="43" name="Text 40"/>
          <p:cNvSpPr txBox="1"/>
          <p:nvPr/>
        </p:nvSpPr>
        <p:spPr>
          <a:xfrm>
            <a:off x="5760720" y="5550408"/>
            <a:ext cx="411480" cy="365760"/>
          </a:xfrm>
          <a:prstGeom prst="rect">
            <a:avLst/>
          </a:prstGeom>
          <a:noFill/>
          <a:ln/>
        </p:spPr>
        <p:txBody>
          <a:bodyPr wrap="square" lIns="0" tIns="0" rIns="0" bIns="0" rtlCol="0" anchor="ctr"/>
          <a:lstStyle/>
          <a:p>
            <a:pPr algn="ctr" indent="0" marL="0">
              <a:buNone/>
            </a:pPr>
            <a:r>
              <a:rPr lang="en-US" sz="1600" b="1" dirty="0">
                <a:solidFill>
                  <a:srgbClr val="595959"/>
                </a:solidFill>
                <a:latin typeface="Aptos" pitchFamily="34" charset="0"/>
                <a:ea typeface="Aptos" pitchFamily="34" charset="-122"/>
                <a:cs typeface="Aptos" pitchFamily="34" charset="-120"/>
              </a:rPr>
              <a:t>→</a:t>
            </a:r>
            <a:endParaRPr lang="en-US" sz="1600" dirty="0"/>
          </a:p>
        </p:txBody>
      </p:sp>
      <p:sp>
        <p:nvSpPr>
          <p:cNvPr id="44" name="Shape 41"/>
          <p:cNvSpPr/>
          <p:nvPr/>
        </p:nvSpPr>
        <p:spPr>
          <a:xfrm>
            <a:off x="6172200" y="5577840"/>
            <a:ext cx="1005840" cy="310896"/>
          </a:xfrm>
          <a:prstGeom prst="roundRect">
            <a:avLst>
              <a:gd name="adj" fmla="val 50000"/>
            </a:avLst>
          </a:prstGeom>
          <a:solidFill>
            <a:srgbClr val="1B5E82"/>
          </a:solidFill>
          <a:ln w="12700">
            <a:solidFill>
              <a:srgbClr val="1B5E82"/>
            </a:solidFill>
            <a:prstDash val="solid"/>
          </a:ln>
        </p:spPr>
      </p:sp>
      <p:sp>
        <p:nvSpPr>
          <p:cNvPr id="45" name="Text 42"/>
          <p:cNvSpPr txBox="1"/>
          <p:nvPr/>
        </p:nvSpPr>
        <p:spPr>
          <a:xfrm>
            <a:off x="617220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&lt;ul&gt;</a:t>
            </a:r>
            <a:endParaRPr lang="en-US" sz="1050" dirty="0"/>
          </a:p>
        </p:txBody>
      </p:sp>
      <p:sp>
        <p:nvSpPr>
          <p:cNvPr id="46" name="Text 43"/>
          <p:cNvSpPr txBox="1"/>
          <p:nvPr/>
        </p:nvSpPr>
        <p:spPr>
          <a:xfrm>
            <a:off x="7178040" y="5550408"/>
            <a:ext cx="411480" cy="365760"/>
          </a:xfrm>
          <a:prstGeom prst="rect">
            <a:avLst/>
          </a:prstGeom>
          <a:noFill/>
          <a:ln/>
        </p:spPr>
        <p:txBody>
          <a:bodyPr wrap="square" lIns="0" tIns="0" rIns="0" bIns="0" rtlCol="0" anchor="ctr"/>
          <a:lstStyle/>
          <a:p>
            <a:pPr algn="ctr" indent="0" marL="0">
              <a:buNone/>
            </a:pPr>
            <a:r>
              <a:rPr lang="en-US" sz="1600" b="1" dirty="0">
                <a:solidFill>
                  <a:srgbClr val="595959"/>
                </a:solidFill>
                <a:latin typeface="Aptos" pitchFamily="34" charset="0"/>
                <a:ea typeface="Aptos" pitchFamily="34" charset="-122"/>
                <a:cs typeface="Aptos" pitchFamily="34" charset="-120"/>
              </a:rPr>
              <a:t>→</a:t>
            </a:r>
            <a:endParaRPr lang="en-US" sz="1600" dirty="0"/>
          </a:p>
        </p:txBody>
      </p:sp>
      <p:sp>
        <p:nvSpPr>
          <p:cNvPr id="47" name="Shape 44"/>
          <p:cNvSpPr/>
          <p:nvPr/>
        </p:nvSpPr>
        <p:spPr>
          <a:xfrm>
            <a:off x="7589520" y="5577840"/>
            <a:ext cx="1005840" cy="310896"/>
          </a:xfrm>
          <a:prstGeom prst="roundRect">
            <a:avLst>
              <a:gd name="adj" fmla="val 50000"/>
            </a:avLst>
          </a:prstGeom>
          <a:solidFill>
            <a:srgbClr val="A02B93"/>
          </a:solidFill>
          <a:ln w="12700">
            <a:solidFill>
              <a:srgbClr val="A02B93"/>
            </a:solidFill>
            <a:prstDash val="solid"/>
          </a:ln>
        </p:spPr>
      </p:sp>
      <p:sp>
        <p:nvSpPr>
          <p:cNvPr id="48" name="Text 45"/>
          <p:cNvSpPr txBox="1"/>
          <p:nvPr/>
        </p:nvSpPr>
        <p:spPr>
          <a:xfrm>
            <a:off x="758952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&lt;li&gt;</a:t>
            </a:r>
            <a:endParaRPr lang="en-US" sz="1050" dirty="0"/>
          </a:p>
        </p:txBody>
      </p:sp>
      <p:sp>
        <p:nvSpPr>
          <p:cNvPr id="49" name="Text 46"/>
          <p:cNvSpPr txBox="1"/>
          <p:nvPr/>
        </p:nvSpPr>
        <p:spPr>
          <a:xfrm>
            <a:off x="8595360" y="5550408"/>
            <a:ext cx="411480" cy="365760"/>
          </a:xfrm>
          <a:prstGeom prst="rect">
            <a:avLst/>
          </a:prstGeom>
          <a:noFill/>
          <a:ln/>
        </p:spPr>
        <p:txBody>
          <a:bodyPr wrap="square" lIns="0" tIns="0" rIns="0" bIns="0" rtlCol="0" anchor="ctr"/>
          <a:lstStyle/>
          <a:p>
            <a:pPr algn="ctr" indent="0" marL="0">
              <a:buNone/>
            </a:pPr>
            <a:r>
              <a:rPr lang="en-US" sz="1600" b="1" dirty="0">
                <a:solidFill>
                  <a:srgbClr val="595959"/>
                </a:solidFill>
                <a:latin typeface="Aptos" pitchFamily="34" charset="0"/>
                <a:ea typeface="Aptos" pitchFamily="34" charset="-122"/>
                <a:cs typeface="Aptos" pitchFamily="34" charset="-120"/>
              </a:rPr>
              <a:t>→</a:t>
            </a:r>
            <a:endParaRPr lang="en-US" sz="1600" dirty="0"/>
          </a:p>
        </p:txBody>
      </p:sp>
      <p:sp>
        <p:nvSpPr>
          <p:cNvPr id="50" name="Shape 47"/>
          <p:cNvSpPr/>
          <p:nvPr/>
        </p:nvSpPr>
        <p:spPr>
          <a:xfrm>
            <a:off x="9006840" y="5577840"/>
            <a:ext cx="1005840" cy="310896"/>
          </a:xfrm>
          <a:prstGeom prst="roundRect">
            <a:avLst>
              <a:gd name="adj" fmla="val 50000"/>
            </a:avLst>
          </a:prstGeom>
          <a:solidFill>
            <a:srgbClr val="E97132"/>
          </a:solidFill>
          <a:ln w="12700">
            <a:solidFill>
              <a:srgbClr val="E97132"/>
            </a:solidFill>
            <a:prstDash val="solid"/>
          </a:ln>
        </p:spPr>
      </p:sp>
      <p:sp>
        <p:nvSpPr>
          <p:cNvPr id="51" name="Text 48"/>
          <p:cNvSpPr txBox="1"/>
          <p:nvPr/>
        </p:nvSpPr>
        <p:spPr>
          <a:xfrm>
            <a:off x="900684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&lt;a&gt;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812821"/>
            <a:ext cx="5852160" cy="3232357"/>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2041421"/>
            <a:ext cx="5394960" cy="2775157"/>
          </a:xfrm>
          <a:prstGeom prst="rect">
            <a:avLst/>
          </a:prstGeom>
          <a:noFill/>
          <a:ln/>
        </p:spPr>
        <p:txBody>
          <a:bodyPr wrap="square" lIns="0" tIns="0" rIns="0" bIns="0" rtlCol="0" anchor="t"/>
          <a:lstStyle/>
          <a:p>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header</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Harbourside</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&lt;!-- nav = "this is the main way around the site" --&gt;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aria-label</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"Main"</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"#home"</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Home</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"#menu"</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Menu</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"#about"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About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"#contact"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Contact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header</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1 · EXAMPLE 01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Every Menu Is a List</a:t>
            </a:r>
            <a:endParaRPr lang="en-US" sz="3200" dirty="0"/>
          </a:p>
        </p:txBody>
      </p:sp>
      <p:pic>
        <p:nvPicPr>
          <p:cNvPr id="7" name="Image 1" descr="C:\Repos\2026-2027\WEBD1000\07_Navigation_Tables_Validation\_build\shots\ex01.png">    </p:cNvPr>
          <p:cNvPicPr>
            <a:picLocks noChangeAspect="1"/>
          </p:cNvPicPr>
          <p:nvPr/>
        </p:nvPicPr>
        <p:blipFill>
          <a:blip r:embed="rId2"/>
          <a:stretch>
            <a:fillRect/>
          </a:stretch>
        </p:blipFill>
        <p:spPr>
          <a:xfrm>
            <a:off x="6812280" y="4147947"/>
            <a:ext cx="4967935" cy="2069973"/>
          </a:xfrm>
          <a:prstGeom prst="rect">
            <a:avLst/>
          </a:prstGeom>
        </p:spPr>
      </p:pic>
      <p:sp>
        <p:nvSpPr>
          <p:cNvPr id="8" name="Shape 4"/>
          <p:cNvSpPr/>
          <p:nvPr/>
        </p:nvSpPr>
        <p:spPr>
          <a:xfrm>
            <a:off x="6812280" y="4147947"/>
            <a:ext cx="4967935" cy="2069973"/>
          </a:xfrm>
          <a:prstGeom prst="rect">
            <a:avLst/>
          </a:prstGeom>
          <a:ln w="12700">
            <a:solidFill>
              <a:srgbClr val="B0B8BC"/>
            </a:solidFill>
            <a:prstDash val="solid"/>
          </a:ln>
        </p:spPr>
      </p:sp>
      <p:sp>
        <p:nvSpPr>
          <p:cNvPr id="9" name="Text 5"/>
          <p:cNvSpPr txBox="1"/>
          <p:nvPr/>
        </p:nvSpPr>
        <p:spPr>
          <a:xfrm>
            <a:off x="6812280" y="3855339"/>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255139"/>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&lt;nav&gt;</a:t>
            </a:r>
            <a:pPr indent="0" marL="0">
              <a:buNone/>
            </a:pPr>
            <a:r>
              <a:rPr lang="en-US" sz="1400" dirty="0">
                <a:solidFill>
                  <a:srgbClr val="262626"/>
                </a:solidFill>
                <a:latin typeface="Aptos" pitchFamily="34" charset="0"/>
                <a:ea typeface="Aptos" pitchFamily="34" charset="-122"/>
                <a:cs typeface="Aptos" pitchFamily="34" charset="-120"/>
              </a:rPr>
              <a:t> says </a:t>
            </a:r>
            <a:pPr indent="0" marL="0">
              <a:buNone/>
            </a:pPr>
            <a:r>
              <a:rPr lang="en-US" sz="1400" b="1" dirty="0">
                <a:solidFill>
                  <a:srgbClr val="262626"/>
                </a:solidFill>
                <a:latin typeface="Aptos" pitchFamily="34" charset="0"/>
                <a:ea typeface="Aptos" pitchFamily="34" charset="-122"/>
                <a:cs typeface="Aptos" pitchFamily="34" charset="-120"/>
              </a:rPr>
              <a:t>"this is the main way around the site"</a:t>
            </a:r>
            <a:pPr indent="0" marL="0">
              <a:buNone/>
            </a:pPr>
            <a:r>
              <a:rPr lang="en-US" sz="1400" dirty="0">
                <a:solidFill>
                  <a:srgbClr val="262626"/>
                </a:solidFill>
                <a:latin typeface="Aptos" pitchFamily="34" charset="0"/>
                <a:ea typeface="Aptos" pitchFamily="34" charset="-122"/>
                <a:cs typeface="Aptos" pitchFamily="34" charset="-120"/>
              </a:rPr>
              <a:t>. Screen readers can jump straight to it.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 </a:t>
            </a:r>
            <a:pPr indent="0" marL="0">
              <a:buNone/>
            </a:pPr>
            <a:r>
              <a:rPr lang="en-US" sz="1400" dirty="0">
                <a:solidFill>
                  <a:srgbClr val="8A2B0B"/>
                </a:solidFill>
                <a:latin typeface="Consolas" pitchFamily="34" charset="0"/>
                <a:ea typeface="Consolas" pitchFamily="34" charset="-122"/>
                <a:cs typeface="Consolas" pitchFamily="34" charset="-120"/>
              </a:rPr>
              <a:t>&lt;ul&gt;</a:t>
            </a:r>
            <a:pPr indent="0" marL="0">
              <a:buNone/>
            </a:pPr>
            <a:r>
              <a:rPr lang="en-US" sz="1400" dirty="0">
                <a:solidFill>
                  <a:srgbClr val="262626"/>
                </a:solidFill>
                <a:latin typeface="Aptos" pitchFamily="34" charset="0"/>
                <a:ea typeface="Aptos" pitchFamily="34" charset="-122"/>
                <a:cs typeface="Aptos" pitchFamily="34" charset="-120"/>
              </a:rPr>
              <a:t> of links, because a menu </a:t>
            </a:r>
            <a:pPr indent="0" marL="0">
              <a:buNone/>
            </a:pPr>
            <a:r>
              <a:rPr lang="en-US" sz="1400" b="1" dirty="0">
                <a:solidFill>
                  <a:srgbClr val="262626"/>
                </a:solidFill>
                <a:latin typeface="Aptos" pitchFamily="34" charset="0"/>
                <a:ea typeface="Aptos" pitchFamily="34" charset="-122"/>
                <a:cs typeface="Aptos" pitchFamily="34" charset="-120"/>
              </a:rPr>
              <a:t>is</a:t>
            </a:r>
            <a:pPr indent="0" marL="0">
              <a:buNone/>
            </a:pPr>
            <a:r>
              <a:rPr lang="en-US" sz="1400" dirty="0">
                <a:solidFill>
                  <a:srgbClr val="262626"/>
                </a:solidFill>
                <a:latin typeface="Aptos" pitchFamily="34" charset="0"/>
                <a:ea typeface="Aptos" pitchFamily="34" charset="-122"/>
                <a:cs typeface="Aptos" pitchFamily="34" charset="-120"/>
              </a:rPr>
              <a:t> a list. Screen readers say "list, 4 items".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aria-label</a:t>
            </a:r>
            <a:pPr indent="0" marL="0">
              <a:buNone/>
            </a:pPr>
            <a:r>
              <a:rPr lang="en-US" sz="1400" dirty="0">
                <a:solidFill>
                  <a:srgbClr val="262626"/>
                </a:solidFill>
                <a:latin typeface="Aptos" pitchFamily="34" charset="0"/>
                <a:ea typeface="Aptos" pitchFamily="34" charset="-122"/>
                <a:cs typeface="Aptos" pitchFamily="34" charset="-120"/>
              </a:rPr>
              <a:t> names it, if a page has more than one nav.</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01_nav_structure_example.html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35475"/>
            <a:ext cx="5852160" cy="578705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64075"/>
            <a:ext cx="5394960" cy="5329850"/>
          </a:xfrm>
          <a:prstGeom prst="rect">
            <a:avLst/>
          </a:prstGeom>
          <a:noFill/>
          <a:ln/>
        </p:spPr>
        <p:txBody>
          <a:bodyPr wrap="square" lIns="0" tIns="0" rIns="0" bIns="0" rtlCol="0" anchor="t"/>
          <a:lstStyle/>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1. Remove the bullets and the indent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2. Put the items side by side (a sneak peek at Flexbox)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flex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gap</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3. Make the whole link a big box that's easy to click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18px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a:hover,</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a:focus-visible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4. Show which page you're on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2 · EXAMPLE 02</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Horizontal Menu</a:t>
            </a:r>
            <a:endParaRPr lang="en-US" sz="3200" dirty="0"/>
          </a:p>
        </p:txBody>
      </p:sp>
      <p:pic>
        <p:nvPicPr>
          <p:cNvPr id="7" name="Image 1" descr="C:\Repos\2026-2027\WEBD1000\07_Navigation_Tables_Validation\_build\shots\ex02.png">    </p:cNvPr>
          <p:cNvPicPr>
            <a:picLocks noChangeAspect="1"/>
          </p:cNvPicPr>
          <p:nvPr/>
        </p:nvPicPr>
        <p:blipFill>
          <a:blip r:embed="rId2"/>
          <a:stretch>
            <a:fillRect/>
          </a:stretch>
        </p:blipFill>
        <p:spPr>
          <a:xfrm>
            <a:off x="6812280" y="4544568"/>
            <a:ext cx="3516284" cy="644652"/>
          </a:xfrm>
          <a:prstGeom prst="rect">
            <a:avLst/>
          </a:prstGeom>
        </p:spPr>
      </p:pic>
      <p:sp>
        <p:nvSpPr>
          <p:cNvPr id="8" name="Shape 4"/>
          <p:cNvSpPr/>
          <p:nvPr/>
        </p:nvSpPr>
        <p:spPr>
          <a:xfrm>
            <a:off x="6812280" y="4544568"/>
            <a:ext cx="3516284" cy="644652"/>
          </a:xfrm>
          <a:prstGeom prst="rect">
            <a:avLst/>
          </a:prstGeom>
          <a:ln w="12700">
            <a:solidFill>
              <a:srgbClr val="B0B8BC"/>
            </a:solidFill>
            <a:prstDash val="solid"/>
          </a:ln>
        </p:spPr>
      </p:sp>
      <p:sp>
        <p:nvSpPr>
          <p:cNvPr id="9" name="Text 5"/>
          <p:cNvSpPr txBox="1"/>
          <p:nvPr/>
        </p:nvSpPr>
        <p:spPr>
          <a:xfrm>
            <a:off x="6812280" y="4251960"/>
            <a:ext cx="351628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NORMAL</a:t>
            </a:r>
            <a:endParaRPr lang="en-US" sz="1100" dirty="0"/>
          </a:p>
        </p:txBody>
      </p:sp>
      <p:pic>
        <p:nvPicPr>
          <p:cNvPr id="10" name="Image 2" descr="C:\Repos\2026-2027\WEBD1000\07_Navigation_Tables_Validation\_build\shots\ex02h.png">    </p:cNvPr>
          <p:cNvPicPr>
            <a:picLocks noChangeAspect="1"/>
          </p:cNvPicPr>
          <p:nvPr/>
        </p:nvPicPr>
        <p:blipFill>
          <a:blip r:embed="rId3"/>
          <a:stretch>
            <a:fillRect/>
          </a:stretch>
        </p:blipFill>
        <p:spPr>
          <a:xfrm>
            <a:off x="6812280" y="5618988"/>
            <a:ext cx="3516284" cy="644652"/>
          </a:xfrm>
          <a:prstGeom prst="rect">
            <a:avLst/>
          </a:prstGeom>
        </p:spPr>
      </p:pic>
      <p:sp>
        <p:nvSpPr>
          <p:cNvPr id="11" name="Shape 6"/>
          <p:cNvSpPr/>
          <p:nvPr/>
        </p:nvSpPr>
        <p:spPr>
          <a:xfrm>
            <a:off x="6812280" y="5618988"/>
            <a:ext cx="3516284" cy="644652"/>
          </a:xfrm>
          <a:prstGeom prst="rect">
            <a:avLst/>
          </a:prstGeom>
          <a:ln w="12700">
            <a:solidFill>
              <a:srgbClr val="B0B8BC"/>
            </a:solidFill>
            <a:prstDash val="solid"/>
          </a:ln>
        </p:spPr>
      </p:sp>
      <p:sp>
        <p:nvSpPr>
          <p:cNvPr id="12" name="Text 7"/>
          <p:cNvSpPr txBox="1"/>
          <p:nvPr/>
        </p:nvSpPr>
        <p:spPr>
          <a:xfrm>
            <a:off x="6812280" y="5326380"/>
            <a:ext cx="351628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HOVER ON "ABOUT"</a:t>
            </a:r>
            <a:endParaRPr lang="en-US" sz="1100" dirty="0"/>
          </a:p>
        </p:txBody>
      </p:sp>
      <p:sp>
        <p:nvSpPr>
          <p:cNvPr id="13" name="Text 8"/>
          <p:cNvSpPr txBox="1"/>
          <p:nvPr/>
        </p:nvSpPr>
        <p:spPr>
          <a:xfrm>
            <a:off x="6812280" y="1508760"/>
            <a:ext cx="4967935" cy="2651760"/>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list-style: none</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padding: 0</a:t>
            </a:r>
            <a:pPr indent="0" marL="0">
              <a:buNone/>
            </a:pPr>
            <a:r>
              <a:rPr lang="en-US" sz="1300" dirty="0">
                <a:solidFill>
                  <a:srgbClr val="262626"/>
                </a:solidFill>
                <a:latin typeface="Aptos" pitchFamily="34" charset="0"/>
                <a:ea typeface="Aptos" pitchFamily="34" charset="-122"/>
                <a:cs typeface="Aptos" pitchFamily="34" charset="-120"/>
              </a:rPr>
              <a:t> remove the bullets and the indent.</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display: flex</a:t>
            </a:r>
            <a:pPr indent="0" marL="0">
              <a:buNone/>
            </a:pPr>
            <a:r>
              <a:rPr lang="en-US" sz="1300" dirty="0">
                <a:solidFill>
                  <a:srgbClr val="262626"/>
                </a:solidFill>
                <a:latin typeface="Aptos" pitchFamily="34" charset="0"/>
                <a:ea typeface="Aptos" pitchFamily="34" charset="-122"/>
                <a:cs typeface="Aptos" pitchFamily="34" charset="-120"/>
              </a:rPr>
              <a:t> puts the items side by side; </a:t>
            </a:r>
            <a:pPr indent="0" marL="0">
              <a:buNone/>
            </a:pPr>
            <a:r>
              <a:rPr lang="en-US" sz="1300" dirty="0">
                <a:solidFill>
                  <a:srgbClr val="8A2B0B"/>
                </a:solidFill>
                <a:latin typeface="Consolas" pitchFamily="34" charset="0"/>
                <a:ea typeface="Consolas" pitchFamily="34" charset="-122"/>
                <a:cs typeface="Consolas" pitchFamily="34" charset="-120"/>
              </a:rPr>
              <a:t>gap</a:t>
            </a:r>
            <a:pPr indent="0" marL="0">
              <a:buNone/>
            </a:pPr>
            <a:r>
              <a:rPr lang="en-US" sz="1300" dirty="0">
                <a:solidFill>
                  <a:srgbClr val="262626"/>
                </a:solidFill>
                <a:latin typeface="Aptos" pitchFamily="34" charset="0"/>
                <a:ea typeface="Aptos" pitchFamily="34" charset="-122"/>
                <a:cs typeface="Aptos" pitchFamily="34" charset="-120"/>
              </a:rPr>
              <a:t> spaces them. (A sneak peek: more on Flexbox next class.)</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display: block</a:t>
            </a:r>
            <a:pPr indent="0" marL="0">
              <a:buNone/>
            </a:pPr>
            <a:r>
              <a:rPr lang="en-US" sz="1300" dirty="0">
                <a:solidFill>
                  <a:srgbClr val="262626"/>
                </a:solidFill>
                <a:latin typeface="Aptos" pitchFamily="34" charset="0"/>
                <a:ea typeface="Aptos" pitchFamily="34" charset="-122"/>
                <a:cs typeface="Aptos" pitchFamily="34" charset="-120"/>
              </a:rPr>
              <a:t> + </a:t>
            </a:r>
            <a:pPr indent="0" marL="0">
              <a:buNone/>
            </a:pPr>
            <a:r>
              <a:rPr lang="en-US" sz="1300" dirty="0">
                <a:solidFill>
                  <a:srgbClr val="8A2B0B"/>
                </a:solidFill>
                <a:latin typeface="Consolas" pitchFamily="34" charset="0"/>
                <a:ea typeface="Consolas" pitchFamily="34" charset="-122"/>
                <a:cs typeface="Consolas" pitchFamily="34" charset="-120"/>
              </a:rPr>
              <a:t>padding</a:t>
            </a:r>
            <a:pPr indent="0" marL="0">
              <a:buNone/>
            </a:pPr>
            <a:r>
              <a:rPr lang="en-US" sz="1300" dirty="0">
                <a:solidFill>
                  <a:srgbClr val="262626"/>
                </a:solidFill>
                <a:latin typeface="Aptos" pitchFamily="34" charset="0"/>
                <a:ea typeface="Aptos" pitchFamily="34" charset="-122"/>
                <a:cs typeface="Aptos" pitchFamily="34" charset="-120"/>
              </a:rPr>
              <a:t> on the </a:t>
            </a:r>
            <a:pPr indent="0" marL="0">
              <a:buNone/>
            </a:pPr>
            <a:r>
              <a:rPr lang="en-US" sz="1300" b="1" dirty="0">
                <a:solidFill>
                  <a:srgbClr val="262626"/>
                </a:solidFill>
                <a:latin typeface="Aptos" pitchFamily="34" charset="0"/>
                <a:ea typeface="Aptos" pitchFamily="34" charset="-122"/>
                <a:cs typeface="Aptos" pitchFamily="34" charset="-120"/>
              </a:rPr>
              <a:t>a</a:t>
            </a:r>
            <a:pPr indent="0" marL="0">
              <a:buNone/>
            </a:pPr>
            <a:r>
              <a:rPr lang="en-US" sz="1300" dirty="0">
                <a:solidFill>
                  <a:srgbClr val="262626"/>
                </a:solidFill>
                <a:latin typeface="Aptos" pitchFamily="34" charset="0"/>
                <a:ea typeface="Aptos" pitchFamily="34" charset="-122"/>
                <a:cs typeface="Aptos" pitchFamily="34" charset="-120"/>
              </a:rPr>
              <a:t> makes the whole box clickable, not just the word.</a:t>
            </a:r>
            <a:endParaRPr lang="en-US" sz="1300" dirty="0"/>
          </a:p>
        </p:txBody>
      </p:sp>
      <p:sp>
        <p:nvSpPr>
          <p:cNvPr id="14" name="Text 9"/>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02_nav_horizontal_example.html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57727"/>
            <a:ext cx="5852160" cy="5742546"/>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86327"/>
            <a:ext cx="5394960" cy="5285346"/>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margin-bottom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display: block = the whole row is clickable, not just the words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border-left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transparent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a:hover,</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a:focus-visible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border-left-color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3 · EXAMPLE 03</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Vertical Menu</a:t>
            </a:r>
            <a:endParaRPr lang="en-US" sz="3200" dirty="0"/>
          </a:p>
        </p:txBody>
      </p:sp>
      <p:pic>
        <p:nvPicPr>
          <p:cNvPr id="7" name="Image 1" descr="C:\Repos\2026-2027\WEBD1000\07_Navigation_Tables_Validation\_build\shots\ex03.png">    </p:cNvPr>
          <p:cNvPicPr>
            <a:picLocks noChangeAspect="1"/>
          </p:cNvPicPr>
          <p:nvPr/>
        </p:nvPicPr>
        <p:blipFill>
          <a:blip r:embed="rId2"/>
          <a:stretch>
            <a:fillRect/>
          </a:stretch>
        </p:blipFill>
        <p:spPr>
          <a:xfrm>
            <a:off x="6812280" y="3429000"/>
            <a:ext cx="3380509" cy="2788920"/>
          </a:xfrm>
          <a:prstGeom prst="rect">
            <a:avLst/>
          </a:prstGeom>
        </p:spPr>
      </p:pic>
      <p:sp>
        <p:nvSpPr>
          <p:cNvPr id="8" name="Shape 4"/>
          <p:cNvSpPr/>
          <p:nvPr/>
        </p:nvSpPr>
        <p:spPr>
          <a:xfrm>
            <a:off x="6812280" y="3429000"/>
            <a:ext cx="3380509" cy="2788920"/>
          </a:xfrm>
          <a:prstGeom prst="rect">
            <a:avLst/>
          </a:prstGeom>
          <a:ln w="12700">
            <a:solidFill>
              <a:srgbClr val="B0B8BC"/>
            </a:solidFill>
            <a:prstDash val="solid"/>
          </a:ln>
        </p:spPr>
      </p:sp>
      <p:sp>
        <p:nvSpPr>
          <p:cNvPr id="9" name="Text 5"/>
          <p:cNvSpPr txBox="1"/>
          <p:nvPr/>
        </p:nvSpPr>
        <p:spPr>
          <a:xfrm>
            <a:off x="6812280" y="3136392"/>
            <a:ext cx="3380509"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 list is </a:t>
            </a:r>
            <a:pPr indent="0" marL="0">
              <a:buNone/>
            </a:pPr>
            <a:r>
              <a:rPr lang="en-US" sz="1400" b="1" dirty="0">
                <a:solidFill>
                  <a:srgbClr val="262626"/>
                </a:solidFill>
                <a:latin typeface="Aptos" pitchFamily="34" charset="0"/>
                <a:ea typeface="Aptos" pitchFamily="34" charset="-122"/>
                <a:cs typeface="Aptos" pitchFamily="34" charset="-120"/>
              </a:rPr>
              <a:t>already vertical</a:t>
            </a:r>
            <a:pPr indent="0" marL="0">
              <a:buNone/>
            </a:pPr>
            <a:r>
              <a:rPr lang="en-US" sz="1400" dirty="0">
                <a:solidFill>
                  <a:srgbClr val="262626"/>
                </a:solidFill>
                <a:latin typeface="Aptos" pitchFamily="34" charset="0"/>
                <a:ea typeface="Aptos" pitchFamily="34" charset="-122"/>
                <a:cs typeface="Aptos" pitchFamily="34" charset="-120"/>
              </a:rPr>
              <a:t>. No flex needed: just remove the bullets and style the links.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border-left</a:t>
            </a:r>
            <a:pPr indent="0" marL="0">
              <a:buNone/>
            </a:pPr>
            <a:r>
              <a:rPr lang="en-US" sz="1400" dirty="0">
                <a:solidFill>
                  <a:srgbClr val="262626"/>
                </a:solidFill>
                <a:latin typeface="Aptos" pitchFamily="34" charset="0"/>
                <a:ea typeface="Aptos" pitchFamily="34" charset="-122"/>
                <a:cs typeface="Aptos" pitchFamily="34" charset="-120"/>
              </a:rPr>
              <a:t> that's </a:t>
            </a:r>
            <a:pPr indent="0" marL="0">
              <a:buNone/>
            </a:pPr>
            <a:r>
              <a:rPr lang="en-US" sz="1400" dirty="0">
                <a:solidFill>
                  <a:srgbClr val="8A2B0B"/>
                </a:solidFill>
                <a:latin typeface="Consolas" pitchFamily="34" charset="0"/>
                <a:ea typeface="Consolas" pitchFamily="34" charset="-122"/>
                <a:cs typeface="Consolas" pitchFamily="34" charset="-120"/>
              </a:rPr>
              <a:t>transparent</a:t>
            </a:r>
            <a:pPr indent="0" marL="0">
              <a:buNone/>
            </a:pPr>
            <a:r>
              <a:rPr lang="en-US" sz="1400" dirty="0">
                <a:solidFill>
                  <a:srgbClr val="262626"/>
                </a:solidFill>
                <a:latin typeface="Aptos" pitchFamily="34" charset="0"/>
                <a:ea typeface="Aptos" pitchFamily="34" charset="-122"/>
                <a:cs typeface="Aptos" pitchFamily="34" charset="-120"/>
              </a:rPr>
              <a:t> until you hover: the text doesn't jump sideways.</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03_nav_vertical_example.html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025091"/>
            <a:ext cx="5852160" cy="4807819"/>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253691"/>
            <a:ext cx="5394960" cy="4350619"/>
          </a:xfrm>
          <a:prstGeom prst="rect">
            <a:avLst/>
          </a:prstGeom>
          <a:noFill/>
          <a:ln/>
        </p:spPr>
        <p:txBody>
          <a:bodyPr wrap="square" lIns="0" tIns="0" rIns="0" bIns="0" rtlCol="0" anchor="t"/>
          <a:lstStyle/>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1. The dropdown is placed against its own li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relative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2. Hide the inner list, and float it above the page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ul ul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absolute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top</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min-width</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200px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box-shadow</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rgba(0,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0.25</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3. Show it on hover, or on keyboard focus inside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li:hover &gt; ul,</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li:focus-within &gt; ul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4 · EXAMPLE 04</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Dropdown Menu</a:t>
            </a:r>
            <a:endParaRPr lang="en-US" sz="3200" dirty="0"/>
          </a:p>
        </p:txBody>
      </p:sp>
      <p:pic>
        <p:nvPicPr>
          <p:cNvPr id="7" name="Image 1" descr="C:\Repos\2026-2027\WEBD1000\07_Navigation_Tables_Validation\_build\shots\ex04b.png">    </p:cNvPr>
          <p:cNvPicPr>
            <a:picLocks noChangeAspect="1"/>
          </p:cNvPicPr>
          <p:nvPr/>
        </p:nvPicPr>
        <p:blipFill>
          <a:blip r:embed="rId2"/>
          <a:stretch>
            <a:fillRect/>
          </a:stretch>
        </p:blipFill>
        <p:spPr>
          <a:xfrm>
            <a:off x="6812280" y="4359265"/>
            <a:ext cx="4967935" cy="1904375"/>
          </a:xfrm>
          <a:prstGeom prst="rect">
            <a:avLst/>
          </a:prstGeom>
        </p:spPr>
      </p:pic>
      <p:sp>
        <p:nvSpPr>
          <p:cNvPr id="8" name="Shape 4"/>
          <p:cNvSpPr/>
          <p:nvPr/>
        </p:nvSpPr>
        <p:spPr>
          <a:xfrm>
            <a:off x="6812280" y="4359265"/>
            <a:ext cx="4967935" cy="1904375"/>
          </a:xfrm>
          <a:prstGeom prst="rect">
            <a:avLst/>
          </a:prstGeom>
          <a:ln w="12700">
            <a:solidFill>
              <a:srgbClr val="B0B8BC"/>
            </a:solidFill>
            <a:prstDash val="solid"/>
          </a:ln>
        </p:spPr>
      </p:sp>
      <p:sp>
        <p:nvSpPr>
          <p:cNvPr id="9" name="Text 5"/>
          <p:cNvSpPr txBox="1"/>
          <p:nvPr/>
        </p:nvSpPr>
        <p:spPr>
          <a:xfrm>
            <a:off x="6812280" y="4066657"/>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MOUSE OVER "MENU"</a:t>
            </a:r>
            <a:endParaRPr lang="en-US" sz="1100" dirty="0"/>
          </a:p>
        </p:txBody>
      </p:sp>
      <p:sp>
        <p:nvSpPr>
          <p:cNvPr id="10" name="Text 6"/>
          <p:cNvSpPr txBox="1"/>
          <p:nvPr/>
        </p:nvSpPr>
        <p:spPr>
          <a:xfrm>
            <a:off x="6812280" y="1508760"/>
            <a:ext cx="4967935" cy="2466457"/>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dropdown is a </a:t>
            </a:r>
            <a:pPr indent="0" marL="0">
              <a:buNone/>
            </a:pPr>
            <a:r>
              <a:rPr lang="en-US" sz="1300" b="1" dirty="0">
                <a:solidFill>
                  <a:srgbClr val="262626"/>
                </a:solidFill>
                <a:latin typeface="Aptos" pitchFamily="34" charset="0"/>
                <a:ea typeface="Aptos" pitchFamily="34" charset="-122"/>
                <a:cs typeface="Aptos" pitchFamily="34" charset="-120"/>
              </a:rPr>
              <a:t>list inside a list item</a:t>
            </a:r>
            <a:pPr indent="0" marL="0">
              <a:buNone/>
            </a:pPr>
            <a:r>
              <a:rPr lang="en-US" sz="1300" dirty="0">
                <a:solidFill>
                  <a:srgbClr val="262626"/>
                </a:solidFill>
                <a:latin typeface="Aptos" pitchFamily="34" charset="0"/>
                <a:ea typeface="Aptos" pitchFamily="34" charset="-122"/>
                <a:cs typeface="Aptos" pitchFamily="34" charset="-120"/>
              </a:rPr>
              <a:t>: a </a:t>
            </a:r>
            <a:pPr indent="0" marL="0">
              <a:buNone/>
            </a:pPr>
            <a:r>
              <a:rPr lang="en-US" sz="1300" dirty="0">
                <a:solidFill>
                  <a:srgbClr val="8A2B0B"/>
                </a:solidFill>
                <a:latin typeface="Consolas" pitchFamily="34" charset="0"/>
                <a:ea typeface="Consolas" pitchFamily="34" charset="-122"/>
                <a:cs typeface="Consolas" pitchFamily="34" charset="-120"/>
              </a:rPr>
              <a:t>&lt;ul&gt;</a:t>
            </a:r>
            <a:pPr indent="0" marL="0">
              <a:buNone/>
            </a:pPr>
            <a:r>
              <a:rPr lang="en-US" sz="1300" dirty="0">
                <a:solidFill>
                  <a:srgbClr val="262626"/>
                </a:solidFill>
                <a:latin typeface="Aptos" pitchFamily="34" charset="0"/>
                <a:ea typeface="Aptos" pitchFamily="34" charset="-122"/>
                <a:cs typeface="Aptos" pitchFamily="34" charset="-120"/>
              </a:rPr>
              <a:t> inside the Menu </a:t>
            </a:r>
            <a:pPr indent="0" marL="0">
              <a:buNone/>
            </a:pPr>
            <a:r>
              <a:rPr lang="en-US" sz="1300" dirty="0">
                <a:solidFill>
                  <a:srgbClr val="8A2B0B"/>
                </a:solidFill>
                <a:latin typeface="Consolas" pitchFamily="34" charset="0"/>
                <a:ea typeface="Consolas" pitchFamily="34" charset="-122"/>
                <a:cs typeface="Consolas" pitchFamily="34" charset="-120"/>
              </a:rPr>
              <a:t>&lt;li&gt;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position: absolute</a:t>
            </a:r>
            <a:pPr indent="0" marL="0">
              <a:buNone/>
            </a:pPr>
            <a:r>
              <a:rPr lang="en-US" sz="1300" dirty="0">
                <a:solidFill>
                  <a:srgbClr val="262626"/>
                </a:solidFill>
                <a:latin typeface="Aptos" pitchFamily="34" charset="0"/>
                <a:ea typeface="Aptos" pitchFamily="34" charset="-122"/>
                <a:cs typeface="Aptos" pitchFamily="34" charset="-120"/>
              </a:rPr>
              <a:t> floats it over the page; </a:t>
            </a:r>
            <a:pPr indent="0" marL="0">
              <a:buNone/>
            </a:pPr>
            <a:r>
              <a:rPr lang="en-US" sz="1300" dirty="0">
                <a:solidFill>
                  <a:srgbClr val="8A2B0B"/>
                </a:solidFill>
                <a:latin typeface="Consolas" pitchFamily="34" charset="0"/>
                <a:ea typeface="Consolas" pitchFamily="34" charset="-122"/>
                <a:cs typeface="Consolas" pitchFamily="34" charset="-120"/>
              </a:rPr>
              <a:t>position: relative</a:t>
            </a:r>
            <a:pPr indent="0" marL="0">
              <a:buNone/>
            </a:pPr>
            <a:r>
              <a:rPr lang="en-US" sz="1300" dirty="0">
                <a:solidFill>
                  <a:srgbClr val="262626"/>
                </a:solidFill>
                <a:latin typeface="Aptos" pitchFamily="34" charset="0"/>
                <a:ea typeface="Aptos" pitchFamily="34" charset="-122"/>
                <a:cs typeface="Aptos" pitchFamily="34" charset="-120"/>
              </a:rPr>
              <a:t> on the </a:t>
            </a:r>
            <a:pPr indent="0" marL="0">
              <a:buNone/>
            </a:pPr>
            <a:r>
              <a:rPr lang="en-US" sz="1300" b="1" dirty="0">
                <a:solidFill>
                  <a:srgbClr val="262626"/>
                </a:solidFill>
                <a:latin typeface="Aptos" pitchFamily="34" charset="0"/>
                <a:ea typeface="Aptos" pitchFamily="34" charset="-122"/>
                <a:cs typeface="Aptos" pitchFamily="34" charset="-120"/>
              </a:rPr>
              <a:t>li</a:t>
            </a:r>
            <a:pPr indent="0" marL="0">
              <a:buNone/>
            </a:pPr>
            <a:r>
              <a:rPr lang="en-US" sz="1300" dirty="0">
                <a:solidFill>
                  <a:srgbClr val="262626"/>
                </a:solidFill>
                <a:latin typeface="Aptos" pitchFamily="34" charset="0"/>
                <a:ea typeface="Aptos" pitchFamily="34" charset="-122"/>
                <a:cs typeface="Aptos" pitchFamily="34" charset="-120"/>
              </a:rPr>
              <a:t> keeps it under its own item.</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:focus-within</a:t>
            </a:r>
            <a:pPr indent="0" marL="0">
              <a:buNone/>
            </a:pPr>
            <a:r>
              <a:rPr lang="en-US" sz="1300" dirty="0">
                <a:solidFill>
                  <a:srgbClr val="262626"/>
                </a:solidFill>
                <a:latin typeface="Aptos" pitchFamily="34" charset="0"/>
                <a:ea typeface="Aptos" pitchFamily="34" charset="-122"/>
                <a:cs typeface="Aptos" pitchFamily="34" charset="-120"/>
              </a:rPr>
              <a:t> opens it for </a:t>
            </a:r>
            <a:pPr indent="0" marL="0">
              <a:buNone/>
            </a:pPr>
            <a:r>
              <a:rPr lang="en-US" sz="1300" b="1" dirty="0">
                <a:solidFill>
                  <a:srgbClr val="262626"/>
                </a:solidFill>
                <a:latin typeface="Aptos" pitchFamily="34" charset="0"/>
                <a:ea typeface="Aptos" pitchFamily="34" charset="-122"/>
                <a:cs typeface="Aptos" pitchFamily="34" charset="-120"/>
              </a:rPr>
              <a:t>keyboard</a:t>
            </a:r>
            <a:pPr indent="0" marL="0">
              <a:buNone/>
            </a:pPr>
            <a:r>
              <a:rPr lang="en-US" sz="1300" dirty="0">
                <a:solidFill>
                  <a:srgbClr val="262626"/>
                </a:solidFill>
                <a:latin typeface="Aptos" pitchFamily="34" charset="0"/>
                <a:ea typeface="Aptos" pitchFamily="34" charset="-122"/>
                <a:cs typeface="Aptos" pitchFamily="34" charset="-120"/>
              </a:rPr>
              <a:t> users too, not just the mouse.</a:t>
            </a:r>
            <a:endParaRPr lang="en-US" sz="13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04_nav_dropdown_example.html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Harbourside, Part 2: Today's Activity</a:t>
            </a:r>
            <a:endParaRPr lang="en-US" sz="2800" dirty="0"/>
          </a:p>
        </p:txBody>
      </p:sp>
      <p:pic>
        <p:nvPicPr>
          <p:cNvPr id="4" name="Image 0" descr="C:\Repos\2026-2027\WEBD1000\07_Navigation_Tables_Validation\_build\shots\before.png">    </p:cNvPr>
          <p:cNvPicPr>
            <a:picLocks noChangeAspect="1"/>
          </p:cNvPicPr>
          <p:nvPr/>
        </p:nvPicPr>
        <p:blipFill>
          <a:blip r:embed="rId1"/>
          <a:stretch>
            <a:fillRect/>
          </a:stretch>
        </p:blipFill>
        <p:spPr>
          <a:xfrm>
            <a:off x="685800" y="1600200"/>
            <a:ext cx="3484778" cy="2478065"/>
          </a:xfrm>
          <a:prstGeom prst="rect">
            <a:avLst/>
          </a:prstGeom>
        </p:spPr>
      </p:pic>
      <p:sp>
        <p:nvSpPr>
          <p:cNvPr id="5" name="Shape 1"/>
          <p:cNvSpPr/>
          <p:nvPr/>
        </p:nvSpPr>
        <p:spPr>
          <a:xfrm>
            <a:off x="685800" y="1600200"/>
            <a:ext cx="3484778" cy="2478065"/>
          </a:xfrm>
          <a:prstGeom prst="rect">
            <a:avLst/>
          </a:prstGeom>
          <a:ln w="12700">
            <a:solidFill>
              <a:srgbClr val="B0B8BC"/>
            </a:solidFill>
            <a:prstDash val="solid"/>
          </a:ln>
        </p:spPr>
      </p:sp>
      <p:sp>
        <p:nvSpPr>
          <p:cNvPr id="6" name="Text 2"/>
          <p:cNvSpPr txBox="1"/>
          <p:nvPr/>
        </p:nvSpPr>
        <p:spPr>
          <a:xfrm>
            <a:off x="685800" y="1307592"/>
            <a:ext cx="348477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START</a:t>
            </a:r>
            <a:endParaRPr lang="en-US" sz="1100" dirty="0"/>
          </a:p>
        </p:txBody>
      </p:sp>
      <p:pic>
        <p:nvPicPr>
          <p:cNvPr id="7" name="Image 1" descr="C:\Repos\2026-2027\WEBD1000\07_Navigation_Tables_Validation\_build\shots\afterNav.png">    </p:cNvPr>
          <p:cNvPicPr>
            <a:picLocks noChangeAspect="1"/>
          </p:cNvPicPr>
          <p:nvPr/>
        </p:nvPicPr>
        <p:blipFill>
          <a:blip r:embed="rId2"/>
          <a:stretch>
            <a:fillRect/>
          </a:stretch>
        </p:blipFill>
        <p:spPr>
          <a:xfrm>
            <a:off x="4353458" y="1600200"/>
            <a:ext cx="3484778" cy="2478065"/>
          </a:xfrm>
          <a:prstGeom prst="rect">
            <a:avLst/>
          </a:prstGeom>
        </p:spPr>
      </p:pic>
      <p:sp>
        <p:nvSpPr>
          <p:cNvPr id="8" name="Shape 3"/>
          <p:cNvSpPr/>
          <p:nvPr/>
        </p:nvSpPr>
        <p:spPr>
          <a:xfrm>
            <a:off x="4353458" y="1600200"/>
            <a:ext cx="3484778" cy="2478065"/>
          </a:xfrm>
          <a:prstGeom prst="rect">
            <a:avLst/>
          </a:prstGeom>
          <a:ln w="12700">
            <a:solidFill>
              <a:srgbClr val="B0B8BC"/>
            </a:solidFill>
            <a:prstDash val="solid"/>
          </a:ln>
        </p:spPr>
      </p:sp>
      <p:sp>
        <p:nvSpPr>
          <p:cNvPr id="9" name="Text 4"/>
          <p:cNvSpPr txBox="1"/>
          <p:nvPr/>
        </p:nvSpPr>
        <p:spPr>
          <a:xfrm>
            <a:off x="4353458" y="1307592"/>
            <a:ext cx="348477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END: THE NAV</a:t>
            </a:r>
            <a:endParaRPr lang="en-US" sz="1100" dirty="0"/>
          </a:p>
        </p:txBody>
      </p:sp>
      <p:pic>
        <p:nvPicPr>
          <p:cNvPr id="10" name="Image 2" descr="C:\Repos\2026-2027\WEBD1000\07_Navigation_Tables_Validation\_build\shots\afterTable.png">    </p:cNvPr>
          <p:cNvPicPr>
            <a:picLocks noChangeAspect="1"/>
          </p:cNvPicPr>
          <p:nvPr/>
        </p:nvPicPr>
        <p:blipFill>
          <a:blip r:embed="rId3"/>
          <a:stretch>
            <a:fillRect/>
          </a:stretch>
        </p:blipFill>
        <p:spPr>
          <a:xfrm>
            <a:off x="8021117" y="1600200"/>
            <a:ext cx="3484778" cy="2478065"/>
          </a:xfrm>
          <a:prstGeom prst="rect">
            <a:avLst/>
          </a:prstGeom>
        </p:spPr>
      </p:pic>
      <p:sp>
        <p:nvSpPr>
          <p:cNvPr id="11" name="Shape 5"/>
          <p:cNvSpPr/>
          <p:nvPr/>
        </p:nvSpPr>
        <p:spPr>
          <a:xfrm>
            <a:off x="8021117" y="1600200"/>
            <a:ext cx="3484778" cy="2478065"/>
          </a:xfrm>
          <a:prstGeom prst="rect">
            <a:avLst/>
          </a:prstGeom>
          <a:ln w="12700">
            <a:solidFill>
              <a:srgbClr val="B0B8BC"/>
            </a:solidFill>
            <a:prstDash val="solid"/>
          </a:ln>
        </p:spPr>
      </p:sp>
      <p:sp>
        <p:nvSpPr>
          <p:cNvPr id="12" name="Text 6"/>
          <p:cNvSpPr txBox="1"/>
          <p:nvPr/>
        </p:nvSpPr>
        <p:spPr>
          <a:xfrm>
            <a:off x="8021117" y="1307592"/>
            <a:ext cx="348477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END: THE TABLE</a:t>
            </a:r>
            <a:endParaRPr lang="en-US" sz="1100" dirty="0"/>
          </a:p>
        </p:txBody>
      </p:sp>
      <p:sp>
        <p:nvSpPr>
          <p:cNvPr id="13" name="Shape 7"/>
          <p:cNvSpPr/>
          <p:nvPr/>
        </p:nvSpPr>
        <p:spPr>
          <a:xfrm>
            <a:off x="685800" y="4306865"/>
            <a:ext cx="6675120" cy="2048215"/>
          </a:xfrm>
          <a:prstGeom prst="roundRect">
            <a:avLst>
              <a:gd name="adj" fmla="val 535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 name="Shape 8"/>
          <p:cNvSpPr/>
          <p:nvPr/>
        </p:nvSpPr>
        <p:spPr>
          <a:xfrm>
            <a:off x="914400" y="4471457"/>
            <a:ext cx="329184" cy="329184"/>
          </a:xfrm>
          <a:prstGeom prst="ellipse">
            <a:avLst/>
          </a:prstGeom>
          <a:solidFill>
            <a:srgbClr val="E97132"/>
          </a:solidFill>
          <a:ln w="12700">
            <a:solidFill>
              <a:srgbClr val="E97132"/>
            </a:solidFill>
            <a:prstDash val="solid"/>
          </a:ln>
        </p:spPr>
      </p:sp>
      <p:sp>
        <p:nvSpPr>
          <p:cNvPr id="15" name="Text 9"/>
          <p:cNvSpPr txBox="1"/>
          <p:nvPr/>
        </p:nvSpPr>
        <p:spPr>
          <a:xfrm>
            <a:off x="914400" y="447145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6" name="Text 10"/>
          <p:cNvSpPr txBox="1"/>
          <p:nvPr/>
        </p:nvSpPr>
        <p:spPr>
          <a:xfrm>
            <a:off x="1353312" y="4434881"/>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Nav HTML + horizontal</a:t>
            </a:r>
            <a:endParaRPr lang="en-US" sz="1350" dirty="0"/>
          </a:p>
        </p:txBody>
      </p:sp>
      <p:sp>
        <p:nvSpPr>
          <p:cNvPr id="17" name="Shape 11"/>
          <p:cNvSpPr/>
          <p:nvPr/>
        </p:nvSpPr>
        <p:spPr>
          <a:xfrm>
            <a:off x="914400" y="4914930"/>
            <a:ext cx="329184" cy="329184"/>
          </a:xfrm>
          <a:prstGeom prst="ellipse">
            <a:avLst/>
          </a:prstGeom>
          <a:solidFill>
            <a:srgbClr val="E97132"/>
          </a:solidFill>
          <a:ln w="12700">
            <a:solidFill>
              <a:srgbClr val="E97132"/>
            </a:solidFill>
            <a:prstDash val="solid"/>
          </a:ln>
        </p:spPr>
      </p:sp>
      <p:sp>
        <p:nvSpPr>
          <p:cNvPr id="18" name="Text 12"/>
          <p:cNvSpPr txBox="1"/>
          <p:nvPr/>
        </p:nvSpPr>
        <p:spPr>
          <a:xfrm>
            <a:off x="914400" y="491493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9" name="Text 13"/>
          <p:cNvSpPr txBox="1"/>
          <p:nvPr/>
        </p:nvSpPr>
        <p:spPr>
          <a:xfrm>
            <a:off x="1353312" y="4878354"/>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Style the links</a:t>
            </a:r>
            <a:endParaRPr lang="en-US" sz="1350" dirty="0"/>
          </a:p>
        </p:txBody>
      </p:sp>
      <p:sp>
        <p:nvSpPr>
          <p:cNvPr id="20" name="Shape 14"/>
          <p:cNvSpPr/>
          <p:nvPr/>
        </p:nvSpPr>
        <p:spPr>
          <a:xfrm>
            <a:off x="914400" y="5358404"/>
            <a:ext cx="329184" cy="329184"/>
          </a:xfrm>
          <a:prstGeom prst="ellipse">
            <a:avLst/>
          </a:prstGeom>
          <a:solidFill>
            <a:srgbClr val="E97132"/>
          </a:solidFill>
          <a:ln w="12700">
            <a:solidFill>
              <a:srgbClr val="E97132"/>
            </a:solidFill>
            <a:prstDash val="solid"/>
          </a:ln>
        </p:spPr>
      </p:sp>
      <p:sp>
        <p:nvSpPr>
          <p:cNvPr id="21" name="Text 15"/>
          <p:cNvSpPr txBox="1"/>
          <p:nvPr/>
        </p:nvSpPr>
        <p:spPr>
          <a:xfrm>
            <a:off x="914400" y="53584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2" name="Text 16"/>
          <p:cNvSpPr txBox="1"/>
          <p:nvPr/>
        </p:nvSpPr>
        <p:spPr>
          <a:xfrm>
            <a:off x="1353312" y="5321828"/>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A dropdown</a:t>
            </a:r>
            <a:endParaRPr lang="en-US" sz="1350" dirty="0"/>
          </a:p>
        </p:txBody>
      </p:sp>
      <p:sp>
        <p:nvSpPr>
          <p:cNvPr id="23" name="Shape 17"/>
          <p:cNvSpPr/>
          <p:nvPr/>
        </p:nvSpPr>
        <p:spPr>
          <a:xfrm>
            <a:off x="914400" y="5801878"/>
            <a:ext cx="329184" cy="329184"/>
          </a:xfrm>
          <a:prstGeom prst="ellipse">
            <a:avLst/>
          </a:prstGeom>
          <a:solidFill>
            <a:srgbClr val="E97132"/>
          </a:solidFill>
          <a:ln w="12700">
            <a:solidFill>
              <a:srgbClr val="E97132"/>
            </a:solidFill>
            <a:prstDash val="solid"/>
          </a:ln>
        </p:spPr>
      </p:sp>
      <p:sp>
        <p:nvSpPr>
          <p:cNvPr id="24" name="Text 18"/>
          <p:cNvSpPr txBox="1"/>
          <p:nvPr/>
        </p:nvSpPr>
        <p:spPr>
          <a:xfrm>
            <a:off x="914400" y="580187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5" name="Text 19"/>
          <p:cNvSpPr txBox="1"/>
          <p:nvPr/>
        </p:nvSpPr>
        <p:spPr>
          <a:xfrm>
            <a:off x="1353312" y="5765302"/>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Make it readable</a:t>
            </a:r>
            <a:endParaRPr lang="en-US" sz="1350" dirty="0"/>
          </a:p>
        </p:txBody>
      </p:sp>
      <p:sp>
        <p:nvSpPr>
          <p:cNvPr id="26" name="Shape 20"/>
          <p:cNvSpPr/>
          <p:nvPr/>
        </p:nvSpPr>
        <p:spPr>
          <a:xfrm>
            <a:off x="4160520" y="4471457"/>
            <a:ext cx="329184" cy="329184"/>
          </a:xfrm>
          <a:prstGeom prst="ellipse">
            <a:avLst/>
          </a:prstGeom>
          <a:solidFill>
            <a:srgbClr val="0F9ED5"/>
          </a:solidFill>
          <a:ln w="12700">
            <a:solidFill>
              <a:srgbClr val="0F9ED5"/>
            </a:solidFill>
            <a:prstDash val="solid"/>
          </a:ln>
        </p:spPr>
      </p:sp>
      <p:sp>
        <p:nvSpPr>
          <p:cNvPr id="27" name="Text 21"/>
          <p:cNvSpPr txBox="1"/>
          <p:nvPr/>
        </p:nvSpPr>
        <p:spPr>
          <a:xfrm>
            <a:off x="4160520" y="447145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8" name="Text 22"/>
          <p:cNvSpPr txBox="1"/>
          <p:nvPr/>
        </p:nvSpPr>
        <p:spPr>
          <a:xfrm>
            <a:off x="4599432" y="4434881"/>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Hours table HTML</a:t>
            </a:r>
            <a:endParaRPr lang="en-US" sz="1350" dirty="0"/>
          </a:p>
        </p:txBody>
      </p:sp>
      <p:sp>
        <p:nvSpPr>
          <p:cNvPr id="29" name="Shape 23"/>
          <p:cNvSpPr/>
          <p:nvPr/>
        </p:nvSpPr>
        <p:spPr>
          <a:xfrm>
            <a:off x="4160520" y="4914930"/>
            <a:ext cx="329184" cy="329184"/>
          </a:xfrm>
          <a:prstGeom prst="ellipse">
            <a:avLst/>
          </a:prstGeom>
          <a:solidFill>
            <a:srgbClr val="0F9ED5"/>
          </a:solidFill>
          <a:ln w="12700">
            <a:solidFill>
              <a:srgbClr val="0F9ED5"/>
            </a:solidFill>
            <a:prstDash val="solid"/>
          </a:ln>
        </p:spPr>
      </p:sp>
      <p:sp>
        <p:nvSpPr>
          <p:cNvPr id="30" name="Text 24"/>
          <p:cNvSpPr txBox="1"/>
          <p:nvPr/>
        </p:nvSpPr>
        <p:spPr>
          <a:xfrm>
            <a:off x="4160520" y="491493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31" name="Text 25"/>
          <p:cNvSpPr txBox="1"/>
          <p:nvPr/>
        </p:nvSpPr>
        <p:spPr>
          <a:xfrm>
            <a:off x="4599432" y="4878354"/>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Style the table</a:t>
            </a:r>
            <a:endParaRPr lang="en-US" sz="1350" dirty="0"/>
          </a:p>
        </p:txBody>
      </p:sp>
      <p:sp>
        <p:nvSpPr>
          <p:cNvPr id="32" name="Shape 26"/>
          <p:cNvSpPr/>
          <p:nvPr/>
        </p:nvSpPr>
        <p:spPr>
          <a:xfrm>
            <a:off x="4160520" y="5358404"/>
            <a:ext cx="329184" cy="329184"/>
          </a:xfrm>
          <a:prstGeom prst="ellipse">
            <a:avLst/>
          </a:prstGeom>
          <a:solidFill>
            <a:srgbClr val="2E7D32"/>
          </a:solidFill>
          <a:ln w="12700">
            <a:solidFill>
              <a:srgbClr val="2E7D32"/>
            </a:solidFill>
            <a:prstDash val="solid"/>
          </a:ln>
        </p:spPr>
      </p:sp>
      <p:sp>
        <p:nvSpPr>
          <p:cNvPr id="33" name="Text 27"/>
          <p:cNvSpPr txBox="1"/>
          <p:nvPr/>
        </p:nvSpPr>
        <p:spPr>
          <a:xfrm>
            <a:off x="4160520" y="53584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7</a:t>
            </a:r>
            <a:endParaRPr lang="en-US" sz="1300" dirty="0"/>
          </a:p>
        </p:txBody>
      </p:sp>
      <p:sp>
        <p:nvSpPr>
          <p:cNvPr id="34" name="Text 28"/>
          <p:cNvSpPr txBox="1"/>
          <p:nvPr/>
        </p:nvSpPr>
        <p:spPr>
          <a:xfrm>
            <a:off x="4599432" y="5321828"/>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Validate the HTML</a:t>
            </a:r>
            <a:endParaRPr lang="en-US" sz="1350" dirty="0"/>
          </a:p>
        </p:txBody>
      </p:sp>
      <p:sp>
        <p:nvSpPr>
          <p:cNvPr id="35" name="Shape 29"/>
          <p:cNvSpPr/>
          <p:nvPr/>
        </p:nvSpPr>
        <p:spPr>
          <a:xfrm>
            <a:off x="4160520" y="5801878"/>
            <a:ext cx="329184" cy="329184"/>
          </a:xfrm>
          <a:prstGeom prst="ellipse">
            <a:avLst/>
          </a:prstGeom>
          <a:solidFill>
            <a:srgbClr val="2E7D32"/>
          </a:solidFill>
          <a:ln w="12700">
            <a:solidFill>
              <a:srgbClr val="2E7D32"/>
            </a:solidFill>
            <a:prstDash val="solid"/>
          </a:ln>
        </p:spPr>
      </p:sp>
      <p:sp>
        <p:nvSpPr>
          <p:cNvPr id="36" name="Text 30"/>
          <p:cNvSpPr txBox="1"/>
          <p:nvPr/>
        </p:nvSpPr>
        <p:spPr>
          <a:xfrm>
            <a:off x="4160520" y="580187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8</a:t>
            </a:r>
            <a:endParaRPr lang="en-US" sz="1300" dirty="0"/>
          </a:p>
        </p:txBody>
      </p:sp>
      <p:sp>
        <p:nvSpPr>
          <p:cNvPr id="37" name="Text 31"/>
          <p:cNvSpPr txBox="1"/>
          <p:nvPr/>
        </p:nvSpPr>
        <p:spPr>
          <a:xfrm>
            <a:off x="4599432" y="5765302"/>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Validate the CSS</a:t>
            </a:r>
            <a:endParaRPr lang="en-US" sz="1350" dirty="0"/>
          </a:p>
        </p:txBody>
      </p:sp>
      <p:sp>
        <p:nvSpPr>
          <p:cNvPr id="38" name="Shape 32"/>
          <p:cNvSpPr/>
          <p:nvPr/>
        </p:nvSpPr>
        <p:spPr>
          <a:xfrm>
            <a:off x="7589520" y="4306865"/>
            <a:ext cx="4053535" cy="2048215"/>
          </a:xfrm>
          <a:prstGeom prst="roundRect">
            <a:avLst>
              <a:gd name="adj" fmla="val 535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9" name="Text 33"/>
          <p:cNvSpPr txBox="1"/>
          <p:nvPr/>
        </p:nvSpPr>
        <p:spPr>
          <a:xfrm>
            <a:off x="7818120" y="4444025"/>
            <a:ext cx="3596335" cy="36576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Submit to Brightspace</a:t>
            </a:r>
            <a:endParaRPr lang="en-US" sz="1700" dirty="0"/>
          </a:p>
        </p:txBody>
      </p:sp>
      <p:sp>
        <p:nvSpPr>
          <p:cNvPr id="40" name="Text 34"/>
          <p:cNvSpPr txBox="1"/>
          <p:nvPr/>
        </p:nvSpPr>
        <p:spPr>
          <a:xfrm>
            <a:off x="7818120" y="4855505"/>
            <a:ext cx="3596335" cy="1362415"/>
          </a:xfrm>
          <a:prstGeom prst="rect">
            <a:avLst/>
          </a:prstGeom>
          <a:noFill/>
          <a:ln/>
        </p:spPr>
        <p:txBody>
          <a:bodyPr wrap="square" lIns="0" tIns="0" rIns="0" bIns="0" rtlCol="0" anchor="t"/>
          <a:lstStyle/>
          <a:p>
            <a:pPr indent="0" marL="0">
              <a:spcBef>
                <a:spcPts val="400"/>
              </a:spcBef>
              <a:buNone/>
            </a:pPr>
            <a:r>
              <a:rPr lang="en-US" sz="1350" b="1" dirty="0">
                <a:solidFill>
                  <a:srgbClr val="D9D9D9"/>
                </a:solidFill>
                <a:latin typeface="Aptos" pitchFamily="34" charset="0"/>
                <a:ea typeface="Aptos" pitchFamily="34" charset="-122"/>
                <a:cs typeface="Aptos" pitchFamily="34" charset="-120"/>
              </a:rPr>
              <a:t>Three screenshots:</a:t>
            </a:r>
            <a:endParaRPr lang="en-US" sz="1350" dirty="0"/>
          </a:p>
          <a:p>
            <a:pPr indent="0" marL="0">
              <a:spcBef>
                <a:spcPts val="400"/>
              </a:spcBef>
              <a:buNone/>
            </a:pPr>
            <a:r>
              <a:rPr lang="en-US" sz="1350" dirty="0">
                <a:solidFill>
                  <a:srgbClr val="D9D9D9"/>
                </a:solidFill>
                <a:latin typeface="Aptos" pitchFamily="34" charset="0"/>
                <a:ea typeface="Aptos" pitchFamily="34" charset="-122"/>
                <a:cs typeface="Aptos" pitchFamily="34" charset="-120"/>
              </a:rPr>
              <a:t>1. Your page, with the dropdown open</a:t>
            </a:r>
            <a:endParaRPr lang="en-US" sz="1350" dirty="0"/>
          </a:p>
          <a:p>
            <a:pPr indent="0" marL="0">
              <a:spcBef>
                <a:spcPts val="400"/>
              </a:spcBef>
              <a:buNone/>
            </a:pPr>
            <a:r>
              <a:rPr lang="en-US" sz="1350" dirty="0">
                <a:solidFill>
                  <a:srgbClr val="D9D9D9"/>
                </a:solidFill>
                <a:latin typeface="Aptos" pitchFamily="34" charset="0"/>
                <a:ea typeface="Aptos" pitchFamily="34" charset="-122"/>
                <a:cs typeface="Aptos" pitchFamily="34" charset="-120"/>
              </a:rPr>
              <a:t>2. The HTML validator: "No errors"</a:t>
            </a:r>
            <a:endParaRPr lang="en-US" sz="1350" dirty="0"/>
          </a:p>
          <a:p>
            <a:pPr indent="0" marL="0">
              <a:spcBef>
                <a:spcPts val="400"/>
              </a:spcBef>
              <a:buNone/>
            </a:pPr>
            <a:r>
              <a:rPr lang="en-US" sz="1350" dirty="0">
                <a:solidFill>
                  <a:srgbClr val="D9D9D9"/>
                </a:solidFill>
                <a:latin typeface="Aptos" pitchFamily="34" charset="0"/>
                <a:ea typeface="Aptos" pitchFamily="34" charset="-122"/>
                <a:cs typeface="Aptos" pitchFamily="34" charset="-120"/>
              </a:rPr>
              <a:t>3. The CSS validator: "No Error Found"</a:t>
            </a:r>
            <a:endParaRPr lang="en-US" sz="1350" dirty="0"/>
          </a:p>
          <a:p>
            <a:pPr indent="0" marL="0">
              <a:spcBef>
                <a:spcPts val="400"/>
              </a:spcBef>
              <a:buNone/>
            </a:pPr>
            <a:r>
              <a:rPr lang="en-US" sz="1350" b="1" dirty="0">
                <a:solidFill>
                  <a:srgbClr val="F2C6AC"/>
                </a:solidFill>
                <a:latin typeface="Consolas" pitchFamily="34" charset="0"/>
                <a:ea typeface="Consolas" pitchFamily="34" charset="-122"/>
                <a:cs typeface="Consolas" pitchFamily="34" charset="-120"/>
              </a:rPr>
              <a:t>Win + Shift + S</a:t>
            </a:r>
            <a:pPr indent="0" marL="0">
              <a:spcBef>
                <a:spcPts val="400"/>
              </a:spcBef>
              <a:buNone/>
            </a:pPr>
            <a:r>
              <a:rPr lang="en-US" sz="1350" dirty="0">
                <a:solidFill>
                  <a:srgbClr val="D9D9D9"/>
                </a:solidFill>
                <a:latin typeface="Aptos" pitchFamily="34" charset="0"/>
                <a:ea typeface="Aptos" pitchFamily="34" charset="-122"/>
                <a:cs typeface="Aptos" pitchFamily="34" charset="-120"/>
              </a:rPr>
              <a:t> takes a screenshot.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1: Add the Nav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activity/index.html with Live Server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Our Class 8 page, with no menu yet.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nav HTML</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inside </a:t>
            </a:r>
            <a:pPr indent="0" marL="0">
              <a:buNone/>
            </a:pPr>
            <a:r>
              <a:rPr lang="en-US" sz="1300" dirty="0">
                <a:solidFill>
                  <a:srgbClr val="8A2B0B"/>
                </a:solidFill>
                <a:latin typeface="Consolas" pitchFamily="34" charset="0"/>
                <a:ea typeface="Consolas" pitchFamily="34" charset="-122"/>
                <a:cs typeface="Consolas" pitchFamily="34" charset="-120"/>
              </a:rPr>
              <a:t>&lt;header&gt;</a:t>
            </a:r>
            <a:pPr indent="0" marL="0">
              <a:buNone/>
            </a:pPr>
            <a:r>
              <a:rPr lang="en-US" sz="1300" dirty="0">
                <a:solidFill>
                  <a:srgbClr val="262626"/>
                </a:solidFill>
                <a:latin typeface="Aptos" pitchFamily="34" charset="0"/>
                <a:ea typeface="Aptos" pitchFamily="34" charset="-122"/>
                <a:cs typeface="Aptos" pitchFamily="34" charset="-120"/>
              </a:rPr>
              <a:t>, under the </a:t>
            </a:r>
            <a:pPr indent="0" marL="0">
              <a:buNone/>
            </a:pPr>
            <a:r>
              <a:rPr lang="en-US" sz="1300" dirty="0">
                <a:solidFill>
                  <a:srgbClr val="8A2B0B"/>
                </a:solidFill>
                <a:latin typeface="Consolas" pitchFamily="34" charset="0"/>
                <a:ea typeface="Consolas" pitchFamily="34" charset="-122"/>
                <a:cs typeface="Consolas" pitchFamily="34" charset="-120"/>
              </a:rPr>
              <a:t>h1</a:t>
            </a:r>
            <a:pPr indent="0" marL="0">
              <a:buNone/>
            </a:pPr>
            <a:r>
              <a:rPr lang="en-US" sz="1300" dirty="0">
                <a:solidFill>
                  <a:srgbClr val="262626"/>
                </a:solidFill>
                <a:latin typeface="Aptos" pitchFamily="34" charset="0"/>
                <a:ea typeface="Aptos" pitchFamily="34" charset="-122"/>
                <a:cs typeface="Aptos" pitchFamily="34" charset="-120"/>
              </a:rPr>
              <a:t>. Save: a bulleted list appears.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style.css, under </a:t>
            </a:r>
            <a:pPr indent="0" marL="0">
              <a:buNone/>
            </a:pPr>
            <a:r>
              <a:rPr lang="en-US" sz="1300" b="1" dirty="0">
                <a:solidFill>
                  <a:srgbClr val="262626"/>
                </a:solidFill>
                <a:latin typeface="Aptos" pitchFamily="34" charset="0"/>
                <a:ea typeface="Aptos" pitchFamily="34" charset="-122"/>
                <a:cs typeface="Aptos" pitchFamily="34" charset="-120"/>
              </a:rPr>
              <a:t>Try It 1</a:t>
            </a:r>
            <a:pPr indent="0" marL="0">
              <a:buNone/>
            </a:pPr>
            <a:r>
              <a:rPr lang="en-US" sz="1300" dirty="0">
                <a:solidFill>
                  <a:srgbClr val="262626"/>
                </a:solidFill>
                <a:latin typeface="Aptos" pitchFamily="34" charset="0"/>
                <a:ea typeface="Aptos" pitchFamily="34" charset="-122"/>
                <a:cs typeface="Aptos" pitchFamily="34" charset="-120"/>
              </a:rPr>
              <a:t>. Save: the links line up in a row.</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a:t>
            </a:r>
            <a:pPr indent="0" marL="0">
              <a:buNone/>
            </a:pPr>
            <a:r>
              <a:rPr lang="en-US" sz="1300" dirty="0">
                <a:solidFill>
                  <a:srgbClr val="8A2B0B"/>
                </a:solidFill>
                <a:latin typeface="Consolas" pitchFamily="34" charset="0"/>
                <a:ea typeface="Consolas" pitchFamily="34" charset="-122"/>
                <a:cs typeface="Consolas" pitchFamily="34" charset="-120"/>
              </a:rPr>
              <a:t>gap: 4px</a:t>
            </a:r>
            <a:pPr indent="0" marL="0">
              <a:buNone/>
            </a:pPr>
            <a:r>
              <a:rPr lang="en-US" sz="1300" dirty="0">
                <a:solidFill>
                  <a:srgbClr val="262626"/>
                </a:solidFill>
                <a:latin typeface="Aptos" pitchFamily="34" charset="0"/>
                <a:ea typeface="Aptos" pitchFamily="34" charset="-122"/>
                <a:cs typeface="Aptos" pitchFamily="34" charset="-120"/>
              </a:rPr>
              <a:t> to </a:t>
            </a:r>
            <a:pPr indent="0" marL="0">
              <a:buNone/>
            </a:pPr>
            <a:r>
              <a:rPr lang="en-US" sz="1300" dirty="0">
                <a:solidFill>
                  <a:srgbClr val="8A2B0B"/>
                </a:solidFill>
                <a:latin typeface="Consolas" pitchFamily="34" charset="0"/>
                <a:ea typeface="Consolas" pitchFamily="34" charset="-122"/>
                <a:cs typeface="Consolas" pitchFamily="34" charset="-120"/>
              </a:rPr>
              <a:t>40px</a:t>
            </a:r>
            <a:pPr indent="0" marL="0">
              <a:buNone/>
            </a:pPr>
            <a:r>
              <a:rPr lang="en-US" sz="1300" dirty="0">
                <a:solidFill>
                  <a:srgbClr val="262626"/>
                </a:solidFill>
                <a:latin typeface="Aptos" pitchFamily="34" charset="0"/>
                <a:ea typeface="Aptos" pitchFamily="34" charset="-122"/>
                <a:cs typeface="Aptos" pitchFamily="34" charset="-120"/>
              </a:rPr>
              <a:t>. Then take out </a:t>
            </a:r>
            <a:pPr indent="0" marL="0">
              <a:buNone/>
            </a:pPr>
            <a:r>
              <a:rPr lang="en-US" sz="1300" dirty="0">
                <a:solidFill>
                  <a:srgbClr val="8A2B0B"/>
                </a:solidFill>
                <a:latin typeface="Consolas" pitchFamily="34" charset="0"/>
                <a:ea typeface="Consolas" pitchFamily="34" charset="-122"/>
                <a:cs typeface="Consolas" pitchFamily="34" charset="-120"/>
              </a:rPr>
              <a:t>display: flex</a:t>
            </a:r>
            <a:pPr indent="0" marL="0">
              <a:buNone/>
            </a:pPr>
            <a:r>
              <a:rPr lang="en-US" sz="1300" dirty="0">
                <a:solidFill>
                  <a:srgbClr val="262626"/>
                </a:solidFill>
                <a:latin typeface="Aptos" pitchFamily="34" charset="0"/>
                <a:ea typeface="Aptos" pitchFamily="34" charset="-122"/>
                <a:cs typeface="Aptos" pitchFamily="34" charset="-120"/>
              </a:rPr>
              <a:t> and put it back.</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INDEX.HTML, THEN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aria-label</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"Main"</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"#menu"</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aria-current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"page"</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Menu</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"#hours"</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Hours </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&amp;amp;</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Location</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"#contact"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Contact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style.css, Try It 1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flex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gap</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links go to the </a:t>
            </a:r>
            <a:pPr indent="0" marL="0">
              <a:buNone/>
            </a:pPr>
            <a:r>
              <a:rPr lang="en-US" sz="1300" b="1" dirty="0">
                <a:solidFill>
                  <a:srgbClr val="262626"/>
                </a:solidFill>
                <a:latin typeface="Aptos" pitchFamily="34" charset="0"/>
                <a:ea typeface="Aptos" pitchFamily="34" charset="-122"/>
                <a:cs typeface="Aptos" pitchFamily="34" charset="-120"/>
              </a:rPr>
              <a:t>ids</a:t>
            </a:r>
            <a:pPr indent="0" marL="0">
              <a:buNone/>
            </a:pPr>
            <a:r>
              <a:rPr lang="en-US" sz="1300" dirty="0">
                <a:solidFill>
                  <a:srgbClr val="262626"/>
                </a:solidFill>
                <a:latin typeface="Aptos" pitchFamily="34" charset="0"/>
                <a:ea typeface="Aptos" pitchFamily="34" charset="-122"/>
                <a:cs typeface="Aptos" pitchFamily="34" charset="-120"/>
              </a:rPr>
              <a:t> already on the page: </a:t>
            </a:r>
            <a:pPr indent="0" marL="0">
              <a:buNone/>
            </a:pPr>
            <a:r>
              <a:rPr lang="en-US" sz="1300" dirty="0">
                <a:solidFill>
                  <a:srgbClr val="8A2B0B"/>
                </a:solidFill>
                <a:latin typeface="Consolas" pitchFamily="34" charset="0"/>
                <a:ea typeface="Consolas" pitchFamily="34" charset="-122"/>
                <a:cs typeface="Consolas" pitchFamily="34" charset="-120"/>
              </a:rPr>
              <a:t>#menu</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dirty="0">
                <a:solidFill>
                  <a:srgbClr val="8A2B0B"/>
                </a:solidFill>
                <a:latin typeface="Consolas" pitchFamily="34" charset="0"/>
                <a:ea typeface="Consolas" pitchFamily="34" charset="-122"/>
                <a:cs typeface="Consolas" pitchFamily="34" charset="-120"/>
              </a:rPr>
              <a:t>#hours</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#contact</a:t>
            </a:r>
            <a:pPr indent="0" marL="0">
              <a:buNone/>
            </a:pPr>
            <a:r>
              <a:rPr lang="en-US" sz="1300" dirty="0">
                <a:solidFill>
                  <a:srgbClr val="262626"/>
                </a:solidFill>
                <a:latin typeface="Aptos" pitchFamily="34" charset="0"/>
                <a:ea typeface="Aptos" pitchFamily="34" charset="-122"/>
                <a:cs typeface="Aptos" pitchFamily="34" charset="-120"/>
              </a:rPr>
              <a:t>. Click them!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2: Style the Links (6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 on the right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a:t>
            </a:r>
            <a:pPr indent="0" marL="0">
              <a:buNone/>
            </a:pPr>
            <a:r>
              <a:rPr lang="en-US" sz="1300" b="1" dirty="0">
                <a:solidFill>
                  <a:srgbClr val="262626"/>
                </a:solidFill>
                <a:latin typeface="Aptos" pitchFamily="34" charset="0"/>
                <a:ea typeface="Aptos" pitchFamily="34" charset="-122"/>
                <a:cs typeface="Aptos" pitchFamily="34" charset="-120"/>
              </a:rPr>
              <a:t>Try It 2</a:t>
            </a:r>
            <a:pPr indent="0" marL="0">
              <a:buNone/>
            </a:pPr>
            <a:r>
              <a:rPr lang="en-US" sz="1300" dirty="0">
                <a:solidFill>
                  <a:srgbClr val="262626"/>
                </a:solidFill>
                <a:latin typeface="Aptos" pitchFamily="34" charset="0"/>
                <a:ea typeface="Aptos" pitchFamily="34" charset="-122"/>
                <a:cs typeface="Aptos" pitchFamily="34" charset="-120"/>
              </a:rPr>
              <a:t>. Save.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Hover each link</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whole box lights up, not just the word.</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Press Tab</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Click in the page, then Tab: the </a:t>
            </a:r>
            <a:pPr indent="0" marL="0">
              <a:buNone/>
            </a:pPr>
            <a:r>
              <a:rPr lang="en-US" sz="1300" dirty="0">
                <a:solidFill>
                  <a:srgbClr val="8A2B0B"/>
                </a:solidFill>
                <a:latin typeface="Consolas" pitchFamily="34" charset="0"/>
                <a:ea typeface="Consolas" pitchFamily="34" charset="-122"/>
                <a:cs typeface="Consolas" pitchFamily="34" charset="-120"/>
              </a:rPr>
              <a:t>:focus-visible</a:t>
            </a:r>
            <a:pPr indent="0" marL="0">
              <a:buNone/>
            </a:pPr>
            <a:r>
              <a:rPr lang="en-US" sz="1300" dirty="0">
                <a:solidFill>
                  <a:srgbClr val="262626"/>
                </a:solidFill>
                <a:latin typeface="Aptos" pitchFamily="34" charset="0"/>
                <a:ea typeface="Aptos" pitchFamily="34" charset="-122"/>
                <a:cs typeface="Aptos" pitchFamily="34" charset="-120"/>
              </a:rPr>
              <a:t> style follows the keyboard.</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the hover colour. Try </a:t>
            </a:r>
            <a:pPr indent="0" marL="0">
              <a:buNone/>
            </a:pPr>
            <a:r>
              <a:rPr lang="en-US" sz="1300" dirty="0">
                <a:solidFill>
                  <a:srgbClr val="8A2B0B"/>
                </a:solidFill>
                <a:latin typeface="Consolas" pitchFamily="34" charset="0"/>
                <a:ea typeface="Consolas" pitchFamily="34" charset="-122"/>
                <a:cs typeface="Consolas" pitchFamily="34" charset="-120"/>
              </a:rPr>
              <a:t>border-bottom: 4px dotted</a:t>
            </a:r>
            <a:pPr indent="0" marL="0">
              <a:buNone/>
            </a:pPr>
            <a:r>
              <a:rPr lang="en-US" sz="1300" dirty="0">
                <a:solidFill>
                  <a:srgbClr val="262626"/>
                </a:solidFill>
                <a:latin typeface="Aptos" pitchFamily="34" charset="0"/>
                <a:ea typeface="Aptos" pitchFamily="34" charset="-122"/>
                <a:cs typeface="Aptos" pitchFamily="34" charset="-120"/>
              </a:rPr>
              <a:t> on the current page.</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a:hover,</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a:focus-visible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aria-current="page"</a:t>
            </a:r>
            <a:pPr indent="0" marL="0">
              <a:buNone/>
            </a:pPr>
            <a:r>
              <a:rPr lang="en-US" sz="1300" dirty="0">
                <a:solidFill>
                  <a:srgbClr val="262626"/>
                </a:solidFill>
                <a:latin typeface="Aptos" pitchFamily="34" charset="0"/>
                <a:ea typeface="Aptos" pitchFamily="34" charset="-122"/>
                <a:cs typeface="Aptos" pitchFamily="34" charset="-120"/>
              </a:rPr>
              <a:t> tells screen readers "you are here". The attribute selector (Class 9) styles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3: A Dropdown (10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Replace the Menu li</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The new </a:t>
            </a:r>
            <a:pPr indent="0" marL="0">
              <a:buNone/>
            </a:pPr>
            <a:r>
              <a:rPr lang="en-US" sz="1300" dirty="0">
                <a:solidFill>
                  <a:srgbClr val="8A2B0B"/>
                </a:solidFill>
                <a:latin typeface="Consolas" pitchFamily="34" charset="0"/>
                <a:ea typeface="Consolas" pitchFamily="34" charset="-122"/>
                <a:cs typeface="Consolas" pitchFamily="34" charset="-120"/>
              </a:rPr>
              <a:t>&lt;ul&gt;</a:t>
            </a:r>
            <a:pPr indent="0" marL="0">
              <a:buNone/>
            </a:pPr>
            <a:r>
              <a:rPr lang="en-US" sz="1300" dirty="0">
                <a:solidFill>
                  <a:srgbClr val="262626"/>
                </a:solidFill>
                <a:latin typeface="Aptos" pitchFamily="34" charset="0"/>
                <a:ea typeface="Aptos" pitchFamily="34" charset="-122"/>
                <a:cs typeface="Aptos" pitchFamily="34" charset="-120"/>
              </a:rPr>
              <a:t> goes </a:t>
            </a:r>
            <a:pPr indent="0" marL="0">
              <a:buNone/>
            </a:pPr>
            <a:r>
              <a:rPr lang="en-US" sz="1300" b="1" dirty="0">
                <a:solidFill>
                  <a:srgbClr val="262626"/>
                </a:solidFill>
                <a:latin typeface="Aptos" pitchFamily="34" charset="0"/>
                <a:ea typeface="Aptos" pitchFamily="34" charset="-122"/>
                <a:cs typeface="Aptos" pitchFamily="34" charset="-120"/>
              </a:rPr>
              <a:t>inside</a:t>
            </a:r>
            <a:pPr indent="0" marL="0">
              <a:buNone/>
            </a:pPr>
            <a:r>
              <a:rPr lang="en-US" sz="1300" dirty="0">
                <a:solidFill>
                  <a:srgbClr val="262626"/>
                </a:solidFill>
                <a:latin typeface="Aptos" pitchFamily="34" charset="0"/>
                <a:ea typeface="Aptos" pitchFamily="34" charset="-122"/>
                <a:cs typeface="Aptos" pitchFamily="34" charset="-120"/>
              </a:rPr>
              <a:t> the </a:t>
            </a:r>
            <a:pPr indent="0" marL="0">
              <a:buNone/>
            </a:pPr>
            <a:r>
              <a:rPr lang="en-US" sz="1300" dirty="0">
                <a:solidFill>
                  <a:srgbClr val="8A2B0B"/>
                </a:solidFill>
                <a:latin typeface="Consolas" pitchFamily="34" charset="0"/>
                <a:ea typeface="Consolas" pitchFamily="34" charset="-122"/>
                <a:cs typeface="Consolas" pitchFamily="34" charset="-120"/>
              </a:rPr>
              <a:t>&lt;li&gt;</a:t>
            </a:r>
            <a:pPr indent="0" marL="0">
              <a:buNone/>
            </a:pPr>
            <a:r>
              <a:rPr lang="en-US" sz="1300" dirty="0">
                <a:solidFill>
                  <a:srgbClr val="262626"/>
                </a:solidFill>
                <a:latin typeface="Aptos" pitchFamily="34" charset="0"/>
                <a:ea typeface="Aptos" pitchFamily="34" charset="-122"/>
                <a:cs typeface="Aptos" pitchFamily="34" charset="-120"/>
              </a:rPr>
              <a:t>, after the link.</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a:t>
            </a:r>
            <a:pPr indent="0" marL="0">
              <a:buNone/>
            </a:pPr>
            <a:r>
              <a:rPr lang="en-US" sz="1300" b="1" dirty="0">
                <a:solidFill>
                  <a:srgbClr val="262626"/>
                </a:solidFill>
                <a:latin typeface="Aptos" pitchFamily="34" charset="0"/>
                <a:ea typeface="Aptos" pitchFamily="34" charset="-122"/>
                <a:cs typeface="Aptos" pitchFamily="34" charset="-120"/>
              </a:rPr>
              <a:t>Try It 3</a:t>
            </a:r>
            <a:pPr indent="0" marL="0">
              <a:buNone/>
            </a:pPr>
            <a:r>
              <a:rPr lang="en-US" sz="1300" dirty="0">
                <a:solidFill>
                  <a:srgbClr val="262626"/>
                </a:solidFill>
                <a:latin typeface="Aptos" pitchFamily="34" charset="0"/>
                <a:ea typeface="Aptos" pitchFamily="34" charset="-122"/>
                <a:cs typeface="Aptos" pitchFamily="34" charset="-120"/>
              </a:rPr>
              <a:t>. Save and hover Menu.</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Can't read it? Good!</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links are white on a pale page. Try It 4 fixes it.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Press Tab</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When you reach Menu, it opens. That's </a:t>
            </a:r>
            <a:pPr indent="0" marL="0">
              <a:buNone/>
            </a:pPr>
            <a:r>
              <a:rPr lang="en-US" sz="1300" dirty="0">
                <a:solidFill>
                  <a:srgbClr val="8A2B0B"/>
                </a:solidFill>
                <a:latin typeface="Consolas" pitchFamily="34" charset="0"/>
                <a:ea typeface="Consolas" pitchFamily="34" charset="-122"/>
                <a:cs typeface="Consolas" pitchFamily="34" charset="-120"/>
              </a:rPr>
              <a:t>:focus-within</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1" name="Shape 18"/>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INDEX.HTML, THEN STYLE.CSS</a:t>
            </a:r>
            <a:endParaRPr lang="en-US" sz="1100" dirty="0"/>
          </a:p>
        </p:txBody>
      </p:sp>
      <p:sp>
        <p:nvSpPr>
          <p:cNvPr id="23" name="Text 20"/>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"#menu"</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aria-current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"page"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Menu </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&amp;#9662;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"#haddock"</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Haddock </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&amp;amp;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"#clams"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Clam Strips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"#lobster"</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Lobster Roll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"#kids"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Kids' Fish Bites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style.css, Try It 3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relative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ul ul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absolute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top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li:hover &gt; ul,</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li:focus-within &gt; ul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4: Make the Dropdown Readable (4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 on the right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a:t>
            </a:r>
            <a:pPr indent="0" marL="0">
              <a:buNone/>
            </a:pPr>
            <a:r>
              <a:rPr lang="en-US" sz="1300" b="1" dirty="0">
                <a:solidFill>
                  <a:srgbClr val="262626"/>
                </a:solidFill>
                <a:latin typeface="Aptos" pitchFamily="34" charset="0"/>
                <a:ea typeface="Aptos" pitchFamily="34" charset="-122"/>
                <a:cs typeface="Aptos" pitchFamily="34" charset="-120"/>
              </a:rPr>
              <a:t>Try It 4</a:t>
            </a:r>
            <a:pPr indent="0" marL="0">
              <a:buNone/>
            </a:pPr>
            <a:r>
              <a:rPr lang="en-US" sz="1300" dirty="0">
                <a:solidFill>
                  <a:srgbClr val="262626"/>
                </a:solidFill>
                <a:latin typeface="Aptos" pitchFamily="34" charset="0"/>
                <a:ea typeface="Aptos" pitchFamily="34" charset="-122"/>
                <a:cs typeface="Aptos" pitchFamily="34" charset="-120"/>
              </a:rPr>
              <a:t>. Save and hover Menu.</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Two nav ul ul rules?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That's fine: the browser combines them.</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Make the shadow bigger: </a:t>
            </a:r>
            <a:pPr indent="0" marL="0">
              <a:buNone/>
            </a:pPr>
            <a:r>
              <a:rPr lang="en-US" sz="1300" dirty="0">
                <a:solidFill>
                  <a:srgbClr val="8A2B0B"/>
                </a:solidFill>
                <a:latin typeface="Consolas" pitchFamily="34" charset="0"/>
                <a:ea typeface="Consolas" pitchFamily="34" charset="-122"/>
                <a:cs typeface="Consolas" pitchFamily="34" charset="-120"/>
              </a:rPr>
              <a:t>0 8px 24px</a:t>
            </a:r>
            <a:pPr indent="0" marL="0">
              <a:buNone/>
            </a:pPr>
            <a:r>
              <a:rPr lang="en-US" sz="1300" dirty="0">
                <a:solidFill>
                  <a:srgbClr val="262626"/>
                </a:solidFill>
                <a:latin typeface="Aptos" pitchFamily="34" charset="0"/>
                <a:ea typeface="Aptos" pitchFamily="34" charset="-122"/>
                <a:cs typeface="Aptos" pitchFamily="34" charset="-120"/>
              </a:rPr>
              <a:t>. Or change </a:t>
            </a:r>
            <a:pPr indent="0" marL="0">
              <a:buNone/>
            </a:pPr>
            <a:r>
              <a:rPr lang="en-US" sz="1300" dirty="0">
                <a:solidFill>
                  <a:srgbClr val="8A2B0B"/>
                </a:solidFill>
                <a:latin typeface="Consolas" pitchFamily="34" charset="0"/>
                <a:ea typeface="Consolas" pitchFamily="34" charset="-122"/>
                <a:cs typeface="Consolas" pitchFamily="34" charset="-120"/>
              </a:rPr>
              <a:t>min-width</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8" name="Text 15"/>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19" name="Text 16"/>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min-width</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220px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box-shadow</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rgba(0,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0.25</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normal</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a:hover,</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a:focus-visible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20" name="Shape 17"/>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box-shadow</a:t>
            </a:r>
            <a:pPr indent="0" marL="0">
              <a:buNone/>
            </a:pPr>
            <a:r>
              <a:rPr lang="en-US" sz="1300" dirty="0">
                <a:solidFill>
                  <a:srgbClr val="262626"/>
                </a:solidFill>
                <a:latin typeface="Aptos" pitchFamily="34" charset="0"/>
                <a:ea typeface="Aptos" pitchFamily="34" charset="-122"/>
                <a:cs typeface="Aptos" pitchFamily="34" charset="-120"/>
              </a:rPr>
              <a:t>: across, down, blur, colour. </a:t>
            </a:r>
            <a:pPr indent="0" marL="0">
              <a:buNone/>
            </a:pPr>
            <a:r>
              <a:rPr lang="en-US" sz="1300" dirty="0">
                <a:solidFill>
                  <a:srgbClr val="8A2B0B"/>
                </a:solidFill>
                <a:latin typeface="Consolas" pitchFamily="34" charset="0"/>
                <a:ea typeface="Consolas" pitchFamily="34" charset="-122"/>
                <a:cs typeface="Consolas" pitchFamily="34" charset="-120"/>
              </a:rPr>
              <a:t>rgba</a:t>
            </a:r>
            <a:pPr indent="0" marL="0">
              <a:buNone/>
            </a:pPr>
            <a:r>
              <a:rPr lang="en-US" sz="1300" dirty="0">
                <a:solidFill>
                  <a:srgbClr val="262626"/>
                </a:solidFill>
                <a:latin typeface="Aptos" pitchFamily="34" charset="0"/>
                <a:ea typeface="Aptos" pitchFamily="34" charset="-122"/>
                <a:cs typeface="Aptos" pitchFamily="34" charset="-120"/>
              </a:rPr>
              <a:t> = a colour you can see through (0.25 = 25%).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Tables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For data, not layout   ·   structure   ·   styling   ·   zebra stripes   ·   small screens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Parts of a Table</a:t>
            </a:r>
            <a:endParaRPr lang="en-US" sz="2800" dirty="0"/>
          </a:p>
        </p:txBody>
      </p:sp>
      <p:sp>
        <p:nvSpPr>
          <p:cNvPr id="7" name="Text 4"/>
          <p:cNvSpPr txBox="1"/>
          <p:nvPr/>
        </p:nvSpPr>
        <p:spPr>
          <a:xfrm>
            <a:off x="4754880" y="1783080"/>
            <a:ext cx="3703320" cy="347472"/>
          </a:xfrm>
          <a:prstGeom prst="rect">
            <a:avLst/>
          </a:prstGeom>
          <a:noFill/>
          <a:ln/>
        </p:spPr>
        <p:txBody>
          <a:bodyPr wrap="square" lIns="0" tIns="0" rIns="0" bIns="0" rtlCol="0" anchor="ctr"/>
          <a:lstStyle/>
          <a:p>
            <a:pPr indent="0" marL="0">
              <a:buNone/>
            </a:pPr>
            <a:r>
              <a:rPr lang="en-US" sz="1400" b="1" dirty="0">
                <a:solidFill>
                  <a:srgbClr val="000000"/>
                </a:solidFill>
                <a:latin typeface="Aptos" pitchFamily="34" charset="0"/>
                <a:ea typeface="Aptos" pitchFamily="34" charset="-122"/>
                <a:cs typeface="Aptos" pitchFamily="34" charset="-120"/>
              </a:rPr>
              <a:t>Fresh Fish Prices</a:t>
            </a:r>
            <a:endParaRPr lang="en-US" sz="1400" dirty="0"/>
          </a:p>
        </p:txBody>
      </p:sp>
      <p:sp>
        <p:nvSpPr>
          <p:cNvPr id="8" name="Shape 5"/>
          <p:cNvSpPr/>
          <p:nvPr/>
        </p:nvSpPr>
        <p:spPr>
          <a:xfrm>
            <a:off x="4754880" y="2148840"/>
            <a:ext cx="1234440" cy="438912"/>
          </a:xfrm>
          <a:prstGeom prst="rect">
            <a:avLst/>
          </a:prstGeom>
          <a:solidFill>
            <a:srgbClr val="12304A"/>
          </a:solidFill>
          <a:ln w="9525">
            <a:solidFill>
              <a:srgbClr val="B0B8BC"/>
            </a:solidFill>
            <a:prstDash val="solid"/>
          </a:ln>
        </p:spPr>
      </p:sp>
      <p:sp>
        <p:nvSpPr>
          <p:cNvPr id="9" name="Text 6"/>
          <p:cNvSpPr txBox="1"/>
          <p:nvPr/>
        </p:nvSpPr>
        <p:spPr>
          <a:xfrm>
            <a:off x="4846320" y="2148840"/>
            <a:ext cx="1051560" cy="438912"/>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Fish</a:t>
            </a:r>
            <a:endParaRPr lang="en-US" sz="1200" dirty="0"/>
          </a:p>
        </p:txBody>
      </p:sp>
      <p:sp>
        <p:nvSpPr>
          <p:cNvPr id="10" name="Shape 7"/>
          <p:cNvSpPr/>
          <p:nvPr/>
        </p:nvSpPr>
        <p:spPr>
          <a:xfrm>
            <a:off x="5989320" y="2148840"/>
            <a:ext cx="1234440" cy="438912"/>
          </a:xfrm>
          <a:prstGeom prst="rect">
            <a:avLst/>
          </a:prstGeom>
          <a:solidFill>
            <a:srgbClr val="12304A"/>
          </a:solidFill>
          <a:ln w="9525">
            <a:solidFill>
              <a:srgbClr val="B0B8BC"/>
            </a:solidFill>
            <a:prstDash val="solid"/>
          </a:ln>
        </p:spPr>
      </p:sp>
      <p:sp>
        <p:nvSpPr>
          <p:cNvPr id="11" name="Text 8"/>
          <p:cNvSpPr txBox="1"/>
          <p:nvPr/>
        </p:nvSpPr>
        <p:spPr>
          <a:xfrm>
            <a:off x="6080760" y="2148840"/>
            <a:ext cx="1051560" cy="438912"/>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Caught in</a:t>
            </a:r>
            <a:endParaRPr lang="en-US" sz="1200" dirty="0"/>
          </a:p>
        </p:txBody>
      </p:sp>
      <p:sp>
        <p:nvSpPr>
          <p:cNvPr id="12" name="Shape 9"/>
          <p:cNvSpPr/>
          <p:nvPr/>
        </p:nvSpPr>
        <p:spPr>
          <a:xfrm>
            <a:off x="7223760" y="2148840"/>
            <a:ext cx="1234440" cy="438912"/>
          </a:xfrm>
          <a:prstGeom prst="rect">
            <a:avLst/>
          </a:prstGeom>
          <a:solidFill>
            <a:srgbClr val="12304A"/>
          </a:solidFill>
          <a:ln w="9525">
            <a:solidFill>
              <a:srgbClr val="B0B8BC"/>
            </a:solidFill>
            <a:prstDash val="solid"/>
          </a:ln>
        </p:spPr>
      </p:sp>
      <p:sp>
        <p:nvSpPr>
          <p:cNvPr id="13" name="Text 10"/>
          <p:cNvSpPr txBox="1"/>
          <p:nvPr/>
        </p:nvSpPr>
        <p:spPr>
          <a:xfrm>
            <a:off x="7315200" y="2148840"/>
            <a:ext cx="1051560" cy="438912"/>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Price / lb</a:t>
            </a:r>
            <a:endParaRPr lang="en-US" sz="1200" dirty="0"/>
          </a:p>
        </p:txBody>
      </p:sp>
      <p:sp>
        <p:nvSpPr>
          <p:cNvPr id="14" name="Shape 11"/>
          <p:cNvSpPr/>
          <p:nvPr/>
        </p:nvSpPr>
        <p:spPr>
          <a:xfrm>
            <a:off x="4754880" y="2679192"/>
            <a:ext cx="1234440" cy="438912"/>
          </a:xfrm>
          <a:prstGeom prst="rect">
            <a:avLst/>
          </a:prstGeom>
          <a:solidFill>
            <a:srgbClr val="F4F8FA"/>
          </a:solidFill>
          <a:ln w="9525">
            <a:solidFill>
              <a:srgbClr val="B0B8BC"/>
            </a:solidFill>
            <a:prstDash val="solid"/>
          </a:ln>
        </p:spPr>
      </p:sp>
      <p:sp>
        <p:nvSpPr>
          <p:cNvPr id="15" name="Text 12"/>
          <p:cNvSpPr txBox="1"/>
          <p:nvPr/>
        </p:nvSpPr>
        <p:spPr>
          <a:xfrm>
            <a:off x="4846320" y="2679192"/>
            <a:ext cx="1051560" cy="438912"/>
          </a:xfrm>
          <a:prstGeom prst="rect">
            <a:avLst/>
          </a:prstGeom>
          <a:noFill/>
          <a:ln/>
        </p:spPr>
        <p:txBody>
          <a:bodyPr wrap="square" lIns="0" tIns="0" rIns="0" bIns="0" rtlCol="0" anchor="ctr"/>
          <a:lstStyle/>
          <a:p>
            <a:pPr indent="0" marL="0">
              <a:buNone/>
            </a:pPr>
            <a:r>
              <a:rPr lang="en-US" sz="1200" b="1" dirty="0">
                <a:solidFill>
                  <a:srgbClr val="000000"/>
                </a:solidFill>
                <a:latin typeface="Aptos" pitchFamily="34" charset="0"/>
                <a:ea typeface="Aptos" pitchFamily="34" charset="-122"/>
                <a:cs typeface="Aptos" pitchFamily="34" charset="-120"/>
              </a:rPr>
              <a:t>Haddock</a:t>
            </a:r>
            <a:endParaRPr lang="en-US" sz="1200" dirty="0"/>
          </a:p>
        </p:txBody>
      </p:sp>
      <p:sp>
        <p:nvSpPr>
          <p:cNvPr id="16" name="Shape 13"/>
          <p:cNvSpPr/>
          <p:nvPr/>
        </p:nvSpPr>
        <p:spPr>
          <a:xfrm>
            <a:off x="5989320" y="2679192"/>
            <a:ext cx="1234440" cy="438912"/>
          </a:xfrm>
          <a:prstGeom prst="rect">
            <a:avLst/>
          </a:prstGeom>
          <a:solidFill>
            <a:srgbClr val="FFFFFF"/>
          </a:solidFill>
          <a:ln w="9525">
            <a:solidFill>
              <a:srgbClr val="B0B8BC"/>
            </a:solidFill>
            <a:prstDash val="solid"/>
          </a:ln>
        </p:spPr>
      </p:sp>
      <p:sp>
        <p:nvSpPr>
          <p:cNvPr id="17" name="Text 14"/>
          <p:cNvSpPr txBox="1"/>
          <p:nvPr/>
        </p:nvSpPr>
        <p:spPr>
          <a:xfrm>
            <a:off x="6080760" y="2679192"/>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Yarmouth</a:t>
            </a:r>
            <a:endParaRPr lang="en-US" sz="1200" dirty="0"/>
          </a:p>
        </p:txBody>
      </p:sp>
      <p:sp>
        <p:nvSpPr>
          <p:cNvPr id="18" name="Shape 15"/>
          <p:cNvSpPr/>
          <p:nvPr/>
        </p:nvSpPr>
        <p:spPr>
          <a:xfrm>
            <a:off x="7223760" y="2679192"/>
            <a:ext cx="1234440" cy="438912"/>
          </a:xfrm>
          <a:prstGeom prst="rect">
            <a:avLst/>
          </a:prstGeom>
          <a:solidFill>
            <a:srgbClr val="FFFFFF"/>
          </a:solidFill>
          <a:ln w="9525">
            <a:solidFill>
              <a:srgbClr val="B0B8BC"/>
            </a:solidFill>
            <a:prstDash val="solid"/>
          </a:ln>
        </p:spPr>
      </p:sp>
      <p:sp>
        <p:nvSpPr>
          <p:cNvPr id="19" name="Text 16"/>
          <p:cNvSpPr txBox="1"/>
          <p:nvPr/>
        </p:nvSpPr>
        <p:spPr>
          <a:xfrm>
            <a:off x="7315200" y="2679192"/>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$11.99</a:t>
            </a:r>
            <a:endParaRPr lang="en-US" sz="1200" dirty="0"/>
          </a:p>
        </p:txBody>
      </p:sp>
      <p:sp>
        <p:nvSpPr>
          <p:cNvPr id="20" name="Shape 17"/>
          <p:cNvSpPr/>
          <p:nvPr/>
        </p:nvSpPr>
        <p:spPr>
          <a:xfrm>
            <a:off x="4754880" y="3118104"/>
            <a:ext cx="1234440" cy="438912"/>
          </a:xfrm>
          <a:prstGeom prst="rect">
            <a:avLst/>
          </a:prstGeom>
          <a:solidFill>
            <a:srgbClr val="F4F8FA"/>
          </a:solidFill>
          <a:ln w="9525">
            <a:solidFill>
              <a:srgbClr val="B0B8BC"/>
            </a:solidFill>
            <a:prstDash val="solid"/>
          </a:ln>
        </p:spPr>
      </p:sp>
      <p:sp>
        <p:nvSpPr>
          <p:cNvPr id="21" name="Text 18"/>
          <p:cNvSpPr txBox="1"/>
          <p:nvPr/>
        </p:nvSpPr>
        <p:spPr>
          <a:xfrm>
            <a:off x="4846320" y="3118104"/>
            <a:ext cx="1051560" cy="438912"/>
          </a:xfrm>
          <a:prstGeom prst="rect">
            <a:avLst/>
          </a:prstGeom>
          <a:noFill/>
          <a:ln/>
        </p:spPr>
        <p:txBody>
          <a:bodyPr wrap="square" lIns="0" tIns="0" rIns="0" bIns="0" rtlCol="0" anchor="ctr"/>
          <a:lstStyle/>
          <a:p>
            <a:pPr indent="0" marL="0">
              <a:buNone/>
            </a:pPr>
            <a:r>
              <a:rPr lang="en-US" sz="1200" b="1" dirty="0">
                <a:solidFill>
                  <a:srgbClr val="000000"/>
                </a:solidFill>
                <a:latin typeface="Aptos" pitchFamily="34" charset="0"/>
                <a:ea typeface="Aptos" pitchFamily="34" charset="-122"/>
                <a:cs typeface="Aptos" pitchFamily="34" charset="-120"/>
              </a:rPr>
              <a:t>Halibut</a:t>
            </a:r>
            <a:endParaRPr lang="en-US" sz="1200" dirty="0"/>
          </a:p>
        </p:txBody>
      </p:sp>
      <p:sp>
        <p:nvSpPr>
          <p:cNvPr id="22" name="Shape 19"/>
          <p:cNvSpPr/>
          <p:nvPr/>
        </p:nvSpPr>
        <p:spPr>
          <a:xfrm>
            <a:off x="5989320" y="3118104"/>
            <a:ext cx="1234440" cy="438912"/>
          </a:xfrm>
          <a:prstGeom prst="rect">
            <a:avLst/>
          </a:prstGeom>
          <a:solidFill>
            <a:srgbClr val="FFFFFF"/>
          </a:solidFill>
          <a:ln w="9525">
            <a:solidFill>
              <a:srgbClr val="B0B8BC"/>
            </a:solidFill>
            <a:prstDash val="solid"/>
          </a:ln>
        </p:spPr>
      </p:sp>
      <p:sp>
        <p:nvSpPr>
          <p:cNvPr id="23" name="Text 20"/>
          <p:cNvSpPr txBox="1"/>
          <p:nvPr/>
        </p:nvSpPr>
        <p:spPr>
          <a:xfrm>
            <a:off x="6080760" y="3118104"/>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Digby</a:t>
            </a:r>
            <a:endParaRPr lang="en-US" sz="1200" dirty="0"/>
          </a:p>
        </p:txBody>
      </p:sp>
      <p:sp>
        <p:nvSpPr>
          <p:cNvPr id="24" name="Shape 21"/>
          <p:cNvSpPr/>
          <p:nvPr/>
        </p:nvSpPr>
        <p:spPr>
          <a:xfrm>
            <a:off x="7223760" y="3118104"/>
            <a:ext cx="1234440" cy="438912"/>
          </a:xfrm>
          <a:prstGeom prst="rect">
            <a:avLst/>
          </a:prstGeom>
          <a:solidFill>
            <a:srgbClr val="FFFFFF"/>
          </a:solidFill>
          <a:ln w="9525">
            <a:solidFill>
              <a:srgbClr val="B0B8BC"/>
            </a:solidFill>
            <a:prstDash val="solid"/>
          </a:ln>
        </p:spPr>
      </p:sp>
      <p:sp>
        <p:nvSpPr>
          <p:cNvPr id="25" name="Text 22"/>
          <p:cNvSpPr txBox="1"/>
          <p:nvPr/>
        </p:nvSpPr>
        <p:spPr>
          <a:xfrm>
            <a:off x="7315200" y="3118104"/>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$24.50</a:t>
            </a:r>
            <a:endParaRPr lang="en-US" sz="1200" dirty="0"/>
          </a:p>
        </p:txBody>
      </p:sp>
      <p:sp>
        <p:nvSpPr>
          <p:cNvPr id="26" name="Shape 23"/>
          <p:cNvSpPr/>
          <p:nvPr/>
        </p:nvSpPr>
        <p:spPr>
          <a:xfrm>
            <a:off x="4754880" y="3557016"/>
            <a:ext cx="1234440" cy="438912"/>
          </a:xfrm>
          <a:prstGeom prst="rect">
            <a:avLst/>
          </a:prstGeom>
          <a:solidFill>
            <a:srgbClr val="F4F8FA"/>
          </a:solidFill>
          <a:ln w="9525">
            <a:solidFill>
              <a:srgbClr val="B0B8BC"/>
            </a:solidFill>
            <a:prstDash val="solid"/>
          </a:ln>
        </p:spPr>
      </p:sp>
      <p:sp>
        <p:nvSpPr>
          <p:cNvPr id="27" name="Text 24"/>
          <p:cNvSpPr txBox="1"/>
          <p:nvPr/>
        </p:nvSpPr>
        <p:spPr>
          <a:xfrm>
            <a:off x="4846320" y="3557016"/>
            <a:ext cx="1051560" cy="438912"/>
          </a:xfrm>
          <a:prstGeom prst="rect">
            <a:avLst/>
          </a:prstGeom>
          <a:noFill/>
          <a:ln/>
        </p:spPr>
        <p:txBody>
          <a:bodyPr wrap="square" lIns="0" tIns="0" rIns="0" bIns="0" rtlCol="0" anchor="ctr"/>
          <a:lstStyle/>
          <a:p>
            <a:pPr indent="0" marL="0">
              <a:buNone/>
            </a:pPr>
            <a:r>
              <a:rPr lang="en-US" sz="1200" b="1" dirty="0">
                <a:solidFill>
                  <a:srgbClr val="000000"/>
                </a:solidFill>
                <a:latin typeface="Aptos" pitchFamily="34" charset="0"/>
                <a:ea typeface="Aptos" pitchFamily="34" charset="-122"/>
                <a:cs typeface="Aptos" pitchFamily="34" charset="-120"/>
              </a:rPr>
              <a:t>Scallops</a:t>
            </a:r>
            <a:endParaRPr lang="en-US" sz="1200" dirty="0"/>
          </a:p>
        </p:txBody>
      </p:sp>
      <p:sp>
        <p:nvSpPr>
          <p:cNvPr id="28" name="Shape 25"/>
          <p:cNvSpPr/>
          <p:nvPr/>
        </p:nvSpPr>
        <p:spPr>
          <a:xfrm>
            <a:off x="5989320" y="3557016"/>
            <a:ext cx="1234440" cy="438912"/>
          </a:xfrm>
          <a:prstGeom prst="rect">
            <a:avLst/>
          </a:prstGeom>
          <a:solidFill>
            <a:srgbClr val="FFFFFF"/>
          </a:solidFill>
          <a:ln w="9525">
            <a:solidFill>
              <a:srgbClr val="B0B8BC"/>
            </a:solidFill>
            <a:prstDash val="solid"/>
          </a:ln>
        </p:spPr>
      </p:sp>
      <p:sp>
        <p:nvSpPr>
          <p:cNvPr id="29" name="Text 26"/>
          <p:cNvSpPr txBox="1"/>
          <p:nvPr/>
        </p:nvSpPr>
        <p:spPr>
          <a:xfrm>
            <a:off x="6080760" y="3557016"/>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Digby</a:t>
            </a:r>
            <a:endParaRPr lang="en-US" sz="1200" dirty="0"/>
          </a:p>
        </p:txBody>
      </p:sp>
      <p:sp>
        <p:nvSpPr>
          <p:cNvPr id="30" name="Shape 27"/>
          <p:cNvSpPr/>
          <p:nvPr/>
        </p:nvSpPr>
        <p:spPr>
          <a:xfrm>
            <a:off x="7223760" y="3557016"/>
            <a:ext cx="1234440" cy="438912"/>
          </a:xfrm>
          <a:prstGeom prst="rect">
            <a:avLst/>
          </a:prstGeom>
          <a:solidFill>
            <a:srgbClr val="FFFFFF"/>
          </a:solidFill>
          <a:ln w="9525">
            <a:solidFill>
              <a:srgbClr val="B0B8BC"/>
            </a:solidFill>
            <a:prstDash val="solid"/>
          </a:ln>
        </p:spPr>
      </p:sp>
      <p:sp>
        <p:nvSpPr>
          <p:cNvPr id="31" name="Text 28"/>
          <p:cNvSpPr txBox="1"/>
          <p:nvPr/>
        </p:nvSpPr>
        <p:spPr>
          <a:xfrm>
            <a:off x="7315200" y="3557016"/>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$29.99</a:t>
            </a:r>
            <a:endParaRPr lang="en-US" sz="1200" dirty="0"/>
          </a:p>
        </p:txBody>
      </p:sp>
      <p:sp>
        <p:nvSpPr>
          <p:cNvPr id="32" name="Shape 29"/>
          <p:cNvSpPr/>
          <p:nvPr/>
        </p:nvSpPr>
        <p:spPr>
          <a:xfrm>
            <a:off x="8567928" y="2185416"/>
            <a:ext cx="45720" cy="365760"/>
          </a:xfrm>
          <a:prstGeom prst="rect">
            <a:avLst/>
          </a:prstGeom>
          <a:solidFill>
            <a:srgbClr val="12304A"/>
          </a:solidFill>
          <a:ln w="12700">
            <a:solidFill>
              <a:srgbClr val="12304A"/>
            </a:solidFill>
            <a:prstDash val="solid"/>
          </a:ln>
        </p:spPr>
      </p:sp>
      <p:sp>
        <p:nvSpPr>
          <p:cNvPr id="33" name="Text 30"/>
          <p:cNvSpPr txBox="1"/>
          <p:nvPr/>
        </p:nvSpPr>
        <p:spPr>
          <a:xfrm>
            <a:off x="8677656" y="2148840"/>
            <a:ext cx="822960" cy="438912"/>
          </a:xfrm>
          <a:prstGeom prst="rect">
            <a:avLst/>
          </a:prstGeom>
          <a:noFill/>
          <a:ln/>
        </p:spPr>
        <p:txBody>
          <a:bodyPr wrap="square" lIns="0" tIns="0" rIns="0" bIns="0" rtlCol="0" anchor="ctr"/>
          <a:lstStyle/>
          <a:p>
            <a:pPr indent="0" marL="0">
              <a:buNone/>
            </a:pPr>
            <a:r>
              <a:rPr lang="en-US" sz="1200" b="1" dirty="0">
                <a:solidFill>
                  <a:srgbClr val="12304A"/>
                </a:solidFill>
                <a:latin typeface="Consolas" pitchFamily="34" charset="0"/>
                <a:ea typeface="Consolas" pitchFamily="34" charset="-122"/>
                <a:cs typeface="Consolas" pitchFamily="34" charset="-120"/>
              </a:rPr>
              <a:t>&lt;thead&gt;</a:t>
            </a:r>
            <a:endParaRPr lang="en-US" sz="1200" dirty="0"/>
          </a:p>
        </p:txBody>
      </p:sp>
      <p:sp>
        <p:nvSpPr>
          <p:cNvPr id="34" name="Shape 31"/>
          <p:cNvSpPr/>
          <p:nvPr/>
        </p:nvSpPr>
        <p:spPr>
          <a:xfrm>
            <a:off x="8567928" y="2715768"/>
            <a:ext cx="45720" cy="1243584"/>
          </a:xfrm>
          <a:prstGeom prst="rect">
            <a:avLst/>
          </a:prstGeom>
          <a:solidFill>
            <a:srgbClr val="1B5E82"/>
          </a:solidFill>
          <a:ln w="12700">
            <a:solidFill>
              <a:srgbClr val="1B5E82"/>
            </a:solidFill>
            <a:prstDash val="solid"/>
          </a:ln>
        </p:spPr>
      </p:sp>
      <p:sp>
        <p:nvSpPr>
          <p:cNvPr id="35" name="Text 32"/>
          <p:cNvSpPr txBox="1"/>
          <p:nvPr/>
        </p:nvSpPr>
        <p:spPr>
          <a:xfrm>
            <a:off x="8677656" y="2679192"/>
            <a:ext cx="822960" cy="1316736"/>
          </a:xfrm>
          <a:prstGeom prst="rect">
            <a:avLst/>
          </a:prstGeom>
          <a:noFill/>
          <a:ln/>
        </p:spPr>
        <p:txBody>
          <a:bodyPr wrap="square" lIns="0" tIns="0" rIns="0" bIns="0" rtlCol="0" anchor="ctr"/>
          <a:lstStyle/>
          <a:p>
            <a:pPr indent="0" marL="0">
              <a:buNone/>
            </a:pPr>
            <a:r>
              <a:rPr lang="en-US" sz="1200" b="1" dirty="0">
                <a:solidFill>
                  <a:srgbClr val="1B5E82"/>
                </a:solidFill>
                <a:latin typeface="Consolas" pitchFamily="34" charset="0"/>
                <a:ea typeface="Consolas" pitchFamily="34" charset="-122"/>
                <a:cs typeface="Consolas" pitchFamily="34" charset="-120"/>
              </a:rPr>
              <a:t>&lt;tbody&gt;</a:t>
            </a:r>
            <a:endParaRPr lang="en-US" sz="1200" dirty="0"/>
          </a:p>
        </p:txBody>
      </p:sp>
      <p:sp>
        <p:nvSpPr>
          <p:cNvPr id="36" name="Text 33"/>
          <p:cNvSpPr txBox="1"/>
          <p:nvPr/>
        </p:nvSpPr>
        <p:spPr>
          <a:xfrm>
            <a:off x="4754880" y="420624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&lt;caption&gt;</a:t>
            </a:r>
            <a:endParaRPr lang="en-US" sz="1300" dirty="0"/>
          </a:p>
        </p:txBody>
      </p:sp>
      <p:sp>
        <p:nvSpPr>
          <p:cNvPr id="37" name="Text 34"/>
          <p:cNvSpPr txBox="1"/>
          <p:nvPr/>
        </p:nvSpPr>
        <p:spPr>
          <a:xfrm>
            <a:off x="7086600" y="420624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The table's name: read out first</a:t>
            </a:r>
            <a:endParaRPr lang="en-US" sz="1350" dirty="0"/>
          </a:p>
        </p:txBody>
      </p:sp>
      <p:sp>
        <p:nvSpPr>
          <p:cNvPr id="38" name="Text 35"/>
          <p:cNvSpPr txBox="1"/>
          <p:nvPr/>
        </p:nvSpPr>
        <p:spPr>
          <a:xfrm>
            <a:off x="4754880" y="457200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&lt;thead&gt; &lt;tbody&gt;</a:t>
            </a:r>
            <a:endParaRPr lang="en-US" sz="1300" dirty="0"/>
          </a:p>
        </p:txBody>
      </p:sp>
      <p:sp>
        <p:nvSpPr>
          <p:cNvPr id="39" name="Text 36"/>
          <p:cNvSpPr txBox="1"/>
          <p:nvPr/>
        </p:nvSpPr>
        <p:spPr>
          <a:xfrm>
            <a:off x="7086600" y="457200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The header rows, and the data rows</a:t>
            </a:r>
            <a:endParaRPr lang="en-US" sz="1350" dirty="0"/>
          </a:p>
        </p:txBody>
      </p:sp>
      <p:sp>
        <p:nvSpPr>
          <p:cNvPr id="40" name="Text 37"/>
          <p:cNvSpPr txBox="1"/>
          <p:nvPr/>
        </p:nvSpPr>
        <p:spPr>
          <a:xfrm>
            <a:off x="4754880" y="493776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&lt;tr&gt;</a:t>
            </a:r>
            <a:endParaRPr lang="en-US" sz="1300" dirty="0"/>
          </a:p>
        </p:txBody>
      </p:sp>
      <p:sp>
        <p:nvSpPr>
          <p:cNvPr id="41" name="Text 38"/>
          <p:cNvSpPr txBox="1"/>
          <p:nvPr/>
        </p:nvSpPr>
        <p:spPr>
          <a:xfrm>
            <a:off x="7086600" y="493776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table row</a:t>
            </a:r>
            <a:endParaRPr lang="en-US" sz="1350" dirty="0"/>
          </a:p>
        </p:txBody>
      </p:sp>
      <p:sp>
        <p:nvSpPr>
          <p:cNvPr id="42" name="Text 39"/>
          <p:cNvSpPr txBox="1"/>
          <p:nvPr/>
        </p:nvSpPr>
        <p:spPr>
          <a:xfrm>
            <a:off x="4754880" y="530352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&lt;th scope="col"&gt;</a:t>
            </a:r>
            <a:endParaRPr lang="en-US" sz="1300" dirty="0"/>
          </a:p>
        </p:txBody>
      </p:sp>
      <p:sp>
        <p:nvSpPr>
          <p:cNvPr id="43" name="Text 40"/>
          <p:cNvSpPr txBox="1"/>
          <p:nvPr/>
        </p:nvSpPr>
        <p:spPr>
          <a:xfrm>
            <a:off x="7086600" y="530352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heading for the column below</a:t>
            </a:r>
            <a:endParaRPr lang="en-US" sz="1350" dirty="0"/>
          </a:p>
        </p:txBody>
      </p:sp>
      <p:sp>
        <p:nvSpPr>
          <p:cNvPr id="44" name="Text 41"/>
          <p:cNvSpPr txBox="1"/>
          <p:nvPr/>
        </p:nvSpPr>
        <p:spPr>
          <a:xfrm>
            <a:off x="4754880" y="566928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&lt;th scope="row"&gt;</a:t>
            </a:r>
            <a:endParaRPr lang="en-US" sz="1300" dirty="0"/>
          </a:p>
        </p:txBody>
      </p:sp>
      <p:sp>
        <p:nvSpPr>
          <p:cNvPr id="45" name="Text 42"/>
          <p:cNvSpPr txBox="1"/>
          <p:nvPr/>
        </p:nvSpPr>
        <p:spPr>
          <a:xfrm>
            <a:off x="7086600" y="566928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heading for the row beside it</a:t>
            </a:r>
            <a:endParaRPr lang="en-US" sz="1350" dirty="0"/>
          </a:p>
        </p:txBody>
      </p:sp>
      <p:sp>
        <p:nvSpPr>
          <p:cNvPr id="46" name="Text 43"/>
          <p:cNvSpPr txBox="1"/>
          <p:nvPr/>
        </p:nvSpPr>
        <p:spPr>
          <a:xfrm>
            <a:off x="4754880" y="603504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&lt;td&gt;</a:t>
            </a:r>
            <a:endParaRPr lang="en-US" sz="1300" dirty="0"/>
          </a:p>
        </p:txBody>
      </p:sp>
      <p:sp>
        <p:nvSpPr>
          <p:cNvPr id="47" name="Text 44"/>
          <p:cNvSpPr txBox="1"/>
          <p:nvPr/>
        </p:nvSpPr>
        <p:spPr>
          <a:xfrm>
            <a:off x="7086600" y="603504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table data cell: the actual data</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25780"/>
            <a:ext cx="5852160" cy="58064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54380"/>
            <a:ext cx="5394960" cy="5349240"/>
          </a:xfrm>
          <a:prstGeom prst="rect">
            <a:avLst/>
          </a:prstGeom>
          <a:noFill/>
          <a:ln/>
        </p:spPr>
        <p:txBody>
          <a:bodyPr wrap="square" lIns="0" tIns="0" rIns="0" bIns="0" rtlCol="0" anchor="t"/>
          <a:lstStyle/>
          <a:p>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Fresh Fish Prices</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Fish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Caught in</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Price / lb</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"row"</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Haddock</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Yarmouth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$11.99</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"row"</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Halibut</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Digby</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$24.50</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&lt;!-- …two more rows… --&gt;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1 · EXAMPLE 05</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Table, No CSS</a:t>
            </a:r>
            <a:endParaRPr lang="en-US" sz="3200" dirty="0"/>
          </a:p>
        </p:txBody>
      </p:sp>
      <p:pic>
        <p:nvPicPr>
          <p:cNvPr id="7" name="Image 1" descr="C:\Repos\2026-2027\WEBD1000\07_Navigation_Tables_Validation\_build\shots\ex05.png">    </p:cNvPr>
          <p:cNvPicPr>
            <a:picLocks noChangeAspect="1"/>
          </p:cNvPicPr>
          <p:nvPr/>
        </p:nvPicPr>
        <p:blipFill>
          <a:blip r:embed="rId2"/>
          <a:stretch>
            <a:fillRect/>
          </a:stretch>
        </p:blipFill>
        <p:spPr>
          <a:xfrm>
            <a:off x="6812280" y="4230746"/>
            <a:ext cx="4967935" cy="1987174"/>
          </a:xfrm>
          <a:prstGeom prst="rect">
            <a:avLst/>
          </a:prstGeom>
        </p:spPr>
      </p:pic>
      <p:sp>
        <p:nvSpPr>
          <p:cNvPr id="8" name="Shape 4"/>
          <p:cNvSpPr/>
          <p:nvPr/>
        </p:nvSpPr>
        <p:spPr>
          <a:xfrm>
            <a:off x="6812280" y="4230746"/>
            <a:ext cx="4967935" cy="1987174"/>
          </a:xfrm>
          <a:prstGeom prst="rect">
            <a:avLst/>
          </a:prstGeom>
          <a:ln w="12700">
            <a:solidFill>
              <a:srgbClr val="B0B8BC"/>
            </a:solidFill>
            <a:prstDash val="solid"/>
          </a:ln>
        </p:spPr>
      </p:sp>
      <p:sp>
        <p:nvSpPr>
          <p:cNvPr id="9" name="Text 5"/>
          <p:cNvSpPr txBox="1"/>
          <p:nvPr/>
        </p:nvSpPr>
        <p:spPr>
          <a:xfrm>
            <a:off x="6812280" y="393813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337938"/>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browser bolds and centres every </a:t>
            </a:r>
            <a:pPr indent="0" marL="0">
              <a:buNone/>
            </a:pPr>
            <a:r>
              <a:rPr lang="en-US" sz="1400" dirty="0">
                <a:solidFill>
                  <a:srgbClr val="8A2B0B"/>
                </a:solidFill>
                <a:latin typeface="Consolas" pitchFamily="34" charset="0"/>
                <a:ea typeface="Consolas" pitchFamily="34" charset="-122"/>
                <a:cs typeface="Consolas" pitchFamily="34" charset="-120"/>
              </a:rPr>
              <a:t>th</a:t>
            </a:r>
            <a:pPr indent="0" marL="0">
              <a:buNone/>
            </a:pPr>
            <a:r>
              <a:rPr lang="en-US" sz="1400" dirty="0">
                <a:solidFill>
                  <a:srgbClr val="262626"/>
                </a:solidFill>
                <a:latin typeface="Aptos" pitchFamily="34" charset="0"/>
                <a:ea typeface="Aptos" pitchFamily="34" charset="-122"/>
                <a:cs typeface="Aptos" pitchFamily="34" charset="-120"/>
              </a:rPr>
              <a:t>. There are no borders yet.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Write the </a:t>
            </a:r>
            <a:pPr indent="0" marL="0">
              <a:buNone/>
            </a:pPr>
            <a:r>
              <a:rPr lang="en-US" sz="1400" b="1" dirty="0">
                <a:solidFill>
                  <a:srgbClr val="262626"/>
                </a:solidFill>
                <a:latin typeface="Aptos" pitchFamily="34" charset="0"/>
                <a:ea typeface="Aptos" pitchFamily="34" charset="-122"/>
                <a:cs typeface="Aptos" pitchFamily="34" charset="-120"/>
              </a:rPr>
              <a:t>structure first</a:t>
            </a:r>
            <a:pPr indent="0" marL="0">
              <a:buNone/>
            </a:pPr>
            <a:r>
              <a:rPr lang="en-US" sz="1400" dirty="0">
                <a:solidFill>
                  <a:srgbClr val="262626"/>
                </a:solidFill>
                <a:latin typeface="Aptos" pitchFamily="34" charset="0"/>
                <a:ea typeface="Aptos" pitchFamily="34" charset="-122"/>
                <a:cs typeface="Aptos" pitchFamily="34" charset="-120"/>
              </a:rPr>
              <a:t>: caption, thead, tbody, th with scope. Then style it.</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05_table_structure_example.html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collapse = one line between cells, not two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caption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padding-bottom</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th, td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thead th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Line up the prices on the right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th:last-child,</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td:last-child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right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2 · EXAMPLE 06</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Styling a Table</a:t>
            </a:r>
            <a:endParaRPr lang="en-US" sz="3200" dirty="0"/>
          </a:p>
        </p:txBody>
      </p:sp>
      <p:pic>
        <p:nvPicPr>
          <p:cNvPr id="7" name="Image 1" descr="C:\Repos\2026-2027\WEBD1000\07_Navigation_Tables_Validation\_build\shots\ex06.png">    </p:cNvPr>
          <p:cNvPicPr>
            <a:picLocks noChangeAspect="1"/>
          </p:cNvPicPr>
          <p:nvPr/>
        </p:nvPicPr>
        <p:blipFill>
          <a:blip r:embed="rId2"/>
          <a:stretch>
            <a:fillRect/>
          </a:stretch>
        </p:blipFill>
        <p:spPr>
          <a:xfrm>
            <a:off x="6812280" y="4230746"/>
            <a:ext cx="4967935" cy="1987174"/>
          </a:xfrm>
          <a:prstGeom prst="rect">
            <a:avLst/>
          </a:prstGeom>
        </p:spPr>
      </p:pic>
      <p:sp>
        <p:nvSpPr>
          <p:cNvPr id="8" name="Shape 4"/>
          <p:cNvSpPr/>
          <p:nvPr/>
        </p:nvSpPr>
        <p:spPr>
          <a:xfrm>
            <a:off x="6812280" y="4230746"/>
            <a:ext cx="4967935" cy="1987174"/>
          </a:xfrm>
          <a:prstGeom prst="rect">
            <a:avLst/>
          </a:prstGeom>
          <a:ln w="12700">
            <a:solidFill>
              <a:srgbClr val="B0B8BC"/>
            </a:solidFill>
            <a:prstDash val="solid"/>
          </a:ln>
        </p:spPr>
      </p:sp>
      <p:sp>
        <p:nvSpPr>
          <p:cNvPr id="9" name="Text 5"/>
          <p:cNvSpPr txBox="1"/>
          <p:nvPr/>
        </p:nvSpPr>
        <p:spPr>
          <a:xfrm>
            <a:off x="6812280" y="393813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337938"/>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border-collapse: collapse</a:t>
            </a:r>
            <a:pPr indent="0" marL="0">
              <a:buNone/>
            </a:pPr>
            <a:r>
              <a:rPr lang="en-US" sz="1350" dirty="0">
                <a:solidFill>
                  <a:srgbClr val="262626"/>
                </a:solidFill>
                <a:latin typeface="Aptos" pitchFamily="34" charset="0"/>
                <a:ea typeface="Aptos" pitchFamily="34" charset="-122"/>
                <a:cs typeface="Aptos" pitchFamily="34" charset="-120"/>
              </a:rPr>
              <a:t>: one line between cells, not two.</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Borders and padding go on the </a:t>
            </a:r>
            <a:pPr indent="0" marL="0">
              <a:buNone/>
            </a:pPr>
            <a:r>
              <a:rPr lang="en-US" sz="1350" b="1" dirty="0">
                <a:solidFill>
                  <a:srgbClr val="262626"/>
                </a:solidFill>
                <a:latin typeface="Aptos" pitchFamily="34" charset="0"/>
                <a:ea typeface="Aptos" pitchFamily="34" charset="-122"/>
                <a:cs typeface="Aptos" pitchFamily="34" charset="-120"/>
              </a:rPr>
              <a:t>cells</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th, td</a:t>
            </a:r>
            <a:pPr indent="0" marL="0">
              <a:buNone/>
            </a:pPr>
            <a:r>
              <a:rPr lang="en-US" sz="1350" dirty="0">
                <a:solidFill>
                  <a:srgbClr val="262626"/>
                </a:solidFill>
                <a:latin typeface="Aptos" pitchFamily="34" charset="0"/>
                <a:ea typeface="Aptos" pitchFamily="34" charset="-122"/>
                <a:cs typeface="Aptos" pitchFamily="34" charset="-120"/>
              </a:rPr>
              <a:t>), not the table.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Line numbers up on the </a:t>
            </a:r>
            <a:pPr indent="0" marL="0">
              <a:buNone/>
            </a:pPr>
            <a:r>
              <a:rPr lang="en-US" sz="1350" b="1" dirty="0">
                <a:solidFill>
                  <a:srgbClr val="262626"/>
                </a:solidFill>
                <a:latin typeface="Aptos" pitchFamily="34" charset="0"/>
                <a:ea typeface="Aptos" pitchFamily="34" charset="-122"/>
                <a:cs typeface="Aptos" pitchFamily="34" charset="-120"/>
              </a:rPr>
              <a:t>right</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td:last-child</a:t>
            </a:r>
            <a:pPr indent="0" marL="0">
              <a:buNone/>
            </a:pPr>
            <a:r>
              <a:rPr lang="en-US" sz="1350" dirty="0">
                <a:solidFill>
                  <a:srgbClr val="262626"/>
                </a:solidFill>
                <a:latin typeface="Aptos" pitchFamily="34" charset="0"/>
                <a:ea typeface="Aptos" pitchFamily="34" charset="-122"/>
                <a:cs typeface="Aptos" pitchFamily="34" charset="-120"/>
              </a:rPr>
              <a:t> (a Class 9 selector).</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06_table_styled_example.html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947651"/>
            <a:ext cx="5852160" cy="4962698"/>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176251"/>
            <a:ext cx="5394960" cy="4505498"/>
          </a:xfrm>
          <a:prstGeom prst="rect">
            <a:avLst/>
          </a:prstGeom>
          <a:noFill/>
          <a:ln/>
        </p:spPr>
        <p:txBody>
          <a:bodyPr wrap="square" lIns="0" tIns="0" rIns="0" bIns="0" rtlCol="0" anchor="t"/>
          <a:lstStyle/>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Lines between rows only: cleaner than a full grid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th, td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thead th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tbody: so the header row isn't counted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tbody tr:nth-child(even)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Helps your eye follow a row across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tbody tr:hover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3 · EXAMPLE 07</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Zebra Stripes</a:t>
            </a:r>
            <a:endParaRPr lang="en-US" sz="3200" dirty="0"/>
          </a:p>
        </p:txBody>
      </p:sp>
      <p:pic>
        <p:nvPicPr>
          <p:cNvPr id="7" name="Image 1" descr="C:\Repos\2026-2027\WEBD1000\07_Navigation_Tables_Validation\_build\shots\ex07.png">    </p:cNvPr>
          <p:cNvPicPr>
            <a:picLocks noChangeAspect="1"/>
          </p:cNvPicPr>
          <p:nvPr/>
        </p:nvPicPr>
        <p:blipFill>
          <a:blip r:embed="rId2"/>
          <a:stretch>
            <a:fillRect/>
          </a:stretch>
        </p:blipFill>
        <p:spPr>
          <a:xfrm>
            <a:off x="6812280" y="3531276"/>
            <a:ext cx="4967935" cy="2732364"/>
          </a:xfrm>
          <a:prstGeom prst="rect">
            <a:avLst/>
          </a:prstGeom>
        </p:spPr>
      </p:pic>
      <p:sp>
        <p:nvSpPr>
          <p:cNvPr id="8" name="Shape 4"/>
          <p:cNvSpPr/>
          <p:nvPr/>
        </p:nvSpPr>
        <p:spPr>
          <a:xfrm>
            <a:off x="6812280" y="3531276"/>
            <a:ext cx="4967935" cy="2732364"/>
          </a:xfrm>
          <a:prstGeom prst="rect">
            <a:avLst/>
          </a:prstGeom>
          <a:ln w="12700">
            <a:solidFill>
              <a:srgbClr val="B0B8BC"/>
            </a:solidFill>
            <a:prstDash val="solid"/>
          </a:ln>
        </p:spPr>
      </p:sp>
      <p:sp>
        <p:nvSpPr>
          <p:cNvPr id="9" name="Text 5"/>
          <p:cNvSpPr txBox="1"/>
          <p:nvPr/>
        </p:nvSpPr>
        <p:spPr>
          <a:xfrm>
            <a:off x="6812280" y="323866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 (MOUSE OVER SCALLOPS)</a:t>
            </a:r>
            <a:endParaRPr lang="en-US" sz="1100" dirty="0"/>
          </a:p>
        </p:txBody>
      </p:sp>
      <p:sp>
        <p:nvSpPr>
          <p:cNvPr id="10" name="Text 6"/>
          <p:cNvSpPr txBox="1"/>
          <p:nvPr/>
        </p:nvSpPr>
        <p:spPr>
          <a:xfrm>
            <a:off x="6812280" y="1508760"/>
            <a:ext cx="4967935" cy="1638468"/>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tbody tr:nth-child(even)</a:t>
            </a:r>
            <a:pPr indent="0" marL="0">
              <a:buNone/>
            </a:pPr>
            <a:r>
              <a:rPr lang="en-US" sz="1350" dirty="0">
                <a:solidFill>
                  <a:srgbClr val="262626"/>
                </a:solidFill>
                <a:latin typeface="Aptos" pitchFamily="34" charset="0"/>
                <a:ea typeface="Aptos" pitchFamily="34" charset="-122"/>
                <a:cs typeface="Aptos" pitchFamily="34" charset="-120"/>
              </a:rPr>
              <a:t>: every second data row. Add a row and the stripes still work.</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tbody</a:t>
            </a:r>
            <a:pPr indent="0" marL="0">
              <a:buNone/>
            </a:pPr>
            <a:r>
              <a:rPr lang="en-US" sz="1350" dirty="0">
                <a:solidFill>
                  <a:srgbClr val="262626"/>
                </a:solidFill>
                <a:latin typeface="Aptos" pitchFamily="34" charset="0"/>
                <a:ea typeface="Aptos" pitchFamily="34" charset="-122"/>
                <a:cs typeface="Aptos" pitchFamily="34" charset="-120"/>
              </a:rPr>
              <a:t> so the header row isn't counted. </a:t>
            </a:r>
            <a:pPr indent="0" marL="0">
              <a:buNone/>
            </a:pPr>
            <a:r>
              <a:rPr lang="en-US" sz="1350" dirty="0">
                <a:solidFill>
                  <a:srgbClr val="8A2B0B"/>
                </a:solidFill>
                <a:latin typeface="Consolas" pitchFamily="34" charset="0"/>
                <a:ea typeface="Consolas" pitchFamily="34" charset="-122"/>
                <a:cs typeface="Consolas" pitchFamily="34" charset="-120"/>
              </a:rPr>
              <a:t>tr:hover</a:t>
            </a:r>
            <a:pPr indent="0" marL="0">
              <a:buNone/>
            </a:pPr>
            <a:r>
              <a:rPr lang="en-US" sz="1350" dirty="0">
                <a:solidFill>
                  <a:srgbClr val="262626"/>
                </a:solidFill>
                <a:latin typeface="Aptos" pitchFamily="34" charset="0"/>
                <a:ea typeface="Aptos" pitchFamily="34" charset="-122"/>
                <a:cs typeface="Aptos" pitchFamily="34" charset="-120"/>
              </a:rPr>
              <a:t> helps the eye follow a row.</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07_table_zebra_example.html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441994"/>
            <a:ext cx="5852160" cy="3974011"/>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670594"/>
            <a:ext cx="5394960" cy="3516811"/>
          </a:xfrm>
          <a:prstGeom prst="rect">
            <a:avLst/>
          </a:prstGeom>
          <a:noFill/>
          <a:ln/>
        </p:spPr>
        <p:txBody>
          <a:bodyPr wrap="square" lIns="0" tIns="0" rIns="0" bIns="0" rtlCol="0" anchor="t"/>
          <a:lstStyle/>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The wrapper scrolls sideways, not the whole page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.table-wrap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overflow-x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min-width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700px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"table-wrap"</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role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"region"</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aria-label</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"Weekly specials"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tabindex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"0"</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4 · EXAMPLE 08</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Tables on Small Screens</a:t>
            </a:r>
            <a:endParaRPr lang="en-US" sz="3200" dirty="0"/>
          </a:p>
        </p:txBody>
      </p:sp>
      <p:pic>
        <p:nvPicPr>
          <p:cNvPr id="7" name="Image 1" descr="C:\Repos\2026-2027\WEBD1000\07_Navigation_Tables_Validation\_build\shots\ex08.png">    </p:cNvPr>
          <p:cNvPicPr>
            <a:picLocks noChangeAspect="1"/>
          </p:cNvPicPr>
          <p:nvPr/>
        </p:nvPicPr>
        <p:blipFill>
          <a:blip r:embed="rId2"/>
          <a:stretch>
            <a:fillRect/>
          </a:stretch>
        </p:blipFill>
        <p:spPr>
          <a:xfrm>
            <a:off x="6812280" y="3630168"/>
            <a:ext cx="3706368" cy="2633472"/>
          </a:xfrm>
          <a:prstGeom prst="rect">
            <a:avLst/>
          </a:prstGeom>
        </p:spPr>
      </p:pic>
      <p:sp>
        <p:nvSpPr>
          <p:cNvPr id="8" name="Shape 4"/>
          <p:cNvSpPr/>
          <p:nvPr/>
        </p:nvSpPr>
        <p:spPr>
          <a:xfrm>
            <a:off x="6812280" y="3630168"/>
            <a:ext cx="3706368" cy="2633472"/>
          </a:xfrm>
          <a:prstGeom prst="rect">
            <a:avLst/>
          </a:prstGeom>
          <a:ln w="12700">
            <a:solidFill>
              <a:srgbClr val="B0B8BC"/>
            </a:solidFill>
            <a:prstDash val="solid"/>
          </a:ln>
        </p:spPr>
      </p:sp>
      <p:sp>
        <p:nvSpPr>
          <p:cNvPr id="9" name="Text 5"/>
          <p:cNvSpPr txBox="1"/>
          <p:nvPr/>
        </p:nvSpPr>
        <p:spPr>
          <a:xfrm>
            <a:off x="6812280" y="3337560"/>
            <a:ext cx="370636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ON A PHONE: IT SCROLLS SIDEWAYS</a:t>
            </a:r>
            <a:endParaRPr lang="en-US" sz="1100" dirty="0"/>
          </a:p>
        </p:txBody>
      </p:sp>
      <p:sp>
        <p:nvSpPr>
          <p:cNvPr id="10" name="Text 6"/>
          <p:cNvSpPr txBox="1"/>
          <p:nvPr/>
        </p:nvSpPr>
        <p:spPr>
          <a:xfrm>
            <a:off x="6812280" y="1508760"/>
            <a:ext cx="4967935" cy="173736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Wrap the table in a </a:t>
            </a:r>
            <a:pPr indent="0" marL="0">
              <a:buNone/>
            </a:pPr>
            <a:r>
              <a:rPr lang="en-US" sz="1350" dirty="0">
                <a:solidFill>
                  <a:srgbClr val="8A2B0B"/>
                </a:solidFill>
                <a:latin typeface="Consolas" pitchFamily="34" charset="0"/>
                <a:ea typeface="Consolas" pitchFamily="34" charset="-122"/>
                <a:cs typeface="Consolas" pitchFamily="34" charset="-120"/>
              </a:rPr>
              <a:t>div</a:t>
            </a:r>
            <a:pPr indent="0" marL="0">
              <a:buNone/>
            </a:pPr>
            <a:r>
              <a:rPr lang="en-US" sz="1350" dirty="0">
                <a:solidFill>
                  <a:srgbClr val="262626"/>
                </a:solidFill>
                <a:latin typeface="Aptos" pitchFamily="34" charset="0"/>
                <a:ea typeface="Aptos" pitchFamily="34" charset="-122"/>
                <a:cs typeface="Aptos" pitchFamily="34" charset="-120"/>
              </a:rPr>
              <a:t> with </a:t>
            </a:r>
            <a:pPr indent="0" marL="0">
              <a:buNone/>
            </a:pPr>
            <a:r>
              <a:rPr lang="en-US" sz="1350" dirty="0">
                <a:solidFill>
                  <a:srgbClr val="8A2B0B"/>
                </a:solidFill>
                <a:latin typeface="Consolas" pitchFamily="34" charset="0"/>
                <a:ea typeface="Consolas" pitchFamily="34" charset="-122"/>
                <a:cs typeface="Consolas" pitchFamily="34" charset="-120"/>
              </a:rPr>
              <a:t>overflow-x: auto</a:t>
            </a:r>
            <a:pPr indent="0" marL="0">
              <a:buNone/>
            </a:pPr>
            <a:r>
              <a:rPr lang="en-US" sz="1350" dirty="0">
                <a:solidFill>
                  <a:srgbClr val="262626"/>
                </a:solidFill>
                <a:latin typeface="Aptos" pitchFamily="34" charset="0"/>
                <a:ea typeface="Aptos" pitchFamily="34" charset="-122"/>
                <a:cs typeface="Aptos" pitchFamily="34" charset="-120"/>
              </a:rPr>
              <a:t>. The </a:t>
            </a:r>
            <a:pPr indent="0" marL="0">
              <a:buNone/>
            </a:pPr>
            <a:r>
              <a:rPr lang="en-US" sz="1350" b="1" dirty="0">
                <a:solidFill>
                  <a:srgbClr val="262626"/>
                </a:solidFill>
                <a:latin typeface="Aptos" pitchFamily="34" charset="0"/>
                <a:ea typeface="Aptos" pitchFamily="34" charset="-122"/>
                <a:cs typeface="Aptos" pitchFamily="34" charset="-120"/>
              </a:rPr>
              <a:t>box</a:t>
            </a:r>
            <a:pPr indent="0" marL="0">
              <a:buNone/>
            </a:pPr>
            <a:r>
              <a:rPr lang="en-US" sz="1350" dirty="0">
                <a:solidFill>
                  <a:srgbClr val="262626"/>
                </a:solidFill>
                <a:latin typeface="Aptos" pitchFamily="34" charset="0"/>
                <a:ea typeface="Aptos" pitchFamily="34" charset="-122"/>
                <a:cs typeface="Aptos" pitchFamily="34" charset="-120"/>
              </a:rPr>
              <a:t> scrolls, not the whole page.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tabindex="0"</a:t>
            </a:r>
            <a:pPr indent="0" marL="0">
              <a:buNone/>
            </a:pPr>
            <a:r>
              <a:rPr lang="en-US" sz="1350" dirty="0">
                <a:solidFill>
                  <a:srgbClr val="262626"/>
                </a:solidFill>
                <a:latin typeface="Aptos" pitchFamily="34" charset="0"/>
                <a:ea typeface="Aptos" pitchFamily="34" charset="-122"/>
                <a:cs typeface="Aptos" pitchFamily="34" charset="-120"/>
              </a:rPr>
              <a:t> + a label: keyboard users can scroll it with the arrow keys.</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Or show it another way on phones, like cards (later, with media queries).</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08_table_responsive_example.html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5: An Hours Table (10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Find the hours list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in </a:t>
            </a:r>
            <a:pPr indent="0" marL="0">
              <a:buNone/>
            </a:pPr>
            <a:r>
              <a:rPr lang="en-US" sz="1300" dirty="0">
                <a:solidFill>
                  <a:srgbClr val="8A2B0B"/>
                </a:solidFill>
                <a:latin typeface="Consolas" pitchFamily="34" charset="0"/>
                <a:ea typeface="Consolas" pitchFamily="34" charset="-122"/>
                <a:cs typeface="Consolas" pitchFamily="34" charset="-120"/>
              </a:rPr>
              <a:t>&lt;aside id="hours"&gt;</a:t>
            </a:r>
            <a:pPr indent="0" marL="0">
              <a:buNone/>
            </a:pPr>
            <a:r>
              <a:rPr lang="en-US" sz="1300" dirty="0">
                <a:solidFill>
                  <a:srgbClr val="262626"/>
                </a:solidFill>
                <a:latin typeface="Aptos" pitchFamily="34" charset="0"/>
                <a:ea typeface="Aptos" pitchFamily="34" charset="-122"/>
                <a:cs typeface="Aptos" pitchFamily="34" charset="-120"/>
              </a:rPr>
              <a:t>. Delete the </a:t>
            </a:r>
            <a:pPr indent="0" marL="0">
              <a:buNone/>
            </a:pPr>
            <a:r>
              <a:rPr lang="en-US" sz="1300" dirty="0">
                <a:solidFill>
                  <a:srgbClr val="8A2B0B"/>
                </a:solidFill>
                <a:latin typeface="Consolas" pitchFamily="34" charset="0"/>
                <a:ea typeface="Consolas" pitchFamily="34" charset="-122"/>
                <a:cs typeface="Consolas" pitchFamily="34" charset="-120"/>
              </a:rPr>
              <a:t>&lt;ul&gt;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table on the right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its place. Save: an unstyled table appears.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the row, six times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Select the Monday </a:t>
            </a:r>
            <a:pPr indent="0" marL="0">
              <a:buNone/>
            </a:pPr>
            <a:r>
              <a:rPr lang="en-US" sz="1300" dirty="0">
                <a:solidFill>
                  <a:srgbClr val="8A2B0B"/>
                </a:solidFill>
                <a:latin typeface="Consolas" pitchFamily="34" charset="0"/>
                <a:ea typeface="Consolas" pitchFamily="34" charset="-122"/>
                <a:cs typeface="Consolas" pitchFamily="34" charset="-120"/>
              </a:rPr>
              <a:t>&lt;tr&gt;</a:t>
            </a:r>
            <a:pPr indent="0" marL="0">
              <a:buNone/>
            </a:pPr>
            <a:r>
              <a:rPr lang="en-US" sz="1300" dirty="0">
                <a:solidFill>
                  <a:srgbClr val="262626"/>
                </a:solidFill>
                <a:latin typeface="Aptos" pitchFamily="34" charset="0"/>
                <a:ea typeface="Aptos" pitchFamily="34" charset="-122"/>
                <a:cs typeface="Aptos" pitchFamily="34" charset="-120"/>
              </a:rPr>
              <a:t> (5 lines), then </a:t>
            </a:r>
            <a:pPr indent="0" marL="0">
              <a:buNone/>
            </a:pPr>
            <a:r>
              <a:rPr lang="en-US" sz="1300" b="1" dirty="0">
                <a:solidFill>
                  <a:srgbClr val="262626"/>
                </a:solidFill>
                <a:latin typeface="Aptos" pitchFamily="34" charset="0"/>
                <a:ea typeface="Aptos" pitchFamily="34" charset="-122"/>
                <a:cs typeface="Aptos" pitchFamily="34" charset="-120"/>
              </a:rPr>
              <a:t>Shift + Alt + ↓</a:t>
            </a:r>
            <a:pPr indent="0" marL="0">
              <a:buNone/>
            </a:pPr>
            <a:r>
              <a:rPr lang="en-US" sz="1300" dirty="0">
                <a:solidFill>
                  <a:srgbClr val="262626"/>
                </a:solidFill>
                <a:latin typeface="Aptos" pitchFamily="34" charset="0"/>
                <a:ea typeface="Aptos" pitchFamily="34" charset="-122"/>
                <a:cs typeface="Aptos" pitchFamily="34" charset="-120"/>
              </a:rPr>
              <a:t> copies it.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Fill in the days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Mon–Thu: 11am to 8pm. Fri–Sat: 11am to 9pm. Sun: Noon to 7pm.</a:t>
            </a:r>
            <a:endParaRPr lang="en-US" sz="1300" dirty="0"/>
          </a:p>
        </p:txBody>
      </p:sp>
      <p:sp>
        <p:nvSpPr>
          <p:cNvPr id="21" name="Shape 18"/>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INDEX.HTML</a:t>
            </a:r>
            <a:endParaRPr lang="en-US" sz="1100" dirty="0"/>
          </a:p>
        </p:txBody>
      </p:sp>
      <p:sp>
        <p:nvSpPr>
          <p:cNvPr id="23" name="Text 20"/>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"table-wrap"</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Opening hours</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Day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Open</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Close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"row"</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Monday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11am</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8pm</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&lt;!-- Tuesday to Sunday --&gt;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6: Style the Table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 on the right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style.css, under </a:t>
            </a:r>
            <a:pPr indent="0" marL="0">
              <a:buNone/>
            </a:pPr>
            <a:r>
              <a:rPr lang="en-US" sz="1300" b="1" dirty="0">
                <a:solidFill>
                  <a:srgbClr val="262626"/>
                </a:solidFill>
                <a:latin typeface="Aptos" pitchFamily="34" charset="0"/>
                <a:ea typeface="Aptos" pitchFamily="34" charset="-122"/>
                <a:cs typeface="Aptos" pitchFamily="34" charset="-120"/>
              </a:rPr>
              <a:t>Try It 6</a:t>
            </a:r>
            <a:pPr indent="0" marL="0">
              <a:buNone/>
            </a:pPr>
            <a:r>
              <a:rPr lang="en-US" sz="1300" dirty="0">
                <a:solidFill>
                  <a:srgbClr val="262626"/>
                </a:solidFill>
                <a:latin typeface="Aptos" pitchFamily="34" charset="0"/>
                <a:ea typeface="Aptos" pitchFamily="34" charset="-122"/>
                <a:cs typeface="Aptos" pitchFamily="34" charset="-120"/>
              </a:rPr>
              <a:t>. Save.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Find the stripes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Tuesday, Thursday and Saturday: </a:t>
            </a:r>
            <a:pPr indent="0" marL="0">
              <a:buNone/>
            </a:pPr>
            <a:r>
              <a:rPr lang="en-US" sz="1300" dirty="0">
                <a:solidFill>
                  <a:srgbClr val="8A2B0B"/>
                </a:solidFill>
                <a:latin typeface="Consolas" pitchFamily="34" charset="0"/>
                <a:ea typeface="Consolas" pitchFamily="34" charset="-122"/>
                <a:cs typeface="Consolas" pitchFamily="34" charset="-120"/>
              </a:rPr>
              <a:t>even</a:t>
            </a:r>
            <a:pPr indent="0" marL="0">
              <a:buNone/>
            </a:pPr>
            <a:r>
              <a:rPr lang="en-US" sz="1300" dirty="0">
                <a:solidFill>
                  <a:srgbClr val="262626"/>
                </a:solidFill>
                <a:latin typeface="Aptos" pitchFamily="34" charset="0"/>
                <a:ea typeface="Aptos" pitchFamily="34" charset="-122"/>
                <a:cs typeface="Aptos" pitchFamily="34" charset="-120"/>
              </a:rPr>
              <a:t> rows.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a:t>
            </a:r>
            <a:pPr indent="0" marL="0">
              <a:buNone/>
            </a:pPr>
            <a:r>
              <a:rPr lang="en-US" sz="1300" dirty="0">
                <a:solidFill>
                  <a:srgbClr val="8A2B0B"/>
                </a:solidFill>
                <a:latin typeface="Consolas" pitchFamily="34" charset="0"/>
                <a:ea typeface="Consolas" pitchFamily="34" charset="-122"/>
                <a:cs typeface="Consolas" pitchFamily="34" charset="-120"/>
              </a:rPr>
              <a:t>even</a:t>
            </a:r>
            <a:pPr indent="0" marL="0">
              <a:buNone/>
            </a:pPr>
            <a:r>
              <a:rPr lang="en-US" sz="1300" dirty="0">
                <a:solidFill>
                  <a:srgbClr val="262626"/>
                </a:solidFill>
                <a:latin typeface="Aptos" pitchFamily="34" charset="0"/>
                <a:ea typeface="Aptos" pitchFamily="34" charset="-122"/>
                <a:cs typeface="Aptos" pitchFamily="34" charset="-120"/>
              </a:rPr>
              <a:t> to </a:t>
            </a:r>
            <a:pPr indent="0" marL="0">
              <a:buNone/>
            </a:pPr>
            <a:r>
              <a:rPr lang="en-US" sz="1300" dirty="0">
                <a:solidFill>
                  <a:srgbClr val="8A2B0B"/>
                </a:solidFill>
                <a:latin typeface="Consolas" pitchFamily="34" charset="0"/>
                <a:ea typeface="Consolas" pitchFamily="34" charset="-122"/>
                <a:cs typeface="Consolas" pitchFamily="34" charset="-120"/>
              </a:rPr>
              <a:t>odd</a:t>
            </a:r>
            <a:pPr indent="0" marL="0">
              <a:buNone/>
            </a:pPr>
            <a:r>
              <a:rPr lang="en-US" sz="1300" dirty="0">
                <a:solidFill>
                  <a:srgbClr val="262626"/>
                </a:solidFill>
                <a:latin typeface="Aptos" pitchFamily="34" charset="0"/>
                <a:ea typeface="Aptos" pitchFamily="34" charset="-122"/>
                <a:cs typeface="Aptos" pitchFamily="34" charset="-120"/>
              </a:rPr>
              <a:t>. Then take out </a:t>
            </a:r>
            <a:pPr indent="0" marL="0">
              <a:buNone/>
            </a:pPr>
            <a:r>
              <a:rPr lang="en-US" sz="1300" dirty="0">
                <a:solidFill>
                  <a:srgbClr val="8A2B0B"/>
                </a:solidFill>
                <a:latin typeface="Consolas" pitchFamily="34" charset="0"/>
                <a:ea typeface="Consolas" pitchFamily="34" charset="-122"/>
                <a:cs typeface="Consolas" pitchFamily="34" charset="-120"/>
              </a:rPr>
              <a:t>border-collapse</a:t>
            </a:r>
            <a:pPr indent="0" marL="0">
              <a:buNone/>
            </a:pPr>
            <a:r>
              <a:rPr lang="en-US" sz="1300" dirty="0">
                <a:solidFill>
                  <a:srgbClr val="262626"/>
                </a:solidFill>
                <a:latin typeface="Aptos" pitchFamily="34" charset="0"/>
                <a:ea typeface="Aptos" pitchFamily="34" charset="-122"/>
                <a:cs typeface="Aptos" pitchFamily="34" charset="-120"/>
              </a:rPr>
              <a:t> and look closely.</a:t>
            </a:r>
            <a:endParaRPr lang="en-US" sz="1300" dirty="0"/>
          </a:p>
        </p:txBody>
      </p:sp>
      <p:sp>
        <p:nvSpPr>
          <p:cNvPr id="17" name="Shape 14"/>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8" name="Text 15"/>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19" name="Text 16"/>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.table-wrap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overflow-x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caption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th, td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thead th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tbody tr:nth-child(even)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#E9EFF2</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Validation</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Browsers forgive   ·   validators don't   ·   HTML and CSS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What Is Validation, and Why Bother?</a:t>
            </a:r>
            <a:endParaRPr lang="en-US" sz="2800" dirty="0"/>
          </a:p>
        </p:txBody>
      </p:sp>
      <p:sp>
        <p:nvSpPr>
          <p:cNvPr id="7" name="Shape 4"/>
          <p:cNvSpPr/>
          <p:nvPr/>
        </p:nvSpPr>
        <p:spPr>
          <a:xfrm>
            <a:off x="4754880" y="1783080"/>
            <a:ext cx="331470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937760" y="1874520"/>
            <a:ext cx="294894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The browser forgives</a:t>
            </a:r>
            <a:endParaRPr lang="en-US" sz="1500" dirty="0"/>
          </a:p>
        </p:txBody>
      </p:sp>
      <p:sp>
        <p:nvSpPr>
          <p:cNvPr id="9" name="Shape 6"/>
          <p:cNvSpPr/>
          <p:nvPr/>
        </p:nvSpPr>
        <p:spPr>
          <a:xfrm>
            <a:off x="4937760" y="2331720"/>
            <a:ext cx="2948940" cy="548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0" name="Text 7"/>
          <p:cNvSpPr txBox="1"/>
          <p:nvPr/>
        </p:nvSpPr>
        <p:spPr>
          <a:xfrm>
            <a:off x="5036515" y="2430475"/>
            <a:ext cx="2751430" cy="351130"/>
          </a:xfrm>
          <a:prstGeom prst="rect">
            <a:avLst/>
          </a:prstGeom>
          <a:noFill/>
          <a:ln/>
        </p:spPr>
        <p:txBody>
          <a:bodyPr wrap="square" lIns="0" tIns="0" rIns="0" bIns="0" rtlCol="0" anchor="t"/>
          <a:lstStyle/>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Lobster Roll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p:txBody>
      </p:sp>
      <p:sp>
        <p:nvSpPr>
          <p:cNvPr id="11" name="Text 8"/>
          <p:cNvSpPr txBox="1"/>
          <p:nvPr/>
        </p:nvSpPr>
        <p:spPr>
          <a:xfrm>
            <a:off x="4937760" y="3017520"/>
            <a:ext cx="2948940" cy="54864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Shows up fine. You never notice.</a:t>
            </a:r>
            <a:endParaRPr lang="en-US" sz="1300" dirty="0"/>
          </a:p>
        </p:txBody>
      </p:sp>
      <p:sp>
        <p:nvSpPr>
          <p:cNvPr id="12" name="Shape 9"/>
          <p:cNvSpPr/>
          <p:nvPr/>
        </p:nvSpPr>
        <p:spPr>
          <a:xfrm>
            <a:off x="8343900" y="1783080"/>
            <a:ext cx="3314700" cy="1920240"/>
          </a:xfrm>
          <a:prstGeom prst="roundRect">
            <a:avLst>
              <a:gd name="adj" fmla="val 5714"/>
            </a:avLst>
          </a:prstGeom>
          <a:solidFill>
            <a:srgbClr val="FDECEA"/>
          </a:solidFill>
          <a:ln w="9525">
            <a:solidFill>
              <a:srgbClr val="F4B4A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526780" y="1874520"/>
            <a:ext cx="294894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The validator doesn't</a:t>
            </a:r>
            <a:endParaRPr lang="en-US" sz="1500" dirty="0"/>
          </a:p>
        </p:txBody>
      </p:sp>
      <p:sp>
        <p:nvSpPr>
          <p:cNvPr id="14" name="Shape 11"/>
          <p:cNvSpPr/>
          <p:nvPr/>
        </p:nvSpPr>
        <p:spPr>
          <a:xfrm>
            <a:off x="8526780" y="2377440"/>
            <a:ext cx="822960" cy="310896"/>
          </a:xfrm>
          <a:prstGeom prst="roundRect">
            <a:avLst>
              <a:gd name="adj" fmla="val 50000"/>
            </a:avLst>
          </a:prstGeom>
          <a:solidFill>
            <a:srgbClr val="C62828"/>
          </a:solidFill>
          <a:ln w="12700">
            <a:solidFill>
              <a:srgbClr val="C62828"/>
            </a:solidFill>
            <a:prstDash val="solid"/>
          </a:ln>
        </p:spPr>
      </p:sp>
      <p:sp>
        <p:nvSpPr>
          <p:cNvPr id="15" name="Text 12"/>
          <p:cNvSpPr txBox="1"/>
          <p:nvPr/>
        </p:nvSpPr>
        <p:spPr>
          <a:xfrm>
            <a:off x="8526780" y="2377440"/>
            <a:ext cx="822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6" name="Text 13"/>
          <p:cNvSpPr txBox="1"/>
          <p:nvPr/>
        </p:nvSpPr>
        <p:spPr>
          <a:xfrm>
            <a:off x="8526780" y="2788920"/>
            <a:ext cx="2948940" cy="77724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End tag “h3” seen, but there were open elements.</a:t>
            </a:r>
            <a:endParaRPr lang="en-US" sz="1300" dirty="0"/>
          </a:p>
        </p:txBody>
      </p:sp>
      <p:sp>
        <p:nvSpPr>
          <p:cNvPr id="17" name="Text 14"/>
          <p:cNvSpPr txBox="1"/>
          <p:nvPr/>
        </p:nvSpPr>
        <p:spPr>
          <a:xfrm>
            <a:off x="4754880" y="3931920"/>
            <a:ext cx="6903720" cy="2468880"/>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Aptos" pitchFamily="34" charset="0"/>
                <a:ea typeface="Aptos" pitchFamily="34" charset="-122"/>
                <a:cs typeface="Aptos" pitchFamily="34" charset="-120"/>
              </a:rPr>
              <a:t>Why bother, if it looks fine?</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Browsers and screen readers can guess differently. Valid = the same page for everyone.</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It finds bugs you can't see: a duplicate id quietly breaks a link.</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Accessibility: missing alt text, tags in the wrong order.</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It's a professional habit, and part of how your projects are marked.</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How to Use the W3C Validator</a:t>
            </a:r>
            <a:endParaRPr lang="en-US" sz="2800" dirty="0"/>
          </a:p>
        </p:txBody>
      </p:sp>
      <p:sp>
        <p:nvSpPr>
          <p:cNvPr id="7" name="Shape 4"/>
          <p:cNvSpPr/>
          <p:nvPr/>
        </p:nvSpPr>
        <p:spPr>
          <a:xfrm>
            <a:off x="4754880" y="1783080"/>
            <a:ext cx="3840480" cy="59436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861865" y="1890065"/>
            <a:ext cx="3626510" cy="380390"/>
          </a:xfrm>
          <a:prstGeom prst="rect">
            <a:avLst/>
          </a:prstGeom>
          <a:noFill/>
          <a:ln/>
        </p:spPr>
        <p:txBody>
          <a:bodyPr wrap="square" lIns="0" tIns="0" rIns="0" bIns="0" rtlCol="0" anchor="t"/>
          <a:lstStyle/>
          <a:p>
            <a:pPr indent="0" marL="0">
              <a:lnSpc>
                <a:spcPct val="100000"/>
              </a:lnSpc>
              <a:buNone/>
            </a:pPr>
            <a:r>
              <a:rPr lang="en-US" sz="1800" dirty="0">
                <a:solidFill>
                  <a:srgbClr val="D4D4D4"/>
                </a:solidFill>
                <a:latin typeface="Consolas" pitchFamily="34" charset="0"/>
                <a:ea typeface="Consolas" pitchFamily="34" charset="-122"/>
                <a:cs typeface="Consolas" pitchFamily="34" charset="-120"/>
              </a:rPr>
              <a:t>validator.w3.org</a:t>
            </a:r>
            <a:endParaRPr lang="en-US" sz="1800" dirty="0"/>
          </a:p>
        </p:txBody>
      </p:sp>
      <p:sp>
        <p:nvSpPr>
          <p:cNvPr id="9" name="Shape 6"/>
          <p:cNvSpPr/>
          <p:nvPr/>
        </p:nvSpPr>
        <p:spPr>
          <a:xfrm>
            <a:off x="4754880" y="2606040"/>
            <a:ext cx="21793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937760" y="2788920"/>
            <a:ext cx="384048" cy="384048"/>
          </a:xfrm>
          <a:prstGeom prst="ellipse">
            <a:avLst/>
          </a:prstGeom>
          <a:solidFill>
            <a:srgbClr val="7F7F7F"/>
          </a:solidFill>
          <a:ln w="12700">
            <a:solidFill>
              <a:srgbClr val="7F7F7F"/>
            </a:solidFill>
            <a:prstDash val="solid"/>
          </a:ln>
        </p:spPr>
      </p:sp>
      <p:sp>
        <p:nvSpPr>
          <p:cNvPr id="11" name="Text 8"/>
          <p:cNvSpPr txBox="1"/>
          <p:nvPr/>
        </p:nvSpPr>
        <p:spPr>
          <a:xfrm>
            <a:off x="493776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5413248" y="2770632"/>
            <a:ext cx="1402080" cy="41148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By URI</a:t>
            </a:r>
            <a:endParaRPr lang="en-US" sz="1450" dirty="0"/>
          </a:p>
        </p:txBody>
      </p:sp>
      <p:sp>
        <p:nvSpPr>
          <p:cNvPr id="13" name="Text 10"/>
          <p:cNvSpPr txBox="1"/>
          <p:nvPr/>
        </p:nvSpPr>
        <p:spPr>
          <a:xfrm>
            <a:off x="4937760" y="3337560"/>
            <a:ext cx="181356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 page that's already online</a:t>
            </a:r>
            <a:endParaRPr lang="en-US" sz="1300" dirty="0"/>
          </a:p>
        </p:txBody>
      </p:sp>
      <p:sp>
        <p:nvSpPr>
          <p:cNvPr id="14" name="Text 11"/>
          <p:cNvSpPr txBox="1"/>
          <p:nvPr/>
        </p:nvSpPr>
        <p:spPr>
          <a:xfrm>
            <a:off x="4937760" y="3794760"/>
            <a:ext cx="1813560" cy="36576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Later in the program</a:t>
            </a:r>
            <a:endParaRPr lang="en-US" sz="1200" dirty="0"/>
          </a:p>
        </p:txBody>
      </p:sp>
      <p:sp>
        <p:nvSpPr>
          <p:cNvPr id="15" name="Shape 12"/>
          <p:cNvSpPr/>
          <p:nvPr/>
        </p:nvSpPr>
        <p:spPr>
          <a:xfrm>
            <a:off x="7117080" y="2606040"/>
            <a:ext cx="21793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7299960" y="2788920"/>
            <a:ext cx="384048" cy="384048"/>
          </a:xfrm>
          <a:prstGeom prst="ellipse">
            <a:avLst/>
          </a:prstGeom>
          <a:solidFill>
            <a:srgbClr val="1B5E82"/>
          </a:solidFill>
          <a:ln w="12700">
            <a:solidFill>
              <a:srgbClr val="1B5E82"/>
            </a:solidFill>
            <a:prstDash val="solid"/>
          </a:ln>
        </p:spPr>
      </p:sp>
      <p:sp>
        <p:nvSpPr>
          <p:cNvPr id="17" name="Text 14"/>
          <p:cNvSpPr txBox="1"/>
          <p:nvPr/>
        </p:nvSpPr>
        <p:spPr>
          <a:xfrm>
            <a:off x="729996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8" name="Text 15"/>
          <p:cNvSpPr txBox="1"/>
          <p:nvPr/>
        </p:nvSpPr>
        <p:spPr>
          <a:xfrm>
            <a:off x="7775448" y="2770632"/>
            <a:ext cx="1402080" cy="41148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By File Upload</a:t>
            </a:r>
            <a:endParaRPr lang="en-US" sz="1450" dirty="0"/>
          </a:p>
        </p:txBody>
      </p:sp>
      <p:sp>
        <p:nvSpPr>
          <p:cNvPr id="19" name="Text 16"/>
          <p:cNvSpPr txBox="1"/>
          <p:nvPr/>
        </p:nvSpPr>
        <p:spPr>
          <a:xfrm>
            <a:off x="7299960" y="3337560"/>
            <a:ext cx="181356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Pick your .html file</a:t>
            </a:r>
            <a:endParaRPr lang="en-US" sz="1300" dirty="0"/>
          </a:p>
        </p:txBody>
      </p:sp>
      <p:sp>
        <p:nvSpPr>
          <p:cNvPr id="20" name="Text 17"/>
          <p:cNvSpPr txBox="1"/>
          <p:nvPr/>
        </p:nvSpPr>
        <p:spPr>
          <a:xfrm>
            <a:off x="7299960" y="3794760"/>
            <a:ext cx="1813560" cy="36576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Works today</a:t>
            </a:r>
            <a:endParaRPr lang="en-US" sz="1200" dirty="0"/>
          </a:p>
        </p:txBody>
      </p:sp>
      <p:sp>
        <p:nvSpPr>
          <p:cNvPr id="21" name="Shape 18"/>
          <p:cNvSpPr/>
          <p:nvPr/>
        </p:nvSpPr>
        <p:spPr>
          <a:xfrm>
            <a:off x="9479280" y="2606040"/>
            <a:ext cx="2179320" cy="1691640"/>
          </a:xfrm>
          <a:prstGeom prst="roundRect">
            <a:avLst>
              <a:gd name="adj" fmla="val 6486"/>
            </a:avLst>
          </a:prstGeom>
          <a:solidFill>
            <a:srgbClr val="FFFFFF"/>
          </a:solidFill>
          <a:ln w="25400">
            <a:solidFill>
              <a:srgbClr val="E97132"/>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9662160" y="2788920"/>
            <a:ext cx="384048" cy="384048"/>
          </a:xfrm>
          <a:prstGeom prst="ellipse">
            <a:avLst/>
          </a:prstGeom>
          <a:solidFill>
            <a:srgbClr val="E97132"/>
          </a:solidFill>
          <a:ln w="12700">
            <a:solidFill>
              <a:srgbClr val="E97132"/>
            </a:solidFill>
            <a:prstDash val="solid"/>
          </a:ln>
        </p:spPr>
      </p:sp>
      <p:sp>
        <p:nvSpPr>
          <p:cNvPr id="23" name="Text 20"/>
          <p:cNvSpPr txBox="1"/>
          <p:nvPr/>
        </p:nvSpPr>
        <p:spPr>
          <a:xfrm>
            <a:off x="966216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4" name="Text 21"/>
          <p:cNvSpPr txBox="1"/>
          <p:nvPr/>
        </p:nvSpPr>
        <p:spPr>
          <a:xfrm>
            <a:off x="10137648" y="2770632"/>
            <a:ext cx="1402080" cy="41148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By Direct Input</a:t>
            </a:r>
            <a:endParaRPr lang="en-US" sz="1450" dirty="0"/>
          </a:p>
        </p:txBody>
      </p:sp>
      <p:sp>
        <p:nvSpPr>
          <p:cNvPr id="25" name="Text 22"/>
          <p:cNvSpPr txBox="1"/>
          <p:nvPr/>
        </p:nvSpPr>
        <p:spPr>
          <a:xfrm>
            <a:off x="9662160" y="3337560"/>
            <a:ext cx="181356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Paste your code</a:t>
            </a:r>
            <a:endParaRPr lang="en-US" sz="1300" dirty="0"/>
          </a:p>
        </p:txBody>
      </p:sp>
      <p:sp>
        <p:nvSpPr>
          <p:cNvPr id="26" name="Text 23"/>
          <p:cNvSpPr txBox="1"/>
          <p:nvPr/>
        </p:nvSpPr>
        <p:spPr>
          <a:xfrm>
            <a:off x="9662160" y="3794760"/>
            <a:ext cx="1813560" cy="365760"/>
          </a:xfrm>
          <a:prstGeom prst="rect">
            <a:avLst/>
          </a:prstGeom>
          <a:noFill/>
          <a:ln/>
        </p:spPr>
        <p:txBody>
          <a:bodyPr wrap="square" lIns="0" tIns="0" rIns="0" bIns="0" rtlCol="0" anchor="ctr"/>
          <a:lstStyle/>
          <a:p>
            <a:pPr indent="0" marL="0">
              <a:buNone/>
            </a:pPr>
            <a:r>
              <a:rPr lang="en-US" sz="1200" b="1" i="1" dirty="0">
                <a:solidFill>
                  <a:srgbClr val="B5451B"/>
                </a:solidFill>
                <a:latin typeface="Aptos" pitchFamily="34" charset="0"/>
                <a:ea typeface="Aptos" pitchFamily="34" charset="-122"/>
                <a:cs typeface="Aptos" pitchFamily="34" charset="-120"/>
              </a:rPr>
              <a:t>Quickest today!</a:t>
            </a:r>
            <a:endParaRPr lang="en-US" sz="1200" dirty="0"/>
          </a:p>
        </p:txBody>
      </p:sp>
      <p:sp>
        <p:nvSpPr>
          <p:cNvPr id="27" name="Shape 24"/>
          <p:cNvSpPr/>
          <p:nvPr/>
        </p:nvSpPr>
        <p:spPr>
          <a:xfrm>
            <a:off x="4754880" y="4526280"/>
            <a:ext cx="6903720" cy="1417320"/>
          </a:xfrm>
          <a:prstGeom prst="roundRect">
            <a:avLst>
              <a:gd name="adj" fmla="val 774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4983480" y="4645152"/>
            <a:ext cx="6446520" cy="1234440"/>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Error</a:t>
            </a:r>
            <a:pPr indent="0" marL="0">
              <a:buNone/>
            </a:pPr>
            <a:r>
              <a:rPr lang="en-US" sz="1500" dirty="0">
                <a:solidFill>
                  <a:srgbClr val="262626"/>
                </a:solidFill>
                <a:latin typeface="Aptos" pitchFamily="34" charset="0"/>
                <a:ea typeface="Aptos" pitchFamily="34" charset="-122"/>
                <a:cs typeface="Aptos" pitchFamily="34" charset="-120"/>
              </a:rPr>
              <a:t> = breaks the rules. </a:t>
            </a:r>
            <a:pPr indent="0" marL="0">
              <a:buNone/>
            </a:pPr>
            <a:r>
              <a:rPr lang="en-US" sz="1500" b="1" dirty="0">
                <a:solidFill>
                  <a:srgbClr val="262626"/>
                </a:solidFill>
                <a:latin typeface="Aptos" pitchFamily="34" charset="0"/>
                <a:ea typeface="Aptos" pitchFamily="34" charset="-122"/>
                <a:cs typeface="Aptos" pitchFamily="34" charset="-120"/>
              </a:rPr>
              <a:t>Fix it.</a:t>
            </a:r>
            <a:endParaRPr lang="en-US" sz="1500" dirty="0"/>
          </a:p>
          <a:p>
            <a:pPr marL="342900" indent="-342900">
              <a:spcBef>
                <a:spcPts val="10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Warning / Info</a:t>
            </a:r>
            <a:pPr indent="0" marL="0">
              <a:buNone/>
            </a:pPr>
            <a:r>
              <a:rPr lang="en-US" sz="1500" dirty="0">
                <a:solidFill>
                  <a:srgbClr val="262626"/>
                </a:solidFill>
                <a:latin typeface="Aptos" pitchFamily="34" charset="0"/>
                <a:ea typeface="Aptos" pitchFamily="34" charset="-122"/>
                <a:cs typeface="Aptos" pitchFamily="34" charset="-120"/>
              </a:rPr>
              <a:t> = advice. Read it; fix it if you agree.</a:t>
            </a:r>
            <a:endParaRPr lang="en-US" sz="1500" dirty="0"/>
          </a:p>
          <a:p>
            <a:pPr marL="342900" indent="-342900">
              <a:spcBef>
                <a:spcPts val="10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CSS has its own: </a:t>
            </a:r>
            <a:pPr indent="0" marL="0">
              <a:buNone/>
            </a:pPr>
            <a:r>
              <a:rPr lang="en-US" sz="1500" dirty="0">
                <a:solidFill>
                  <a:srgbClr val="8A2B0B"/>
                </a:solidFill>
                <a:latin typeface="Consolas" pitchFamily="34" charset="0"/>
                <a:ea typeface="Consolas" pitchFamily="34" charset="-122"/>
                <a:cs typeface="Consolas" pitchFamily="34" charset="-120"/>
              </a:rPr>
              <a:t>jigsaw.w3.org/css-validator</a:t>
            </a:r>
            <a:pPr indent="0" marL="0">
              <a:buNone/>
            </a:pPr>
            <a:r>
              <a:rPr lang="en-US" sz="1500" dirty="0">
                <a:solidFill>
                  <a:srgbClr val="262626"/>
                </a:solidFill>
                <a:latin typeface="Aptos" pitchFamily="34" charset="0"/>
                <a:ea typeface="Aptos" pitchFamily="34" charset="-122"/>
                <a:cs typeface="Aptos" pitchFamily="34" charset="-120"/>
              </a:rPr>
              <a:t> (after Try It 7).</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2480310"/>
            <a:ext cx="5852160" cy="18973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2708910"/>
            <a:ext cx="5394960" cy="1440180"/>
          </a:xfrm>
          <a:prstGeom prst="rect">
            <a:avLst/>
          </a:prstGeom>
          <a:noFill/>
          <a:ln/>
        </p:spPr>
        <p:txBody>
          <a:bodyPr wrap="square" lIns="0" tIns="0" rIns="0" bIns="0" rtlCol="0" anchor="t"/>
          <a:lstStyle/>
          <a:p>
            <a:pPr indent="0" marL="0">
              <a:lnSpc>
                <a:spcPct val="100000"/>
              </a:lnSpc>
              <a:buNone/>
            </a:pPr>
            <a:r>
              <a:rPr lang="en-US" sz="1250" dirty="0">
                <a:solidFill>
                  <a:srgbClr val="6A9955"/>
                </a:solidFill>
                <a:latin typeface="Consolas" pitchFamily="34" charset="0"/>
                <a:ea typeface="Consolas" pitchFamily="34" charset="-122"/>
                <a:cs typeface="Consolas" pitchFamily="34" charset="-120"/>
              </a:rPr>
              <a:t>&lt;!-- This page has 4 errors. The browser hides them all! --&gt;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"images/logo.svg"</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"64"</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"64"</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Today's Specials</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Lobster Roll</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"red"</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Fresh lobster on a toasted bun.</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strong</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em</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Today only!</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strong</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em</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VALIDATION · EXAMPLE 09</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Looks Fine. Isn't.</a:t>
            </a:r>
            <a:endParaRPr lang="en-US" sz="3200" dirty="0"/>
          </a:p>
        </p:txBody>
      </p:sp>
      <p:pic>
        <p:nvPicPr>
          <p:cNvPr id="7" name="Image 1" descr="C:\Repos\2026-2027\WEBD1000\07_Navigation_Tables_Validation\_build\shots\ex09.png">    </p:cNvPr>
          <p:cNvPicPr>
            <a:picLocks noChangeAspect="1"/>
          </p:cNvPicPr>
          <p:nvPr/>
        </p:nvPicPr>
        <p:blipFill>
          <a:blip r:embed="rId2"/>
          <a:stretch>
            <a:fillRect/>
          </a:stretch>
        </p:blipFill>
        <p:spPr>
          <a:xfrm>
            <a:off x="6812280" y="3899550"/>
            <a:ext cx="4967935" cy="2318370"/>
          </a:xfrm>
          <a:prstGeom prst="rect">
            <a:avLst/>
          </a:prstGeom>
        </p:spPr>
      </p:pic>
      <p:sp>
        <p:nvSpPr>
          <p:cNvPr id="8" name="Shape 4"/>
          <p:cNvSpPr/>
          <p:nvPr/>
        </p:nvSpPr>
        <p:spPr>
          <a:xfrm>
            <a:off x="6812280" y="3899550"/>
            <a:ext cx="4967935" cy="2318370"/>
          </a:xfrm>
          <a:prstGeom prst="rect">
            <a:avLst/>
          </a:prstGeom>
          <a:ln w="12700">
            <a:solidFill>
              <a:srgbClr val="B0B8BC"/>
            </a:solidFill>
            <a:prstDash val="solid"/>
          </a:ln>
        </p:spPr>
      </p:sp>
      <p:sp>
        <p:nvSpPr>
          <p:cNvPr id="9" name="Text 5"/>
          <p:cNvSpPr txBox="1"/>
          <p:nvPr/>
        </p:nvSpPr>
        <p:spPr>
          <a:xfrm>
            <a:off x="6812280" y="3606942"/>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006742"/>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This page has </a:t>
            </a:r>
            <a:pPr indent="0" marL="0">
              <a:buNone/>
            </a:pPr>
            <a:r>
              <a:rPr lang="en-US" sz="1400" b="1" dirty="0">
                <a:solidFill>
                  <a:srgbClr val="262626"/>
                </a:solidFill>
                <a:latin typeface="Aptos" pitchFamily="34" charset="0"/>
                <a:ea typeface="Aptos" pitchFamily="34" charset="-122"/>
                <a:cs typeface="Aptos" pitchFamily="34" charset="-120"/>
              </a:rPr>
              <a:t>4 mistakes</a:t>
            </a:r>
            <a:pPr indent="0" marL="0">
              <a:buNone/>
            </a:pPr>
            <a:r>
              <a:rPr lang="en-US" sz="1400" dirty="0">
                <a:solidFill>
                  <a:srgbClr val="262626"/>
                </a:solidFill>
                <a:latin typeface="Aptos" pitchFamily="34" charset="0"/>
                <a:ea typeface="Aptos" pitchFamily="34" charset="-122"/>
                <a:cs typeface="Aptos" pitchFamily="34" charset="-120"/>
              </a:rPr>
              <a:t>. Can you spot them before the validator does?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browser shows it </a:t>
            </a:r>
            <a:pPr indent="0" marL="0">
              <a:buNone/>
            </a:pPr>
            <a:r>
              <a:rPr lang="en-US" sz="1400" b="1" dirty="0">
                <a:solidFill>
                  <a:srgbClr val="262626"/>
                </a:solidFill>
                <a:latin typeface="Aptos" pitchFamily="34" charset="0"/>
                <a:ea typeface="Aptos" pitchFamily="34" charset="-122"/>
                <a:cs typeface="Aptos" pitchFamily="34" charset="-120"/>
              </a:rPr>
              <a:t>perfectly</a:t>
            </a:r>
            <a:pPr indent="0" marL="0">
              <a:buNone/>
            </a:pPr>
            <a:r>
              <a:rPr lang="en-US" sz="1400" dirty="0">
                <a:solidFill>
                  <a:srgbClr val="262626"/>
                </a:solidFill>
                <a:latin typeface="Aptos" pitchFamily="34" charset="0"/>
                <a:ea typeface="Aptos" pitchFamily="34" charset="-122"/>
                <a:cs typeface="Aptos" pitchFamily="34" charset="-120"/>
              </a:rPr>
              <a:t>. That's the problem!</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09_validation_broken_example.html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Reading the Results</a:t>
            </a:r>
            <a:endParaRPr lang="en-US" sz="2800" dirty="0"/>
          </a:p>
        </p:txBody>
      </p:sp>
      <p:sp>
        <p:nvSpPr>
          <p:cNvPr id="7" name="Shape 4"/>
          <p:cNvSpPr/>
          <p:nvPr/>
        </p:nvSpPr>
        <p:spPr>
          <a:xfrm>
            <a:off x="4754880" y="1783080"/>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892040" y="1874520"/>
            <a:ext cx="777240" cy="310896"/>
          </a:xfrm>
          <a:prstGeom prst="roundRect">
            <a:avLst>
              <a:gd name="adj" fmla="val 50000"/>
            </a:avLst>
          </a:prstGeom>
          <a:solidFill>
            <a:srgbClr val="C62828"/>
          </a:solidFill>
          <a:ln w="12700">
            <a:solidFill>
              <a:srgbClr val="C62828"/>
            </a:solidFill>
            <a:prstDash val="solid"/>
          </a:ln>
        </p:spPr>
      </p:sp>
      <p:sp>
        <p:nvSpPr>
          <p:cNvPr id="9" name="Text 6"/>
          <p:cNvSpPr txBox="1"/>
          <p:nvPr/>
        </p:nvSpPr>
        <p:spPr>
          <a:xfrm>
            <a:off x="4892040" y="1874520"/>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0" name="Text 7"/>
          <p:cNvSpPr txBox="1"/>
          <p:nvPr/>
        </p:nvSpPr>
        <p:spPr>
          <a:xfrm>
            <a:off x="4892040" y="2185416"/>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16</a:t>
            </a:r>
            <a:endParaRPr lang="en-US" sz="1050" dirty="0"/>
          </a:p>
        </p:txBody>
      </p:sp>
      <p:sp>
        <p:nvSpPr>
          <p:cNvPr id="11" name="Text 8"/>
          <p:cNvSpPr txBox="1"/>
          <p:nvPr/>
        </p:nvSpPr>
        <p:spPr>
          <a:xfrm>
            <a:off x="5806440" y="1783080"/>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An “img” element must have an “alt” attribute…</a:t>
            </a:r>
            <a:endParaRPr lang="en-US" sz="1200" dirty="0"/>
          </a:p>
        </p:txBody>
      </p:sp>
      <p:sp>
        <p:nvSpPr>
          <p:cNvPr id="12" name="Text 9"/>
          <p:cNvSpPr txBox="1"/>
          <p:nvPr/>
        </p:nvSpPr>
        <p:spPr>
          <a:xfrm>
            <a:off x="9281160" y="1783080"/>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Add alt="" (decoration) or alt="description"</a:t>
            </a:r>
            <a:endParaRPr lang="en-US" sz="1200" dirty="0"/>
          </a:p>
        </p:txBody>
      </p:sp>
      <p:sp>
        <p:nvSpPr>
          <p:cNvPr id="13" name="Shape 10"/>
          <p:cNvSpPr/>
          <p:nvPr/>
        </p:nvSpPr>
        <p:spPr>
          <a:xfrm>
            <a:off x="4754880" y="2532888"/>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892040" y="2624328"/>
            <a:ext cx="777240" cy="310896"/>
          </a:xfrm>
          <a:prstGeom prst="roundRect">
            <a:avLst>
              <a:gd name="adj" fmla="val 50000"/>
            </a:avLst>
          </a:prstGeom>
          <a:solidFill>
            <a:srgbClr val="C62828"/>
          </a:solidFill>
          <a:ln w="12700">
            <a:solidFill>
              <a:srgbClr val="C62828"/>
            </a:solidFill>
            <a:prstDash val="solid"/>
          </a:ln>
        </p:spPr>
      </p:sp>
      <p:sp>
        <p:nvSpPr>
          <p:cNvPr id="15" name="Text 12"/>
          <p:cNvSpPr txBox="1"/>
          <p:nvPr/>
        </p:nvSpPr>
        <p:spPr>
          <a:xfrm>
            <a:off x="4892040" y="2624328"/>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6" name="Text 13"/>
          <p:cNvSpPr txBox="1"/>
          <p:nvPr/>
        </p:nvSpPr>
        <p:spPr>
          <a:xfrm>
            <a:off x="4892040" y="2935224"/>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19</a:t>
            </a:r>
            <a:endParaRPr lang="en-US" sz="1050" dirty="0"/>
          </a:p>
        </p:txBody>
      </p:sp>
      <p:sp>
        <p:nvSpPr>
          <p:cNvPr id="17" name="Text 14"/>
          <p:cNvSpPr txBox="1"/>
          <p:nvPr/>
        </p:nvSpPr>
        <p:spPr>
          <a:xfrm>
            <a:off x="5806440" y="2532888"/>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End tag “h3” seen, but there were open elements.</a:t>
            </a:r>
            <a:endParaRPr lang="en-US" sz="1200" dirty="0"/>
          </a:p>
        </p:txBody>
      </p:sp>
      <p:sp>
        <p:nvSpPr>
          <p:cNvPr id="18" name="Text 15"/>
          <p:cNvSpPr txBox="1"/>
          <p:nvPr/>
        </p:nvSpPr>
        <p:spPr>
          <a:xfrm>
            <a:off x="9281160" y="2532888"/>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Close it with the same tag: &lt;/h2&gt;</a:t>
            </a:r>
            <a:endParaRPr lang="en-US" sz="1200" dirty="0"/>
          </a:p>
        </p:txBody>
      </p:sp>
      <p:sp>
        <p:nvSpPr>
          <p:cNvPr id="19" name="Shape 16"/>
          <p:cNvSpPr/>
          <p:nvPr/>
        </p:nvSpPr>
        <p:spPr>
          <a:xfrm>
            <a:off x="4754880" y="3282696"/>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4892040" y="3374136"/>
            <a:ext cx="777240" cy="310896"/>
          </a:xfrm>
          <a:prstGeom prst="roundRect">
            <a:avLst>
              <a:gd name="adj" fmla="val 50000"/>
            </a:avLst>
          </a:prstGeom>
          <a:solidFill>
            <a:srgbClr val="C62828"/>
          </a:solidFill>
          <a:ln w="12700">
            <a:solidFill>
              <a:srgbClr val="C62828"/>
            </a:solidFill>
            <a:prstDash val="solid"/>
          </a:ln>
        </p:spPr>
      </p:sp>
      <p:sp>
        <p:nvSpPr>
          <p:cNvPr id="21" name="Text 18"/>
          <p:cNvSpPr txBox="1"/>
          <p:nvPr/>
        </p:nvSpPr>
        <p:spPr>
          <a:xfrm>
            <a:off x="4892040" y="3374136"/>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22" name="Text 19"/>
          <p:cNvSpPr txBox="1"/>
          <p:nvPr/>
        </p:nvSpPr>
        <p:spPr>
          <a:xfrm>
            <a:off x="4892040" y="3685032"/>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20</a:t>
            </a:r>
            <a:endParaRPr lang="en-US" sz="1050" dirty="0"/>
          </a:p>
        </p:txBody>
      </p:sp>
      <p:sp>
        <p:nvSpPr>
          <p:cNvPr id="23" name="Text 20"/>
          <p:cNvSpPr txBox="1"/>
          <p:nvPr/>
        </p:nvSpPr>
        <p:spPr>
          <a:xfrm>
            <a:off x="5806440" y="3282696"/>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Attribute “color” not allowed on element “p” at this point.</a:t>
            </a:r>
            <a:endParaRPr lang="en-US" sz="1200" dirty="0"/>
          </a:p>
        </p:txBody>
      </p:sp>
      <p:sp>
        <p:nvSpPr>
          <p:cNvPr id="24" name="Text 21"/>
          <p:cNvSpPr txBox="1"/>
          <p:nvPr/>
        </p:nvSpPr>
        <p:spPr>
          <a:xfrm>
            <a:off x="9281160" y="3282696"/>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Not an HTML attribute: do it in CSS</a:t>
            </a:r>
            <a:endParaRPr lang="en-US" sz="1200" dirty="0"/>
          </a:p>
        </p:txBody>
      </p:sp>
      <p:sp>
        <p:nvSpPr>
          <p:cNvPr id="25" name="Shape 22"/>
          <p:cNvSpPr/>
          <p:nvPr/>
        </p:nvSpPr>
        <p:spPr>
          <a:xfrm>
            <a:off x="4754880" y="4032504"/>
            <a:ext cx="6903720" cy="658368"/>
          </a:xfrm>
          <a:prstGeom prst="roundRect">
            <a:avLst>
              <a:gd name="adj" fmla="val 16667"/>
            </a:avLst>
          </a:prstGeom>
          <a:solidFill>
            <a:srgbClr val="FFF7F6"/>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6" name="Shape 23"/>
          <p:cNvSpPr/>
          <p:nvPr/>
        </p:nvSpPr>
        <p:spPr>
          <a:xfrm>
            <a:off x="4892040" y="4123944"/>
            <a:ext cx="777240" cy="310896"/>
          </a:xfrm>
          <a:prstGeom prst="roundRect">
            <a:avLst>
              <a:gd name="adj" fmla="val 50000"/>
            </a:avLst>
          </a:prstGeom>
          <a:solidFill>
            <a:srgbClr val="C62828"/>
          </a:solidFill>
          <a:ln w="12700">
            <a:solidFill>
              <a:srgbClr val="C62828"/>
            </a:solidFill>
            <a:prstDash val="solid"/>
          </a:ln>
        </p:spPr>
      </p:sp>
      <p:sp>
        <p:nvSpPr>
          <p:cNvPr id="27" name="Text 24"/>
          <p:cNvSpPr txBox="1"/>
          <p:nvPr/>
        </p:nvSpPr>
        <p:spPr>
          <a:xfrm>
            <a:off x="4892040" y="4123944"/>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28" name="Text 25"/>
          <p:cNvSpPr txBox="1"/>
          <p:nvPr/>
        </p:nvSpPr>
        <p:spPr>
          <a:xfrm>
            <a:off x="4892040" y="4434840"/>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21</a:t>
            </a:r>
            <a:endParaRPr lang="en-US" sz="1050" dirty="0"/>
          </a:p>
        </p:txBody>
      </p:sp>
      <p:sp>
        <p:nvSpPr>
          <p:cNvPr id="29" name="Text 26"/>
          <p:cNvSpPr txBox="1"/>
          <p:nvPr/>
        </p:nvSpPr>
        <p:spPr>
          <a:xfrm>
            <a:off x="5806440" y="4032504"/>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End tag “strong” violates nesting rules.</a:t>
            </a:r>
            <a:endParaRPr lang="en-US" sz="1200" dirty="0"/>
          </a:p>
        </p:txBody>
      </p:sp>
      <p:sp>
        <p:nvSpPr>
          <p:cNvPr id="30" name="Text 27"/>
          <p:cNvSpPr txBox="1"/>
          <p:nvPr/>
        </p:nvSpPr>
        <p:spPr>
          <a:xfrm>
            <a:off x="9281160" y="4032504"/>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Last opened, first closed:</a:t>
            </a:r>
            <a:endParaRPr lang="en-US" sz="1200" dirty="0"/>
          </a:p>
        </p:txBody>
      </p:sp>
      <p:sp>
        <p:nvSpPr>
          <p:cNvPr id="31" name="Shape 28"/>
          <p:cNvSpPr/>
          <p:nvPr/>
        </p:nvSpPr>
        <p:spPr>
          <a:xfrm>
            <a:off x="4754880" y="4782312"/>
            <a:ext cx="6903720" cy="658368"/>
          </a:xfrm>
          <a:prstGeom prst="roundRect">
            <a:avLst>
              <a:gd name="adj" fmla="val 16667"/>
            </a:avLst>
          </a:prstGeom>
          <a:solidFill>
            <a:srgbClr val="FFF7F6"/>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2" name="Shape 29"/>
          <p:cNvSpPr/>
          <p:nvPr/>
        </p:nvSpPr>
        <p:spPr>
          <a:xfrm>
            <a:off x="4892040" y="4873752"/>
            <a:ext cx="777240" cy="310896"/>
          </a:xfrm>
          <a:prstGeom prst="roundRect">
            <a:avLst>
              <a:gd name="adj" fmla="val 50000"/>
            </a:avLst>
          </a:prstGeom>
          <a:solidFill>
            <a:srgbClr val="C62828"/>
          </a:solidFill>
          <a:ln w="12700">
            <a:solidFill>
              <a:srgbClr val="C62828"/>
            </a:solidFill>
            <a:prstDash val="solid"/>
          </a:ln>
        </p:spPr>
      </p:sp>
      <p:sp>
        <p:nvSpPr>
          <p:cNvPr id="33" name="Text 30"/>
          <p:cNvSpPr txBox="1"/>
          <p:nvPr/>
        </p:nvSpPr>
        <p:spPr>
          <a:xfrm>
            <a:off x="4892040" y="4873752"/>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34" name="Text 31"/>
          <p:cNvSpPr txBox="1"/>
          <p:nvPr/>
        </p:nvSpPr>
        <p:spPr>
          <a:xfrm>
            <a:off x="4892040" y="5184648"/>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21</a:t>
            </a:r>
            <a:endParaRPr lang="en-US" sz="1050" dirty="0"/>
          </a:p>
        </p:txBody>
      </p:sp>
      <p:sp>
        <p:nvSpPr>
          <p:cNvPr id="35" name="Text 32"/>
          <p:cNvSpPr txBox="1"/>
          <p:nvPr/>
        </p:nvSpPr>
        <p:spPr>
          <a:xfrm>
            <a:off x="5806440" y="4782312"/>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No “em” element in scope but a “em” end tag seen.</a:t>
            </a:r>
            <a:endParaRPr lang="en-US" sz="1200" dirty="0"/>
          </a:p>
        </p:txBody>
      </p:sp>
      <p:sp>
        <p:nvSpPr>
          <p:cNvPr id="36" name="Text 33"/>
          <p:cNvSpPr txBox="1"/>
          <p:nvPr/>
        </p:nvSpPr>
        <p:spPr>
          <a:xfrm>
            <a:off x="9281160" y="4782312"/>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Consolas" pitchFamily="34" charset="0"/>
                <a:ea typeface="Consolas" pitchFamily="34" charset="-122"/>
                <a:cs typeface="Consolas" pitchFamily="34" charset="-120"/>
              </a:rPr>
              <a:t>&lt;strong&gt;&lt;em&gt;…&lt;/em&gt;&lt;/strong&gt;</a:t>
            </a:r>
            <a:endParaRPr lang="en-US" sz="1200" dirty="0"/>
          </a:p>
        </p:txBody>
      </p:sp>
      <p:sp>
        <p:nvSpPr>
          <p:cNvPr id="37" name="Text 34"/>
          <p:cNvSpPr txBox="1"/>
          <p:nvPr/>
        </p:nvSpPr>
        <p:spPr>
          <a:xfrm>
            <a:off x="5806440" y="5458968"/>
            <a:ext cx="3383280" cy="274320"/>
          </a:xfrm>
          <a:prstGeom prst="rect">
            <a:avLst/>
          </a:prstGeom>
          <a:noFill/>
          <a:ln/>
        </p:spPr>
        <p:txBody>
          <a:bodyPr wrap="square" lIns="0" tIns="0" rIns="0" bIns="0" rtlCol="0" anchor="ctr"/>
          <a:lstStyle/>
          <a:p>
            <a:pPr indent="0" marL="0">
              <a:buNone/>
            </a:pPr>
            <a:r>
              <a:rPr lang="en-US" sz="1100" i="1" dirty="0">
                <a:solidFill>
                  <a:srgbClr val="C62828"/>
                </a:solidFill>
                <a:latin typeface="Aptos" pitchFamily="34" charset="0"/>
                <a:ea typeface="Aptos" pitchFamily="34" charset="-122"/>
                <a:cs typeface="Aptos" pitchFamily="34" charset="-120"/>
              </a:rPr>
              <a:t>↑ one mistake on line 21, two messages</a:t>
            </a:r>
            <a:endParaRPr lang="en-US" sz="1100" dirty="0"/>
          </a:p>
        </p:txBody>
      </p:sp>
      <p:sp>
        <p:nvSpPr>
          <p:cNvPr id="38" name="Shape 35"/>
          <p:cNvSpPr/>
          <p:nvPr/>
        </p:nvSpPr>
        <p:spPr>
          <a:xfrm>
            <a:off x="4754880" y="5760720"/>
            <a:ext cx="6903720" cy="594360"/>
          </a:xfrm>
          <a:prstGeom prst="roundRect">
            <a:avLst>
              <a:gd name="adj" fmla="val 18462"/>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9" name="Text 36"/>
          <p:cNvSpPr txBox="1"/>
          <p:nvPr/>
        </p:nvSpPr>
        <p:spPr>
          <a:xfrm>
            <a:off x="4983480" y="5760720"/>
            <a:ext cx="6446520" cy="59436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a:t>
            </a:r>
            <a:pPr indent="0" marL="0">
              <a:buNone/>
            </a:pPr>
            <a:r>
              <a:rPr lang="en-US" sz="1400" b="1" dirty="0">
                <a:solidFill>
                  <a:srgbClr val="FFFFFF"/>
                </a:solidFill>
                <a:latin typeface="Aptos" pitchFamily="34" charset="0"/>
                <a:ea typeface="Aptos" pitchFamily="34" charset="-122"/>
                <a:cs typeface="Aptos" pitchFamily="34" charset="-120"/>
              </a:rPr>
              <a:t>Fix the first error, save, check again.</a:t>
            </a:r>
            <a:pPr indent="0" marL="0">
              <a:buNone/>
            </a:pPr>
            <a:r>
              <a:rPr lang="en-US" sz="1400" dirty="0">
                <a:solidFill>
                  <a:srgbClr val="FFFFFF"/>
                </a:solidFill>
                <a:latin typeface="Aptos" pitchFamily="34" charset="0"/>
                <a:ea typeface="Aptos" pitchFamily="34" charset="-122"/>
                <a:cs typeface="Aptos" pitchFamily="34" charset="-120"/>
              </a:rPr>
              <a:t> Repeat until: “No errors or warnings to show.”</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7: Validate the HTML (12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validator.w3.org</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Choose </a:t>
            </a:r>
            <a:pPr indent="0" marL="0">
              <a:buNone/>
            </a:pPr>
            <a:r>
              <a:rPr lang="en-US" sz="1300" b="1" dirty="0">
                <a:solidFill>
                  <a:srgbClr val="262626"/>
                </a:solidFill>
                <a:latin typeface="Aptos" pitchFamily="34" charset="0"/>
                <a:ea typeface="Aptos" pitchFamily="34" charset="-122"/>
                <a:cs typeface="Aptos" pitchFamily="34" charset="-120"/>
              </a:rPr>
              <a:t>Validate by Direct Input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all of index.html</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VS Code: </a:t>
            </a:r>
            <a:pPr indent="0" marL="0">
              <a:buNone/>
            </a:pPr>
            <a:r>
              <a:rPr lang="en-US" sz="1300" b="1" dirty="0">
                <a:solidFill>
                  <a:srgbClr val="262626"/>
                </a:solidFill>
                <a:latin typeface="Aptos" pitchFamily="34" charset="0"/>
                <a:ea typeface="Aptos" pitchFamily="34" charset="-122"/>
                <a:cs typeface="Aptos" pitchFamily="34" charset="-120"/>
              </a:rPr>
              <a:t>Ctrl + A</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Ctrl + C</a:t>
            </a:r>
            <a:pPr indent="0" marL="0">
              <a:buNone/>
            </a:pPr>
            <a:r>
              <a:rPr lang="en-US" sz="1300" dirty="0">
                <a:solidFill>
                  <a:srgbClr val="262626"/>
                </a:solidFill>
                <a:latin typeface="Aptos" pitchFamily="34" charset="0"/>
                <a:ea typeface="Aptos" pitchFamily="34" charset="-122"/>
                <a:cs typeface="Aptos" pitchFamily="34" charset="-120"/>
              </a:rPr>
              <a:t>. Paste it in, then </a:t>
            </a:r>
            <a:pPr indent="0" marL="0">
              <a:buNone/>
            </a:pPr>
            <a:r>
              <a:rPr lang="en-US" sz="1300" b="1" dirty="0">
                <a:solidFill>
                  <a:srgbClr val="262626"/>
                </a:solidFill>
                <a:latin typeface="Aptos" pitchFamily="34" charset="0"/>
                <a:ea typeface="Aptos" pitchFamily="34" charset="-122"/>
                <a:cs typeface="Aptos" pitchFamily="34" charset="-120"/>
              </a:rPr>
              <a:t>Check</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Fix the first error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Ctrl + G jumps to the line. Fix it and save.</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paste, check again</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Repeat until there are no errors left.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Screenshot the result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“Document checking completed. </a:t>
            </a:r>
            <a:pPr indent="0" marL="0">
              <a:buNone/>
            </a:pPr>
            <a:r>
              <a:rPr lang="en-US" sz="1300" b="1" dirty="0">
                <a:solidFill>
                  <a:srgbClr val="262626"/>
                </a:solidFill>
                <a:latin typeface="Aptos" pitchFamily="34" charset="0"/>
                <a:ea typeface="Aptos" pitchFamily="34" charset="-122"/>
                <a:cs typeface="Aptos" pitchFamily="34" charset="-120"/>
              </a:rPr>
              <a:t>No errors or warnings to show.</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6995160" y="1325880"/>
            <a:ext cx="4647895" cy="3566160"/>
          </a:xfrm>
          <a:prstGeom prst="roundRect">
            <a:avLst>
              <a:gd name="adj" fmla="val 307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7269480" y="1463040"/>
            <a:ext cx="4099255" cy="45720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The starter page had 5 hidden mistakes!</a:t>
            </a:r>
            <a:endParaRPr lang="en-US" sz="1700" dirty="0"/>
          </a:p>
        </p:txBody>
      </p:sp>
      <p:sp>
        <p:nvSpPr>
          <p:cNvPr id="27" name="Text 24"/>
          <p:cNvSpPr txBox="1"/>
          <p:nvPr/>
        </p:nvSpPr>
        <p:spPr>
          <a:xfrm>
            <a:off x="7269480" y="1920240"/>
            <a:ext cx="4099255" cy="320040"/>
          </a:xfrm>
          <a:prstGeom prst="rect">
            <a:avLst/>
          </a:prstGeom>
          <a:noFill/>
          <a:ln/>
        </p:spPr>
        <p:txBody>
          <a:bodyPr wrap="square" lIns="0" tIns="0" rIns="0" bIns="0" rtlCol="0" anchor="ctr"/>
          <a:lstStyle/>
          <a:p>
            <a:pPr indent="0" marL="0">
              <a:buNone/>
            </a:pPr>
            <a:r>
              <a:rPr lang="en-US" sz="1300" b="1" dirty="0">
                <a:solidFill>
                  <a:srgbClr val="F2C6AC"/>
                </a:solidFill>
                <a:latin typeface="Aptos" pitchFamily="34" charset="0"/>
                <a:ea typeface="Aptos" pitchFamily="34" charset="-122"/>
                <a:cs typeface="Aptos" pitchFamily="34" charset="-120"/>
              </a:rPr>
              <a:t>Clues:</a:t>
            </a:r>
            <a:endParaRPr lang="en-US" sz="1300" dirty="0"/>
          </a:p>
        </p:txBody>
      </p:sp>
      <p:sp>
        <p:nvSpPr>
          <p:cNvPr id="28" name="Shape 25"/>
          <p:cNvSpPr/>
          <p:nvPr/>
        </p:nvSpPr>
        <p:spPr>
          <a:xfrm>
            <a:off x="7269480" y="2286000"/>
            <a:ext cx="329184" cy="329184"/>
          </a:xfrm>
          <a:prstGeom prst="ellipse">
            <a:avLst/>
          </a:prstGeom>
          <a:solidFill>
            <a:srgbClr val="E97132"/>
          </a:solidFill>
          <a:ln w="12700">
            <a:solidFill>
              <a:srgbClr val="E97132"/>
            </a:solidFill>
            <a:prstDash val="solid"/>
          </a:ln>
        </p:spPr>
      </p:sp>
      <p:sp>
        <p:nvSpPr>
          <p:cNvPr id="29" name="Text 26"/>
          <p:cNvSpPr txBox="1"/>
          <p:nvPr/>
        </p:nvSpPr>
        <p:spPr>
          <a:xfrm>
            <a:off x="7269480" y="22860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30" name="Text 27"/>
          <p:cNvSpPr txBox="1"/>
          <p:nvPr/>
        </p:nvSpPr>
        <p:spPr>
          <a:xfrm>
            <a:off x="7726680" y="223113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An image that says nothing about itself</a:t>
            </a:r>
            <a:endParaRPr lang="en-US" sz="1350" dirty="0"/>
          </a:p>
        </p:txBody>
      </p:sp>
      <p:sp>
        <p:nvSpPr>
          <p:cNvPr id="31" name="Shape 28"/>
          <p:cNvSpPr/>
          <p:nvPr/>
        </p:nvSpPr>
        <p:spPr>
          <a:xfrm>
            <a:off x="7269480" y="2788920"/>
            <a:ext cx="329184" cy="329184"/>
          </a:xfrm>
          <a:prstGeom prst="ellipse">
            <a:avLst/>
          </a:prstGeom>
          <a:solidFill>
            <a:srgbClr val="E97132"/>
          </a:solidFill>
          <a:ln w="12700">
            <a:solidFill>
              <a:srgbClr val="E97132"/>
            </a:solidFill>
            <a:prstDash val="solid"/>
          </a:ln>
        </p:spPr>
      </p:sp>
      <p:sp>
        <p:nvSpPr>
          <p:cNvPr id="32" name="Text 29"/>
          <p:cNvSpPr txBox="1"/>
          <p:nvPr/>
        </p:nvSpPr>
        <p:spPr>
          <a:xfrm>
            <a:off x="7269480" y="2788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33" name="Text 30"/>
          <p:cNvSpPr txBox="1"/>
          <p:nvPr/>
        </p:nvSpPr>
        <p:spPr>
          <a:xfrm>
            <a:off x="7726680" y="273405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Two tags closed in the wrong order</a:t>
            </a:r>
            <a:endParaRPr lang="en-US" sz="1350" dirty="0"/>
          </a:p>
        </p:txBody>
      </p:sp>
      <p:sp>
        <p:nvSpPr>
          <p:cNvPr id="34" name="Shape 31"/>
          <p:cNvSpPr/>
          <p:nvPr/>
        </p:nvSpPr>
        <p:spPr>
          <a:xfrm>
            <a:off x="7269480" y="3291840"/>
            <a:ext cx="329184" cy="329184"/>
          </a:xfrm>
          <a:prstGeom prst="ellipse">
            <a:avLst/>
          </a:prstGeom>
          <a:solidFill>
            <a:srgbClr val="E97132"/>
          </a:solidFill>
          <a:ln w="12700">
            <a:solidFill>
              <a:srgbClr val="E97132"/>
            </a:solidFill>
            <a:prstDash val="solid"/>
          </a:ln>
        </p:spPr>
      </p:sp>
      <p:sp>
        <p:nvSpPr>
          <p:cNvPr id="35" name="Text 32"/>
          <p:cNvSpPr txBox="1"/>
          <p:nvPr/>
        </p:nvSpPr>
        <p:spPr>
          <a:xfrm>
            <a:off x="72694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6" name="Text 33"/>
          <p:cNvSpPr txBox="1"/>
          <p:nvPr/>
        </p:nvSpPr>
        <p:spPr>
          <a:xfrm>
            <a:off x="7726680" y="323697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closing tag that doesn't match its opening tag</a:t>
            </a:r>
            <a:endParaRPr lang="en-US" sz="1350" dirty="0"/>
          </a:p>
        </p:txBody>
      </p:sp>
      <p:sp>
        <p:nvSpPr>
          <p:cNvPr id="37" name="Shape 34"/>
          <p:cNvSpPr/>
          <p:nvPr/>
        </p:nvSpPr>
        <p:spPr>
          <a:xfrm>
            <a:off x="7269480" y="3794760"/>
            <a:ext cx="329184" cy="329184"/>
          </a:xfrm>
          <a:prstGeom prst="ellipse">
            <a:avLst/>
          </a:prstGeom>
          <a:solidFill>
            <a:srgbClr val="E97132"/>
          </a:solidFill>
          <a:ln w="12700">
            <a:solidFill>
              <a:srgbClr val="E97132"/>
            </a:solidFill>
            <a:prstDash val="solid"/>
          </a:ln>
        </p:spPr>
      </p:sp>
      <p:sp>
        <p:nvSpPr>
          <p:cNvPr id="38" name="Text 35"/>
          <p:cNvSpPr txBox="1"/>
          <p:nvPr/>
        </p:nvSpPr>
        <p:spPr>
          <a:xfrm>
            <a:off x="7269480" y="3794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9" name="Text 36"/>
          <p:cNvSpPr txBox="1"/>
          <p:nvPr/>
        </p:nvSpPr>
        <p:spPr>
          <a:xfrm>
            <a:off x="7726680" y="373989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Two of something there should only be one of</a:t>
            </a:r>
            <a:endParaRPr lang="en-US" sz="1350" dirty="0"/>
          </a:p>
        </p:txBody>
      </p:sp>
      <p:sp>
        <p:nvSpPr>
          <p:cNvPr id="40" name="Shape 37"/>
          <p:cNvSpPr/>
          <p:nvPr/>
        </p:nvSpPr>
        <p:spPr>
          <a:xfrm>
            <a:off x="7269480" y="4297680"/>
            <a:ext cx="329184" cy="329184"/>
          </a:xfrm>
          <a:prstGeom prst="ellipse">
            <a:avLst/>
          </a:prstGeom>
          <a:solidFill>
            <a:srgbClr val="E97132"/>
          </a:solidFill>
          <a:ln w="12700">
            <a:solidFill>
              <a:srgbClr val="E97132"/>
            </a:solidFill>
            <a:prstDash val="solid"/>
          </a:ln>
        </p:spPr>
      </p:sp>
      <p:sp>
        <p:nvSpPr>
          <p:cNvPr id="41" name="Text 38"/>
          <p:cNvSpPr txBox="1"/>
          <p:nvPr/>
        </p:nvSpPr>
        <p:spPr>
          <a:xfrm>
            <a:off x="7269480" y="4297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42" name="Text 39"/>
          <p:cNvSpPr txBox="1"/>
          <p:nvPr/>
        </p:nvSpPr>
        <p:spPr>
          <a:xfrm>
            <a:off x="7726680" y="424281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An attribute HTML has never heard of</a:t>
            </a:r>
            <a:endParaRPr lang="en-US" sz="1350" dirty="0"/>
          </a:p>
        </p:txBody>
      </p:sp>
      <p:sp>
        <p:nvSpPr>
          <p:cNvPr id="43" name="Shape 40"/>
          <p:cNvSpPr/>
          <p:nvPr/>
        </p:nvSpPr>
        <p:spPr>
          <a:xfrm>
            <a:off x="6995160" y="5074920"/>
            <a:ext cx="4647895" cy="1280160"/>
          </a:xfrm>
          <a:prstGeom prst="roundRect">
            <a:avLst>
              <a:gd name="adj" fmla="val 8571"/>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44" name="Text 41"/>
          <p:cNvSpPr txBox="1"/>
          <p:nvPr/>
        </p:nvSpPr>
        <p:spPr>
          <a:xfrm>
            <a:off x="7223760" y="5120640"/>
            <a:ext cx="4190695" cy="118872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Clue 4 explains why the </a:t>
            </a:r>
            <a:pPr indent="0" marL="0">
              <a:buNone/>
            </a:pPr>
            <a:r>
              <a:rPr lang="en-US" sz="1300" b="1" dirty="0">
                <a:solidFill>
                  <a:srgbClr val="262626"/>
                </a:solidFill>
                <a:latin typeface="Aptos" pitchFamily="34" charset="0"/>
                <a:ea typeface="Aptos" pitchFamily="34" charset="-122"/>
                <a:cs typeface="Aptos" pitchFamily="34" charset="-120"/>
              </a:rPr>
              <a:t>Kids' Fish Bites</a:t>
            </a:r>
            <a:pPr indent="0" marL="0">
              <a:buNone/>
            </a:pPr>
            <a:r>
              <a:rPr lang="en-US" sz="1300" dirty="0">
                <a:solidFill>
                  <a:srgbClr val="262626"/>
                </a:solidFill>
                <a:latin typeface="Aptos" pitchFamily="34" charset="0"/>
                <a:ea typeface="Aptos" pitchFamily="34" charset="-122"/>
                <a:cs typeface="Aptos" pitchFamily="34" charset="-120"/>
              </a:rPr>
              <a:t> link in your dropdown doesn't go anywhere!</a:t>
            </a:r>
            <a:endParaRPr lang="en-US" sz="1300" dirty="0"/>
          </a:p>
          <a:p>
            <a:pPr indent="0" marL="0">
              <a:spcBef>
                <a:spcPts val="600"/>
              </a:spcBef>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Errors in the code </a:t>
            </a:r>
            <a:pPr indent="0" marL="0">
              <a:buNone/>
            </a:pPr>
            <a:r>
              <a:rPr lang="en-US" sz="1300" b="1" dirty="0">
                <a:solidFill>
                  <a:srgbClr val="262626"/>
                </a:solidFill>
                <a:latin typeface="Aptos" pitchFamily="34" charset="0"/>
                <a:ea typeface="Aptos" pitchFamily="34" charset="-122"/>
                <a:cs typeface="Aptos" pitchFamily="34" charset="-120"/>
              </a:rPr>
              <a:t>you</a:t>
            </a:r>
            <a:pPr indent="0" marL="0">
              <a:buNone/>
            </a:pPr>
            <a:r>
              <a:rPr lang="en-US" sz="1300" dirty="0">
                <a:solidFill>
                  <a:srgbClr val="262626"/>
                </a:solidFill>
                <a:latin typeface="Aptos" pitchFamily="34" charset="0"/>
                <a:ea typeface="Aptos" pitchFamily="34" charset="-122"/>
                <a:cs typeface="Aptos" pitchFamily="34" charset="-120"/>
              </a:rPr>
              <a:t> typed? Fix those too.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325880"/>
            <a:ext cx="5852160" cy="4206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554480"/>
            <a:ext cx="5394960" cy="3749040"/>
          </a:xfrm>
          <a:prstGeom prst="rect">
            <a:avLst/>
          </a:prstGeom>
          <a:noFill/>
          <a:ln/>
        </p:spPr>
        <p:txBody>
          <a:bodyPr wrap="square" lIns="0" tIns="0" rIns="0" bIns="0" rtlCol="0" anchor="t"/>
          <a:lstStyle/>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colour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18</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.price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bold</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.note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middle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CSS VALIDATION · EXAMPLE 11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CSS Fails Quietly</a:t>
            </a:r>
            <a:endParaRPr lang="en-US" sz="3200" dirty="0"/>
          </a:p>
        </p:txBody>
      </p:sp>
      <p:pic>
        <p:nvPicPr>
          <p:cNvPr id="7" name="Image 1" descr="C:\Repos\2026-2027\WEBD1000\07_Navigation_Tables_Validation\_build\shots\ex11.png">    </p:cNvPr>
          <p:cNvPicPr>
            <a:picLocks noChangeAspect="1"/>
          </p:cNvPicPr>
          <p:nvPr/>
        </p:nvPicPr>
        <p:blipFill>
          <a:blip r:embed="rId2"/>
          <a:stretch>
            <a:fillRect/>
          </a:stretch>
        </p:blipFill>
        <p:spPr>
          <a:xfrm>
            <a:off x="6812280" y="5216972"/>
            <a:ext cx="2415388" cy="1046668"/>
          </a:xfrm>
          <a:prstGeom prst="rect">
            <a:avLst/>
          </a:prstGeom>
        </p:spPr>
      </p:pic>
      <p:sp>
        <p:nvSpPr>
          <p:cNvPr id="8" name="Shape 4"/>
          <p:cNvSpPr/>
          <p:nvPr/>
        </p:nvSpPr>
        <p:spPr>
          <a:xfrm>
            <a:off x="6812280" y="5216972"/>
            <a:ext cx="2415388" cy="1046668"/>
          </a:xfrm>
          <a:prstGeom prst="rect">
            <a:avLst/>
          </a:prstGeom>
          <a:ln w="12700">
            <a:solidFill>
              <a:srgbClr val="B0B8BC"/>
            </a:solidFill>
            <a:prstDash val="solid"/>
          </a:ln>
        </p:spPr>
      </p:sp>
      <p:sp>
        <p:nvSpPr>
          <p:cNvPr id="9" name="Text 5"/>
          <p:cNvSpPr txBox="1"/>
          <p:nvPr/>
        </p:nvSpPr>
        <p:spPr>
          <a:xfrm>
            <a:off x="6812280" y="4924364"/>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WHAT YOU GET</a:t>
            </a:r>
            <a:endParaRPr lang="en-US" sz="1100" dirty="0"/>
          </a:p>
        </p:txBody>
      </p:sp>
      <p:pic>
        <p:nvPicPr>
          <p:cNvPr id="10" name="Image 2" descr="C:\Repos\2026-2027\WEBD1000\07_Navigation_Tables_Validation\_build\shots\ex12.png">    </p:cNvPr>
          <p:cNvPicPr>
            <a:picLocks noChangeAspect="1"/>
          </p:cNvPicPr>
          <p:nvPr/>
        </p:nvPicPr>
        <p:blipFill>
          <a:blip r:embed="rId3"/>
          <a:stretch>
            <a:fillRect/>
          </a:stretch>
        </p:blipFill>
        <p:spPr>
          <a:xfrm>
            <a:off x="9364828" y="5216972"/>
            <a:ext cx="2415388" cy="1046668"/>
          </a:xfrm>
          <a:prstGeom prst="rect">
            <a:avLst/>
          </a:prstGeom>
        </p:spPr>
      </p:pic>
      <p:sp>
        <p:nvSpPr>
          <p:cNvPr id="11" name="Shape 6"/>
          <p:cNvSpPr/>
          <p:nvPr/>
        </p:nvSpPr>
        <p:spPr>
          <a:xfrm>
            <a:off x="9364828" y="5216972"/>
            <a:ext cx="2415388" cy="1046668"/>
          </a:xfrm>
          <a:prstGeom prst="rect">
            <a:avLst/>
          </a:prstGeom>
          <a:ln w="12700">
            <a:solidFill>
              <a:srgbClr val="B0B8BC"/>
            </a:solidFill>
            <a:prstDash val="solid"/>
          </a:ln>
        </p:spPr>
      </p:sp>
      <p:sp>
        <p:nvSpPr>
          <p:cNvPr id="12" name="Text 7"/>
          <p:cNvSpPr txBox="1"/>
          <p:nvPr/>
        </p:nvSpPr>
        <p:spPr>
          <a:xfrm>
            <a:off x="9364828" y="4924364"/>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WHAT YOU MEANT (EXAMPLE 12)</a:t>
            </a:r>
            <a:endParaRPr lang="en-US" sz="1100" dirty="0"/>
          </a:p>
        </p:txBody>
      </p:sp>
      <p:sp>
        <p:nvSpPr>
          <p:cNvPr id="13" name="Text 8"/>
          <p:cNvSpPr txBox="1"/>
          <p:nvPr/>
        </p:nvSpPr>
        <p:spPr>
          <a:xfrm>
            <a:off x="6812280" y="1508760"/>
            <a:ext cx="4967935" cy="3324164"/>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The browser </a:t>
            </a:r>
            <a:pPr indent="0" marL="0">
              <a:buNone/>
            </a:pPr>
            <a:r>
              <a:rPr lang="en-US" sz="1350" b="1" dirty="0">
                <a:solidFill>
                  <a:srgbClr val="262626"/>
                </a:solidFill>
                <a:latin typeface="Aptos" pitchFamily="34" charset="0"/>
                <a:ea typeface="Aptos" pitchFamily="34" charset="-122"/>
                <a:cs typeface="Aptos" pitchFamily="34" charset="-120"/>
              </a:rPr>
              <a:t>skips</a:t>
            </a:r>
            <a:pPr indent="0" marL="0">
              <a:buNone/>
            </a:pPr>
            <a:r>
              <a:rPr lang="en-US" sz="1350" dirty="0">
                <a:solidFill>
                  <a:srgbClr val="262626"/>
                </a:solidFill>
                <a:latin typeface="Aptos" pitchFamily="34" charset="0"/>
                <a:ea typeface="Aptos" pitchFamily="34" charset="-122"/>
                <a:cs typeface="Aptos" pitchFamily="34" charset="-120"/>
              </a:rPr>
              <a:t> any CSS it doesn't understand. No error, no warning: it just doesn't happen.</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4 mistakes: the heading isn't navy, the text isn't bigger, the price isn't orange, the note isn't centred.</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The HTML validator checks a </a:t>
            </a:r>
            <a:pPr indent="0" marL="0">
              <a:buNone/>
            </a:pPr>
            <a:r>
              <a:rPr lang="en-US" sz="1350" dirty="0">
                <a:solidFill>
                  <a:srgbClr val="8A2B0B"/>
                </a:solidFill>
                <a:latin typeface="Consolas" pitchFamily="34" charset="0"/>
                <a:ea typeface="Consolas" pitchFamily="34" charset="-122"/>
                <a:cs typeface="Consolas" pitchFamily="34" charset="-120"/>
              </a:rPr>
              <a:t>&lt;style&gt;</a:t>
            </a:r>
            <a:pPr indent="0" marL="0">
              <a:buNone/>
            </a:pPr>
            <a:r>
              <a:rPr lang="en-US" sz="1350" dirty="0">
                <a:solidFill>
                  <a:srgbClr val="262626"/>
                </a:solidFill>
                <a:latin typeface="Aptos" pitchFamily="34" charset="0"/>
                <a:ea typeface="Aptos" pitchFamily="34" charset="-122"/>
                <a:cs typeface="Aptos" pitchFamily="34" charset="-120"/>
              </a:rPr>
              <a:t> block, but </a:t>
            </a:r>
            <a:pPr indent="0" marL="0">
              <a:buNone/>
            </a:pPr>
            <a:r>
              <a:rPr lang="en-US" sz="1350" b="1" dirty="0">
                <a:solidFill>
                  <a:srgbClr val="262626"/>
                </a:solidFill>
                <a:latin typeface="Aptos" pitchFamily="34" charset="0"/>
                <a:ea typeface="Aptos" pitchFamily="34" charset="-122"/>
                <a:cs typeface="Aptos" pitchFamily="34" charset="-120"/>
              </a:rPr>
              <a:t>never opens</a:t>
            </a:r>
            <a:pPr indent="0" marL="0">
              <a:buNone/>
            </a:pPr>
            <a:r>
              <a:rPr lang="en-US" sz="1350" dirty="0">
                <a:solidFill>
                  <a:srgbClr val="262626"/>
                </a:solidFill>
                <a:latin typeface="Aptos" pitchFamily="34" charset="0"/>
                <a:ea typeface="Aptos" pitchFamily="34" charset="-122"/>
                <a:cs typeface="Aptos" pitchFamily="34" charset="-120"/>
              </a:rPr>
              <a:t> your linked </a:t>
            </a:r>
            <a:pPr indent="0" marL="0">
              <a:buNone/>
            </a:pPr>
            <a:r>
              <a:rPr lang="en-US" sz="1350" dirty="0">
                <a:solidFill>
                  <a:srgbClr val="8A2B0B"/>
                </a:solidFill>
                <a:latin typeface="Consolas" pitchFamily="34" charset="0"/>
                <a:ea typeface="Consolas" pitchFamily="34" charset="-122"/>
                <a:cs typeface="Consolas" pitchFamily="34" charset="-120"/>
              </a:rPr>
              <a:t>style.css</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4" name="Text 9"/>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11_css_validation_broken_example.html</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W3C CSS Validator</a:t>
            </a:r>
            <a:endParaRPr lang="en-US" sz="2800" dirty="0"/>
          </a:p>
        </p:txBody>
      </p:sp>
      <p:sp>
        <p:nvSpPr>
          <p:cNvPr id="7" name="Shape 4"/>
          <p:cNvSpPr/>
          <p:nvPr/>
        </p:nvSpPr>
        <p:spPr>
          <a:xfrm>
            <a:off x="4754880" y="1783080"/>
            <a:ext cx="4480560" cy="548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853635" y="1881835"/>
            <a:ext cx="4283050" cy="351130"/>
          </a:xfrm>
          <a:prstGeom prst="rect">
            <a:avLst/>
          </a:prstGeom>
          <a:noFill/>
          <a:ln/>
        </p:spPr>
        <p:txBody>
          <a:bodyPr wrap="square" lIns="0" tIns="0" rIns="0" bIns="0" rtlCol="0" anchor="t"/>
          <a:lstStyle/>
          <a:p>
            <a:pPr indent="0" marL="0">
              <a:lnSpc>
                <a:spcPct val="100000"/>
              </a:lnSpc>
              <a:buNone/>
            </a:pPr>
            <a:r>
              <a:rPr lang="en-US" sz="1700" dirty="0">
                <a:solidFill>
                  <a:srgbClr val="D4D4D4"/>
                </a:solidFill>
                <a:latin typeface="Consolas" pitchFamily="34" charset="0"/>
                <a:ea typeface="Consolas" pitchFamily="34" charset="-122"/>
                <a:cs typeface="Consolas" pitchFamily="34" charset="-120"/>
              </a:rPr>
              <a:t>jigsaw.w3.org/css-validator</a:t>
            </a:r>
            <a:endParaRPr lang="en-US" sz="1700" dirty="0"/>
          </a:p>
        </p:txBody>
      </p:sp>
      <p:sp>
        <p:nvSpPr>
          <p:cNvPr id="9" name="Text 6"/>
          <p:cNvSpPr txBox="1"/>
          <p:nvPr/>
        </p:nvSpPr>
        <p:spPr>
          <a:xfrm>
            <a:off x="9372600" y="1783080"/>
            <a:ext cx="2286000" cy="548640"/>
          </a:xfrm>
          <a:prstGeom prst="rect">
            <a:avLst/>
          </a:prstGeom>
          <a:noFill/>
          <a:ln/>
        </p:spPr>
        <p:txBody>
          <a:bodyPr wrap="square" lIns="0" tIns="0" rIns="0" bIns="0" rtlCol="0" anchor="ctr"/>
          <a:lstStyle/>
          <a:p>
            <a:pPr indent="0" marL="0">
              <a:buNone/>
            </a:pPr>
            <a:r>
              <a:rPr lang="en-US" sz="1500" b="1" dirty="0">
                <a:solidFill>
                  <a:srgbClr val="1B5E82"/>
                </a:solidFill>
                <a:latin typeface="Aptos" pitchFamily="34" charset="0"/>
                <a:ea typeface="Aptos" pitchFamily="34" charset="-122"/>
                <a:cs typeface="Aptos" pitchFamily="34" charset="-120"/>
              </a:rPr>
              <a:t>→ By direct input</a:t>
            </a:r>
            <a:endParaRPr lang="en-US" sz="1500" dirty="0"/>
          </a:p>
        </p:txBody>
      </p:sp>
      <p:sp>
        <p:nvSpPr>
          <p:cNvPr id="10" name="Shape 7"/>
          <p:cNvSpPr/>
          <p:nvPr/>
        </p:nvSpPr>
        <p:spPr>
          <a:xfrm>
            <a:off x="4754880" y="2514600"/>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892040" y="2606040"/>
            <a:ext cx="777240" cy="310896"/>
          </a:xfrm>
          <a:prstGeom prst="roundRect">
            <a:avLst>
              <a:gd name="adj" fmla="val 50000"/>
            </a:avLst>
          </a:prstGeom>
          <a:solidFill>
            <a:srgbClr val="C62828"/>
          </a:solidFill>
          <a:ln w="12700">
            <a:solidFill>
              <a:srgbClr val="C62828"/>
            </a:solidFill>
            <a:prstDash val="solid"/>
          </a:ln>
        </p:spPr>
      </p:sp>
      <p:sp>
        <p:nvSpPr>
          <p:cNvPr id="12" name="Text 9"/>
          <p:cNvSpPr txBox="1"/>
          <p:nvPr/>
        </p:nvSpPr>
        <p:spPr>
          <a:xfrm>
            <a:off x="4892040" y="2606040"/>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3" name="Text 10"/>
          <p:cNvSpPr txBox="1"/>
          <p:nvPr/>
        </p:nvSpPr>
        <p:spPr>
          <a:xfrm>
            <a:off x="4892040" y="2935224"/>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14</a:t>
            </a:r>
            <a:endParaRPr lang="en-US" sz="1050" dirty="0"/>
          </a:p>
        </p:txBody>
      </p:sp>
      <p:sp>
        <p:nvSpPr>
          <p:cNvPr id="14" name="Text 11"/>
          <p:cNvSpPr txBox="1"/>
          <p:nvPr/>
        </p:nvSpPr>
        <p:spPr>
          <a:xfrm>
            <a:off x="5806440" y="2514600"/>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h1  </a:t>
            </a:r>
            <a:pPr indent="0" marL="0">
              <a:buNone/>
            </a:pPr>
            <a:r>
              <a:rPr lang="en-US" sz="1150" dirty="0">
                <a:solidFill>
                  <a:srgbClr val="000000"/>
                </a:solidFill>
                <a:latin typeface="Aptos" pitchFamily="34" charset="0"/>
                <a:ea typeface="Aptos" pitchFamily="34" charset="-122"/>
                <a:cs typeface="Aptos" pitchFamily="34" charset="-120"/>
              </a:rPr>
              <a:t>Property “colour” doesn't exist. The closest matching property name is “color”</a:t>
            </a:r>
            <a:endParaRPr lang="en-US" sz="1150" dirty="0"/>
          </a:p>
        </p:txBody>
      </p:sp>
      <p:sp>
        <p:nvSpPr>
          <p:cNvPr id="15" name="Text 12"/>
          <p:cNvSpPr txBox="1"/>
          <p:nvPr/>
        </p:nvSpPr>
        <p:spPr>
          <a:xfrm>
            <a:off x="9601200" y="2514600"/>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Spell it color</a:t>
            </a:r>
            <a:endParaRPr lang="en-US" sz="1200" dirty="0"/>
          </a:p>
        </p:txBody>
      </p:sp>
      <p:sp>
        <p:nvSpPr>
          <p:cNvPr id="16" name="Shape 13"/>
          <p:cNvSpPr/>
          <p:nvPr/>
        </p:nvSpPr>
        <p:spPr>
          <a:xfrm>
            <a:off x="4754880" y="3300984"/>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4892040" y="3392424"/>
            <a:ext cx="777240" cy="310896"/>
          </a:xfrm>
          <a:prstGeom prst="roundRect">
            <a:avLst>
              <a:gd name="adj" fmla="val 50000"/>
            </a:avLst>
          </a:prstGeom>
          <a:solidFill>
            <a:srgbClr val="C62828"/>
          </a:solidFill>
          <a:ln w="12700">
            <a:solidFill>
              <a:srgbClr val="C62828"/>
            </a:solidFill>
            <a:prstDash val="solid"/>
          </a:ln>
        </p:spPr>
      </p:sp>
      <p:sp>
        <p:nvSpPr>
          <p:cNvPr id="18" name="Text 15"/>
          <p:cNvSpPr txBox="1"/>
          <p:nvPr/>
        </p:nvSpPr>
        <p:spPr>
          <a:xfrm>
            <a:off x="4892040" y="3392424"/>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9" name="Text 16"/>
          <p:cNvSpPr txBox="1"/>
          <p:nvPr/>
        </p:nvSpPr>
        <p:spPr>
          <a:xfrm>
            <a:off x="4892040" y="3721608"/>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18</a:t>
            </a:r>
            <a:endParaRPr lang="en-US" sz="1050" dirty="0"/>
          </a:p>
        </p:txBody>
      </p:sp>
      <p:sp>
        <p:nvSpPr>
          <p:cNvPr id="20" name="Text 17"/>
          <p:cNvSpPr txBox="1"/>
          <p:nvPr/>
        </p:nvSpPr>
        <p:spPr>
          <a:xfrm>
            <a:off x="5806440" y="3300984"/>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p  </a:t>
            </a:r>
            <a:pPr indent="0" marL="0">
              <a:buNone/>
            </a:pPr>
            <a:r>
              <a:rPr lang="en-US" sz="1150" dirty="0">
                <a:solidFill>
                  <a:srgbClr val="000000"/>
                </a:solidFill>
                <a:latin typeface="Aptos" pitchFamily="34" charset="0"/>
                <a:ea typeface="Aptos" pitchFamily="34" charset="-122"/>
                <a:cs typeface="Aptos" pitchFamily="34" charset="-120"/>
              </a:rPr>
              <a:t>only “0” can be a “unit”. You must put a unit after your number</a:t>
            </a:r>
            <a:endParaRPr lang="en-US" sz="1150" dirty="0"/>
          </a:p>
        </p:txBody>
      </p:sp>
      <p:sp>
        <p:nvSpPr>
          <p:cNvPr id="21" name="Text 18"/>
          <p:cNvSpPr txBox="1"/>
          <p:nvPr/>
        </p:nvSpPr>
        <p:spPr>
          <a:xfrm>
            <a:off x="9601200" y="3300984"/>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18px (or 1.1rem)</a:t>
            </a:r>
            <a:endParaRPr lang="en-US" sz="1200" dirty="0"/>
          </a:p>
        </p:txBody>
      </p:sp>
      <p:sp>
        <p:nvSpPr>
          <p:cNvPr id="22" name="Shape 19"/>
          <p:cNvSpPr/>
          <p:nvPr/>
        </p:nvSpPr>
        <p:spPr>
          <a:xfrm>
            <a:off x="4754880" y="4087368"/>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4892040" y="4178808"/>
            <a:ext cx="777240" cy="310896"/>
          </a:xfrm>
          <a:prstGeom prst="roundRect">
            <a:avLst>
              <a:gd name="adj" fmla="val 50000"/>
            </a:avLst>
          </a:prstGeom>
          <a:solidFill>
            <a:srgbClr val="C62828"/>
          </a:solidFill>
          <a:ln w="12700">
            <a:solidFill>
              <a:srgbClr val="C62828"/>
            </a:solidFill>
            <a:prstDash val="solid"/>
          </a:ln>
        </p:spPr>
      </p:sp>
      <p:sp>
        <p:nvSpPr>
          <p:cNvPr id="24" name="Text 21"/>
          <p:cNvSpPr txBox="1"/>
          <p:nvPr/>
        </p:nvSpPr>
        <p:spPr>
          <a:xfrm>
            <a:off x="4892040" y="4178808"/>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25" name="Text 22"/>
          <p:cNvSpPr txBox="1"/>
          <p:nvPr/>
        </p:nvSpPr>
        <p:spPr>
          <a:xfrm>
            <a:off x="4892040" y="4507992"/>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23</a:t>
            </a:r>
            <a:endParaRPr lang="en-US" sz="1050" dirty="0"/>
          </a:p>
        </p:txBody>
      </p:sp>
      <p:sp>
        <p:nvSpPr>
          <p:cNvPr id="26" name="Text 23"/>
          <p:cNvSpPr txBox="1"/>
          <p:nvPr/>
        </p:nvSpPr>
        <p:spPr>
          <a:xfrm>
            <a:off x="5806440" y="4087368"/>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.price  </a:t>
            </a:r>
            <a:pPr indent="0" marL="0">
              <a:buNone/>
            </a:pPr>
            <a:r>
              <a:rPr lang="en-US" sz="1150" dirty="0">
                <a:solidFill>
                  <a:srgbClr val="000000"/>
                </a:solidFill>
                <a:latin typeface="Aptos" pitchFamily="34" charset="0"/>
                <a:ea typeface="Aptos" pitchFamily="34" charset="-122"/>
                <a:cs typeface="Aptos" pitchFamily="34" charset="-120"/>
              </a:rPr>
              <a:t>Missing a semicolon before the property name “color”</a:t>
            </a:r>
            <a:endParaRPr lang="en-US" sz="1150" dirty="0"/>
          </a:p>
        </p:txBody>
      </p:sp>
      <p:sp>
        <p:nvSpPr>
          <p:cNvPr id="27" name="Text 24"/>
          <p:cNvSpPr txBox="1"/>
          <p:nvPr/>
        </p:nvSpPr>
        <p:spPr>
          <a:xfrm>
            <a:off x="9601200" y="4087368"/>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bold;  ← it broke both lines</a:t>
            </a:r>
            <a:endParaRPr lang="en-US" sz="1200" dirty="0"/>
          </a:p>
        </p:txBody>
      </p:sp>
      <p:sp>
        <p:nvSpPr>
          <p:cNvPr id="28" name="Shape 25"/>
          <p:cNvSpPr/>
          <p:nvPr/>
        </p:nvSpPr>
        <p:spPr>
          <a:xfrm>
            <a:off x="4754880" y="4873752"/>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4892040" y="4965192"/>
            <a:ext cx="777240" cy="310896"/>
          </a:xfrm>
          <a:prstGeom prst="roundRect">
            <a:avLst>
              <a:gd name="adj" fmla="val 50000"/>
            </a:avLst>
          </a:prstGeom>
          <a:solidFill>
            <a:srgbClr val="C62828"/>
          </a:solidFill>
          <a:ln w="12700">
            <a:solidFill>
              <a:srgbClr val="C62828"/>
            </a:solidFill>
            <a:prstDash val="solid"/>
          </a:ln>
        </p:spPr>
      </p:sp>
      <p:sp>
        <p:nvSpPr>
          <p:cNvPr id="30" name="Text 27"/>
          <p:cNvSpPr txBox="1"/>
          <p:nvPr/>
        </p:nvSpPr>
        <p:spPr>
          <a:xfrm>
            <a:off x="4892040" y="4965192"/>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31" name="Text 28"/>
          <p:cNvSpPr txBox="1"/>
          <p:nvPr/>
        </p:nvSpPr>
        <p:spPr>
          <a:xfrm>
            <a:off x="4892040" y="5294376"/>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27</a:t>
            </a:r>
            <a:endParaRPr lang="en-US" sz="1050" dirty="0"/>
          </a:p>
        </p:txBody>
      </p:sp>
      <p:sp>
        <p:nvSpPr>
          <p:cNvPr id="32" name="Text 29"/>
          <p:cNvSpPr txBox="1"/>
          <p:nvPr/>
        </p:nvSpPr>
        <p:spPr>
          <a:xfrm>
            <a:off x="5806440" y="4873752"/>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.note  </a:t>
            </a:r>
            <a:pPr indent="0" marL="0">
              <a:buNone/>
            </a:pPr>
            <a:r>
              <a:rPr lang="en-US" sz="1150" dirty="0">
                <a:solidFill>
                  <a:srgbClr val="000000"/>
                </a:solidFill>
                <a:latin typeface="Aptos" pitchFamily="34" charset="0"/>
                <a:ea typeface="Aptos" pitchFamily="34" charset="-122"/>
                <a:cs typeface="Aptos" pitchFamily="34" charset="-120"/>
              </a:rPr>
              <a:t>“middle” is not a “text-align” value</a:t>
            </a:r>
            <a:endParaRPr lang="en-US" sz="1150" dirty="0"/>
          </a:p>
        </p:txBody>
      </p:sp>
      <p:sp>
        <p:nvSpPr>
          <p:cNvPr id="33" name="Text 30"/>
          <p:cNvSpPr txBox="1"/>
          <p:nvPr/>
        </p:nvSpPr>
        <p:spPr>
          <a:xfrm>
            <a:off x="9601200" y="4873752"/>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text-align: center</a:t>
            </a:r>
            <a:endParaRPr lang="en-US" sz="1200" dirty="0"/>
          </a:p>
        </p:txBody>
      </p:sp>
      <p:sp>
        <p:nvSpPr>
          <p:cNvPr id="34" name="Shape 31"/>
          <p:cNvSpPr/>
          <p:nvPr/>
        </p:nvSpPr>
        <p:spPr>
          <a:xfrm>
            <a:off x="4754880" y="5760720"/>
            <a:ext cx="6903720" cy="594360"/>
          </a:xfrm>
          <a:prstGeom prst="roundRect">
            <a:avLst>
              <a:gd name="adj" fmla="val 18462"/>
            </a:avLst>
          </a:prstGeom>
          <a:solidFill>
            <a:srgbClr val="2E7D32"/>
          </a:solidFill>
          <a:ln w="9525">
            <a:solidFill>
              <a:srgbClr val="2E7D32"/>
            </a:solidFill>
            <a:prstDash val="solid"/>
          </a:ln>
          <a:effectLst>
            <a:outerShdw sx="100000" sy="100000" kx="0" ky="0" algn="bl" rotWithShape="0" blurRad="76200" dist="25400" dir="5400000">
              <a:srgbClr val="000000">
                <a:alpha val="12000"/>
              </a:srgbClr>
            </a:outerShdw>
          </a:effectLst>
        </p:spPr>
      </p:sp>
      <p:sp>
        <p:nvSpPr>
          <p:cNvPr id="35" name="Text 32"/>
          <p:cNvSpPr txBox="1"/>
          <p:nvPr/>
        </p:nvSpPr>
        <p:spPr>
          <a:xfrm>
            <a:off x="4983480" y="5760720"/>
            <a:ext cx="6446520" cy="59436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a:t>
            </a:r>
            <a:pPr indent="0" marL="0">
              <a:buNone/>
            </a:pPr>
            <a:r>
              <a:rPr lang="en-US" sz="1400" b="1" dirty="0">
                <a:solidFill>
                  <a:srgbClr val="FFFFFF"/>
                </a:solidFill>
                <a:latin typeface="Aptos" pitchFamily="34" charset="0"/>
                <a:ea typeface="Aptos" pitchFamily="34" charset="-122"/>
                <a:cs typeface="Aptos" pitchFamily="34" charset="-120"/>
              </a:rPr>
              <a:t>When it's clean: </a:t>
            </a:r>
            <a:pPr indent="0" marL="0">
              <a:buNone/>
            </a:pPr>
            <a:r>
              <a:rPr lang="en-US" sz="1400" dirty="0">
                <a:solidFill>
                  <a:srgbClr val="FFFFFF"/>
                </a:solidFill>
                <a:latin typeface="Aptos" pitchFamily="34" charset="0"/>
                <a:ea typeface="Aptos" pitchFamily="34" charset="-122"/>
                <a:cs typeface="Aptos" pitchFamily="34" charset="-120"/>
              </a:rPr>
              <a:t>“Congratulations! No Error Found.”</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8: Validate the CSS (6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2E7D32"/>
          </a:solidFill>
          <a:ln w="12700">
            <a:solidFill>
              <a:srgbClr val="2E7D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jigsaw.w3.org/css-validator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Choose </a:t>
            </a:r>
            <a:pPr indent="0" marL="0">
              <a:buNone/>
            </a:pPr>
            <a:r>
              <a:rPr lang="en-US" sz="1300" b="1" dirty="0">
                <a:solidFill>
                  <a:srgbClr val="262626"/>
                </a:solidFill>
                <a:latin typeface="Aptos" pitchFamily="34" charset="0"/>
                <a:ea typeface="Aptos" pitchFamily="34" charset="-122"/>
                <a:cs typeface="Aptos" pitchFamily="34" charset="-120"/>
              </a:rPr>
              <a:t>By direct input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2E7D32"/>
          </a:solidFill>
          <a:ln w="12700">
            <a:solidFill>
              <a:srgbClr val="2E7D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all of style.css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VS Code: </a:t>
            </a:r>
            <a:pPr indent="0" marL="0">
              <a:buNone/>
            </a:pPr>
            <a:r>
              <a:rPr lang="en-US" sz="1300" b="1" dirty="0">
                <a:solidFill>
                  <a:srgbClr val="262626"/>
                </a:solidFill>
                <a:latin typeface="Aptos" pitchFamily="34" charset="0"/>
                <a:ea typeface="Aptos" pitchFamily="34" charset="-122"/>
                <a:cs typeface="Aptos" pitchFamily="34" charset="-120"/>
              </a:rPr>
              <a:t>Ctrl + A</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Ctrl + C</a:t>
            </a:r>
            <a:pPr indent="0" marL="0">
              <a:buNone/>
            </a:pPr>
            <a:r>
              <a:rPr lang="en-US" sz="1300" dirty="0">
                <a:solidFill>
                  <a:srgbClr val="262626"/>
                </a:solidFill>
                <a:latin typeface="Aptos" pitchFamily="34" charset="0"/>
                <a:ea typeface="Aptos" pitchFamily="34" charset="-122"/>
                <a:cs typeface="Aptos" pitchFamily="34" charset="-120"/>
              </a:rPr>
              <a:t>. Paste it in, then </a:t>
            </a:r>
            <a:pPr indent="0" marL="0">
              <a:buNone/>
            </a:pPr>
            <a:r>
              <a:rPr lang="en-US" sz="1300" b="1" dirty="0">
                <a:solidFill>
                  <a:srgbClr val="262626"/>
                </a:solidFill>
                <a:latin typeface="Aptos" pitchFamily="34" charset="0"/>
                <a:ea typeface="Aptos" pitchFamily="34" charset="-122"/>
                <a:cs typeface="Aptos" pitchFamily="34" charset="-120"/>
              </a:rPr>
              <a:t>Check</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2E7D32"/>
          </a:solidFill>
          <a:ln w="12700">
            <a:solidFill>
              <a:srgbClr val="2E7D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Fix each error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message names the line and the selector.</a:t>
            </a:r>
            <a:endParaRPr lang="en-US" sz="1300" dirty="0"/>
          </a:p>
        </p:txBody>
      </p:sp>
      <p:sp>
        <p:nvSpPr>
          <p:cNvPr id="17" name="Shape 14"/>
          <p:cNvSpPr/>
          <p:nvPr/>
        </p:nvSpPr>
        <p:spPr>
          <a:xfrm>
            <a:off x="914400" y="4315968"/>
            <a:ext cx="402336" cy="402336"/>
          </a:xfrm>
          <a:prstGeom prst="ellipse">
            <a:avLst/>
          </a:prstGeom>
          <a:solidFill>
            <a:srgbClr val="2E7D32"/>
          </a:solidFill>
          <a:ln w="12700">
            <a:solidFill>
              <a:srgbClr val="2E7D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paste, check again</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Until there are no errors left.</a:t>
            </a:r>
            <a:endParaRPr lang="en-US" sz="1300" dirty="0"/>
          </a:p>
        </p:txBody>
      </p:sp>
      <p:sp>
        <p:nvSpPr>
          <p:cNvPr id="21" name="Shape 18"/>
          <p:cNvSpPr/>
          <p:nvPr/>
        </p:nvSpPr>
        <p:spPr>
          <a:xfrm>
            <a:off x="914400" y="5230368"/>
            <a:ext cx="402336" cy="402336"/>
          </a:xfrm>
          <a:prstGeom prst="ellipse">
            <a:avLst/>
          </a:prstGeom>
          <a:solidFill>
            <a:srgbClr val="2E7D32"/>
          </a:solidFill>
          <a:ln w="12700">
            <a:solidFill>
              <a:srgbClr val="2E7D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Screenshot the result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“Congratulations! </a:t>
            </a:r>
            <a:pPr indent="0" marL="0">
              <a:buNone/>
            </a:pPr>
            <a:r>
              <a:rPr lang="en-US" sz="1300" b="1" dirty="0">
                <a:solidFill>
                  <a:srgbClr val="262626"/>
                </a:solidFill>
                <a:latin typeface="Aptos" pitchFamily="34" charset="0"/>
                <a:ea typeface="Aptos" pitchFamily="34" charset="-122"/>
                <a:cs typeface="Aptos" pitchFamily="34" charset="-120"/>
              </a:rPr>
              <a:t>No Error Found.</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6995160" y="1325880"/>
            <a:ext cx="4647895" cy="3017520"/>
          </a:xfrm>
          <a:prstGeom prst="roundRect">
            <a:avLst>
              <a:gd name="adj" fmla="val 3636"/>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7269480" y="1463040"/>
            <a:ext cx="4099255" cy="45720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Our Class 8 CSS had 3 hidden mistakes!</a:t>
            </a:r>
            <a:endParaRPr lang="en-US" sz="1700" dirty="0"/>
          </a:p>
        </p:txBody>
      </p:sp>
      <p:sp>
        <p:nvSpPr>
          <p:cNvPr id="27" name="Text 24"/>
          <p:cNvSpPr txBox="1"/>
          <p:nvPr/>
        </p:nvSpPr>
        <p:spPr>
          <a:xfrm>
            <a:off x="7269480" y="1920240"/>
            <a:ext cx="4099255" cy="320040"/>
          </a:xfrm>
          <a:prstGeom prst="rect">
            <a:avLst/>
          </a:prstGeom>
          <a:noFill/>
          <a:ln/>
        </p:spPr>
        <p:txBody>
          <a:bodyPr wrap="square" lIns="0" tIns="0" rIns="0" bIns="0" rtlCol="0" anchor="ctr"/>
          <a:lstStyle/>
          <a:p>
            <a:pPr indent="0" marL="0">
              <a:buNone/>
            </a:pPr>
            <a:r>
              <a:rPr lang="en-US" sz="1300" b="1" dirty="0">
                <a:solidFill>
                  <a:srgbClr val="F2C6AC"/>
                </a:solidFill>
                <a:latin typeface="Aptos" pitchFamily="34" charset="0"/>
                <a:ea typeface="Aptos" pitchFamily="34" charset="-122"/>
                <a:cs typeface="Aptos" pitchFamily="34" charset="-120"/>
              </a:rPr>
              <a:t>Clues:</a:t>
            </a:r>
            <a:endParaRPr lang="en-US" sz="1300" dirty="0"/>
          </a:p>
        </p:txBody>
      </p:sp>
      <p:sp>
        <p:nvSpPr>
          <p:cNvPr id="28" name="Shape 25"/>
          <p:cNvSpPr/>
          <p:nvPr/>
        </p:nvSpPr>
        <p:spPr>
          <a:xfrm>
            <a:off x="7269480" y="2331720"/>
            <a:ext cx="329184" cy="329184"/>
          </a:xfrm>
          <a:prstGeom prst="ellipse">
            <a:avLst/>
          </a:prstGeom>
          <a:solidFill>
            <a:srgbClr val="2E7D32"/>
          </a:solidFill>
          <a:ln w="12700">
            <a:solidFill>
              <a:srgbClr val="2E7D32"/>
            </a:solidFill>
            <a:prstDash val="solid"/>
          </a:ln>
        </p:spPr>
      </p:sp>
      <p:sp>
        <p:nvSpPr>
          <p:cNvPr id="29" name="Text 26"/>
          <p:cNvSpPr txBox="1"/>
          <p:nvPr/>
        </p:nvSpPr>
        <p:spPr>
          <a:xfrm>
            <a:off x="7269480" y="2331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30" name="Text 27"/>
          <p:cNvSpPr txBox="1"/>
          <p:nvPr/>
        </p:nvSpPr>
        <p:spPr>
          <a:xfrm>
            <a:off x="7726680" y="227685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number with no unit</a:t>
            </a:r>
            <a:endParaRPr lang="en-US" sz="1350" dirty="0"/>
          </a:p>
        </p:txBody>
      </p:sp>
      <p:sp>
        <p:nvSpPr>
          <p:cNvPr id="31" name="Shape 28"/>
          <p:cNvSpPr/>
          <p:nvPr/>
        </p:nvSpPr>
        <p:spPr>
          <a:xfrm>
            <a:off x="7269480" y="2880360"/>
            <a:ext cx="329184" cy="329184"/>
          </a:xfrm>
          <a:prstGeom prst="ellipse">
            <a:avLst/>
          </a:prstGeom>
          <a:solidFill>
            <a:srgbClr val="2E7D32"/>
          </a:solidFill>
          <a:ln w="12700">
            <a:solidFill>
              <a:srgbClr val="2E7D32"/>
            </a:solidFill>
            <a:prstDash val="solid"/>
          </a:ln>
        </p:spPr>
      </p:sp>
      <p:sp>
        <p:nvSpPr>
          <p:cNvPr id="32" name="Text 29"/>
          <p:cNvSpPr txBox="1"/>
          <p:nvPr/>
        </p:nvSpPr>
        <p:spPr>
          <a:xfrm>
            <a:off x="7269480" y="28803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33" name="Text 30"/>
          <p:cNvSpPr txBox="1"/>
          <p:nvPr/>
        </p:nvSpPr>
        <p:spPr>
          <a:xfrm>
            <a:off x="7726680" y="282549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word CSS spells differently</a:t>
            </a:r>
            <a:endParaRPr lang="en-US" sz="1350" dirty="0"/>
          </a:p>
        </p:txBody>
      </p:sp>
      <p:sp>
        <p:nvSpPr>
          <p:cNvPr id="34" name="Shape 31"/>
          <p:cNvSpPr/>
          <p:nvPr/>
        </p:nvSpPr>
        <p:spPr>
          <a:xfrm>
            <a:off x="7269480" y="3429000"/>
            <a:ext cx="329184" cy="329184"/>
          </a:xfrm>
          <a:prstGeom prst="ellipse">
            <a:avLst/>
          </a:prstGeom>
          <a:solidFill>
            <a:srgbClr val="2E7D32"/>
          </a:solidFill>
          <a:ln w="12700">
            <a:solidFill>
              <a:srgbClr val="2E7D32"/>
            </a:solidFill>
            <a:prstDash val="solid"/>
          </a:ln>
        </p:spPr>
      </p:sp>
      <p:sp>
        <p:nvSpPr>
          <p:cNvPr id="35" name="Text 32"/>
          <p:cNvSpPr txBox="1"/>
          <p:nvPr/>
        </p:nvSpPr>
        <p:spPr>
          <a:xfrm>
            <a:off x="7269480" y="34290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6" name="Text 33"/>
          <p:cNvSpPr txBox="1"/>
          <p:nvPr/>
        </p:nvSpPr>
        <p:spPr>
          <a:xfrm>
            <a:off x="7726680" y="337413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missing semicolon (it breaks two lines!)</a:t>
            </a:r>
            <a:endParaRPr lang="en-US" sz="1350" dirty="0"/>
          </a:p>
        </p:txBody>
      </p:sp>
      <p:sp>
        <p:nvSpPr>
          <p:cNvPr id="37" name="Shape 34"/>
          <p:cNvSpPr/>
          <p:nvPr/>
        </p:nvSpPr>
        <p:spPr>
          <a:xfrm>
            <a:off x="6995160" y="4526280"/>
            <a:ext cx="4647895" cy="1828800"/>
          </a:xfrm>
          <a:prstGeom prst="roundRect">
            <a:avLst>
              <a:gd name="adj" fmla="val 6000"/>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38" name="Text 35"/>
          <p:cNvSpPr txBox="1"/>
          <p:nvPr/>
        </p:nvSpPr>
        <p:spPr>
          <a:xfrm>
            <a:off x="7223760" y="4572000"/>
            <a:ext cx="4190695" cy="173736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b="1" dirty="0">
                <a:solidFill>
                  <a:srgbClr val="262626"/>
                </a:solidFill>
                <a:latin typeface="Aptos" pitchFamily="34" charset="0"/>
                <a:ea typeface="Aptos" pitchFamily="34" charset="-122"/>
                <a:cs typeface="Aptos" pitchFamily="34" charset="-120"/>
              </a:rPr>
              <a:t>Watch the page as you fix them.</a:t>
            </a:r>
            <a:pPr indent="0" marL="0">
              <a:buNone/>
            </a:pPr>
            <a:r>
              <a:rPr lang="en-US" sz="1300" dirty="0">
                <a:solidFill>
                  <a:srgbClr val="262626"/>
                </a:solidFill>
                <a:latin typeface="Aptos" pitchFamily="34" charset="0"/>
                <a:ea typeface="Aptos" pitchFamily="34" charset="-122"/>
                <a:cs typeface="Aptos" pitchFamily="34" charset="-120"/>
              </a:rPr>
              <a:t> Something changes every time.</a:t>
            </a:r>
            <a:endParaRPr lang="en-US" sz="1300" dirty="0"/>
          </a:p>
          <a:p>
            <a:pPr indent="0" marL="0">
              <a:spcBef>
                <a:spcPts val="600"/>
              </a:spcBef>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Did you notice the prices were </a:t>
            </a:r>
            <a:pPr indent="0" marL="0">
              <a:buNone/>
            </a:pPr>
            <a:r>
              <a:rPr lang="en-US" sz="1300" b="1" dirty="0">
                <a:solidFill>
                  <a:srgbClr val="262626"/>
                </a:solidFill>
                <a:latin typeface="Aptos" pitchFamily="34" charset="0"/>
                <a:ea typeface="Aptos" pitchFamily="34" charset="-122"/>
                <a:cs typeface="Aptos" pitchFamily="34" charset="-120"/>
              </a:rPr>
              <a:t>plain black</a:t>
            </a:r>
            <a:pPr indent="0" marL="0">
              <a:buNone/>
            </a:pPr>
            <a:r>
              <a:rPr lang="en-US" sz="1300" dirty="0">
                <a:solidFill>
                  <a:srgbClr val="262626"/>
                </a:solidFill>
                <a:latin typeface="Aptos" pitchFamily="34" charset="0"/>
                <a:ea typeface="Aptos" pitchFamily="34" charset="-122"/>
                <a:cs typeface="Aptos" pitchFamily="34" charset="-120"/>
              </a:rPr>
              <a:t> all class?</a:t>
            </a:r>
            <a:endParaRPr lang="en-US" sz="1300" dirty="0"/>
          </a:p>
          <a:p>
            <a:pPr indent="0" marL="0">
              <a:spcBef>
                <a:spcPts val="600"/>
              </a:spcBef>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HTML validator </a:t>
            </a:r>
            <a:pPr indent="0" marL="0">
              <a:buNone/>
            </a:pPr>
            <a:r>
              <a:rPr lang="en-US" sz="1300" b="1" dirty="0">
                <a:solidFill>
                  <a:srgbClr val="262626"/>
                </a:solidFill>
                <a:latin typeface="Aptos" pitchFamily="34" charset="0"/>
                <a:ea typeface="Aptos" pitchFamily="34" charset="-122"/>
                <a:cs typeface="Aptos" pitchFamily="34" charset="-120"/>
              </a:rPr>
              <a:t>can't</a:t>
            </a:r>
            <a:pPr indent="0" marL="0">
              <a:buNone/>
            </a:pPr>
            <a:r>
              <a:rPr lang="en-US" sz="1300" dirty="0">
                <a:solidFill>
                  <a:srgbClr val="262626"/>
                </a:solidFill>
                <a:latin typeface="Aptos" pitchFamily="34" charset="0"/>
                <a:ea typeface="Aptos" pitchFamily="34" charset="-122"/>
                <a:cs typeface="Aptos" pitchFamily="34" charset="-120"/>
              </a:rPr>
              <a:t> find these: it never opens style.css.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Make It Yours, Then Submit</a:t>
            </a:r>
            <a:endParaRPr lang="en-US" sz="2800" dirty="0"/>
          </a:p>
        </p:txBody>
      </p:sp>
      <p:sp>
        <p:nvSpPr>
          <p:cNvPr id="4" name="Shape 1"/>
          <p:cNvSpPr/>
          <p:nvPr/>
        </p:nvSpPr>
        <p:spPr>
          <a:xfrm>
            <a:off x="685800" y="1325880"/>
            <a:ext cx="676656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14400" y="1508760"/>
            <a:ext cx="6309360" cy="41148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Make it yours</a:t>
            </a:r>
            <a:endParaRPr lang="en-US" sz="1800" dirty="0"/>
          </a:p>
        </p:txBody>
      </p:sp>
      <p:sp>
        <p:nvSpPr>
          <p:cNvPr id="6" name="Shape 3"/>
          <p:cNvSpPr/>
          <p:nvPr/>
        </p:nvSpPr>
        <p:spPr>
          <a:xfrm>
            <a:off x="914400" y="2148840"/>
            <a:ext cx="365760" cy="365760"/>
          </a:xfrm>
          <a:prstGeom prst="ellipse">
            <a:avLst/>
          </a:prstGeom>
          <a:solidFill>
            <a:srgbClr val="E97132"/>
          </a:solidFill>
          <a:ln w="12700">
            <a:solidFill>
              <a:srgbClr val="E97132"/>
            </a:solidFill>
            <a:prstDash val="solid"/>
          </a:ln>
        </p:spPr>
      </p:sp>
      <p:sp>
        <p:nvSpPr>
          <p:cNvPr id="7" name="Text 4"/>
          <p:cNvSpPr txBox="1"/>
          <p:nvPr/>
        </p:nvSpPr>
        <p:spPr>
          <a:xfrm>
            <a:off x="91440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5"/>
          <p:cNvSpPr txBox="1"/>
          <p:nvPr/>
        </p:nvSpPr>
        <p:spPr>
          <a:xfrm>
            <a:off x="1417320" y="203911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Highlight the row under the mouse: </a:t>
            </a:r>
            <a:pPr indent="0" marL="0">
              <a:buNone/>
            </a:pPr>
            <a:r>
              <a:rPr lang="en-US" sz="1450" dirty="0">
                <a:solidFill>
                  <a:srgbClr val="8A2B0B"/>
                </a:solidFill>
                <a:latin typeface="Consolas" pitchFamily="34" charset="0"/>
                <a:ea typeface="Consolas" pitchFamily="34" charset="-122"/>
                <a:cs typeface="Consolas" pitchFamily="34" charset="-120"/>
              </a:rPr>
              <a:t>tbody tr:hover</a:t>
            </a:r>
            <a:endParaRPr lang="en-US" sz="1450" dirty="0"/>
          </a:p>
        </p:txBody>
      </p:sp>
      <p:sp>
        <p:nvSpPr>
          <p:cNvPr id="9" name="Shape 6"/>
          <p:cNvSpPr/>
          <p:nvPr/>
        </p:nvSpPr>
        <p:spPr>
          <a:xfrm>
            <a:off x="914400" y="2926080"/>
            <a:ext cx="365760" cy="365760"/>
          </a:xfrm>
          <a:prstGeom prst="ellipse">
            <a:avLst/>
          </a:prstGeom>
          <a:solidFill>
            <a:srgbClr val="E97132"/>
          </a:solidFill>
          <a:ln w="12700">
            <a:solidFill>
              <a:srgbClr val="E97132"/>
            </a:solidFill>
            <a:prstDash val="solid"/>
          </a:ln>
        </p:spPr>
      </p:sp>
      <p:sp>
        <p:nvSpPr>
          <p:cNvPr id="10" name="Text 7"/>
          <p:cNvSpPr txBox="1"/>
          <p:nvPr/>
        </p:nvSpPr>
        <p:spPr>
          <a:xfrm>
            <a:off x="914400" y="2926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17320" y="281635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Bold Friday to Sunday: </a:t>
            </a:r>
            <a:pPr indent="0" marL="0">
              <a:buNone/>
            </a:pPr>
            <a:r>
              <a:rPr lang="en-US" sz="1450" dirty="0">
                <a:solidFill>
                  <a:srgbClr val="8A2B0B"/>
                </a:solidFill>
                <a:latin typeface="Consolas" pitchFamily="34" charset="0"/>
                <a:ea typeface="Consolas" pitchFamily="34" charset="-122"/>
                <a:cs typeface="Consolas" pitchFamily="34" charset="-120"/>
              </a:rPr>
              <a:t>tbody tr:nth-child(n+5)</a:t>
            </a:r>
            <a:endParaRPr lang="en-US" sz="1450" dirty="0"/>
          </a:p>
        </p:txBody>
      </p:sp>
      <p:sp>
        <p:nvSpPr>
          <p:cNvPr id="12" name="Shape 9"/>
          <p:cNvSpPr/>
          <p:nvPr/>
        </p:nvSpPr>
        <p:spPr>
          <a:xfrm>
            <a:off x="914400" y="3703320"/>
            <a:ext cx="365760" cy="365760"/>
          </a:xfrm>
          <a:prstGeom prst="ellipse">
            <a:avLst/>
          </a:prstGeom>
          <a:solidFill>
            <a:srgbClr val="E97132"/>
          </a:solidFill>
          <a:ln w="12700">
            <a:solidFill>
              <a:srgbClr val="E97132"/>
            </a:solidFill>
            <a:prstDash val="solid"/>
          </a:ln>
        </p:spPr>
      </p:sp>
      <p:sp>
        <p:nvSpPr>
          <p:cNvPr id="13" name="Text 10"/>
          <p:cNvSpPr txBox="1"/>
          <p:nvPr/>
        </p:nvSpPr>
        <p:spPr>
          <a:xfrm>
            <a:off x="914400"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4" name="Text 11"/>
          <p:cNvSpPr txBox="1"/>
          <p:nvPr/>
        </p:nvSpPr>
        <p:spPr>
          <a:xfrm>
            <a:off x="1417320" y="359359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Give the dropdown </a:t>
            </a:r>
            <a:pPr indent="0" marL="0">
              <a:buNone/>
            </a:pPr>
            <a:r>
              <a:rPr lang="en-US" sz="1450" b="1" dirty="0">
                <a:solidFill>
                  <a:srgbClr val="262626"/>
                </a:solidFill>
                <a:latin typeface="Aptos" pitchFamily="34" charset="0"/>
                <a:ea typeface="Aptos" pitchFamily="34" charset="-122"/>
                <a:cs typeface="Aptos" pitchFamily="34" charset="-120"/>
              </a:rPr>
              <a:t>rounded corners</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border-radius</a:t>
            </a:r>
            <a:pPr indent="0" marL="0">
              <a:buNone/>
            </a:pPr>
            <a:r>
              <a:rPr lang="en-US" sz="1450" dirty="0">
                <a:solidFill>
                  <a:srgbClr val="262626"/>
                </a:solidFill>
                <a:latin typeface="Aptos" pitchFamily="34" charset="0"/>
                <a:ea typeface="Aptos" pitchFamily="34" charset="-122"/>
                <a:cs typeface="Aptos" pitchFamily="34" charset="-120"/>
              </a:rPr>
              <a:t> (try </a:t>
            </a:r>
            <a:pPr indent="0" marL="0">
              <a:buNone/>
            </a:pPr>
            <a:r>
              <a:rPr lang="en-US" sz="1450" dirty="0">
                <a:solidFill>
                  <a:srgbClr val="8A2B0B"/>
                </a:solidFill>
                <a:latin typeface="Consolas" pitchFamily="34" charset="0"/>
                <a:ea typeface="Consolas" pitchFamily="34" charset="-122"/>
                <a:cs typeface="Consolas" pitchFamily="34" charset="-120"/>
              </a:rPr>
              <a:t>0 0 8px 8px</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
        <p:nvSpPr>
          <p:cNvPr id="15" name="Shape 12"/>
          <p:cNvSpPr/>
          <p:nvPr/>
        </p:nvSpPr>
        <p:spPr>
          <a:xfrm>
            <a:off x="914400" y="4480560"/>
            <a:ext cx="365760" cy="365760"/>
          </a:xfrm>
          <a:prstGeom prst="ellipse">
            <a:avLst/>
          </a:prstGeom>
          <a:solidFill>
            <a:srgbClr val="E97132"/>
          </a:solidFill>
          <a:ln w="12700">
            <a:solidFill>
              <a:srgbClr val="E97132"/>
            </a:solidFill>
            <a:prstDash val="solid"/>
          </a:ln>
        </p:spPr>
      </p:sp>
      <p:sp>
        <p:nvSpPr>
          <p:cNvPr id="16" name="Text 13"/>
          <p:cNvSpPr txBox="1"/>
          <p:nvPr/>
        </p:nvSpPr>
        <p:spPr>
          <a:xfrm>
            <a:off x="914400" y="4480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7" name="Text 14"/>
          <p:cNvSpPr txBox="1"/>
          <p:nvPr/>
        </p:nvSpPr>
        <p:spPr>
          <a:xfrm>
            <a:off x="1417320" y="437083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new colour for the </a:t>
            </a:r>
            <a:pPr indent="0" marL="0">
              <a:buNone/>
            </a:pPr>
            <a:r>
              <a:rPr lang="en-US" sz="1450" b="1" dirty="0">
                <a:solidFill>
                  <a:srgbClr val="262626"/>
                </a:solidFill>
                <a:latin typeface="Aptos" pitchFamily="34" charset="0"/>
                <a:ea typeface="Aptos" pitchFamily="34" charset="-122"/>
                <a:cs typeface="Aptos" pitchFamily="34" charset="-120"/>
              </a:rPr>
              <a:t>current page</a:t>
            </a:r>
            <a:pPr indent="0" marL="0">
              <a:buNone/>
            </a:pPr>
            <a:r>
              <a:rPr lang="en-US" sz="1450" dirty="0">
                <a:solidFill>
                  <a:srgbClr val="262626"/>
                </a:solidFill>
                <a:latin typeface="Aptos" pitchFamily="34" charset="0"/>
                <a:ea typeface="Aptos" pitchFamily="34" charset="-122"/>
                <a:cs typeface="Aptos" pitchFamily="34" charset="-120"/>
              </a:rPr>
              <a:t> underline</a:t>
            </a:r>
            <a:endParaRPr lang="en-US" sz="1450" dirty="0"/>
          </a:p>
        </p:txBody>
      </p:sp>
      <p:sp>
        <p:nvSpPr>
          <p:cNvPr id="18" name="Shape 15"/>
          <p:cNvSpPr/>
          <p:nvPr/>
        </p:nvSpPr>
        <p:spPr>
          <a:xfrm>
            <a:off x="914400" y="5257800"/>
            <a:ext cx="365760" cy="365760"/>
          </a:xfrm>
          <a:prstGeom prst="ellipse">
            <a:avLst/>
          </a:prstGeom>
          <a:solidFill>
            <a:srgbClr val="E97132"/>
          </a:solidFill>
          <a:ln w="12700">
            <a:solidFill>
              <a:srgbClr val="E97132"/>
            </a:solidFill>
            <a:prstDash val="solid"/>
          </a:ln>
        </p:spPr>
      </p:sp>
      <p:sp>
        <p:nvSpPr>
          <p:cNvPr id="19" name="Text 16"/>
          <p:cNvSpPr txBox="1"/>
          <p:nvPr/>
        </p:nvSpPr>
        <p:spPr>
          <a:xfrm>
            <a:off x="914400" y="5257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0" name="Text 17"/>
          <p:cNvSpPr txBox="1"/>
          <p:nvPr/>
        </p:nvSpPr>
        <p:spPr>
          <a:xfrm>
            <a:off x="1417320" y="514807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Line up the Open and Close times on the right: </a:t>
            </a:r>
            <a:pPr indent="0" marL="0">
              <a:buNone/>
            </a:pPr>
            <a:r>
              <a:rPr lang="en-US" sz="1450" dirty="0">
                <a:solidFill>
                  <a:srgbClr val="8A2B0B"/>
                </a:solidFill>
                <a:latin typeface="Consolas" pitchFamily="34" charset="0"/>
                <a:ea typeface="Consolas" pitchFamily="34" charset="-122"/>
                <a:cs typeface="Consolas" pitchFamily="34" charset="-120"/>
              </a:rPr>
              <a:t>td</a:t>
            </a:r>
            <a:pPr indent="0" marL="0">
              <a:buNone/>
            </a:pPr>
            <a:r>
              <a:rPr lang="en-US" sz="1450" dirty="0">
                <a:solidFill>
                  <a:srgbClr val="262626"/>
                </a:solidFill>
                <a:latin typeface="Aptos" pitchFamily="34" charset="0"/>
                <a:ea typeface="Aptos" pitchFamily="34" charset="-122"/>
                <a:cs typeface="Aptos" pitchFamily="34" charset="-120"/>
              </a:rPr>
              <a:t> + </a:t>
            </a:r>
            <a:pPr indent="0" marL="0">
              <a:buNone/>
            </a:pPr>
            <a:r>
              <a:rPr lang="en-US" sz="1450" dirty="0">
                <a:solidFill>
                  <a:srgbClr val="8A2B0B"/>
                </a:solidFill>
                <a:latin typeface="Consolas" pitchFamily="34" charset="0"/>
                <a:ea typeface="Consolas" pitchFamily="34" charset="-122"/>
                <a:cs typeface="Consolas" pitchFamily="34" charset="-120"/>
              </a:rPr>
              <a:t>text-align</a:t>
            </a:r>
            <a:endParaRPr lang="en-US" sz="1450" dirty="0"/>
          </a:p>
        </p:txBody>
      </p:sp>
      <p:sp>
        <p:nvSpPr>
          <p:cNvPr id="21" name="Shape 18"/>
          <p:cNvSpPr/>
          <p:nvPr/>
        </p:nvSpPr>
        <p:spPr>
          <a:xfrm>
            <a:off x="7680960" y="1325880"/>
            <a:ext cx="3962095" cy="5029200"/>
          </a:xfrm>
          <a:prstGeom prst="roundRect">
            <a:avLst>
              <a:gd name="adj" fmla="val 2769"/>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7909560" y="1554480"/>
            <a:ext cx="3504895" cy="685800"/>
          </a:xfrm>
          <a:prstGeom prst="rect">
            <a:avLst/>
          </a:prstGeom>
          <a:noFill/>
          <a:ln/>
        </p:spPr>
        <p:txBody>
          <a:bodyPr wrap="square" lIns="0" tIns="0" rIns="0" bIns="0" rtlCol="0" anchor="t"/>
          <a:lstStyle/>
          <a:p>
            <a:pPr indent="0" marL="0">
              <a:buNone/>
            </a:pPr>
            <a:r>
              <a:rPr lang="en-US" sz="1800" b="1" dirty="0">
                <a:solidFill>
                  <a:srgbClr val="FFFFFF"/>
                </a:solidFill>
                <a:latin typeface="Aptos" pitchFamily="34" charset="0"/>
                <a:ea typeface="Aptos" pitchFamily="34" charset="-122"/>
                <a:cs typeface="Aptos" pitchFamily="34" charset="-120"/>
              </a:rPr>
              <a:t>Submit to Brightspace</a:t>
            </a:r>
            <a:endParaRPr lang="en-US" sz="1800" dirty="0"/>
          </a:p>
        </p:txBody>
      </p:sp>
      <p:sp>
        <p:nvSpPr>
          <p:cNvPr id="23" name="Text 20"/>
          <p:cNvSpPr txBox="1"/>
          <p:nvPr/>
        </p:nvSpPr>
        <p:spPr>
          <a:xfrm>
            <a:off x="7909560" y="2286000"/>
            <a:ext cx="3504895" cy="3931920"/>
          </a:xfrm>
          <a:prstGeom prst="rect">
            <a:avLst/>
          </a:prstGeom>
          <a:noFill/>
          <a:ln/>
        </p:spPr>
        <p:txBody>
          <a:bodyPr wrap="square" lIns="0" tIns="0" rIns="0" bIns="0" rtlCol="0" anchor="t"/>
          <a:lstStyle/>
          <a:p>
            <a:pPr indent="0" marL="0">
              <a:buNone/>
            </a:pPr>
            <a:r>
              <a:rPr lang="en-US" sz="1350" b="1" dirty="0">
                <a:solidFill>
                  <a:srgbClr val="D9D9D9"/>
                </a:solidFill>
                <a:latin typeface="Aptos" pitchFamily="34" charset="0"/>
                <a:ea typeface="Aptos" pitchFamily="34" charset="-122"/>
                <a:cs typeface="Aptos" pitchFamily="34" charset="-120"/>
              </a:rPr>
              <a:t>Three screenshots:</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1. Your page in the browser, with the Menu dropdown open</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2. The HTML validator: “No errors or warnings to show.”</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3. The CSS validator: “No Error Found.”</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Consolas" pitchFamily="34" charset="0"/>
                <a:ea typeface="Consolas" pitchFamily="34" charset="-122"/>
                <a:cs typeface="Consolas" pitchFamily="34" charset="-120"/>
              </a:rPr>
              <a:t>Win + Shift + S</a:t>
            </a:r>
            <a:pPr indent="0" marL="0">
              <a:buNone/>
            </a:pPr>
            <a:r>
              <a:rPr lang="en-US" sz="1350" dirty="0">
                <a:solidFill>
                  <a:srgbClr val="D9D9D9"/>
                </a:solidFill>
                <a:latin typeface="Aptos" pitchFamily="34" charset="0"/>
                <a:ea typeface="Aptos" pitchFamily="34" charset="-122"/>
                <a:cs typeface="Aptos" pitchFamily="34" charset="-120"/>
              </a:rPr>
              <a:t>: hover the menu first, then pick the area.</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Aptos" pitchFamily="34" charset="0"/>
                <a:ea typeface="Aptos" pitchFamily="34" charset="-122"/>
                <a:cs typeface="Aptos" pitchFamily="34" charset="-120"/>
              </a:rPr>
              <a:t>Stuck? </a:t>
            </a:r>
            <a:pPr indent="0" marL="0">
              <a:buNone/>
            </a:pPr>
            <a:r>
              <a:rPr lang="en-US" sz="1350" dirty="0">
                <a:solidFill>
                  <a:srgbClr val="D9D9D9"/>
                </a:solidFill>
                <a:latin typeface="Aptos" pitchFamily="34" charset="0"/>
                <a:ea typeface="Aptos" pitchFamily="34" charset="-122"/>
                <a:cs typeface="Aptos" pitchFamily="34" charset="-120"/>
              </a:rPr>
              <a:t>Peek at activity/answer/. Every fix has a comment.</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Cheat Sheet: Menus and Tables</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3794760"/>
                <a:gridCol w="3108960"/>
              </a:tblGrid>
              <a:tr h="402336">
                <a:tc>
                  <a:txBody>
                    <a:bodyPr/>
                    <a:lstStyle/>
                    <a:p>
                      <a:pPr indent="0" marL="0">
                        <a:buNone/>
                      </a:pPr>
                      <a:r>
                        <a:rPr lang="en-US" sz="1250" b="1" dirty="0">
                          <a:solidFill>
                            <a:srgbClr val="FFFFFF"/>
                          </a:solidFill>
                          <a:latin typeface="Aptos" pitchFamily="34" charset="0"/>
                          <a:ea typeface="Aptos" pitchFamily="34" charset="-122"/>
                          <a:cs typeface="Aptos" pitchFamily="34" charset="-120"/>
                        </a:rPr>
                        <a:t>Code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What it does</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nav ul { list-style: none; padding: 0;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Remove the bullets and the indent</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nav ul { display: flex; gap: 4px;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Links side by side, with space between</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nav a { display: block; padding: …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The whole box is clickable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a[aria-current="page"]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Style the "you are here" link</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li { position: relative;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Dropdowns are placed against their li</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ul ul { display: none; position: absolute;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Hide the dropdown; float it over the page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li:hover &gt; ul, li:focus-within &gt; ul</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Show it for the mouse and the keyboard</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border-collapse: collapse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One line between table cells, not two</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tbody tr:nth-child(even)</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Zebra stripes on the data rows</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.table-wrap { overflow-x: auto;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A wide table scrolls in its own box</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Cheat Sheet: Validator Messages</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3657600"/>
                <a:gridCol w="3246120"/>
              </a:tblGrid>
              <a:tr h="365760">
                <a:tc>
                  <a:txBody>
                    <a:bodyPr/>
                    <a:lstStyle/>
                    <a:p>
                      <a:pPr indent="0" marL="0">
                        <a:buNone/>
                      </a:pPr>
                      <a:r>
                        <a:rPr lang="en-US" sz="1200" b="1" dirty="0">
                          <a:solidFill>
                            <a:srgbClr val="FFFFFF"/>
                          </a:solidFill>
                          <a:latin typeface="Aptos" pitchFamily="34" charset="0"/>
                          <a:ea typeface="Aptos" pitchFamily="34" charset="-122"/>
                          <a:cs typeface="Aptos" pitchFamily="34" charset="-120"/>
                        </a:rPr>
                        <a:t>The HTML validator says…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It means… / the fix</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An “img” element must have an “alt” attribute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Add alt="description", or alt="" for decoration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End tag “h3” seen, but there were open elements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The closing tag doesn't match the opening tag</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Unclosed element “section”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 closing tag is missing</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End tag “strong” violates nesting rules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Last opened, first closed: &lt;b&gt;&lt;i&gt;…&lt;/i&gt;&lt;/b&gt;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Duplicate ID “clams”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Every id must be unique on the page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Attribute “color” not allowed on element “p”</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Not an HTML attribute: do it in CSS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4754880" y="4572000"/>
          <a:ext cx="6903720" cy="914400"/>
        </p:xfrm>
        <a:graphic>
          <a:graphicData uri="http://schemas.openxmlformats.org/drawingml/2006/table">
            <a:tbl>
              <a:tblPr/>
              <a:tblGrid>
                <a:gridCol w="3657600"/>
                <a:gridCol w="3246120"/>
              </a:tblGrid>
              <a:tr h="365760">
                <a:tc>
                  <a:txBody>
                    <a:bodyPr/>
                    <a:lstStyle/>
                    <a:p>
                      <a:pPr indent="0" marL="0">
                        <a:buNone/>
                      </a:pPr>
                      <a:r>
                        <a:rPr lang="en-US" sz="1200" b="1" dirty="0">
                          <a:solidFill>
                            <a:srgbClr val="FFFFFF"/>
                          </a:solidFill>
                          <a:latin typeface="Aptos" pitchFamily="34" charset="0"/>
                          <a:ea typeface="Aptos" pitchFamily="34" charset="-122"/>
                          <a:cs typeface="Aptos" pitchFamily="34" charset="-120"/>
                        </a:rPr>
                        <a:t>The CSS validator says…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It means… / the fix</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Property “colour” doesn't exist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Spelling: CSS uses color (and center)</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only “0” can be a “unit”…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Add a unit: 20px, 1.2rem</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Missing a semicolon before the property name…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End every declaration with ;</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“middle” is not a “text-align” value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Not an allowed value: check MDN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Every menu is nav → ul → li → a. CSS makes it horizontal, vertical or a dropdown.</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Make the whole link clickable (display: block + padding), and open dropdowns with :focus-within too.</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Tables are for data: caption, thead, tbody, th with scope, td.</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border-collapse, padding on cells, zebra stripes with nth-child, and a scrolling wrapper for small screens.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Browsers forgive broken HTML. The W3C validator doesn't: fix the first error, then check again.</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Browsers silently skip broken CSS. The W3C CSS validator checks style.css (the HTML one can't).</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This week:</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Submit your three screenshots to Brightspace. No class Wednesday, October 21.</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Page layout: display, position, and Flexbox.</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Navigation Menus, Tables and HTML Validation</dc:title>
  <dc:subject>PptxGenJS Presentation</dc:subject>
  <dc:creator>Jamie Symonds</dc:creator>
  <cp:lastModifiedBy>Jamie Symonds</cp:lastModifiedBy>
  <cp:revision>1</cp:revision>
  <dcterms:created xsi:type="dcterms:W3CDTF">2026-10-19T00:28:41Z</dcterms:created>
  <dcterms:modified xsi:type="dcterms:W3CDTF">2026-10-19T00:28:41Z</dcterms:modified>
</cp:coreProperties>
</file>