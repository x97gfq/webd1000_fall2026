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So far we've written user stories (what users need to do) and semantic HTML (how the page is structured). Today sits between the two: before we write any HTML, we plan the page with a wireframe.
We'll use draw.io (app.diagrams.net). It's free, runs in the browser, and needs no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for today. Roughly: 10 min on what wireframes are, 35 min guided example (build it live in draw.io while students follow along), 50 min for their own wireframe plus Teams posting and feedback, 5 min wrap-up.
Students need a browser only. draw.io works without signing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wireframe is like a floor plan for a house: it shows where the rooms go, not the paint colours.
Walk through the spectrum. Sketches are fastest (paper, whiteboard). Wireframes are what we do today: tidy boxes, still no colour. Mockups add the real look (colours, fonts, images). Prototypes are clickable. Each step costs more time to change, so we make the big layout decisions early, while they're cheap.
In industry, tools like Figma are common for mockups and prototypes. draw.io is great for wireframes because it's free and quick to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before revealing: why not just start coding?
The main point is cost of change. Moving a box in draw.io takes seconds. Moving a section of a finished, styled, coded page can take hours, and may break other things.
Point 4 links back to Class 5: every region we draw today becomes a landmark element when we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only building blocks students need today. Everything on the Harbourside wireframe is made from these six.
In draw.io: the X box is Mockups → Graphics → Image (or draw a rectangle with two diagonal lines). Buttons are rounded rectangles. Grey bars are thin rectangles with a light grey fill and no border.
The blue landmark boxes are notes to ourselves about the HTML. They wouldn't be shown to a client as part of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to the requirements and user stories class. A user story says what someone needs to do. The wireframe decides WHERE on the page they do it. The landmark says what HTML element that region becomes.
Good habit for today: number your user stories and put the matching number on the wireframe. If a story has no number on the page, the design is missing something. If a big box has no story, ask whether it belongs.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example, about 35 minutes. Build it live in draw.io from a blank file while students follow along on their own laptops. Go slowly on Step 0 and Step 1; after that students usually pick it up.
The finished version is in 03_Wireframes/harbourside_ordering_wireframe.drawio if you need to jump ahead or someone falls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these stories on the board (or leave this slide up) before opening draw.io. Keep asking 'which story is this part of the page for?' as you build.
Story 5 is really a non-functional requirement written as a story (it's about how the site works on a phone, not a feature). That's the one that drives the mobile layout in Step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together and wait until everyone has the Mockups library showing on the left before moving on.
Saving: 'Device' downloads a .drawio file; OneDrive keeps it in the cloud. Either is fine. Remind students to save often (Ctrl + S).
The shortcuts on the right come up again in Step 3 when we duplicate the menu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1200 wide? It's a common desktop layout width. Mobile will be 375.
Answers: the whole strip is a &lt;header&gt; with a &lt;nav&gt; inside it. Bold marks the current page, so users know where they are. It's the visual version of aria-current="page" from Class 5.
The cart stays visible on every page because it's the thing an ordering customer needs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customer has to decide it before they order anything. It can change what's available, the wait time, and the fees.
Point out the filled / outlined convention from the toolkit slide: filled = selected or main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each card makes sense on its own and repeats, so it's an &lt;article&gt;. Grey bars keep it low-fi: we're deciding layout, not writing the menu.
Mention that repeating grids like this are what CSS Grid is for, which comes later in the course.
This is the slowest step. Make sure everyone has used group + duplicate at least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argue it out; both can be defended. &lt;aside&gt; = related to the main content but separate from it (like a sidebar). &lt;section&gt; with a heading also works. The wireframe uses &lt;aside&gt;.
This panel is what makes story 3 work: the total is visible the whole time the customer is adding items. Hold on to that; it matters when we go mobile.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structure is the same as 02_landmarks_example.html from Class 5. The wireframe is the plan for the HTML.
Tip for the tags: make one blue tag, then Ctrl + D and change the text.
The desktop page is now done. The next slide shows the finished version with the design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finished desktop wireframe, with the yellow design notes. This is page 1 (Desktop) of harbourside_ordering_wireframe.drawio.
Read the notes with the class. Each one is a design decision with a reason, which is what we want students to write in their Teams post.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has to change?' BEFORE revealing each row. Students usually get the nav and the grid themselves. The order summary is the interesting one: there's no room for a sidebar, but story 3 still says the total must be visible while browsing. The answer is the bar that stays at the bottom of the screen.
In draw.io: you can also start from Mockups → Containers for a phone frame instead of a plain rectangle.
375px is a common phone width in CSS pixels. 812px tall is a typical first screen. 44×44px is the tap-target size Apple recommends, and WCAG 2.1's AAA target size criterion (2.5.5) uses the same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finished mobile wireframe (page 2 of the .drawio file). The left phone shows the full length of the menu page; the red line is where the first screen ends. The right phone is the Your Order screen that opens when you tap the bar.
Note 5 ties back to Class 5 Example 10 (accessible forms). Note 3: 44px is the usual minimum tap target.
Ask: 'What's the first thing a phone user sees? Is it the right thing?' (The pickup/delivery choice and the first few menu items, plus the order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export both pages and post them to the class Teams channel. That gives students a real example of the posting format before they do their own.
'Include a copy of my diagram' puts the draw.io data inside the PNG. If you open that PNG in draw.io, it comes back as an editable diagram, so the image is the source file too.
The reply shown is an example of the feedback format they'll use in Part 3. The 'wonder' is a fair point too: delivery would need an address field, which this wireframe doesn't show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minutes: 10 to pick a client and write stories, 30 to wireframe, 10 to post and reply.
Walk around during Part 2. Common problems are on the 'Watch Out For'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one of these or pitch their own (check it quickly: it needs one key page with something to DO, not just information).
The key page for each: bakery = pre-order form, band = shows and tickets, groomer = booking, hockey = schedule and registration, food truck = today's location and menu, campground = site picker and dates.
Stories must follow the format from last week. 3–4 is plenty.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The most common problems are on the next-but-one slide (Watch Out For).
If someone finishes early: add a third frame for a tablet (about 768px), or wireframe a second screen (e.g. the confirmation page after checkout).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post per student in the class channel, so each wireframe gets its own reply thread.
The 'fewer than 2 replies' rule spreads feedback around so nobody is left out. If you want to check participation later, each student should have one post and two replies.
Good feedback is specific: a Works should name a user story, and a Wonder should name a place on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mistakes to look for while walking around during Part 2. Show this slide if you see the same one several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two or three Teams posts on the projector and ask these questions about each one.
The first question is the bridge to building: the wireframe's labels should turn straight into HTML landmarks.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274320" y="274320"/>
            <a:ext cx="2743200" cy="365760"/>
          </a:xfrm>
          <a:prstGeom prst="rect">
            <a:avLst/>
          </a:prstGeom>
          <a:noFill/>
          <a:ln/>
        </p:spPr>
        <p:txBody>
          <a:bodyPr wrap="square" lIns="0" tIns="0" rIns="0" bIns="0" rtlCol="0" anchor="ctr"/>
          <a:lstStyle/>
          <a:p>
            <a:pPr indent="0" marL="0">
              <a:buNone/>
            </a:pPr>
            <a:r>
              <a:rPr lang="en-US" sz="1600" dirty="0">
                <a:solidFill>
                  <a:srgbClr val="000000"/>
                </a:solidFill>
                <a:latin typeface="Aptos" pitchFamily="34" charset="0"/>
                <a:ea typeface="Aptos" pitchFamily="34" charset="-122"/>
                <a:cs typeface="Aptos" pitchFamily="34" charset="-120"/>
              </a:rPr>
              <a:t>WEBD 1000</a:t>
            </a:r>
            <a:endParaRPr lang="en-US" sz="1600" dirty="0"/>
          </a:p>
        </p:txBody>
      </p:sp>
      <p:sp>
        <p:nvSpPr>
          <p:cNvPr id="3" name="Shape 1"/>
          <p:cNvSpPr/>
          <p:nvPr/>
        </p:nvSpPr>
        <p:spPr>
          <a:xfrm>
            <a:off x="502920" y="1005840"/>
            <a:ext cx="5120640" cy="5120640"/>
          </a:xfrm>
          <a:prstGeom prst="ellipse">
            <a:avLst/>
          </a:prstGeom>
          <a:solidFill>
            <a:srgbClr val="E97132"/>
          </a:solidFill>
          <a:ln w="12700">
            <a:solidFill>
              <a:srgbClr val="E97132"/>
            </a:solidFill>
            <a:prstDash val="solid"/>
          </a:ln>
        </p:spPr>
      </p:sp>
      <p:sp>
        <p:nvSpPr>
          <p:cNvPr id="4" name="Text 2"/>
          <p:cNvSpPr txBox="1"/>
          <p:nvPr/>
        </p:nvSpPr>
        <p:spPr>
          <a:xfrm>
            <a:off x="1325880" y="2194560"/>
            <a:ext cx="3840480" cy="2651760"/>
          </a:xfrm>
          <a:prstGeom prst="rect">
            <a:avLst/>
          </a:prstGeom>
          <a:noFill/>
          <a:ln/>
        </p:spPr>
        <p:txBody>
          <a:bodyPr wrap="square" lIns="0" tIns="0" rIns="0" bIns="0" rtlCol="0" anchor="ctr"/>
          <a:lstStyle/>
          <a:p>
            <a:pPr indent="0" marL="0">
              <a:buNone/>
            </a:pPr>
            <a:r>
              <a:rPr lang="en-US" sz="4600" dirty="0">
                <a:solidFill>
                  <a:srgbClr val="FFFFFF"/>
                </a:solidFill>
                <a:latin typeface="Aptos" pitchFamily="34" charset="0"/>
                <a:ea typeface="Aptos" pitchFamily="34" charset="-122"/>
                <a:cs typeface="Aptos" pitchFamily="34" charset="-120"/>
              </a:rPr>
              <a:t>Usability and Design Principles</a:t>
            </a:r>
            <a:endParaRPr lang="en-US" sz="4600" dirty="0"/>
          </a:p>
        </p:txBody>
      </p:sp>
      <p:sp>
        <p:nvSpPr>
          <p:cNvPr id="5" name="Shape 3"/>
          <p:cNvSpPr/>
          <p:nvPr/>
        </p:nvSpPr>
        <p:spPr>
          <a:xfrm>
            <a:off x="914400" y="5257800"/>
            <a:ext cx="566928" cy="566928"/>
          </a:xfrm>
          <a:prstGeom prst="ellipse">
            <a:avLst/>
          </a:prstGeom>
          <a:solidFill>
            <a:srgbClr val="A02B93"/>
          </a:solidFill>
          <a:ln w="12700">
            <a:solidFill>
              <a:srgbClr val="A02B93"/>
            </a:solidFill>
            <a:prstDash val="solid"/>
          </a:ln>
        </p:spPr>
      </p:sp>
      <p:sp>
        <p:nvSpPr>
          <p:cNvPr id="6" name="Shape 4"/>
          <p:cNvSpPr/>
          <p:nvPr/>
        </p:nvSpPr>
        <p:spPr>
          <a:xfrm>
            <a:off x="8778240" y="685800"/>
            <a:ext cx="3017520" cy="3017520"/>
          </a:xfrm>
          <a:prstGeom prst="arc">
            <a:avLst>
              <a:gd name="adj1" fmla="val 12000000"/>
              <a:gd name="adj2" fmla="val 1200000"/>
            </a:avLst>
          </a:prstGeom>
          <a:noFill/>
          <a:ln w="88900">
            <a:solidFill>
              <a:srgbClr val="0F9ED5"/>
            </a:solidFill>
            <a:prstDash val="dash"/>
          </a:ln>
        </p:spPr>
      </p:sp>
      <p:sp>
        <p:nvSpPr>
          <p:cNvPr id="7" name="Text 5"/>
          <p:cNvSpPr txBox="1"/>
          <p:nvPr/>
        </p:nvSpPr>
        <p:spPr>
          <a:xfrm>
            <a:off x="6263640" y="1737360"/>
            <a:ext cx="5120640" cy="2011680"/>
          </a:xfrm>
          <a:prstGeom prst="rect">
            <a:avLst/>
          </a:prstGeom>
          <a:noFill/>
          <a:ln/>
        </p:spPr>
        <p:txBody>
          <a:bodyPr wrap="square" lIns="0" tIns="0" rIns="0" bIns="0" rtlCol="0" anchor="t"/>
          <a:lstStyle/>
          <a:p>
            <a:pPr marL="342900" indent="-342900">
              <a:buSzPct val="100000"/>
              <a:buChar char="•"/>
            </a:pPr>
            <a:r>
              <a:rPr lang="en-US" sz="3000" dirty="0">
                <a:solidFill>
                  <a:srgbClr val="000000"/>
                </a:solidFill>
                <a:latin typeface="Aptos" pitchFamily="34" charset="0"/>
                <a:ea typeface="Aptos" pitchFamily="34" charset="-122"/>
                <a:cs typeface="Aptos" pitchFamily="34" charset="-120"/>
              </a:rPr>
              <a:t>Class 6:</a:t>
            </a:r>
            <a:endParaRPr lang="en-US" sz="3000" dirty="0"/>
          </a:p>
          <a:p>
            <a:pPr lvl="1" marL="685800" indent="-342900">
              <a:spcBef>
                <a:spcPts val="600"/>
              </a:spcBef>
              <a:buSzPct val="100000"/>
              <a:buChar char="○"/>
            </a:pPr>
            <a:r>
              <a:rPr lang="en-US" sz="2600" dirty="0">
                <a:solidFill>
                  <a:srgbClr val="000000"/>
                </a:solidFill>
                <a:latin typeface="Aptos" pitchFamily="34" charset="0"/>
                <a:ea typeface="Aptos" pitchFamily="34" charset="-122"/>
                <a:cs typeface="Aptos" pitchFamily="34" charset="-120"/>
              </a:rPr>
              <a:t>Wireframes: planning a page before we build it.</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5840" y="685800"/>
            <a:ext cx="7315200" cy="822960"/>
          </a:xfrm>
          <a:prstGeom prst="rect">
            <a:avLst/>
          </a:prstGeom>
          <a:noFill/>
          <a:ln/>
        </p:spPr>
        <p:txBody>
          <a:bodyPr wrap="square" lIns="0" tIns="0" rIns="0" bIns="0" rtlCol="0" anchor="ctr"/>
          <a:lstStyle/>
          <a:p>
            <a:pPr indent="0" marL="0">
              <a:buNone/>
            </a:pPr>
            <a:r>
              <a:rPr lang="en-US" sz="4400" dirty="0">
                <a:solidFill>
                  <a:srgbClr val="000000"/>
                </a:solidFill>
                <a:latin typeface="Aptos" pitchFamily="34" charset="0"/>
                <a:ea typeface="Aptos" pitchFamily="34" charset="-122"/>
                <a:cs typeface="Aptos" pitchFamily="34" charset="-120"/>
              </a:rPr>
              <a:t>Attendance</a:t>
            </a:r>
            <a:endParaRPr lang="en-US" sz="4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Usability and Design Principles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Class 6: Class Overview</a:t>
            </a:r>
            <a:endParaRPr lang="en-US" sz="2800" dirty="0"/>
          </a:p>
        </p:txBody>
      </p:sp>
      <p:sp>
        <p:nvSpPr>
          <p:cNvPr id="7" name="Text 4"/>
          <p:cNvSpPr txBox="1"/>
          <p:nvPr/>
        </p:nvSpPr>
        <p:spPr>
          <a:xfrm>
            <a:off x="4754880" y="1783080"/>
            <a:ext cx="6903720" cy="4389120"/>
          </a:xfrm>
          <a:prstGeom prst="rect">
            <a:avLst/>
          </a:prstGeom>
          <a:noFill/>
          <a:ln/>
        </p:spPr>
        <p:txBody>
          <a:bodyPr wrap="square" lIns="0" tIns="0" rIns="0" bIns="0" rtlCol="0" anchor="t"/>
          <a:lstStyle/>
          <a:p>
            <a:pPr marL="342900" indent="-342900">
              <a:buSzPct val="100000"/>
              <a:buChar char="•"/>
            </a:pPr>
            <a:r>
              <a:rPr lang="en-US" sz="2200" b="1" dirty="0">
                <a:solidFill>
                  <a:srgbClr val="000000"/>
                </a:solidFill>
                <a:latin typeface="Aptos" pitchFamily="34" charset="0"/>
                <a:ea typeface="Aptos" pitchFamily="34" charset="-122"/>
                <a:cs typeface="Aptos" pitchFamily="34" charset="-120"/>
              </a:rPr>
              <a:t>Title: </a:t>
            </a:r>
            <a:pPr indent="0" marL="0">
              <a:buNone/>
            </a:pPr>
            <a:r>
              <a:rPr lang="en-US" sz="2200" dirty="0">
                <a:solidFill>
                  <a:srgbClr val="000000"/>
                </a:solidFill>
                <a:latin typeface="Aptos" pitchFamily="34" charset="0"/>
                <a:ea typeface="Aptos" pitchFamily="34" charset="-122"/>
                <a:cs typeface="Aptos" pitchFamily="34" charset="-120"/>
              </a:rPr>
              <a:t>Wireframes with draw.io</a:t>
            </a:r>
            <a:endParaRPr lang="en-US" sz="2200" dirty="0"/>
          </a:p>
          <a:p>
            <a:pPr indent="0" marL="0">
              <a:buNone/>
            </a:pPr>
            <a:r>
              <a:rPr lang="en-US" sz="1000" dirty="0">
                <a:solidFill>
                  <a:srgbClr val="000000"/>
                </a:solidFill>
                <a:latin typeface="Aptos" pitchFamily="34" charset="0"/>
                <a:ea typeface="Aptos" pitchFamily="34" charset="-122"/>
                <a:cs typeface="Aptos" pitchFamily="34" charset="-120"/>
              </a:rPr>
              <a:t> </a:t>
            </a:r>
            <a:endParaRPr lang="en-US" sz="2200" dirty="0"/>
          </a:p>
          <a:p>
            <a:pPr marL="342900" indent="-342900">
              <a:buSzPct val="100000"/>
              <a:buChar char="•"/>
            </a:pPr>
            <a:r>
              <a:rPr lang="en-US" sz="2200" b="1" dirty="0">
                <a:solidFill>
                  <a:srgbClr val="000000"/>
                </a:solidFill>
                <a:latin typeface="Aptos" pitchFamily="34" charset="0"/>
                <a:ea typeface="Aptos" pitchFamily="34" charset="-122"/>
                <a:cs typeface="Aptos" pitchFamily="34" charset="-120"/>
              </a:rPr>
              <a:t>Agenda:</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What a wireframe is, and why we make one first</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The low-fi toolkit, and turning user stories into boxes</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Guided example: Harbourside Fish &amp; Chips (desktop + mobile)</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Your turn: wireframe a page of your own</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Share on Teams and give feedback</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Usability and Design Principles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What Is a Wireframe?</a:t>
            </a:r>
            <a:endParaRPr lang="en-US" sz="2800" dirty="0"/>
          </a:p>
        </p:txBody>
      </p:sp>
      <p:sp>
        <p:nvSpPr>
          <p:cNvPr id="7" name="Text 4"/>
          <p:cNvSpPr txBox="1"/>
          <p:nvPr/>
        </p:nvSpPr>
        <p:spPr>
          <a:xfrm>
            <a:off x="4754880" y="1691640"/>
            <a:ext cx="6903720" cy="731520"/>
          </a:xfrm>
          <a:prstGeom prst="rect">
            <a:avLst/>
          </a:prstGeom>
          <a:noFill/>
          <a:ln/>
        </p:spPr>
        <p:txBody>
          <a:bodyPr wrap="square" lIns="0" tIns="0" rIns="0" bIns="0" rtlCol="0" anchor="t"/>
          <a:lstStyle/>
          <a:p>
            <a:pPr indent="0" marL="0">
              <a:buNone/>
            </a:pPr>
            <a:r>
              <a:rPr lang="en-US" sz="1700" dirty="0">
                <a:solidFill>
                  <a:srgbClr val="000000"/>
                </a:solidFill>
                <a:latin typeface="Aptos" pitchFamily="34" charset="0"/>
                <a:ea typeface="Aptos" pitchFamily="34" charset="-122"/>
                <a:cs typeface="Aptos" pitchFamily="34" charset="-120"/>
              </a:rPr>
              <a:t>​</a:t>
            </a:r>
            <a:pPr indent="0" marL="0">
              <a:buNone/>
            </a:pPr>
            <a:r>
              <a:rPr lang="en-US" sz="1700" dirty="0">
                <a:solidFill>
                  <a:srgbClr val="000000"/>
                </a:solidFill>
                <a:latin typeface="Aptos" pitchFamily="34" charset="0"/>
                <a:ea typeface="Aptos" pitchFamily="34" charset="-122"/>
                <a:cs typeface="Aptos" pitchFamily="34" charset="-120"/>
              </a:rPr>
              <a:t>A wireframe is a simple plan of a web page. It shows </a:t>
            </a:r>
            <a:pPr indent="0" marL="0">
              <a:buNone/>
            </a:pPr>
            <a:r>
              <a:rPr lang="en-US" sz="1700" b="1" dirty="0">
                <a:solidFill>
                  <a:srgbClr val="000000"/>
                </a:solidFill>
                <a:latin typeface="Aptos" pitchFamily="34" charset="0"/>
                <a:ea typeface="Aptos" pitchFamily="34" charset="-122"/>
                <a:cs typeface="Aptos" pitchFamily="34" charset="-120"/>
              </a:rPr>
              <a:t>what goes where</a:t>
            </a:r>
            <a:pPr indent="0" marL="0">
              <a:buNone/>
            </a:pPr>
            <a:r>
              <a:rPr lang="en-US" sz="1700" dirty="0">
                <a:solidFill>
                  <a:srgbClr val="000000"/>
                </a:solidFill>
                <a:latin typeface="Aptos" pitchFamily="34" charset="0"/>
                <a:ea typeface="Aptos" pitchFamily="34" charset="-122"/>
                <a:cs typeface="Aptos" pitchFamily="34" charset="-120"/>
              </a:rPr>
              <a:t>, and nothing about how it looks.</a:t>
            </a:r>
            <a:endParaRPr lang="en-US" sz="1700" dirty="0"/>
          </a:p>
        </p:txBody>
      </p:sp>
      <p:sp>
        <p:nvSpPr>
          <p:cNvPr id="8" name="Shape 5"/>
          <p:cNvSpPr/>
          <p:nvPr/>
        </p:nvSpPr>
        <p:spPr>
          <a:xfrm>
            <a:off x="4754880" y="2606040"/>
            <a:ext cx="1554480" cy="2514600"/>
          </a:xfrm>
          <a:prstGeom prst="roundRect">
            <a:avLst>
              <a:gd name="adj" fmla="val 705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9" name="Shape 6"/>
          <p:cNvSpPr/>
          <p:nvPr/>
        </p:nvSpPr>
        <p:spPr>
          <a:xfrm>
            <a:off x="4892040" y="2788920"/>
            <a:ext cx="1280160" cy="868680"/>
          </a:xfrm>
          <a:prstGeom prst="rect">
            <a:avLst/>
          </a:prstGeom>
          <a:ln w="15875">
            <a:solidFill>
              <a:srgbClr val="7F7F7F"/>
            </a:solidFill>
            <a:prstDash val="sysDash"/>
          </a:ln>
        </p:spPr>
      </p:sp>
      <p:sp>
        <p:nvSpPr>
          <p:cNvPr id="10" name="Shape 7"/>
          <p:cNvSpPr/>
          <p:nvPr/>
        </p:nvSpPr>
        <p:spPr>
          <a:xfrm>
            <a:off x="4983480" y="2971800"/>
            <a:ext cx="1097280" cy="36576"/>
          </a:xfrm>
          <a:prstGeom prst="line">
            <a:avLst/>
          </a:prstGeom>
          <a:noFill/>
          <a:ln w="15875">
            <a:solidFill>
              <a:srgbClr val="7F7F7F"/>
            </a:solidFill>
            <a:prstDash val="solid"/>
          </a:ln>
        </p:spPr>
      </p:sp>
      <p:sp>
        <p:nvSpPr>
          <p:cNvPr id="11" name="Shape 8"/>
          <p:cNvSpPr/>
          <p:nvPr/>
        </p:nvSpPr>
        <p:spPr>
          <a:xfrm>
            <a:off x="5001768" y="3154680"/>
            <a:ext cx="411480" cy="365760"/>
          </a:xfrm>
          <a:prstGeom prst="ellipse">
            <a:avLst/>
          </a:prstGeom>
          <a:ln w="15875">
            <a:solidFill>
              <a:srgbClr val="7F7F7F"/>
            </a:solidFill>
            <a:prstDash val="solid"/>
          </a:ln>
        </p:spPr>
      </p:sp>
      <p:sp>
        <p:nvSpPr>
          <p:cNvPr id="12" name="Shape 9"/>
          <p:cNvSpPr/>
          <p:nvPr/>
        </p:nvSpPr>
        <p:spPr>
          <a:xfrm>
            <a:off x="5532120" y="3246120"/>
            <a:ext cx="502920" cy="27432"/>
          </a:xfrm>
          <a:prstGeom prst="line">
            <a:avLst/>
          </a:prstGeom>
          <a:noFill/>
          <a:ln w="15875">
            <a:solidFill>
              <a:srgbClr val="7F7F7F"/>
            </a:solidFill>
            <a:prstDash val="solid"/>
          </a:ln>
        </p:spPr>
      </p:sp>
      <p:sp>
        <p:nvSpPr>
          <p:cNvPr id="13" name="Shape 10"/>
          <p:cNvSpPr/>
          <p:nvPr/>
        </p:nvSpPr>
        <p:spPr>
          <a:xfrm flipV="1">
            <a:off x="5532120" y="3410712"/>
            <a:ext cx="365760" cy="18288"/>
          </a:xfrm>
          <a:prstGeom prst="line">
            <a:avLst/>
          </a:prstGeom>
          <a:noFill/>
          <a:ln w="15875">
            <a:solidFill>
              <a:srgbClr val="7F7F7F"/>
            </a:solidFill>
            <a:prstDash val="solid"/>
          </a:ln>
        </p:spPr>
      </p:sp>
      <p:sp>
        <p:nvSpPr>
          <p:cNvPr id="14" name="Text 11"/>
          <p:cNvSpPr txBox="1"/>
          <p:nvPr/>
        </p:nvSpPr>
        <p:spPr>
          <a:xfrm>
            <a:off x="4892040" y="3794760"/>
            <a:ext cx="1280160" cy="36576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Sketch</a:t>
            </a:r>
            <a:endParaRPr lang="en-US" sz="1600" dirty="0"/>
          </a:p>
        </p:txBody>
      </p:sp>
      <p:sp>
        <p:nvSpPr>
          <p:cNvPr id="15" name="Text 12"/>
          <p:cNvSpPr txBox="1"/>
          <p:nvPr/>
        </p:nvSpPr>
        <p:spPr>
          <a:xfrm>
            <a:off x="4892040" y="4178808"/>
            <a:ext cx="1280160" cy="822960"/>
          </a:xfrm>
          <a:prstGeom prst="rect">
            <a:avLst/>
          </a:prstGeom>
          <a:noFill/>
          <a:ln/>
        </p:spPr>
        <p:txBody>
          <a:bodyPr wrap="square" lIns="0" tIns="0" rIns="0" bIns="0" rtlCol="0" anchor="t"/>
          <a:lstStyle/>
          <a:p>
            <a:pPr indent="0" marL="0">
              <a:buNone/>
            </a:pPr>
            <a:r>
              <a:rPr lang="en-US" sz="1250" dirty="0">
                <a:solidFill>
                  <a:srgbClr val="595959"/>
                </a:solidFill>
                <a:latin typeface="Aptos" pitchFamily="34" charset="0"/>
                <a:ea typeface="Aptos" pitchFamily="34" charset="-122"/>
                <a:cs typeface="Aptos" pitchFamily="34" charset="-120"/>
              </a:rPr>
              <a:t>Paper or whiteboard. Fast and messy.</a:t>
            </a:r>
            <a:endParaRPr lang="en-US" sz="1250" dirty="0"/>
          </a:p>
        </p:txBody>
      </p:sp>
      <p:sp>
        <p:nvSpPr>
          <p:cNvPr id="16" name="Shape 13"/>
          <p:cNvSpPr/>
          <p:nvPr/>
        </p:nvSpPr>
        <p:spPr>
          <a:xfrm>
            <a:off x="6537960" y="2606040"/>
            <a:ext cx="1554480" cy="2514600"/>
          </a:xfrm>
          <a:prstGeom prst="roundRect">
            <a:avLst>
              <a:gd name="adj" fmla="val 7059"/>
            </a:avLst>
          </a:prstGeom>
          <a:solidFill>
            <a:srgbClr val="FFFFFF"/>
          </a:solidFill>
          <a:ln w="31750">
            <a:solidFill>
              <a:srgbClr val="E97132"/>
            </a:solidFill>
            <a:prstDash val="solid"/>
          </a:ln>
          <a:effectLst>
            <a:outerShdw sx="100000" sy="100000" kx="0" ky="0" algn="bl" rotWithShape="0" blurRad="76200" dist="25400" dir="5400000">
              <a:srgbClr val="000000">
                <a:alpha val="12000"/>
              </a:srgbClr>
            </a:outerShdw>
          </a:effectLst>
        </p:spPr>
      </p:sp>
      <p:sp>
        <p:nvSpPr>
          <p:cNvPr id="17" name="Shape 14"/>
          <p:cNvSpPr/>
          <p:nvPr/>
        </p:nvSpPr>
        <p:spPr>
          <a:xfrm>
            <a:off x="6675120" y="2788920"/>
            <a:ext cx="1280160" cy="868680"/>
          </a:xfrm>
          <a:prstGeom prst="rect">
            <a:avLst/>
          </a:prstGeom>
          <a:solidFill>
            <a:srgbClr val="FFFFFF"/>
          </a:solidFill>
          <a:ln w="12700">
            <a:solidFill>
              <a:srgbClr val="777777"/>
            </a:solidFill>
            <a:prstDash val="solid"/>
          </a:ln>
        </p:spPr>
      </p:sp>
      <p:sp>
        <p:nvSpPr>
          <p:cNvPr id="18" name="Shape 15"/>
          <p:cNvSpPr/>
          <p:nvPr/>
        </p:nvSpPr>
        <p:spPr>
          <a:xfrm>
            <a:off x="6675120" y="2788920"/>
            <a:ext cx="1280160" cy="164592"/>
          </a:xfrm>
          <a:prstGeom prst="rect">
            <a:avLst/>
          </a:prstGeom>
          <a:solidFill>
            <a:srgbClr val="EEEEEE"/>
          </a:solidFill>
          <a:ln w="12700">
            <a:solidFill>
              <a:srgbClr val="777777"/>
            </a:solidFill>
            <a:prstDash val="solid"/>
          </a:ln>
        </p:spPr>
      </p:sp>
      <p:sp>
        <p:nvSpPr>
          <p:cNvPr id="19" name="Shape 16"/>
          <p:cNvSpPr/>
          <p:nvPr/>
        </p:nvSpPr>
        <p:spPr>
          <a:xfrm>
            <a:off x="6766560" y="3063240"/>
            <a:ext cx="457200" cy="457200"/>
          </a:xfrm>
          <a:prstGeom prst="rect">
            <a:avLst/>
          </a:prstGeom>
          <a:solidFill>
            <a:srgbClr val="FFFFFF"/>
          </a:solidFill>
          <a:ln w="9525">
            <a:solidFill>
              <a:srgbClr val="999999"/>
            </a:solidFill>
            <a:prstDash val="solid"/>
          </a:ln>
        </p:spPr>
      </p:sp>
      <p:sp>
        <p:nvSpPr>
          <p:cNvPr id="20" name="Shape 17"/>
          <p:cNvSpPr/>
          <p:nvPr/>
        </p:nvSpPr>
        <p:spPr>
          <a:xfrm>
            <a:off x="6766560" y="3063240"/>
            <a:ext cx="457200" cy="457200"/>
          </a:xfrm>
          <a:prstGeom prst="line">
            <a:avLst/>
          </a:prstGeom>
          <a:noFill/>
          <a:ln w="9525">
            <a:solidFill>
              <a:srgbClr val="999999"/>
            </a:solidFill>
            <a:prstDash val="solid"/>
          </a:ln>
        </p:spPr>
      </p:sp>
      <p:sp>
        <p:nvSpPr>
          <p:cNvPr id="21" name="Shape 18"/>
          <p:cNvSpPr/>
          <p:nvPr/>
        </p:nvSpPr>
        <p:spPr>
          <a:xfrm flipV="1">
            <a:off x="6766560" y="3063240"/>
            <a:ext cx="457200" cy="457200"/>
          </a:xfrm>
          <a:prstGeom prst="line">
            <a:avLst/>
          </a:prstGeom>
          <a:noFill/>
          <a:ln w="9525">
            <a:solidFill>
              <a:srgbClr val="999999"/>
            </a:solidFill>
            <a:prstDash val="solid"/>
          </a:ln>
        </p:spPr>
      </p:sp>
      <p:sp>
        <p:nvSpPr>
          <p:cNvPr id="22" name="Shape 19"/>
          <p:cNvSpPr/>
          <p:nvPr/>
        </p:nvSpPr>
        <p:spPr>
          <a:xfrm>
            <a:off x="7315200" y="3090672"/>
            <a:ext cx="502920" cy="54864"/>
          </a:xfrm>
          <a:prstGeom prst="rect">
            <a:avLst/>
          </a:prstGeom>
          <a:solidFill>
            <a:srgbClr val="DDDDDD"/>
          </a:solidFill>
          <a:ln/>
        </p:spPr>
      </p:sp>
      <p:sp>
        <p:nvSpPr>
          <p:cNvPr id="23" name="Shape 20"/>
          <p:cNvSpPr/>
          <p:nvPr/>
        </p:nvSpPr>
        <p:spPr>
          <a:xfrm>
            <a:off x="7315200" y="3209544"/>
            <a:ext cx="365760" cy="54864"/>
          </a:xfrm>
          <a:prstGeom prst="rect">
            <a:avLst/>
          </a:prstGeom>
          <a:solidFill>
            <a:srgbClr val="DDDDDD"/>
          </a:solidFill>
          <a:ln/>
        </p:spPr>
      </p:sp>
      <p:sp>
        <p:nvSpPr>
          <p:cNvPr id="24" name="Shape 21"/>
          <p:cNvSpPr/>
          <p:nvPr/>
        </p:nvSpPr>
        <p:spPr>
          <a:xfrm>
            <a:off x="7315200" y="3355848"/>
            <a:ext cx="457200" cy="164592"/>
          </a:xfrm>
          <a:prstGeom prst="roundRect">
            <a:avLst>
              <a:gd name="adj" fmla="val 22222"/>
            </a:avLst>
          </a:prstGeom>
          <a:solidFill>
            <a:srgbClr val="555555"/>
          </a:solidFill>
          <a:ln/>
        </p:spPr>
      </p:sp>
      <p:sp>
        <p:nvSpPr>
          <p:cNvPr id="25" name="Text 22"/>
          <p:cNvSpPr txBox="1"/>
          <p:nvPr/>
        </p:nvSpPr>
        <p:spPr>
          <a:xfrm>
            <a:off x="6675120" y="3794760"/>
            <a:ext cx="1280160" cy="36576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Wireframe</a:t>
            </a:r>
            <a:endParaRPr lang="en-US" sz="1600" dirty="0"/>
          </a:p>
        </p:txBody>
      </p:sp>
      <p:sp>
        <p:nvSpPr>
          <p:cNvPr id="26" name="Text 23"/>
          <p:cNvSpPr txBox="1"/>
          <p:nvPr/>
        </p:nvSpPr>
        <p:spPr>
          <a:xfrm>
            <a:off x="6675120" y="4178808"/>
            <a:ext cx="1280160" cy="822960"/>
          </a:xfrm>
          <a:prstGeom prst="rect">
            <a:avLst/>
          </a:prstGeom>
          <a:noFill/>
          <a:ln/>
        </p:spPr>
        <p:txBody>
          <a:bodyPr wrap="square" lIns="0" tIns="0" rIns="0" bIns="0" rtlCol="0" anchor="t"/>
          <a:lstStyle/>
          <a:p>
            <a:pPr indent="0" marL="0">
              <a:buNone/>
            </a:pPr>
            <a:r>
              <a:rPr lang="en-US" sz="1250" dirty="0">
                <a:solidFill>
                  <a:srgbClr val="595959"/>
                </a:solidFill>
                <a:latin typeface="Aptos" pitchFamily="34" charset="0"/>
                <a:ea typeface="Aptos" pitchFamily="34" charset="-122"/>
                <a:cs typeface="Aptos" pitchFamily="34" charset="-120"/>
              </a:rPr>
              <a:t>Tidy boxes and labels. No colour.</a:t>
            </a:r>
            <a:endParaRPr lang="en-US" sz="1250" dirty="0"/>
          </a:p>
        </p:txBody>
      </p:sp>
      <p:sp>
        <p:nvSpPr>
          <p:cNvPr id="27" name="Shape 24"/>
          <p:cNvSpPr/>
          <p:nvPr/>
        </p:nvSpPr>
        <p:spPr>
          <a:xfrm>
            <a:off x="6903720" y="2450592"/>
            <a:ext cx="822960" cy="310896"/>
          </a:xfrm>
          <a:prstGeom prst="roundRect">
            <a:avLst>
              <a:gd name="adj" fmla="val 50000"/>
            </a:avLst>
          </a:prstGeom>
          <a:solidFill>
            <a:srgbClr val="E97132"/>
          </a:solidFill>
          <a:ln w="12700">
            <a:solidFill>
              <a:srgbClr val="E97132"/>
            </a:solidFill>
            <a:prstDash val="solid"/>
          </a:ln>
        </p:spPr>
      </p:sp>
      <p:sp>
        <p:nvSpPr>
          <p:cNvPr id="28" name="Text 25"/>
          <p:cNvSpPr txBox="1"/>
          <p:nvPr/>
        </p:nvSpPr>
        <p:spPr>
          <a:xfrm>
            <a:off x="6903720" y="2450592"/>
            <a:ext cx="82296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ptos" pitchFamily="34" charset="0"/>
                <a:ea typeface="Aptos" pitchFamily="34" charset="-122"/>
                <a:cs typeface="Aptos" pitchFamily="34" charset="-120"/>
              </a:rPr>
              <a:t>TODAY</a:t>
            </a:r>
            <a:endParaRPr lang="en-US" sz="1100" dirty="0"/>
          </a:p>
        </p:txBody>
      </p:sp>
      <p:sp>
        <p:nvSpPr>
          <p:cNvPr id="29" name="Shape 26"/>
          <p:cNvSpPr/>
          <p:nvPr/>
        </p:nvSpPr>
        <p:spPr>
          <a:xfrm>
            <a:off x="8321040" y="2606040"/>
            <a:ext cx="1554480" cy="2514600"/>
          </a:xfrm>
          <a:prstGeom prst="roundRect">
            <a:avLst>
              <a:gd name="adj" fmla="val 705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30" name="Shape 27"/>
          <p:cNvSpPr/>
          <p:nvPr/>
        </p:nvSpPr>
        <p:spPr>
          <a:xfrm>
            <a:off x="8458200" y="2788920"/>
            <a:ext cx="1280160" cy="868680"/>
          </a:xfrm>
          <a:prstGeom prst="rect">
            <a:avLst/>
          </a:prstGeom>
          <a:solidFill>
            <a:srgbClr val="FFF7F2"/>
          </a:solidFill>
          <a:ln w="12700">
            <a:solidFill>
              <a:srgbClr val="777777"/>
            </a:solidFill>
            <a:prstDash val="solid"/>
          </a:ln>
        </p:spPr>
      </p:sp>
      <p:sp>
        <p:nvSpPr>
          <p:cNvPr id="31" name="Shape 28"/>
          <p:cNvSpPr/>
          <p:nvPr/>
        </p:nvSpPr>
        <p:spPr>
          <a:xfrm>
            <a:off x="8458200" y="2788920"/>
            <a:ext cx="1280160" cy="164592"/>
          </a:xfrm>
          <a:prstGeom prst="rect">
            <a:avLst/>
          </a:prstGeom>
          <a:solidFill>
            <a:srgbClr val="1B5E82"/>
          </a:solidFill>
          <a:ln w="12700">
            <a:solidFill>
              <a:srgbClr val="777777"/>
            </a:solidFill>
            <a:prstDash val="solid"/>
          </a:ln>
        </p:spPr>
      </p:sp>
      <p:sp>
        <p:nvSpPr>
          <p:cNvPr id="32" name="Shape 29"/>
          <p:cNvSpPr/>
          <p:nvPr/>
        </p:nvSpPr>
        <p:spPr>
          <a:xfrm>
            <a:off x="8549640" y="3063240"/>
            <a:ext cx="457200" cy="457200"/>
          </a:xfrm>
          <a:prstGeom prst="rect">
            <a:avLst/>
          </a:prstGeom>
          <a:solidFill>
            <a:srgbClr val="F2C6AC"/>
          </a:solidFill>
          <a:ln w="9525">
            <a:solidFill>
              <a:srgbClr val="1B5E82"/>
            </a:solidFill>
            <a:prstDash val="solid"/>
          </a:ln>
        </p:spPr>
      </p:sp>
      <p:sp>
        <p:nvSpPr>
          <p:cNvPr id="33" name="Shape 30"/>
          <p:cNvSpPr/>
          <p:nvPr/>
        </p:nvSpPr>
        <p:spPr>
          <a:xfrm>
            <a:off x="9098280" y="3090672"/>
            <a:ext cx="502920" cy="54864"/>
          </a:xfrm>
          <a:prstGeom prst="rect">
            <a:avLst/>
          </a:prstGeom>
          <a:solidFill>
            <a:srgbClr val="F2C6AC"/>
          </a:solidFill>
          <a:ln/>
        </p:spPr>
      </p:sp>
      <p:sp>
        <p:nvSpPr>
          <p:cNvPr id="34" name="Shape 31"/>
          <p:cNvSpPr/>
          <p:nvPr/>
        </p:nvSpPr>
        <p:spPr>
          <a:xfrm>
            <a:off x="9098280" y="3209544"/>
            <a:ext cx="365760" cy="54864"/>
          </a:xfrm>
          <a:prstGeom prst="rect">
            <a:avLst/>
          </a:prstGeom>
          <a:solidFill>
            <a:srgbClr val="F2C6AC"/>
          </a:solidFill>
          <a:ln/>
        </p:spPr>
      </p:sp>
      <p:sp>
        <p:nvSpPr>
          <p:cNvPr id="35" name="Shape 32"/>
          <p:cNvSpPr/>
          <p:nvPr/>
        </p:nvSpPr>
        <p:spPr>
          <a:xfrm>
            <a:off x="9098280" y="3355848"/>
            <a:ext cx="457200" cy="164592"/>
          </a:xfrm>
          <a:prstGeom prst="roundRect">
            <a:avLst>
              <a:gd name="adj" fmla="val 22222"/>
            </a:avLst>
          </a:prstGeom>
          <a:solidFill>
            <a:srgbClr val="E97132"/>
          </a:solidFill>
          <a:ln/>
        </p:spPr>
      </p:sp>
      <p:sp>
        <p:nvSpPr>
          <p:cNvPr id="36" name="Text 33"/>
          <p:cNvSpPr txBox="1"/>
          <p:nvPr/>
        </p:nvSpPr>
        <p:spPr>
          <a:xfrm>
            <a:off x="8458200" y="3794760"/>
            <a:ext cx="1280160" cy="36576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Mockup</a:t>
            </a:r>
            <a:endParaRPr lang="en-US" sz="1600" dirty="0"/>
          </a:p>
        </p:txBody>
      </p:sp>
      <p:sp>
        <p:nvSpPr>
          <p:cNvPr id="37" name="Text 34"/>
          <p:cNvSpPr txBox="1"/>
          <p:nvPr/>
        </p:nvSpPr>
        <p:spPr>
          <a:xfrm>
            <a:off x="8458200" y="4178808"/>
            <a:ext cx="1280160" cy="822960"/>
          </a:xfrm>
          <a:prstGeom prst="rect">
            <a:avLst/>
          </a:prstGeom>
          <a:noFill/>
          <a:ln/>
        </p:spPr>
        <p:txBody>
          <a:bodyPr wrap="square" lIns="0" tIns="0" rIns="0" bIns="0" rtlCol="0" anchor="t"/>
          <a:lstStyle/>
          <a:p>
            <a:pPr indent="0" marL="0">
              <a:buNone/>
            </a:pPr>
            <a:r>
              <a:rPr lang="en-US" sz="1250" dirty="0">
                <a:solidFill>
                  <a:srgbClr val="595959"/>
                </a:solidFill>
                <a:latin typeface="Aptos" pitchFamily="34" charset="0"/>
                <a:ea typeface="Aptos" pitchFamily="34" charset="-122"/>
                <a:cs typeface="Aptos" pitchFamily="34" charset="-120"/>
              </a:rPr>
              <a:t>Real colours, fonts and images.</a:t>
            </a:r>
            <a:endParaRPr lang="en-US" sz="1250" dirty="0"/>
          </a:p>
        </p:txBody>
      </p:sp>
      <p:sp>
        <p:nvSpPr>
          <p:cNvPr id="38" name="Shape 35"/>
          <p:cNvSpPr/>
          <p:nvPr/>
        </p:nvSpPr>
        <p:spPr>
          <a:xfrm>
            <a:off x="10104120" y="2606040"/>
            <a:ext cx="1554480" cy="2514600"/>
          </a:xfrm>
          <a:prstGeom prst="roundRect">
            <a:avLst>
              <a:gd name="adj" fmla="val 705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39" name="Shape 36"/>
          <p:cNvSpPr/>
          <p:nvPr/>
        </p:nvSpPr>
        <p:spPr>
          <a:xfrm>
            <a:off x="10241280" y="2788920"/>
            <a:ext cx="1280160" cy="868680"/>
          </a:xfrm>
          <a:prstGeom prst="rect">
            <a:avLst/>
          </a:prstGeom>
          <a:solidFill>
            <a:srgbClr val="FFF7F2"/>
          </a:solidFill>
          <a:ln w="12700">
            <a:solidFill>
              <a:srgbClr val="777777"/>
            </a:solidFill>
            <a:prstDash val="solid"/>
          </a:ln>
        </p:spPr>
      </p:sp>
      <p:sp>
        <p:nvSpPr>
          <p:cNvPr id="40" name="Shape 37"/>
          <p:cNvSpPr/>
          <p:nvPr/>
        </p:nvSpPr>
        <p:spPr>
          <a:xfrm>
            <a:off x="10241280" y="2788920"/>
            <a:ext cx="1280160" cy="164592"/>
          </a:xfrm>
          <a:prstGeom prst="rect">
            <a:avLst/>
          </a:prstGeom>
          <a:solidFill>
            <a:srgbClr val="1B5E82"/>
          </a:solidFill>
          <a:ln w="12700">
            <a:solidFill>
              <a:srgbClr val="777777"/>
            </a:solidFill>
            <a:prstDash val="solid"/>
          </a:ln>
        </p:spPr>
      </p:sp>
      <p:sp>
        <p:nvSpPr>
          <p:cNvPr id="41" name="Shape 38"/>
          <p:cNvSpPr/>
          <p:nvPr/>
        </p:nvSpPr>
        <p:spPr>
          <a:xfrm>
            <a:off x="10332720" y="3063240"/>
            <a:ext cx="457200" cy="457200"/>
          </a:xfrm>
          <a:prstGeom prst="rect">
            <a:avLst/>
          </a:prstGeom>
          <a:solidFill>
            <a:srgbClr val="F2C6AC"/>
          </a:solidFill>
          <a:ln w="9525">
            <a:solidFill>
              <a:srgbClr val="1B5E82"/>
            </a:solidFill>
            <a:prstDash val="solid"/>
          </a:ln>
        </p:spPr>
      </p:sp>
      <p:sp>
        <p:nvSpPr>
          <p:cNvPr id="42" name="Shape 39"/>
          <p:cNvSpPr/>
          <p:nvPr/>
        </p:nvSpPr>
        <p:spPr>
          <a:xfrm>
            <a:off x="10881360" y="3090672"/>
            <a:ext cx="502920" cy="54864"/>
          </a:xfrm>
          <a:prstGeom prst="rect">
            <a:avLst/>
          </a:prstGeom>
          <a:solidFill>
            <a:srgbClr val="F2C6AC"/>
          </a:solidFill>
          <a:ln/>
        </p:spPr>
      </p:sp>
      <p:sp>
        <p:nvSpPr>
          <p:cNvPr id="43" name="Shape 40"/>
          <p:cNvSpPr/>
          <p:nvPr/>
        </p:nvSpPr>
        <p:spPr>
          <a:xfrm>
            <a:off x="10881360" y="3209544"/>
            <a:ext cx="365760" cy="54864"/>
          </a:xfrm>
          <a:prstGeom prst="rect">
            <a:avLst/>
          </a:prstGeom>
          <a:solidFill>
            <a:srgbClr val="F2C6AC"/>
          </a:solidFill>
          <a:ln/>
        </p:spPr>
      </p:sp>
      <p:sp>
        <p:nvSpPr>
          <p:cNvPr id="44" name="Shape 41"/>
          <p:cNvSpPr/>
          <p:nvPr/>
        </p:nvSpPr>
        <p:spPr>
          <a:xfrm>
            <a:off x="10881360" y="3355848"/>
            <a:ext cx="457200" cy="164592"/>
          </a:xfrm>
          <a:prstGeom prst="roundRect">
            <a:avLst>
              <a:gd name="adj" fmla="val 22222"/>
            </a:avLst>
          </a:prstGeom>
          <a:solidFill>
            <a:srgbClr val="E97132"/>
          </a:solidFill>
          <a:ln/>
        </p:spPr>
      </p:sp>
      <p:sp>
        <p:nvSpPr>
          <p:cNvPr id="45" name="Text 42"/>
          <p:cNvSpPr txBox="1"/>
          <p:nvPr/>
        </p:nvSpPr>
        <p:spPr>
          <a:xfrm>
            <a:off x="11173968" y="3319272"/>
            <a:ext cx="320040" cy="320040"/>
          </a:xfrm>
          <a:prstGeom prst="rect">
            <a:avLst/>
          </a:prstGeom>
          <a:noFill/>
          <a:ln/>
        </p:spPr>
        <p:txBody>
          <a:bodyPr wrap="square" lIns="0" tIns="0" rIns="0" bIns="0" rtlCol="0" anchor="ctr"/>
          <a:lstStyle/>
          <a:p>
            <a:pP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46" name="Text 43"/>
          <p:cNvSpPr txBox="1"/>
          <p:nvPr/>
        </p:nvSpPr>
        <p:spPr>
          <a:xfrm>
            <a:off x="10241280" y="3794760"/>
            <a:ext cx="1280160" cy="36576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Prototype</a:t>
            </a:r>
            <a:endParaRPr lang="en-US" sz="1600" dirty="0"/>
          </a:p>
        </p:txBody>
      </p:sp>
      <p:sp>
        <p:nvSpPr>
          <p:cNvPr id="47" name="Text 44"/>
          <p:cNvSpPr txBox="1"/>
          <p:nvPr/>
        </p:nvSpPr>
        <p:spPr>
          <a:xfrm>
            <a:off x="10241280" y="4178808"/>
            <a:ext cx="1280160" cy="822960"/>
          </a:xfrm>
          <a:prstGeom prst="rect">
            <a:avLst/>
          </a:prstGeom>
          <a:noFill/>
          <a:ln/>
        </p:spPr>
        <p:txBody>
          <a:bodyPr wrap="square" lIns="0" tIns="0" rIns="0" bIns="0" rtlCol="0" anchor="t"/>
          <a:lstStyle/>
          <a:p>
            <a:pPr indent="0" marL="0">
              <a:buNone/>
            </a:pPr>
            <a:r>
              <a:rPr lang="en-US" sz="1250" dirty="0">
                <a:solidFill>
                  <a:srgbClr val="595959"/>
                </a:solidFill>
                <a:latin typeface="Aptos" pitchFamily="34" charset="0"/>
                <a:ea typeface="Aptos" pitchFamily="34" charset="-122"/>
                <a:cs typeface="Aptos" pitchFamily="34" charset="-120"/>
              </a:rPr>
              <a:t>Clickable. Feels like the real site.</a:t>
            </a:r>
            <a:endParaRPr lang="en-US" sz="1250" dirty="0"/>
          </a:p>
        </p:txBody>
      </p:sp>
      <p:sp>
        <p:nvSpPr>
          <p:cNvPr id="48" name="Shape 45"/>
          <p:cNvSpPr/>
          <p:nvPr/>
        </p:nvSpPr>
        <p:spPr>
          <a:xfrm>
            <a:off x="4846320" y="5440680"/>
            <a:ext cx="6720840" cy="0"/>
          </a:xfrm>
          <a:prstGeom prst="line">
            <a:avLst/>
          </a:prstGeom>
          <a:noFill/>
          <a:ln w="19050">
            <a:solidFill>
              <a:srgbClr val="7F7F7F"/>
            </a:solidFill>
            <a:prstDash val="solid"/>
            <a:headEnd type="triangle"/>
            <a:tailEnd type="triangle"/>
          </a:ln>
        </p:spPr>
      </p:sp>
      <p:sp>
        <p:nvSpPr>
          <p:cNvPr id="49" name="Text 46"/>
          <p:cNvSpPr txBox="1"/>
          <p:nvPr/>
        </p:nvSpPr>
        <p:spPr>
          <a:xfrm>
            <a:off x="4754880" y="5577840"/>
            <a:ext cx="3200400" cy="320040"/>
          </a:xfrm>
          <a:prstGeom prst="rect">
            <a:avLst/>
          </a:prstGeom>
          <a:noFill/>
          <a:ln/>
        </p:spPr>
        <p:txBody>
          <a:bodyPr wrap="square" lIns="0" tIns="0" rIns="0" bIns="0" rtlCol="0" anchor="ctr"/>
          <a:lstStyle/>
          <a:p>
            <a:pPr indent="0" marL="0">
              <a:buNone/>
            </a:pPr>
            <a:r>
              <a:rPr lang="en-US" sz="1250" dirty="0">
                <a:solidFill>
                  <a:srgbClr val="595959"/>
                </a:solidFill>
                <a:latin typeface="Aptos" pitchFamily="34" charset="0"/>
                <a:ea typeface="Aptos" pitchFamily="34" charset="-122"/>
                <a:cs typeface="Aptos" pitchFamily="34" charset="-120"/>
              </a:rPr>
              <a:t>Low fidelity: quick to change</a:t>
            </a:r>
            <a:endParaRPr lang="en-US" sz="1250" dirty="0"/>
          </a:p>
        </p:txBody>
      </p:sp>
      <p:sp>
        <p:nvSpPr>
          <p:cNvPr id="50" name="Text 47"/>
          <p:cNvSpPr txBox="1"/>
          <p:nvPr/>
        </p:nvSpPr>
        <p:spPr>
          <a:xfrm>
            <a:off x="8458200" y="5577840"/>
            <a:ext cx="3200400" cy="320040"/>
          </a:xfrm>
          <a:prstGeom prst="rect">
            <a:avLst/>
          </a:prstGeom>
          <a:noFill/>
          <a:ln/>
        </p:spPr>
        <p:txBody>
          <a:bodyPr wrap="square" lIns="0" tIns="0" rIns="0" bIns="0" rtlCol="0" anchor="ctr"/>
          <a:lstStyle/>
          <a:p>
            <a:pPr algn="r" indent="0" marL="0">
              <a:buNone/>
            </a:pPr>
            <a:r>
              <a:rPr lang="en-US" sz="1250" dirty="0">
                <a:solidFill>
                  <a:srgbClr val="595959"/>
                </a:solidFill>
                <a:latin typeface="Aptos" pitchFamily="34" charset="0"/>
                <a:ea typeface="Aptos" pitchFamily="34" charset="-122"/>
                <a:cs typeface="Aptos" pitchFamily="34" charset="-120"/>
              </a:rPr>
              <a:t>High fidelity: slow to change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Usability and Design Principles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Why Wireframe First?</a:t>
            </a:r>
            <a:endParaRPr lang="en-US" sz="2800" dirty="0"/>
          </a:p>
        </p:txBody>
      </p:sp>
      <p:sp>
        <p:nvSpPr>
          <p:cNvPr id="7" name="Text 4"/>
          <p:cNvSpPr txBox="1"/>
          <p:nvPr/>
        </p:nvSpPr>
        <p:spPr>
          <a:xfrm>
            <a:off x="4754880" y="1691640"/>
            <a:ext cx="6903720" cy="457200"/>
          </a:xfrm>
          <a:prstGeom prst="rect">
            <a:avLst/>
          </a:prstGeom>
          <a:noFill/>
          <a:ln/>
        </p:spPr>
        <p:txBody>
          <a:bodyPr wrap="square" lIns="0" tIns="0" rIns="0" bIns="0" rtlCol="0" anchor="ctr"/>
          <a:lstStyle/>
          <a:p>
            <a:pPr indent="0" marL="0">
              <a:buNone/>
            </a:pPr>
            <a:r>
              <a:rPr lang="en-US" sz="1600" dirty="0">
                <a:solidFill>
                  <a:srgbClr val="262626"/>
                </a:solidFill>
                <a:latin typeface="Aptos" pitchFamily="34" charset="0"/>
                <a:ea typeface="Aptos" pitchFamily="34" charset="-122"/>
                <a:cs typeface="Aptos" pitchFamily="34" charset="-120"/>
              </a:rPr>
              <a:t>Before we write any HTML, a wireframe lets us check the plan.</a:t>
            </a:r>
            <a:endParaRPr lang="en-US" sz="1600" dirty="0"/>
          </a:p>
        </p:txBody>
      </p:sp>
      <p:sp>
        <p:nvSpPr>
          <p:cNvPr id="8" name="Shape 5"/>
          <p:cNvSpPr/>
          <p:nvPr/>
        </p:nvSpPr>
        <p:spPr>
          <a:xfrm>
            <a:off x="4754880" y="2331720"/>
            <a:ext cx="3337560" cy="1920240"/>
          </a:xfrm>
          <a:prstGeom prst="roundRect">
            <a:avLst>
              <a:gd name="adj" fmla="val 5714"/>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9" name="Shape 6"/>
          <p:cNvSpPr/>
          <p:nvPr/>
        </p:nvSpPr>
        <p:spPr>
          <a:xfrm>
            <a:off x="4937760" y="2532888"/>
            <a:ext cx="502920" cy="502920"/>
          </a:xfrm>
          <a:prstGeom prst="ellipse">
            <a:avLst/>
          </a:prstGeom>
          <a:solidFill>
            <a:srgbClr val="E97132"/>
          </a:solidFill>
          <a:ln w="12700">
            <a:solidFill>
              <a:srgbClr val="E97132"/>
            </a:solidFill>
            <a:prstDash val="solid"/>
          </a:ln>
        </p:spPr>
      </p:sp>
      <p:sp>
        <p:nvSpPr>
          <p:cNvPr id="10" name="Text 7"/>
          <p:cNvSpPr txBox="1"/>
          <p:nvPr/>
        </p:nvSpPr>
        <p:spPr>
          <a:xfrm>
            <a:off x="4937760" y="253288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11" name="Text 8"/>
          <p:cNvSpPr txBox="1"/>
          <p:nvPr/>
        </p:nvSpPr>
        <p:spPr>
          <a:xfrm>
            <a:off x="5577840" y="2532888"/>
            <a:ext cx="2423160" cy="50292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Cheap to change</a:t>
            </a:r>
            <a:endParaRPr lang="en-US" sz="1800" dirty="0"/>
          </a:p>
        </p:txBody>
      </p:sp>
      <p:sp>
        <p:nvSpPr>
          <p:cNvPr id="12" name="Text 9"/>
          <p:cNvSpPr txBox="1"/>
          <p:nvPr/>
        </p:nvSpPr>
        <p:spPr>
          <a:xfrm>
            <a:off x="4983480" y="3200400"/>
            <a:ext cx="2926080" cy="914400"/>
          </a:xfrm>
          <a:prstGeom prst="rect">
            <a:avLst/>
          </a:prstGeom>
          <a:noFill/>
          <a:ln/>
        </p:spPr>
        <p:txBody>
          <a:bodyPr wrap="square" lIns="0" tIns="0" rIns="0" bIns="0" rtlCol="0" anchor="t"/>
          <a:lstStyle/>
          <a:p>
            <a:pPr indent="0" marL="0">
              <a:buNone/>
            </a:pPr>
            <a:r>
              <a:rPr lang="en-US" sz="1400" dirty="0">
                <a:solidFill>
                  <a:srgbClr val="595959"/>
                </a:solidFill>
                <a:latin typeface="Aptos" pitchFamily="34" charset="0"/>
                <a:ea typeface="Aptos" pitchFamily="34" charset="-122"/>
                <a:cs typeface="Aptos" pitchFamily="34" charset="-120"/>
              </a:rPr>
              <a:t>Moving a box takes seconds. Moving a finished, coded page takes hours.</a:t>
            </a:r>
            <a:endParaRPr lang="en-US" sz="1400" dirty="0"/>
          </a:p>
        </p:txBody>
      </p:sp>
      <p:sp>
        <p:nvSpPr>
          <p:cNvPr id="13" name="Shape 10"/>
          <p:cNvSpPr/>
          <p:nvPr/>
        </p:nvSpPr>
        <p:spPr>
          <a:xfrm>
            <a:off x="8321040" y="2331720"/>
            <a:ext cx="3337560" cy="1920240"/>
          </a:xfrm>
          <a:prstGeom prst="roundRect">
            <a:avLst>
              <a:gd name="adj" fmla="val 5714"/>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4" name="Shape 11"/>
          <p:cNvSpPr/>
          <p:nvPr/>
        </p:nvSpPr>
        <p:spPr>
          <a:xfrm>
            <a:off x="8503920" y="2532888"/>
            <a:ext cx="502920" cy="502920"/>
          </a:xfrm>
          <a:prstGeom prst="ellipse">
            <a:avLst/>
          </a:prstGeom>
          <a:solidFill>
            <a:srgbClr val="1B5E82"/>
          </a:solidFill>
          <a:ln w="12700">
            <a:solidFill>
              <a:srgbClr val="1B5E82"/>
            </a:solidFill>
            <a:prstDash val="solid"/>
          </a:ln>
        </p:spPr>
      </p:sp>
      <p:sp>
        <p:nvSpPr>
          <p:cNvPr id="15" name="Text 12"/>
          <p:cNvSpPr txBox="1"/>
          <p:nvPr/>
        </p:nvSpPr>
        <p:spPr>
          <a:xfrm>
            <a:off x="8503920" y="253288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6" name="Text 13"/>
          <p:cNvSpPr txBox="1"/>
          <p:nvPr/>
        </p:nvSpPr>
        <p:spPr>
          <a:xfrm>
            <a:off x="9144000" y="2532888"/>
            <a:ext cx="2423160" cy="50292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Layout, not looks</a:t>
            </a:r>
            <a:endParaRPr lang="en-US" sz="1800" dirty="0"/>
          </a:p>
        </p:txBody>
      </p:sp>
      <p:sp>
        <p:nvSpPr>
          <p:cNvPr id="17" name="Text 14"/>
          <p:cNvSpPr txBox="1"/>
          <p:nvPr/>
        </p:nvSpPr>
        <p:spPr>
          <a:xfrm>
            <a:off x="8549640" y="3200400"/>
            <a:ext cx="2926080" cy="914400"/>
          </a:xfrm>
          <a:prstGeom prst="rect">
            <a:avLst/>
          </a:prstGeom>
          <a:noFill/>
          <a:ln/>
        </p:spPr>
        <p:txBody>
          <a:bodyPr wrap="square" lIns="0" tIns="0" rIns="0" bIns="0" rtlCol="0" anchor="t"/>
          <a:lstStyle/>
          <a:p>
            <a:pPr indent="0" marL="0">
              <a:buNone/>
            </a:pPr>
            <a:r>
              <a:rPr lang="en-US" sz="1400" dirty="0">
                <a:solidFill>
                  <a:srgbClr val="595959"/>
                </a:solidFill>
                <a:latin typeface="Aptos" pitchFamily="34" charset="0"/>
                <a:ea typeface="Aptos" pitchFamily="34" charset="-122"/>
                <a:cs typeface="Aptos" pitchFamily="34" charset="-120"/>
              </a:rPr>
              <a:t>With no colours or fonts to discuss, feedback is about what goes where.</a:t>
            </a:r>
            <a:endParaRPr lang="en-US" sz="1400" dirty="0"/>
          </a:p>
        </p:txBody>
      </p:sp>
      <p:sp>
        <p:nvSpPr>
          <p:cNvPr id="18" name="Shape 15"/>
          <p:cNvSpPr/>
          <p:nvPr/>
        </p:nvSpPr>
        <p:spPr>
          <a:xfrm>
            <a:off x="4754880" y="4480560"/>
            <a:ext cx="3337560" cy="1920240"/>
          </a:xfrm>
          <a:prstGeom prst="roundRect">
            <a:avLst>
              <a:gd name="adj" fmla="val 5714"/>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9" name="Shape 16"/>
          <p:cNvSpPr/>
          <p:nvPr/>
        </p:nvSpPr>
        <p:spPr>
          <a:xfrm>
            <a:off x="4937760" y="4681728"/>
            <a:ext cx="502920" cy="502920"/>
          </a:xfrm>
          <a:prstGeom prst="ellipse">
            <a:avLst/>
          </a:prstGeom>
          <a:solidFill>
            <a:srgbClr val="A02B93"/>
          </a:solidFill>
          <a:ln w="12700">
            <a:solidFill>
              <a:srgbClr val="A02B93"/>
            </a:solidFill>
            <a:prstDash val="solid"/>
          </a:ln>
        </p:spPr>
      </p:sp>
      <p:sp>
        <p:nvSpPr>
          <p:cNvPr id="20" name="Text 17"/>
          <p:cNvSpPr txBox="1"/>
          <p:nvPr/>
        </p:nvSpPr>
        <p:spPr>
          <a:xfrm>
            <a:off x="4937760" y="468172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21" name="Text 18"/>
          <p:cNvSpPr txBox="1"/>
          <p:nvPr/>
        </p:nvSpPr>
        <p:spPr>
          <a:xfrm>
            <a:off x="5577840" y="4681728"/>
            <a:ext cx="2423160" cy="50292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Easy to show a client</a:t>
            </a:r>
            <a:endParaRPr lang="en-US" sz="1800" dirty="0"/>
          </a:p>
        </p:txBody>
      </p:sp>
      <p:sp>
        <p:nvSpPr>
          <p:cNvPr id="22" name="Text 19"/>
          <p:cNvSpPr txBox="1"/>
          <p:nvPr/>
        </p:nvSpPr>
        <p:spPr>
          <a:xfrm>
            <a:off x="4983480" y="5349240"/>
            <a:ext cx="2926080" cy="914400"/>
          </a:xfrm>
          <a:prstGeom prst="rect">
            <a:avLst/>
          </a:prstGeom>
          <a:noFill/>
          <a:ln/>
        </p:spPr>
        <p:txBody>
          <a:bodyPr wrap="square" lIns="0" tIns="0" rIns="0" bIns="0" rtlCol="0" anchor="t"/>
          <a:lstStyle/>
          <a:p>
            <a:pPr indent="0" marL="0">
              <a:buNone/>
            </a:pPr>
            <a:r>
              <a:rPr lang="en-US" sz="1400" dirty="0">
                <a:solidFill>
                  <a:srgbClr val="595959"/>
                </a:solidFill>
                <a:latin typeface="Aptos" pitchFamily="34" charset="0"/>
                <a:ea typeface="Aptos" pitchFamily="34" charset="-122"/>
                <a:cs typeface="Aptos" pitchFamily="34" charset="-120"/>
              </a:rPr>
              <a:t>They can point at a box and say "that's not what I meant" before any code exists.</a:t>
            </a:r>
            <a:endParaRPr lang="en-US" sz="1400" dirty="0"/>
          </a:p>
        </p:txBody>
      </p:sp>
      <p:sp>
        <p:nvSpPr>
          <p:cNvPr id="23" name="Shape 20"/>
          <p:cNvSpPr/>
          <p:nvPr/>
        </p:nvSpPr>
        <p:spPr>
          <a:xfrm>
            <a:off x="8321040" y="4480560"/>
            <a:ext cx="3337560" cy="1920240"/>
          </a:xfrm>
          <a:prstGeom prst="roundRect">
            <a:avLst>
              <a:gd name="adj" fmla="val 5714"/>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4" name="Shape 21"/>
          <p:cNvSpPr/>
          <p:nvPr/>
        </p:nvSpPr>
        <p:spPr>
          <a:xfrm>
            <a:off x="8503920" y="4681728"/>
            <a:ext cx="502920" cy="502920"/>
          </a:xfrm>
          <a:prstGeom prst="ellipse">
            <a:avLst/>
          </a:prstGeom>
          <a:solidFill>
            <a:srgbClr val="0F9ED5"/>
          </a:solidFill>
          <a:ln w="12700">
            <a:solidFill>
              <a:srgbClr val="0F9ED5"/>
            </a:solidFill>
            <a:prstDash val="solid"/>
          </a:ln>
        </p:spPr>
      </p:sp>
      <p:sp>
        <p:nvSpPr>
          <p:cNvPr id="25" name="Text 22"/>
          <p:cNvSpPr txBox="1"/>
          <p:nvPr/>
        </p:nvSpPr>
        <p:spPr>
          <a:xfrm>
            <a:off x="8503920" y="468172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26" name="Text 23"/>
          <p:cNvSpPr txBox="1"/>
          <p:nvPr/>
        </p:nvSpPr>
        <p:spPr>
          <a:xfrm>
            <a:off x="9144000" y="4681728"/>
            <a:ext cx="2423160" cy="50292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A plan for the HTML</a:t>
            </a:r>
            <a:endParaRPr lang="en-US" sz="1800" dirty="0"/>
          </a:p>
        </p:txBody>
      </p:sp>
      <p:sp>
        <p:nvSpPr>
          <p:cNvPr id="27" name="Text 24"/>
          <p:cNvSpPr txBox="1"/>
          <p:nvPr/>
        </p:nvSpPr>
        <p:spPr>
          <a:xfrm>
            <a:off x="8549640" y="5349240"/>
            <a:ext cx="2926080" cy="914400"/>
          </a:xfrm>
          <a:prstGeom prst="rect">
            <a:avLst/>
          </a:prstGeom>
          <a:noFill/>
          <a:ln/>
        </p:spPr>
        <p:txBody>
          <a:bodyPr wrap="square" lIns="0" tIns="0" rIns="0" bIns="0" rtlCol="0" anchor="t"/>
          <a:lstStyle/>
          <a:p>
            <a:pPr indent="0" marL="0">
              <a:buNone/>
            </a:pPr>
            <a:r>
              <a:rPr lang="en-US" sz="1400" dirty="0">
                <a:solidFill>
                  <a:srgbClr val="595959"/>
                </a:solidFill>
                <a:latin typeface="Aptos" pitchFamily="34" charset="0"/>
                <a:ea typeface="Aptos" pitchFamily="34" charset="-122"/>
                <a:cs typeface="Aptos" pitchFamily="34" charset="-120"/>
              </a:rPr>
              <a:t>Each region becomes a landmark: &lt;header&gt;, &lt;nav&gt;, &lt;main&gt;, &lt;footer&gt;.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Usability and Design Principles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The Low-Fi Toolkit</a:t>
            </a:r>
            <a:endParaRPr lang="en-US" sz="2800" dirty="0"/>
          </a:p>
        </p:txBody>
      </p:sp>
      <p:sp>
        <p:nvSpPr>
          <p:cNvPr id="7" name="Shape 4"/>
          <p:cNvSpPr/>
          <p:nvPr/>
        </p:nvSpPr>
        <p:spPr>
          <a:xfrm>
            <a:off x="4754880" y="1737360"/>
            <a:ext cx="2148840" cy="1783080"/>
          </a:xfrm>
          <a:prstGeom prst="roundRect">
            <a:avLst>
              <a:gd name="adj" fmla="val 6154"/>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5303520" y="1920240"/>
            <a:ext cx="1051560" cy="640080"/>
          </a:xfrm>
          <a:prstGeom prst="rect">
            <a:avLst/>
          </a:prstGeom>
          <a:solidFill>
            <a:srgbClr val="FFFFFF"/>
          </a:solidFill>
          <a:ln w="12700">
            <a:solidFill>
              <a:srgbClr val="999999"/>
            </a:solidFill>
            <a:prstDash val="solid"/>
          </a:ln>
        </p:spPr>
      </p:sp>
      <p:sp>
        <p:nvSpPr>
          <p:cNvPr id="9" name="Shape 6"/>
          <p:cNvSpPr/>
          <p:nvPr/>
        </p:nvSpPr>
        <p:spPr>
          <a:xfrm>
            <a:off x="5303520" y="1920240"/>
            <a:ext cx="1051560" cy="640080"/>
          </a:xfrm>
          <a:prstGeom prst="line">
            <a:avLst/>
          </a:prstGeom>
          <a:noFill/>
          <a:ln w="12700">
            <a:solidFill>
              <a:srgbClr val="999999"/>
            </a:solidFill>
            <a:prstDash val="solid"/>
          </a:ln>
        </p:spPr>
      </p:sp>
      <p:sp>
        <p:nvSpPr>
          <p:cNvPr id="10" name="Shape 7"/>
          <p:cNvSpPr/>
          <p:nvPr/>
        </p:nvSpPr>
        <p:spPr>
          <a:xfrm flipV="1">
            <a:off x="5303520" y="1920240"/>
            <a:ext cx="1051560" cy="640080"/>
          </a:xfrm>
          <a:prstGeom prst="line">
            <a:avLst/>
          </a:prstGeom>
          <a:noFill/>
          <a:ln w="12700">
            <a:solidFill>
              <a:srgbClr val="999999"/>
            </a:solidFill>
            <a:prstDash val="solid"/>
          </a:ln>
        </p:spPr>
      </p:sp>
      <p:sp>
        <p:nvSpPr>
          <p:cNvPr id="11" name="Text 8"/>
          <p:cNvSpPr txBox="1"/>
          <p:nvPr/>
        </p:nvSpPr>
        <p:spPr>
          <a:xfrm>
            <a:off x="4937760" y="2651760"/>
            <a:ext cx="1783080" cy="320040"/>
          </a:xfrm>
          <a:prstGeom prst="rect">
            <a:avLst/>
          </a:prstGeom>
          <a:noFill/>
          <a:ln/>
        </p:spPr>
        <p:txBody>
          <a:bodyPr wrap="square" lIns="0" tIns="0" rIns="0" bIns="0" rtlCol="0" anchor="ctr"/>
          <a:lstStyle/>
          <a:p>
            <a:pPr indent="0" marL="0">
              <a:buNone/>
            </a:pPr>
            <a:r>
              <a:rPr lang="en-US" sz="1500" b="1" dirty="0">
                <a:solidFill>
                  <a:srgbClr val="000000"/>
                </a:solidFill>
                <a:latin typeface="Aptos" pitchFamily="34" charset="0"/>
                <a:ea typeface="Aptos" pitchFamily="34" charset="-122"/>
                <a:cs typeface="Aptos" pitchFamily="34" charset="-120"/>
              </a:rPr>
              <a:t>Image</a:t>
            </a:r>
            <a:endParaRPr lang="en-US" sz="1500" dirty="0"/>
          </a:p>
        </p:txBody>
      </p:sp>
      <p:sp>
        <p:nvSpPr>
          <p:cNvPr id="12" name="Text 9"/>
          <p:cNvSpPr txBox="1"/>
          <p:nvPr/>
        </p:nvSpPr>
        <p:spPr>
          <a:xfrm>
            <a:off x="4937760" y="2971800"/>
            <a:ext cx="1783080" cy="502920"/>
          </a:xfrm>
          <a:prstGeom prst="rect">
            <a:avLst/>
          </a:prstGeom>
          <a:noFill/>
          <a:ln/>
        </p:spPr>
        <p:txBody>
          <a:bodyPr wrap="square" lIns="0" tIns="0" rIns="0" bIns="0" rtlCol="0" anchor="t"/>
          <a:lstStyle/>
          <a:p>
            <a:pPr indent="0" marL="0">
              <a:buNone/>
            </a:pPr>
            <a:r>
              <a:rPr lang="en-US" sz="1200" dirty="0">
                <a:solidFill>
                  <a:srgbClr val="595959"/>
                </a:solidFill>
                <a:latin typeface="Aptos" pitchFamily="34" charset="0"/>
                <a:ea typeface="Aptos" pitchFamily="34" charset="-122"/>
                <a:cs typeface="Aptos" pitchFamily="34" charset="-120"/>
              </a:rPr>
              <a:t>Logo or photo. Never a real picture yet.</a:t>
            </a:r>
            <a:endParaRPr lang="en-US" sz="1200" dirty="0"/>
          </a:p>
        </p:txBody>
      </p:sp>
      <p:sp>
        <p:nvSpPr>
          <p:cNvPr id="13" name="Shape 10"/>
          <p:cNvSpPr/>
          <p:nvPr/>
        </p:nvSpPr>
        <p:spPr>
          <a:xfrm>
            <a:off x="7132320" y="1737360"/>
            <a:ext cx="2148840" cy="1783080"/>
          </a:xfrm>
          <a:prstGeom prst="roundRect">
            <a:avLst>
              <a:gd name="adj" fmla="val 6154"/>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4" name="Text 11"/>
          <p:cNvSpPr txBox="1"/>
          <p:nvPr/>
        </p:nvSpPr>
        <p:spPr>
          <a:xfrm>
            <a:off x="7360920" y="1920240"/>
            <a:ext cx="1691640" cy="640080"/>
          </a:xfrm>
          <a:prstGeom prst="rect">
            <a:avLst/>
          </a:prstGeom>
          <a:noFill/>
          <a:ln/>
        </p:spPr>
        <p:txBody>
          <a:bodyPr wrap="square" lIns="0" tIns="0" rIns="0" bIns="0" rtlCol="0" anchor="ctr"/>
          <a:lstStyle/>
          <a:p>
            <a:pPr indent="0" marL="0">
              <a:buNone/>
            </a:pPr>
            <a:r>
              <a:rPr lang="en-US" sz="2000" b="1" dirty="0">
                <a:solidFill>
                  <a:srgbClr val="333333"/>
                </a:solidFill>
                <a:latin typeface="Arial" pitchFamily="34" charset="0"/>
                <a:ea typeface="Arial" pitchFamily="34" charset="-122"/>
                <a:cs typeface="Arial" pitchFamily="34" charset="-120"/>
              </a:rPr>
              <a:t>Fish &amp; Chips</a:t>
            </a:r>
            <a:endParaRPr lang="en-US" sz="2000" dirty="0"/>
          </a:p>
        </p:txBody>
      </p:sp>
      <p:sp>
        <p:nvSpPr>
          <p:cNvPr id="15" name="Text 12"/>
          <p:cNvSpPr txBox="1"/>
          <p:nvPr/>
        </p:nvSpPr>
        <p:spPr>
          <a:xfrm>
            <a:off x="7315200" y="2651760"/>
            <a:ext cx="1783080" cy="320040"/>
          </a:xfrm>
          <a:prstGeom prst="rect">
            <a:avLst/>
          </a:prstGeom>
          <a:noFill/>
          <a:ln/>
        </p:spPr>
        <p:txBody>
          <a:bodyPr wrap="square" lIns="0" tIns="0" rIns="0" bIns="0" rtlCol="0" anchor="ctr"/>
          <a:lstStyle/>
          <a:p>
            <a:pPr indent="0" marL="0">
              <a:buNone/>
            </a:pPr>
            <a:r>
              <a:rPr lang="en-US" sz="1500" b="1" dirty="0">
                <a:solidFill>
                  <a:srgbClr val="000000"/>
                </a:solidFill>
                <a:latin typeface="Aptos" pitchFamily="34" charset="0"/>
                <a:ea typeface="Aptos" pitchFamily="34" charset="-122"/>
                <a:cs typeface="Aptos" pitchFamily="34" charset="-120"/>
              </a:rPr>
              <a:t>Heading</a:t>
            </a:r>
            <a:endParaRPr lang="en-US" sz="1500" dirty="0"/>
          </a:p>
        </p:txBody>
      </p:sp>
      <p:sp>
        <p:nvSpPr>
          <p:cNvPr id="16" name="Text 13"/>
          <p:cNvSpPr txBox="1"/>
          <p:nvPr/>
        </p:nvSpPr>
        <p:spPr>
          <a:xfrm>
            <a:off x="7315200" y="2971800"/>
            <a:ext cx="1783080" cy="502920"/>
          </a:xfrm>
          <a:prstGeom prst="rect">
            <a:avLst/>
          </a:prstGeom>
          <a:noFill/>
          <a:ln/>
        </p:spPr>
        <p:txBody>
          <a:bodyPr wrap="square" lIns="0" tIns="0" rIns="0" bIns="0" rtlCol="0" anchor="t"/>
          <a:lstStyle/>
          <a:p>
            <a:pPr indent="0" marL="0">
              <a:buNone/>
            </a:pPr>
            <a:r>
              <a:rPr lang="en-US" sz="1200" dirty="0">
                <a:solidFill>
                  <a:srgbClr val="595959"/>
                </a:solidFill>
                <a:latin typeface="Aptos" pitchFamily="34" charset="0"/>
                <a:ea typeface="Aptos" pitchFamily="34" charset="-122"/>
                <a:cs typeface="Aptos" pitchFamily="34" charset="-120"/>
              </a:rPr>
              <a:t>Big, bold text for real headings.</a:t>
            </a:r>
            <a:endParaRPr lang="en-US" sz="1200" dirty="0"/>
          </a:p>
        </p:txBody>
      </p:sp>
      <p:sp>
        <p:nvSpPr>
          <p:cNvPr id="17" name="Shape 14"/>
          <p:cNvSpPr/>
          <p:nvPr/>
        </p:nvSpPr>
        <p:spPr>
          <a:xfrm>
            <a:off x="9509760" y="1737360"/>
            <a:ext cx="2148840" cy="1783080"/>
          </a:xfrm>
          <a:prstGeom prst="roundRect">
            <a:avLst>
              <a:gd name="adj" fmla="val 6154"/>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8" name="Shape 15"/>
          <p:cNvSpPr/>
          <p:nvPr/>
        </p:nvSpPr>
        <p:spPr>
          <a:xfrm>
            <a:off x="9738360" y="2029968"/>
            <a:ext cx="1691640" cy="82296"/>
          </a:xfrm>
          <a:prstGeom prst="rect">
            <a:avLst/>
          </a:prstGeom>
          <a:solidFill>
            <a:srgbClr val="DDDDDD"/>
          </a:solidFill>
          <a:ln/>
        </p:spPr>
      </p:sp>
      <p:sp>
        <p:nvSpPr>
          <p:cNvPr id="19" name="Shape 16"/>
          <p:cNvSpPr/>
          <p:nvPr/>
        </p:nvSpPr>
        <p:spPr>
          <a:xfrm>
            <a:off x="9738360" y="2212848"/>
            <a:ext cx="1437894" cy="82296"/>
          </a:xfrm>
          <a:prstGeom prst="rect">
            <a:avLst/>
          </a:prstGeom>
          <a:solidFill>
            <a:srgbClr val="DDDDDD"/>
          </a:solidFill>
          <a:ln/>
        </p:spPr>
      </p:sp>
      <p:sp>
        <p:nvSpPr>
          <p:cNvPr id="20" name="Shape 17"/>
          <p:cNvSpPr/>
          <p:nvPr/>
        </p:nvSpPr>
        <p:spPr>
          <a:xfrm>
            <a:off x="9738360" y="2395728"/>
            <a:ext cx="1014984" cy="82296"/>
          </a:xfrm>
          <a:prstGeom prst="rect">
            <a:avLst/>
          </a:prstGeom>
          <a:solidFill>
            <a:srgbClr val="DDDDDD"/>
          </a:solidFill>
          <a:ln/>
        </p:spPr>
      </p:sp>
      <p:sp>
        <p:nvSpPr>
          <p:cNvPr id="21" name="Text 18"/>
          <p:cNvSpPr txBox="1"/>
          <p:nvPr/>
        </p:nvSpPr>
        <p:spPr>
          <a:xfrm>
            <a:off x="9692640" y="2651760"/>
            <a:ext cx="1783080" cy="320040"/>
          </a:xfrm>
          <a:prstGeom prst="rect">
            <a:avLst/>
          </a:prstGeom>
          <a:noFill/>
          <a:ln/>
        </p:spPr>
        <p:txBody>
          <a:bodyPr wrap="square" lIns="0" tIns="0" rIns="0" bIns="0" rtlCol="0" anchor="ctr"/>
          <a:lstStyle/>
          <a:p>
            <a:pPr indent="0" marL="0">
              <a:buNone/>
            </a:pPr>
            <a:r>
              <a:rPr lang="en-US" sz="1500" b="1" dirty="0">
                <a:solidFill>
                  <a:srgbClr val="000000"/>
                </a:solidFill>
                <a:latin typeface="Aptos" pitchFamily="34" charset="0"/>
                <a:ea typeface="Aptos" pitchFamily="34" charset="-122"/>
                <a:cs typeface="Aptos" pitchFamily="34" charset="-120"/>
              </a:rPr>
              <a:t>Body text</a:t>
            </a:r>
            <a:endParaRPr lang="en-US" sz="1500" dirty="0"/>
          </a:p>
        </p:txBody>
      </p:sp>
      <p:sp>
        <p:nvSpPr>
          <p:cNvPr id="22" name="Text 19"/>
          <p:cNvSpPr txBox="1"/>
          <p:nvPr/>
        </p:nvSpPr>
        <p:spPr>
          <a:xfrm>
            <a:off x="9692640" y="2971800"/>
            <a:ext cx="1783080" cy="502920"/>
          </a:xfrm>
          <a:prstGeom prst="rect">
            <a:avLst/>
          </a:prstGeom>
          <a:noFill/>
          <a:ln/>
        </p:spPr>
        <p:txBody>
          <a:bodyPr wrap="square" lIns="0" tIns="0" rIns="0" bIns="0" rtlCol="0" anchor="t"/>
          <a:lstStyle/>
          <a:p>
            <a:pPr indent="0" marL="0">
              <a:buNone/>
            </a:pPr>
            <a:r>
              <a:rPr lang="en-US" sz="1200" dirty="0">
                <a:solidFill>
                  <a:srgbClr val="595959"/>
                </a:solidFill>
                <a:latin typeface="Aptos" pitchFamily="34" charset="0"/>
                <a:ea typeface="Aptos" pitchFamily="34" charset="-122"/>
                <a:cs typeface="Aptos" pitchFamily="34" charset="-120"/>
              </a:rPr>
              <a:t>Grey bars instead of real paragraphs.</a:t>
            </a:r>
            <a:endParaRPr lang="en-US" sz="1200" dirty="0"/>
          </a:p>
        </p:txBody>
      </p:sp>
      <p:sp>
        <p:nvSpPr>
          <p:cNvPr id="23" name="Shape 20"/>
          <p:cNvSpPr/>
          <p:nvPr/>
        </p:nvSpPr>
        <p:spPr>
          <a:xfrm>
            <a:off x="4754880" y="3749040"/>
            <a:ext cx="2148840" cy="1783080"/>
          </a:xfrm>
          <a:prstGeom prst="roundRect">
            <a:avLst>
              <a:gd name="adj" fmla="val 6154"/>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4" name="Shape 21"/>
          <p:cNvSpPr/>
          <p:nvPr/>
        </p:nvSpPr>
        <p:spPr>
          <a:xfrm>
            <a:off x="5166360" y="4041648"/>
            <a:ext cx="1325880" cy="420624"/>
          </a:xfrm>
          <a:prstGeom prst="roundRect">
            <a:avLst>
              <a:gd name="adj" fmla="val 15217"/>
            </a:avLst>
          </a:prstGeom>
          <a:solidFill>
            <a:srgbClr val="555555"/>
          </a:solidFill>
          <a:ln w="15875">
            <a:solidFill>
              <a:srgbClr val="555555"/>
            </a:solidFill>
            <a:prstDash val="solid"/>
          </a:ln>
        </p:spPr>
      </p:sp>
      <p:sp>
        <p:nvSpPr>
          <p:cNvPr id="25" name="Text 22"/>
          <p:cNvSpPr txBox="1"/>
          <p:nvPr/>
        </p:nvSpPr>
        <p:spPr>
          <a:xfrm>
            <a:off x="5166360" y="4041648"/>
            <a:ext cx="132588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Checkout</a:t>
            </a:r>
            <a:endParaRPr lang="en-US" sz="1400" dirty="0"/>
          </a:p>
        </p:txBody>
      </p:sp>
      <p:sp>
        <p:nvSpPr>
          <p:cNvPr id="26" name="Text 23"/>
          <p:cNvSpPr txBox="1"/>
          <p:nvPr/>
        </p:nvSpPr>
        <p:spPr>
          <a:xfrm>
            <a:off x="4937760" y="4663440"/>
            <a:ext cx="1783080" cy="320040"/>
          </a:xfrm>
          <a:prstGeom prst="rect">
            <a:avLst/>
          </a:prstGeom>
          <a:noFill/>
          <a:ln/>
        </p:spPr>
        <p:txBody>
          <a:bodyPr wrap="square" lIns="0" tIns="0" rIns="0" bIns="0" rtlCol="0" anchor="ctr"/>
          <a:lstStyle/>
          <a:p>
            <a:pPr indent="0" marL="0">
              <a:buNone/>
            </a:pPr>
            <a:r>
              <a:rPr lang="en-US" sz="1500" b="1" dirty="0">
                <a:solidFill>
                  <a:srgbClr val="000000"/>
                </a:solidFill>
                <a:latin typeface="Aptos" pitchFamily="34" charset="0"/>
                <a:ea typeface="Aptos" pitchFamily="34" charset="-122"/>
                <a:cs typeface="Aptos" pitchFamily="34" charset="-120"/>
              </a:rPr>
              <a:t>Main button</a:t>
            </a:r>
            <a:endParaRPr lang="en-US" sz="1500" dirty="0"/>
          </a:p>
        </p:txBody>
      </p:sp>
      <p:sp>
        <p:nvSpPr>
          <p:cNvPr id="27" name="Text 24"/>
          <p:cNvSpPr txBox="1"/>
          <p:nvPr/>
        </p:nvSpPr>
        <p:spPr>
          <a:xfrm>
            <a:off x="4937760" y="4983480"/>
            <a:ext cx="1783080" cy="502920"/>
          </a:xfrm>
          <a:prstGeom prst="rect">
            <a:avLst/>
          </a:prstGeom>
          <a:noFill/>
          <a:ln/>
        </p:spPr>
        <p:txBody>
          <a:bodyPr wrap="square" lIns="0" tIns="0" rIns="0" bIns="0" rtlCol="0" anchor="t"/>
          <a:lstStyle/>
          <a:p>
            <a:pPr indent="0" marL="0">
              <a:buNone/>
            </a:pPr>
            <a:r>
              <a:rPr lang="en-US" sz="1200" dirty="0">
                <a:solidFill>
                  <a:srgbClr val="595959"/>
                </a:solidFill>
                <a:latin typeface="Aptos" pitchFamily="34" charset="0"/>
                <a:ea typeface="Aptos" pitchFamily="34" charset="-122"/>
                <a:cs typeface="Aptos" pitchFamily="34" charset="-120"/>
              </a:rPr>
              <a:t>The main action. Filled, and usually only one per screen.</a:t>
            </a:r>
            <a:endParaRPr lang="en-US" sz="1200" dirty="0"/>
          </a:p>
        </p:txBody>
      </p:sp>
      <p:sp>
        <p:nvSpPr>
          <p:cNvPr id="28" name="Shape 25"/>
          <p:cNvSpPr/>
          <p:nvPr/>
        </p:nvSpPr>
        <p:spPr>
          <a:xfrm>
            <a:off x="7132320" y="3749040"/>
            <a:ext cx="2148840" cy="1783080"/>
          </a:xfrm>
          <a:prstGeom prst="roundRect">
            <a:avLst>
              <a:gd name="adj" fmla="val 6154"/>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9" name="Shape 26"/>
          <p:cNvSpPr/>
          <p:nvPr/>
        </p:nvSpPr>
        <p:spPr>
          <a:xfrm>
            <a:off x="7543800" y="4041648"/>
            <a:ext cx="1325880" cy="420624"/>
          </a:xfrm>
          <a:prstGeom prst="roundRect">
            <a:avLst>
              <a:gd name="adj" fmla="val 15217"/>
            </a:avLst>
          </a:prstGeom>
          <a:solidFill>
            <a:srgbClr val="FFFFFF"/>
          </a:solidFill>
          <a:ln w="15875">
            <a:solidFill>
              <a:srgbClr val="555555"/>
            </a:solidFill>
            <a:prstDash val="solid"/>
          </a:ln>
        </p:spPr>
      </p:sp>
      <p:sp>
        <p:nvSpPr>
          <p:cNvPr id="30" name="Text 27"/>
          <p:cNvSpPr txBox="1"/>
          <p:nvPr/>
        </p:nvSpPr>
        <p:spPr>
          <a:xfrm>
            <a:off x="7543800" y="4041648"/>
            <a:ext cx="1325880" cy="420624"/>
          </a:xfrm>
          <a:prstGeom prst="rect">
            <a:avLst/>
          </a:prstGeom>
          <a:noFill/>
          <a:ln/>
        </p:spPr>
        <p:txBody>
          <a:bodyPr wrap="square" lIns="0" tIns="0" rIns="0" bIns="0" rtlCol="0" anchor="ctr"/>
          <a:lstStyle/>
          <a:p>
            <a:pPr algn="ctr" indent="0" marL="0">
              <a:buNone/>
            </a:pPr>
            <a:r>
              <a:rPr lang="en-US" sz="1400" b="1" dirty="0">
                <a:solidFill>
                  <a:srgbClr val="333333"/>
                </a:solidFill>
                <a:latin typeface="Arial" pitchFamily="34" charset="0"/>
                <a:ea typeface="Arial" pitchFamily="34" charset="-122"/>
                <a:cs typeface="Arial" pitchFamily="34" charset="-120"/>
              </a:rPr>
              <a:t>Delivery</a:t>
            </a:r>
            <a:endParaRPr lang="en-US" sz="1400" dirty="0"/>
          </a:p>
        </p:txBody>
      </p:sp>
      <p:sp>
        <p:nvSpPr>
          <p:cNvPr id="31" name="Text 28"/>
          <p:cNvSpPr txBox="1"/>
          <p:nvPr/>
        </p:nvSpPr>
        <p:spPr>
          <a:xfrm>
            <a:off x="7315200" y="4663440"/>
            <a:ext cx="1783080" cy="320040"/>
          </a:xfrm>
          <a:prstGeom prst="rect">
            <a:avLst/>
          </a:prstGeom>
          <a:noFill/>
          <a:ln/>
        </p:spPr>
        <p:txBody>
          <a:bodyPr wrap="square" lIns="0" tIns="0" rIns="0" bIns="0" rtlCol="0" anchor="ctr"/>
          <a:lstStyle/>
          <a:p>
            <a:pPr indent="0" marL="0">
              <a:buNone/>
            </a:pPr>
            <a:r>
              <a:rPr lang="en-US" sz="1500" b="1" dirty="0">
                <a:solidFill>
                  <a:srgbClr val="000000"/>
                </a:solidFill>
                <a:latin typeface="Aptos" pitchFamily="34" charset="0"/>
                <a:ea typeface="Aptos" pitchFamily="34" charset="-122"/>
                <a:cs typeface="Aptos" pitchFamily="34" charset="-120"/>
              </a:rPr>
              <a:t>Other buttons</a:t>
            </a:r>
            <a:endParaRPr lang="en-US" sz="1500" dirty="0"/>
          </a:p>
        </p:txBody>
      </p:sp>
      <p:sp>
        <p:nvSpPr>
          <p:cNvPr id="32" name="Text 29"/>
          <p:cNvSpPr txBox="1"/>
          <p:nvPr/>
        </p:nvSpPr>
        <p:spPr>
          <a:xfrm>
            <a:off x="7315200" y="4983480"/>
            <a:ext cx="1783080" cy="502920"/>
          </a:xfrm>
          <a:prstGeom prst="rect">
            <a:avLst/>
          </a:prstGeom>
          <a:noFill/>
          <a:ln/>
        </p:spPr>
        <p:txBody>
          <a:bodyPr wrap="square" lIns="0" tIns="0" rIns="0" bIns="0" rtlCol="0" anchor="t"/>
          <a:lstStyle/>
          <a:p>
            <a:pPr indent="0" marL="0">
              <a:buNone/>
            </a:pPr>
            <a:r>
              <a:rPr lang="en-US" sz="1200" dirty="0">
                <a:solidFill>
                  <a:srgbClr val="595959"/>
                </a:solidFill>
                <a:latin typeface="Aptos" pitchFamily="34" charset="0"/>
                <a:ea typeface="Aptos" pitchFamily="34" charset="-122"/>
                <a:cs typeface="Aptos" pitchFamily="34" charset="-120"/>
              </a:rPr>
              <a:t>Other choices. Outlined.</a:t>
            </a:r>
            <a:endParaRPr lang="en-US" sz="1200" dirty="0"/>
          </a:p>
        </p:txBody>
      </p:sp>
      <p:sp>
        <p:nvSpPr>
          <p:cNvPr id="33" name="Shape 30"/>
          <p:cNvSpPr/>
          <p:nvPr/>
        </p:nvSpPr>
        <p:spPr>
          <a:xfrm>
            <a:off x="9509760" y="3749040"/>
            <a:ext cx="2148840" cy="1783080"/>
          </a:xfrm>
          <a:prstGeom prst="roundRect">
            <a:avLst>
              <a:gd name="adj" fmla="val 6154"/>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34" name="Shape 31"/>
          <p:cNvSpPr/>
          <p:nvPr/>
        </p:nvSpPr>
        <p:spPr>
          <a:xfrm>
            <a:off x="9738360" y="4069080"/>
            <a:ext cx="1691640" cy="502920"/>
          </a:xfrm>
          <a:prstGeom prst="rect">
            <a:avLst/>
          </a:prstGeom>
          <a:ln w="22225">
            <a:solidFill>
              <a:srgbClr val="1E88E5"/>
            </a:solidFill>
            <a:prstDash val="dash"/>
          </a:ln>
        </p:spPr>
      </p:sp>
      <p:sp>
        <p:nvSpPr>
          <p:cNvPr id="35" name="Shape 32"/>
          <p:cNvSpPr/>
          <p:nvPr/>
        </p:nvSpPr>
        <p:spPr>
          <a:xfrm>
            <a:off x="9738360" y="3886200"/>
            <a:ext cx="658368" cy="201168"/>
          </a:xfrm>
          <a:prstGeom prst="rect">
            <a:avLst/>
          </a:prstGeom>
          <a:solidFill>
            <a:srgbClr val="1E88E5"/>
          </a:solidFill>
          <a:ln/>
        </p:spPr>
      </p:sp>
      <p:sp>
        <p:nvSpPr>
          <p:cNvPr id="36" name="Text 33"/>
          <p:cNvSpPr txBox="1"/>
          <p:nvPr/>
        </p:nvSpPr>
        <p:spPr>
          <a:xfrm>
            <a:off x="9738360" y="3886200"/>
            <a:ext cx="658368" cy="201168"/>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&lt;main&gt;</a:t>
            </a:r>
            <a:endParaRPr lang="en-US" sz="1050" dirty="0"/>
          </a:p>
        </p:txBody>
      </p:sp>
      <p:sp>
        <p:nvSpPr>
          <p:cNvPr id="37" name="Text 34"/>
          <p:cNvSpPr txBox="1"/>
          <p:nvPr/>
        </p:nvSpPr>
        <p:spPr>
          <a:xfrm>
            <a:off x="9692640" y="4663440"/>
            <a:ext cx="1783080" cy="320040"/>
          </a:xfrm>
          <a:prstGeom prst="rect">
            <a:avLst/>
          </a:prstGeom>
          <a:noFill/>
          <a:ln/>
        </p:spPr>
        <p:txBody>
          <a:bodyPr wrap="square" lIns="0" tIns="0" rIns="0" bIns="0" rtlCol="0" anchor="ctr"/>
          <a:lstStyle/>
          <a:p>
            <a:pPr indent="0" marL="0">
              <a:buNone/>
            </a:pPr>
            <a:r>
              <a:rPr lang="en-US" sz="1500" b="1" dirty="0">
                <a:solidFill>
                  <a:srgbClr val="000000"/>
                </a:solidFill>
                <a:latin typeface="Aptos" pitchFamily="34" charset="0"/>
                <a:ea typeface="Aptos" pitchFamily="34" charset="-122"/>
                <a:cs typeface="Aptos" pitchFamily="34" charset="-120"/>
              </a:rPr>
              <a:t>Landmark label</a:t>
            </a:r>
            <a:endParaRPr lang="en-US" sz="1500" dirty="0"/>
          </a:p>
        </p:txBody>
      </p:sp>
      <p:sp>
        <p:nvSpPr>
          <p:cNvPr id="38" name="Text 35"/>
          <p:cNvSpPr txBox="1"/>
          <p:nvPr/>
        </p:nvSpPr>
        <p:spPr>
          <a:xfrm>
            <a:off x="9692640" y="4983480"/>
            <a:ext cx="1783080" cy="502920"/>
          </a:xfrm>
          <a:prstGeom prst="rect">
            <a:avLst/>
          </a:prstGeom>
          <a:noFill/>
          <a:ln/>
        </p:spPr>
        <p:txBody>
          <a:bodyPr wrap="square" lIns="0" tIns="0" rIns="0" bIns="0" rtlCol="0" anchor="t"/>
          <a:lstStyle/>
          <a:p>
            <a:pPr indent="0" marL="0">
              <a:buNone/>
            </a:pPr>
            <a:r>
              <a:rPr lang="en-US" sz="1200" dirty="0">
                <a:solidFill>
                  <a:srgbClr val="595959"/>
                </a:solidFill>
                <a:latin typeface="Aptos" pitchFamily="34" charset="0"/>
                <a:ea typeface="Aptos" pitchFamily="34" charset="-122"/>
                <a:cs typeface="Aptos" pitchFamily="34" charset="-120"/>
              </a:rPr>
              <a:t>A note for the HTML, not part of the design.</a:t>
            </a:r>
            <a:endParaRPr lang="en-US" sz="1200" dirty="0"/>
          </a:p>
        </p:txBody>
      </p:sp>
      <p:sp>
        <p:nvSpPr>
          <p:cNvPr id="39" name="Text 36"/>
          <p:cNvSpPr txBox="1"/>
          <p:nvPr/>
        </p:nvSpPr>
        <p:spPr>
          <a:xfrm>
            <a:off x="4754880" y="5806440"/>
            <a:ext cx="6903720" cy="457200"/>
          </a:xfrm>
          <a:prstGeom prst="rect">
            <a:avLst/>
          </a:prstGeom>
          <a:noFill/>
          <a:ln/>
        </p:spPr>
        <p:txBody>
          <a:bodyPr wrap="square" lIns="0" tIns="0" rIns="0" bIns="0" rtlCol="0" anchor="t"/>
          <a:lstStyle/>
          <a:p>
            <a:pPr indent="0" marL="0">
              <a:buNone/>
            </a:pPr>
            <a:r>
              <a:rPr lang="en-US" sz="1400" dirty="0">
                <a:solidFill>
                  <a:srgbClr val="262626"/>
                </a:solidFill>
                <a:latin typeface="Aptos" pitchFamily="34" charset="0"/>
                <a:ea typeface="Aptos" pitchFamily="34" charset="-122"/>
                <a:cs typeface="Aptos" pitchFamily="34" charset="-120"/>
              </a:rPr>
              <a:t>​</a:t>
            </a:r>
            <a:pPr indent="0" marL="0">
              <a:buNone/>
            </a:pPr>
            <a:r>
              <a:rPr lang="en-US" sz="1400" b="1" dirty="0">
                <a:solidFill>
                  <a:srgbClr val="262626"/>
                </a:solidFill>
                <a:latin typeface="Aptos" pitchFamily="34" charset="0"/>
                <a:ea typeface="Aptos" pitchFamily="34" charset="-122"/>
                <a:cs typeface="Aptos" pitchFamily="34" charset="-120"/>
              </a:rPr>
              <a:t>Rules for today: </a:t>
            </a:r>
            <a:pPr indent="0" marL="0">
              <a:buNone/>
            </a:pPr>
            <a:r>
              <a:rPr lang="en-US" sz="1400" dirty="0">
                <a:solidFill>
                  <a:srgbClr val="262626"/>
                </a:solidFill>
                <a:latin typeface="Aptos" pitchFamily="34" charset="0"/>
                <a:ea typeface="Aptos" pitchFamily="34" charset="-122"/>
                <a:cs typeface="Aptos" pitchFamily="34" charset="-120"/>
              </a:rPr>
              <a:t>greyscale only · real words on buttons and links · no fonts, colours or photos yet.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Usability and Design Principles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From User Stories to Boxes</a:t>
            </a:r>
            <a:endParaRPr lang="en-US" sz="2800" dirty="0"/>
          </a:p>
        </p:txBody>
      </p:sp>
      <p:sp>
        <p:nvSpPr>
          <p:cNvPr id="7" name="Text 4"/>
          <p:cNvSpPr txBox="1"/>
          <p:nvPr/>
        </p:nvSpPr>
        <p:spPr>
          <a:xfrm>
            <a:off x="4754880" y="1737360"/>
            <a:ext cx="3017520" cy="320040"/>
          </a:xfrm>
          <a:prstGeom prst="rect">
            <a:avLst/>
          </a:prstGeom>
          <a:noFill/>
          <a:ln/>
        </p:spPr>
        <p:txBody>
          <a:bodyPr wrap="square" lIns="0" tIns="0" rIns="0" bIns="0" rtlCol="0" anchor="ctr"/>
          <a:lstStyle/>
          <a:p>
            <a:pPr indent="0" marL="0">
              <a:buNone/>
            </a:pPr>
            <a:r>
              <a:rPr lang="en-US" sz="1200" b="1" spc="100" kern="0" dirty="0">
                <a:solidFill>
                  <a:srgbClr val="595959"/>
                </a:solidFill>
                <a:latin typeface="Aptos" pitchFamily="34" charset="0"/>
                <a:ea typeface="Aptos" pitchFamily="34" charset="-122"/>
                <a:cs typeface="Aptos" pitchFamily="34" charset="-120"/>
              </a:rPr>
              <a:t>USER STORY</a:t>
            </a:r>
            <a:endParaRPr lang="en-US" sz="1200" dirty="0"/>
          </a:p>
        </p:txBody>
      </p:sp>
      <p:sp>
        <p:nvSpPr>
          <p:cNvPr id="8" name="Text 5"/>
          <p:cNvSpPr txBox="1"/>
          <p:nvPr/>
        </p:nvSpPr>
        <p:spPr>
          <a:xfrm>
            <a:off x="8046720" y="1737360"/>
            <a:ext cx="2286000" cy="320040"/>
          </a:xfrm>
          <a:prstGeom prst="rect">
            <a:avLst/>
          </a:prstGeom>
          <a:noFill/>
          <a:ln/>
        </p:spPr>
        <p:txBody>
          <a:bodyPr wrap="square" lIns="0" tIns="0" rIns="0" bIns="0" rtlCol="0" anchor="ctr"/>
          <a:lstStyle/>
          <a:p>
            <a:pPr indent="0" marL="0">
              <a:buNone/>
            </a:pPr>
            <a:r>
              <a:rPr lang="en-US" sz="1200" b="1" spc="100" kern="0" dirty="0">
                <a:solidFill>
                  <a:srgbClr val="595959"/>
                </a:solidFill>
                <a:latin typeface="Aptos" pitchFamily="34" charset="0"/>
                <a:ea typeface="Aptos" pitchFamily="34" charset="-122"/>
                <a:cs typeface="Aptos" pitchFamily="34" charset="-120"/>
              </a:rPr>
              <a:t>REGION ON THE PAGE</a:t>
            </a:r>
            <a:endParaRPr lang="en-US" sz="1200" dirty="0"/>
          </a:p>
        </p:txBody>
      </p:sp>
      <p:sp>
        <p:nvSpPr>
          <p:cNvPr id="9" name="Text 6"/>
          <p:cNvSpPr txBox="1"/>
          <p:nvPr/>
        </p:nvSpPr>
        <p:spPr>
          <a:xfrm>
            <a:off x="10607040" y="1737360"/>
            <a:ext cx="1051560" cy="320040"/>
          </a:xfrm>
          <a:prstGeom prst="rect">
            <a:avLst/>
          </a:prstGeom>
          <a:noFill/>
          <a:ln/>
        </p:spPr>
        <p:txBody>
          <a:bodyPr wrap="square" lIns="0" tIns="0" rIns="0" bIns="0" rtlCol="0" anchor="ctr"/>
          <a:lstStyle/>
          <a:p>
            <a:pPr indent="0" marL="0">
              <a:buNone/>
            </a:pPr>
            <a:r>
              <a:rPr lang="en-US" sz="1200" b="1" spc="100" kern="0" dirty="0">
                <a:solidFill>
                  <a:srgbClr val="595959"/>
                </a:solidFill>
                <a:latin typeface="Aptos" pitchFamily="34" charset="0"/>
                <a:ea typeface="Aptos" pitchFamily="34" charset="-122"/>
                <a:cs typeface="Aptos" pitchFamily="34" charset="-120"/>
              </a:rPr>
              <a:t>HTML</a:t>
            </a:r>
            <a:endParaRPr lang="en-US" sz="1200" dirty="0"/>
          </a:p>
        </p:txBody>
      </p:sp>
      <p:sp>
        <p:nvSpPr>
          <p:cNvPr id="10" name="Shape 7"/>
          <p:cNvSpPr/>
          <p:nvPr/>
        </p:nvSpPr>
        <p:spPr>
          <a:xfrm>
            <a:off x="4754880" y="2148840"/>
            <a:ext cx="3017520" cy="1234440"/>
          </a:xfrm>
          <a:prstGeom prst="roundRect">
            <a:avLst>
              <a:gd name="adj" fmla="val 888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1" name="Text 8"/>
          <p:cNvSpPr txBox="1"/>
          <p:nvPr/>
        </p:nvSpPr>
        <p:spPr>
          <a:xfrm>
            <a:off x="4937760" y="2286000"/>
            <a:ext cx="2651760" cy="96012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As a </a:t>
            </a:r>
            <a:pPr indent="0" marL="0">
              <a:buNone/>
            </a:pPr>
            <a:r>
              <a:rPr lang="en-US" sz="1350" b="1" dirty="0">
                <a:solidFill>
                  <a:srgbClr val="262626"/>
                </a:solidFill>
                <a:latin typeface="Aptos" pitchFamily="34" charset="0"/>
                <a:ea typeface="Aptos" pitchFamily="34" charset="-122"/>
                <a:cs typeface="Aptos" pitchFamily="34" charset="-120"/>
              </a:rPr>
              <a:t>customer</a:t>
            </a:r>
            <a:pPr indent="0" marL="0">
              <a:buNone/>
            </a:pPr>
            <a:r>
              <a:rPr lang="en-US" sz="1350" dirty="0">
                <a:solidFill>
                  <a:srgbClr val="262626"/>
                </a:solidFill>
                <a:latin typeface="Aptos" pitchFamily="34" charset="0"/>
                <a:ea typeface="Aptos" pitchFamily="34" charset="-122"/>
                <a:cs typeface="Aptos" pitchFamily="34" charset="-120"/>
              </a:rPr>
              <a:t>, I want to </a:t>
            </a:r>
            <a:pPr indent="0" marL="0">
              <a:buNone/>
            </a:pPr>
            <a:r>
              <a:rPr lang="en-US" sz="1350" b="1" dirty="0">
                <a:solidFill>
                  <a:srgbClr val="262626"/>
                </a:solidFill>
                <a:latin typeface="Aptos" pitchFamily="34" charset="0"/>
                <a:ea typeface="Aptos" pitchFamily="34" charset="-122"/>
                <a:cs typeface="Aptos" pitchFamily="34" charset="-120"/>
              </a:rPr>
              <a:t>see my total while I'm still browsing</a:t>
            </a:r>
            <a:pPr indent="0" marL="0">
              <a:buNone/>
            </a:pPr>
            <a:r>
              <a:rPr lang="en-US" sz="1350" dirty="0">
                <a:solidFill>
                  <a:srgbClr val="262626"/>
                </a:solidFill>
                <a:latin typeface="Aptos" pitchFamily="34" charset="0"/>
                <a:ea typeface="Aptos" pitchFamily="34" charset="-122"/>
                <a:cs typeface="Aptos" pitchFamily="34" charset="-120"/>
              </a:rPr>
              <a:t> so that I don't go over budget.</a:t>
            </a:r>
            <a:endParaRPr lang="en-US" sz="1350" dirty="0"/>
          </a:p>
        </p:txBody>
      </p:sp>
      <p:sp>
        <p:nvSpPr>
          <p:cNvPr id="12" name="Text 9"/>
          <p:cNvSpPr txBox="1"/>
          <p:nvPr/>
        </p:nvSpPr>
        <p:spPr>
          <a:xfrm>
            <a:off x="7772400" y="2148840"/>
            <a:ext cx="274320" cy="1234440"/>
          </a:xfrm>
          <a:prstGeom prst="rect">
            <a:avLst/>
          </a:prstGeom>
          <a:noFill/>
          <a:ln/>
        </p:spPr>
        <p:txBody>
          <a:bodyPr wrap="square" lIns="0" tIns="0" rIns="0" bIns="0" rtlCol="0" anchor="ctr"/>
          <a:lstStyle/>
          <a:p>
            <a:pPr algn="ctr" indent="0" marL="0">
              <a:buNone/>
            </a:pPr>
            <a:r>
              <a:rPr lang="en-US" sz="2200" b="1" dirty="0">
                <a:solidFill>
                  <a:srgbClr val="E97132"/>
                </a:solidFill>
                <a:latin typeface="Aptos" pitchFamily="34" charset="0"/>
                <a:ea typeface="Aptos" pitchFamily="34" charset="-122"/>
                <a:cs typeface="Aptos" pitchFamily="34" charset="-120"/>
              </a:rPr>
              <a:t>→</a:t>
            </a:r>
            <a:endParaRPr lang="en-US" sz="2200" dirty="0"/>
          </a:p>
        </p:txBody>
      </p:sp>
      <p:sp>
        <p:nvSpPr>
          <p:cNvPr id="13" name="Shape 10"/>
          <p:cNvSpPr/>
          <p:nvPr/>
        </p:nvSpPr>
        <p:spPr>
          <a:xfrm>
            <a:off x="8046720" y="2148840"/>
            <a:ext cx="2286000" cy="1234440"/>
          </a:xfrm>
          <a:prstGeom prst="roundRect">
            <a:avLst>
              <a:gd name="adj" fmla="val 8889"/>
            </a:avLst>
          </a:prstGeom>
          <a:solidFill>
            <a:srgbClr val="FBE9DF"/>
          </a:solidFill>
          <a:ln w="9525">
            <a:solidFill>
              <a:srgbClr val="F2C6AC"/>
            </a:solidFill>
            <a:prstDash val="solid"/>
          </a:ln>
          <a:effectLst>
            <a:outerShdw sx="100000" sy="100000" kx="0" ky="0" algn="bl" rotWithShape="0" blurRad="76200" dist="25400" dir="5400000">
              <a:srgbClr val="000000">
                <a:alpha val="12000"/>
              </a:srgbClr>
            </a:outerShdw>
          </a:effectLst>
        </p:spPr>
      </p:sp>
      <p:sp>
        <p:nvSpPr>
          <p:cNvPr id="14" name="Text 11"/>
          <p:cNvSpPr txBox="1"/>
          <p:nvPr/>
        </p:nvSpPr>
        <p:spPr>
          <a:xfrm>
            <a:off x="8229600" y="2148840"/>
            <a:ext cx="1920240" cy="1234440"/>
          </a:xfrm>
          <a:prstGeom prst="rect">
            <a:avLst/>
          </a:prstGeom>
          <a:noFill/>
          <a:ln/>
        </p:spPr>
        <p:txBody>
          <a:bodyPr wrap="square" lIns="0" tIns="0" rIns="0" bIns="0" rtlCol="0" anchor="ctr"/>
          <a:lstStyle/>
          <a:p>
            <a:pPr indent="0" marL="0">
              <a:buNone/>
            </a:pPr>
            <a:r>
              <a:rPr lang="en-US" sz="1400" b="1" dirty="0">
                <a:solidFill>
                  <a:srgbClr val="000000"/>
                </a:solidFill>
                <a:latin typeface="Aptos" pitchFamily="34" charset="0"/>
                <a:ea typeface="Aptos" pitchFamily="34" charset="-122"/>
                <a:cs typeface="Aptos" pitchFamily="34" charset="-120"/>
              </a:rPr>
              <a:t>Order summary panel beside the menu</a:t>
            </a:r>
            <a:endParaRPr lang="en-US" sz="1400" dirty="0"/>
          </a:p>
        </p:txBody>
      </p:sp>
      <p:sp>
        <p:nvSpPr>
          <p:cNvPr id="15" name="Text 12"/>
          <p:cNvSpPr txBox="1"/>
          <p:nvPr/>
        </p:nvSpPr>
        <p:spPr>
          <a:xfrm>
            <a:off x="10332720" y="2148840"/>
            <a:ext cx="274320" cy="1234440"/>
          </a:xfrm>
          <a:prstGeom prst="rect">
            <a:avLst/>
          </a:prstGeom>
          <a:noFill/>
          <a:ln/>
        </p:spPr>
        <p:txBody>
          <a:bodyPr wrap="square" lIns="0" tIns="0" rIns="0" bIns="0" rtlCol="0" anchor="ctr"/>
          <a:lstStyle/>
          <a:p>
            <a:pPr algn="ctr" indent="0" marL="0">
              <a:buNone/>
            </a:pPr>
            <a:r>
              <a:rPr lang="en-US" sz="2200" b="1" dirty="0">
                <a:solidFill>
                  <a:srgbClr val="E97132"/>
                </a:solidFill>
                <a:latin typeface="Aptos" pitchFamily="34" charset="0"/>
                <a:ea typeface="Aptos" pitchFamily="34" charset="-122"/>
                <a:cs typeface="Aptos" pitchFamily="34" charset="-120"/>
              </a:rPr>
              <a:t>→</a:t>
            </a:r>
            <a:endParaRPr lang="en-US" sz="2200" dirty="0"/>
          </a:p>
        </p:txBody>
      </p:sp>
      <p:sp>
        <p:nvSpPr>
          <p:cNvPr id="16" name="Shape 13"/>
          <p:cNvSpPr/>
          <p:nvPr/>
        </p:nvSpPr>
        <p:spPr>
          <a:xfrm>
            <a:off x="10607040" y="2148840"/>
            <a:ext cx="1051560" cy="1234440"/>
          </a:xfrm>
          <a:prstGeom prst="roundRect">
            <a:avLst>
              <a:gd name="adj" fmla="val 10435"/>
            </a:avLst>
          </a:prstGeom>
          <a:solidFill>
            <a:srgbClr val="E3F0FC"/>
          </a:solidFill>
          <a:ln w="9525">
            <a:solidFill>
              <a:srgbClr val="1E88E5"/>
            </a:solidFill>
            <a:prstDash val="solid"/>
          </a:ln>
          <a:effectLst>
            <a:outerShdw sx="100000" sy="100000" kx="0" ky="0" algn="bl" rotWithShape="0" blurRad="76200" dist="25400" dir="5400000">
              <a:srgbClr val="000000">
                <a:alpha val="12000"/>
              </a:srgbClr>
            </a:outerShdw>
          </a:effectLst>
        </p:spPr>
      </p:sp>
      <p:sp>
        <p:nvSpPr>
          <p:cNvPr id="17" name="Text 14"/>
          <p:cNvSpPr txBox="1"/>
          <p:nvPr/>
        </p:nvSpPr>
        <p:spPr>
          <a:xfrm>
            <a:off x="10607040" y="2148840"/>
            <a:ext cx="1051560" cy="1234440"/>
          </a:xfrm>
          <a:prstGeom prst="rect">
            <a:avLst/>
          </a:prstGeom>
          <a:noFill/>
          <a:ln/>
        </p:spPr>
        <p:txBody>
          <a:bodyPr wrap="square" lIns="0" tIns="0" rIns="0" bIns="0" rtlCol="0" anchor="ctr"/>
          <a:lstStyle/>
          <a:p>
            <a:pPr algn="ctr" indent="0" marL="0">
              <a:buNone/>
            </a:pPr>
            <a:r>
              <a:rPr lang="en-US" sz="1250" b="1" dirty="0">
                <a:solidFill>
                  <a:srgbClr val="0D47A1"/>
                </a:solidFill>
                <a:latin typeface="Consolas" pitchFamily="34" charset="0"/>
                <a:ea typeface="Consolas" pitchFamily="34" charset="-122"/>
                <a:cs typeface="Consolas" pitchFamily="34" charset="-120"/>
              </a:rPr>
              <a:t>&lt;aside&gt;</a:t>
            </a:r>
            <a:endParaRPr lang="en-US" sz="1250" dirty="0"/>
          </a:p>
        </p:txBody>
      </p:sp>
      <p:sp>
        <p:nvSpPr>
          <p:cNvPr id="18" name="Shape 15"/>
          <p:cNvSpPr/>
          <p:nvPr/>
        </p:nvSpPr>
        <p:spPr>
          <a:xfrm>
            <a:off x="4754880" y="3657600"/>
            <a:ext cx="3017520" cy="1234440"/>
          </a:xfrm>
          <a:prstGeom prst="roundRect">
            <a:avLst>
              <a:gd name="adj" fmla="val 888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9" name="Text 16"/>
          <p:cNvSpPr txBox="1"/>
          <p:nvPr/>
        </p:nvSpPr>
        <p:spPr>
          <a:xfrm>
            <a:off x="4937760" y="3794760"/>
            <a:ext cx="2651760" cy="96012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As a </a:t>
            </a:r>
            <a:pPr indent="0" marL="0">
              <a:buNone/>
            </a:pPr>
            <a:r>
              <a:rPr lang="en-US" sz="1350" b="1" dirty="0">
                <a:solidFill>
                  <a:srgbClr val="262626"/>
                </a:solidFill>
                <a:latin typeface="Aptos" pitchFamily="34" charset="0"/>
                <a:ea typeface="Aptos" pitchFamily="34" charset="-122"/>
                <a:cs typeface="Aptos" pitchFamily="34" charset="-120"/>
              </a:rPr>
              <a:t>hungry customer</a:t>
            </a:r>
            <a:pPr indent="0" marL="0">
              <a:buNone/>
            </a:pPr>
            <a:r>
              <a:rPr lang="en-US" sz="1350" dirty="0">
                <a:solidFill>
                  <a:srgbClr val="262626"/>
                </a:solidFill>
                <a:latin typeface="Aptos" pitchFamily="34" charset="0"/>
                <a:ea typeface="Aptos" pitchFamily="34" charset="-122"/>
                <a:cs typeface="Aptos" pitchFamily="34" charset="-120"/>
              </a:rPr>
              <a:t>, I want to </a:t>
            </a:r>
            <a:pPr indent="0" marL="0">
              <a:buNone/>
            </a:pPr>
            <a:r>
              <a:rPr lang="en-US" sz="1350" b="1" dirty="0">
                <a:solidFill>
                  <a:srgbClr val="262626"/>
                </a:solidFill>
                <a:latin typeface="Aptos" pitchFamily="34" charset="0"/>
                <a:ea typeface="Aptos" pitchFamily="34" charset="-122"/>
                <a:cs typeface="Aptos" pitchFamily="34" charset="-120"/>
              </a:rPr>
              <a:t>browse the menu by category</a:t>
            </a:r>
            <a:pPr indent="0" marL="0">
              <a:buNone/>
            </a:pPr>
            <a:r>
              <a:rPr lang="en-US" sz="1350" dirty="0">
                <a:solidFill>
                  <a:srgbClr val="262626"/>
                </a:solidFill>
                <a:latin typeface="Aptos" pitchFamily="34" charset="0"/>
                <a:ea typeface="Aptos" pitchFamily="34" charset="-122"/>
                <a:cs typeface="Aptos" pitchFamily="34" charset="-120"/>
              </a:rPr>
              <a:t> so that I can find what I want quickly.</a:t>
            </a:r>
            <a:endParaRPr lang="en-US" sz="1350" dirty="0"/>
          </a:p>
        </p:txBody>
      </p:sp>
      <p:sp>
        <p:nvSpPr>
          <p:cNvPr id="20" name="Text 17"/>
          <p:cNvSpPr txBox="1"/>
          <p:nvPr/>
        </p:nvSpPr>
        <p:spPr>
          <a:xfrm>
            <a:off x="7772400" y="3657600"/>
            <a:ext cx="274320" cy="1234440"/>
          </a:xfrm>
          <a:prstGeom prst="rect">
            <a:avLst/>
          </a:prstGeom>
          <a:noFill/>
          <a:ln/>
        </p:spPr>
        <p:txBody>
          <a:bodyPr wrap="square" lIns="0" tIns="0" rIns="0" bIns="0" rtlCol="0" anchor="ctr"/>
          <a:lstStyle/>
          <a:p>
            <a:pPr algn="ctr" indent="0" marL="0">
              <a:buNone/>
            </a:pPr>
            <a:r>
              <a:rPr lang="en-US" sz="2200" b="1" dirty="0">
                <a:solidFill>
                  <a:srgbClr val="E97132"/>
                </a:solidFill>
                <a:latin typeface="Aptos" pitchFamily="34" charset="0"/>
                <a:ea typeface="Aptos" pitchFamily="34" charset="-122"/>
                <a:cs typeface="Aptos" pitchFamily="34" charset="-120"/>
              </a:rPr>
              <a:t>→</a:t>
            </a:r>
            <a:endParaRPr lang="en-US" sz="2200" dirty="0"/>
          </a:p>
        </p:txBody>
      </p:sp>
      <p:sp>
        <p:nvSpPr>
          <p:cNvPr id="21" name="Shape 18"/>
          <p:cNvSpPr/>
          <p:nvPr/>
        </p:nvSpPr>
        <p:spPr>
          <a:xfrm>
            <a:off x="8046720" y="3657600"/>
            <a:ext cx="2286000" cy="1234440"/>
          </a:xfrm>
          <a:prstGeom prst="roundRect">
            <a:avLst>
              <a:gd name="adj" fmla="val 8889"/>
            </a:avLst>
          </a:prstGeom>
          <a:solidFill>
            <a:srgbClr val="FBE9DF"/>
          </a:solidFill>
          <a:ln w="9525">
            <a:solidFill>
              <a:srgbClr val="F2C6AC"/>
            </a:solidFill>
            <a:prstDash val="solid"/>
          </a:ln>
          <a:effectLst>
            <a:outerShdw sx="100000" sy="100000" kx="0" ky="0" algn="bl" rotWithShape="0" blurRad="76200" dist="25400" dir="5400000">
              <a:srgbClr val="000000">
                <a:alpha val="12000"/>
              </a:srgbClr>
            </a:outerShdw>
          </a:effectLst>
        </p:spPr>
      </p:sp>
      <p:sp>
        <p:nvSpPr>
          <p:cNvPr id="22" name="Text 19"/>
          <p:cNvSpPr txBox="1"/>
          <p:nvPr/>
        </p:nvSpPr>
        <p:spPr>
          <a:xfrm>
            <a:off x="8229600" y="3657600"/>
            <a:ext cx="1920240" cy="1234440"/>
          </a:xfrm>
          <a:prstGeom prst="rect">
            <a:avLst/>
          </a:prstGeom>
          <a:noFill/>
          <a:ln/>
        </p:spPr>
        <p:txBody>
          <a:bodyPr wrap="square" lIns="0" tIns="0" rIns="0" bIns="0" rtlCol="0" anchor="ctr"/>
          <a:lstStyle/>
          <a:p>
            <a:pPr indent="0" marL="0">
              <a:buNone/>
            </a:pPr>
            <a:r>
              <a:rPr lang="en-US" sz="1400" b="1" dirty="0">
                <a:solidFill>
                  <a:srgbClr val="000000"/>
                </a:solidFill>
                <a:latin typeface="Aptos" pitchFamily="34" charset="0"/>
                <a:ea typeface="Aptos" pitchFamily="34" charset="-122"/>
                <a:cs typeface="Aptos" pitchFamily="34" charset="-120"/>
              </a:rPr>
              <a:t>Category tabs and a grid of menu cards</a:t>
            </a:r>
            <a:endParaRPr lang="en-US" sz="1400" dirty="0"/>
          </a:p>
        </p:txBody>
      </p:sp>
      <p:sp>
        <p:nvSpPr>
          <p:cNvPr id="23" name="Text 20"/>
          <p:cNvSpPr txBox="1"/>
          <p:nvPr/>
        </p:nvSpPr>
        <p:spPr>
          <a:xfrm>
            <a:off x="10332720" y="3657600"/>
            <a:ext cx="274320" cy="1234440"/>
          </a:xfrm>
          <a:prstGeom prst="rect">
            <a:avLst/>
          </a:prstGeom>
          <a:noFill/>
          <a:ln/>
        </p:spPr>
        <p:txBody>
          <a:bodyPr wrap="square" lIns="0" tIns="0" rIns="0" bIns="0" rtlCol="0" anchor="ctr"/>
          <a:lstStyle/>
          <a:p>
            <a:pPr algn="ctr" indent="0" marL="0">
              <a:buNone/>
            </a:pPr>
            <a:r>
              <a:rPr lang="en-US" sz="2200" b="1" dirty="0">
                <a:solidFill>
                  <a:srgbClr val="E97132"/>
                </a:solidFill>
                <a:latin typeface="Aptos" pitchFamily="34" charset="0"/>
                <a:ea typeface="Aptos" pitchFamily="34" charset="-122"/>
                <a:cs typeface="Aptos" pitchFamily="34" charset="-120"/>
              </a:rPr>
              <a:t>→</a:t>
            </a:r>
            <a:endParaRPr lang="en-US" sz="2200" dirty="0"/>
          </a:p>
        </p:txBody>
      </p:sp>
      <p:sp>
        <p:nvSpPr>
          <p:cNvPr id="24" name="Shape 21"/>
          <p:cNvSpPr/>
          <p:nvPr/>
        </p:nvSpPr>
        <p:spPr>
          <a:xfrm>
            <a:off x="10607040" y="3657600"/>
            <a:ext cx="1051560" cy="1234440"/>
          </a:xfrm>
          <a:prstGeom prst="roundRect">
            <a:avLst>
              <a:gd name="adj" fmla="val 10435"/>
            </a:avLst>
          </a:prstGeom>
          <a:solidFill>
            <a:srgbClr val="E3F0FC"/>
          </a:solidFill>
          <a:ln w="9525">
            <a:solidFill>
              <a:srgbClr val="1E88E5"/>
            </a:solidFill>
            <a:prstDash val="solid"/>
          </a:ln>
          <a:effectLst>
            <a:outerShdw sx="100000" sy="100000" kx="0" ky="0" algn="bl" rotWithShape="0" blurRad="76200" dist="25400" dir="5400000">
              <a:srgbClr val="000000">
                <a:alpha val="12000"/>
              </a:srgbClr>
            </a:outerShdw>
          </a:effectLst>
        </p:spPr>
      </p:sp>
      <p:sp>
        <p:nvSpPr>
          <p:cNvPr id="25" name="Text 22"/>
          <p:cNvSpPr txBox="1"/>
          <p:nvPr/>
        </p:nvSpPr>
        <p:spPr>
          <a:xfrm>
            <a:off x="10607040" y="3657600"/>
            <a:ext cx="1051560" cy="1234440"/>
          </a:xfrm>
          <a:prstGeom prst="rect">
            <a:avLst/>
          </a:prstGeom>
          <a:noFill/>
          <a:ln/>
        </p:spPr>
        <p:txBody>
          <a:bodyPr wrap="square" lIns="0" tIns="0" rIns="0" bIns="0" rtlCol="0" anchor="ctr"/>
          <a:lstStyle/>
          <a:p>
            <a:pPr algn="ctr" indent="0" marL="0">
              <a:buNone/>
            </a:pPr>
            <a:r>
              <a:rPr lang="en-US" sz="1250" b="1" dirty="0">
                <a:solidFill>
                  <a:srgbClr val="0D47A1"/>
                </a:solidFill>
                <a:latin typeface="Consolas" pitchFamily="34" charset="0"/>
                <a:ea typeface="Consolas" pitchFamily="34" charset="-122"/>
                <a:cs typeface="Consolas" pitchFamily="34" charset="-120"/>
              </a:rPr>
              <a:t>&lt;article&gt;</a:t>
            </a:r>
            <a:endParaRPr lang="en-US" sz="1250" dirty="0"/>
          </a:p>
          <a:p>
            <a:pPr algn="ctr" indent="0" marL="0">
              <a:buNone/>
            </a:pPr>
            <a:r>
              <a:rPr lang="en-US" sz="1250" b="1" dirty="0">
                <a:solidFill>
                  <a:srgbClr val="0D47A1"/>
                </a:solidFill>
                <a:latin typeface="Consolas" pitchFamily="34" charset="0"/>
                <a:ea typeface="Consolas" pitchFamily="34" charset="-122"/>
                <a:cs typeface="Consolas" pitchFamily="34" charset="-120"/>
              </a:rPr>
              <a:t>per card</a:t>
            </a:r>
            <a:endParaRPr lang="en-US" sz="1250" dirty="0"/>
          </a:p>
        </p:txBody>
      </p:sp>
      <p:sp>
        <p:nvSpPr>
          <p:cNvPr id="26" name="Shape 23"/>
          <p:cNvSpPr/>
          <p:nvPr/>
        </p:nvSpPr>
        <p:spPr>
          <a:xfrm>
            <a:off x="4754880" y="5303520"/>
            <a:ext cx="6903720" cy="868680"/>
          </a:xfrm>
          <a:prstGeom prst="roundRect">
            <a:avLst>
              <a:gd name="adj" fmla="val 12632"/>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27" name="Text 24"/>
          <p:cNvSpPr txBox="1"/>
          <p:nvPr/>
        </p:nvSpPr>
        <p:spPr>
          <a:xfrm>
            <a:off x="5029200" y="5303520"/>
            <a:ext cx="6355080" cy="868680"/>
          </a:xfrm>
          <a:prstGeom prst="rect">
            <a:avLst/>
          </a:prstGeom>
          <a:noFill/>
          <a:ln/>
        </p:spPr>
        <p:txBody>
          <a:bodyPr wrap="square" lIns="0" tIns="0" rIns="0" bIns="0" rtlCol="0" anchor="ctr"/>
          <a:lstStyle/>
          <a:p>
            <a:pPr indent="0" marL="0">
              <a:buNone/>
            </a:pPr>
            <a:r>
              <a:rPr lang="en-US" sz="1500" dirty="0">
                <a:solidFill>
                  <a:srgbClr val="FFFFFF"/>
                </a:solidFill>
                <a:latin typeface="Aptos" pitchFamily="34" charset="0"/>
                <a:ea typeface="Aptos" pitchFamily="34" charset="-122"/>
                <a:cs typeface="Aptos" pitchFamily="34" charset="-120"/>
              </a:rPr>
              <a:t>Every story needs a place on the page. Number your stories and put the numbers on your wireframe.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926080" y="640080"/>
            <a:ext cx="8412480" cy="4206240"/>
          </a:xfrm>
          <a:prstGeom prst="rect">
            <a:avLst/>
          </a:prstGeom>
          <a:noFill/>
          <a:ln/>
        </p:spPr>
        <p:txBody>
          <a:bodyPr wrap="square" lIns="0" tIns="0" rIns="0" bIns="0" rtlCol="0" anchor="ctr"/>
          <a:lstStyle/>
          <a:p>
            <a:pPr algn="r" indent="0" marL="0">
              <a:buNone/>
            </a:pPr>
            <a:r>
              <a:rPr lang="en-US" sz="6000" dirty="0">
                <a:solidFill>
                  <a:srgbClr val="FFFFFF"/>
                </a:solidFill>
                <a:latin typeface="Aptos" pitchFamily="34" charset="0"/>
                <a:ea typeface="Aptos" pitchFamily="34" charset="-122"/>
                <a:cs typeface="Aptos" pitchFamily="34" charset="-120"/>
              </a:rPr>
              <a:t>Guided Example</a:t>
            </a:r>
            <a:endParaRPr lang="en-US" sz="6000" dirty="0"/>
          </a:p>
        </p:txBody>
      </p:sp>
      <p:sp>
        <p:nvSpPr>
          <p:cNvPr id="3" name="Text 1"/>
          <p:cNvSpPr txBox="1"/>
          <p:nvPr/>
        </p:nvSpPr>
        <p:spPr>
          <a:xfrm>
            <a:off x="1417320" y="5989320"/>
            <a:ext cx="10058400" cy="411480"/>
          </a:xfrm>
          <a:prstGeom prst="rect">
            <a:avLst/>
          </a:prstGeom>
          <a:noFill/>
          <a:ln/>
        </p:spPr>
        <p:txBody>
          <a:bodyPr wrap="square" lIns="0" tIns="0" rIns="0" bIns="0" rtlCol="0" anchor="ctr"/>
          <a:lstStyle/>
          <a:p>
            <a:pPr indent="0" marL="0">
              <a:buNone/>
            </a:pPr>
            <a:r>
              <a:rPr lang="en-US" sz="1800" dirty="0">
                <a:solidFill>
                  <a:srgbClr val="FFFFFF"/>
                </a:solidFill>
                <a:latin typeface="Aptos" pitchFamily="34" charset="0"/>
                <a:ea typeface="Aptos" pitchFamily="34" charset="-122"/>
                <a:cs typeface="Aptos" pitchFamily="34" charset="-120"/>
              </a:rPr>
              <a:t>Harbourside Fish &amp; Chips   ·   online ordering page   ·   desktop + mobile</a:t>
            </a:r>
            <a:endParaRPr lang="en-US" sz="1800" dirty="0"/>
          </a:p>
        </p:txBody>
      </p:sp>
      <p:sp>
        <p:nvSpPr>
          <p:cNvPr id="4" name="Shape 2"/>
          <p:cNvSpPr/>
          <p:nvPr/>
        </p:nvSpPr>
        <p:spPr>
          <a:xfrm>
            <a:off x="914400" y="3840480"/>
            <a:ext cx="0" cy="3017520"/>
          </a:xfrm>
          <a:prstGeom prst="line">
            <a:avLst/>
          </a:prstGeom>
          <a:noFill/>
          <a:ln w="25400">
            <a:solidFill>
              <a:srgbClr val="FFFFFF"/>
            </a:solidFill>
            <a:prstDash val="solid"/>
          </a:ln>
        </p:spPr>
      </p:sp>
      <p:sp>
        <p:nvSpPr>
          <p:cNvPr id="5" name="Text 3"/>
          <p:cNvSpPr txBox="1"/>
          <p:nvPr/>
        </p:nvSpPr>
        <p:spPr>
          <a:xfrm>
            <a:off x="3794760" y="5029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6" name="Text 4"/>
          <p:cNvSpPr txBox="1"/>
          <p:nvPr/>
        </p:nvSpPr>
        <p:spPr>
          <a:xfrm>
            <a:off x="4160520" y="7315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7" name="Text 5"/>
          <p:cNvSpPr txBox="1"/>
          <p:nvPr/>
        </p:nvSpPr>
        <p:spPr>
          <a:xfrm>
            <a:off x="3749040" y="914400"/>
            <a:ext cx="36576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Aptos" pitchFamily="34" charset="0"/>
                <a:ea typeface="Aptos" pitchFamily="34" charset="-122"/>
                <a:cs typeface="Aptos" pitchFamily="34" charset="-120"/>
              </a:rPr>
              <a:t>○</a:t>
            </a:r>
            <a:endParaRPr lang="en-US" sz="1600" dirty="0"/>
          </a:p>
        </p:txBody>
      </p:sp>
      <p:sp>
        <p:nvSpPr>
          <p:cNvPr id="8" name="Text 6"/>
          <p:cNvSpPr txBox="1"/>
          <p:nvPr/>
        </p:nvSpPr>
        <p:spPr>
          <a:xfrm>
            <a:off x="11521440" y="57607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9" name="Text 7"/>
          <p:cNvSpPr txBox="1"/>
          <p:nvPr/>
        </p:nvSpPr>
        <p:spPr>
          <a:xfrm>
            <a:off x="11292840" y="626364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10" name="Text 8"/>
          <p:cNvSpPr txBox="1"/>
          <p:nvPr/>
        </p:nvSpPr>
        <p:spPr>
          <a:xfrm>
            <a:off x="11887200" y="6263640"/>
            <a:ext cx="36576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Aptos" pitchFamily="34" charset="0"/>
                <a:ea typeface="Aptos" pitchFamily="34" charset="-122"/>
                <a:cs typeface="Aptos" pitchFamily="34" charset="-120"/>
              </a:rPr>
              <a: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Usability and Design Principles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The Client: Harbourside Fish &amp; Chips</a:t>
            </a:r>
            <a:endParaRPr lang="en-US" sz="2800" dirty="0"/>
          </a:p>
        </p:txBody>
      </p:sp>
      <p:sp>
        <p:nvSpPr>
          <p:cNvPr id="7" name="Text 4"/>
          <p:cNvSpPr txBox="1"/>
          <p:nvPr/>
        </p:nvSpPr>
        <p:spPr>
          <a:xfrm>
            <a:off x="4754880" y="1691640"/>
            <a:ext cx="6903720" cy="548640"/>
          </a:xfrm>
          <a:prstGeom prst="rect">
            <a:avLst/>
          </a:prstGeom>
          <a:noFill/>
          <a:ln/>
        </p:spPr>
        <p:txBody>
          <a:bodyPr wrap="square" lIns="0" tIns="0" rIns="0" bIns="0" rtlCol="0" anchor="ctr"/>
          <a:lstStyle/>
          <a:p>
            <a:pPr indent="0" marL="0">
              <a:buNone/>
            </a:pPr>
            <a:r>
              <a:rPr lang="en-US" sz="1500" dirty="0">
                <a:solidFill>
                  <a:srgbClr val="262626"/>
                </a:solidFill>
                <a:latin typeface="Aptos" pitchFamily="34" charset="0"/>
                <a:ea typeface="Aptos" pitchFamily="34" charset="-122"/>
                <a:cs typeface="Aptos" pitchFamily="34" charset="-120"/>
              </a:rPr>
              <a:t>A small takeout on the Yarmouth waterfront. They want customers to order online, from a laptop or a phone.</a:t>
            </a:r>
            <a:endParaRPr lang="en-US" sz="1500" dirty="0"/>
          </a:p>
        </p:txBody>
      </p:sp>
      <p:sp>
        <p:nvSpPr>
          <p:cNvPr id="8" name="Shape 5"/>
          <p:cNvSpPr/>
          <p:nvPr/>
        </p:nvSpPr>
        <p:spPr>
          <a:xfrm>
            <a:off x="4754880" y="2377440"/>
            <a:ext cx="6903720" cy="658368"/>
          </a:xfrm>
          <a:prstGeom prst="roundRect">
            <a:avLst>
              <a:gd name="adj" fmla="val 16667"/>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9" name="Shape 6"/>
          <p:cNvSpPr/>
          <p:nvPr/>
        </p:nvSpPr>
        <p:spPr>
          <a:xfrm>
            <a:off x="4892040" y="2496312"/>
            <a:ext cx="420624" cy="420624"/>
          </a:xfrm>
          <a:prstGeom prst="ellipse">
            <a:avLst/>
          </a:prstGeom>
          <a:solidFill>
            <a:srgbClr val="E97132"/>
          </a:solidFill>
          <a:ln w="12700">
            <a:solidFill>
              <a:srgbClr val="E97132"/>
            </a:solidFill>
            <a:prstDash val="solid"/>
          </a:ln>
        </p:spPr>
      </p:sp>
      <p:sp>
        <p:nvSpPr>
          <p:cNvPr id="10" name="Text 7"/>
          <p:cNvSpPr txBox="1"/>
          <p:nvPr/>
        </p:nvSpPr>
        <p:spPr>
          <a:xfrm>
            <a:off x="4892040" y="249631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11" name="Text 8"/>
          <p:cNvSpPr txBox="1"/>
          <p:nvPr/>
        </p:nvSpPr>
        <p:spPr>
          <a:xfrm>
            <a:off x="5486400" y="2377440"/>
            <a:ext cx="5989320" cy="658368"/>
          </a:xfrm>
          <a:prstGeom prst="rect">
            <a:avLst/>
          </a:prstGeom>
          <a:noFill/>
          <a:ln/>
        </p:spPr>
        <p:txBody>
          <a:bodyPr wrap="square" lIns="0" tIns="0" rIns="0" bIns="0" rtlCol="0" anchor="ctr"/>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As a </a:t>
            </a:r>
            <a:pPr indent="0" marL="0">
              <a:buNone/>
            </a:pPr>
            <a:r>
              <a:rPr lang="en-US" sz="1450" b="1" dirty="0">
                <a:solidFill>
                  <a:srgbClr val="262626"/>
                </a:solidFill>
                <a:latin typeface="Aptos" pitchFamily="34" charset="0"/>
                <a:ea typeface="Aptos" pitchFamily="34" charset="-122"/>
                <a:cs typeface="Aptos" pitchFamily="34" charset="-120"/>
              </a:rPr>
              <a:t>hungry customer</a:t>
            </a:r>
            <a:pPr indent="0" marL="0">
              <a:buNone/>
            </a:pPr>
            <a:r>
              <a:rPr lang="en-US" sz="1450" dirty="0">
                <a:solidFill>
                  <a:srgbClr val="262626"/>
                </a:solidFill>
                <a:latin typeface="Aptos" pitchFamily="34" charset="0"/>
                <a:ea typeface="Aptos" pitchFamily="34" charset="-122"/>
                <a:cs typeface="Aptos" pitchFamily="34" charset="-120"/>
              </a:rPr>
              <a:t>, I want to </a:t>
            </a:r>
            <a:pPr indent="0" marL="0">
              <a:buNone/>
            </a:pPr>
            <a:r>
              <a:rPr lang="en-US" sz="1450" b="1" dirty="0">
                <a:solidFill>
                  <a:srgbClr val="262626"/>
                </a:solidFill>
                <a:latin typeface="Aptos" pitchFamily="34" charset="0"/>
                <a:ea typeface="Aptos" pitchFamily="34" charset="-122"/>
                <a:cs typeface="Aptos" pitchFamily="34" charset="-120"/>
              </a:rPr>
              <a:t>browse the menu by category</a:t>
            </a:r>
            <a:pPr indent="0" marL="0">
              <a:buNone/>
            </a:pPr>
            <a:r>
              <a:rPr lang="en-US" sz="1450" dirty="0">
                <a:solidFill>
                  <a:srgbClr val="262626"/>
                </a:solidFill>
                <a:latin typeface="Aptos" pitchFamily="34" charset="0"/>
                <a:ea typeface="Aptos" pitchFamily="34" charset="-122"/>
                <a:cs typeface="Aptos" pitchFamily="34" charset="-120"/>
              </a:rPr>
              <a:t> so that I can find what I want quickly.</a:t>
            </a:r>
            <a:endParaRPr lang="en-US" sz="1450" dirty="0"/>
          </a:p>
        </p:txBody>
      </p:sp>
      <p:sp>
        <p:nvSpPr>
          <p:cNvPr id="12" name="Shape 9"/>
          <p:cNvSpPr/>
          <p:nvPr/>
        </p:nvSpPr>
        <p:spPr>
          <a:xfrm>
            <a:off x="4754880" y="3163824"/>
            <a:ext cx="6903720" cy="658368"/>
          </a:xfrm>
          <a:prstGeom prst="roundRect">
            <a:avLst>
              <a:gd name="adj" fmla="val 16667"/>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4892040" y="3282696"/>
            <a:ext cx="420624" cy="420624"/>
          </a:xfrm>
          <a:prstGeom prst="ellipse">
            <a:avLst/>
          </a:prstGeom>
          <a:solidFill>
            <a:srgbClr val="E97132"/>
          </a:solidFill>
          <a:ln w="12700">
            <a:solidFill>
              <a:srgbClr val="E97132"/>
            </a:solidFill>
            <a:prstDash val="solid"/>
          </a:ln>
        </p:spPr>
      </p:sp>
      <p:sp>
        <p:nvSpPr>
          <p:cNvPr id="14" name="Text 11"/>
          <p:cNvSpPr txBox="1"/>
          <p:nvPr/>
        </p:nvSpPr>
        <p:spPr>
          <a:xfrm>
            <a:off x="4892040" y="3282696"/>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5" name="Text 12"/>
          <p:cNvSpPr txBox="1"/>
          <p:nvPr/>
        </p:nvSpPr>
        <p:spPr>
          <a:xfrm>
            <a:off x="5486400" y="3163824"/>
            <a:ext cx="5989320" cy="658368"/>
          </a:xfrm>
          <a:prstGeom prst="rect">
            <a:avLst/>
          </a:prstGeom>
          <a:noFill/>
          <a:ln/>
        </p:spPr>
        <p:txBody>
          <a:bodyPr wrap="square" lIns="0" tIns="0" rIns="0" bIns="0" rtlCol="0" anchor="ctr"/>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As a </a:t>
            </a:r>
            <a:pPr indent="0" marL="0">
              <a:buNone/>
            </a:pPr>
            <a:r>
              <a:rPr lang="en-US" sz="1450" b="1" dirty="0">
                <a:solidFill>
                  <a:srgbClr val="262626"/>
                </a:solidFill>
                <a:latin typeface="Aptos" pitchFamily="34" charset="0"/>
                <a:ea typeface="Aptos" pitchFamily="34" charset="-122"/>
                <a:cs typeface="Aptos" pitchFamily="34" charset="-120"/>
              </a:rPr>
              <a:t>customer</a:t>
            </a:r>
            <a:pPr indent="0" marL="0">
              <a:buNone/>
            </a:pPr>
            <a:r>
              <a:rPr lang="en-US" sz="1450" dirty="0">
                <a:solidFill>
                  <a:srgbClr val="262626"/>
                </a:solidFill>
                <a:latin typeface="Aptos" pitchFamily="34" charset="0"/>
                <a:ea typeface="Aptos" pitchFamily="34" charset="-122"/>
                <a:cs typeface="Aptos" pitchFamily="34" charset="-120"/>
              </a:rPr>
              <a:t>, I want to </a:t>
            </a:r>
            <a:pPr indent="0" marL="0">
              <a:buNone/>
            </a:pPr>
            <a:r>
              <a:rPr lang="en-US" sz="1450" b="1" dirty="0">
                <a:solidFill>
                  <a:srgbClr val="262626"/>
                </a:solidFill>
                <a:latin typeface="Aptos" pitchFamily="34" charset="0"/>
                <a:ea typeface="Aptos" pitchFamily="34" charset="-122"/>
                <a:cs typeface="Aptos" pitchFamily="34" charset="-120"/>
              </a:rPr>
              <a:t>choose pickup or delivery and a time</a:t>
            </a:r>
            <a:pPr indent="0" marL="0">
              <a:buNone/>
            </a:pPr>
            <a:r>
              <a:rPr lang="en-US" sz="1450" dirty="0">
                <a:solidFill>
                  <a:srgbClr val="262626"/>
                </a:solidFill>
                <a:latin typeface="Aptos" pitchFamily="34" charset="0"/>
                <a:ea typeface="Aptos" pitchFamily="34" charset="-122"/>
                <a:cs typeface="Aptos" pitchFamily="34" charset="-120"/>
              </a:rPr>
              <a:t> so that my food is ready when I get there.</a:t>
            </a:r>
            <a:endParaRPr lang="en-US" sz="1450" dirty="0"/>
          </a:p>
        </p:txBody>
      </p:sp>
      <p:sp>
        <p:nvSpPr>
          <p:cNvPr id="16" name="Shape 13"/>
          <p:cNvSpPr/>
          <p:nvPr/>
        </p:nvSpPr>
        <p:spPr>
          <a:xfrm>
            <a:off x="4754880" y="3950208"/>
            <a:ext cx="6903720" cy="658368"/>
          </a:xfrm>
          <a:prstGeom prst="roundRect">
            <a:avLst>
              <a:gd name="adj" fmla="val 16667"/>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7" name="Shape 14"/>
          <p:cNvSpPr/>
          <p:nvPr/>
        </p:nvSpPr>
        <p:spPr>
          <a:xfrm>
            <a:off x="4892040" y="4069080"/>
            <a:ext cx="420624" cy="420624"/>
          </a:xfrm>
          <a:prstGeom prst="ellipse">
            <a:avLst/>
          </a:prstGeom>
          <a:solidFill>
            <a:srgbClr val="E97132"/>
          </a:solidFill>
          <a:ln w="12700">
            <a:solidFill>
              <a:srgbClr val="E97132"/>
            </a:solidFill>
            <a:prstDash val="solid"/>
          </a:ln>
        </p:spPr>
      </p:sp>
      <p:sp>
        <p:nvSpPr>
          <p:cNvPr id="18" name="Text 15"/>
          <p:cNvSpPr txBox="1"/>
          <p:nvPr/>
        </p:nvSpPr>
        <p:spPr>
          <a:xfrm>
            <a:off x="4892040" y="406908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19" name="Text 16"/>
          <p:cNvSpPr txBox="1"/>
          <p:nvPr/>
        </p:nvSpPr>
        <p:spPr>
          <a:xfrm>
            <a:off x="5486400" y="3950208"/>
            <a:ext cx="5989320" cy="658368"/>
          </a:xfrm>
          <a:prstGeom prst="rect">
            <a:avLst/>
          </a:prstGeom>
          <a:noFill/>
          <a:ln/>
        </p:spPr>
        <p:txBody>
          <a:bodyPr wrap="square" lIns="0" tIns="0" rIns="0" bIns="0" rtlCol="0" anchor="ctr"/>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As a </a:t>
            </a:r>
            <a:pPr indent="0" marL="0">
              <a:buNone/>
            </a:pPr>
            <a:r>
              <a:rPr lang="en-US" sz="1450" b="1" dirty="0">
                <a:solidFill>
                  <a:srgbClr val="262626"/>
                </a:solidFill>
                <a:latin typeface="Aptos" pitchFamily="34" charset="0"/>
                <a:ea typeface="Aptos" pitchFamily="34" charset="-122"/>
                <a:cs typeface="Aptos" pitchFamily="34" charset="-120"/>
              </a:rPr>
              <a:t>customer</a:t>
            </a:r>
            <a:pPr indent="0" marL="0">
              <a:buNone/>
            </a:pPr>
            <a:r>
              <a:rPr lang="en-US" sz="1450" dirty="0">
                <a:solidFill>
                  <a:srgbClr val="262626"/>
                </a:solidFill>
                <a:latin typeface="Aptos" pitchFamily="34" charset="0"/>
                <a:ea typeface="Aptos" pitchFamily="34" charset="-122"/>
                <a:cs typeface="Aptos" pitchFamily="34" charset="-120"/>
              </a:rPr>
              <a:t>, I want to </a:t>
            </a:r>
            <a:pPr indent="0" marL="0">
              <a:buNone/>
            </a:pPr>
            <a:r>
              <a:rPr lang="en-US" sz="1450" b="1" dirty="0">
                <a:solidFill>
                  <a:srgbClr val="262626"/>
                </a:solidFill>
                <a:latin typeface="Aptos" pitchFamily="34" charset="0"/>
                <a:ea typeface="Aptos" pitchFamily="34" charset="-122"/>
                <a:cs typeface="Aptos" pitchFamily="34" charset="-120"/>
              </a:rPr>
              <a:t>see my order and total while I'm still browsing</a:t>
            </a:r>
            <a:pPr indent="0" marL="0">
              <a:buNone/>
            </a:pPr>
            <a:r>
              <a:rPr lang="en-US" sz="1450" dirty="0">
                <a:solidFill>
                  <a:srgbClr val="262626"/>
                </a:solidFill>
                <a:latin typeface="Aptos" pitchFamily="34" charset="0"/>
                <a:ea typeface="Aptos" pitchFamily="34" charset="-122"/>
                <a:cs typeface="Aptos" pitchFamily="34" charset="-120"/>
              </a:rPr>
              <a:t> so that I don't go over budget.</a:t>
            </a:r>
            <a:endParaRPr lang="en-US" sz="1450" dirty="0"/>
          </a:p>
        </p:txBody>
      </p:sp>
      <p:sp>
        <p:nvSpPr>
          <p:cNvPr id="20" name="Shape 17"/>
          <p:cNvSpPr/>
          <p:nvPr/>
        </p:nvSpPr>
        <p:spPr>
          <a:xfrm>
            <a:off x="4754880" y="4736592"/>
            <a:ext cx="6903720" cy="658368"/>
          </a:xfrm>
          <a:prstGeom prst="roundRect">
            <a:avLst>
              <a:gd name="adj" fmla="val 16667"/>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1" name="Shape 18"/>
          <p:cNvSpPr/>
          <p:nvPr/>
        </p:nvSpPr>
        <p:spPr>
          <a:xfrm>
            <a:off x="4892040" y="4855464"/>
            <a:ext cx="420624" cy="420624"/>
          </a:xfrm>
          <a:prstGeom prst="ellipse">
            <a:avLst/>
          </a:prstGeom>
          <a:solidFill>
            <a:srgbClr val="E97132"/>
          </a:solidFill>
          <a:ln w="12700">
            <a:solidFill>
              <a:srgbClr val="E97132"/>
            </a:solidFill>
            <a:prstDash val="solid"/>
          </a:ln>
        </p:spPr>
      </p:sp>
      <p:sp>
        <p:nvSpPr>
          <p:cNvPr id="22" name="Text 19"/>
          <p:cNvSpPr txBox="1"/>
          <p:nvPr/>
        </p:nvSpPr>
        <p:spPr>
          <a:xfrm>
            <a:off x="4892040" y="4855464"/>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23" name="Text 20"/>
          <p:cNvSpPr txBox="1"/>
          <p:nvPr/>
        </p:nvSpPr>
        <p:spPr>
          <a:xfrm>
            <a:off x="5486400" y="4736592"/>
            <a:ext cx="5989320" cy="658368"/>
          </a:xfrm>
          <a:prstGeom prst="rect">
            <a:avLst/>
          </a:prstGeom>
          <a:noFill/>
          <a:ln/>
        </p:spPr>
        <p:txBody>
          <a:bodyPr wrap="square" lIns="0" tIns="0" rIns="0" bIns="0" rtlCol="0" anchor="ctr"/>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As a </a:t>
            </a:r>
            <a:pPr indent="0" marL="0">
              <a:buNone/>
            </a:pPr>
            <a:r>
              <a:rPr lang="en-US" sz="1450" b="1" dirty="0">
                <a:solidFill>
                  <a:srgbClr val="262626"/>
                </a:solidFill>
                <a:latin typeface="Aptos" pitchFamily="34" charset="0"/>
                <a:ea typeface="Aptos" pitchFamily="34" charset="-122"/>
                <a:cs typeface="Aptos" pitchFamily="34" charset="-120"/>
              </a:rPr>
              <a:t>customer</a:t>
            </a:r>
            <a:pPr indent="0" marL="0">
              <a:buNone/>
            </a:pPr>
            <a:r>
              <a:rPr lang="en-US" sz="1450" dirty="0">
                <a:solidFill>
                  <a:srgbClr val="262626"/>
                </a:solidFill>
                <a:latin typeface="Aptos" pitchFamily="34" charset="0"/>
                <a:ea typeface="Aptos" pitchFamily="34" charset="-122"/>
                <a:cs typeface="Aptos" pitchFamily="34" charset="-120"/>
              </a:rPr>
              <a:t>, I want to </a:t>
            </a:r>
            <a:pPr indent="0" marL="0">
              <a:buNone/>
            </a:pPr>
            <a:r>
              <a:rPr lang="en-US" sz="1450" b="1" dirty="0">
                <a:solidFill>
                  <a:srgbClr val="262626"/>
                </a:solidFill>
                <a:latin typeface="Aptos" pitchFamily="34" charset="0"/>
                <a:ea typeface="Aptos" pitchFamily="34" charset="-122"/>
                <a:cs typeface="Aptos" pitchFamily="34" charset="-120"/>
              </a:rPr>
              <a:t>add special instructions</a:t>
            </a:r>
            <a:pPr indent="0" marL="0">
              <a:buNone/>
            </a:pPr>
            <a:r>
              <a:rPr lang="en-US" sz="1450" dirty="0">
                <a:solidFill>
                  <a:srgbClr val="262626"/>
                </a:solidFill>
                <a:latin typeface="Aptos" pitchFamily="34" charset="0"/>
                <a:ea typeface="Aptos" pitchFamily="34" charset="-122"/>
                <a:cs typeface="Aptos" pitchFamily="34" charset="-120"/>
              </a:rPr>
              <a:t> so that I get my fish the way I like it.</a:t>
            </a:r>
            <a:endParaRPr lang="en-US" sz="1450" dirty="0"/>
          </a:p>
        </p:txBody>
      </p:sp>
      <p:sp>
        <p:nvSpPr>
          <p:cNvPr id="24" name="Shape 21"/>
          <p:cNvSpPr/>
          <p:nvPr/>
        </p:nvSpPr>
        <p:spPr>
          <a:xfrm>
            <a:off x="4754880" y="5522976"/>
            <a:ext cx="6903720" cy="658368"/>
          </a:xfrm>
          <a:prstGeom prst="roundRect">
            <a:avLst>
              <a:gd name="adj" fmla="val 16667"/>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5" name="Shape 22"/>
          <p:cNvSpPr/>
          <p:nvPr/>
        </p:nvSpPr>
        <p:spPr>
          <a:xfrm>
            <a:off x="4892040" y="5641848"/>
            <a:ext cx="420624" cy="420624"/>
          </a:xfrm>
          <a:prstGeom prst="ellipse">
            <a:avLst/>
          </a:prstGeom>
          <a:solidFill>
            <a:srgbClr val="E97132"/>
          </a:solidFill>
          <a:ln w="12700">
            <a:solidFill>
              <a:srgbClr val="E97132"/>
            </a:solidFill>
            <a:prstDash val="solid"/>
          </a:ln>
        </p:spPr>
      </p:sp>
      <p:sp>
        <p:nvSpPr>
          <p:cNvPr id="26" name="Text 23"/>
          <p:cNvSpPr txBox="1"/>
          <p:nvPr/>
        </p:nvSpPr>
        <p:spPr>
          <a:xfrm>
            <a:off x="4892040" y="564184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5</a:t>
            </a:r>
            <a:endParaRPr lang="en-US" sz="1800" dirty="0"/>
          </a:p>
        </p:txBody>
      </p:sp>
      <p:sp>
        <p:nvSpPr>
          <p:cNvPr id="27" name="Text 24"/>
          <p:cNvSpPr txBox="1"/>
          <p:nvPr/>
        </p:nvSpPr>
        <p:spPr>
          <a:xfrm>
            <a:off x="5486400" y="5522976"/>
            <a:ext cx="5989320" cy="658368"/>
          </a:xfrm>
          <a:prstGeom prst="rect">
            <a:avLst/>
          </a:prstGeom>
          <a:noFill/>
          <a:ln/>
        </p:spPr>
        <p:txBody>
          <a:bodyPr wrap="square" lIns="0" tIns="0" rIns="0" bIns="0" rtlCol="0" anchor="ctr"/>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As a </a:t>
            </a:r>
            <a:pPr indent="0" marL="0">
              <a:buNone/>
            </a:pPr>
            <a:r>
              <a:rPr lang="en-US" sz="1450" b="1" dirty="0">
                <a:solidFill>
                  <a:srgbClr val="262626"/>
                </a:solidFill>
                <a:latin typeface="Aptos" pitchFamily="34" charset="0"/>
                <a:ea typeface="Aptos" pitchFamily="34" charset="-122"/>
                <a:cs typeface="Aptos" pitchFamily="34" charset="-120"/>
              </a:rPr>
              <a:t>phone user</a:t>
            </a:r>
            <a:pPr indent="0" marL="0">
              <a:buNone/>
            </a:pPr>
            <a:r>
              <a:rPr lang="en-US" sz="1450" dirty="0">
                <a:solidFill>
                  <a:srgbClr val="262626"/>
                </a:solidFill>
                <a:latin typeface="Aptos" pitchFamily="34" charset="0"/>
                <a:ea typeface="Aptos" pitchFamily="34" charset="-122"/>
                <a:cs typeface="Aptos" pitchFamily="34" charset="-120"/>
              </a:rPr>
              <a:t>, I want to </a:t>
            </a:r>
            <a:pPr indent="0" marL="0">
              <a:buNone/>
            </a:pPr>
            <a:r>
              <a:rPr lang="en-US" sz="1450" b="1" dirty="0">
                <a:solidFill>
                  <a:srgbClr val="262626"/>
                </a:solidFill>
                <a:latin typeface="Aptos" pitchFamily="34" charset="0"/>
                <a:ea typeface="Aptos" pitchFamily="34" charset="-122"/>
                <a:cs typeface="Aptos" pitchFamily="34" charset="-120"/>
              </a:rPr>
              <a:t>order with one thumb</a:t>
            </a:r>
            <a:pPr indent="0" marL="0">
              <a:buNone/>
            </a:pPr>
            <a:r>
              <a:rPr lang="en-US" sz="1450" dirty="0">
                <a:solidFill>
                  <a:srgbClr val="262626"/>
                </a:solidFill>
                <a:latin typeface="Aptos" pitchFamily="34" charset="0"/>
                <a:ea typeface="Aptos" pitchFamily="34" charset="-122"/>
                <a:cs typeface="Aptos" pitchFamily="34" charset="-120"/>
              </a:rPr>
              <a:t> so that I can order while I'm on the go.</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Usability and Design Principles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Step 0: Set Up draw.io</a:t>
            </a:r>
            <a:endParaRPr lang="en-US" sz="2800" dirty="0"/>
          </a:p>
        </p:txBody>
      </p:sp>
      <p:sp>
        <p:nvSpPr>
          <p:cNvPr id="7" name="Shape 4"/>
          <p:cNvSpPr/>
          <p:nvPr/>
        </p:nvSpPr>
        <p:spPr>
          <a:xfrm>
            <a:off x="4754880" y="1783080"/>
            <a:ext cx="438912" cy="438912"/>
          </a:xfrm>
          <a:prstGeom prst="ellipse">
            <a:avLst/>
          </a:prstGeom>
          <a:solidFill>
            <a:srgbClr val="E97132"/>
          </a:solidFill>
          <a:ln w="12700">
            <a:solidFill>
              <a:srgbClr val="E97132"/>
            </a:solidFill>
            <a:prstDash val="solid"/>
          </a:ln>
        </p:spPr>
      </p:sp>
      <p:sp>
        <p:nvSpPr>
          <p:cNvPr id="8" name="Text 5"/>
          <p:cNvSpPr txBox="1"/>
          <p:nvPr/>
        </p:nvSpPr>
        <p:spPr>
          <a:xfrm>
            <a:off x="4754880" y="1783080"/>
            <a:ext cx="438912" cy="438912"/>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9" name="Text 6"/>
          <p:cNvSpPr txBox="1"/>
          <p:nvPr/>
        </p:nvSpPr>
        <p:spPr>
          <a:xfrm>
            <a:off x="5394960" y="1764792"/>
            <a:ext cx="3474720" cy="320040"/>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Open draw.io</a:t>
            </a:r>
            <a:endParaRPr lang="en-US" sz="1700" dirty="0"/>
          </a:p>
        </p:txBody>
      </p:sp>
      <p:sp>
        <p:nvSpPr>
          <p:cNvPr id="10" name="Text 7"/>
          <p:cNvSpPr txBox="1"/>
          <p:nvPr/>
        </p:nvSpPr>
        <p:spPr>
          <a:xfrm>
            <a:off x="5394960" y="2103120"/>
            <a:ext cx="3474720" cy="640080"/>
          </a:xfrm>
          <a:prstGeom prst="rect">
            <a:avLst/>
          </a:prstGeom>
          <a:noFill/>
          <a:ln/>
        </p:spPr>
        <p:txBody>
          <a:bodyPr wrap="square" lIns="0" tIns="0" rIns="0" bIns="0" rtlCol="0" anchor="t"/>
          <a:lstStyle/>
          <a:p>
            <a:pPr indent="0" marL="0">
              <a:buNone/>
            </a:pPr>
            <a:r>
              <a:rPr lang="en-US" sz="1400" dirty="0">
                <a:solidFill>
                  <a:srgbClr val="262626"/>
                </a:solidFill>
                <a:latin typeface="Aptos" pitchFamily="34" charset="0"/>
                <a:ea typeface="Aptos" pitchFamily="34" charset="-122"/>
                <a:cs typeface="Aptos" pitchFamily="34" charset="-120"/>
              </a:rPr>
              <a:t>Go to app.diagrams.net → Create New Diagram → Blank Diagram.</a:t>
            </a:r>
            <a:endParaRPr lang="en-US" sz="1400" dirty="0"/>
          </a:p>
        </p:txBody>
      </p:sp>
      <p:sp>
        <p:nvSpPr>
          <p:cNvPr id="11" name="Shape 8"/>
          <p:cNvSpPr/>
          <p:nvPr/>
        </p:nvSpPr>
        <p:spPr>
          <a:xfrm>
            <a:off x="4754880" y="2880360"/>
            <a:ext cx="438912" cy="438912"/>
          </a:xfrm>
          <a:prstGeom prst="ellipse">
            <a:avLst/>
          </a:prstGeom>
          <a:solidFill>
            <a:srgbClr val="E97132"/>
          </a:solidFill>
          <a:ln w="12700">
            <a:solidFill>
              <a:srgbClr val="E97132"/>
            </a:solidFill>
            <a:prstDash val="solid"/>
          </a:ln>
        </p:spPr>
      </p:sp>
      <p:sp>
        <p:nvSpPr>
          <p:cNvPr id="12" name="Text 9"/>
          <p:cNvSpPr txBox="1"/>
          <p:nvPr/>
        </p:nvSpPr>
        <p:spPr>
          <a:xfrm>
            <a:off x="4754880" y="2880360"/>
            <a:ext cx="438912" cy="438912"/>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3" name="Text 10"/>
          <p:cNvSpPr txBox="1"/>
          <p:nvPr/>
        </p:nvSpPr>
        <p:spPr>
          <a:xfrm>
            <a:off x="5394960" y="2862072"/>
            <a:ext cx="3474720" cy="320040"/>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Save it</a:t>
            </a:r>
            <a:endParaRPr lang="en-US" sz="1700" dirty="0"/>
          </a:p>
        </p:txBody>
      </p:sp>
      <p:sp>
        <p:nvSpPr>
          <p:cNvPr id="14" name="Text 11"/>
          <p:cNvSpPr txBox="1"/>
          <p:nvPr/>
        </p:nvSpPr>
        <p:spPr>
          <a:xfrm>
            <a:off x="5394960" y="3200400"/>
            <a:ext cx="3474720" cy="640080"/>
          </a:xfrm>
          <a:prstGeom prst="rect">
            <a:avLst/>
          </a:prstGeom>
          <a:noFill/>
          <a:ln/>
        </p:spPr>
        <p:txBody>
          <a:bodyPr wrap="square" lIns="0" tIns="0" rIns="0" bIns="0" rtlCol="0" anchor="t"/>
          <a:lstStyle/>
          <a:p>
            <a:pPr indent="0" marL="0">
              <a:buNone/>
            </a:pPr>
            <a:r>
              <a:rPr lang="en-US" sz="1400" dirty="0">
                <a:solidFill>
                  <a:srgbClr val="262626"/>
                </a:solidFill>
                <a:latin typeface="Aptos" pitchFamily="34" charset="0"/>
                <a:ea typeface="Aptos" pitchFamily="34" charset="-122"/>
                <a:cs typeface="Aptos" pitchFamily="34" charset="-120"/>
              </a:rPr>
              <a:t>Name it harbourside.drawio and save it to OneDrive or your device.</a:t>
            </a:r>
            <a:endParaRPr lang="en-US" sz="1400" dirty="0"/>
          </a:p>
        </p:txBody>
      </p:sp>
      <p:sp>
        <p:nvSpPr>
          <p:cNvPr id="15" name="Shape 12"/>
          <p:cNvSpPr/>
          <p:nvPr/>
        </p:nvSpPr>
        <p:spPr>
          <a:xfrm>
            <a:off x="4754880" y="3977640"/>
            <a:ext cx="438912" cy="438912"/>
          </a:xfrm>
          <a:prstGeom prst="ellipse">
            <a:avLst/>
          </a:prstGeom>
          <a:solidFill>
            <a:srgbClr val="E97132"/>
          </a:solidFill>
          <a:ln w="12700">
            <a:solidFill>
              <a:srgbClr val="E97132"/>
            </a:solidFill>
            <a:prstDash val="solid"/>
          </a:ln>
        </p:spPr>
      </p:sp>
      <p:sp>
        <p:nvSpPr>
          <p:cNvPr id="16" name="Text 13"/>
          <p:cNvSpPr txBox="1"/>
          <p:nvPr/>
        </p:nvSpPr>
        <p:spPr>
          <a:xfrm>
            <a:off x="4754880" y="3977640"/>
            <a:ext cx="438912" cy="438912"/>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17" name="Text 14"/>
          <p:cNvSpPr txBox="1"/>
          <p:nvPr/>
        </p:nvSpPr>
        <p:spPr>
          <a:xfrm>
            <a:off x="5394960" y="3959352"/>
            <a:ext cx="3474720" cy="320040"/>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Turn on Mockups</a:t>
            </a:r>
            <a:endParaRPr lang="en-US" sz="1700" dirty="0"/>
          </a:p>
        </p:txBody>
      </p:sp>
      <p:sp>
        <p:nvSpPr>
          <p:cNvPr id="18" name="Text 15"/>
          <p:cNvSpPr txBox="1"/>
          <p:nvPr/>
        </p:nvSpPr>
        <p:spPr>
          <a:xfrm>
            <a:off x="5394960" y="4297680"/>
            <a:ext cx="3474720" cy="640080"/>
          </a:xfrm>
          <a:prstGeom prst="rect">
            <a:avLst/>
          </a:prstGeom>
          <a:noFill/>
          <a:ln/>
        </p:spPr>
        <p:txBody>
          <a:bodyPr wrap="square" lIns="0" tIns="0" rIns="0" bIns="0" rtlCol="0" anchor="t"/>
          <a:lstStyle/>
          <a:p>
            <a:pPr indent="0" marL="0">
              <a:buNone/>
            </a:pPr>
            <a:r>
              <a:rPr lang="en-US" sz="1400" dirty="0">
                <a:solidFill>
                  <a:srgbClr val="262626"/>
                </a:solidFill>
                <a:latin typeface="Aptos" pitchFamily="34" charset="0"/>
                <a:ea typeface="Aptos" pitchFamily="34" charset="-122"/>
                <a:cs typeface="Aptos" pitchFamily="34" charset="-120"/>
              </a:rPr>
              <a:t>+ More Shapes (bottom-left) → tick Mockups → Apply.</a:t>
            </a:r>
            <a:endParaRPr lang="en-US" sz="1400" dirty="0"/>
          </a:p>
        </p:txBody>
      </p:sp>
      <p:sp>
        <p:nvSpPr>
          <p:cNvPr id="19" name="Shape 16"/>
          <p:cNvSpPr/>
          <p:nvPr/>
        </p:nvSpPr>
        <p:spPr>
          <a:xfrm>
            <a:off x="4754880" y="5074920"/>
            <a:ext cx="438912" cy="438912"/>
          </a:xfrm>
          <a:prstGeom prst="ellipse">
            <a:avLst/>
          </a:prstGeom>
          <a:solidFill>
            <a:srgbClr val="E97132"/>
          </a:solidFill>
          <a:ln w="12700">
            <a:solidFill>
              <a:srgbClr val="E97132"/>
            </a:solidFill>
            <a:prstDash val="solid"/>
          </a:ln>
        </p:spPr>
      </p:sp>
      <p:sp>
        <p:nvSpPr>
          <p:cNvPr id="20" name="Text 17"/>
          <p:cNvSpPr txBox="1"/>
          <p:nvPr/>
        </p:nvSpPr>
        <p:spPr>
          <a:xfrm>
            <a:off x="4754880" y="5074920"/>
            <a:ext cx="438912" cy="438912"/>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21" name="Text 18"/>
          <p:cNvSpPr txBox="1"/>
          <p:nvPr/>
        </p:nvSpPr>
        <p:spPr>
          <a:xfrm>
            <a:off x="5394960" y="5056632"/>
            <a:ext cx="3474720" cy="320040"/>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Name the page</a:t>
            </a:r>
            <a:endParaRPr lang="en-US" sz="1700" dirty="0"/>
          </a:p>
        </p:txBody>
      </p:sp>
      <p:sp>
        <p:nvSpPr>
          <p:cNvPr id="22" name="Text 19"/>
          <p:cNvSpPr txBox="1"/>
          <p:nvPr/>
        </p:nvSpPr>
        <p:spPr>
          <a:xfrm>
            <a:off x="5394960" y="5394960"/>
            <a:ext cx="3474720" cy="640080"/>
          </a:xfrm>
          <a:prstGeom prst="rect">
            <a:avLst/>
          </a:prstGeom>
          <a:noFill/>
          <a:ln/>
        </p:spPr>
        <p:txBody>
          <a:bodyPr wrap="square" lIns="0" tIns="0" rIns="0" bIns="0" rtlCol="0" anchor="t"/>
          <a:lstStyle/>
          <a:p>
            <a:pPr indent="0" marL="0">
              <a:buNone/>
            </a:pPr>
            <a:r>
              <a:rPr lang="en-US" sz="1400" dirty="0">
                <a:solidFill>
                  <a:srgbClr val="262626"/>
                </a:solidFill>
                <a:latin typeface="Aptos" pitchFamily="34" charset="0"/>
                <a:ea typeface="Aptos" pitchFamily="34" charset="-122"/>
                <a:cs typeface="Aptos" pitchFamily="34" charset="-120"/>
              </a:rPr>
              <a:t>Double-click the page tab at the bottom and call it Desktop.</a:t>
            </a:r>
            <a:endParaRPr lang="en-US" sz="1400" dirty="0"/>
          </a:p>
        </p:txBody>
      </p:sp>
      <p:sp>
        <p:nvSpPr>
          <p:cNvPr id="23" name="Shape 20"/>
          <p:cNvSpPr/>
          <p:nvPr/>
        </p:nvSpPr>
        <p:spPr>
          <a:xfrm>
            <a:off x="9098280" y="1737360"/>
            <a:ext cx="2560320" cy="4434840"/>
          </a:xfrm>
          <a:prstGeom prst="roundRect">
            <a:avLst>
              <a:gd name="adj" fmla="val 4286"/>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24" name="Text 21"/>
          <p:cNvSpPr txBox="1"/>
          <p:nvPr/>
        </p:nvSpPr>
        <p:spPr>
          <a:xfrm>
            <a:off x="9326880" y="1920240"/>
            <a:ext cx="2103120" cy="365760"/>
          </a:xfrm>
          <a:prstGeom prst="rect">
            <a:avLst/>
          </a:prstGeom>
          <a:noFill/>
          <a:ln/>
        </p:spPr>
        <p:txBody>
          <a:bodyPr wrap="square" lIns="0" tIns="0" rIns="0" bIns="0" rtlCol="0" anchor="ctr"/>
          <a:lstStyle/>
          <a:p>
            <a:pPr indent="0" marL="0">
              <a:buNone/>
            </a:pPr>
            <a:r>
              <a:rPr lang="en-US" sz="1600" b="1" dirty="0">
                <a:solidFill>
                  <a:srgbClr val="FFFFFF"/>
                </a:solidFill>
                <a:latin typeface="Aptos" pitchFamily="34" charset="0"/>
                <a:ea typeface="Aptos" pitchFamily="34" charset="-122"/>
                <a:cs typeface="Aptos" pitchFamily="34" charset="-120"/>
              </a:rPr>
              <a:t>Handy in draw.io</a:t>
            </a:r>
            <a:endParaRPr lang="en-US" sz="1600" dirty="0"/>
          </a:p>
        </p:txBody>
      </p:sp>
      <p:sp>
        <p:nvSpPr>
          <p:cNvPr id="25" name="Text 22"/>
          <p:cNvSpPr txBox="1"/>
          <p:nvPr/>
        </p:nvSpPr>
        <p:spPr>
          <a:xfrm>
            <a:off x="9326880" y="2423160"/>
            <a:ext cx="2103120" cy="274320"/>
          </a:xfrm>
          <a:prstGeom prst="rect">
            <a:avLst/>
          </a:prstGeom>
          <a:noFill/>
          <a:ln/>
        </p:spPr>
        <p:txBody>
          <a:bodyPr wrap="square" lIns="0" tIns="0" rIns="0" bIns="0" rtlCol="0" anchor="ctr"/>
          <a:lstStyle/>
          <a:p>
            <a:pPr indent="0" marL="0">
              <a:buNone/>
            </a:pPr>
            <a:r>
              <a:rPr lang="en-US" sz="1350" b="1" dirty="0">
                <a:solidFill>
                  <a:srgbClr val="F2C6AC"/>
                </a:solidFill>
                <a:latin typeface="Consolas" pitchFamily="34" charset="0"/>
                <a:ea typeface="Consolas" pitchFamily="34" charset="-122"/>
                <a:cs typeface="Consolas" pitchFamily="34" charset="-120"/>
              </a:rPr>
              <a:t>Arrange tab</a:t>
            </a:r>
            <a:endParaRPr lang="en-US" sz="1350" dirty="0"/>
          </a:p>
        </p:txBody>
      </p:sp>
      <p:sp>
        <p:nvSpPr>
          <p:cNvPr id="26" name="Text 23"/>
          <p:cNvSpPr txBox="1"/>
          <p:nvPr/>
        </p:nvSpPr>
        <p:spPr>
          <a:xfrm>
            <a:off x="9326880" y="2679192"/>
            <a:ext cx="2103120" cy="274320"/>
          </a:xfrm>
          <a:prstGeom prst="rect">
            <a:avLst/>
          </a:prstGeom>
          <a:noFill/>
          <a:ln/>
        </p:spPr>
        <p:txBody>
          <a:bodyPr wrap="square" lIns="0" tIns="0" rIns="0" bIns="0" rtlCol="0" anchor="ctr"/>
          <a:lstStyle/>
          <a:p>
            <a:pPr indent="0" marL="0">
              <a:buNone/>
            </a:pPr>
            <a:r>
              <a:rPr lang="en-US" sz="1300" dirty="0">
                <a:solidFill>
                  <a:srgbClr val="D9D9D9"/>
                </a:solidFill>
                <a:latin typeface="Aptos" pitchFamily="34" charset="0"/>
                <a:ea typeface="Aptos" pitchFamily="34" charset="-122"/>
                <a:cs typeface="Aptos" pitchFamily="34" charset="-120"/>
              </a:rPr>
              <a:t>set an exact width and height</a:t>
            </a:r>
            <a:endParaRPr lang="en-US" sz="1300" dirty="0"/>
          </a:p>
        </p:txBody>
      </p:sp>
      <p:sp>
        <p:nvSpPr>
          <p:cNvPr id="27" name="Text 24"/>
          <p:cNvSpPr txBox="1"/>
          <p:nvPr/>
        </p:nvSpPr>
        <p:spPr>
          <a:xfrm>
            <a:off x="9326880" y="3026664"/>
            <a:ext cx="2103120" cy="274320"/>
          </a:xfrm>
          <a:prstGeom prst="rect">
            <a:avLst/>
          </a:prstGeom>
          <a:noFill/>
          <a:ln/>
        </p:spPr>
        <p:txBody>
          <a:bodyPr wrap="square" lIns="0" tIns="0" rIns="0" bIns="0" rtlCol="0" anchor="ctr"/>
          <a:lstStyle/>
          <a:p>
            <a:pPr indent="0" marL="0">
              <a:buNone/>
            </a:pPr>
            <a:r>
              <a:rPr lang="en-US" sz="1350" b="1" dirty="0">
                <a:solidFill>
                  <a:srgbClr val="F2C6AC"/>
                </a:solidFill>
                <a:latin typeface="Consolas" pitchFamily="34" charset="0"/>
                <a:ea typeface="Consolas" pitchFamily="34" charset="-122"/>
                <a:cs typeface="Consolas" pitchFamily="34" charset="-120"/>
              </a:rPr>
              <a:t>Ctrl + G</a:t>
            </a:r>
            <a:endParaRPr lang="en-US" sz="1350" dirty="0"/>
          </a:p>
        </p:txBody>
      </p:sp>
      <p:sp>
        <p:nvSpPr>
          <p:cNvPr id="28" name="Text 25"/>
          <p:cNvSpPr txBox="1"/>
          <p:nvPr/>
        </p:nvSpPr>
        <p:spPr>
          <a:xfrm>
            <a:off x="9326880" y="3282696"/>
            <a:ext cx="2103120" cy="274320"/>
          </a:xfrm>
          <a:prstGeom prst="rect">
            <a:avLst/>
          </a:prstGeom>
          <a:noFill/>
          <a:ln/>
        </p:spPr>
        <p:txBody>
          <a:bodyPr wrap="square" lIns="0" tIns="0" rIns="0" bIns="0" rtlCol="0" anchor="ctr"/>
          <a:lstStyle/>
          <a:p>
            <a:pPr indent="0" marL="0">
              <a:buNone/>
            </a:pPr>
            <a:r>
              <a:rPr lang="en-US" sz="1300" dirty="0">
                <a:solidFill>
                  <a:srgbClr val="D9D9D9"/>
                </a:solidFill>
                <a:latin typeface="Aptos" pitchFamily="34" charset="0"/>
                <a:ea typeface="Aptos" pitchFamily="34" charset="-122"/>
                <a:cs typeface="Aptos" pitchFamily="34" charset="-120"/>
              </a:rPr>
              <a:t>group shapes together</a:t>
            </a:r>
            <a:endParaRPr lang="en-US" sz="1300" dirty="0"/>
          </a:p>
        </p:txBody>
      </p:sp>
      <p:sp>
        <p:nvSpPr>
          <p:cNvPr id="29" name="Text 26"/>
          <p:cNvSpPr txBox="1"/>
          <p:nvPr/>
        </p:nvSpPr>
        <p:spPr>
          <a:xfrm>
            <a:off x="9326880" y="3630168"/>
            <a:ext cx="2103120" cy="274320"/>
          </a:xfrm>
          <a:prstGeom prst="rect">
            <a:avLst/>
          </a:prstGeom>
          <a:noFill/>
          <a:ln/>
        </p:spPr>
        <p:txBody>
          <a:bodyPr wrap="square" lIns="0" tIns="0" rIns="0" bIns="0" rtlCol="0" anchor="ctr"/>
          <a:lstStyle/>
          <a:p>
            <a:pPr indent="0" marL="0">
              <a:buNone/>
            </a:pPr>
            <a:r>
              <a:rPr lang="en-US" sz="1350" b="1" dirty="0">
                <a:solidFill>
                  <a:srgbClr val="F2C6AC"/>
                </a:solidFill>
                <a:latin typeface="Consolas" pitchFamily="34" charset="0"/>
                <a:ea typeface="Consolas" pitchFamily="34" charset="-122"/>
                <a:cs typeface="Consolas" pitchFamily="34" charset="-120"/>
              </a:rPr>
              <a:t>Ctrl + D</a:t>
            </a:r>
            <a:endParaRPr lang="en-US" sz="1350" dirty="0"/>
          </a:p>
        </p:txBody>
      </p:sp>
      <p:sp>
        <p:nvSpPr>
          <p:cNvPr id="30" name="Text 27"/>
          <p:cNvSpPr txBox="1"/>
          <p:nvPr/>
        </p:nvSpPr>
        <p:spPr>
          <a:xfrm>
            <a:off x="9326880" y="3886200"/>
            <a:ext cx="2103120" cy="274320"/>
          </a:xfrm>
          <a:prstGeom prst="rect">
            <a:avLst/>
          </a:prstGeom>
          <a:noFill/>
          <a:ln/>
        </p:spPr>
        <p:txBody>
          <a:bodyPr wrap="square" lIns="0" tIns="0" rIns="0" bIns="0" rtlCol="0" anchor="ctr"/>
          <a:lstStyle/>
          <a:p>
            <a:pPr indent="0" marL="0">
              <a:buNone/>
            </a:pPr>
            <a:r>
              <a:rPr lang="en-US" sz="1300" dirty="0">
                <a:solidFill>
                  <a:srgbClr val="D9D9D9"/>
                </a:solidFill>
                <a:latin typeface="Aptos" pitchFamily="34" charset="0"/>
                <a:ea typeface="Aptos" pitchFamily="34" charset="-122"/>
                <a:cs typeface="Aptos" pitchFamily="34" charset="-120"/>
              </a:rPr>
              <a:t>duplicate</a:t>
            </a:r>
            <a:endParaRPr lang="en-US" sz="1300" dirty="0"/>
          </a:p>
        </p:txBody>
      </p:sp>
      <p:sp>
        <p:nvSpPr>
          <p:cNvPr id="31" name="Text 28"/>
          <p:cNvSpPr txBox="1"/>
          <p:nvPr/>
        </p:nvSpPr>
        <p:spPr>
          <a:xfrm>
            <a:off x="9326880" y="4233672"/>
            <a:ext cx="2103120" cy="274320"/>
          </a:xfrm>
          <a:prstGeom prst="rect">
            <a:avLst/>
          </a:prstGeom>
          <a:noFill/>
          <a:ln/>
        </p:spPr>
        <p:txBody>
          <a:bodyPr wrap="square" lIns="0" tIns="0" rIns="0" bIns="0" rtlCol="0" anchor="ctr"/>
          <a:lstStyle/>
          <a:p>
            <a:pPr indent="0" marL="0">
              <a:buNone/>
            </a:pPr>
            <a:r>
              <a:rPr lang="en-US" sz="1350" b="1" dirty="0">
                <a:solidFill>
                  <a:srgbClr val="F2C6AC"/>
                </a:solidFill>
                <a:latin typeface="Consolas" pitchFamily="34" charset="0"/>
                <a:ea typeface="Consolas" pitchFamily="34" charset="-122"/>
                <a:cs typeface="Consolas" pitchFamily="34" charset="-120"/>
              </a:rPr>
              <a:t>Arrange → Align</a:t>
            </a:r>
            <a:endParaRPr lang="en-US" sz="1350" dirty="0"/>
          </a:p>
        </p:txBody>
      </p:sp>
      <p:sp>
        <p:nvSpPr>
          <p:cNvPr id="32" name="Text 29"/>
          <p:cNvSpPr txBox="1"/>
          <p:nvPr/>
        </p:nvSpPr>
        <p:spPr>
          <a:xfrm>
            <a:off x="9326880" y="4489704"/>
            <a:ext cx="2103120" cy="274320"/>
          </a:xfrm>
          <a:prstGeom prst="rect">
            <a:avLst/>
          </a:prstGeom>
          <a:noFill/>
          <a:ln/>
        </p:spPr>
        <p:txBody>
          <a:bodyPr wrap="square" lIns="0" tIns="0" rIns="0" bIns="0" rtlCol="0" anchor="ctr"/>
          <a:lstStyle/>
          <a:p>
            <a:pPr indent="0" marL="0">
              <a:buNone/>
            </a:pPr>
            <a:r>
              <a:rPr lang="en-US" sz="1300" dirty="0">
                <a:solidFill>
                  <a:srgbClr val="D9D9D9"/>
                </a:solidFill>
                <a:latin typeface="Aptos" pitchFamily="34" charset="0"/>
                <a:ea typeface="Aptos" pitchFamily="34" charset="-122"/>
                <a:cs typeface="Aptos" pitchFamily="34" charset="-120"/>
              </a:rPr>
              <a:t>line things up</a:t>
            </a:r>
            <a:endParaRPr lang="en-US" sz="1300" dirty="0"/>
          </a:p>
        </p:txBody>
      </p:sp>
      <p:sp>
        <p:nvSpPr>
          <p:cNvPr id="33" name="Text 30"/>
          <p:cNvSpPr txBox="1"/>
          <p:nvPr/>
        </p:nvSpPr>
        <p:spPr>
          <a:xfrm>
            <a:off x="9326880" y="4837176"/>
            <a:ext cx="2103120" cy="274320"/>
          </a:xfrm>
          <a:prstGeom prst="rect">
            <a:avLst/>
          </a:prstGeom>
          <a:noFill/>
          <a:ln/>
        </p:spPr>
        <p:txBody>
          <a:bodyPr wrap="square" lIns="0" tIns="0" rIns="0" bIns="0" rtlCol="0" anchor="ctr"/>
          <a:lstStyle/>
          <a:p>
            <a:pPr indent="0" marL="0">
              <a:buNone/>
            </a:pPr>
            <a:r>
              <a:rPr lang="en-US" sz="1350" b="1" dirty="0">
                <a:solidFill>
                  <a:srgbClr val="F2C6AC"/>
                </a:solidFill>
                <a:latin typeface="Consolas" pitchFamily="34" charset="0"/>
                <a:ea typeface="Consolas" pitchFamily="34" charset="-122"/>
                <a:cs typeface="Consolas" pitchFamily="34" charset="-120"/>
              </a:rPr>
              <a:t>View → Grid</a:t>
            </a:r>
            <a:endParaRPr lang="en-US" sz="1350" dirty="0"/>
          </a:p>
        </p:txBody>
      </p:sp>
      <p:sp>
        <p:nvSpPr>
          <p:cNvPr id="34" name="Text 31"/>
          <p:cNvSpPr txBox="1"/>
          <p:nvPr/>
        </p:nvSpPr>
        <p:spPr>
          <a:xfrm>
            <a:off x="9326880" y="5093208"/>
            <a:ext cx="2103120" cy="274320"/>
          </a:xfrm>
          <a:prstGeom prst="rect">
            <a:avLst/>
          </a:prstGeom>
          <a:noFill/>
          <a:ln/>
        </p:spPr>
        <p:txBody>
          <a:bodyPr wrap="square" lIns="0" tIns="0" rIns="0" bIns="0" rtlCol="0" anchor="ctr"/>
          <a:lstStyle/>
          <a:p>
            <a:pPr indent="0" marL="0">
              <a:buNone/>
            </a:pPr>
            <a:r>
              <a:rPr lang="en-US" sz="1300" dirty="0">
                <a:solidFill>
                  <a:srgbClr val="D9D9D9"/>
                </a:solidFill>
                <a:latin typeface="Aptos" pitchFamily="34" charset="0"/>
                <a:ea typeface="Aptos" pitchFamily="34" charset="-122"/>
                <a:cs typeface="Aptos" pitchFamily="34" charset="-120"/>
              </a:rPr>
              <a:t>turn the grid on or off</a:t>
            </a:r>
            <a:endParaRPr lang="en-US" sz="1300" dirty="0"/>
          </a:p>
        </p:txBody>
      </p:sp>
      <p:sp>
        <p:nvSpPr>
          <p:cNvPr id="35" name="Text 32"/>
          <p:cNvSpPr txBox="1"/>
          <p:nvPr/>
        </p:nvSpPr>
        <p:spPr>
          <a:xfrm>
            <a:off x="9326880" y="5440680"/>
            <a:ext cx="2103120" cy="274320"/>
          </a:xfrm>
          <a:prstGeom prst="rect">
            <a:avLst/>
          </a:prstGeom>
          <a:noFill/>
          <a:ln/>
        </p:spPr>
        <p:txBody>
          <a:bodyPr wrap="square" lIns="0" tIns="0" rIns="0" bIns="0" rtlCol="0" anchor="ctr"/>
          <a:lstStyle/>
          <a:p>
            <a:pPr indent="0" marL="0">
              <a:buNone/>
            </a:pPr>
            <a:r>
              <a:rPr lang="en-US" sz="1350" b="1" dirty="0">
                <a:solidFill>
                  <a:srgbClr val="F2C6AC"/>
                </a:solidFill>
                <a:latin typeface="Consolas" pitchFamily="34" charset="0"/>
                <a:ea typeface="Consolas" pitchFamily="34" charset="-122"/>
                <a:cs typeface="Consolas" pitchFamily="34" charset="-120"/>
              </a:rPr>
              <a:t>Ctrl + S</a:t>
            </a:r>
            <a:endParaRPr lang="en-US" sz="1350" dirty="0"/>
          </a:p>
        </p:txBody>
      </p:sp>
      <p:sp>
        <p:nvSpPr>
          <p:cNvPr id="36" name="Text 33"/>
          <p:cNvSpPr txBox="1"/>
          <p:nvPr/>
        </p:nvSpPr>
        <p:spPr>
          <a:xfrm>
            <a:off x="9326880" y="5696712"/>
            <a:ext cx="2103120" cy="274320"/>
          </a:xfrm>
          <a:prstGeom prst="rect">
            <a:avLst/>
          </a:prstGeom>
          <a:noFill/>
          <a:ln/>
        </p:spPr>
        <p:txBody>
          <a:bodyPr wrap="square" lIns="0" tIns="0" rIns="0" bIns="0" rtlCol="0" anchor="ctr"/>
          <a:lstStyle/>
          <a:p>
            <a:pPr indent="0" marL="0">
              <a:buNone/>
            </a:pPr>
            <a:r>
              <a:rPr lang="en-US" sz="1300" dirty="0">
                <a:solidFill>
                  <a:srgbClr val="D9D9D9"/>
                </a:solidFill>
                <a:latin typeface="Aptos" pitchFamily="34" charset="0"/>
                <a:ea typeface="Aptos" pitchFamily="34" charset="-122"/>
                <a:cs typeface="Aptos" pitchFamily="34" charset="-120"/>
              </a:rPr>
              <a:t>save often!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374754" y="529153"/>
            <a:ext cx="6565692" cy="5799694"/>
          </a:xfrm>
          <a:prstGeom prst="rect">
            <a:avLst/>
          </a:prstGeom>
          <a:solidFill>
            <a:srgbClr val="FFFFFF"/>
          </a:solidFill>
          <a:ln w="10943">
            <a:solidFill>
              <a:srgbClr val="333333"/>
            </a:solidFill>
            <a:prstDash val="solid"/>
          </a:ln>
        </p:spPr>
      </p:sp>
      <p:sp>
        <p:nvSpPr>
          <p:cNvPr id="3" name="Shape 1"/>
          <p:cNvSpPr/>
          <p:nvPr/>
        </p:nvSpPr>
        <p:spPr>
          <a:xfrm>
            <a:off x="374754" y="529153"/>
            <a:ext cx="6565692" cy="196971"/>
          </a:xfrm>
          <a:prstGeom prst="rect">
            <a:avLst/>
          </a:prstGeom>
          <a:solidFill>
            <a:srgbClr val="EEEEEE"/>
          </a:solidFill>
          <a:ln w="10943">
            <a:solidFill>
              <a:srgbClr val="333333"/>
            </a:solidFill>
            <a:prstDash val="solid"/>
          </a:ln>
        </p:spPr>
      </p:sp>
      <p:sp>
        <p:nvSpPr>
          <p:cNvPr id="4" name="Shape 2"/>
          <p:cNvSpPr/>
          <p:nvPr/>
        </p:nvSpPr>
        <p:spPr>
          <a:xfrm>
            <a:off x="921895" y="561981"/>
            <a:ext cx="2735705" cy="131314"/>
          </a:xfrm>
          <a:prstGeom prst="roundRect">
            <a:avLst>
              <a:gd name="adj" fmla="val 50000"/>
            </a:avLst>
          </a:prstGeom>
          <a:solidFill>
            <a:srgbClr val="FFFFFF"/>
          </a:solidFill>
          <a:ln w="6350">
            <a:solidFill>
              <a:srgbClr val="BBBBBB"/>
            </a:solidFill>
            <a:prstDash val="solid"/>
          </a:ln>
        </p:spPr>
      </p:sp>
      <p:sp>
        <p:nvSpPr>
          <p:cNvPr id="5" name="Text 3"/>
          <p:cNvSpPr txBox="1"/>
          <p:nvPr/>
        </p:nvSpPr>
        <p:spPr>
          <a:xfrm>
            <a:off x="921895" y="561981"/>
            <a:ext cx="2735705" cy="131314"/>
          </a:xfrm>
          <a:prstGeom prst="rect">
            <a:avLst/>
          </a:prstGeom>
          <a:noFill/>
          <a:ln/>
        </p:spPr>
        <p:txBody>
          <a:bodyPr wrap="square" lIns="12700" tIns="57150" rIns="12700" bIns="12700" rtlCol="0" anchor="ctr"/>
          <a:lstStyle/>
          <a:p>
            <a:pPr algn="l" indent="0" marL="0">
              <a:lnSpc>
                <a:spcPct val="95000"/>
              </a:lnSpc>
              <a:buNone/>
            </a:pPr>
            <a:r>
              <a:rPr lang="en-US" sz="500" dirty="0">
                <a:solidFill>
                  <a:srgbClr val="666666"/>
                </a:solidFill>
                <a:latin typeface="Arial" pitchFamily="34" charset="0"/>
                <a:ea typeface="Arial" pitchFamily="34" charset="-122"/>
                <a:cs typeface="Arial" pitchFamily="34" charset="-120"/>
              </a:rPr>
              <a:t>harbourside.ca/order</a:t>
            </a:r>
            <a:endParaRPr lang="en-US" sz="500" dirty="0"/>
          </a:p>
        </p:txBody>
      </p:sp>
      <p:sp>
        <p:nvSpPr>
          <p:cNvPr id="6" name="Shape 4"/>
          <p:cNvSpPr/>
          <p:nvPr/>
        </p:nvSpPr>
        <p:spPr>
          <a:xfrm>
            <a:off x="451354" y="594810"/>
            <a:ext cx="65657" cy="65657"/>
          </a:xfrm>
          <a:prstGeom prst="ellipse">
            <a:avLst/>
          </a:prstGeom>
          <a:solidFill>
            <a:srgbClr val="CCCCCC"/>
          </a:solidFill>
          <a:ln/>
        </p:spPr>
      </p:sp>
      <p:sp>
        <p:nvSpPr>
          <p:cNvPr id="7" name="Shape 5"/>
          <p:cNvSpPr/>
          <p:nvPr/>
        </p:nvSpPr>
        <p:spPr>
          <a:xfrm>
            <a:off x="560782" y="594810"/>
            <a:ext cx="65657" cy="65657"/>
          </a:xfrm>
          <a:prstGeom prst="ellipse">
            <a:avLst/>
          </a:prstGeom>
          <a:solidFill>
            <a:srgbClr val="CCCCCC"/>
          </a:solidFill>
          <a:ln/>
        </p:spPr>
      </p:sp>
      <p:sp>
        <p:nvSpPr>
          <p:cNvPr id="8" name="Shape 6"/>
          <p:cNvSpPr/>
          <p:nvPr/>
        </p:nvSpPr>
        <p:spPr>
          <a:xfrm>
            <a:off x="670210" y="594810"/>
            <a:ext cx="65657" cy="65657"/>
          </a:xfrm>
          <a:prstGeom prst="ellipse">
            <a:avLst/>
          </a:prstGeom>
          <a:solidFill>
            <a:srgbClr val="CCCCCC"/>
          </a:solidFill>
          <a:ln/>
        </p:spPr>
      </p:sp>
      <p:sp>
        <p:nvSpPr>
          <p:cNvPr id="9" name="Shape 7"/>
          <p:cNvSpPr/>
          <p:nvPr/>
        </p:nvSpPr>
        <p:spPr>
          <a:xfrm>
            <a:off x="484182" y="808195"/>
            <a:ext cx="273570" cy="273570"/>
          </a:xfrm>
          <a:prstGeom prst="rect">
            <a:avLst/>
          </a:prstGeom>
          <a:solidFill>
            <a:srgbClr val="FFFFFF"/>
          </a:solidFill>
          <a:ln w="6350">
            <a:solidFill>
              <a:srgbClr val="999999"/>
            </a:solidFill>
            <a:prstDash val="solid"/>
          </a:ln>
        </p:spPr>
      </p:sp>
      <p:sp>
        <p:nvSpPr>
          <p:cNvPr id="10" name="Shape 8"/>
          <p:cNvSpPr/>
          <p:nvPr/>
        </p:nvSpPr>
        <p:spPr>
          <a:xfrm>
            <a:off x="484182" y="808195"/>
            <a:ext cx="273570" cy="273570"/>
          </a:xfrm>
          <a:prstGeom prst="line">
            <a:avLst/>
          </a:prstGeom>
          <a:noFill/>
          <a:ln w="6350">
            <a:solidFill>
              <a:srgbClr val="999999"/>
            </a:solidFill>
            <a:prstDash val="solid"/>
          </a:ln>
        </p:spPr>
      </p:sp>
      <p:sp>
        <p:nvSpPr>
          <p:cNvPr id="11" name="Shape 9"/>
          <p:cNvSpPr/>
          <p:nvPr/>
        </p:nvSpPr>
        <p:spPr>
          <a:xfrm flipV="1">
            <a:off x="484182" y="808195"/>
            <a:ext cx="273570" cy="273570"/>
          </a:xfrm>
          <a:prstGeom prst="line">
            <a:avLst/>
          </a:prstGeom>
          <a:noFill/>
          <a:ln w="6350">
            <a:solidFill>
              <a:srgbClr val="999999"/>
            </a:solidFill>
            <a:prstDash val="solid"/>
          </a:ln>
        </p:spPr>
      </p:sp>
      <p:sp>
        <p:nvSpPr>
          <p:cNvPr id="12" name="Text 10"/>
          <p:cNvSpPr txBox="1"/>
          <p:nvPr/>
        </p:nvSpPr>
        <p:spPr>
          <a:xfrm>
            <a:off x="812467" y="835552"/>
            <a:ext cx="1531995" cy="218856"/>
          </a:xfrm>
          <a:prstGeom prst="rect">
            <a:avLst/>
          </a:prstGeom>
          <a:noFill/>
          <a:ln/>
        </p:spPr>
        <p:txBody>
          <a:bodyPr wrap="square" lIns="12700" tIns="12700" rIns="12700" bIns="12700" rtlCol="0" anchor="ctr"/>
          <a:lstStyle/>
          <a:p>
            <a:pPr algn="l" indent="0" marL="0">
              <a:lnSpc>
                <a:spcPct val="95000"/>
              </a:lnSpc>
              <a:buNone/>
            </a:pPr>
            <a:r>
              <a:rPr lang="en-US" sz="850" b="1" dirty="0">
                <a:solidFill>
                  <a:srgbClr val="333333"/>
                </a:solidFill>
                <a:latin typeface="Arial" pitchFamily="34" charset="0"/>
                <a:ea typeface="Arial" pitchFamily="34" charset="-122"/>
                <a:cs typeface="Arial" pitchFamily="34" charset="-120"/>
              </a:rPr>
              <a:t>Harbourside Fish &amp; Chips</a:t>
            </a:r>
            <a:endParaRPr lang="en-US" sz="850" dirty="0"/>
          </a:p>
        </p:txBody>
      </p:sp>
      <p:sp>
        <p:nvSpPr>
          <p:cNvPr id="13" name="Text 11"/>
          <p:cNvSpPr txBox="1"/>
          <p:nvPr/>
        </p:nvSpPr>
        <p:spPr>
          <a:xfrm>
            <a:off x="3001031" y="879323"/>
            <a:ext cx="711283" cy="131314"/>
          </a:xfrm>
          <a:prstGeom prst="rect">
            <a:avLst/>
          </a:prstGeom>
          <a:noFill/>
          <a:ln/>
        </p:spPr>
        <p:txBody>
          <a:bodyPr wrap="square" lIns="12700" tIns="12700" rIns="12700" bIns="12700" rtlCol="0" anchor="ctr"/>
          <a:lstStyle/>
          <a:p>
            <a:pPr algn="l" indent="0" marL="0">
              <a:lnSpc>
                <a:spcPct val="95000"/>
              </a:lnSpc>
              <a:buNone/>
            </a:pPr>
            <a:r>
              <a:rPr lang="en-US" sz="650" dirty="0">
                <a:solidFill>
                  <a:srgbClr val="333333"/>
                </a:solidFill>
                <a:latin typeface="Arial" pitchFamily="34" charset="0"/>
                <a:ea typeface="Arial" pitchFamily="34" charset="-122"/>
                <a:cs typeface="Arial" pitchFamily="34" charset="-120"/>
              </a:rPr>
              <a:t>Menu</a:t>
            </a:r>
            <a:endParaRPr lang="en-US" sz="650" dirty="0"/>
          </a:p>
        </p:txBody>
      </p:sp>
      <p:sp>
        <p:nvSpPr>
          <p:cNvPr id="14" name="Text 12"/>
          <p:cNvSpPr txBox="1"/>
          <p:nvPr/>
        </p:nvSpPr>
        <p:spPr>
          <a:xfrm>
            <a:off x="3438744" y="879323"/>
            <a:ext cx="711283" cy="131314"/>
          </a:xfrm>
          <a:prstGeom prst="rect">
            <a:avLst/>
          </a:prstGeom>
          <a:noFill/>
          <a:ln/>
        </p:spPr>
        <p:txBody>
          <a:bodyPr wrap="square" lIns="12700" tIns="12700" rIns="12700" bIns="12700" rtlCol="0" anchor="ctr"/>
          <a:lstStyle/>
          <a:p>
            <a:pPr algn="l" indent="0" marL="0">
              <a:lnSpc>
                <a:spcPct val="95000"/>
              </a:lnSpc>
              <a:buNone/>
            </a:pPr>
            <a:r>
              <a:rPr lang="en-US" sz="650" b="1" u="sng" dirty="0">
                <a:solidFill>
                  <a:srgbClr val="333333"/>
                </a:solidFill>
                <a:latin typeface="Arial" pitchFamily="34" charset="0"/>
                <a:ea typeface="Arial" pitchFamily="34" charset="-122"/>
                <a:cs typeface="Arial" pitchFamily="34" charset="-120"/>
              </a:rPr>
              <a:t>Order Online</a:t>
            </a:r>
            <a:endParaRPr lang="en-US" sz="650" dirty="0"/>
          </a:p>
        </p:txBody>
      </p:sp>
      <p:sp>
        <p:nvSpPr>
          <p:cNvPr id="15" name="Text 13"/>
          <p:cNvSpPr txBox="1"/>
          <p:nvPr/>
        </p:nvSpPr>
        <p:spPr>
          <a:xfrm>
            <a:off x="4150027" y="879323"/>
            <a:ext cx="711283" cy="131314"/>
          </a:xfrm>
          <a:prstGeom prst="rect">
            <a:avLst/>
          </a:prstGeom>
          <a:noFill/>
          <a:ln/>
        </p:spPr>
        <p:txBody>
          <a:bodyPr wrap="square" lIns="12700" tIns="12700" rIns="12700" bIns="12700" rtlCol="0" anchor="ctr"/>
          <a:lstStyle/>
          <a:p>
            <a:pPr algn="l" indent="0" marL="0">
              <a:lnSpc>
                <a:spcPct val="95000"/>
              </a:lnSpc>
              <a:buNone/>
            </a:pPr>
            <a:r>
              <a:rPr lang="en-US" sz="650" dirty="0">
                <a:solidFill>
                  <a:srgbClr val="333333"/>
                </a:solidFill>
                <a:latin typeface="Arial" pitchFamily="34" charset="0"/>
                <a:ea typeface="Arial" pitchFamily="34" charset="-122"/>
                <a:cs typeface="Arial" pitchFamily="34" charset="-120"/>
              </a:rPr>
              <a:t>Hours &amp; Location</a:t>
            </a:r>
            <a:endParaRPr lang="en-US" sz="650" dirty="0"/>
          </a:p>
        </p:txBody>
      </p:sp>
      <p:sp>
        <p:nvSpPr>
          <p:cNvPr id="16" name="Text 14"/>
          <p:cNvSpPr txBox="1"/>
          <p:nvPr/>
        </p:nvSpPr>
        <p:spPr>
          <a:xfrm>
            <a:off x="4970738" y="879323"/>
            <a:ext cx="711283" cy="131314"/>
          </a:xfrm>
          <a:prstGeom prst="rect">
            <a:avLst/>
          </a:prstGeom>
          <a:noFill/>
          <a:ln/>
        </p:spPr>
        <p:txBody>
          <a:bodyPr wrap="square" lIns="12700" tIns="12700" rIns="12700" bIns="12700" rtlCol="0" anchor="ctr"/>
          <a:lstStyle/>
          <a:p>
            <a:pPr algn="l" indent="0" marL="0">
              <a:lnSpc>
                <a:spcPct val="95000"/>
              </a:lnSpc>
              <a:buNone/>
            </a:pPr>
            <a:r>
              <a:rPr lang="en-US" sz="650" dirty="0">
                <a:solidFill>
                  <a:srgbClr val="333333"/>
                </a:solidFill>
                <a:latin typeface="Arial" pitchFamily="34" charset="0"/>
                <a:ea typeface="Arial" pitchFamily="34" charset="-122"/>
                <a:cs typeface="Arial" pitchFamily="34" charset="-120"/>
              </a:rPr>
              <a:t>Contact</a:t>
            </a:r>
            <a:endParaRPr lang="en-US" sz="650" dirty="0"/>
          </a:p>
        </p:txBody>
      </p:sp>
      <p:sp>
        <p:nvSpPr>
          <p:cNvPr id="17" name="Shape 15"/>
          <p:cNvSpPr/>
          <p:nvPr/>
        </p:nvSpPr>
        <p:spPr>
          <a:xfrm>
            <a:off x="6174449" y="846495"/>
            <a:ext cx="656569" cy="196971"/>
          </a:xfrm>
          <a:prstGeom prst="roundRect">
            <a:avLst>
              <a:gd name="adj" fmla="val 15000"/>
            </a:avLst>
          </a:prstGeom>
          <a:solidFill>
            <a:srgbClr val="FFFFFF"/>
          </a:solidFill>
          <a:ln w="6350">
            <a:solidFill>
              <a:srgbClr val="555555"/>
            </a:solidFill>
            <a:prstDash val="solid"/>
          </a:ln>
        </p:spPr>
      </p:sp>
      <p:sp>
        <p:nvSpPr>
          <p:cNvPr id="18" name="Text 16"/>
          <p:cNvSpPr txBox="1"/>
          <p:nvPr/>
        </p:nvSpPr>
        <p:spPr>
          <a:xfrm>
            <a:off x="6174449" y="846495"/>
            <a:ext cx="656569" cy="196971"/>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Cart (3)</a:t>
            </a:r>
            <a:endParaRPr lang="en-US" sz="600" dirty="0"/>
          </a:p>
        </p:txBody>
      </p:sp>
      <p:sp>
        <p:nvSpPr>
          <p:cNvPr id="19" name="Shape 17"/>
          <p:cNvSpPr/>
          <p:nvPr/>
        </p:nvSpPr>
        <p:spPr>
          <a:xfrm>
            <a:off x="374754" y="1163836"/>
            <a:ext cx="6565692" cy="5471"/>
          </a:xfrm>
          <a:prstGeom prst="rect">
            <a:avLst/>
          </a:prstGeom>
          <a:solidFill>
            <a:srgbClr val="BBBBBB"/>
          </a:solidFill>
          <a:ln/>
        </p:spPr>
      </p:sp>
      <p:sp>
        <p:nvSpPr>
          <p:cNvPr id="20" name="Shape 18"/>
          <p:cNvSpPr/>
          <p:nvPr/>
        </p:nvSpPr>
        <p:spPr>
          <a:xfrm>
            <a:off x="320040" y="474439"/>
            <a:ext cx="6675120" cy="744112"/>
          </a:xfrm>
          <a:prstGeom prst="roundRect">
            <a:avLst>
              <a:gd name="adj" fmla="val 9831"/>
            </a:avLst>
          </a:prstGeom>
          <a:ln w="44450">
            <a:solidFill>
              <a:srgbClr val="E97132"/>
            </a:solidFill>
            <a:prstDash val="solid"/>
          </a:ln>
        </p:spPr>
      </p:sp>
      <p:sp>
        <p:nvSpPr>
          <p:cNvPr id="21" name="Text 19"/>
          <p:cNvSpPr txBox="1"/>
          <p:nvPr/>
        </p:nvSpPr>
        <p:spPr>
          <a:xfrm>
            <a:off x="7315200" y="457200"/>
            <a:ext cx="4465015" cy="320040"/>
          </a:xfrm>
          <a:prstGeom prst="rect">
            <a:avLst/>
          </a:prstGeom>
          <a:noFill/>
          <a:ln/>
        </p:spPr>
        <p:txBody>
          <a:bodyPr wrap="square" lIns="0" tIns="0" rIns="0" bIns="0" rtlCol="0" anchor="ctr"/>
          <a:lstStyle/>
          <a:p>
            <a:pPr indent="0" marL="0">
              <a:buNone/>
            </a:pPr>
            <a:r>
              <a:rPr lang="en-US" sz="1300" b="1" spc="100" kern="0" dirty="0">
                <a:solidFill>
                  <a:srgbClr val="595959"/>
                </a:solidFill>
                <a:latin typeface="Aptos" pitchFamily="34" charset="0"/>
                <a:ea typeface="Aptos" pitchFamily="34" charset="-122"/>
                <a:cs typeface="Aptos" pitchFamily="34" charset="-120"/>
              </a:rPr>
              <a:t>GUIDED EXAMPLE · STEP 1</a:t>
            </a:r>
            <a:endParaRPr lang="en-US" sz="1300" dirty="0"/>
          </a:p>
        </p:txBody>
      </p:sp>
      <p:sp>
        <p:nvSpPr>
          <p:cNvPr id="22" name="Text 20"/>
          <p:cNvSpPr txBox="1"/>
          <p:nvPr/>
        </p:nvSpPr>
        <p:spPr>
          <a:xfrm>
            <a:off x="7315200" y="777240"/>
            <a:ext cx="4465015" cy="594360"/>
          </a:xfrm>
          <a:prstGeom prst="rect">
            <a:avLst/>
          </a:prstGeom>
          <a:noFill/>
          <a:ln/>
        </p:spPr>
        <p:txBody>
          <a:bodyPr wrap="square" lIns="0" tIns="0" rIns="0" bIns="0" rtlCol="0" anchor="t"/>
          <a:lstStyle/>
          <a:p>
            <a:pPr indent="0" marL="0">
              <a:buNone/>
            </a:pPr>
            <a:r>
              <a:rPr lang="en-US" sz="2800" dirty="0">
                <a:solidFill>
                  <a:srgbClr val="000000"/>
                </a:solidFill>
                <a:latin typeface="Aptos" pitchFamily="34" charset="0"/>
                <a:ea typeface="Aptos" pitchFamily="34" charset="-122"/>
                <a:cs typeface="Aptos" pitchFamily="34" charset="-120"/>
              </a:rPr>
              <a:t>Frame, Header and Nav</a:t>
            </a:r>
            <a:endParaRPr lang="en-US" sz="2800" dirty="0"/>
          </a:p>
        </p:txBody>
      </p:sp>
      <p:sp>
        <p:nvSpPr>
          <p:cNvPr id="23" name="Text 21"/>
          <p:cNvSpPr txBox="1"/>
          <p:nvPr/>
        </p:nvSpPr>
        <p:spPr>
          <a:xfrm>
            <a:off x="7315200" y="1463040"/>
            <a:ext cx="4465015" cy="3246120"/>
          </a:xfrm>
          <a:prstGeom prst="rect">
            <a:avLst/>
          </a:prstGeom>
          <a:noFill/>
          <a:ln/>
        </p:spPr>
        <p:txBody>
          <a:bodyPr wrap="square" lIns="0" tIns="0" rIns="0" bIns="0" rtlCol="0" anchor="t"/>
          <a:lstStyle/>
          <a:p>
            <a:pPr marL="342900" indent="-342900">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Draw a </a:t>
            </a:r>
            <a:pPr indent="0" marL="0">
              <a:buNone/>
            </a:pPr>
            <a:r>
              <a:rPr lang="en-US" sz="1450" b="1" dirty="0">
                <a:solidFill>
                  <a:srgbClr val="262626"/>
                </a:solidFill>
                <a:latin typeface="Aptos" pitchFamily="34" charset="0"/>
                <a:ea typeface="Aptos" pitchFamily="34" charset="-122"/>
                <a:cs typeface="Aptos" pitchFamily="34" charset="-120"/>
              </a:rPr>
              <a:t>1200 × 1060</a:t>
            </a:r>
            <a:pPr indent="0" marL="0">
              <a:buNone/>
            </a:pPr>
            <a:r>
              <a:rPr lang="en-US" sz="1450" dirty="0">
                <a:solidFill>
                  <a:srgbClr val="262626"/>
                </a:solidFill>
                <a:latin typeface="Aptos" pitchFamily="34" charset="0"/>
                <a:ea typeface="Aptos" pitchFamily="34" charset="-122"/>
                <a:cs typeface="Aptos" pitchFamily="34" charset="-120"/>
              </a:rPr>
              <a:t> rectangle (Arrange tab → Width / Height). This is the browser window.</a:t>
            </a:r>
            <a:endParaRPr lang="en-US" sz="1450" dirty="0"/>
          </a:p>
          <a:p>
            <a:pPr marL="342900" indent="-342900">
              <a:spcBef>
                <a:spcPts val="800"/>
              </a:spcBef>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Add a grey bar across the top with </a:t>
            </a:r>
            <a:pPr indent="0" marL="0">
              <a:buNone/>
            </a:pPr>
            <a:r>
              <a:rPr lang="en-US" sz="1450" dirty="0">
                <a:solidFill>
                  <a:srgbClr val="8A2B0B"/>
                </a:solidFill>
                <a:latin typeface="Consolas" pitchFamily="34" charset="0"/>
                <a:ea typeface="Consolas" pitchFamily="34" charset="-122"/>
                <a:cs typeface="Consolas" pitchFamily="34" charset="-120"/>
              </a:rPr>
              <a:t>harbourside.ca/order</a:t>
            </a:r>
            <a:pPr indent="0" marL="0">
              <a:buNone/>
            </a:pPr>
            <a:r>
              <a:rPr lang="en-US" sz="1450" dirty="0">
                <a:solidFill>
                  <a:srgbClr val="262626"/>
                </a:solidFill>
                <a:latin typeface="Aptos" pitchFamily="34" charset="0"/>
                <a:ea typeface="Aptos" pitchFamily="34" charset="-122"/>
                <a:cs typeface="Aptos" pitchFamily="34" charset="-120"/>
              </a:rPr>
              <a:t>.</a:t>
            </a:r>
            <a:endParaRPr lang="en-US" sz="1450" dirty="0"/>
          </a:p>
          <a:p>
            <a:pPr marL="342900" indent="-342900">
              <a:spcBef>
                <a:spcPts val="800"/>
              </a:spcBef>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Logo: </a:t>
            </a:r>
            <a:pPr indent="0" marL="0">
              <a:buNone/>
            </a:pPr>
            <a:r>
              <a:rPr lang="en-US" sz="1450" b="1" dirty="0">
                <a:solidFill>
                  <a:srgbClr val="262626"/>
                </a:solidFill>
                <a:latin typeface="Aptos" pitchFamily="34" charset="0"/>
                <a:ea typeface="Aptos" pitchFamily="34" charset="-122"/>
                <a:cs typeface="Aptos" pitchFamily="34" charset="-120"/>
              </a:rPr>
              <a:t>Mockups → Graphics → Image</a:t>
            </a:r>
            <a:pPr indent="0" marL="0">
              <a:buNone/>
            </a:pPr>
            <a:r>
              <a:rPr lang="en-US" sz="1450" dirty="0">
                <a:solidFill>
                  <a:srgbClr val="262626"/>
                </a:solidFill>
                <a:latin typeface="Aptos" pitchFamily="34" charset="0"/>
                <a:ea typeface="Aptos" pitchFamily="34" charset="-122"/>
                <a:cs typeface="Aptos" pitchFamily="34" charset="-120"/>
              </a:rPr>
              <a:t> (the X box), then the restaurant name.</a:t>
            </a:r>
            <a:endParaRPr lang="en-US" sz="1450" dirty="0"/>
          </a:p>
          <a:p>
            <a:pPr marL="342900" indent="-342900">
              <a:spcBef>
                <a:spcPts val="800"/>
              </a:spcBef>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Nav: Menu, </a:t>
            </a:r>
            <a:pPr indent="0" marL="0">
              <a:buNone/>
            </a:pPr>
            <a:r>
              <a:rPr lang="en-US" sz="1450" b="1" dirty="0">
                <a:solidFill>
                  <a:srgbClr val="262626"/>
                </a:solidFill>
                <a:latin typeface="Aptos" pitchFamily="34" charset="0"/>
                <a:ea typeface="Aptos" pitchFamily="34" charset="-122"/>
                <a:cs typeface="Aptos" pitchFamily="34" charset="-120"/>
              </a:rPr>
              <a:t>Order Online</a:t>
            </a:r>
            <a:pPr indent="0" marL="0">
              <a:buNone/>
            </a:pPr>
            <a:r>
              <a:rPr lang="en-US" sz="1450" dirty="0">
                <a:solidFill>
                  <a:srgbClr val="262626"/>
                </a:solidFill>
                <a:latin typeface="Aptos" pitchFamily="34" charset="0"/>
                <a:ea typeface="Aptos" pitchFamily="34" charset="-122"/>
                <a:cs typeface="Aptos" pitchFamily="34" charset="-120"/>
              </a:rPr>
              <a:t>, Hours &amp; Location, Contact. Bold the current page.</a:t>
            </a:r>
            <a:endParaRPr lang="en-US" sz="1450" dirty="0"/>
          </a:p>
          <a:p>
            <a:pPr marL="342900" indent="-342900">
              <a:spcBef>
                <a:spcPts val="800"/>
              </a:spcBef>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A </a:t>
            </a:r>
            <a:pPr indent="0" marL="0">
              <a:buNone/>
            </a:pPr>
            <a:r>
              <a:rPr lang="en-US" sz="1450" b="1" dirty="0">
                <a:solidFill>
                  <a:srgbClr val="262626"/>
                </a:solidFill>
                <a:latin typeface="Aptos" pitchFamily="34" charset="0"/>
                <a:ea typeface="Aptos" pitchFamily="34" charset="-122"/>
                <a:cs typeface="Aptos" pitchFamily="34" charset="-120"/>
              </a:rPr>
              <a:t>Cart (3)</a:t>
            </a:r>
            <a:pPr indent="0" marL="0">
              <a:buNone/>
            </a:pPr>
            <a:r>
              <a:rPr lang="en-US" sz="1450" dirty="0">
                <a:solidFill>
                  <a:srgbClr val="262626"/>
                </a:solidFill>
                <a:latin typeface="Aptos" pitchFamily="34" charset="0"/>
                <a:ea typeface="Aptos" pitchFamily="34" charset="-122"/>
                <a:cs typeface="Aptos" pitchFamily="34" charset="-120"/>
              </a:rPr>
              <a:t> button on the right.</a:t>
            </a:r>
            <a:endParaRPr lang="en-US" sz="1450" dirty="0"/>
          </a:p>
        </p:txBody>
      </p:sp>
      <p:sp>
        <p:nvSpPr>
          <p:cNvPr id="24" name="Shape 22"/>
          <p:cNvSpPr/>
          <p:nvPr/>
        </p:nvSpPr>
        <p:spPr>
          <a:xfrm>
            <a:off x="7315200" y="4846320"/>
            <a:ext cx="4465015" cy="1508760"/>
          </a:xfrm>
          <a:prstGeom prst="roundRect">
            <a:avLst>
              <a:gd name="adj" fmla="val 7273"/>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5" name="Shape 23"/>
          <p:cNvSpPr/>
          <p:nvPr/>
        </p:nvSpPr>
        <p:spPr>
          <a:xfrm>
            <a:off x="7498080" y="5029200"/>
            <a:ext cx="411480" cy="411480"/>
          </a:xfrm>
          <a:prstGeom prst="ellipse">
            <a:avLst/>
          </a:prstGeom>
          <a:solidFill>
            <a:srgbClr val="A02B93"/>
          </a:solidFill>
          <a:ln w="12700">
            <a:solidFill>
              <a:srgbClr val="A02B93"/>
            </a:solidFill>
            <a:prstDash val="solid"/>
          </a:ln>
        </p:spPr>
      </p:sp>
      <p:sp>
        <p:nvSpPr>
          <p:cNvPr id="26" name="Text 24"/>
          <p:cNvSpPr txBox="1"/>
          <p:nvPr/>
        </p:nvSpPr>
        <p:spPr>
          <a:xfrm>
            <a:off x="7498080" y="50292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a:t>
            </a:r>
            <a:endParaRPr lang="en-US" sz="1300" dirty="0"/>
          </a:p>
        </p:txBody>
      </p:sp>
      <p:sp>
        <p:nvSpPr>
          <p:cNvPr id="27" name="Text 25"/>
          <p:cNvSpPr txBox="1"/>
          <p:nvPr/>
        </p:nvSpPr>
        <p:spPr>
          <a:xfrm>
            <a:off x="8046720" y="5029200"/>
            <a:ext cx="3550615" cy="411480"/>
          </a:xfrm>
          <a:prstGeom prst="rect">
            <a:avLst/>
          </a:prstGeom>
          <a:noFill/>
          <a:ln/>
        </p:spPr>
        <p:txBody>
          <a:bodyPr wrap="square" lIns="0" tIns="0" rIns="0" bIns="0" rtlCol="0" anchor="ctr"/>
          <a:lstStyle/>
          <a:p>
            <a:pPr indent="0" marL="0">
              <a:buNone/>
            </a:pPr>
            <a:r>
              <a:rPr lang="en-US" sz="1500" b="1" dirty="0">
                <a:solidFill>
                  <a:srgbClr val="000000"/>
                </a:solidFill>
                <a:latin typeface="Aptos" pitchFamily="34" charset="0"/>
                <a:ea typeface="Aptos" pitchFamily="34" charset="-122"/>
                <a:cs typeface="Aptos" pitchFamily="34" charset="-120"/>
              </a:rPr>
              <a:t>Ask the class</a:t>
            </a:r>
            <a:endParaRPr lang="en-US" sz="1500" dirty="0"/>
          </a:p>
        </p:txBody>
      </p:sp>
      <p:sp>
        <p:nvSpPr>
          <p:cNvPr id="28" name="Text 26"/>
          <p:cNvSpPr txBox="1"/>
          <p:nvPr/>
        </p:nvSpPr>
        <p:spPr>
          <a:xfrm>
            <a:off x="7543800" y="5532120"/>
            <a:ext cx="4053535" cy="731520"/>
          </a:xfrm>
          <a:prstGeom prst="rect">
            <a:avLst/>
          </a:prstGeom>
          <a:noFill/>
          <a:ln/>
        </p:spPr>
        <p:txBody>
          <a:bodyPr wrap="square" lIns="0" tIns="0" rIns="0" bIns="0" rtlCol="0" anchor="t"/>
          <a:lstStyle/>
          <a:p>
            <a:pPr indent="0" marL="0">
              <a:buNone/>
            </a:pPr>
            <a:r>
              <a:rPr lang="en-US" sz="1400" i="1" dirty="0">
                <a:solidFill>
                  <a:srgbClr val="262626"/>
                </a:solidFill>
                <a:latin typeface="Aptos" pitchFamily="34" charset="0"/>
                <a:ea typeface="Aptos" pitchFamily="34" charset="-122"/>
                <a:cs typeface="Aptos" pitchFamily="34" charset="-120"/>
              </a:rPr>
              <a:t>What landmarks will this become? Why is "Order Online" in bold?</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374754" y="529153"/>
            <a:ext cx="6565692" cy="5799694"/>
          </a:xfrm>
          <a:prstGeom prst="rect">
            <a:avLst/>
          </a:prstGeom>
          <a:solidFill>
            <a:srgbClr val="FFFFFF"/>
          </a:solidFill>
          <a:ln w="10943">
            <a:solidFill>
              <a:srgbClr val="333333"/>
            </a:solidFill>
            <a:prstDash val="solid"/>
          </a:ln>
        </p:spPr>
      </p:sp>
      <p:sp>
        <p:nvSpPr>
          <p:cNvPr id="3" name="Shape 1"/>
          <p:cNvSpPr/>
          <p:nvPr/>
        </p:nvSpPr>
        <p:spPr>
          <a:xfrm>
            <a:off x="374754" y="529153"/>
            <a:ext cx="6565692" cy="196971"/>
          </a:xfrm>
          <a:prstGeom prst="rect">
            <a:avLst/>
          </a:prstGeom>
          <a:solidFill>
            <a:srgbClr val="EEEEEE"/>
          </a:solidFill>
          <a:ln w="10943">
            <a:solidFill>
              <a:srgbClr val="333333"/>
            </a:solidFill>
            <a:prstDash val="solid"/>
          </a:ln>
        </p:spPr>
      </p:sp>
      <p:sp>
        <p:nvSpPr>
          <p:cNvPr id="4" name="Shape 2"/>
          <p:cNvSpPr/>
          <p:nvPr/>
        </p:nvSpPr>
        <p:spPr>
          <a:xfrm>
            <a:off x="921895" y="561981"/>
            <a:ext cx="2735705" cy="131314"/>
          </a:xfrm>
          <a:prstGeom prst="roundRect">
            <a:avLst>
              <a:gd name="adj" fmla="val 50000"/>
            </a:avLst>
          </a:prstGeom>
          <a:solidFill>
            <a:srgbClr val="FFFFFF"/>
          </a:solidFill>
          <a:ln w="6350">
            <a:solidFill>
              <a:srgbClr val="BBBBBB"/>
            </a:solidFill>
            <a:prstDash val="solid"/>
          </a:ln>
        </p:spPr>
      </p:sp>
      <p:sp>
        <p:nvSpPr>
          <p:cNvPr id="5" name="Text 3"/>
          <p:cNvSpPr txBox="1"/>
          <p:nvPr/>
        </p:nvSpPr>
        <p:spPr>
          <a:xfrm>
            <a:off x="921895" y="561981"/>
            <a:ext cx="2735705" cy="131314"/>
          </a:xfrm>
          <a:prstGeom prst="rect">
            <a:avLst/>
          </a:prstGeom>
          <a:noFill/>
          <a:ln/>
        </p:spPr>
        <p:txBody>
          <a:bodyPr wrap="square" lIns="12700" tIns="57150" rIns="12700" bIns="12700" rtlCol="0" anchor="ctr"/>
          <a:lstStyle/>
          <a:p>
            <a:pPr algn="l" indent="0" marL="0">
              <a:lnSpc>
                <a:spcPct val="95000"/>
              </a:lnSpc>
              <a:buNone/>
            </a:pPr>
            <a:r>
              <a:rPr lang="en-US" sz="500" dirty="0">
                <a:solidFill>
                  <a:srgbClr val="666666"/>
                </a:solidFill>
                <a:latin typeface="Arial" pitchFamily="34" charset="0"/>
                <a:ea typeface="Arial" pitchFamily="34" charset="-122"/>
                <a:cs typeface="Arial" pitchFamily="34" charset="-120"/>
              </a:rPr>
              <a:t>harbourside.ca/order</a:t>
            </a:r>
            <a:endParaRPr lang="en-US" sz="500" dirty="0"/>
          </a:p>
        </p:txBody>
      </p:sp>
      <p:sp>
        <p:nvSpPr>
          <p:cNvPr id="6" name="Shape 4"/>
          <p:cNvSpPr/>
          <p:nvPr/>
        </p:nvSpPr>
        <p:spPr>
          <a:xfrm>
            <a:off x="451354" y="594810"/>
            <a:ext cx="65657" cy="65657"/>
          </a:xfrm>
          <a:prstGeom prst="ellipse">
            <a:avLst/>
          </a:prstGeom>
          <a:solidFill>
            <a:srgbClr val="CCCCCC"/>
          </a:solidFill>
          <a:ln/>
        </p:spPr>
      </p:sp>
      <p:sp>
        <p:nvSpPr>
          <p:cNvPr id="7" name="Shape 5"/>
          <p:cNvSpPr/>
          <p:nvPr/>
        </p:nvSpPr>
        <p:spPr>
          <a:xfrm>
            <a:off x="560782" y="594810"/>
            <a:ext cx="65657" cy="65657"/>
          </a:xfrm>
          <a:prstGeom prst="ellipse">
            <a:avLst/>
          </a:prstGeom>
          <a:solidFill>
            <a:srgbClr val="CCCCCC"/>
          </a:solidFill>
          <a:ln/>
        </p:spPr>
      </p:sp>
      <p:sp>
        <p:nvSpPr>
          <p:cNvPr id="8" name="Shape 6"/>
          <p:cNvSpPr/>
          <p:nvPr/>
        </p:nvSpPr>
        <p:spPr>
          <a:xfrm>
            <a:off x="670210" y="594810"/>
            <a:ext cx="65657" cy="65657"/>
          </a:xfrm>
          <a:prstGeom prst="ellipse">
            <a:avLst/>
          </a:prstGeom>
          <a:solidFill>
            <a:srgbClr val="CCCCCC"/>
          </a:solidFill>
          <a:ln/>
        </p:spPr>
      </p:sp>
      <p:sp>
        <p:nvSpPr>
          <p:cNvPr id="9" name="Shape 7"/>
          <p:cNvSpPr/>
          <p:nvPr/>
        </p:nvSpPr>
        <p:spPr>
          <a:xfrm>
            <a:off x="484182" y="808195"/>
            <a:ext cx="273570" cy="273570"/>
          </a:xfrm>
          <a:prstGeom prst="rect">
            <a:avLst/>
          </a:prstGeom>
          <a:solidFill>
            <a:srgbClr val="FFFFFF"/>
          </a:solidFill>
          <a:ln w="6350">
            <a:solidFill>
              <a:srgbClr val="999999"/>
            </a:solidFill>
            <a:prstDash val="solid"/>
          </a:ln>
        </p:spPr>
      </p:sp>
      <p:sp>
        <p:nvSpPr>
          <p:cNvPr id="10" name="Shape 8"/>
          <p:cNvSpPr/>
          <p:nvPr/>
        </p:nvSpPr>
        <p:spPr>
          <a:xfrm>
            <a:off x="484182" y="808195"/>
            <a:ext cx="273570" cy="273570"/>
          </a:xfrm>
          <a:prstGeom prst="line">
            <a:avLst/>
          </a:prstGeom>
          <a:noFill/>
          <a:ln w="6350">
            <a:solidFill>
              <a:srgbClr val="999999"/>
            </a:solidFill>
            <a:prstDash val="solid"/>
          </a:ln>
        </p:spPr>
      </p:sp>
      <p:sp>
        <p:nvSpPr>
          <p:cNvPr id="11" name="Shape 9"/>
          <p:cNvSpPr/>
          <p:nvPr/>
        </p:nvSpPr>
        <p:spPr>
          <a:xfrm flipV="1">
            <a:off x="484182" y="808195"/>
            <a:ext cx="273570" cy="273570"/>
          </a:xfrm>
          <a:prstGeom prst="line">
            <a:avLst/>
          </a:prstGeom>
          <a:noFill/>
          <a:ln w="6350">
            <a:solidFill>
              <a:srgbClr val="999999"/>
            </a:solidFill>
            <a:prstDash val="solid"/>
          </a:ln>
        </p:spPr>
      </p:sp>
      <p:sp>
        <p:nvSpPr>
          <p:cNvPr id="12" name="Text 10"/>
          <p:cNvSpPr txBox="1"/>
          <p:nvPr/>
        </p:nvSpPr>
        <p:spPr>
          <a:xfrm>
            <a:off x="812467" y="835552"/>
            <a:ext cx="1531995" cy="218856"/>
          </a:xfrm>
          <a:prstGeom prst="rect">
            <a:avLst/>
          </a:prstGeom>
          <a:noFill/>
          <a:ln/>
        </p:spPr>
        <p:txBody>
          <a:bodyPr wrap="square" lIns="12700" tIns="12700" rIns="12700" bIns="12700" rtlCol="0" anchor="ctr"/>
          <a:lstStyle/>
          <a:p>
            <a:pPr algn="l" indent="0" marL="0">
              <a:lnSpc>
                <a:spcPct val="95000"/>
              </a:lnSpc>
              <a:buNone/>
            </a:pPr>
            <a:r>
              <a:rPr lang="en-US" sz="850" b="1" dirty="0">
                <a:solidFill>
                  <a:srgbClr val="333333"/>
                </a:solidFill>
                <a:latin typeface="Arial" pitchFamily="34" charset="0"/>
                <a:ea typeface="Arial" pitchFamily="34" charset="-122"/>
                <a:cs typeface="Arial" pitchFamily="34" charset="-120"/>
              </a:rPr>
              <a:t>Harbourside Fish &amp; Chips</a:t>
            </a:r>
            <a:endParaRPr lang="en-US" sz="850" dirty="0"/>
          </a:p>
        </p:txBody>
      </p:sp>
      <p:sp>
        <p:nvSpPr>
          <p:cNvPr id="13" name="Text 11"/>
          <p:cNvSpPr txBox="1"/>
          <p:nvPr/>
        </p:nvSpPr>
        <p:spPr>
          <a:xfrm>
            <a:off x="3001031" y="879323"/>
            <a:ext cx="711283" cy="131314"/>
          </a:xfrm>
          <a:prstGeom prst="rect">
            <a:avLst/>
          </a:prstGeom>
          <a:noFill/>
          <a:ln/>
        </p:spPr>
        <p:txBody>
          <a:bodyPr wrap="square" lIns="12700" tIns="12700" rIns="12700" bIns="12700" rtlCol="0" anchor="ctr"/>
          <a:lstStyle/>
          <a:p>
            <a:pPr algn="l" indent="0" marL="0">
              <a:lnSpc>
                <a:spcPct val="95000"/>
              </a:lnSpc>
              <a:buNone/>
            </a:pPr>
            <a:r>
              <a:rPr lang="en-US" sz="650" dirty="0">
                <a:solidFill>
                  <a:srgbClr val="333333"/>
                </a:solidFill>
                <a:latin typeface="Arial" pitchFamily="34" charset="0"/>
                <a:ea typeface="Arial" pitchFamily="34" charset="-122"/>
                <a:cs typeface="Arial" pitchFamily="34" charset="-120"/>
              </a:rPr>
              <a:t>Menu</a:t>
            </a:r>
            <a:endParaRPr lang="en-US" sz="650" dirty="0"/>
          </a:p>
        </p:txBody>
      </p:sp>
      <p:sp>
        <p:nvSpPr>
          <p:cNvPr id="14" name="Text 12"/>
          <p:cNvSpPr txBox="1"/>
          <p:nvPr/>
        </p:nvSpPr>
        <p:spPr>
          <a:xfrm>
            <a:off x="3438744" y="879323"/>
            <a:ext cx="711283" cy="131314"/>
          </a:xfrm>
          <a:prstGeom prst="rect">
            <a:avLst/>
          </a:prstGeom>
          <a:noFill/>
          <a:ln/>
        </p:spPr>
        <p:txBody>
          <a:bodyPr wrap="square" lIns="12700" tIns="12700" rIns="12700" bIns="12700" rtlCol="0" anchor="ctr"/>
          <a:lstStyle/>
          <a:p>
            <a:pPr algn="l" indent="0" marL="0">
              <a:lnSpc>
                <a:spcPct val="95000"/>
              </a:lnSpc>
              <a:buNone/>
            </a:pPr>
            <a:r>
              <a:rPr lang="en-US" sz="650" b="1" u="sng" dirty="0">
                <a:solidFill>
                  <a:srgbClr val="333333"/>
                </a:solidFill>
                <a:latin typeface="Arial" pitchFamily="34" charset="0"/>
                <a:ea typeface="Arial" pitchFamily="34" charset="-122"/>
                <a:cs typeface="Arial" pitchFamily="34" charset="-120"/>
              </a:rPr>
              <a:t>Order Online</a:t>
            </a:r>
            <a:endParaRPr lang="en-US" sz="650" dirty="0"/>
          </a:p>
        </p:txBody>
      </p:sp>
      <p:sp>
        <p:nvSpPr>
          <p:cNvPr id="15" name="Text 13"/>
          <p:cNvSpPr txBox="1"/>
          <p:nvPr/>
        </p:nvSpPr>
        <p:spPr>
          <a:xfrm>
            <a:off x="4150027" y="879323"/>
            <a:ext cx="711283" cy="131314"/>
          </a:xfrm>
          <a:prstGeom prst="rect">
            <a:avLst/>
          </a:prstGeom>
          <a:noFill/>
          <a:ln/>
        </p:spPr>
        <p:txBody>
          <a:bodyPr wrap="square" lIns="12700" tIns="12700" rIns="12700" bIns="12700" rtlCol="0" anchor="ctr"/>
          <a:lstStyle/>
          <a:p>
            <a:pPr algn="l" indent="0" marL="0">
              <a:lnSpc>
                <a:spcPct val="95000"/>
              </a:lnSpc>
              <a:buNone/>
            </a:pPr>
            <a:r>
              <a:rPr lang="en-US" sz="650" dirty="0">
                <a:solidFill>
                  <a:srgbClr val="333333"/>
                </a:solidFill>
                <a:latin typeface="Arial" pitchFamily="34" charset="0"/>
                <a:ea typeface="Arial" pitchFamily="34" charset="-122"/>
                <a:cs typeface="Arial" pitchFamily="34" charset="-120"/>
              </a:rPr>
              <a:t>Hours &amp; Location</a:t>
            </a:r>
            <a:endParaRPr lang="en-US" sz="650" dirty="0"/>
          </a:p>
        </p:txBody>
      </p:sp>
      <p:sp>
        <p:nvSpPr>
          <p:cNvPr id="16" name="Text 14"/>
          <p:cNvSpPr txBox="1"/>
          <p:nvPr/>
        </p:nvSpPr>
        <p:spPr>
          <a:xfrm>
            <a:off x="4970738" y="879323"/>
            <a:ext cx="711283" cy="131314"/>
          </a:xfrm>
          <a:prstGeom prst="rect">
            <a:avLst/>
          </a:prstGeom>
          <a:noFill/>
          <a:ln/>
        </p:spPr>
        <p:txBody>
          <a:bodyPr wrap="square" lIns="12700" tIns="12700" rIns="12700" bIns="12700" rtlCol="0" anchor="ctr"/>
          <a:lstStyle/>
          <a:p>
            <a:pPr algn="l" indent="0" marL="0">
              <a:lnSpc>
                <a:spcPct val="95000"/>
              </a:lnSpc>
              <a:buNone/>
            </a:pPr>
            <a:r>
              <a:rPr lang="en-US" sz="650" dirty="0">
                <a:solidFill>
                  <a:srgbClr val="333333"/>
                </a:solidFill>
                <a:latin typeface="Arial" pitchFamily="34" charset="0"/>
                <a:ea typeface="Arial" pitchFamily="34" charset="-122"/>
                <a:cs typeface="Arial" pitchFamily="34" charset="-120"/>
              </a:rPr>
              <a:t>Contact</a:t>
            </a:r>
            <a:endParaRPr lang="en-US" sz="650" dirty="0"/>
          </a:p>
        </p:txBody>
      </p:sp>
      <p:sp>
        <p:nvSpPr>
          <p:cNvPr id="17" name="Shape 15"/>
          <p:cNvSpPr/>
          <p:nvPr/>
        </p:nvSpPr>
        <p:spPr>
          <a:xfrm>
            <a:off x="6174449" y="846495"/>
            <a:ext cx="656569" cy="196971"/>
          </a:xfrm>
          <a:prstGeom prst="roundRect">
            <a:avLst>
              <a:gd name="adj" fmla="val 15000"/>
            </a:avLst>
          </a:prstGeom>
          <a:solidFill>
            <a:srgbClr val="FFFFFF"/>
          </a:solidFill>
          <a:ln w="6350">
            <a:solidFill>
              <a:srgbClr val="555555"/>
            </a:solidFill>
            <a:prstDash val="solid"/>
          </a:ln>
        </p:spPr>
      </p:sp>
      <p:sp>
        <p:nvSpPr>
          <p:cNvPr id="18" name="Text 16"/>
          <p:cNvSpPr txBox="1"/>
          <p:nvPr/>
        </p:nvSpPr>
        <p:spPr>
          <a:xfrm>
            <a:off x="6174449" y="846495"/>
            <a:ext cx="656569" cy="196971"/>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Cart (3)</a:t>
            </a:r>
            <a:endParaRPr lang="en-US" sz="600" dirty="0"/>
          </a:p>
        </p:txBody>
      </p:sp>
      <p:sp>
        <p:nvSpPr>
          <p:cNvPr id="19" name="Shape 17"/>
          <p:cNvSpPr/>
          <p:nvPr/>
        </p:nvSpPr>
        <p:spPr>
          <a:xfrm>
            <a:off x="374754" y="1163836"/>
            <a:ext cx="6565692" cy="5471"/>
          </a:xfrm>
          <a:prstGeom prst="rect">
            <a:avLst/>
          </a:prstGeom>
          <a:solidFill>
            <a:srgbClr val="BBBBBB"/>
          </a:solidFill>
          <a:ln/>
        </p:spPr>
      </p:sp>
      <p:sp>
        <p:nvSpPr>
          <p:cNvPr id="20" name="Shape 18"/>
          <p:cNvSpPr/>
          <p:nvPr/>
        </p:nvSpPr>
        <p:spPr>
          <a:xfrm>
            <a:off x="484182" y="1251379"/>
            <a:ext cx="6346835" cy="437713"/>
          </a:xfrm>
          <a:prstGeom prst="rect">
            <a:avLst/>
          </a:prstGeom>
          <a:solidFill>
            <a:srgbClr val="F5F5F5"/>
          </a:solidFill>
          <a:ln w="6350">
            <a:solidFill>
              <a:srgbClr val="BBBBBB"/>
            </a:solidFill>
            <a:prstDash val="solid"/>
          </a:ln>
        </p:spPr>
      </p:sp>
      <p:sp>
        <p:nvSpPr>
          <p:cNvPr id="21" name="Text 19"/>
          <p:cNvSpPr txBox="1"/>
          <p:nvPr/>
        </p:nvSpPr>
        <p:spPr>
          <a:xfrm>
            <a:off x="593610" y="1306093"/>
            <a:ext cx="2462134" cy="164142"/>
          </a:xfrm>
          <a:prstGeom prst="rect">
            <a:avLst/>
          </a:prstGeom>
          <a:noFill/>
          <a:ln/>
        </p:spPr>
        <p:txBody>
          <a:bodyPr wrap="square" lIns="12700" tIns="12700" rIns="12700" bIns="12700" rtlCol="0" anchor="ctr"/>
          <a:lstStyle/>
          <a:p>
            <a:pPr algn="l" indent="0" marL="0">
              <a:lnSpc>
                <a:spcPct val="95000"/>
              </a:lnSpc>
              <a:buNone/>
            </a:pPr>
            <a:r>
              <a:rPr lang="en-US" sz="950" b="1" dirty="0">
                <a:solidFill>
                  <a:srgbClr val="333333"/>
                </a:solidFill>
                <a:latin typeface="Arial" pitchFamily="34" charset="0"/>
                <a:ea typeface="Arial" pitchFamily="34" charset="-122"/>
                <a:cs typeface="Arial" pitchFamily="34" charset="-120"/>
              </a:rPr>
              <a:t>Order for pickup or delivery</a:t>
            </a:r>
            <a:endParaRPr lang="en-US" sz="950" dirty="0"/>
          </a:p>
        </p:txBody>
      </p:sp>
      <p:sp>
        <p:nvSpPr>
          <p:cNvPr id="22" name="Text 20"/>
          <p:cNvSpPr txBox="1"/>
          <p:nvPr/>
        </p:nvSpPr>
        <p:spPr>
          <a:xfrm>
            <a:off x="593610" y="1470235"/>
            <a:ext cx="2462134" cy="131314"/>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777777"/>
                </a:solidFill>
                <a:latin typeface="Arial" pitchFamily="34" charset="0"/>
                <a:ea typeface="Arial" pitchFamily="34" charset="-122"/>
                <a:cs typeface="Arial" pitchFamily="34" charset="-120"/>
              </a:rPr>
              <a:t>Ready in about 20 minutes</a:t>
            </a:r>
            <a:endParaRPr lang="en-US" sz="600" dirty="0"/>
          </a:p>
        </p:txBody>
      </p:sp>
      <p:sp>
        <p:nvSpPr>
          <p:cNvPr id="23" name="Shape 21"/>
          <p:cNvSpPr/>
          <p:nvPr/>
        </p:nvSpPr>
        <p:spPr>
          <a:xfrm>
            <a:off x="3985885" y="1360807"/>
            <a:ext cx="656569" cy="218856"/>
          </a:xfrm>
          <a:prstGeom prst="roundRect">
            <a:avLst>
              <a:gd name="adj" fmla="val 15000"/>
            </a:avLst>
          </a:prstGeom>
          <a:solidFill>
            <a:srgbClr val="555555"/>
          </a:solidFill>
          <a:ln w="6350">
            <a:solidFill>
              <a:srgbClr val="555555"/>
            </a:solidFill>
            <a:prstDash val="solid"/>
          </a:ln>
        </p:spPr>
      </p:sp>
      <p:sp>
        <p:nvSpPr>
          <p:cNvPr id="24" name="Text 22"/>
          <p:cNvSpPr txBox="1"/>
          <p:nvPr/>
        </p:nvSpPr>
        <p:spPr>
          <a:xfrm>
            <a:off x="3985885" y="1360807"/>
            <a:ext cx="656569" cy="218856"/>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Pickup</a:t>
            </a:r>
            <a:endParaRPr lang="en-US" sz="600" dirty="0"/>
          </a:p>
        </p:txBody>
      </p:sp>
      <p:sp>
        <p:nvSpPr>
          <p:cNvPr id="25" name="Shape 23"/>
          <p:cNvSpPr/>
          <p:nvPr/>
        </p:nvSpPr>
        <p:spPr>
          <a:xfrm>
            <a:off x="4642454" y="1360807"/>
            <a:ext cx="656569" cy="218856"/>
          </a:xfrm>
          <a:prstGeom prst="roundRect">
            <a:avLst>
              <a:gd name="adj" fmla="val 15000"/>
            </a:avLst>
          </a:prstGeom>
          <a:solidFill>
            <a:srgbClr val="FFFFFF"/>
          </a:solidFill>
          <a:ln w="6350">
            <a:solidFill>
              <a:srgbClr val="555555"/>
            </a:solidFill>
            <a:prstDash val="solid"/>
          </a:ln>
        </p:spPr>
      </p:sp>
      <p:sp>
        <p:nvSpPr>
          <p:cNvPr id="26" name="Text 24"/>
          <p:cNvSpPr txBox="1"/>
          <p:nvPr/>
        </p:nvSpPr>
        <p:spPr>
          <a:xfrm>
            <a:off x="4642454" y="1360807"/>
            <a:ext cx="656569" cy="218856"/>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Delivery</a:t>
            </a:r>
            <a:endParaRPr lang="en-US" sz="600" dirty="0"/>
          </a:p>
        </p:txBody>
      </p:sp>
      <p:sp>
        <p:nvSpPr>
          <p:cNvPr id="27" name="Shape 25"/>
          <p:cNvSpPr/>
          <p:nvPr/>
        </p:nvSpPr>
        <p:spPr>
          <a:xfrm>
            <a:off x="5408451" y="1360807"/>
            <a:ext cx="1313138" cy="218856"/>
          </a:xfrm>
          <a:prstGeom prst="roundRect">
            <a:avLst>
              <a:gd name="adj" fmla="val 15000"/>
            </a:avLst>
          </a:prstGeom>
          <a:solidFill>
            <a:srgbClr val="FFFFFF"/>
          </a:solidFill>
          <a:ln w="6350">
            <a:solidFill>
              <a:srgbClr val="555555"/>
            </a:solidFill>
            <a:prstDash val="solid"/>
          </a:ln>
        </p:spPr>
      </p:sp>
      <p:sp>
        <p:nvSpPr>
          <p:cNvPr id="28" name="Text 26"/>
          <p:cNvSpPr txBox="1"/>
          <p:nvPr/>
        </p:nvSpPr>
        <p:spPr>
          <a:xfrm>
            <a:off x="5408451" y="1360807"/>
            <a:ext cx="1313138" cy="218856"/>
          </a:xfrm>
          <a:prstGeom prst="rect">
            <a:avLst/>
          </a:prstGeom>
          <a:noFill/>
          <a:ln/>
        </p:spPr>
        <p:txBody>
          <a:bodyPr wrap="square" lIns="12700" tIns="635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Pickup time: ASAP        ▾</a:t>
            </a:r>
            <a:endParaRPr lang="en-US" sz="600" dirty="0"/>
          </a:p>
        </p:txBody>
      </p:sp>
      <p:sp>
        <p:nvSpPr>
          <p:cNvPr id="29" name="Shape 27"/>
          <p:cNvSpPr/>
          <p:nvPr/>
        </p:nvSpPr>
        <p:spPr>
          <a:xfrm>
            <a:off x="429468" y="1196665"/>
            <a:ext cx="6456264" cy="547141"/>
          </a:xfrm>
          <a:prstGeom prst="roundRect">
            <a:avLst>
              <a:gd name="adj" fmla="val 13370"/>
            </a:avLst>
          </a:prstGeom>
          <a:ln w="44450">
            <a:solidFill>
              <a:srgbClr val="E97132"/>
            </a:solidFill>
            <a:prstDash val="solid"/>
          </a:ln>
        </p:spPr>
      </p:sp>
      <p:sp>
        <p:nvSpPr>
          <p:cNvPr id="30" name="Text 28"/>
          <p:cNvSpPr txBox="1"/>
          <p:nvPr/>
        </p:nvSpPr>
        <p:spPr>
          <a:xfrm>
            <a:off x="7315200" y="457200"/>
            <a:ext cx="4465015" cy="320040"/>
          </a:xfrm>
          <a:prstGeom prst="rect">
            <a:avLst/>
          </a:prstGeom>
          <a:noFill/>
          <a:ln/>
        </p:spPr>
        <p:txBody>
          <a:bodyPr wrap="square" lIns="0" tIns="0" rIns="0" bIns="0" rtlCol="0" anchor="ctr"/>
          <a:lstStyle/>
          <a:p>
            <a:pPr indent="0" marL="0">
              <a:buNone/>
            </a:pPr>
            <a:r>
              <a:rPr lang="en-US" sz="1300" b="1" spc="100" kern="0" dirty="0">
                <a:solidFill>
                  <a:srgbClr val="595959"/>
                </a:solidFill>
                <a:latin typeface="Aptos" pitchFamily="34" charset="0"/>
                <a:ea typeface="Aptos" pitchFamily="34" charset="-122"/>
                <a:cs typeface="Aptos" pitchFamily="34" charset="-120"/>
              </a:rPr>
              <a:t>GUIDED EXAMPLE · STEP 2</a:t>
            </a:r>
            <a:endParaRPr lang="en-US" sz="1300" dirty="0"/>
          </a:p>
        </p:txBody>
      </p:sp>
      <p:sp>
        <p:nvSpPr>
          <p:cNvPr id="31" name="Text 29"/>
          <p:cNvSpPr txBox="1"/>
          <p:nvPr/>
        </p:nvSpPr>
        <p:spPr>
          <a:xfrm>
            <a:off x="7315200" y="777240"/>
            <a:ext cx="4465015" cy="594360"/>
          </a:xfrm>
          <a:prstGeom prst="rect">
            <a:avLst/>
          </a:prstGeom>
          <a:noFill/>
          <a:ln/>
        </p:spPr>
        <p:txBody>
          <a:bodyPr wrap="square" lIns="0" tIns="0" rIns="0" bIns="0" rtlCol="0" anchor="t"/>
          <a:lstStyle/>
          <a:p>
            <a:pPr indent="0" marL="0">
              <a:buNone/>
            </a:pPr>
            <a:r>
              <a:rPr lang="en-US" sz="2800" dirty="0">
                <a:solidFill>
                  <a:srgbClr val="000000"/>
                </a:solidFill>
                <a:latin typeface="Aptos" pitchFamily="34" charset="0"/>
                <a:ea typeface="Aptos" pitchFamily="34" charset="-122"/>
                <a:cs typeface="Aptos" pitchFamily="34" charset="-120"/>
              </a:rPr>
              <a:t>Pickup or Delivery</a:t>
            </a:r>
            <a:endParaRPr lang="en-US" sz="2800" dirty="0"/>
          </a:p>
        </p:txBody>
      </p:sp>
      <p:sp>
        <p:nvSpPr>
          <p:cNvPr id="32" name="Shape 30"/>
          <p:cNvSpPr/>
          <p:nvPr/>
        </p:nvSpPr>
        <p:spPr>
          <a:xfrm>
            <a:off x="7315200" y="1463040"/>
            <a:ext cx="914400" cy="310896"/>
          </a:xfrm>
          <a:prstGeom prst="roundRect">
            <a:avLst>
              <a:gd name="adj" fmla="val 50000"/>
            </a:avLst>
          </a:prstGeom>
          <a:solidFill>
            <a:srgbClr val="E97132"/>
          </a:solidFill>
          <a:ln w="12700">
            <a:solidFill>
              <a:srgbClr val="E97132"/>
            </a:solidFill>
            <a:prstDash val="solid"/>
          </a:ln>
        </p:spPr>
      </p:sp>
      <p:sp>
        <p:nvSpPr>
          <p:cNvPr id="33" name="Text 31"/>
          <p:cNvSpPr txBox="1"/>
          <p:nvPr/>
        </p:nvSpPr>
        <p:spPr>
          <a:xfrm>
            <a:off x="7315200" y="1463040"/>
            <a:ext cx="91440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ptos" pitchFamily="34" charset="0"/>
                <a:ea typeface="Aptos" pitchFamily="34" charset="-122"/>
                <a:cs typeface="Aptos" pitchFamily="34" charset="-120"/>
              </a:rPr>
              <a:t>STORY 2</a:t>
            </a:r>
            <a:endParaRPr lang="en-US" sz="1100" dirty="0"/>
          </a:p>
        </p:txBody>
      </p:sp>
      <p:sp>
        <p:nvSpPr>
          <p:cNvPr id="34" name="Text 32"/>
          <p:cNvSpPr txBox="1"/>
          <p:nvPr/>
        </p:nvSpPr>
        <p:spPr>
          <a:xfrm>
            <a:off x="7315200" y="1965960"/>
            <a:ext cx="4465015" cy="2743200"/>
          </a:xfrm>
          <a:prstGeom prst="rect">
            <a:avLst/>
          </a:prstGeom>
          <a:noFill/>
          <a:ln/>
        </p:spPr>
        <p:txBody>
          <a:bodyPr wrap="square" lIns="0" tIns="0" rIns="0" bIns="0" rtlCol="0" anchor="t"/>
          <a:lstStyle/>
          <a:p>
            <a:pPr marL="342900" indent="-342900">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A light grey strip under the header.</a:t>
            </a:r>
            <a:endParaRPr lang="en-US" sz="1450" dirty="0"/>
          </a:p>
          <a:p>
            <a:pPr marL="342900" indent="-342900">
              <a:spcBef>
                <a:spcPts val="800"/>
              </a:spcBef>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Heading: </a:t>
            </a:r>
            <a:pPr indent="0" marL="0">
              <a:buNone/>
            </a:pPr>
            <a:r>
              <a:rPr lang="en-US" sz="1450" b="1" dirty="0">
                <a:solidFill>
                  <a:srgbClr val="262626"/>
                </a:solidFill>
                <a:latin typeface="Aptos" pitchFamily="34" charset="0"/>
                <a:ea typeface="Aptos" pitchFamily="34" charset="-122"/>
                <a:cs typeface="Aptos" pitchFamily="34" charset="-120"/>
              </a:rPr>
              <a:t>Order for pickup or delivery</a:t>
            </a:r>
            <a:pPr indent="0" marL="0">
              <a:buNone/>
            </a:pPr>
            <a:r>
              <a:rPr lang="en-US" sz="1450" dirty="0">
                <a:solidFill>
                  <a:srgbClr val="262626"/>
                </a:solidFill>
                <a:latin typeface="Aptos" pitchFamily="34" charset="0"/>
                <a:ea typeface="Aptos" pitchFamily="34" charset="-122"/>
                <a:cs typeface="Aptos" pitchFamily="34" charset="-120"/>
              </a:rPr>
              <a:t>.</a:t>
            </a:r>
            <a:endParaRPr lang="en-US" sz="1450" dirty="0"/>
          </a:p>
          <a:p>
            <a:pPr marL="342900" indent="-342900">
              <a:spcBef>
                <a:spcPts val="800"/>
              </a:spcBef>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Two buttons side by side: </a:t>
            </a:r>
            <a:pPr indent="0" marL="0">
              <a:buNone/>
            </a:pPr>
            <a:r>
              <a:rPr lang="en-US" sz="1450" b="1" dirty="0">
                <a:solidFill>
                  <a:srgbClr val="262626"/>
                </a:solidFill>
                <a:latin typeface="Aptos" pitchFamily="34" charset="0"/>
                <a:ea typeface="Aptos" pitchFamily="34" charset="-122"/>
                <a:cs typeface="Aptos" pitchFamily="34" charset="-120"/>
              </a:rPr>
              <a:t>Pickup</a:t>
            </a:r>
            <a:pPr indent="0" marL="0">
              <a:buNone/>
            </a:pPr>
            <a:r>
              <a:rPr lang="en-US" sz="1450" dirty="0">
                <a:solidFill>
                  <a:srgbClr val="262626"/>
                </a:solidFill>
                <a:latin typeface="Aptos" pitchFamily="34" charset="0"/>
                <a:ea typeface="Aptos" pitchFamily="34" charset="-122"/>
                <a:cs typeface="Aptos" pitchFamily="34" charset="-120"/>
              </a:rPr>
              <a:t> (filled = selected) and </a:t>
            </a:r>
            <a:pPr indent="0" marL="0">
              <a:buNone/>
            </a:pPr>
            <a:r>
              <a:rPr lang="en-US" sz="1450" b="1" dirty="0">
                <a:solidFill>
                  <a:srgbClr val="262626"/>
                </a:solidFill>
                <a:latin typeface="Aptos" pitchFamily="34" charset="0"/>
                <a:ea typeface="Aptos" pitchFamily="34" charset="-122"/>
                <a:cs typeface="Aptos" pitchFamily="34" charset="-120"/>
              </a:rPr>
              <a:t>Delivery</a:t>
            </a:r>
            <a:pPr indent="0" marL="0">
              <a:buNone/>
            </a:pPr>
            <a:r>
              <a:rPr lang="en-US" sz="1450" dirty="0">
                <a:solidFill>
                  <a:srgbClr val="262626"/>
                </a:solidFill>
                <a:latin typeface="Aptos" pitchFamily="34" charset="0"/>
                <a:ea typeface="Aptos" pitchFamily="34" charset="-122"/>
                <a:cs typeface="Aptos" pitchFamily="34" charset="-120"/>
              </a:rPr>
              <a:t> (outlined).</a:t>
            </a:r>
            <a:endParaRPr lang="en-US" sz="1450" dirty="0"/>
          </a:p>
          <a:p>
            <a:pPr marL="342900" indent="-342900">
              <a:spcBef>
                <a:spcPts val="800"/>
              </a:spcBef>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A dropdown: </a:t>
            </a:r>
            <a:pPr indent="0" marL="0">
              <a:buNone/>
            </a:pPr>
            <a:r>
              <a:rPr lang="en-US" sz="1450" b="1" dirty="0">
                <a:solidFill>
                  <a:srgbClr val="262626"/>
                </a:solidFill>
                <a:latin typeface="Aptos" pitchFamily="34" charset="0"/>
                <a:ea typeface="Aptos" pitchFamily="34" charset="-122"/>
                <a:cs typeface="Aptos" pitchFamily="34" charset="-120"/>
              </a:rPr>
              <a:t>Pickup time: ASAP ▾</a:t>
            </a:r>
            <a:pPr indent="0" marL="0">
              <a:buNone/>
            </a:pPr>
            <a:r>
              <a:rPr lang="en-US" sz="1450" dirty="0">
                <a:solidFill>
                  <a:srgbClr val="262626"/>
                </a:solidFill>
                <a:latin typeface="Aptos" pitchFamily="34" charset="0"/>
                <a:ea typeface="Aptos" pitchFamily="34" charset="-122"/>
                <a:cs typeface="Aptos" pitchFamily="34" charset="-120"/>
              </a:rPr>
              <a:t>.</a:t>
            </a:r>
            <a:endParaRPr lang="en-US" sz="1450" dirty="0"/>
          </a:p>
        </p:txBody>
      </p:sp>
      <p:sp>
        <p:nvSpPr>
          <p:cNvPr id="35" name="Shape 33"/>
          <p:cNvSpPr/>
          <p:nvPr/>
        </p:nvSpPr>
        <p:spPr>
          <a:xfrm>
            <a:off x="7315200" y="4846320"/>
            <a:ext cx="4465015" cy="1508760"/>
          </a:xfrm>
          <a:prstGeom prst="roundRect">
            <a:avLst>
              <a:gd name="adj" fmla="val 7273"/>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36" name="Shape 34"/>
          <p:cNvSpPr/>
          <p:nvPr/>
        </p:nvSpPr>
        <p:spPr>
          <a:xfrm>
            <a:off x="7498080" y="5029200"/>
            <a:ext cx="411480" cy="411480"/>
          </a:xfrm>
          <a:prstGeom prst="ellipse">
            <a:avLst/>
          </a:prstGeom>
          <a:solidFill>
            <a:srgbClr val="A02B93"/>
          </a:solidFill>
          <a:ln w="12700">
            <a:solidFill>
              <a:srgbClr val="A02B93"/>
            </a:solidFill>
            <a:prstDash val="solid"/>
          </a:ln>
        </p:spPr>
      </p:sp>
      <p:sp>
        <p:nvSpPr>
          <p:cNvPr id="37" name="Text 35"/>
          <p:cNvSpPr txBox="1"/>
          <p:nvPr/>
        </p:nvSpPr>
        <p:spPr>
          <a:xfrm>
            <a:off x="7498080" y="50292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a:t>
            </a:r>
            <a:endParaRPr lang="en-US" sz="1300" dirty="0"/>
          </a:p>
        </p:txBody>
      </p:sp>
      <p:sp>
        <p:nvSpPr>
          <p:cNvPr id="38" name="Text 36"/>
          <p:cNvSpPr txBox="1"/>
          <p:nvPr/>
        </p:nvSpPr>
        <p:spPr>
          <a:xfrm>
            <a:off x="8046720" y="5029200"/>
            <a:ext cx="3550615" cy="411480"/>
          </a:xfrm>
          <a:prstGeom prst="rect">
            <a:avLst/>
          </a:prstGeom>
          <a:noFill/>
          <a:ln/>
        </p:spPr>
        <p:txBody>
          <a:bodyPr wrap="square" lIns="0" tIns="0" rIns="0" bIns="0" rtlCol="0" anchor="ctr"/>
          <a:lstStyle/>
          <a:p>
            <a:pPr indent="0" marL="0">
              <a:buNone/>
            </a:pPr>
            <a:r>
              <a:rPr lang="en-US" sz="1500" b="1" dirty="0">
                <a:solidFill>
                  <a:srgbClr val="000000"/>
                </a:solidFill>
                <a:latin typeface="Aptos" pitchFamily="34" charset="0"/>
                <a:ea typeface="Aptos" pitchFamily="34" charset="-122"/>
                <a:cs typeface="Aptos" pitchFamily="34" charset="-120"/>
              </a:rPr>
              <a:t>Ask the class</a:t>
            </a:r>
            <a:endParaRPr lang="en-US" sz="1500" dirty="0"/>
          </a:p>
        </p:txBody>
      </p:sp>
      <p:sp>
        <p:nvSpPr>
          <p:cNvPr id="39" name="Text 37"/>
          <p:cNvSpPr txBox="1"/>
          <p:nvPr/>
        </p:nvSpPr>
        <p:spPr>
          <a:xfrm>
            <a:off x="7543800" y="5532120"/>
            <a:ext cx="4053535" cy="731520"/>
          </a:xfrm>
          <a:prstGeom prst="rect">
            <a:avLst/>
          </a:prstGeom>
          <a:noFill/>
          <a:ln/>
        </p:spPr>
        <p:txBody>
          <a:bodyPr wrap="square" lIns="0" tIns="0" rIns="0" bIns="0" rtlCol="0" anchor="t"/>
          <a:lstStyle/>
          <a:p>
            <a:pPr indent="0" marL="0">
              <a:buNone/>
            </a:pPr>
            <a:r>
              <a:rPr lang="en-US" sz="1400" i="1" dirty="0">
                <a:solidFill>
                  <a:srgbClr val="262626"/>
                </a:solidFill>
                <a:latin typeface="Aptos" pitchFamily="34" charset="0"/>
                <a:ea typeface="Aptos" pitchFamily="34" charset="-122"/>
                <a:cs typeface="Aptos" pitchFamily="34" charset="-120"/>
              </a:rPr>
              <a:t>Why does this go at the top, before the menu?</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374754" y="529153"/>
            <a:ext cx="6565692" cy="5799694"/>
          </a:xfrm>
          <a:prstGeom prst="rect">
            <a:avLst/>
          </a:prstGeom>
          <a:solidFill>
            <a:srgbClr val="FFFFFF"/>
          </a:solidFill>
          <a:ln w="10943">
            <a:solidFill>
              <a:srgbClr val="333333"/>
            </a:solidFill>
            <a:prstDash val="solid"/>
          </a:ln>
        </p:spPr>
      </p:sp>
      <p:sp>
        <p:nvSpPr>
          <p:cNvPr id="3" name="Shape 1"/>
          <p:cNvSpPr/>
          <p:nvPr/>
        </p:nvSpPr>
        <p:spPr>
          <a:xfrm>
            <a:off x="374754" y="529153"/>
            <a:ext cx="6565692" cy="196971"/>
          </a:xfrm>
          <a:prstGeom prst="rect">
            <a:avLst/>
          </a:prstGeom>
          <a:solidFill>
            <a:srgbClr val="EEEEEE"/>
          </a:solidFill>
          <a:ln w="10943">
            <a:solidFill>
              <a:srgbClr val="333333"/>
            </a:solidFill>
            <a:prstDash val="solid"/>
          </a:ln>
        </p:spPr>
      </p:sp>
      <p:sp>
        <p:nvSpPr>
          <p:cNvPr id="4" name="Shape 2"/>
          <p:cNvSpPr/>
          <p:nvPr/>
        </p:nvSpPr>
        <p:spPr>
          <a:xfrm>
            <a:off x="921895" y="561981"/>
            <a:ext cx="2735705" cy="131314"/>
          </a:xfrm>
          <a:prstGeom prst="roundRect">
            <a:avLst>
              <a:gd name="adj" fmla="val 50000"/>
            </a:avLst>
          </a:prstGeom>
          <a:solidFill>
            <a:srgbClr val="FFFFFF"/>
          </a:solidFill>
          <a:ln w="6350">
            <a:solidFill>
              <a:srgbClr val="BBBBBB"/>
            </a:solidFill>
            <a:prstDash val="solid"/>
          </a:ln>
        </p:spPr>
      </p:sp>
      <p:sp>
        <p:nvSpPr>
          <p:cNvPr id="5" name="Text 3"/>
          <p:cNvSpPr txBox="1"/>
          <p:nvPr/>
        </p:nvSpPr>
        <p:spPr>
          <a:xfrm>
            <a:off x="921895" y="561981"/>
            <a:ext cx="2735705" cy="131314"/>
          </a:xfrm>
          <a:prstGeom prst="rect">
            <a:avLst/>
          </a:prstGeom>
          <a:noFill/>
          <a:ln/>
        </p:spPr>
        <p:txBody>
          <a:bodyPr wrap="square" lIns="12700" tIns="57150" rIns="12700" bIns="12700" rtlCol="0" anchor="ctr"/>
          <a:lstStyle/>
          <a:p>
            <a:pPr algn="l" indent="0" marL="0">
              <a:lnSpc>
                <a:spcPct val="95000"/>
              </a:lnSpc>
              <a:buNone/>
            </a:pPr>
            <a:r>
              <a:rPr lang="en-US" sz="500" dirty="0">
                <a:solidFill>
                  <a:srgbClr val="666666"/>
                </a:solidFill>
                <a:latin typeface="Arial" pitchFamily="34" charset="0"/>
                <a:ea typeface="Arial" pitchFamily="34" charset="-122"/>
                <a:cs typeface="Arial" pitchFamily="34" charset="-120"/>
              </a:rPr>
              <a:t>harbourside.ca/order</a:t>
            </a:r>
            <a:endParaRPr lang="en-US" sz="500" dirty="0"/>
          </a:p>
        </p:txBody>
      </p:sp>
      <p:sp>
        <p:nvSpPr>
          <p:cNvPr id="6" name="Shape 4"/>
          <p:cNvSpPr/>
          <p:nvPr/>
        </p:nvSpPr>
        <p:spPr>
          <a:xfrm>
            <a:off x="451354" y="594810"/>
            <a:ext cx="65657" cy="65657"/>
          </a:xfrm>
          <a:prstGeom prst="ellipse">
            <a:avLst/>
          </a:prstGeom>
          <a:solidFill>
            <a:srgbClr val="CCCCCC"/>
          </a:solidFill>
          <a:ln/>
        </p:spPr>
      </p:sp>
      <p:sp>
        <p:nvSpPr>
          <p:cNvPr id="7" name="Shape 5"/>
          <p:cNvSpPr/>
          <p:nvPr/>
        </p:nvSpPr>
        <p:spPr>
          <a:xfrm>
            <a:off x="560782" y="594810"/>
            <a:ext cx="65657" cy="65657"/>
          </a:xfrm>
          <a:prstGeom prst="ellipse">
            <a:avLst/>
          </a:prstGeom>
          <a:solidFill>
            <a:srgbClr val="CCCCCC"/>
          </a:solidFill>
          <a:ln/>
        </p:spPr>
      </p:sp>
      <p:sp>
        <p:nvSpPr>
          <p:cNvPr id="8" name="Shape 6"/>
          <p:cNvSpPr/>
          <p:nvPr/>
        </p:nvSpPr>
        <p:spPr>
          <a:xfrm>
            <a:off x="670210" y="594810"/>
            <a:ext cx="65657" cy="65657"/>
          </a:xfrm>
          <a:prstGeom prst="ellipse">
            <a:avLst/>
          </a:prstGeom>
          <a:solidFill>
            <a:srgbClr val="CCCCCC"/>
          </a:solidFill>
          <a:ln/>
        </p:spPr>
      </p:sp>
      <p:sp>
        <p:nvSpPr>
          <p:cNvPr id="9" name="Shape 7"/>
          <p:cNvSpPr/>
          <p:nvPr/>
        </p:nvSpPr>
        <p:spPr>
          <a:xfrm>
            <a:off x="484182" y="808195"/>
            <a:ext cx="273570" cy="273570"/>
          </a:xfrm>
          <a:prstGeom prst="rect">
            <a:avLst/>
          </a:prstGeom>
          <a:solidFill>
            <a:srgbClr val="FFFFFF"/>
          </a:solidFill>
          <a:ln w="6350">
            <a:solidFill>
              <a:srgbClr val="999999"/>
            </a:solidFill>
            <a:prstDash val="solid"/>
          </a:ln>
        </p:spPr>
      </p:sp>
      <p:sp>
        <p:nvSpPr>
          <p:cNvPr id="10" name="Shape 8"/>
          <p:cNvSpPr/>
          <p:nvPr/>
        </p:nvSpPr>
        <p:spPr>
          <a:xfrm>
            <a:off x="484182" y="808195"/>
            <a:ext cx="273570" cy="273570"/>
          </a:xfrm>
          <a:prstGeom prst="line">
            <a:avLst/>
          </a:prstGeom>
          <a:noFill/>
          <a:ln w="6350">
            <a:solidFill>
              <a:srgbClr val="999999"/>
            </a:solidFill>
            <a:prstDash val="solid"/>
          </a:ln>
        </p:spPr>
      </p:sp>
      <p:sp>
        <p:nvSpPr>
          <p:cNvPr id="11" name="Shape 9"/>
          <p:cNvSpPr/>
          <p:nvPr/>
        </p:nvSpPr>
        <p:spPr>
          <a:xfrm flipV="1">
            <a:off x="484182" y="808195"/>
            <a:ext cx="273570" cy="273570"/>
          </a:xfrm>
          <a:prstGeom prst="line">
            <a:avLst/>
          </a:prstGeom>
          <a:noFill/>
          <a:ln w="6350">
            <a:solidFill>
              <a:srgbClr val="999999"/>
            </a:solidFill>
            <a:prstDash val="solid"/>
          </a:ln>
        </p:spPr>
      </p:sp>
      <p:sp>
        <p:nvSpPr>
          <p:cNvPr id="12" name="Text 10"/>
          <p:cNvSpPr txBox="1"/>
          <p:nvPr/>
        </p:nvSpPr>
        <p:spPr>
          <a:xfrm>
            <a:off x="812467" y="835552"/>
            <a:ext cx="1531995" cy="218856"/>
          </a:xfrm>
          <a:prstGeom prst="rect">
            <a:avLst/>
          </a:prstGeom>
          <a:noFill/>
          <a:ln/>
        </p:spPr>
        <p:txBody>
          <a:bodyPr wrap="square" lIns="12700" tIns="12700" rIns="12700" bIns="12700" rtlCol="0" anchor="ctr"/>
          <a:lstStyle/>
          <a:p>
            <a:pPr algn="l" indent="0" marL="0">
              <a:lnSpc>
                <a:spcPct val="95000"/>
              </a:lnSpc>
              <a:buNone/>
            </a:pPr>
            <a:r>
              <a:rPr lang="en-US" sz="850" b="1" dirty="0">
                <a:solidFill>
                  <a:srgbClr val="333333"/>
                </a:solidFill>
                <a:latin typeface="Arial" pitchFamily="34" charset="0"/>
                <a:ea typeface="Arial" pitchFamily="34" charset="-122"/>
                <a:cs typeface="Arial" pitchFamily="34" charset="-120"/>
              </a:rPr>
              <a:t>Harbourside Fish &amp; Chips</a:t>
            </a:r>
            <a:endParaRPr lang="en-US" sz="850" dirty="0"/>
          </a:p>
        </p:txBody>
      </p:sp>
      <p:sp>
        <p:nvSpPr>
          <p:cNvPr id="13" name="Text 11"/>
          <p:cNvSpPr txBox="1"/>
          <p:nvPr/>
        </p:nvSpPr>
        <p:spPr>
          <a:xfrm>
            <a:off x="3001031" y="879323"/>
            <a:ext cx="711283" cy="131314"/>
          </a:xfrm>
          <a:prstGeom prst="rect">
            <a:avLst/>
          </a:prstGeom>
          <a:noFill/>
          <a:ln/>
        </p:spPr>
        <p:txBody>
          <a:bodyPr wrap="square" lIns="12700" tIns="12700" rIns="12700" bIns="12700" rtlCol="0" anchor="ctr"/>
          <a:lstStyle/>
          <a:p>
            <a:pPr algn="l" indent="0" marL="0">
              <a:lnSpc>
                <a:spcPct val="95000"/>
              </a:lnSpc>
              <a:buNone/>
            </a:pPr>
            <a:r>
              <a:rPr lang="en-US" sz="650" dirty="0">
                <a:solidFill>
                  <a:srgbClr val="333333"/>
                </a:solidFill>
                <a:latin typeface="Arial" pitchFamily="34" charset="0"/>
                <a:ea typeface="Arial" pitchFamily="34" charset="-122"/>
                <a:cs typeface="Arial" pitchFamily="34" charset="-120"/>
              </a:rPr>
              <a:t>Menu</a:t>
            </a:r>
            <a:endParaRPr lang="en-US" sz="650" dirty="0"/>
          </a:p>
        </p:txBody>
      </p:sp>
      <p:sp>
        <p:nvSpPr>
          <p:cNvPr id="14" name="Text 12"/>
          <p:cNvSpPr txBox="1"/>
          <p:nvPr/>
        </p:nvSpPr>
        <p:spPr>
          <a:xfrm>
            <a:off x="3438744" y="879323"/>
            <a:ext cx="711283" cy="131314"/>
          </a:xfrm>
          <a:prstGeom prst="rect">
            <a:avLst/>
          </a:prstGeom>
          <a:noFill/>
          <a:ln/>
        </p:spPr>
        <p:txBody>
          <a:bodyPr wrap="square" lIns="12700" tIns="12700" rIns="12700" bIns="12700" rtlCol="0" anchor="ctr"/>
          <a:lstStyle/>
          <a:p>
            <a:pPr algn="l" indent="0" marL="0">
              <a:lnSpc>
                <a:spcPct val="95000"/>
              </a:lnSpc>
              <a:buNone/>
            </a:pPr>
            <a:r>
              <a:rPr lang="en-US" sz="650" b="1" u="sng" dirty="0">
                <a:solidFill>
                  <a:srgbClr val="333333"/>
                </a:solidFill>
                <a:latin typeface="Arial" pitchFamily="34" charset="0"/>
                <a:ea typeface="Arial" pitchFamily="34" charset="-122"/>
                <a:cs typeface="Arial" pitchFamily="34" charset="-120"/>
              </a:rPr>
              <a:t>Order Online</a:t>
            </a:r>
            <a:endParaRPr lang="en-US" sz="650" dirty="0"/>
          </a:p>
        </p:txBody>
      </p:sp>
      <p:sp>
        <p:nvSpPr>
          <p:cNvPr id="15" name="Text 13"/>
          <p:cNvSpPr txBox="1"/>
          <p:nvPr/>
        </p:nvSpPr>
        <p:spPr>
          <a:xfrm>
            <a:off x="4150027" y="879323"/>
            <a:ext cx="711283" cy="131314"/>
          </a:xfrm>
          <a:prstGeom prst="rect">
            <a:avLst/>
          </a:prstGeom>
          <a:noFill/>
          <a:ln/>
        </p:spPr>
        <p:txBody>
          <a:bodyPr wrap="square" lIns="12700" tIns="12700" rIns="12700" bIns="12700" rtlCol="0" anchor="ctr"/>
          <a:lstStyle/>
          <a:p>
            <a:pPr algn="l" indent="0" marL="0">
              <a:lnSpc>
                <a:spcPct val="95000"/>
              </a:lnSpc>
              <a:buNone/>
            </a:pPr>
            <a:r>
              <a:rPr lang="en-US" sz="650" dirty="0">
                <a:solidFill>
                  <a:srgbClr val="333333"/>
                </a:solidFill>
                <a:latin typeface="Arial" pitchFamily="34" charset="0"/>
                <a:ea typeface="Arial" pitchFamily="34" charset="-122"/>
                <a:cs typeface="Arial" pitchFamily="34" charset="-120"/>
              </a:rPr>
              <a:t>Hours &amp; Location</a:t>
            </a:r>
            <a:endParaRPr lang="en-US" sz="650" dirty="0"/>
          </a:p>
        </p:txBody>
      </p:sp>
      <p:sp>
        <p:nvSpPr>
          <p:cNvPr id="16" name="Text 14"/>
          <p:cNvSpPr txBox="1"/>
          <p:nvPr/>
        </p:nvSpPr>
        <p:spPr>
          <a:xfrm>
            <a:off x="4970738" y="879323"/>
            <a:ext cx="711283" cy="131314"/>
          </a:xfrm>
          <a:prstGeom prst="rect">
            <a:avLst/>
          </a:prstGeom>
          <a:noFill/>
          <a:ln/>
        </p:spPr>
        <p:txBody>
          <a:bodyPr wrap="square" lIns="12700" tIns="12700" rIns="12700" bIns="12700" rtlCol="0" anchor="ctr"/>
          <a:lstStyle/>
          <a:p>
            <a:pPr algn="l" indent="0" marL="0">
              <a:lnSpc>
                <a:spcPct val="95000"/>
              </a:lnSpc>
              <a:buNone/>
            </a:pPr>
            <a:r>
              <a:rPr lang="en-US" sz="650" dirty="0">
                <a:solidFill>
                  <a:srgbClr val="333333"/>
                </a:solidFill>
                <a:latin typeface="Arial" pitchFamily="34" charset="0"/>
                <a:ea typeface="Arial" pitchFamily="34" charset="-122"/>
                <a:cs typeface="Arial" pitchFamily="34" charset="-120"/>
              </a:rPr>
              <a:t>Contact</a:t>
            </a:r>
            <a:endParaRPr lang="en-US" sz="650" dirty="0"/>
          </a:p>
        </p:txBody>
      </p:sp>
      <p:sp>
        <p:nvSpPr>
          <p:cNvPr id="17" name="Shape 15"/>
          <p:cNvSpPr/>
          <p:nvPr/>
        </p:nvSpPr>
        <p:spPr>
          <a:xfrm>
            <a:off x="6174449" y="846495"/>
            <a:ext cx="656569" cy="196971"/>
          </a:xfrm>
          <a:prstGeom prst="roundRect">
            <a:avLst>
              <a:gd name="adj" fmla="val 15000"/>
            </a:avLst>
          </a:prstGeom>
          <a:solidFill>
            <a:srgbClr val="FFFFFF"/>
          </a:solidFill>
          <a:ln w="6350">
            <a:solidFill>
              <a:srgbClr val="555555"/>
            </a:solidFill>
            <a:prstDash val="solid"/>
          </a:ln>
        </p:spPr>
      </p:sp>
      <p:sp>
        <p:nvSpPr>
          <p:cNvPr id="18" name="Text 16"/>
          <p:cNvSpPr txBox="1"/>
          <p:nvPr/>
        </p:nvSpPr>
        <p:spPr>
          <a:xfrm>
            <a:off x="6174449" y="846495"/>
            <a:ext cx="656569" cy="196971"/>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Cart (3)</a:t>
            </a:r>
            <a:endParaRPr lang="en-US" sz="600" dirty="0"/>
          </a:p>
        </p:txBody>
      </p:sp>
      <p:sp>
        <p:nvSpPr>
          <p:cNvPr id="19" name="Shape 17"/>
          <p:cNvSpPr/>
          <p:nvPr/>
        </p:nvSpPr>
        <p:spPr>
          <a:xfrm>
            <a:off x="374754" y="1163836"/>
            <a:ext cx="6565692" cy="5471"/>
          </a:xfrm>
          <a:prstGeom prst="rect">
            <a:avLst/>
          </a:prstGeom>
          <a:solidFill>
            <a:srgbClr val="BBBBBB"/>
          </a:solidFill>
          <a:ln/>
        </p:spPr>
      </p:sp>
      <p:sp>
        <p:nvSpPr>
          <p:cNvPr id="20" name="Shape 18"/>
          <p:cNvSpPr/>
          <p:nvPr/>
        </p:nvSpPr>
        <p:spPr>
          <a:xfrm>
            <a:off x="484182" y="1251379"/>
            <a:ext cx="6346835" cy="437713"/>
          </a:xfrm>
          <a:prstGeom prst="rect">
            <a:avLst/>
          </a:prstGeom>
          <a:solidFill>
            <a:srgbClr val="F5F5F5"/>
          </a:solidFill>
          <a:ln w="6350">
            <a:solidFill>
              <a:srgbClr val="BBBBBB"/>
            </a:solidFill>
            <a:prstDash val="solid"/>
          </a:ln>
        </p:spPr>
      </p:sp>
      <p:sp>
        <p:nvSpPr>
          <p:cNvPr id="21" name="Text 19"/>
          <p:cNvSpPr txBox="1"/>
          <p:nvPr/>
        </p:nvSpPr>
        <p:spPr>
          <a:xfrm>
            <a:off x="593610" y="1306093"/>
            <a:ext cx="2462134" cy="164142"/>
          </a:xfrm>
          <a:prstGeom prst="rect">
            <a:avLst/>
          </a:prstGeom>
          <a:noFill/>
          <a:ln/>
        </p:spPr>
        <p:txBody>
          <a:bodyPr wrap="square" lIns="12700" tIns="12700" rIns="12700" bIns="12700" rtlCol="0" anchor="ctr"/>
          <a:lstStyle/>
          <a:p>
            <a:pPr algn="l" indent="0" marL="0">
              <a:lnSpc>
                <a:spcPct val="95000"/>
              </a:lnSpc>
              <a:buNone/>
            </a:pPr>
            <a:r>
              <a:rPr lang="en-US" sz="950" b="1" dirty="0">
                <a:solidFill>
                  <a:srgbClr val="333333"/>
                </a:solidFill>
                <a:latin typeface="Arial" pitchFamily="34" charset="0"/>
                <a:ea typeface="Arial" pitchFamily="34" charset="-122"/>
                <a:cs typeface="Arial" pitchFamily="34" charset="-120"/>
              </a:rPr>
              <a:t>Order for pickup or delivery</a:t>
            </a:r>
            <a:endParaRPr lang="en-US" sz="950" dirty="0"/>
          </a:p>
        </p:txBody>
      </p:sp>
      <p:sp>
        <p:nvSpPr>
          <p:cNvPr id="22" name="Text 20"/>
          <p:cNvSpPr txBox="1"/>
          <p:nvPr/>
        </p:nvSpPr>
        <p:spPr>
          <a:xfrm>
            <a:off x="593610" y="1470235"/>
            <a:ext cx="2462134" cy="131314"/>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777777"/>
                </a:solidFill>
                <a:latin typeface="Arial" pitchFamily="34" charset="0"/>
                <a:ea typeface="Arial" pitchFamily="34" charset="-122"/>
                <a:cs typeface="Arial" pitchFamily="34" charset="-120"/>
              </a:rPr>
              <a:t>Ready in about 20 minutes</a:t>
            </a:r>
            <a:endParaRPr lang="en-US" sz="600" dirty="0"/>
          </a:p>
        </p:txBody>
      </p:sp>
      <p:sp>
        <p:nvSpPr>
          <p:cNvPr id="23" name="Shape 21"/>
          <p:cNvSpPr/>
          <p:nvPr/>
        </p:nvSpPr>
        <p:spPr>
          <a:xfrm>
            <a:off x="3985885" y="1360807"/>
            <a:ext cx="656569" cy="218856"/>
          </a:xfrm>
          <a:prstGeom prst="roundRect">
            <a:avLst>
              <a:gd name="adj" fmla="val 15000"/>
            </a:avLst>
          </a:prstGeom>
          <a:solidFill>
            <a:srgbClr val="555555"/>
          </a:solidFill>
          <a:ln w="6350">
            <a:solidFill>
              <a:srgbClr val="555555"/>
            </a:solidFill>
            <a:prstDash val="solid"/>
          </a:ln>
        </p:spPr>
      </p:sp>
      <p:sp>
        <p:nvSpPr>
          <p:cNvPr id="24" name="Text 22"/>
          <p:cNvSpPr txBox="1"/>
          <p:nvPr/>
        </p:nvSpPr>
        <p:spPr>
          <a:xfrm>
            <a:off x="3985885" y="1360807"/>
            <a:ext cx="656569" cy="218856"/>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Pickup</a:t>
            </a:r>
            <a:endParaRPr lang="en-US" sz="600" dirty="0"/>
          </a:p>
        </p:txBody>
      </p:sp>
      <p:sp>
        <p:nvSpPr>
          <p:cNvPr id="25" name="Shape 23"/>
          <p:cNvSpPr/>
          <p:nvPr/>
        </p:nvSpPr>
        <p:spPr>
          <a:xfrm>
            <a:off x="4642454" y="1360807"/>
            <a:ext cx="656569" cy="218856"/>
          </a:xfrm>
          <a:prstGeom prst="roundRect">
            <a:avLst>
              <a:gd name="adj" fmla="val 15000"/>
            </a:avLst>
          </a:prstGeom>
          <a:solidFill>
            <a:srgbClr val="FFFFFF"/>
          </a:solidFill>
          <a:ln w="6350">
            <a:solidFill>
              <a:srgbClr val="555555"/>
            </a:solidFill>
            <a:prstDash val="solid"/>
          </a:ln>
        </p:spPr>
      </p:sp>
      <p:sp>
        <p:nvSpPr>
          <p:cNvPr id="26" name="Text 24"/>
          <p:cNvSpPr txBox="1"/>
          <p:nvPr/>
        </p:nvSpPr>
        <p:spPr>
          <a:xfrm>
            <a:off x="4642454" y="1360807"/>
            <a:ext cx="656569" cy="218856"/>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Delivery</a:t>
            </a:r>
            <a:endParaRPr lang="en-US" sz="600" dirty="0"/>
          </a:p>
        </p:txBody>
      </p:sp>
      <p:sp>
        <p:nvSpPr>
          <p:cNvPr id="27" name="Shape 25"/>
          <p:cNvSpPr/>
          <p:nvPr/>
        </p:nvSpPr>
        <p:spPr>
          <a:xfrm>
            <a:off x="5408451" y="1360807"/>
            <a:ext cx="1313138" cy="218856"/>
          </a:xfrm>
          <a:prstGeom prst="roundRect">
            <a:avLst>
              <a:gd name="adj" fmla="val 15000"/>
            </a:avLst>
          </a:prstGeom>
          <a:solidFill>
            <a:srgbClr val="FFFFFF"/>
          </a:solidFill>
          <a:ln w="6350">
            <a:solidFill>
              <a:srgbClr val="555555"/>
            </a:solidFill>
            <a:prstDash val="solid"/>
          </a:ln>
        </p:spPr>
      </p:sp>
      <p:sp>
        <p:nvSpPr>
          <p:cNvPr id="28" name="Text 26"/>
          <p:cNvSpPr txBox="1"/>
          <p:nvPr/>
        </p:nvSpPr>
        <p:spPr>
          <a:xfrm>
            <a:off x="5408451" y="1360807"/>
            <a:ext cx="1313138" cy="218856"/>
          </a:xfrm>
          <a:prstGeom prst="rect">
            <a:avLst/>
          </a:prstGeom>
          <a:noFill/>
          <a:ln/>
        </p:spPr>
        <p:txBody>
          <a:bodyPr wrap="square" lIns="12700" tIns="635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Pickup time: ASAP        ▾</a:t>
            </a:r>
            <a:endParaRPr lang="en-US" sz="600" dirty="0"/>
          </a:p>
        </p:txBody>
      </p:sp>
      <p:sp>
        <p:nvSpPr>
          <p:cNvPr id="29" name="Shape 27"/>
          <p:cNvSpPr/>
          <p:nvPr/>
        </p:nvSpPr>
        <p:spPr>
          <a:xfrm>
            <a:off x="484182" y="1798520"/>
            <a:ext cx="601855" cy="218856"/>
          </a:xfrm>
          <a:prstGeom prst="roundRect">
            <a:avLst>
              <a:gd name="adj" fmla="val 15000"/>
            </a:avLst>
          </a:prstGeom>
          <a:solidFill>
            <a:srgbClr val="555555"/>
          </a:solidFill>
          <a:ln w="6350">
            <a:solidFill>
              <a:srgbClr val="555555"/>
            </a:solidFill>
            <a:prstDash val="solid"/>
          </a:ln>
        </p:spPr>
      </p:sp>
      <p:sp>
        <p:nvSpPr>
          <p:cNvPr id="30" name="Text 28"/>
          <p:cNvSpPr txBox="1"/>
          <p:nvPr/>
        </p:nvSpPr>
        <p:spPr>
          <a:xfrm>
            <a:off x="484182" y="1798520"/>
            <a:ext cx="601855" cy="218856"/>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Fish</a:t>
            </a:r>
            <a:endParaRPr lang="en-US" sz="600" dirty="0"/>
          </a:p>
        </p:txBody>
      </p:sp>
      <p:sp>
        <p:nvSpPr>
          <p:cNvPr id="31" name="Shape 29"/>
          <p:cNvSpPr/>
          <p:nvPr/>
        </p:nvSpPr>
        <p:spPr>
          <a:xfrm>
            <a:off x="1140751" y="1798520"/>
            <a:ext cx="601855" cy="218856"/>
          </a:xfrm>
          <a:prstGeom prst="roundRect">
            <a:avLst>
              <a:gd name="adj" fmla="val 15000"/>
            </a:avLst>
          </a:prstGeom>
          <a:solidFill>
            <a:srgbClr val="FFFFFF"/>
          </a:solidFill>
          <a:ln w="6350">
            <a:solidFill>
              <a:srgbClr val="555555"/>
            </a:solidFill>
            <a:prstDash val="solid"/>
          </a:ln>
        </p:spPr>
      </p:sp>
      <p:sp>
        <p:nvSpPr>
          <p:cNvPr id="32" name="Text 30"/>
          <p:cNvSpPr txBox="1"/>
          <p:nvPr/>
        </p:nvSpPr>
        <p:spPr>
          <a:xfrm>
            <a:off x="1140751" y="1798520"/>
            <a:ext cx="601855" cy="218856"/>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Combos</a:t>
            </a:r>
            <a:endParaRPr lang="en-US" sz="600" dirty="0"/>
          </a:p>
        </p:txBody>
      </p:sp>
      <p:sp>
        <p:nvSpPr>
          <p:cNvPr id="33" name="Shape 31"/>
          <p:cNvSpPr/>
          <p:nvPr/>
        </p:nvSpPr>
        <p:spPr>
          <a:xfrm>
            <a:off x="1797321" y="1798520"/>
            <a:ext cx="601855" cy="218856"/>
          </a:xfrm>
          <a:prstGeom prst="roundRect">
            <a:avLst>
              <a:gd name="adj" fmla="val 15000"/>
            </a:avLst>
          </a:prstGeom>
          <a:solidFill>
            <a:srgbClr val="FFFFFF"/>
          </a:solidFill>
          <a:ln w="6350">
            <a:solidFill>
              <a:srgbClr val="555555"/>
            </a:solidFill>
            <a:prstDash val="solid"/>
          </a:ln>
        </p:spPr>
      </p:sp>
      <p:sp>
        <p:nvSpPr>
          <p:cNvPr id="34" name="Text 32"/>
          <p:cNvSpPr txBox="1"/>
          <p:nvPr/>
        </p:nvSpPr>
        <p:spPr>
          <a:xfrm>
            <a:off x="1797321" y="1798520"/>
            <a:ext cx="601855" cy="218856"/>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Sides</a:t>
            </a:r>
            <a:endParaRPr lang="en-US" sz="600" dirty="0"/>
          </a:p>
        </p:txBody>
      </p:sp>
      <p:sp>
        <p:nvSpPr>
          <p:cNvPr id="35" name="Shape 33"/>
          <p:cNvSpPr/>
          <p:nvPr/>
        </p:nvSpPr>
        <p:spPr>
          <a:xfrm>
            <a:off x="2453890" y="1798520"/>
            <a:ext cx="601855" cy="218856"/>
          </a:xfrm>
          <a:prstGeom prst="roundRect">
            <a:avLst>
              <a:gd name="adj" fmla="val 15000"/>
            </a:avLst>
          </a:prstGeom>
          <a:solidFill>
            <a:srgbClr val="FFFFFF"/>
          </a:solidFill>
          <a:ln w="6350">
            <a:solidFill>
              <a:srgbClr val="555555"/>
            </a:solidFill>
            <a:prstDash val="solid"/>
          </a:ln>
        </p:spPr>
      </p:sp>
      <p:sp>
        <p:nvSpPr>
          <p:cNvPr id="36" name="Text 34"/>
          <p:cNvSpPr txBox="1"/>
          <p:nvPr/>
        </p:nvSpPr>
        <p:spPr>
          <a:xfrm>
            <a:off x="2453890" y="1798520"/>
            <a:ext cx="601855" cy="218856"/>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Drinks</a:t>
            </a:r>
            <a:endParaRPr lang="en-US" sz="600" dirty="0"/>
          </a:p>
        </p:txBody>
      </p:sp>
      <p:sp>
        <p:nvSpPr>
          <p:cNvPr id="37" name="Shape 35"/>
          <p:cNvSpPr/>
          <p:nvPr/>
        </p:nvSpPr>
        <p:spPr>
          <a:xfrm>
            <a:off x="3110459" y="1798520"/>
            <a:ext cx="601855" cy="218856"/>
          </a:xfrm>
          <a:prstGeom prst="roundRect">
            <a:avLst>
              <a:gd name="adj" fmla="val 15000"/>
            </a:avLst>
          </a:prstGeom>
          <a:solidFill>
            <a:srgbClr val="FFFFFF"/>
          </a:solidFill>
          <a:ln w="6350">
            <a:solidFill>
              <a:srgbClr val="555555"/>
            </a:solidFill>
            <a:prstDash val="solid"/>
          </a:ln>
        </p:spPr>
      </p:sp>
      <p:sp>
        <p:nvSpPr>
          <p:cNvPr id="38" name="Text 36"/>
          <p:cNvSpPr txBox="1"/>
          <p:nvPr/>
        </p:nvSpPr>
        <p:spPr>
          <a:xfrm>
            <a:off x="3110459" y="1798520"/>
            <a:ext cx="601855" cy="218856"/>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Desserts</a:t>
            </a:r>
            <a:endParaRPr lang="en-US" sz="600" dirty="0"/>
          </a:p>
        </p:txBody>
      </p:sp>
      <p:sp>
        <p:nvSpPr>
          <p:cNvPr id="39" name="Text 37"/>
          <p:cNvSpPr txBox="1"/>
          <p:nvPr/>
        </p:nvSpPr>
        <p:spPr>
          <a:xfrm>
            <a:off x="484182" y="2115862"/>
            <a:ext cx="1641423" cy="175085"/>
          </a:xfrm>
          <a:prstGeom prst="rect">
            <a:avLst/>
          </a:prstGeom>
          <a:noFill/>
          <a:ln/>
        </p:spPr>
        <p:txBody>
          <a:bodyPr wrap="square" lIns="12700" tIns="12700" rIns="12700" bIns="12700" rtlCol="0" anchor="ctr"/>
          <a:lstStyle/>
          <a:p>
            <a:pPr algn="l" indent="0" marL="0">
              <a:lnSpc>
                <a:spcPct val="95000"/>
              </a:lnSpc>
              <a:buNone/>
            </a:pPr>
            <a:r>
              <a:rPr lang="en-US" sz="950" b="1" dirty="0">
                <a:solidFill>
                  <a:srgbClr val="333333"/>
                </a:solidFill>
                <a:latin typeface="Arial" pitchFamily="34" charset="0"/>
                <a:ea typeface="Arial" pitchFamily="34" charset="-122"/>
                <a:cs typeface="Arial" pitchFamily="34" charset="-120"/>
              </a:rPr>
              <a:t>Fish</a:t>
            </a:r>
            <a:endParaRPr lang="en-US" sz="950" dirty="0"/>
          </a:p>
        </p:txBody>
      </p:sp>
      <p:sp>
        <p:nvSpPr>
          <p:cNvPr id="40" name="Shape 38"/>
          <p:cNvSpPr/>
          <p:nvPr/>
        </p:nvSpPr>
        <p:spPr>
          <a:xfrm>
            <a:off x="484182" y="2345661"/>
            <a:ext cx="1313138" cy="1422567"/>
          </a:xfrm>
          <a:prstGeom prst="rect">
            <a:avLst/>
          </a:prstGeom>
          <a:solidFill>
            <a:srgbClr val="FFFFFF"/>
          </a:solidFill>
          <a:ln w="6350">
            <a:solidFill>
              <a:srgbClr val="999999"/>
            </a:solidFill>
            <a:prstDash val="solid"/>
          </a:ln>
        </p:spPr>
      </p:sp>
      <p:sp>
        <p:nvSpPr>
          <p:cNvPr id="41" name="Shape 39"/>
          <p:cNvSpPr/>
          <p:nvPr/>
        </p:nvSpPr>
        <p:spPr>
          <a:xfrm>
            <a:off x="538896" y="2400375"/>
            <a:ext cx="1203710" cy="656569"/>
          </a:xfrm>
          <a:prstGeom prst="rect">
            <a:avLst/>
          </a:prstGeom>
          <a:solidFill>
            <a:srgbClr val="FFFFFF"/>
          </a:solidFill>
          <a:ln w="6350">
            <a:solidFill>
              <a:srgbClr val="999999"/>
            </a:solidFill>
            <a:prstDash val="solid"/>
          </a:ln>
        </p:spPr>
      </p:sp>
      <p:sp>
        <p:nvSpPr>
          <p:cNvPr id="42" name="Shape 40"/>
          <p:cNvSpPr/>
          <p:nvPr/>
        </p:nvSpPr>
        <p:spPr>
          <a:xfrm>
            <a:off x="538896" y="2400375"/>
            <a:ext cx="1203710" cy="656569"/>
          </a:xfrm>
          <a:prstGeom prst="line">
            <a:avLst/>
          </a:prstGeom>
          <a:noFill/>
          <a:ln w="6350">
            <a:solidFill>
              <a:srgbClr val="999999"/>
            </a:solidFill>
            <a:prstDash val="solid"/>
          </a:ln>
        </p:spPr>
      </p:sp>
      <p:sp>
        <p:nvSpPr>
          <p:cNvPr id="43" name="Shape 41"/>
          <p:cNvSpPr/>
          <p:nvPr/>
        </p:nvSpPr>
        <p:spPr>
          <a:xfrm flipV="1">
            <a:off x="538896" y="2400375"/>
            <a:ext cx="1203710" cy="656569"/>
          </a:xfrm>
          <a:prstGeom prst="line">
            <a:avLst/>
          </a:prstGeom>
          <a:noFill/>
          <a:ln w="6350">
            <a:solidFill>
              <a:srgbClr val="999999"/>
            </a:solidFill>
            <a:prstDash val="solid"/>
          </a:ln>
        </p:spPr>
      </p:sp>
      <p:sp>
        <p:nvSpPr>
          <p:cNvPr id="44" name="Text 42"/>
          <p:cNvSpPr txBox="1"/>
          <p:nvPr/>
        </p:nvSpPr>
        <p:spPr>
          <a:xfrm>
            <a:off x="538896" y="3100715"/>
            <a:ext cx="1203710" cy="131314"/>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Haddock &amp; Chips (1 pc)</a:t>
            </a:r>
            <a:endParaRPr lang="en-US" sz="700" dirty="0"/>
          </a:p>
        </p:txBody>
      </p:sp>
      <p:sp>
        <p:nvSpPr>
          <p:cNvPr id="45" name="Shape 43"/>
          <p:cNvSpPr/>
          <p:nvPr/>
        </p:nvSpPr>
        <p:spPr>
          <a:xfrm>
            <a:off x="538896" y="3275801"/>
            <a:ext cx="1094282" cy="43771"/>
          </a:xfrm>
          <a:prstGeom prst="rect">
            <a:avLst/>
          </a:prstGeom>
          <a:solidFill>
            <a:srgbClr val="DDDDDD"/>
          </a:solidFill>
          <a:ln/>
        </p:spPr>
      </p:sp>
      <p:sp>
        <p:nvSpPr>
          <p:cNvPr id="46" name="Shape 44"/>
          <p:cNvSpPr/>
          <p:nvPr/>
        </p:nvSpPr>
        <p:spPr>
          <a:xfrm>
            <a:off x="538896" y="3363343"/>
            <a:ext cx="820711" cy="43771"/>
          </a:xfrm>
          <a:prstGeom prst="rect">
            <a:avLst/>
          </a:prstGeom>
          <a:solidFill>
            <a:srgbClr val="DDDDDD"/>
          </a:solidFill>
          <a:ln/>
        </p:spPr>
      </p:sp>
      <p:sp>
        <p:nvSpPr>
          <p:cNvPr id="47" name="Text 45"/>
          <p:cNvSpPr txBox="1"/>
          <p:nvPr/>
        </p:nvSpPr>
        <p:spPr>
          <a:xfrm>
            <a:off x="538896" y="3505600"/>
            <a:ext cx="492427" cy="196971"/>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$14.99</a:t>
            </a:r>
            <a:endParaRPr lang="en-US" sz="700" dirty="0"/>
          </a:p>
        </p:txBody>
      </p:sp>
      <p:sp>
        <p:nvSpPr>
          <p:cNvPr id="48" name="Shape 46"/>
          <p:cNvSpPr/>
          <p:nvPr/>
        </p:nvSpPr>
        <p:spPr>
          <a:xfrm>
            <a:off x="1195466" y="3505600"/>
            <a:ext cx="547141" cy="196971"/>
          </a:xfrm>
          <a:prstGeom prst="roundRect">
            <a:avLst>
              <a:gd name="adj" fmla="val 15000"/>
            </a:avLst>
          </a:prstGeom>
          <a:solidFill>
            <a:srgbClr val="555555"/>
          </a:solidFill>
          <a:ln w="6350">
            <a:solidFill>
              <a:srgbClr val="555555"/>
            </a:solidFill>
            <a:prstDash val="solid"/>
          </a:ln>
        </p:spPr>
      </p:sp>
      <p:sp>
        <p:nvSpPr>
          <p:cNvPr id="49" name="Text 47"/>
          <p:cNvSpPr txBox="1"/>
          <p:nvPr/>
        </p:nvSpPr>
        <p:spPr>
          <a:xfrm>
            <a:off x="1195466" y="3505600"/>
            <a:ext cx="547141" cy="196971"/>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Add +</a:t>
            </a:r>
            <a:endParaRPr lang="en-US" sz="600" dirty="0"/>
          </a:p>
        </p:txBody>
      </p:sp>
      <p:sp>
        <p:nvSpPr>
          <p:cNvPr id="50" name="Shape 48"/>
          <p:cNvSpPr/>
          <p:nvPr/>
        </p:nvSpPr>
        <p:spPr>
          <a:xfrm>
            <a:off x="1906749" y="2345661"/>
            <a:ext cx="1313138" cy="1422567"/>
          </a:xfrm>
          <a:prstGeom prst="rect">
            <a:avLst/>
          </a:prstGeom>
          <a:solidFill>
            <a:srgbClr val="FFFFFF"/>
          </a:solidFill>
          <a:ln w="6350">
            <a:solidFill>
              <a:srgbClr val="999999"/>
            </a:solidFill>
            <a:prstDash val="solid"/>
          </a:ln>
        </p:spPr>
      </p:sp>
      <p:sp>
        <p:nvSpPr>
          <p:cNvPr id="51" name="Shape 49"/>
          <p:cNvSpPr/>
          <p:nvPr/>
        </p:nvSpPr>
        <p:spPr>
          <a:xfrm>
            <a:off x="1961463" y="2400375"/>
            <a:ext cx="1203710" cy="656569"/>
          </a:xfrm>
          <a:prstGeom prst="rect">
            <a:avLst/>
          </a:prstGeom>
          <a:solidFill>
            <a:srgbClr val="FFFFFF"/>
          </a:solidFill>
          <a:ln w="6350">
            <a:solidFill>
              <a:srgbClr val="999999"/>
            </a:solidFill>
            <a:prstDash val="solid"/>
          </a:ln>
        </p:spPr>
      </p:sp>
      <p:sp>
        <p:nvSpPr>
          <p:cNvPr id="52" name="Shape 50"/>
          <p:cNvSpPr/>
          <p:nvPr/>
        </p:nvSpPr>
        <p:spPr>
          <a:xfrm>
            <a:off x="1961463" y="2400375"/>
            <a:ext cx="1203710" cy="656569"/>
          </a:xfrm>
          <a:prstGeom prst="line">
            <a:avLst/>
          </a:prstGeom>
          <a:noFill/>
          <a:ln w="6350">
            <a:solidFill>
              <a:srgbClr val="999999"/>
            </a:solidFill>
            <a:prstDash val="solid"/>
          </a:ln>
        </p:spPr>
      </p:sp>
      <p:sp>
        <p:nvSpPr>
          <p:cNvPr id="53" name="Shape 51"/>
          <p:cNvSpPr/>
          <p:nvPr/>
        </p:nvSpPr>
        <p:spPr>
          <a:xfrm flipV="1">
            <a:off x="1961463" y="2400375"/>
            <a:ext cx="1203710" cy="656569"/>
          </a:xfrm>
          <a:prstGeom prst="line">
            <a:avLst/>
          </a:prstGeom>
          <a:noFill/>
          <a:ln w="6350">
            <a:solidFill>
              <a:srgbClr val="999999"/>
            </a:solidFill>
            <a:prstDash val="solid"/>
          </a:ln>
        </p:spPr>
      </p:sp>
      <p:sp>
        <p:nvSpPr>
          <p:cNvPr id="54" name="Text 52"/>
          <p:cNvSpPr txBox="1"/>
          <p:nvPr/>
        </p:nvSpPr>
        <p:spPr>
          <a:xfrm>
            <a:off x="1961463" y="3100715"/>
            <a:ext cx="1203710" cy="131314"/>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Haddock &amp; Chips (2 pc)</a:t>
            </a:r>
            <a:endParaRPr lang="en-US" sz="700" dirty="0"/>
          </a:p>
        </p:txBody>
      </p:sp>
      <p:sp>
        <p:nvSpPr>
          <p:cNvPr id="55" name="Shape 53"/>
          <p:cNvSpPr/>
          <p:nvPr/>
        </p:nvSpPr>
        <p:spPr>
          <a:xfrm>
            <a:off x="1961463" y="3275801"/>
            <a:ext cx="1094282" cy="43771"/>
          </a:xfrm>
          <a:prstGeom prst="rect">
            <a:avLst/>
          </a:prstGeom>
          <a:solidFill>
            <a:srgbClr val="DDDDDD"/>
          </a:solidFill>
          <a:ln/>
        </p:spPr>
      </p:sp>
      <p:sp>
        <p:nvSpPr>
          <p:cNvPr id="56" name="Shape 54"/>
          <p:cNvSpPr/>
          <p:nvPr/>
        </p:nvSpPr>
        <p:spPr>
          <a:xfrm>
            <a:off x="1961463" y="3363343"/>
            <a:ext cx="820711" cy="43771"/>
          </a:xfrm>
          <a:prstGeom prst="rect">
            <a:avLst/>
          </a:prstGeom>
          <a:solidFill>
            <a:srgbClr val="DDDDDD"/>
          </a:solidFill>
          <a:ln/>
        </p:spPr>
      </p:sp>
      <p:sp>
        <p:nvSpPr>
          <p:cNvPr id="57" name="Text 55"/>
          <p:cNvSpPr txBox="1"/>
          <p:nvPr/>
        </p:nvSpPr>
        <p:spPr>
          <a:xfrm>
            <a:off x="1961463" y="3505600"/>
            <a:ext cx="492427" cy="196971"/>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$19.99</a:t>
            </a:r>
            <a:endParaRPr lang="en-US" sz="700" dirty="0"/>
          </a:p>
        </p:txBody>
      </p:sp>
      <p:sp>
        <p:nvSpPr>
          <p:cNvPr id="58" name="Shape 56"/>
          <p:cNvSpPr/>
          <p:nvPr/>
        </p:nvSpPr>
        <p:spPr>
          <a:xfrm>
            <a:off x="2618032" y="3505600"/>
            <a:ext cx="547141" cy="196971"/>
          </a:xfrm>
          <a:prstGeom prst="roundRect">
            <a:avLst>
              <a:gd name="adj" fmla="val 15000"/>
            </a:avLst>
          </a:prstGeom>
          <a:solidFill>
            <a:srgbClr val="555555"/>
          </a:solidFill>
          <a:ln w="6350">
            <a:solidFill>
              <a:srgbClr val="555555"/>
            </a:solidFill>
            <a:prstDash val="solid"/>
          </a:ln>
        </p:spPr>
      </p:sp>
      <p:sp>
        <p:nvSpPr>
          <p:cNvPr id="59" name="Text 57"/>
          <p:cNvSpPr txBox="1"/>
          <p:nvPr/>
        </p:nvSpPr>
        <p:spPr>
          <a:xfrm>
            <a:off x="2618032" y="3505600"/>
            <a:ext cx="547141" cy="196971"/>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Add +</a:t>
            </a:r>
            <a:endParaRPr lang="en-US" sz="600" dirty="0"/>
          </a:p>
        </p:txBody>
      </p:sp>
      <p:sp>
        <p:nvSpPr>
          <p:cNvPr id="60" name="Shape 58"/>
          <p:cNvSpPr/>
          <p:nvPr/>
        </p:nvSpPr>
        <p:spPr>
          <a:xfrm>
            <a:off x="3329315" y="2345661"/>
            <a:ext cx="1313138" cy="1422567"/>
          </a:xfrm>
          <a:prstGeom prst="rect">
            <a:avLst/>
          </a:prstGeom>
          <a:solidFill>
            <a:srgbClr val="FFFFFF"/>
          </a:solidFill>
          <a:ln w="6350">
            <a:solidFill>
              <a:srgbClr val="999999"/>
            </a:solidFill>
            <a:prstDash val="solid"/>
          </a:ln>
        </p:spPr>
      </p:sp>
      <p:sp>
        <p:nvSpPr>
          <p:cNvPr id="61" name="Shape 59"/>
          <p:cNvSpPr/>
          <p:nvPr/>
        </p:nvSpPr>
        <p:spPr>
          <a:xfrm>
            <a:off x="3384030" y="2400375"/>
            <a:ext cx="1203710" cy="656569"/>
          </a:xfrm>
          <a:prstGeom prst="rect">
            <a:avLst/>
          </a:prstGeom>
          <a:solidFill>
            <a:srgbClr val="FFFFFF"/>
          </a:solidFill>
          <a:ln w="6350">
            <a:solidFill>
              <a:srgbClr val="999999"/>
            </a:solidFill>
            <a:prstDash val="solid"/>
          </a:ln>
        </p:spPr>
      </p:sp>
      <p:sp>
        <p:nvSpPr>
          <p:cNvPr id="62" name="Shape 60"/>
          <p:cNvSpPr/>
          <p:nvPr/>
        </p:nvSpPr>
        <p:spPr>
          <a:xfrm>
            <a:off x="3384030" y="2400375"/>
            <a:ext cx="1203710" cy="656569"/>
          </a:xfrm>
          <a:prstGeom prst="line">
            <a:avLst/>
          </a:prstGeom>
          <a:noFill/>
          <a:ln w="6350">
            <a:solidFill>
              <a:srgbClr val="999999"/>
            </a:solidFill>
            <a:prstDash val="solid"/>
          </a:ln>
        </p:spPr>
      </p:sp>
      <p:sp>
        <p:nvSpPr>
          <p:cNvPr id="63" name="Shape 61"/>
          <p:cNvSpPr/>
          <p:nvPr/>
        </p:nvSpPr>
        <p:spPr>
          <a:xfrm flipV="1">
            <a:off x="3384030" y="2400375"/>
            <a:ext cx="1203710" cy="656569"/>
          </a:xfrm>
          <a:prstGeom prst="line">
            <a:avLst/>
          </a:prstGeom>
          <a:noFill/>
          <a:ln w="6350">
            <a:solidFill>
              <a:srgbClr val="999999"/>
            </a:solidFill>
            <a:prstDash val="solid"/>
          </a:ln>
        </p:spPr>
      </p:sp>
      <p:sp>
        <p:nvSpPr>
          <p:cNvPr id="64" name="Text 62"/>
          <p:cNvSpPr txBox="1"/>
          <p:nvPr/>
        </p:nvSpPr>
        <p:spPr>
          <a:xfrm>
            <a:off x="3384030" y="3100715"/>
            <a:ext cx="1203710" cy="131314"/>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Fish Tacos (2)</a:t>
            </a:r>
            <a:endParaRPr lang="en-US" sz="700" dirty="0"/>
          </a:p>
        </p:txBody>
      </p:sp>
      <p:sp>
        <p:nvSpPr>
          <p:cNvPr id="65" name="Shape 63"/>
          <p:cNvSpPr/>
          <p:nvPr/>
        </p:nvSpPr>
        <p:spPr>
          <a:xfrm>
            <a:off x="3384030" y="3275801"/>
            <a:ext cx="1094282" cy="43771"/>
          </a:xfrm>
          <a:prstGeom prst="rect">
            <a:avLst/>
          </a:prstGeom>
          <a:solidFill>
            <a:srgbClr val="DDDDDD"/>
          </a:solidFill>
          <a:ln/>
        </p:spPr>
      </p:sp>
      <p:sp>
        <p:nvSpPr>
          <p:cNvPr id="66" name="Shape 64"/>
          <p:cNvSpPr/>
          <p:nvPr/>
        </p:nvSpPr>
        <p:spPr>
          <a:xfrm>
            <a:off x="3384030" y="3363343"/>
            <a:ext cx="820711" cy="43771"/>
          </a:xfrm>
          <a:prstGeom prst="rect">
            <a:avLst/>
          </a:prstGeom>
          <a:solidFill>
            <a:srgbClr val="DDDDDD"/>
          </a:solidFill>
          <a:ln/>
        </p:spPr>
      </p:sp>
      <p:sp>
        <p:nvSpPr>
          <p:cNvPr id="67" name="Text 65"/>
          <p:cNvSpPr txBox="1"/>
          <p:nvPr/>
        </p:nvSpPr>
        <p:spPr>
          <a:xfrm>
            <a:off x="3384030" y="3505600"/>
            <a:ext cx="492427" cy="196971"/>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$13.49</a:t>
            </a:r>
            <a:endParaRPr lang="en-US" sz="700" dirty="0"/>
          </a:p>
        </p:txBody>
      </p:sp>
      <p:sp>
        <p:nvSpPr>
          <p:cNvPr id="68" name="Shape 66"/>
          <p:cNvSpPr/>
          <p:nvPr/>
        </p:nvSpPr>
        <p:spPr>
          <a:xfrm>
            <a:off x="4040599" y="3505600"/>
            <a:ext cx="547141" cy="196971"/>
          </a:xfrm>
          <a:prstGeom prst="roundRect">
            <a:avLst>
              <a:gd name="adj" fmla="val 15000"/>
            </a:avLst>
          </a:prstGeom>
          <a:solidFill>
            <a:srgbClr val="555555"/>
          </a:solidFill>
          <a:ln w="6350">
            <a:solidFill>
              <a:srgbClr val="555555"/>
            </a:solidFill>
            <a:prstDash val="solid"/>
          </a:ln>
        </p:spPr>
      </p:sp>
      <p:sp>
        <p:nvSpPr>
          <p:cNvPr id="69" name="Text 67"/>
          <p:cNvSpPr txBox="1"/>
          <p:nvPr/>
        </p:nvSpPr>
        <p:spPr>
          <a:xfrm>
            <a:off x="4040599" y="3505600"/>
            <a:ext cx="547141" cy="196971"/>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Add +</a:t>
            </a:r>
            <a:endParaRPr lang="en-US" sz="600" dirty="0"/>
          </a:p>
        </p:txBody>
      </p:sp>
      <p:sp>
        <p:nvSpPr>
          <p:cNvPr id="70" name="Shape 68"/>
          <p:cNvSpPr/>
          <p:nvPr/>
        </p:nvSpPr>
        <p:spPr>
          <a:xfrm>
            <a:off x="484182" y="3877656"/>
            <a:ext cx="1313138" cy="1422567"/>
          </a:xfrm>
          <a:prstGeom prst="rect">
            <a:avLst/>
          </a:prstGeom>
          <a:solidFill>
            <a:srgbClr val="FFFFFF"/>
          </a:solidFill>
          <a:ln w="6350">
            <a:solidFill>
              <a:srgbClr val="999999"/>
            </a:solidFill>
            <a:prstDash val="solid"/>
          </a:ln>
        </p:spPr>
      </p:sp>
      <p:sp>
        <p:nvSpPr>
          <p:cNvPr id="71" name="Shape 69"/>
          <p:cNvSpPr/>
          <p:nvPr/>
        </p:nvSpPr>
        <p:spPr>
          <a:xfrm>
            <a:off x="538896" y="3932370"/>
            <a:ext cx="1203710" cy="656569"/>
          </a:xfrm>
          <a:prstGeom prst="rect">
            <a:avLst/>
          </a:prstGeom>
          <a:solidFill>
            <a:srgbClr val="FFFFFF"/>
          </a:solidFill>
          <a:ln w="6350">
            <a:solidFill>
              <a:srgbClr val="999999"/>
            </a:solidFill>
            <a:prstDash val="solid"/>
          </a:ln>
        </p:spPr>
      </p:sp>
      <p:sp>
        <p:nvSpPr>
          <p:cNvPr id="72" name="Shape 70"/>
          <p:cNvSpPr/>
          <p:nvPr/>
        </p:nvSpPr>
        <p:spPr>
          <a:xfrm>
            <a:off x="538896" y="3932370"/>
            <a:ext cx="1203710" cy="656569"/>
          </a:xfrm>
          <a:prstGeom prst="line">
            <a:avLst/>
          </a:prstGeom>
          <a:noFill/>
          <a:ln w="6350">
            <a:solidFill>
              <a:srgbClr val="999999"/>
            </a:solidFill>
            <a:prstDash val="solid"/>
          </a:ln>
        </p:spPr>
      </p:sp>
      <p:sp>
        <p:nvSpPr>
          <p:cNvPr id="73" name="Shape 71"/>
          <p:cNvSpPr/>
          <p:nvPr/>
        </p:nvSpPr>
        <p:spPr>
          <a:xfrm flipV="1">
            <a:off x="538896" y="3932370"/>
            <a:ext cx="1203710" cy="656569"/>
          </a:xfrm>
          <a:prstGeom prst="line">
            <a:avLst/>
          </a:prstGeom>
          <a:noFill/>
          <a:ln w="6350">
            <a:solidFill>
              <a:srgbClr val="999999"/>
            </a:solidFill>
            <a:prstDash val="solid"/>
          </a:ln>
        </p:spPr>
      </p:sp>
      <p:sp>
        <p:nvSpPr>
          <p:cNvPr id="74" name="Text 72"/>
          <p:cNvSpPr txBox="1"/>
          <p:nvPr/>
        </p:nvSpPr>
        <p:spPr>
          <a:xfrm>
            <a:off x="538896" y="4632710"/>
            <a:ext cx="1203710" cy="131314"/>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Clam Strips &amp; Chips</a:t>
            </a:r>
            <a:endParaRPr lang="en-US" sz="700" dirty="0"/>
          </a:p>
        </p:txBody>
      </p:sp>
      <p:sp>
        <p:nvSpPr>
          <p:cNvPr id="75" name="Shape 73"/>
          <p:cNvSpPr/>
          <p:nvPr/>
        </p:nvSpPr>
        <p:spPr>
          <a:xfrm>
            <a:off x="538896" y="4807795"/>
            <a:ext cx="1094282" cy="43771"/>
          </a:xfrm>
          <a:prstGeom prst="rect">
            <a:avLst/>
          </a:prstGeom>
          <a:solidFill>
            <a:srgbClr val="DDDDDD"/>
          </a:solidFill>
          <a:ln/>
        </p:spPr>
      </p:sp>
      <p:sp>
        <p:nvSpPr>
          <p:cNvPr id="76" name="Shape 74"/>
          <p:cNvSpPr/>
          <p:nvPr/>
        </p:nvSpPr>
        <p:spPr>
          <a:xfrm>
            <a:off x="538896" y="4895338"/>
            <a:ext cx="820711" cy="43771"/>
          </a:xfrm>
          <a:prstGeom prst="rect">
            <a:avLst/>
          </a:prstGeom>
          <a:solidFill>
            <a:srgbClr val="DDDDDD"/>
          </a:solidFill>
          <a:ln/>
        </p:spPr>
      </p:sp>
      <p:sp>
        <p:nvSpPr>
          <p:cNvPr id="77" name="Text 75"/>
          <p:cNvSpPr txBox="1"/>
          <p:nvPr/>
        </p:nvSpPr>
        <p:spPr>
          <a:xfrm>
            <a:off x="538896" y="5037594"/>
            <a:ext cx="492427" cy="196971"/>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$16.99</a:t>
            </a:r>
            <a:endParaRPr lang="en-US" sz="700" dirty="0"/>
          </a:p>
        </p:txBody>
      </p:sp>
      <p:sp>
        <p:nvSpPr>
          <p:cNvPr id="78" name="Shape 76"/>
          <p:cNvSpPr/>
          <p:nvPr/>
        </p:nvSpPr>
        <p:spPr>
          <a:xfrm>
            <a:off x="1195466" y="5037594"/>
            <a:ext cx="547141" cy="196971"/>
          </a:xfrm>
          <a:prstGeom prst="roundRect">
            <a:avLst>
              <a:gd name="adj" fmla="val 15000"/>
            </a:avLst>
          </a:prstGeom>
          <a:solidFill>
            <a:srgbClr val="555555"/>
          </a:solidFill>
          <a:ln w="6350">
            <a:solidFill>
              <a:srgbClr val="555555"/>
            </a:solidFill>
            <a:prstDash val="solid"/>
          </a:ln>
        </p:spPr>
      </p:sp>
      <p:sp>
        <p:nvSpPr>
          <p:cNvPr id="79" name="Text 77"/>
          <p:cNvSpPr txBox="1"/>
          <p:nvPr/>
        </p:nvSpPr>
        <p:spPr>
          <a:xfrm>
            <a:off x="1195466" y="5037594"/>
            <a:ext cx="547141" cy="196971"/>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Add +</a:t>
            </a:r>
            <a:endParaRPr lang="en-US" sz="600" dirty="0"/>
          </a:p>
        </p:txBody>
      </p:sp>
      <p:sp>
        <p:nvSpPr>
          <p:cNvPr id="80" name="Shape 78"/>
          <p:cNvSpPr/>
          <p:nvPr/>
        </p:nvSpPr>
        <p:spPr>
          <a:xfrm>
            <a:off x="1906749" y="3877656"/>
            <a:ext cx="1313138" cy="1422567"/>
          </a:xfrm>
          <a:prstGeom prst="rect">
            <a:avLst/>
          </a:prstGeom>
          <a:solidFill>
            <a:srgbClr val="FFFFFF"/>
          </a:solidFill>
          <a:ln w="6350">
            <a:solidFill>
              <a:srgbClr val="999999"/>
            </a:solidFill>
            <a:prstDash val="solid"/>
          </a:ln>
        </p:spPr>
      </p:sp>
      <p:sp>
        <p:nvSpPr>
          <p:cNvPr id="81" name="Shape 79"/>
          <p:cNvSpPr/>
          <p:nvPr/>
        </p:nvSpPr>
        <p:spPr>
          <a:xfrm>
            <a:off x="1961463" y="3932370"/>
            <a:ext cx="1203710" cy="656569"/>
          </a:xfrm>
          <a:prstGeom prst="rect">
            <a:avLst/>
          </a:prstGeom>
          <a:solidFill>
            <a:srgbClr val="FFFFFF"/>
          </a:solidFill>
          <a:ln w="6350">
            <a:solidFill>
              <a:srgbClr val="999999"/>
            </a:solidFill>
            <a:prstDash val="solid"/>
          </a:ln>
        </p:spPr>
      </p:sp>
      <p:sp>
        <p:nvSpPr>
          <p:cNvPr id="82" name="Shape 80"/>
          <p:cNvSpPr/>
          <p:nvPr/>
        </p:nvSpPr>
        <p:spPr>
          <a:xfrm>
            <a:off x="1961463" y="3932370"/>
            <a:ext cx="1203710" cy="656569"/>
          </a:xfrm>
          <a:prstGeom prst="line">
            <a:avLst/>
          </a:prstGeom>
          <a:noFill/>
          <a:ln w="6350">
            <a:solidFill>
              <a:srgbClr val="999999"/>
            </a:solidFill>
            <a:prstDash val="solid"/>
          </a:ln>
        </p:spPr>
      </p:sp>
      <p:sp>
        <p:nvSpPr>
          <p:cNvPr id="83" name="Shape 81"/>
          <p:cNvSpPr/>
          <p:nvPr/>
        </p:nvSpPr>
        <p:spPr>
          <a:xfrm flipV="1">
            <a:off x="1961463" y="3932370"/>
            <a:ext cx="1203710" cy="656569"/>
          </a:xfrm>
          <a:prstGeom prst="line">
            <a:avLst/>
          </a:prstGeom>
          <a:noFill/>
          <a:ln w="6350">
            <a:solidFill>
              <a:srgbClr val="999999"/>
            </a:solidFill>
            <a:prstDash val="solid"/>
          </a:ln>
        </p:spPr>
      </p:sp>
      <p:sp>
        <p:nvSpPr>
          <p:cNvPr id="84" name="Text 82"/>
          <p:cNvSpPr txBox="1"/>
          <p:nvPr/>
        </p:nvSpPr>
        <p:spPr>
          <a:xfrm>
            <a:off x="1961463" y="4632710"/>
            <a:ext cx="1203710" cy="131314"/>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Scallops &amp; Chips</a:t>
            </a:r>
            <a:endParaRPr lang="en-US" sz="700" dirty="0"/>
          </a:p>
        </p:txBody>
      </p:sp>
      <p:sp>
        <p:nvSpPr>
          <p:cNvPr id="85" name="Shape 83"/>
          <p:cNvSpPr/>
          <p:nvPr/>
        </p:nvSpPr>
        <p:spPr>
          <a:xfrm>
            <a:off x="1961463" y="4807795"/>
            <a:ext cx="1094282" cy="43771"/>
          </a:xfrm>
          <a:prstGeom prst="rect">
            <a:avLst/>
          </a:prstGeom>
          <a:solidFill>
            <a:srgbClr val="DDDDDD"/>
          </a:solidFill>
          <a:ln/>
        </p:spPr>
      </p:sp>
      <p:sp>
        <p:nvSpPr>
          <p:cNvPr id="86" name="Shape 84"/>
          <p:cNvSpPr/>
          <p:nvPr/>
        </p:nvSpPr>
        <p:spPr>
          <a:xfrm>
            <a:off x="1961463" y="4895338"/>
            <a:ext cx="820711" cy="43771"/>
          </a:xfrm>
          <a:prstGeom prst="rect">
            <a:avLst/>
          </a:prstGeom>
          <a:solidFill>
            <a:srgbClr val="DDDDDD"/>
          </a:solidFill>
          <a:ln/>
        </p:spPr>
      </p:sp>
      <p:sp>
        <p:nvSpPr>
          <p:cNvPr id="87" name="Text 85"/>
          <p:cNvSpPr txBox="1"/>
          <p:nvPr/>
        </p:nvSpPr>
        <p:spPr>
          <a:xfrm>
            <a:off x="1961463" y="5037594"/>
            <a:ext cx="492427" cy="196971"/>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$24.99</a:t>
            </a:r>
            <a:endParaRPr lang="en-US" sz="700" dirty="0"/>
          </a:p>
        </p:txBody>
      </p:sp>
      <p:sp>
        <p:nvSpPr>
          <p:cNvPr id="88" name="Shape 86"/>
          <p:cNvSpPr/>
          <p:nvPr/>
        </p:nvSpPr>
        <p:spPr>
          <a:xfrm>
            <a:off x="2618032" y="5037594"/>
            <a:ext cx="547141" cy="196971"/>
          </a:xfrm>
          <a:prstGeom prst="roundRect">
            <a:avLst>
              <a:gd name="adj" fmla="val 15000"/>
            </a:avLst>
          </a:prstGeom>
          <a:solidFill>
            <a:srgbClr val="555555"/>
          </a:solidFill>
          <a:ln w="6350">
            <a:solidFill>
              <a:srgbClr val="555555"/>
            </a:solidFill>
            <a:prstDash val="solid"/>
          </a:ln>
        </p:spPr>
      </p:sp>
      <p:sp>
        <p:nvSpPr>
          <p:cNvPr id="89" name="Text 87"/>
          <p:cNvSpPr txBox="1"/>
          <p:nvPr/>
        </p:nvSpPr>
        <p:spPr>
          <a:xfrm>
            <a:off x="2618032" y="5037594"/>
            <a:ext cx="547141" cy="196971"/>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Add +</a:t>
            </a:r>
            <a:endParaRPr lang="en-US" sz="600" dirty="0"/>
          </a:p>
        </p:txBody>
      </p:sp>
      <p:sp>
        <p:nvSpPr>
          <p:cNvPr id="90" name="Shape 88"/>
          <p:cNvSpPr/>
          <p:nvPr/>
        </p:nvSpPr>
        <p:spPr>
          <a:xfrm>
            <a:off x="3329315" y="3877656"/>
            <a:ext cx="1313138" cy="1422567"/>
          </a:xfrm>
          <a:prstGeom prst="rect">
            <a:avLst/>
          </a:prstGeom>
          <a:solidFill>
            <a:srgbClr val="FFFFFF"/>
          </a:solidFill>
          <a:ln w="6350">
            <a:solidFill>
              <a:srgbClr val="999999"/>
            </a:solidFill>
            <a:prstDash val="solid"/>
          </a:ln>
        </p:spPr>
      </p:sp>
      <p:sp>
        <p:nvSpPr>
          <p:cNvPr id="91" name="Shape 89"/>
          <p:cNvSpPr/>
          <p:nvPr/>
        </p:nvSpPr>
        <p:spPr>
          <a:xfrm>
            <a:off x="3384030" y="3932370"/>
            <a:ext cx="1203710" cy="656569"/>
          </a:xfrm>
          <a:prstGeom prst="rect">
            <a:avLst/>
          </a:prstGeom>
          <a:solidFill>
            <a:srgbClr val="FFFFFF"/>
          </a:solidFill>
          <a:ln w="6350">
            <a:solidFill>
              <a:srgbClr val="999999"/>
            </a:solidFill>
            <a:prstDash val="solid"/>
          </a:ln>
        </p:spPr>
      </p:sp>
      <p:sp>
        <p:nvSpPr>
          <p:cNvPr id="92" name="Shape 90"/>
          <p:cNvSpPr/>
          <p:nvPr/>
        </p:nvSpPr>
        <p:spPr>
          <a:xfrm>
            <a:off x="3384030" y="3932370"/>
            <a:ext cx="1203710" cy="656569"/>
          </a:xfrm>
          <a:prstGeom prst="line">
            <a:avLst/>
          </a:prstGeom>
          <a:noFill/>
          <a:ln w="6350">
            <a:solidFill>
              <a:srgbClr val="999999"/>
            </a:solidFill>
            <a:prstDash val="solid"/>
          </a:ln>
        </p:spPr>
      </p:sp>
      <p:sp>
        <p:nvSpPr>
          <p:cNvPr id="93" name="Shape 91"/>
          <p:cNvSpPr/>
          <p:nvPr/>
        </p:nvSpPr>
        <p:spPr>
          <a:xfrm flipV="1">
            <a:off x="3384030" y="3932370"/>
            <a:ext cx="1203710" cy="656569"/>
          </a:xfrm>
          <a:prstGeom prst="line">
            <a:avLst/>
          </a:prstGeom>
          <a:noFill/>
          <a:ln w="6350">
            <a:solidFill>
              <a:srgbClr val="999999"/>
            </a:solidFill>
            <a:prstDash val="solid"/>
          </a:ln>
        </p:spPr>
      </p:sp>
      <p:sp>
        <p:nvSpPr>
          <p:cNvPr id="94" name="Text 92"/>
          <p:cNvSpPr txBox="1"/>
          <p:nvPr/>
        </p:nvSpPr>
        <p:spPr>
          <a:xfrm>
            <a:off x="3384030" y="4632710"/>
            <a:ext cx="1203710" cy="131314"/>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Lobster Roll</a:t>
            </a:r>
            <a:endParaRPr lang="en-US" sz="700" dirty="0"/>
          </a:p>
        </p:txBody>
      </p:sp>
      <p:sp>
        <p:nvSpPr>
          <p:cNvPr id="95" name="Shape 93"/>
          <p:cNvSpPr/>
          <p:nvPr/>
        </p:nvSpPr>
        <p:spPr>
          <a:xfrm>
            <a:off x="3384030" y="4807795"/>
            <a:ext cx="1094282" cy="43771"/>
          </a:xfrm>
          <a:prstGeom prst="rect">
            <a:avLst/>
          </a:prstGeom>
          <a:solidFill>
            <a:srgbClr val="DDDDDD"/>
          </a:solidFill>
          <a:ln/>
        </p:spPr>
      </p:sp>
      <p:sp>
        <p:nvSpPr>
          <p:cNvPr id="96" name="Shape 94"/>
          <p:cNvSpPr/>
          <p:nvPr/>
        </p:nvSpPr>
        <p:spPr>
          <a:xfrm>
            <a:off x="3384030" y="4895338"/>
            <a:ext cx="820711" cy="43771"/>
          </a:xfrm>
          <a:prstGeom prst="rect">
            <a:avLst/>
          </a:prstGeom>
          <a:solidFill>
            <a:srgbClr val="DDDDDD"/>
          </a:solidFill>
          <a:ln/>
        </p:spPr>
      </p:sp>
      <p:sp>
        <p:nvSpPr>
          <p:cNvPr id="97" name="Text 95"/>
          <p:cNvSpPr txBox="1"/>
          <p:nvPr/>
        </p:nvSpPr>
        <p:spPr>
          <a:xfrm>
            <a:off x="3384030" y="5037594"/>
            <a:ext cx="492427" cy="196971"/>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$22.99</a:t>
            </a:r>
            <a:endParaRPr lang="en-US" sz="700" dirty="0"/>
          </a:p>
        </p:txBody>
      </p:sp>
      <p:sp>
        <p:nvSpPr>
          <p:cNvPr id="98" name="Shape 96"/>
          <p:cNvSpPr/>
          <p:nvPr/>
        </p:nvSpPr>
        <p:spPr>
          <a:xfrm>
            <a:off x="4040599" y="5037594"/>
            <a:ext cx="547141" cy="196971"/>
          </a:xfrm>
          <a:prstGeom prst="roundRect">
            <a:avLst>
              <a:gd name="adj" fmla="val 15000"/>
            </a:avLst>
          </a:prstGeom>
          <a:solidFill>
            <a:srgbClr val="555555"/>
          </a:solidFill>
          <a:ln w="6350">
            <a:solidFill>
              <a:srgbClr val="555555"/>
            </a:solidFill>
            <a:prstDash val="solid"/>
          </a:ln>
        </p:spPr>
      </p:sp>
      <p:sp>
        <p:nvSpPr>
          <p:cNvPr id="99" name="Text 97"/>
          <p:cNvSpPr txBox="1"/>
          <p:nvPr/>
        </p:nvSpPr>
        <p:spPr>
          <a:xfrm>
            <a:off x="4040599" y="5037594"/>
            <a:ext cx="547141" cy="196971"/>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Add +</a:t>
            </a:r>
            <a:endParaRPr lang="en-US" sz="600" dirty="0"/>
          </a:p>
        </p:txBody>
      </p:sp>
      <p:sp>
        <p:nvSpPr>
          <p:cNvPr id="100" name="Shape 98"/>
          <p:cNvSpPr/>
          <p:nvPr/>
        </p:nvSpPr>
        <p:spPr>
          <a:xfrm>
            <a:off x="429468" y="1743806"/>
            <a:ext cx="4267700" cy="3611130"/>
          </a:xfrm>
          <a:prstGeom prst="roundRect">
            <a:avLst>
              <a:gd name="adj" fmla="val 2026"/>
            </a:avLst>
          </a:prstGeom>
          <a:ln w="44450">
            <a:solidFill>
              <a:srgbClr val="E97132"/>
            </a:solidFill>
            <a:prstDash val="solid"/>
          </a:ln>
        </p:spPr>
      </p:sp>
      <p:sp>
        <p:nvSpPr>
          <p:cNvPr id="101" name="Text 99"/>
          <p:cNvSpPr txBox="1"/>
          <p:nvPr/>
        </p:nvSpPr>
        <p:spPr>
          <a:xfrm>
            <a:off x="7315200" y="457200"/>
            <a:ext cx="4465015" cy="320040"/>
          </a:xfrm>
          <a:prstGeom prst="rect">
            <a:avLst/>
          </a:prstGeom>
          <a:noFill/>
          <a:ln/>
        </p:spPr>
        <p:txBody>
          <a:bodyPr wrap="square" lIns="0" tIns="0" rIns="0" bIns="0" rtlCol="0" anchor="ctr"/>
          <a:lstStyle/>
          <a:p>
            <a:pPr indent="0" marL="0">
              <a:buNone/>
            </a:pPr>
            <a:r>
              <a:rPr lang="en-US" sz="1300" b="1" spc="100" kern="0" dirty="0">
                <a:solidFill>
                  <a:srgbClr val="595959"/>
                </a:solidFill>
                <a:latin typeface="Aptos" pitchFamily="34" charset="0"/>
                <a:ea typeface="Aptos" pitchFamily="34" charset="-122"/>
                <a:cs typeface="Aptos" pitchFamily="34" charset="-120"/>
              </a:rPr>
              <a:t>GUIDED EXAMPLE · STEP 3</a:t>
            </a:r>
            <a:endParaRPr lang="en-US" sz="1300" dirty="0"/>
          </a:p>
        </p:txBody>
      </p:sp>
      <p:sp>
        <p:nvSpPr>
          <p:cNvPr id="102" name="Text 100"/>
          <p:cNvSpPr txBox="1"/>
          <p:nvPr/>
        </p:nvSpPr>
        <p:spPr>
          <a:xfrm>
            <a:off x="7315200" y="777240"/>
            <a:ext cx="4465015" cy="594360"/>
          </a:xfrm>
          <a:prstGeom prst="rect">
            <a:avLst/>
          </a:prstGeom>
          <a:noFill/>
          <a:ln/>
        </p:spPr>
        <p:txBody>
          <a:bodyPr wrap="square" lIns="0" tIns="0" rIns="0" bIns="0" rtlCol="0" anchor="t"/>
          <a:lstStyle/>
          <a:p>
            <a:pPr indent="0" marL="0">
              <a:buNone/>
            </a:pPr>
            <a:r>
              <a:rPr lang="en-US" sz="2800" dirty="0">
                <a:solidFill>
                  <a:srgbClr val="000000"/>
                </a:solidFill>
                <a:latin typeface="Aptos" pitchFamily="34" charset="0"/>
                <a:ea typeface="Aptos" pitchFamily="34" charset="-122"/>
                <a:cs typeface="Aptos" pitchFamily="34" charset="-120"/>
              </a:rPr>
              <a:t>Menu Tabs and Cards</a:t>
            </a:r>
            <a:endParaRPr lang="en-US" sz="2800" dirty="0"/>
          </a:p>
        </p:txBody>
      </p:sp>
      <p:sp>
        <p:nvSpPr>
          <p:cNvPr id="103" name="Shape 101"/>
          <p:cNvSpPr/>
          <p:nvPr/>
        </p:nvSpPr>
        <p:spPr>
          <a:xfrm>
            <a:off x="7315200" y="1463040"/>
            <a:ext cx="914400" cy="310896"/>
          </a:xfrm>
          <a:prstGeom prst="roundRect">
            <a:avLst>
              <a:gd name="adj" fmla="val 50000"/>
            </a:avLst>
          </a:prstGeom>
          <a:solidFill>
            <a:srgbClr val="E97132"/>
          </a:solidFill>
          <a:ln w="12700">
            <a:solidFill>
              <a:srgbClr val="E97132"/>
            </a:solidFill>
            <a:prstDash val="solid"/>
          </a:ln>
        </p:spPr>
      </p:sp>
      <p:sp>
        <p:nvSpPr>
          <p:cNvPr id="104" name="Text 102"/>
          <p:cNvSpPr txBox="1"/>
          <p:nvPr/>
        </p:nvSpPr>
        <p:spPr>
          <a:xfrm>
            <a:off x="7315200" y="1463040"/>
            <a:ext cx="91440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ptos" pitchFamily="34" charset="0"/>
                <a:ea typeface="Aptos" pitchFamily="34" charset="-122"/>
                <a:cs typeface="Aptos" pitchFamily="34" charset="-120"/>
              </a:rPr>
              <a:t>STORY 1</a:t>
            </a:r>
            <a:endParaRPr lang="en-US" sz="1100" dirty="0"/>
          </a:p>
        </p:txBody>
      </p:sp>
      <p:sp>
        <p:nvSpPr>
          <p:cNvPr id="105" name="Text 103"/>
          <p:cNvSpPr txBox="1"/>
          <p:nvPr/>
        </p:nvSpPr>
        <p:spPr>
          <a:xfrm>
            <a:off x="7315200" y="1965960"/>
            <a:ext cx="4465015" cy="2743200"/>
          </a:xfrm>
          <a:prstGeom prst="rect">
            <a:avLst/>
          </a:prstGeom>
          <a:noFill/>
          <a:ln/>
        </p:spPr>
        <p:txBody>
          <a:bodyPr wrap="square" lIns="0" tIns="0" rIns="0" bIns="0" rtlCol="0" anchor="t"/>
          <a:lstStyle/>
          <a:p>
            <a:pPr marL="342900" indent="-342900">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A row of tabs: </a:t>
            </a:r>
            <a:pPr indent="0" marL="0">
              <a:buNone/>
            </a:pPr>
            <a:r>
              <a:rPr lang="en-US" sz="1450" b="1" dirty="0">
                <a:solidFill>
                  <a:srgbClr val="262626"/>
                </a:solidFill>
                <a:latin typeface="Aptos" pitchFamily="34" charset="0"/>
                <a:ea typeface="Aptos" pitchFamily="34" charset="-122"/>
                <a:cs typeface="Aptos" pitchFamily="34" charset="-120"/>
              </a:rPr>
              <a:t>Fish</a:t>
            </a:r>
            <a:pPr indent="0" marL="0">
              <a:buNone/>
            </a:pPr>
            <a:r>
              <a:rPr lang="en-US" sz="1450" dirty="0">
                <a:solidFill>
                  <a:srgbClr val="262626"/>
                </a:solidFill>
                <a:latin typeface="Aptos" pitchFamily="34" charset="0"/>
                <a:ea typeface="Aptos" pitchFamily="34" charset="-122"/>
                <a:cs typeface="Aptos" pitchFamily="34" charset="-120"/>
              </a:rPr>
              <a:t> (filled = selected), Combos, Sides, Drinks, Desserts.</a:t>
            </a:r>
            <a:endParaRPr lang="en-US" sz="1450" dirty="0"/>
          </a:p>
          <a:p>
            <a:pPr marL="342900" indent="-342900">
              <a:spcBef>
                <a:spcPts val="800"/>
              </a:spcBef>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Build </a:t>
            </a:r>
            <a:pPr indent="0" marL="0">
              <a:buNone/>
            </a:pPr>
            <a:r>
              <a:rPr lang="en-US" sz="1450" b="1" dirty="0">
                <a:solidFill>
                  <a:srgbClr val="262626"/>
                </a:solidFill>
                <a:latin typeface="Aptos" pitchFamily="34" charset="0"/>
                <a:ea typeface="Aptos" pitchFamily="34" charset="-122"/>
                <a:cs typeface="Aptos" pitchFamily="34" charset="-120"/>
              </a:rPr>
              <a:t>one</a:t>
            </a:r>
            <a:pPr indent="0" marL="0">
              <a:buNone/>
            </a:pPr>
            <a:r>
              <a:rPr lang="en-US" sz="1450" dirty="0">
                <a:solidFill>
                  <a:srgbClr val="262626"/>
                </a:solidFill>
                <a:latin typeface="Aptos" pitchFamily="34" charset="0"/>
                <a:ea typeface="Aptos" pitchFamily="34" charset="-122"/>
                <a:cs typeface="Aptos" pitchFamily="34" charset="-120"/>
              </a:rPr>
              <a:t> card: image, name, two grey bars, price, and an </a:t>
            </a:r>
            <a:pPr indent="0" marL="0">
              <a:buNone/>
            </a:pPr>
            <a:r>
              <a:rPr lang="en-US" sz="1450" b="1" dirty="0">
                <a:solidFill>
                  <a:srgbClr val="262626"/>
                </a:solidFill>
                <a:latin typeface="Aptos" pitchFamily="34" charset="0"/>
                <a:ea typeface="Aptos" pitchFamily="34" charset="-122"/>
                <a:cs typeface="Aptos" pitchFamily="34" charset="-120"/>
              </a:rPr>
              <a:t>Add +</a:t>
            </a:r>
            <a:pPr indent="0" marL="0">
              <a:buNone/>
            </a:pPr>
            <a:r>
              <a:rPr lang="en-US" sz="1450" dirty="0">
                <a:solidFill>
                  <a:srgbClr val="262626"/>
                </a:solidFill>
                <a:latin typeface="Aptos" pitchFamily="34" charset="0"/>
                <a:ea typeface="Aptos" pitchFamily="34" charset="-122"/>
                <a:cs typeface="Aptos" pitchFamily="34" charset="-120"/>
              </a:rPr>
              <a:t> button.</a:t>
            </a:r>
            <a:endParaRPr lang="en-US" sz="1450" dirty="0"/>
          </a:p>
          <a:p>
            <a:pPr marL="342900" indent="-342900">
              <a:spcBef>
                <a:spcPts val="800"/>
              </a:spcBef>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Select the card → </a:t>
            </a:r>
            <a:pPr indent="0" marL="0">
              <a:buNone/>
            </a:pPr>
            <a:r>
              <a:rPr lang="en-US" sz="1450" b="1" dirty="0">
                <a:solidFill>
                  <a:srgbClr val="262626"/>
                </a:solidFill>
                <a:latin typeface="Aptos" pitchFamily="34" charset="0"/>
                <a:ea typeface="Aptos" pitchFamily="34" charset="-122"/>
                <a:cs typeface="Aptos" pitchFamily="34" charset="-120"/>
              </a:rPr>
              <a:t>Ctrl + G</a:t>
            </a:r>
            <a:pPr indent="0" marL="0">
              <a:buNone/>
            </a:pPr>
            <a:r>
              <a:rPr lang="en-US" sz="1450" dirty="0">
                <a:solidFill>
                  <a:srgbClr val="262626"/>
                </a:solidFill>
                <a:latin typeface="Aptos" pitchFamily="34" charset="0"/>
                <a:ea typeface="Aptos" pitchFamily="34" charset="-122"/>
                <a:cs typeface="Aptos" pitchFamily="34" charset="-120"/>
              </a:rPr>
              <a:t> to group it → </a:t>
            </a:r>
            <a:pPr indent="0" marL="0">
              <a:buNone/>
            </a:pPr>
            <a:r>
              <a:rPr lang="en-US" sz="1450" b="1" dirty="0">
                <a:solidFill>
                  <a:srgbClr val="262626"/>
                </a:solidFill>
                <a:latin typeface="Aptos" pitchFamily="34" charset="0"/>
                <a:ea typeface="Aptos" pitchFamily="34" charset="-122"/>
                <a:cs typeface="Aptos" pitchFamily="34" charset="-120"/>
              </a:rPr>
              <a:t>Ctrl + D</a:t>
            </a:r>
            <a:pPr indent="0" marL="0">
              <a:buNone/>
            </a:pPr>
            <a:r>
              <a:rPr lang="en-US" sz="1450" dirty="0">
                <a:solidFill>
                  <a:srgbClr val="262626"/>
                </a:solidFill>
                <a:latin typeface="Aptos" pitchFamily="34" charset="0"/>
                <a:ea typeface="Aptos" pitchFamily="34" charset="-122"/>
                <a:cs typeface="Aptos" pitchFamily="34" charset="-120"/>
              </a:rPr>
              <a:t> to duplicate.</a:t>
            </a:r>
            <a:endParaRPr lang="en-US" sz="1450" dirty="0"/>
          </a:p>
          <a:p>
            <a:pPr marL="342900" indent="-342900">
              <a:spcBef>
                <a:spcPts val="800"/>
              </a:spcBef>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Arrange → Align / Distribute into a </a:t>
            </a:r>
            <a:pPr indent="0" marL="0">
              <a:buNone/>
            </a:pPr>
            <a:r>
              <a:rPr lang="en-US" sz="1450" b="1" dirty="0">
                <a:solidFill>
                  <a:srgbClr val="262626"/>
                </a:solidFill>
                <a:latin typeface="Aptos" pitchFamily="34" charset="0"/>
                <a:ea typeface="Aptos" pitchFamily="34" charset="-122"/>
                <a:cs typeface="Aptos" pitchFamily="34" charset="-120"/>
              </a:rPr>
              <a:t>3 × 2 grid</a:t>
            </a:r>
            <a:pPr indent="0" marL="0">
              <a:buNone/>
            </a:pPr>
            <a:r>
              <a:rPr lang="en-US" sz="1450" dirty="0">
                <a:solidFill>
                  <a:srgbClr val="262626"/>
                </a:solidFill>
                <a:latin typeface="Aptos" pitchFamily="34" charset="0"/>
                <a:ea typeface="Aptos" pitchFamily="34" charset="-122"/>
                <a:cs typeface="Aptos" pitchFamily="34" charset="-120"/>
              </a:rPr>
              <a:t>.</a:t>
            </a:r>
            <a:endParaRPr lang="en-US" sz="1450" dirty="0"/>
          </a:p>
        </p:txBody>
      </p:sp>
      <p:sp>
        <p:nvSpPr>
          <p:cNvPr id="106" name="Shape 104"/>
          <p:cNvSpPr/>
          <p:nvPr/>
        </p:nvSpPr>
        <p:spPr>
          <a:xfrm>
            <a:off x="7315200" y="4846320"/>
            <a:ext cx="4465015" cy="1508760"/>
          </a:xfrm>
          <a:prstGeom prst="roundRect">
            <a:avLst>
              <a:gd name="adj" fmla="val 7273"/>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07" name="Shape 105"/>
          <p:cNvSpPr/>
          <p:nvPr/>
        </p:nvSpPr>
        <p:spPr>
          <a:xfrm>
            <a:off x="7498080" y="5029200"/>
            <a:ext cx="411480" cy="411480"/>
          </a:xfrm>
          <a:prstGeom prst="ellipse">
            <a:avLst/>
          </a:prstGeom>
          <a:solidFill>
            <a:srgbClr val="A02B93"/>
          </a:solidFill>
          <a:ln w="12700">
            <a:solidFill>
              <a:srgbClr val="A02B93"/>
            </a:solidFill>
            <a:prstDash val="solid"/>
          </a:ln>
        </p:spPr>
      </p:sp>
      <p:sp>
        <p:nvSpPr>
          <p:cNvPr id="108" name="Text 106"/>
          <p:cNvSpPr txBox="1"/>
          <p:nvPr/>
        </p:nvSpPr>
        <p:spPr>
          <a:xfrm>
            <a:off x="7498080" y="50292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a:t>
            </a:r>
            <a:endParaRPr lang="en-US" sz="1300" dirty="0"/>
          </a:p>
        </p:txBody>
      </p:sp>
      <p:sp>
        <p:nvSpPr>
          <p:cNvPr id="109" name="Text 107"/>
          <p:cNvSpPr txBox="1"/>
          <p:nvPr/>
        </p:nvSpPr>
        <p:spPr>
          <a:xfrm>
            <a:off x="8046720" y="5029200"/>
            <a:ext cx="3550615" cy="411480"/>
          </a:xfrm>
          <a:prstGeom prst="rect">
            <a:avLst/>
          </a:prstGeom>
          <a:noFill/>
          <a:ln/>
        </p:spPr>
        <p:txBody>
          <a:bodyPr wrap="square" lIns="0" tIns="0" rIns="0" bIns="0" rtlCol="0" anchor="ctr"/>
          <a:lstStyle/>
          <a:p>
            <a:pPr indent="0" marL="0">
              <a:buNone/>
            </a:pPr>
            <a:r>
              <a:rPr lang="en-US" sz="1500" b="1" dirty="0">
                <a:solidFill>
                  <a:srgbClr val="000000"/>
                </a:solidFill>
                <a:latin typeface="Aptos" pitchFamily="34" charset="0"/>
                <a:ea typeface="Aptos" pitchFamily="34" charset="-122"/>
                <a:cs typeface="Aptos" pitchFamily="34" charset="-120"/>
              </a:rPr>
              <a:t>Ask the class</a:t>
            </a:r>
            <a:endParaRPr lang="en-US" sz="1500" dirty="0"/>
          </a:p>
        </p:txBody>
      </p:sp>
      <p:sp>
        <p:nvSpPr>
          <p:cNvPr id="110" name="Text 108"/>
          <p:cNvSpPr txBox="1"/>
          <p:nvPr/>
        </p:nvSpPr>
        <p:spPr>
          <a:xfrm>
            <a:off x="7543800" y="5532120"/>
            <a:ext cx="4053535" cy="731520"/>
          </a:xfrm>
          <a:prstGeom prst="rect">
            <a:avLst/>
          </a:prstGeom>
          <a:noFill/>
          <a:ln/>
        </p:spPr>
        <p:txBody>
          <a:bodyPr wrap="square" lIns="0" tIns="0" rIns="0" bIns="0" rtlCol="0" anchor="t"/>
          <a:lstStyle/>
          <a:p>
            <a:pPr indent="0" marL="0">
              <a:buNone/>
            </a:pPr>
            <a:r>
              <a:rPr lang="en-US" sz="1400" i="1" dirty="0">
                <a:solidFill>
                  <a:srgbClr val="262626"/>
                </a:solidFill>
                <a:latin typeface="Aptos" pitchFamily="34" charset="0"/>
                <a:ea typeface="Aptos" pitchFamily="34" charset="-122"/>
                <a:cs typeface="Aptos" pitchFamily="34" charset="-120"/>
              </a:rPr>
              <a:t>What HTML element is one card? Why grey bars instead of the real descriptions?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374754" y="529153"/>
            <a:ext cx="6565692" cy="5799694"/>
          </a:xfrm>
          <a:prstGeom prst="rect">
            <a:avLst/>
          </a:prstGeom>
          <a:solidFill>
            <a:srgbClr val="FFFFFF"/>
          </a:solidFill>
          <a:ln w="10943">
            <a:solidFill>
              <a:srgbClr val="333333"/>
            </a:solidFill>
            <a:prstDash val="solid"/>
          </a:ln>
        </p:spPr>
      </p:sp>
      <p:sp>
        <p:nvSpPr>
          <p:cNvPr id="3" name="Shape 1"/>
          <p:cNvSpPr/>
          <p:nvPr/>
        </p:nvSpPr>
        <p:spPr>
          <a:xfrm>
            <a:off x="374754" y="529153"/>
            <a:ext cx="6565692" cy="196971"/>
          </a:xfrm>
          <a:prstGeom prst="rect">
            <a:avLst/>
          </a:prstGeom>
          <a:solidFill>
            <a:srgbClr val="EEEEEE"/>
          </a:solidFill>
          <a:ln w="10943">
            <a:solidFill>
              <a:srgbClr val="333333"/>
            </a:solidFill>
            <a:prstDash val="solid"/>
          </a:ln>
        </p:spPr>
      </p:sp>
      <p:sp>
        <p:nvSpPr>
          <p:cNvPr id="4" name="Shape 2"/>
          <p:cNvSpPr/>
          <p:nvPr/>
        </p:nvSpPr>
        <p:spPr>
          <a:xfrm>
            <a:off x="921895" y="561981"/>
            <a:ext cx="2735705" cy="131314"/>
          </a:xfrm>
          <a:prstGeom prst="roundRect">
            <a:avLst>
              <a:gd name="adj" fmla="val 50000"/>
            </a:avLst>
          </a:prstGeom>
          <a:solidFill>
            <a:srgbClr val="FFFFFF"/>
          </a:solidFill>
          <a:ln w="6350">
            <a:solidFill>
              <a:srgbClr val="BBBBBB"/>
            </a:solidFill>
            <a:prstDash val="solid"/>
          </a:ln>
        </p:spPr>
      </p:sp>
      <p:sp>
        <p:nvSpPr>
          <p:cNvPr id="5" name="Text 3"/>
          <p:cNvSpPr txBox="1"/>
          <p:nvPr/>
        </p:nvSpPr>
        <p:spPr>
          <a:xfrm>
            <a:off x="921895" y="561981"/>
            <a:ext cx="2735705" cy="131314"/>
          </a:xfrm>
          <a:prstGeom prst="rect">
            <a:avLst/>
          </a:prstGeom>
          <a:noFill/>
          <a:ln/>
        </p:spPr>
        <p:txBody>
          <a:bodyPr wrap="square" lIns="12700" tIns="57150" rIns="12700" bIns="12700" rtlCol="0" anchor="ctr"/>
          <a:lstStyle/>
          <a:p>
            <a:pPr algn="l" indent="0" marL="0">
              <a:lnSpc>
                <a:spcPct val="95000"/>
              </a:lnSpc>
              <a:buNone/>
            </a:pPr>
            <a:r>
              <a:rPr lang="en-US" sz="500" dirty="0">
                <a:solidFill>
                  <a:srgbClr val="666666"/>
                </a:solidFill>
                <a:latin typeface="Arial" pitchFamily="34" charset="0"/>
                <a:ea typeface="Arial" pitchFamily="34" charset="-122"/>
                <a:cs typeface="Arial" pitchFamily="34" charset="-120"/>
              </a:rPr>
              <a:t>harbourside.ca/order</a:t>
            </a:r>
            <a:endParaRPr lang="en-US" sz="500" dirty="0"/>
          </a:p>
        </p:txBody>
      </p:sp>
      <p:sp>
        <p:nvSpPr>
          <p:cNvPr id="6" name="Shape 4"/>
          <p:cNvSpPr/>
          <p:nvPr/>
        </p:nvSpPr>
        <p:spPr>
          <a:xfrm>
            <a:off x="451354" y="594810"/>
            <a:ext cx="65657" cy="65657"/>
          </a:xfrm>
          <a:prstGeom prst="ellipse">
            <a:avLst/>
          </a:prstGeom>
          <a:solidFill>
            <a:srgbClr val="CCCCCC"/>
          </a:solidFill>
          <a:ln/>
        </p:spPr>
      </p:sp>
      <p:sp>
        <p:nvSpPr>
          <p:cNvPr id="7" name="Shape 5"/>
          <p:cNvSpPr/>
          <p:nvPr/>
        </p:nvSpPr>
        <p:spPr>
          <a:xfrm>
            <a:off x="560782" y="594810"/>
            <a:ext cx="65657" cy="65657"/>
          </a:xfrm>
          <a:prstGeom prst="ellipse">
            <a:avLst/>
          </a:prstGeom>
          <a:solidFill>
            <a:srgbClr val="CCCCCC"/>
          </a:solidFill>
          <a:ln/>
        </p:spPr>
      </p:sp>
      <p:sp>
        <p:nvSpPr>
          <p:cNvPr id="8" name="Shape 6"/>
          <p:cNvSpPr/>
          <p:nvPr/>
        </p:nvSpPr>
        <p:spPr>
          <a:xfrm>
            <a:off x="670210" y="594810"/>
            <a:ext cx="65657" cy="65657"/>
          </a:xfrm>
          <a:prstGeom prst="ellipse">
            <a:avLst/>
          </a:prstGeom>
          <a:solidFill>
            <a:srgbClr val="CCCCCC"/>
          </a:solidFill>
          <a:ln/>
        </p:spPr>
      </p:sp>
      <p:sp>
        <p:nvSpPr>
          <p:cNvPr id="9" name="Shape 7"/>
          <p:cNvSpPr/>
          <p:nvPr/>
        </p:nvSpPr>
        <p:spPr>
          <a:xfrm>
            <a:off x="484182" y="808195"/>
            <a:ext cx="273570" cy="273570"/>
          </a:xfrm>
          <a:prstGeom prst="rect">
            <a:avLst/>
          </a:prstGeom>
          <a:solidFill>
            <a:srgbClr val="FFFFFF"/>
          </a:solidFill>
          <a:ln w="6350">
            <a:solidFill>
              <a:srgbClr val="999999"/>
            </a:solidFill>
            <a:prstDash val="solid"/>
          </a:ln>
        </p:spPr>
      </p:sp>
      <p:sp>
        <p:nvSpPr>
          <p:cNvPr id="10" name="Shape 8"/>
          <p:cNvSpPr/>
          <p:nvPr/>
        </p:nvSpPr>
        <p:spPr>
          <a:xfrm>
            <a:off x="484182" y="808195"/>
            <a:ext cx="273570" cy="273570"/>
          </a:xfrm>
          <a:prstGeom prst="line">
            <a:avLst/>
          </a:prstGeom>
          <a:noFill/>
          <a:ln w="6350">
            <a:solidFill>
              <a:srgbClr val="999999"/>
            </a:solidFill>
            <a:prstDash val="solid"/>
          </a:ln>
        </p:spPr>
      </p:sp>
      <p:sp>
        <p:nvSpPr>
          <p:cNvPr id="11" name="Shape 9"/>
          <p:cNvSpPr/>
          <p:nvPr/>
        </p:nvSpPr>
        <p:spPr>
          <a:xfrm flipV="1">
            <a:off x="484182" y="808195"/>
            <a:ext cx="273570" cy="273570"/>
          </a:xfrm>
          <a:prstGeom prst="line">
            <a:avLst/>
          </a:prstGeom>
          <a:noFill/>
          <a:ln w="6350">
            <a:solidFill>
              <a:srgbClr val="999999"/>
            </a:solidFill>
            <a:prstDash val="solid"/>
          </a:ln>
        </p:spPr>
      </p:sp>
      <p:sp>
        <p:nvSpPr>
          <p:cNvPr id="12" name="Text 10"/>
          <p:cNvSpPr txBox="1"/>
          <p:nvPr/>
        </p:nvSpPr>
        <p:spPr>
          <a:xfrm>
            <a:off x="812467" y="835552"/>
            <a:ext cx="1531995" cy="218856"/>
          </a:xfrm>
          <a:prstGeom prst="rect">
            <a:avLst/>
          </a:prstGeom>
          <a:noFill/>
          <a:ln/>
        </p:spPr>
        <p:txBody>
          <a:bodyPr wrap="square" lIns="12700" tIns="12700" rIns="12700" bIns="12700" rtlCol="0" anchor="ctr"/>
          <a:lstStyle/>
          <a:p>
            <a:pPr algn="l" indent="0" marL="0">
              <a:lnSpc>
                <a:spcPct val="95000"/>
              </a:lnSpc>
              <a:buNone/>
            </a:pPr>
            <a:r>
              <a:rPr lang="en-US" sz="850" b="1" dirty="0">
                <a:solidFill>
                  <a:srgbClr val="333333"/>
                </a:solidFill>
                <a:latin typeface="Arial" pitchFamily="34" charset="0"/>
                <a:ea typeface="Arial" pitchFamily="34" charset="-122"/>
                <a:cs typeface="Arial" pitchFamily="34" charset="-120"/>
              </a:rPr>
              <a:t>Harbourside Fish &amp; Chips</a:t>
            </a:r>
            <a:endParaRPr lang="en-US" sz="850" dirty="0"/>
          </a:p>
        </p:txBody>
      </p:sp>
      <p:sp>
        <p:nvSpPr>
          <p:cNvPr id="13" name="Text 11"/>
          <p:cNvSpPr txBox="1"/>
          <p:nvPr/>
        </p:nvSpPr>
        <p:spPr>
          <a:xfrm>
            <a:off x="3001031" y="879323"/>
            <a:ext cx="711283" cy="131314"/>
          </a:xfrm>
          <a:prstGeom prst="rect">
            <a:avLst/>
          </a:prstGeom>
          <a:noFill/>
          <a:ln/>
        </p:spPr>
        <p:txBody>
          <a:bodyPr wrap="square" lIns="12700" tIns="12700" rIns="12700" bIns="12700" rtlCol="0" anchor="ctr"/>
          <a:lstStyle/>
          <a:p>
            <a:pPr algn="l" indent="0" marL="0">
              <a:lnSpc>
                <a:spcPct val="95000"/>
              </a:lnSpc>
              <a:buNone/>
            </a:pPr>
            <a:r>
              <a:rPr lang="en-US" sz="650" dirty="0">
                <a:solidFill>
                  <a:srgbClr val="333333"/>
                </a:solidFill>
                <a:latin typeface="Arial" pitchFamily="34" charset="0"/>
                <a:ea typeface="Arial" pitchFamily="34" charset="-122"/>
                <a:cs typeface="Arial" pitchFamily="34" charset="-120"/>
              </a:rPr>
              <a:t>Menu</a:t>
            </a:r>
            <a:endParaRPr lang="en-US" sz="650" dirty="0"/>
          </a:p>
        </p:txBody>
      </p:sp>
      <p:sp>
        <p:nvSpPr>
          <p:cNvPr id="14" name="Text 12"/>
          <p:cNvSpPr txBox="1"/>
          <p:nvPr/>
        </p:nvSpPr>
        <p:spPr>
          <a:xfrm>
            <a:off x="3438744" y="879323"/>
            <a:ext cx="711283" cy="131314"/>
          </a:xfrm>
          <a:prstGeom prst="rect">
            <a:avLst/>
          </a:prstGeom>
          <a:noFill/>
          <a:ln/>
        </p:spPr>
        <p:txBody>
          <a:bodyPr wrap="square" lIns="12700" tIns="12700" rIns="12700" bIns="12700" rtlCol="0" anchor="ctr"/>
          <a:lstStyle/>
          <a:p>
            <a:pPr algn="l" indent="0" marL="0">
              <a:lnSpc>
                <a:spcPct val="95000"/>
              </a:lnSpc>
              <a:buNone/>
            </a:pPr>
            <a:r>
              <a:rPr lang="en-US" sz="650" b="1" u="sng" dirty="0">
                <a:solidFill>
                  <a:srgbClr val="333333"/>
                </a:solidFill>
                <a:latin typeface="Arial" pitchFamily="34" charset="0"/>
                <a:ea typeface="Arial" pitchFamily="34" charset="-122"/>
                <a:cs typeface="Arial" pitchFamily="34" charset="-120"/>
              </a:rPr>
              <a:t>Order Online</a:t>
            </a:r>
            <a:endParaRPr lang="en-US" sz="650" dirty="0"/>
          </a:p>
        </p:txBody>
      </p:sp>
      <p:sp>
        <p:nvSpPr>
          <p:cNvPr id="15" name="Text 13"/>
          <p:cNvSpPr txBox="1"/>
          <p:nvPr/>
        </p:nvSpPr>
        <p:spPr>
          <a:xfrm>
            <a:off x="4150027" y="879323"/>
            <a:ext cx="711283" cy="131314"/>
          </a:xfrm>
          <a:prstGeom prst="rect">
            <a:avLst/>
          </a:prstGeom>
          <a:noFill/>
          <a:ln/>
        </p:spPr>
        <p:txBody>
          <a:bodyPr wrap="square" lIns="12700" tIns="12700" rIns="12700" bIns="12700" rtlCol="0" anchor="ctr"/>
          <a:lstStyle/>
          <a:p>
            <a:pPr algn="l" indent="0" marL="0">
              <a:lnSpc>
                <a:spcPct val="95000"/>
              </a:lnSpc>
              <a:buNone/>
            </a:pPr>
            <a:r>
              <a:rPr lang="en-US" sz="650" dirty="0">
                <a:solidFill>
                  <a:srgbClr val="333333"/>
                </a:solidFill>
                <a:latin typeface="Arial" pitchFamily="34" charset="0"/>
                <a:ea typeface="Arial" pitchFamily="34" charset="-122"/>
                <a:cs typeface="Arial" pitchFamily="34" charset="-120"/>
              </a:rPr>
              <a:t>Hours &amp; Location</a:t>
            </a:r>
            <a:endParaRPr lang="en-US" sz="650" dirty="0"/>
          </a:p>
        </p:txBody>
      </p:sp>
      <p:sp>
        <p:nvSpPr>
          <p:cNvPr id="16" name="Text 14"/>
          <p:cNvSpPr txBox="1"/>
          <p:nvPr/>
        </p:nvSpPr>
        <p:spPr>
          <a:xfrm>
            <a:off x="4970738" y="879323"/>
            <a:ext cx="711283" cy="131314"/>
          </a:xfrm>
          <a:prstGeom prst="rect">
            <a:avLst/>
          </a:prstGeom>
          <a:noFill/>
          <a:ln/>
        </p:spPr>
        <p:txBody>
          <a:bodyPr wrap="square" lIns="12700" tIns="12700" rIns="12700" bIns="12700" rtlCol="0" anchor="ctr"/>
          <a:lstStyle/>
          <a:p>
            <a:pPr algn="l" indent="0" marL="0">
              <a:lnSpc>
                <a:spcPct val="95000"/>
              </a:lnSpc>
              <a:buNone/>
            </a:pPr>
            <a:r>
              <a:rPr lang="en-US" sz="650" dirty="0">
                <a:solidFill>
                  <a:srgbClr val="333333"/>
                </a:solidFill>
                <a:latin typeface="Arial" pitchFamily="34" charset="0"/>
                <a:ea typeface="Arial" pitchFamily="34" charset="-122"/>
                <a:cs typeface="Arial" pitchFamily="34" charset="-120"/>
              </a:rPr>
              <a:t>Contact</a:t>
            </a:r>
            <a:endParaRPr lang="en-US" sz="650" dirty="0"/>
          </a:p>
        </p:txBody>
      </p:sp>
      <p:sp>
        <p:nvSpPr>
          <p:cNvPr id="17" name="Shape 15"/>
          <p:cNvSpPr/>
          <p:nvPr/>
        </p:nvSpPr>
        <p:spPr>
          <a:xfrm>
            <a:off x="6174449" y="846495"/>
            <a:ext cx="656569" cy="196971"/>
          </a:xfrm>
          <a:prstGeom prst="roundRect">
            <a:avLst>
              <a:gd name="adj" fmla="val 15000"/>
            </a:avLst>
          </a:prstGeom>
          <a:solidFill>
            <a:srgbClr val="FFFFFF"/>
          </a:solidFill>
          <a:ln w="6350">
            <a:solidFill>
              <a:srgbClr val="555555"/>
            </a:solidFill>
            <a:prstDash val="solid"/>
          </a:ln>
        </p:spPr>
      </p:sp>
      <p:sp>
        <p:nvSpPr>
          <p:cNvPr id="18" name="Text 16"/>
          <p:cNvSpPr txBox="1"/>
          <p:nvPr/>
        </p:nvSpPr>
        <p:spPr>
          <a:xfrm>
            <a:off x="6174449" y="846495"/>
            <a:ext cx="656569" cy="196971"/>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Cart (3)</a:t>
            </a:r>
            <a:endParaRPr lang="en-US" sz="600" dirty="0"/>
          </a:p>
        </p:txBody>
      </p:sp>
      <p:sp>
        <p:nvSpPr>
          <p:cNvPr id="19" name="Shape 17"/>
          <p:cNvSpPr/>
          <p:nvPr/>
        </p:nvSpPr>
        <p:spPr>
          <a:xfrm>
            <a:off x="374754" y="1163836"/>
            <a:ext cx="6565692" cy="5471"/>
          </a:xfrm>
          <a:prstGeom prst="rect">
            <a:avLst/>
          </a:prstGeom>
          <a:solidFill>
            <a:srgbClr val="BBBBBB"/>
          </a:solidFill>
          <a:ln/>
        </p:spPr>
      </p:sp>
      <p:sp>
        <p:nvSpPr>
          <p:cNvPr id="20" name="Shape 18"/>
          <p:cNvSpPr/>
          <p:nvPr/>
        </p:nvSpPr>
        <p:spPr>
          <a:xfrm>
            <a:off x="484182" y="1251379"/>
            <a:ext cx="6346835" cy="437713"/>
          </a:xfrm>
          <a:prstGeom prst="rect">
            <a:avLst/>
          </a:prstGeom>
          <a:solidFill>
            <a:srgbClr val="F5F5F5"/>
          </a:solidFill>
          <a:ln w="6350">
            <a:solidFill>
              <a:srgbClr val="BBBBBB"/>
            </a:solidFill>
            <a:prstDash val="solid"/>
          </a:ln>
        </p:spPr>
      </p:sp>
      <p:sp>
        <p:nvSpPr>
          <p:cNvPr id="21" name="Text 19"/>
          <p:cNvSpPr txBox="1"/>
          <p:nvPr/>
        </p:nvSpPr>
        <p:spPr>
          <a:xfrm>
            <a:off x="593610" y="1306093"/>
            <a:ext cx="2462134" cy="164142"/>
          </a:xfrm>
          <a:prstGeom prst="rect">
            <a:avLst/>
          </a:prstGeom>
          <a:noFill/>
          <a:ln/>
        </p:spPr>
        <p:txBody>
          <a:bodyPr wrap="square" lIns="12700" tIns="12700" rIns="12700" bIns="12700" rtlCol="0" anchor="ctr"/>
          <a:lstStyle/>
          <a:p>
            <a:pPr algn="l" indent="0" marL="0">
              <a:lnSpc>
                <a:spcPct val="95000"/>
              </a:lnSpc>
              <a:buNone/>
            </a:pPr>
            <a:r>
              <a:rPr lang="en-US" sz="950" b="1" dirty="0">
                <a:solidFill>
                  <a:srgbClr val="333333"/>
                </a:solidFill>
                <a:latin typeface="Arial" pitchFamily="34" charset="0"/>
                <a:ea typeface="Arial" pitchFamily="34" charset="-122"/>
                <a:cs typeface="Arial" pitchFamily="34" charset="-120"/>
              </a:rPr>
              <a:t>Order for pickup or delivery</a:t>
            </a:r>
            <a:endParaRPr lang="en-US" sz="950" dirty="0"/>
          </a:p>
        </p:txBody>
      </p:sp>
      <p:sp>
        <p:nvSpPr>
          <p:cNvPr id="22" name="Text 20"/>
          <p:cNvSpPr txBox="1"/>
          <p:nvPr/>
        </p:nvSpPr>
        <p:spPr>
          <a:xfrm>
            <a:off x="593610" y="1470235"/>
            <a:ext cx="2462134" cy="131314"/>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777777"/>
                </a:solidFill>
                <a:latin typeface="Arial" pitchFamily="34" charset="0"/>
                <a:ea typeface="Arial" pitchFamily="34" charset="-122"/>
                <a:cs typeface="Arial" pitchFamily="34" charset="-120"/>
              </a:rPr>
              <a:t>Ready in about 20 minutes</a:t>
            </a:r>
            <a:endParaRPr lang="en-US" sz="600" dirty="0"/>
          </a:p>
        </p:txBody>
      </p:sp>
      <p:sp>
        <p:nvSpPr>
          <p:cNvPr id="23" name="Shape 21"/>
          <p:cNvSpPr/>
          <p:nvPr/>
        </p:nvSpPr>
        <p:spPr>
          <a:xfrm>
            <a:off x="3985885" y="1360807"/>
            <a:ext cx="656569" cy="218856"/>
          </a:xfrm>
          <a:prstGeom prst="roundRect">
            <a:avLst>
              <a:gd name="adj" fmla="val 15000"/>
            </a:avLst>
          </a:prstGeom>
          <a:solidFill>
            <a:srgbClr val="555555"/>
          </a:solidFill>
          <a:ln w="6350">
            <a:solidFill>
              <a:srgbClr val="555555"/>
            </a:solidFill>
            <a:prstDash val="solid"/>
          </a:ln>
        </p:spPr>
      </p:sp>
      <p:sp>
        <p:nvSpPr>
          <p:cNvPr id="24" name="Text 22"/>
          <p:cNvSpPr txBox="1"/>
          <p:nvPr/>
        </p:nvSpPr>
        <p:spPr>
          <a:xfrm>
            <a:off x="3985885" y="1360807"/>
            <a:ext cx="656569" cy="218856"/>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Pickup</a:t>
            </a:r>
            <a:endParaRPr lang="en-US" sz="600" dirty="0"/>
          </a:p>
        </p:txBody>
      </p:sp>
      <p:sp>
        <p:nvSpPr>
          <p:cNvPr id="25" name="Shape 23"/>
          <p:cNvSpPr/>
          <p:nvPr/>
        </p:nvSpPr>
        <p:spPr>
          <a:xfrm>
            <a:off x="4642454" y="1360807"/>
            <a:ext cx="656569" cy="218856"/>
          </a:xfrm>
          <a:prstGeom prst="roundRect">
            <a:avLst>
              <a:gd name="adj" fmla="val 15000"/>
            </a:avLst>
          </a:prstGeom>
          <a:solidFill>
            <a:srgbClr val="FFFFFF"/>
          </a:solidFill>
          <a:ln w="6350">
            <a:solidFill>
              <a:srgbClr val="555555"/>
            </a:solidFill>
            <a:prstDash val="solid"/>
          </a:ln>
        </p:spPr>
      </p:sp>
      <p:sp>
        <p:nvSpPr>
          <p:cNvPr id="26" name="Text 24"/>
          <p:cNvSpPr txBox="1"/>
          <p:nvPr/>
        </p:nvSpPr>
        <p:spPr>
          <a:xfrm>
            <a:off x="4642454" y="1360807"/>
            <a:ext cx="656569" cy="218856"/>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Delivery</a:t>
            </a:r>
            <a:endParaRPr lang="en-US" sz="600" dirty="0"/>
          </a:p>
        </p:txBody>
      </p:sp>
      <p:sp>
        <p:nvSpPr>
          <p:cNvPr id="27" name="Shape 25"/>
          <p:cNvSpPr/>
          <p:nvPr/>
        </p:nvSpPr>
        <p:spPr>
          <a:xfrm>
            <a:off x="5408451" y="1360807"/>
            <a:ext cx="1313138" cy="218856"/>
          </a:xfrm>
          <a:prstGeom prst="roundRect">
            <a:avLst>
              <a:gd name="adj" fmla="val 15000"/>
            </a:avLst>
          </a:prstGeom>
          <a:solidFill>
            <a:srgbClr val="FFFFFF"/>
          </a:solidFill>
          <a:ln w="6350">
            <a:solidFill>
              <a:srgbClr val="555555"/>
            </a:solidFill>
            <a:prstDash val="solid"/>
          </a:ln>
        </p:spPr>
      </p:sp>
      <p:sp>
        <p:nvSpPr>
          <p:cNvPr id="28" name="Text 26"/>
          <p:cNvSpPr txBox="1"/>
          <p:nvPr/>
        </p:nvSpPr>
        <p:spPr>
          <a:xfrm>
            <a:off x="5408451" y="1360807"/>
            <a:ext cx="1313138" cy="218856"/>
          </a:xfrm>
          <a:prstGeom prst="rect">
            <a:avLst/>
          </a:prstGeom>
          <a:noFill/>
          <a:ln/>
        </p:spPr>
        <p:txBody>
          <a:bodyPr wrap="square" lIns="12700" tIns="635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Pickup time: ASAP        ▾</a:t>
            </a:r>
            <a:endParaRPr lang="en-US" sz="600" dirty="0"/>
          </a:p>
        </p:txBody>
      </p:sp>
      <p:sp>
        <p:nvSpPr>
          <p:cNvPr id="29" name="Shape 27"/>
          <p:cNvSpPr/>
          <p:nvPr/>
        </p:nvSpPr>
        <p:spPr>
          <a:xfrm>
            <a:off x="484182" y="1798520"/>
            <a:ext cx="601855" cy="218856"/>
          </a:xfrm>
          <a:prstGeom prst="roundRect">
            <a:avLst>
              <a:gd name="adj" fmla="val 15000"/>
            </a:avLst>
          </a:prstGeom>
          <a:solidFill>
            <a:srgbClr val="555555"/>
          </a:solidFill>
          <a:ln w="6350">
            <a:solidFill>
              <a:srgbClr val="555555"/>
            </a:solidFill>
            <a:prstDash val="solid"/>
          </a:ln>
        </p:spPr>
      </p:sp>
      <p:sp>
        <p:nvSpPr>
          <p:cNvPr id="30" name="Text 28"/>
          <p:cNvSpPr txBox="1"/>
          <p:nvPr/>
        </p:nvSpPr>
        <p:spPr>
          <a:xfrm>
            <a:off x="484182" y="1798520"/>
            <a:ext cx="601855" cy="218856"/>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Fish</a:t>
            </a:r>
            <a:endParaRPr lang="en-US" sz="600" dirty="0"/>
          </a:p>
        </p:txBody>
      </p:sp>
      <p:sp>
        <p:nvSpPr>
          <p:cNvPr id="31" name="Shape 29"/>
          <p:cNvSpPr/>
          <p:nvPr/>
        </p:nvSpPr>
        <p:spPr>
          <a:xfrm>
            <a:off x="1140751" y="1798520"/>
            <a:ext cx="601855" cy="218856"/>
          </a:xfrm>
          <a:prstGeom prst="roundRect">
            <a:avLst>
              <a:gd name="adj" fmla="val 15000"/>
            </a:avLst>
          </a:prstGeom>
          <a:solidFill>
            <a:srgbClr val="FFFFFF"/>
          </a:solidFill>
          <a:ln w="6350">
            <a:solidFill>
              <a:srgbClr val="555555"/>
            </a:solidFill>
            <a:prstDash val="solid"/>
          </a:ln>
        </p:spPr>
      </p:sp>
      <p:sp>
        <p:nvSpPr>
          <p:cNvPr id="32" name="Text 30"/>
          <p:cNvSpPr txBox="1"/>
          <p:nvPr/>
        </p:nvSpPr>
        <p:spPr>
          <a:xfrm>
            <a:off x="1140751" y="1798520"/>
            <a:ext cx="601855" cy="218856"/>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Combos</a:t>
            </a:r>
            <a:endParaRPr lang="en-US" sz="600" dirty="0"/>
          </a:p>
        </p:txBody>
      </p:sp>
      <p:sp>
        <p:nvSpPr>
          <p:cNvPr id="33" name="Shape 31"/>
          <p:cNvSpPr/>
          <p:nvPr/>
        </p:nvSpPr>
        <p:spPr>
          <a:xfrm>
            <a:off x="1797321" y="1798520"/>
            <a:ext cx="601855" cy="218856"/>
          </a:xfrm>
          <a:prstGeom prst="roundRect">
            <a:avLst>
              <a:gd name="adj" fmla="val 15000"/>
            </a:avLst>
          </a:prstGeom>
          <a:solidFill>
            <a:srgbClr val="FFFFFF"/>
          </a:solidFill>
          <a:ln w="6350">
            <a:solidFill>
              <a:srgbClr val="555555"/>
            </a:solidFill>
            <a:prstDash val="solid"/>
          </a:ln>
        </p:spPr>
      </p:sp>
      <p:sp>
        <p:nvSpPr>
          <p:cNvPr id="34" name="Text 32"/>
          <p:cNvSpPr txBox="1"/>
          <p:nvPr/>
        </p:nvSpPr>
        <p:spPr>
          <a:xfrm>
            <a:off x="1797321" y="1798520"/>
            <a:ext cx="601855" cy="218856"/>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Sides</a:t>
            </a:r>
            <a:endParaRPr lang="en-US" sz="600" dirty="0"/>
          </a:p>
        </p:txBody>
      </p:sp>
      <p:sp>
        <p:nvSpPr>
          <p:cNvPr id="35" name="Shape 33"/>
          <p:cNvSpPr/>
          <p:nvPr/>
        </p:nvSpPr>
        <p:spPr>
          <a:xfrm>
            <a:off x="2453890" y="1798520"/>
            <a:ext cx="601855" cy="218856"/>
          </a:xfrm>
          <a:prstGeom prst="roundRect">
            <a:avLst>
              <a:gd name="adj" fmla="val 15000"/>
            </a:avLst>
          </a:prstGeom>
          <a:solidFill>
            <a:srgbClr val="FFFFFF"/>
          </a:solidFill>
          <a:ln w="6350">
            <a:solidFill>
              <a:srgbClr val="555555"/>
            </a:solidFill>
            <a:prstDash val="solid"/>
          </a:ln>
        </p:spPr>
      </p:sp>
      <p:sp>
        <p:nvSpPr>
          <p:cNvPr id="36" name="Text 34"/>
          <p:cNvSpPr txBox="1"/>
          <p:nvPr/>
        </p:nvSpPr>
        <p:spPr>
          <a:xfrm>
            <a:off x="2453890" y="1798520"/>
            <a:ext cx="601855" cy="218856"/>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Drinks</a:t>
            </a:r>
            <a:endParaRPr lang="en-US" sz="600" dirty="0"/>
          </a:p>
        </p:txBody>
      </p:sp>
      <p:sp>
        <p:nvSpPr>
          <p:cNvPr id="37" name="Shape 35"/>
          <p:cNvSpPr/>
          <p:nvPr/>
        </p:nvSpPr>
        <p:spPr>
          <a:xfrm>
            <a:off x="3110459" y="1798520"/>
            <a:ext cx="601855" cy="218856"/>
          </a:xfrm>
          <a:prstGeom prst="roundRect">
            <a:avLst>
              <a:gd name="adj" fmla="val 15000"/>
            </a:avLst>
          </a:prstGeom>
          <a:solidFill>
            <a:srgbClr val="FFFFFF"/>
          </a:solidFill>
          <a:ln w="6350">
            <a:solidFill>
              <a:srgbClr val="555555"/>
            </a:solidFill>
            <a:prstDash val="solid"/>
          </a:ln>
        </p:spPr>
      </p:sp>
      <p:sp>
        <p:nvSpPr>
          <p:cNvPr id="38" name="Text 36"/>
          <p:cNvSpPr txBox="1"/>
          <p:nvPr/>
        </p:nvSpPr>
        <p:spPr>
          <a:xfrm>
            <a:off x="3110459" y="1798520"/>
            <a:ext cx="601855" cy="218856"/>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Desserts</a:t>
            </a:r>
            <a:endParaRPr lang="en-US" sz="600" dirty="0"/>
          </a:p>
        </p:txBody>
      </p:sp>
      <p:sp>
        <p:nvSpPr>
          <p:cNvPr id="39" name="Text 37"/>
          <p:cNvSpPr txBox="1"/>
          <p:nvPr/>
        </p:nvSpPr>
        <p:spPr>
          <a:xfrm>
            <a:off x="484182" y="2115862"/>
            <a:ext cx="1641423" cy="175085"/>
          </a:xfrm>
          <a:prstGeom prst="rect">
            <a:avLst/>
          </a:prstGeom>
          <a:noFill/>
          <a:ln/>
        </p:spPr>
        <p:txBody>
          <a:bodyPr wrap="square" lIns="12700" tIns="12700" rIns="12700" bIns="12700" rtlCol="0" anchor="ctr"/>
          <a:lstStyle/>
          <a:p>
            <a:pPr algn="l" indent="0" marL="0">
              <a:lnSpc>
                <a:spcPct val="95000"/>
              </a:lnSpc>
              <a:buNone/>
            </a:pPr>
            <a:r>
              <a:rPr lang="en-US" sz="950" b="1" dirty="0">
                <a:solidFill>
                  <a:srgbClr val="333333"/>
                </a:solidFill>
                <a:latin typeface="Arial" pitchFamily="34" charset="0"/>
                <a:ea typeface="Arial" pitchFamily="34" charset="-122"/>
                <a:cs typeface="Arial" pitchFamily="34" charset="-120"/>
              </a:rPr>
              <a:t>Fish</a:t>
            </a:r>
            <a:endParaRPr lang="en-US" sz="950" dirty="0"/>
          </a:p>
        </p:txBody>
      </p:sp>
      <p:sp>
        <p:nvSpPr>
          <p:cNvPr id="40" name="Shape 38"/>
          <p:cNvSpPr/>
          <p:nvPr/>
        </p:nvSpPr>
        <p:spPr>
          <a:xfrm>
            <a:off x="484182" y="2345661"/>
            <a:ext cx="1313138" cy="1422567"/>
          </a:xfrm>
          <a:prstGeom prst="rect">
            <a:avLst/>
          </a:prstGeom>
          <a:solidFill>
            <a:srgbClr val="FFFFFF"/>
          </a:solidFill>
          <a:ln w="6350">
            <a:solidFill>
              <a:srgbClr val="999999"/>
            </a:solidFill>
            <a:prstDash val="solid"/>
          </a:ln>
        </p:spPr>
      </p:sp>
      <p:sp>
        <p:nvSpPr>
          <p:cNvPr id="41" name="Shape 39"/>
          <p:cNvSpPr/>
          <p:nvPr/>
        </p:nvSpPr>
        <p:spPr>
          <a:xfrm>
            <a:off x="538896" y="2400375"/>
            <a:ext cx="1203710" cy="656569"/>
          </a:xfrm>
          <a:prstGeom prst="rect">
            <a:avLst/>
          </a:prstGeom>
          <a:solidFill>
            <a:srgbClr val="FFFFFF"/>
          </a:solidFill>
          <a:ln w="6350">
            <a:solidFill>
              <a:srgbClr val="999999"/>
            </a:solidFill>
            <a:prstDash val="solid"/>
          </a:ln>
        </p:spPr>
      </p:sp>
      <p:sp>
        <p:nvSpPr>
          <p:cNvPr id="42" name="Shape 40"/>
          <p:cNvSpPr/>
          <p:nvPr/>
        </p:nvSpPr>
        <p:spPr>
          <a:xfrm>
            <a:off x="538896" y="2400375"/>
            <a:ext cx="1203710" cy="656569"/>
          </a:xfrm>
          <a:prstGeom prst="line">
            <a:avLst/>
          </a:prstGeom>
          <a:noFill/>
          <a:ln w="6350">
            <a:solidFill>
              <a:srgbClr val="999999"/>
            </a:solidFill>
            <a:prstDash val="solid"/>
          </a:ln>
        </p:spPr>
      </p:sp>
      <p:sp>
        <p:nvSpPr>
          <p:cNvPr id="43" name="Shape 41"/>
          <p:cNvSpPr/>
          <p:nvPr/>
        </p:nvSpPr>
        <p:spPr>
          <a:xfrm flipV="1">
            <a:off x="538896" y="2400375"/>
            <a:ext cx="1203710" cy="656569"/>
          </a:xfrm>
          <a:prstGeom prst="line">
            <a:avLst/>
          </a:prstGeom>
          <a:noFill/>
          <a:ln w="6350">
            <a:solidFill>
              <a:srgbClr val="999999"/>
            </a:solidFill>
            <a:prstDash val="solid"/>
          </a:ln>
        </p:spPr>
      </p:sp>
      <p:sp>
        <p:nvSpPr>
          <p:cNvPr id="44" name="Text 42"/>
          <p:cNvSpPr txBox="1"/>
          <p:nvPr/>
        </p:nvSpPr>
        <p:spPr>
          <a:xfrm>
            <a:off x="538896" y="3100715"/>
            <a:ext cx="1203710" cy="131314"/>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Haddock &amp; Chips (1 pc)</a:t>
            </a:r>
            <a:endParaRPr lang="en-US" sz="700" dirty="0"/>
          </a:p>
        </p:txBody>
      </p:sp>
      <p:sp>
        <p:nvSpPr>
          <p:cNvPr id="45" name="Shape 43"/>
          <p:cNvSpPr/>
          <p:nvPr/>
        </p:nvSpPr>
        <p:spPr>
          <a:xfrm>
            <a:off x="538896" y="3275801"/>
            <a:ext cx="1094282" cy="43771"/>
          </a:xfrm>
          <a:prstGeom prst="rect">
            <a:avLst/>
          </a:prstGeom>
          <a:solidFill>
            <a:srgbClr val="DDDDDD"/>
          </a:solidFill>
          <a:ln/>
        </p:spPr>
      </p:sp>
      <p:sp>
        <p:nvSpPr>
          <p:cNvPr id="46" name="Shape 44"/>
          <p:cNvSpPr/>
          <p:nvPr/>
        </p:nvSpPr>
        <p:spPr>
          <a:xfrm>
            <a:off x="538896" y="3363343"/>
            <a:ext cx="820711" cy="43771"/>
          </a:xfrm>
          <a:prstGeom prst="rect">
            <a:avLst/>
          </a:prstGeom>
          <a:solidFill>
            <a:srgbClr val="DDDDDD"/>
          </a:solidFill>
          <a:ln/>
        </p:spPr>
      </p:sp>
      <p:sp>
        <p:nvSpPr>
          <p:cNvPr id="47" name="Text 45"/>
          <p:cNvSpPr txBox="1"/>
          <p:nvPr/>
        </p:nvSpPr>
        <p:spPr>
          <a:xfrm>
            <a:off x="538896" y="3505600"/>
            <a:ext cx="492427" cy="196971"/>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$14.99</a:t>
            </a:r>
            <a:endParaRPr lang="en-US" sz="700" dirty="0"/>
          </a:p>
        </p:txBody>
      </p:sp>
      <p:sp>
        <p:nvSpPr>
          <p:cNvPr id="48" name="Shape 46"/>
          <p:cNvSpPr/>
          <p:nvPr/>
        </p:nvSpPr>
        <p:spPr>
          <a:xfrm>
            <a:off x="1195466" y="3505600"/>
            <a:ext cx="547141" cy="196971"/>
          </a:xfrm>
          <a:prstGeom prst="roundRect">
            <a:avLst>
              <a:gd name="adj" fmla="val 15000"/>
            </a:avLst>
          </a:prstGeom>
          <a:solidFill>
            <a:srgbClr val="555555"/>
          </a:solidFill>
          <a:ln w="6350">
            <a:solidFill>
              <a:srgbClr val="555555"/>
            </a:solidFill>
            <a:prstDash val="solid"/>
          </a:ln>
        </p:spPr>
      </p:sp>
      <p:sp>
        <p:nvSpPr>
          <p:cNvPr id="49" name="Text 47"/>
          <p:cNvSpPr txBox="1"/>
          <p:nvPr/>
        </p:nvSpPr>
        <p:spPr>
          <a:xfrm>
            <a:off x="1195466" y="3505600"/>
            <a:ext cx="547141" cy="196971"/>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Add +</a:t>
            </a:r>
            <a:endParaRPr lang="en-US" sz="600" dirty="0"/>
          </a:p>
        </p:txBody>
      </p:sp>
      <p:sp>
        <p:nvSpPr>
          <p:cNvPr id="50" name="Shape 48"/>
          <p:cNvSpPr/>
          <p:nvPr/>
        </p:nvSpPr>
        <p:spPr>
          <a:xfrm>
            <a:off x="1906749" y="2345661"/>
            <a:ext cx="1313138" cy="1422567"/>
          </a:xfrm>
          <a:prstGeom prst="rect">
            <a:avLst/>
          </a:prstGeom>
          <a:solidFill>
            <a:srgbClr val="FFFFFF"/>
          </a:solidFill>
          <a:ln w="6350">
            <a:solidFill>
              <a:srgbClr val="999999"/>
            </a:solidFill>
            <a:prstDash val="solid"/>
          </a:ln>
        </p:spPr>
      </p:sp>
      <p:sp>
        <p:nvSpPr>
          <p:cNvPr id="51" name="Shape 49"/>
          <p:cNvSpPr/>
          <p:nvPr/>
        </p:nvSpPr>
        <p:spPr>
          <a:xfrm>
            <a:off x="1961463" y="2400375"/>
            <a:ext cx="1203710" cy="656569"/>
          </a:xfrm>
          <a:prstGeom prst="rect">
            <a:avLst/>
          </a:prstGeom>
          <a:solidFill>
            <a:srgbClr val="FFFFFF"/>
          </a:solidFill>
          <a:ln w="6350">
            <a:solidFill>
              <a:srgbClr val="999999"/>
            </a:solidFill>
            <a:prstDash val="solid"/>
          </a:ln>
        </p:spPr>
      </p:sp>
      <p:sp>
        <p:nvSpPr>
          <p:cNvPr id="52" name="Shape 50"/>
          <p:cNvSpPr/>
          <p:nvPr/>
        </p:nvSpPr>
        <p:spPr>
          <a:xfrm>
            <a:off x="1961463" y="2400375"/>
            <a:ext cx="1203710" cy="656569"/>
          </a:xfrm>
          <a:prstGeom prst="line">
            <a:avLst/>
          </a:prstGeom>
          <a:noFill/>
          <a:ln w="6350">
            <a:solidFill>
              <a:srgbClr val="999999"/>
            </a:solidFill>
            <a:prstDash val="solid"/>
          </a:ln>
        </p:spPr>
      </p:sp>
      <p:sp>
        <p:nvSpPr>
          <p:cNvPr id="53" name="Shape 51"/>
          <p:cNvSpPr/>
          <p:nvPr/>
        </p:nvSpPr>
        <p:spPr>
          <a:xfrm flipV="1">
            <a:off x="1961463" y="2400375"/>
            <a:ext cx="1203710" cy="656569"/>
          </a:xfrm>
          <a:prstGeom prst="line">
            <a:avLst/>
          </a:prstGeom>
          <a:noFill/>
          <a:ln w="6350">
            <a:solidFill>
              <a:srgbClr val="999999"/>
            </a:solidFill>
            <a:prstDash val="solid"/>
          </a:ln>
        </p:spPr>
      </p:sp>
      <p:sp>
        <p:nvSpPr>
          <p:cNvPr id="54" name="Text 52"/>
          <p:cNvSpPr txBox="1"/>
          <p:nvPr/>
        </p:nvSpPr>
        <p:spPr>
          <a:xfrm>
            <a:off x="1961463" y="3100715"/>
            <a:ext cx="1203710" cy="131314"/>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Haddock &amp; Chips (2 pc)</a:t>
            </a:r>
            <a:endParaRPr lang="en-US" sz="700" dirty="0"/>
          </a:p>
        </p:txBody>
      </p:sp>
      <p:sp>
        <p:nvSpPr>
          <p:cNvPr id="55" name="Shape 53"/>
          <p:cNvSpPr/>
          <p:nvPr/>
        </p:nvSpPr>
        <p:spPr>
          <a:xfrm>
            <a:off x="1961463" y="3275801"/>
            <a:ext cx="1094282" cy="43771"/>
          </a:xfrm>
          <a:prstGeom prst="rect">
            <a:avLst/>
          </a:prstGeom>
          <a:solidFill>
            <a:srgbClr val="DDDDDD"/>
          </a:solidFill>
          <a:ln/>
        </p:spPr>
      </p:sp>
      <p:sp>
        <p:nvSpPr>
          <p:cNvPr id="56" name="Shape 54"/>
          <p:cNvSpPr/>
          <p:nvPr/>
        </p:nvSpPr>
        <p:spPr>
          <a:xfrm>
            <a:off x="1961463" y="3363343"/>
            <a:ext cx="820711" cy="43771"/>
          </a:xfrm>
          <a:prstGeom prst="rect">
            <a:avLst/>
          </a:prstGeom>
          <a:solidFill>
            <a:srgbClr val="DDDDDD"/>
          </a:solidFill>
          <a:ln/>
        </p:spPr>
      </p:sp>
      <p:sp>
        <p:nvSpPr>
          <p:cNvPr id="57" name="Text 55"/>
          <p:cNvSpPr txBox="1"/>
          <p:nvPr/>
        </p:nvSpPr>
        <p:spPr>
          <a:xfrm>
            <a:off x="1961463" y="3505600"/>
            <a:ext cx="492427" cy="196971"/>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$19.99</a:t>
            </a:r>
            <a:endParaRPr lang="en-US" sz="700" dirty="0"/>
          </a:p>
        </p:txBody>
      </p:sp>
      <p:sp>
        <p:nvSpPr>
          <p:cNvPr id="58" name="Shape 56"/>
          <p:cNvSpPr/>
          <p:nvPr/>
        </p:nvSpPr>
        <p:spPr>
          <a:xfrm>
            <a:off x="2618032" y="3505600"/>
            <a:ext cx="547141" cy="196971"/>
          </a:xfrm>
          <a:prstGeom prst="roundRect">
            <a:avLst>
              <a:gd name="adj" fmla="val 15000"/>
            </a:avLst>
          </a:prstGeom>
          <a:solidFill>
            <a:srgbClr val="555555"/>
          </a:solidFill>
          <a:ln w="6350">
            <a:solidFill>
              <a:srgbClr val="555555"/>
            </a:solidFill>
            <a:prstDash val="solid"/>
          </a:ln>
        </p:spPr>
      </p:sp>
      <p:sp>
        <p:nvSpPr>
          <p:cNvPr id="59" name="Text 57"/>
          <p:cNvSpPr txBox="1"/>
          <p:nvPr/>
        </p:nvSpPr>
        <p:spPr>
          <a:xfrm>
            <a:off x="2618032" y="3505600"/>
            <a:ext cx="547141" cy="196971"/>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Add +</a:t>
            </a:r>
            <a:endParaRPr lang="en-US" sz="600" dirty="0"/>
          </a:p>
        </p:txBody>
      </p:sp>
      <p:sp>
        <p:nvSpPr>
          <p:cNvPr id="60" name="Shape 58"/>
          <p:cNvSpPr/>
          <p:nvPr/>
        </p:nvSpPr>
        <p:spPr>
          <a:xfrm>
            <a:off x="3329315" y="2345661"/>
            <a:ext cx="1313138" cy="1422567"/>
          </a:xfrm>
          <a:prstGeom prst="rect">
            <a:avLst/>
          </a:prstGeom>
          <a:solidFill>
            <a:srgbClr val="FFFFFF"/>
          </a:solidFill>
          <a:ln w="6350">
            <a:solidFill>
              <a:srgbClr val="999999"/>
            </a:solidFill>
            <a:prstDash val="solid"/>
          </a:ln>
        </p:spPr>
      </p:sp>
      <p:sp>
        <p:nvSpPr>
          <p:cNvPr id="61" name="Shape 59"/>
          <p:cNvSpPr/>
          <p:nvPr/>
        </p:nvSpPr>
        <p:spPr>
          <a:xfrm>
            <a:off x="3384030" y="2400375"/>
            <a:ext cx="1203710" cy="656569"/>
          </a:xfrm>
          <a:prstGeom prst="rect">
            <a:avLst/>
          </a:prstGeom>
          <a:solidFill>
            <a:srgbClr val="FFFFFF"/>
          </a:solidFill>
          <a:ln w="6350">
            <a:solidFill>
              <a:srgbClr val="999999"/>
            </a:solidFill>
            <a:prstDash val="solid"/>
          </a:ln>
        </p:spPr>
      </p:sp>
      <p:sp>
        <p:nvSpPr>
          <p:cNvPr id="62" name="Shape 60"/>
          <p:cNvSpPr/>
          <p:nvPr/>
        </p:nvSpPr>
        <p:spPr>
          <a:xfrm>
            <a:off x="3384030" y="2400375"/>
            <a:ext cx="1203710" cy="656569"/>
          </a:xfrm>
          <a:prstGeom prst="line">
            <a:avLst/>
          </a:prstGeom>
          <a:noFill/>
          <a:ln w="6350">
            <a:solidFill>
              <a:srgbClr val="999999"/>
            </a:solidFill>
            <a:prstDash val="solid"/>
          </a:ln>
        </p:spPr>
      </p:sp>
      <p:sp>
        <p:nvSpPr>
          <p:cNvPr id="63" name="Shape 61"/>
          <p:cNvSpPr/>
          <p:nvPr/>
        </p:nvSpPr>
        <p:spPr>
          <a:xfrm flipV="1">
            <a:off x="3384030" y="2400375"/>
            <a:ext cx="1203710" cy="656569"/>
          </a:xfrm>
          <a:prstGeom prst="line">
            <a:avLst/>
          </a:prstGeom>
          <a:noFill/>
          <a:ln w="6350">
            <a:solidFill>
              <a:srgbClr val="999999"/>
            </a:solidFill>
            <a:prstDash val="solid"/>
          </a:ln>
        </p:spPr>
      </p:sp>
      <p:sp>
        <p:nvSpPr>
          <p:cNvPr id="64" name="Text 62"/>
          <p:cNvSpPr txBox="1"/>
          <p:nvPr/>
        </p:nvSpPr>
        <p:spPr>
          <a:xfrm>
            <a:off x="3384030" y="3100715"/>
            <a:ext cx="1203710" cy="131314"/>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Fish Tacos (2)</a:t>
            </a:r>
            <a:endParaRPr lang="en-US" sz="700" dirty="0"/>
          </a:p>
        </p:txBody>
      </p:sp>
      <p:sp>
        <p:nvSpPr>
          <p:cNvPr id="65" name="Shape 63"/>
          <p:cNvSpPr/>
          <p:nvPr/>
        </p:nvSpPr>
        <p:spPr>
          <a:xfrm>
            <a:off x="3384030" y="3275801"/>
            <a:ext cx="1094282" cy="43771"/>
          </a:xfrm>
          <a:prstGeom prst="rect">
            <a:avLst/>
          </a:prstGeom>
          <a:solidFill>
            <a:srgbClr val="DDDDDD"/>
          </a:solidFill>
          <a:ln/>
        </p:spPr>
      </p:sp>
      <p:sp>
        <p:nvSpPr>
          <p:cNvPr id="66" name="Shape 64"/>
          <p:cNvSpPr/>
          <p:nvPr/>
        </p:nvSpPr>
        <p:spPr>
          <a:xfrm>
            <a:off x="3384030" y="3363343"/>
            <a:ext cx="820711" cy="43771"/>
          </a:xfrm>
          <a:prstGeom prst="rect">
            <a:avLst/>
          </a:prstGeom>
          <a:solidFill>
            <a:srgbClr val="DDDDDD"/>
          </a:solidFill>
          <a:ln/>
        </p:spPr>
      </p:sp>
      <p:sp>
        <p:nvSpPr>
          <p:cNvPr id="67" name="Text 65"/>
          <p:cNvSpPr txBox="1"/>
          <p:nvPr/>
        </p:nvSpPr>
        <p:spPr>
          <a:xfrm>
            <a:off x="3384030" y="3505600"/>
            <a:ext cx="492427" cy="196971"/>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$13.49</a:t>
            </a:r>
            <a:endParaRPr lang="en-US" sz="700" dirty="0"/>
          </a:p>
        </p:txBody>
      </p:sp>
      <p:sp>
        <p:nvSpPr>
          <p:cNvPr id="68" name="Shape 66"/>
          <p:cNvSpPr/>
          <p:nvPr/>
        </p:nvSpPr>
        <p:spPr>
          <a:xfrm>
            <a:off x="4040599" y="3505600"/>
            <a:ext cx="547141" cy="196971"/>
          </a:xfrm>
          <a:prstGeom prst="roundRect">
            <a:avLst>
              <a:gd name="adj" fmla="val 15000"/>
            </a:avLst>
          </a:prstGeom>
          <a:solidFill>
            <a:srgbClr val="555555"/>
          </a:solidFill>
          <a:ln w="6350">
            <a:solidFill>
              <a:srgbClr val="555555"/>
            </a:solidFill>
            <a:prstDash val="solid"/>
          </a:ln>
        </p:spPr>
      </p:sp>
      <p:sp>
        <p:nvSpPr>
          <p:cNvPr id="69" name="Text 67"/>
          <p:cNvSpPr txBox="1"/>
          <p:nvPr/>
        </p:nvSpPr>
        <p:spPr>
          <a:xfrm>
            <a:off x="4040599" y="3505600"/>
            <a:ext cx="547141" cy="196971"/>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Add +</a:t>
            </a:r>
            <a:endParaRPr lang="en-US" sz="600" dirty="0"/>
          </a:p>
        </p:txBody>
      </p:sp>
      <p:sp>
        <p:nvSpPr>
          <p:cNvPr id="70" name="Shape 68"/>
          <p:cNvSpPr/>
          <p:nvPr/>
        </p:nvSpPr>
        <p:spPr>
          <a:xfrm>
            <a:off x="484182" y="3877656"/>
            <a:ext cx="1313138" cy="1422567"/>
          </a:xfrm>
          <a:prstGeom prst="rect">
            <a:avLst/>
          </a:prstGeom>
          <a:solidFill>
            <a:srgbClr val="FFFFFF"/>
          </a:solidFill>
          <a:ln w="6350">
            <a:solidFill>
              <a:srgbClr val="999999"/>
            </a:solidFill>
            <a:prstDash val="solid"/>
          </a:ln>
        </p:spPr>
      </p:sp>
      <p:sp>
        <p:nvSpPr>
          <p:cNvPr id="71" name="Shape 69"/>
          <p:cNvSpPr/>
          <p:nvPr/>
        </p:nvSpPr>
        <p:spPr>
          <a:xfrm>
            <a:off x="538896" y="3932370"/>
            <a:ext cx="1203710" cy="656569"/>
          </a:xfrm>
          <a:prstGeom prst="rect">
            <a:avLst/>
          </a:prstGeom>
          <a:solidFill>
            <a:srgbClr val="FFFFFF"/>
          </a:solidFill>
          <a:ln w="6350">
            <a:solidFill>
              <a:srgbClr val="999999"/>
            </a:solidFill>
            <a:prstDash val="solid"/>
          </a:ln>
        </p:spPr>
      </p:sp>
      <p:sp>
        <p:nvSpPr>
          <p:cNvPr id="72" name="Shape 70"/>
          <p:cNvSpPr/>
          <p:nvPr/>
        </p:nvSpPr>
        <p:spPr>
          <a:xfrm>
            <a:off x="538896" y="3932370"/>
            <a:ext cx="1203710" cy="656569"/>
          </a:xfrm>
          <a:prstGeom prst="line">
            <a:avLst/>
          </a:prstGeom>
          <a:noFill/>
          <a:ln w="6350">
            <a:solidFill>
              <a:srgbClr val="999999"/>
            </a:solidFill>
            <a:prstDash val="solid"/>
          </a:ln>
        </p:spPr>
      </p:sp>
      <p:sp>
        <p:nvSpPr>
          <p:cNvPr id="73" name="Shape 71"/>
          <p:cNvSpPr/>
          <p:nvPr/>
        </p:nvSpPr>
        <p:spPr>
          <a:xfrm flipV="1">
            <a:off x="538896" y="3932370"/>
            <a:ext cx="1203710" cy="656569"/>
          </a:xfrm>
          <a:prstGeom prst="line">
            <a:avLst/>
          </a:prstGeom>
          <a:noFill/>
          <a:ln w="6350">
            <a:solidFill>
              <a:srgbClr val="999999"/>
            </a:solidFill>
            <a:prstDash val="solid"/>
          </a:ln>
        </p:spPr>
      </p:sp>
      <p:sp>
        <p:nvSpPr>
          <p:cNvPr id="74" name="Text 72"/>
          <p:cNvSpPr txBox="1"/>
          <p:nvPr/>
        </p:nvSpPr>
        <p:spPr>
          <a:xfrm>
            <a:off x="538896" y="4632710"/>
            <a:ext cx="1203710" cy="131314"/>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Clam Strips &amp; Chips</a:t>
            </a:r>
            <a:endParaRPr lang="en-US" sz="700" dirty="0"/>
          </a:p>
        </p:txBody>
      </p:sp>
      <p:sp>
        <p:nvSpPr>
          <p:cNvPr id="75" name="Shape 73"/>
          <p:cNvSpPr/>
          <p:nvPr/>
        </p:nvSpPr>
        <p:spPr>
          <a:xfrm>
            <a:off x="538896" y="4807795"/>
            <a:ext cx="1094282" cy="43771"/>
          </a:xfrm>
          <a:prstGeom prst="rect">
            <a:avLst/>
          </a:prstGeom>
          <a:solidFill>
            <a:srgbClr val="DDDDDD"/>
          </a:solidFill>
          <a:ln/>
        </p:spPr>
      </p:sp>
      <p:sp>
        <p:nvSpPr>
          <p:cNvPr id="76" name="Shape 74"/>
          <p:cNvSpPr/>
          <p:nvPr/>
        </p:nvSpPr>
        <p:spPr>
          <a:xfrm>
            <a:off x="538896" y="4895338"/>
            <a:ext cx="820711" cy="43771"/>
          </a:xfrm>
          <a:prstGeom prst="rect">
            <a:avLst/>
          </a:prstGeom>
          <a:solidFill>
            <a:srgbClr val="DDDDDD"/>
          </a:solidFill>
          <a:ln/>
        </p:spPr>
      </p:sp>
      <p:sp>
        <p:nvSpPr>
          <p:cNvPr id="77" name="Text 75"/>
          <p:cNvSpPr txBox="1"/>
          <p:nvPr/>
        </p:nvSpPr>
        <p:spPr>
          <a:xfrm>
            <a:off x="538896" y="5037594"/>
            <a:ext cx="492427" cy="196971"/>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$16.99</a:t>
            </a:r>
            <a:endParaRPr lang="en-US" sz="700" dirty="0"/>
          </a:p>
        </p:txBody>
      </p:sp>
      <p:sp>
        <p:nvSpPr>
          <p:cNvPr id="78" name="Shape 76"/>
          <p:cNvSpPr/>
          <p:nvPr/>
        </p:nvSpPr>
        <p:spPr>
          <a:xfrm>
            <a:off x="1195466" y="5037594"/>
            <a:ext cx="547141" cy="196971"/>
          </a:xfrm>
          <a:prstGeom prst="roundRect">
            <a:avLst>
              <a:gd name="adj" fmla="val 15000"/>
            </a:avLst>
          </a:prstGeom>
          <a:solidFill>
            <a:srgbClr val="555555"/>
          </a:solidFill>
          <a:ln w="6350">
            <a:solidFill>
              <a:srgbClr val="555555"/>
            </a:solidFill>
            <a:prstDash val="solid"/>
          </a:ln>
        </p:spPr>
      </p:sp>
      <p:sp>
        <p:nvSpPr>
          <p:cNvPr id="79" name="Text 77"/>
          <p:cNvSpPr txBox="1"/>
          <p:nvPr/>
        </p:nvSpPr>
        <p:spPr>
          <a:xfrm>
            <a:off x="1195466" y="5037594"/>
            <a:ext cx="547141" cy="196971"/>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Add +</a:t>
            </a:r>
            <a:endParaRPr lang="en-US" sz="600" dirty="0"/>
          </a:p>
        </p:txBody>
      </p:sp>
      <p:sp>
        <p:nvSpPr>
          <p:cNvPr id="80" name="Shape 78"/>
          <p:cNvSpPr/>
          <p:nvPr/>
        </p:nvSpPr>
        <p:spPr>
          <a:xfrm>
            <a:off x="1906749" y="3877656"/>
            <a:ext cx="1313138" cy="1422567"/>
          </a:xfrm>
          <a:prstGeom prst="rect">
            <a:avLst/>
          </a:prstGeom>
          <a:solidFill>
            <a:srgbClr val="FFFFFF"/>
          </a:solidFill>
          <a:ln w="6350">
            <a:solidFill>
              <a:srgbClr val="999999"/>
            </a:solidFill>
            <a:prstDash val="solid"/>
          </a:ln>
        </p:spPr>
      </p:sp>
      <p:sp>
        <p:nvSpPr>
          <p:cNvPr id="81" name="Shape 79"/>
          <p:cNvSpPr/>
          <p:nvPr/>
        </p:nvSpPr>
        <p:spPr>
          <a:xfrm>
            <a:off x="1961463" y="3932370"/>
            <a:ext cx="1203710" cy="656569"/>
          </a:xfrm>
          <a:prstGeom prst="rect">
            <a:avLst/>
          </a:prstGeom>
          <a:solidFill>
            <a:srgbClr val="FFFFFF"/>
          </a:solidFill>
          <a:ln w="6350">
            <a:solidFill>
              <a:srgbClr val="999999"/>
            </a:solidFill>
            <a:prstDash val="solid"/>
          </a:ln>
        </p:spPr>
      </p:sp>
      <p:sp>
        <p:nvSpPr>
          <p:cNvPr id="82" name="Shape 80"/>
          <p:cNvSpPr/>
          <p:nvPr/>
        </p:nvSpPr>
        <p:spPr>
          <a:xfrm>
            <a:off x="1961463" y="3932370"/>
            <a:ext cx="1203710" cy="656569"/>
          </a:xfrm>
          <a:prstGeom prst="line">
            <a:avLst/>
          </a:prstGeom>
          <a:noFill/>
          <a:ln w="6350">
            <a:solidFill>
              <a:srgbClr val="999999"/>
            </a:solidFill>
            <a:prstDash val="solid"/>
          </a:ln>
        </p:spPr>
      </p:sp>
      <p:sp>
        <p:nvSpPr>
          <p:cNvPr id="83" name="Shape 81"/>
          <p:cNvSpPr/>
          <p:nvPr/>
        </p:nvSpPr>
        <p:spPr>
          <a:xfrm flipV="1">
            <a:off x="1961463" y="3932370"/>
            <a:ext cx="1203710" cy="656569"/>
          </a:xfrm>
          <a:prstGeom prst="line">
            <a:avLst/>
          </a:prstGeom>
          <a:noFill/>
          <a:ln w="6350">
            <a:solidFill>
              <a:srgbClr val="999999"/>
            </a:solidFill>
            <a:prstDash val="solid"/>
          </a:ln>
        </p:spPr>
      </p:sp>
      <p:sp>
        <p:nvSpPr>
          <p:cNvPr id="84" name="Text 82"/>
          <p:cNvSpPr txBox="1"/>
          <p:nvPr/>
        </p:nvSpPr>
        <p:spPr>
          <a:xfrm>
            <a:off x="1961463" y="4632710"/>
            <a:ext cx="1203710" cy="131314"/>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Scallops &amp; Chips</a:t>
            </a:r>
            <a:endParaRPr lang="en-US" sz="700" dirty="0"/>
          </a:p>
        </p:txBody>
      </p:sp>
      <p:sp>
        <p:nvSpPr>
          <p:cNvPr id="85" name="Shape 83"/>
          <p:cNvSpPr/>
          <p:nvPr/>
        </p:nvSpPr>
        <p:spPr>
          <a:xfrm>
            <a:off x="1961463" y="4807795"/>
            <a:ext cx="1094282" cy="43771"/>
          </a:xfrm>
          <a:prstGeom prst="rect">
            <a:avLst/>
          </a:prstGeom>
          <a:solidFill>
            <a:srgbClr val="DDDDDD"/>
          </a:solidFill>
          <a:ln/>
        </p:spPr>
      </p:sp>
      <p:sp>
        <p:nvSpPr>
          <p:cNvPr id="86" name="Shape 84"/>
          <p:cNvSpPr/>
          <p:nvPr/>
        </p:nvSpPr>
        <p:spPr>
          <a:xfrm>
            <a:off x="1961463" y="4895338"/>
            <a:ext cx="820711" cy="43771"/>
          </a:xfrm>
          <a:prstGeom prst="rect">
            <a:avLst/>
          </a:prstGeom>
          <a:solidFill>
            <a:srgbClr val="DDDDDD"/>
          </a:solidFill>
          <a:ln/>
        </p:spPr>
      </p:sp>
      <p:sp>
        <p:nvSpPr>
          <p:cNvPr id="87" name="Text 85"/>
          <p:cNvSpPr txBox="1"/>
          <p:nvPr/>
        </p:nvSpPr>
        <p:spPr>
          <a:xfrm>
            <a:off x="1961463" y="5037594"/>
            <a:ext cx="492427" cy="196971"/>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$24.99</a:t>
            </a:r>
            <a:endParaRPr lang="en-US" sz="700" dirty="0"/>
          </a:p>
        </p:txBody>
      </p:sp>
      <p:sp>
        <p:nvSpPr>
          <p:cNvPr id="88" name="Shape 86"/>
          <p:cNvSpPr/>
          <p:nvPr/>
        </p:nvSpPr>
        <p:spPr>
          <a:xfrm>
            <a:off x="2618032" y="5037594"/>
            <a:ext cx="547141" cy="196971"/>
          </a:xfrm>
          <a:prstGeom prst="roundRect">
            <a:avLst>
              <a:gd name="adj" fmla="val 15000"/>
            </a:avLst>
          </a:prstGeom>
          <a:solidFill>
            <a:srgbClr val="555555"/>
          </a:solidFill>
          <a:ln w="6350">
            <a:solidFill>
              <a:srgbClr val="555555"/>
            </a:solidFill>
            <a:prstDash val="solid"/>
          </a:ln>
        </p:spPr>
      </p:sp>
      <p:sp>
        <p:nvSpPr>
          <p:cNvPr id="89" name="Text 87"/>
          <p:cNvSpPr txBox="1"/>
          <p:nvPr/>
        </p:nvSpPr>
        <p:spPr>
          <a:xfrm>
            <a:off x="2618032" y="5037594"/>
            <a:ext cx="547141" cy="196971"/>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Add +</a:t>
            </a:r>
            <a:endParaRPr lang="en-US" sz="600" dirty="0"/>
          </a:p>
        </p:txBody>
      </p:sp>
      <p:sp>
        <p:nvSpPr>
          <p:cNvPr id="90" name="Shape 88"/>
          <p:cNvSpPr/>
          <p:nvPr/>
        </p:nvSpPr>
        <p:spPr>
          <a:xfrm>
            <a:off x="3329315" y="3877656"/>
            <a:ext cx="1313138" cy="1422567"/>
          </a:xfrm>
          <a:prstGeom prst="rect">
            <a:avLst/>
          </a:prstGeom>
          <a:solidFill>
            <a:srgbClr val="FFFFFF"/>
          </a:solidFill>
          <a:ln w="6350">
            <a:solidFill>
              <a:srgbClr val="999999"/>
            </a:solidFill>
            <a:prstDash val="solid"/>
          </a:ln>
        </p:spPr>
      </p:sp>
      <p:sp>
        <p:nvSpPr>
          <p:cNvPr id="91" name="Shape 89"/>
          <p:cNvSpPr/>
          <p:nvPr/>
        </p:nvSpPr>
        <p:spPr>
          <a:xfrm>
            <a:off x="3384030" y="3932370"/>
            <a:ext cx="1203710" cy="656569"/>
          </a:xfrm>
          <a:prstGeom prst="rect">
            <a:avLst/>
          </a:prstGeom>
          <a:solidFill>
            <a:srgbClr val="FFFFFF"/>
          </a:solidFill>
          <a:ln w="6350">
            <a:solidFill>
              <a:srgbClr val="999999"/>
            </a:solidFill>
            <a:prstDash val="solid"/>
          </a:ln>
        </p:spPr>
      </p:sp>
      <p:sp>
        <p:nvSpPr>
          <p:cNvPr id="92" name="Shape 90"/>
          <p:cNvSpPr/>
          <p:nvPr/>
        </p:nvSpPr>
        <p:spPr>
          <a:xfrm>
            <a:off x="3384030" y="3932370"/>
            <a:ext cx="1203710" cy="656569"/>
          </a:xfrm>
          <a:prstGeom prst="line">
            <a:avLst/>
          </a:prstGeom>
          <a:noFill/>
          <a:ln w="6350">
            <a:solidFill>
              <a:srgbClr val="999999"/>
            </a:solidFill>
            <a:prstDash val="solid"/>
          </a:ln>
        </p:spPr>
      </p:sp>
      <p:sp>
        <p:nvSpPr>
          <p:cNvPr id="93" name="Shape 91"/>
          <p:cNvSpPr/>
          <p:nvPr/>
        </p:nvSpPr>
        <p:spPr>
          <a:xfrm flipV="1">
            <a:off x="3384030" y="3932370"/>
            <a:ext cx="1203710" cy="656569"/>
          </a:xfrm>
          <a:prstGeom prst="line">
            <a:avLst/>
          </a:prstGeom>
          <a:noFill/>
          <a:ln w="6350">
            <a:solidFill>
              <a:srgbClr val="999999"/>
            </a:solidFill>
            <a:prstDash val="solid"/>
          </a:ln>
        </p:spPr>
      </p:sp>
      <p:sp>
        <p:nvSpPr>
          <p:cNvPr id="94" name="Text 92"/>
          <p:cNvSpPr txBox="1"/>
          <p:nvPr/>
        </p:nvSpPr>
        <p:spPr>
          <a:xfrm>
            <a:off x="3384030" y="4632710"/>
            <a:ext cx="1203710" cy="131314"/>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Lobster Roll</a:t>
            </a:r>
            <a:endParaRPr lang="en-US" sz="700" dirty="0"/>
          </a:p>
        </p:txBody>
      </p:sp>
      <p:sp>
        <p:nvSpPr>
          <p:cNvPr id="95" name="Shape 93"/>
          <p:cNvSpPr/>
          <p:nvPr/>
        </p:nvSpPr>
        <p:spPr>
          <a:xfrm>
            <a:off x="3384030" y="4807795"/>
            <a:ext cx="1094282" cy="43771"/>
          </a:xfrm>
          <a:prstGeom prst="rect">
            <a:avLst/>
          </a:prstGeom>
          <a:solidFill>
            <a:srgbClr val="DDDDDD"/>
          </a:solidFill>
          <a:ln/>
        </p:spPr>
      </p:sp>
      <p:sp>
        <p:nvSpPr>
          <p:cNvPr id="96" name="Shape 94"/>
          <p:cNvSpPr/>
          <p:nvPr/>
        </p:nvSpPr>
        <p:spPr>
          <a:xfrm>
            <a:off x="3384030" y="4895338"/>
            <a:ext cx="820711" cy="43771"/>
          </a:xfrm>
          <a:prstGeom prst="rect">
            <a:avLst/>
          </a:prstGeom>
          <a:solidFill>
            <a:srgbClr val="DDDDDD"/>
          </a:solidFill>
          <a:ln/>
        </p:spPr>
      </p:sp>
      <p:sp>
        <p:nvSpPr>
          <p:cNvPr id="97" name="Text 95"/>
          <p:cNvSpPr txBox="1"/>
          <p:nvPr/>
        </p:nvSpPr>
        <p:spPr>
          <a:xfrm>
            <a:off x="3384030" y="5037594"/>
            <a:ext cx="492427" cy="196971"/>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$22.99</a:t>
            </a:r>
            <a:endParaRPr lang="en-US" sz="700" dirty="0"/>
          </a:p>
        </p:txBody>
      </p:sp>
      <p:sp>
        <p:nvSpPr>
          <p:cNvPr id="98" name="Shape 96"/>
          <p:cNvSpPr/>
          <p:nvPr/>
        </p:nvSpPr>
        <p:spPr>
          <a:xfrm>
            <a:off x="4040599" y="5037594"/>
            <a:ext cx="547141" cy="196971"/>
          </a:xfrm>
          <a:prstGeom prst="roundRect">
            <a:avLst>
              <a:gd name="adj" fmla="val 15000"/>
            </a:avLst>
          </a:prstGeom>
          <a:solidFill>
            <a:srgbClr val="555555"/>
          </a:solidFill>
          <a:ln w="6350">
            <a:solidFill>
              <a:srgbClr val="555555"/>
            </a:solidFill>
            <a:prstDash val="solid"/>
          </a:ln>
        </p:spPr>
      </p:sp>
      <p:sp>
        <p:nvSpPr>
          <p:cNvPr id="99" name="Text 97"/>
          <p:cNvSpPr txBox="1"/>
          <p:nvPr/>
        </p:nvSpPr>
        <p:spPr>
          <a:xfrm>
            <a:off x="4040599" y="5037594"/>
            <a:ext cx="547141" cy="196971"/>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Add +</a:t>
            </a:r>
            <a:endParaRPr lang="en-US" sz="600" dirty="0"/>
          </a:p>
        </p:txBody>
      </p:sp>
      <p:sp>
        <p:nvSpPr>
          <p:cNvPr id="100" name="Shape 98"/>
          <p:cNvSpPr/>
          <p:nvPr/>
        </p:nvSpPr>
        <p:spPr>
          <a:xfrm>
            <a:off x="4806596" y="1798520"/>
            <a:ext cx="2024422" cy="2407420"/>
          </a:xfrm>
          <a:prstGeom prst="rect">
            <a:avLst/>
          </a:prstGeom>
          <a:solidFill>
            <a:srgbClr val="F5F5F5"/>
          </a:solidFill>
          <a:ln w="6350">
            <a:solidFill>
              <a:srgbClr val="999999"/>
            </a:solidFill>
            <a:prstDash val="solid"/>
          </a:ln>
        </p:spPr>
      </p:sp>
      <p:sp>
        <p:nvSpPr>
          <p:cNvPr id="101" name="Text 99"/>
          <p:cNvSpPr txBox="1"/>
          <p:nvPr/>
        </p:nvSpPr>
        <p:spPr>
          <a:xfrm>
            <a:off x="4916024" y="1886062"/>
            <a:ext cx="1367852" cy="164142"/>
          </a:xfrm>
          <a:prstGeom prst="rect">
            <a:avLst/>
          </a:prstGeom>
          <a:noFill/>
          <a:ln/>
        </p:spPr>
        <p:txBody>
          <a:bodyPr wrap="square" lIns="12700" tIns="12700" rIns="12700" bIns="12700" rtlCol="0" anchor="ctr"/>
          <a:lstStyle/>
          <a:p>
            <a:pPr algn="l" indent="0" marL="0">
              <a:lnSpc>
                <a:spcPct val="95000"/>
              </a:lnSpc>
              <a:buNone/>
            </a:pPr>
            <a:r>
              <a:rPr lang="en-US" sz="850" b="1" dirty="0">
                <a:solidFill>
                  <a:srgbClr val="333333"/>
                </a:solidFill>
                <a:latin typeface="Arial" pitchFamily="34" charset="0"/>
                <a:ea typeface="Arial" pitchFamily="34" charset="-122"/>
                <a:cs typeface="Arial" pitchFamily="34" charset="-120"/>
              </a:rPr>
              <a:t>Your Order</a:t>
            </a:r>
            <a:endParaRPr lang="en-US" sz="850" dirty="0"/>
          </a:p>
        </p:txBody>
      </p:sp>
      <p:sp>
        <p:nvSpPr>
          <p:cNvPr id="102" name="Text 100"/>
          <p:cNvSpPr txBox="1"/>
          <p:nvPr/>
        </p:nvSpPr>
        <p:spPr>
          <a:xfrm>
            <a:off x="4916024" y="2148690"/>
            <a:ext cx="984854" cy="153199"/>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Haddock &amp; Chips (2 pc)</a:t>
            </a:r>
            <a:endParaRPr lang="en-US" sz="600" dirty="0"/>
          </a:p>
        </p:txBody>
      </p:sp>
      <p:sp>
        <p:nvSpPr>
          <p:cNvPr id="103" name="Shape 101"/>
          <p:cNvSpPr/>
          <p:nvPr/>
        </p:nvSpPr>
        <p:spPr>
          <a:xfrm>
            <a:off x="5933706" y="2148690"/>
            <a:ext cx="153199" cy="153199"/>
          </a:xfrm>
          <a:prstGeom prst="roundRect">
            <a:avLst>
              <a:gd name="adj" fmla="val 15000"/>
            </a:avLst>
          </a:prstGeom>
          <a:solidFill>
            <a:srgbClr val="FFFFFF"/>
          </a:solidFill>
          <a:ln w="6350">
            <a:solidFill>
              <a:srgbClr val="555555"/>
            </a:solidFill>
            <a:prstDash val="solid"/>
          </a:ln>
        </p:spPr>
      </p:sp>
      <p:sp>
        <p:nvSpPr>
          <p:cNvPr id="104" name="Text 102"/>
          <p:cNvSpPr txBox="1"/>
          <p:nvPr/>
        </p:nvSpPr>
        <p:spPr>
          <a:xfrm>
            <a:off x="5933706" y="2148690"/>
            <a:ext cx="153199" cy="153199"/>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a:t>
            </a:r>
            <a:endParaRPr lang="en-US" sz="600" dirty="0"/>
          </a:p>
        </p:txBody>
      </p:sp>
      <p:sp>
        <p:nvSpPr>
          <p:cNvPr id="105" name="Text 103"/>
          <p:cNvSpPr txBox="1"/>
          <p:nvPr/>
        </p:nvSpPr>
        <p:spPr>
          <a:xfrm>
            <a:off x="6086906" y="2148690"/>
            <a:ext cx="131314" cy="153199"/>
          </a:xfrm>
          <a:prstGeom prst="rect">
            <a:avLst/>
          </a:prstGeom>
          <a:noFill/>
          <a:ln/>
        </p:spPr>
        <p:txBody>
          <a:bodyPr wrap="square" lIns="12700" tIns="12700" rIns="12700" bIns="12700" rtlCol="0" anchor="ctr"/>
          <a:lstStyle/>
          <a:p>
            <a:pPr algn="ctr" indent="0" marL="0">
              <a:lnSpc>
                <a:spcPct val="95000"/>
              </a:lnSpc>
              <a:buNone/>
            </a:pPr>
            <a:r>
              <a:rPr lang="en-US" sz="600" dirty="0">
                <a:solidFill>
                  <a:srgbClr val="333333"/>
                </a:solidFill>
                <a:latin typeface="Arial" pitchFamily="34" charset="0"/>
                <a:ea typeface="Arial" pitchFamily="34" charset="-122"/>
                <a:cs typeface="Arial" pitchFamily="34" charset="-120"/>
              </a:rPr>
              <a:t>1</a:t>
            </a:r>
            <a:endParaRPr lang="en-US" sz="600" dirty="0"/>
          </a:p>
        </p:txBody>
      </p:sp>
      <p:sp>
        <p:nvSpPr>
          <p:cNvPr id="106" name="Shape 104"/>
          <p:cNvSpPr/>
          <p:nvPr/>
        </p:nvSpPr>
        <p:spPr>
          <a:xfrm>
            <a:off x="6218220" y="2148690"/>
            <a:ext cx="153199" cy="153199"/>
          </a:xfrm>
          <a:prstGeom prst="roundRect">
            <a:avLst>
              <a:gd name="adj" fmla="val 15000"/>
            </a:avLst>
          </a:prstGeom>
          <a:solidFill>
            <a:srgbClr val="FFFFFF"/>
          </a:solidFill>
          <a:ln w="6350">
            <a:solidFill>
              <a:srgbClr val="555555"/>
            </a:solidFill>
            <a:prstDash val="solid"/>
          </a:ln>
        </p:spPr>
      </p:sp>
      <p:sp>
        <p:nvSpPr>
          <p:cNvPr id="107" name="Text 105"/>
          <p:cNvSpPr txBox="1"/>
          <p:nvPr/>
        </p:nvSpPr>
        <p:spPr>
          <a:xfrm>
            <a:off x="6218220" y="2148690"/>
            <a:ext cx="153199" cy="153199"/>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a:t>
            </a:r>
            <a:endParaRPr lang="en-US" sz="600" dirty="0"/>
          </a:p>
        </p:txBody>
      </p:sp>
      <p:sp>
        <p:nvSpPr>
          <p:cNvPr id="108" name="Text 106"/>
          <p:cNvSpPr txBox="1"/>
          <p:nvPr/>
        </p:nvSpPr>
        <p:spPr>
          <a:xfrm>
            <a:off x="6393305" y="2148690"/>
            <a:ext cx="328285" cy="153199"/>
          </a:xfrm>
          <a:prstGeom prst="rect">
            <a:avLst/>
          </a:prstGeom>
          <a:noFill/>
          <a:ln/>
        </p:spPr>
        <p:txBody>
          <a:bodyPr wrap="square" lIns="12700" tIns="12700" rIns="12700" bIns="12700" rtlCol="0" anchor="ctr"/>
          <a:lstStyle/>
          <a:p>
            <a:pPr algn="r" indent="0" marL="0">
              <a:lnSpc>
                <a:spcPct val="95000"/>
              </a:lnSpc>
              <a:buNone/>
            </a:pPr>
            <a:r>
              <a:rPr lang="en-US" sz="600" dirty="0">
                <a:solidFill>
                  <a:srgbClr val="333333"/>
                </a:solidFill>
                <a:latin typeface="Arial" pitchFamily="34" charset="0"/>
                <a:ea typeface="Arial" pitchFamily="34" charset="-122"/>
                <a:cs typeface="Arial" pitchFamily="34" charset="-120"/>
              </a:rPr>
              <a:t>$19.99</a:t>
            </a:r>
            <a:endParaRPr lang="en-US" sz="600" dirty="0"/>
          </a:p>
        </p:txBody>
      </p:sp>
      <p:sp>
        <p:nvSpPr>
          <p:cNvPr id="109" name="Text 107"/>
          <p:cNvSpPr txBox="1"/>
          <p:nvPr/>
        </p:nvSpPr>
        <p:spPr>
          <a:xfrm>
            <a:off x="4916024" y="2422261"/>
            <a:ext cx="984854" cy="153199"/>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Fries (large)</a:t>
            </a:r>
            <a:endParaRPr lang="en-US" sz="600" dirty="0"/>
          </a:p>
        </p:txBody>
      </p:sp>
      <p:sp>
        <p:nvSpPr>
          <p:cNvPr id="110" name="Shape 108"/>
          <p:cNvSpPr/>
          <p:nvPr/>
        </p:nvSpPr>
        <p:spPr>
          <a:xfrm>
            <a:off x="5933706" y="2422261"/>
            <a:ext cx="153199" cy="153199"/>
          </a:xfrm>
          <a:prstGeom prst="roundRect">
            <a:avLst>
              <a:gd name="adj" fmla="val 15000"/>
            </a:avLst>
          </a:prstGeom>
          <a:solidFill>
            <a:srgbClr val="FFFFFF"/>
          </a:solidFill>
          <a:ln w="6350">
            <a:solidFill>
              <a:srgbClr val="555555"/>
            </a:solidFill>
            <a:prstDash val="solid"/>
          </a:ln>
        </p:spPr>
      </p:sp>
      <p:sp>
        <p:nvSpPr>
          <p:cNvPr id="111" name="Text 109"/>
          <p:cNvSpPr txBox="1"/>
          <p:nvPr/>
        </p:nvSpPr>
        <p:spPr>
          <a:xfrm>
            <a:off x="5933706" y="2422261"/>
            <a:ext cx="153199" cy="153199"/>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a:t>
            </a:r>
            <a:endParaRPr lang="en-US" sz="600" dirty="0"/>
          </a:p>
        </p:txBody>
      </p:sp>
      <p:sp>
        <p:nvSpPr>
          <p:cNvPr id="112" name="Text 110"/>
          <p:cNvSpPr txBox="1"/>
          <p:nvPr/>
        </p:nvSpPr>
        <p:spPr>
          <a:xfrm>
            <a:off x="6086906" y="2422261"/>
            <a:ext cx="131314" cy="153199"/>
          </a:xfrm>
          <a:prstGeom prst="rect">
            <a:avLst/>
          </a:prstGeom>
          <a:noFill/>
          <a:ln/>
        </p:spPr>
        <p:txBody>
          <a:bodyPr wrap="square" lIns="12700" tIns="12700" rIns="12700" bIns="12700" rtlCol="0" anchor="ctr"/>
          <a:lstStyle/>
          <a:p>
            <a:pPr algn="ctr" indent="0" marL="0">
              <a:lnSpc>
                <a:spcPct val="95000"/>
              </a:lnSpc>
              <a:buNone/>
            </a:pPr>
            <a:r>
              <a:rPr lang="en-US" sz="600" dirty="0">
                <a:solidFill>
                  <a:srgbClr val="333333"/>
                </a:solidFill>
                <a:latin typeface="Arial" pitchFamily="34" charset="0"/>
                <a:ea typeface="Arial" pitchFamily="34" charset="-122"/>
                <a:cs typeface="Arial" pitchFamily="34" charset="-120"/>
              </a:rPr>
              <a:t>1</a:t>
            </a:r>
            <a:endParaRPr lang="en-US" sz="600" dirty="0"/>
          </a:p>
        </p:txBody>
      </p:sp>
      <p:sp>
        <p:nvSpPr>
          <p:cNvPr id="113" name="Shape 111"/>
          <p:cNvSpPr/>
          <p:nvPr/>
        </p:nvSpPr>
        <p:spPr>
          <a:xfrm>
            <a:off x="6218220" y="2422261"/>
            <a:ext cx="153199" cy="153199"/>
          </a:xfrm>
          <a:prstGeom prst="roundRect">
            <a:avLst>
              <a:gd name="adj" fmla="val 15000"/>
            </a:avLst>
          </a:prstGeom>
          <a:solidFill>
            <a:srgbClr val="FFFFFF"/>
          </a:solidFill>
          <a:ln w="6350">
            <a:solidFill>
              <a:srgbClr val="555555"/>
            </a:solidFill>
            <a:prstDash val="solid"/>
          </a:ln>
        </p:spPr>
      </p:sp>
      <p:sp>
        <p:nvSpPr>
          <p:cNvPr id="114" name="Text 112"/>
          <p:cNvSpPr txBox="1"/>
          <p:nvPr/>
        </p:nvSpPr>
        <p:spPr>
          <a:xfrm>
            <a:off x="6218220" y="2422261"/>
            <a:ext cx="153199" cy="153199"/>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a:t>
            </a:r>
            <a:endParaRPr lang="en-US" sz="600" dirty="0"/>
          </a:p>
        </p:txBody>
      </p:sp>
      <p:sp>
        <p:nvSpPr>
          <p:cNvPr id="115" name="Text 113"/>
          <p:cNvSpPr txBox="1"/>
          <p:nvPr/>
        </p:nvSpPr>
        <p:spPr>
          <a:xfrm>
            <a:off x="6393305" y="2422261"/>
            <a:ext cx="328285" cy="153199"/>
          </a:xfrm>
          <a:prstGeom prst="rect">
            <a:avLst/>
          </a:prstGeom>
          <a:noFill/>
          <a:ln/>
        </p:spPr>
        <p:txBody>
          <a:bodyPr wrap="square" lIns="12700" tIns="12700" rIns="12700" bIns="12700" rtlCol="0" anchor="ctr"/>
          <a:lstStyle/>
          <a:p>
            <a:pPr algn="r" indent="0" marL="0">
              <a:lnSpc>
                <a:spcPct val="95000"/>
              </a:lnSpc>
              <a:buNone/>
            </a:pPr>
            <a:r>
              <a:rPr lang="en-US" sz="600" dirty="0">
                <a:solidFill>
                  <a:srgbClr val="333333"/>
                </a:solidFill>
                <a:latin typeface="Arial" pitchFamily="34" charset="0"/>
                <a:ea typeface="Arial" pitchFamily="34" charset="-122"/>
                <a:cs typeface="Arial" pitchFamily="34" charset="-120"/>
              </a:rPr>
              <a:t>$5.49</a:t>
            </a:r>
            <a:endParaRPr lang="en-US" sz="600" dirty="0"/>
          </a:p>
        </p:txBody>
      </p:sp>
      <p:sp>
        <p:nvSpPr>
          <p:cNvPr id="116" name="Text 114"/>
          <p:cNvSpPr txBox="1"/>
          <p:nvPr/>
        </p:nvSpPr>
        <p:spPr>
          <a:xfrm>
            <a:off x="4916024" y="2695831"/>
            <a:ext cx="984854" cy="153199"/>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Coleslaw</a:t>
            </a:r>
            <a:endParaRPr lang="en-US" sz="600" dirty="0"/>
          </a:p>
        </p:txBody>
      </p:sp>
      <p:sp>
        <p:nvSpPr>
          <p:cNvPr id="117" name="Shape 115"/>
          <p:cNvSpPr/>
          <p:nvPr/>
        </p:nvSpPr>
        <p:spPr>
          <a:xfrm>
            <a:off x="5933706" y="2695831"/>
            <a:ext cx="153199" cy="153199"/>
          </a:xfrm>
          <a:prstGeom prst="roundRect">
            <a:avLst>
              <a:gd name="adj" fmla="val 15000"/>
            </a:avLst>
          </a:prstGeom>
          <a:solidFill>
            <a:srgbClr val="FFFFFF"/>
          </a:solidFill>
          <a:ln w="6350">
            <a:solidFill>
              <a:srgbClr val="555555"/>
            </a:solidFill>
            <a:prstDash val="solid"/>
          </a:ln>
        </p:spPr>
      </p:sp>
      <p:sp>
        <p:nvSpPr>
          <p:cNvPr id="118" name="Text 116"/>
          <p:cNvSpPr txBox="1"/>
          <p:nvPr/>
        </p:nvSpPr>
        <p:spPr>
          <a:xfrm>
            <a:off x="5933706" y="2695831"/>
            <a:ext cx="153199" cy="153199"/>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a:t>
            </a:r>
            <a:endParaRPr lang="en-US" sz="600" dirty="0"/>
          </a:p>
        </p:txBody>
      </p:sp>
      <p:sp>
        <p:nvSpPr>
          <p:cNvPr id="119" name="Text 117"/>
          <p:cNvSpPr txBox="1"/>
          <p:nvPr/>
        </p:nvSpPr>
        <p:spPr>
          <a:xfrm>
            <a:off x="6086906" y="2695831"/>
            <a:ext cx="131314" cy="153199"/>
          </a:xfrm>
          <a:prstGeom prst="rect">
            <a:avLst/>
          </a:prstGeom>
          <a:noFill/>
          <a:ln/>
        </p:spPr>
        <p:txBody>
          <a:bodyPr wrap="square" lIns="12700" tIns="12700" rIns="12700" bIns="12700" rtlCol="0" anchor="ctr"/>
          <a:lstStyle/>
          <a:p>
            <a:pPr algn="ctr" indent="0" marL="0">
              <a:lnSpc>
                <a:spcPct val="95000"/>
              </a:lnSpc>
              <a:buNone/>
            </a:pPr>
            <a:r>
              <a:rPr lang="en-US" sz="600" dirty="0">
                <a:solidFill>
                  <a:srgbClr val="333333"/>
                </a:solidFill>
                <a:latin typeface="Arial" pitchFamily="34" charset="0"/>
                <a:ea typeface="Arial" pitchFamily="34" charset="-122"/>
                <a:cs typeface="Arial" pitchFamily="34" charset="-120"/>
              </a:rPr>
              <a:t>1</a:t>
            </a:r>
            <a:endParaRPr lang="en-US" sz="600" dirty="0"/>
          </a:p>
        </p:txBody>
      </p:sp>
      <p:sp>
        <p:nvSpPr>
          <p:cNvPr id="120" name="Shape 118"/>
          <p:cNvSpPr/>
          <p:nvPr/>
        </p:nvSpPr>
        <p:spPr>
          <a:xfrm>
            <a:off x="6218220" y="2695831"/>
            <a:ext cx="153199" cy="153199"/>
          </a:xfrm>
          <a:prstGeom prst="roundRect">
            <a:avLst>
              <a:gd name="adj" fmla="val 15000"/>
            </a:avLst>
          </a:prstGeom>
          <a:solidFill>
            <a:srgbClr val="FFFFFF"/>
          </a:solidFill>
          <a:ln w="6350">
            <a:solidFill>
              <a:srgbClr val="555555"/>
            </a:solidFill>
            <a:prstDash val="solid"/>
          </a:ln>
        </p:spPr>
      </p:sp>
      <p:sp>
        <p:nvSpPr>
          <p:cNvPr id="121" name="Text 119"/>
          <p:cNvSpPr txBox="1"/>
          <p:nvPr/>
        </p:nvSpPr>
        <p:spPr>
          <a:xfrm>
            <a:off x="6218220" y="2695831"/>
            <a:ext cx="153199" cy="153199"/>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a:t>
            </a:r>
            <a:endParaRPr lang="en-US" sz="600" dirty="0"/>
          </a:p>
        </p:txBody>
      </p:sp>
      <p:sp>
        <p:nvSpPr>
          <p:cNvPr id="122" name="Text 120"/>
          <p:cNvSpPr txBox="1"/>
          <p:nvPr/>
        </p:nvSpPr>
        <p:spPr>
          <a:xfrm>
            <a:off x="6393305" y="2695831"/>
            <a:ext cx="328285" cy="153199"/>
          </a:xfrm>
          <a:prstGeom prst="rect">
            <a:avLst/>
          </a:prstGeom>
          <a:noFill/>
          <a:ln/>
        </p:spPr>
        <p:txBody>
          <a:bodyPr wrap="square" lIns="12700" tIns="12700" rIns="12700" bIns="12700" rtlCol="0" anchor="ctr"/>
          <a:lstStyle/>
          <a:p>
            <a:pPr algn="r" indent="0" marL="0">
              <a:lnSpc>
                <a:spcPct val="95000"/>
              </a:lnSpc>
              <a:buNone/>
            </a:pPr>
            <a:r>
              <a:rPr lang="en-US" sz="600" dirty="0">
                <a:solidFill>
                  <a:srgbClr val="333333"/>
                </a:solidFill>
                <a:latin typeface="Arial" pitchFamily="34" charset="0"/>
                <a:ea typeface="Arial" pitchFamily="34" charset="-122"/>
                <a:cs typeface="Arial" pitchFamily="34" charset="-120"/>
              </a:rPr>
              <a:t>$3.49</a:t>
            </a:r>
            <a:endParaRPr lang="en-US" sz="600" dirty="0"/>
          </a:p>
        </p:txBody>
      </p:sp>
      <p:sp>
        <p:nvSpPr>
          <p:cNvPr id="123" name="Shape 121"/>
          <p:cNvSpPr/>
          <p:nvPr/>
        </p:nvSpPr>
        <p:spPr>
          <a:xfrm>
            <a:off x="4916024" y="3002230"/>
            <a:ext cx="1805565" cy="5471"/>
          </a:xfrm>
          <a:prstGeom prst="rect">
            <a:avLst/>
          </a:prstGeom>
          <a:solidFill>
            <a:srgbClr val="BBBBBB"/>
          </a:solidFill>
          <a:ln/>
        </p:spPr>
      </p:sp>
      <p:sp>
        <p:nvSpPr>
          <p:cNvPr id="124" name="Text 122"/>
          <p:cNvSpPr txBox="1"/>
          <p:nvPr/>
        </p:nvSpPr>
        <p:spPr>
          <a:xfrm>
            <a:off x="4916024" y="3067887"/>
            <a:ext cx="1094282" cy="142257"/>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Subtotal</a:t>
            </a:r>
            <a:endParaRPr lang="en-US" sz="600" dirty="0"/>
          </a:p>
        </p:txBody>
      </p:sp>
      <p:sp>
        <p:nvSpPr>
          <p:cNvPr id="125" name="Text 123"/>
          <p:cNvSpPr txBox="1"/>
          <p:nvPr/>
        </p:nvSpPr>
        <p:spPr>
          <a:xfrm>
            <a:off x="6174449" y="3067887"/>
            <a:ext cx="547141" cy="142257"/>
          </a:xfrm>
          <a:prstGeom prst="rect">
            <a:avLst/>
          </a:prstGeom>
          <a:noFill/>
          <a:ln/>
        </p:spPr>
        <p:txBody>
          <a:bodyPr wrap="square" lIns="12700" tIns="12700" rIns="12700" bIns="12700" rtlCol="0" anchor="ctr"/>
          <a:lstStyle/>
          <a:p>
            <a:pPr algn="r" indent="0" marL="0">
              <a:lnSpc>
                <a:spcPct val="95000"/>
              </a:lnSpc>
              <a:buNone/>
            </a:pPr>
            <a:r>
              <a:rPr lang="en-US" sz="600" dirty="0">
                <a:solidFill>
                  <a:srgbClr val="333333"/>
                </a:solidFill>
                <a:latin typeface="Arial" pitchFamily="34" charset="0"/>
                <a:ea typeface="Arial" pitchFamily="34" charset="-122"/>
                <a:cs typeface="Arial" pitchFamily="34" charset="-120"/>
              </a:rPr>
              <a:t>$28.97</a:t>
            </a:r>
            <a:endParaRPr lang="en-US" sz="600" dirty="0"/>
          </a:p>
        </p:txBody>
      </p:sp>
      <p:sp>
        <p:nvSpPr>
          <p:cNvPr id="126" name="Text 124"/>
          <p:cNvSpPr txBox="1"/>
          <p:nvPr/>
        </p:nvSpPr>
        <p:spPr>
          <a:xfrm>
            <a:off x="4916024" y="3232029"/>
            <a:ext cx="1094282" cy="142257"/>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HST (14%)</a:t>
            </a:r>
            <a:endParaRPr lang="en-US" sz="600" dirty="0"/>
          </a:p>
        </p:txBody>
      </p:sp>
      <p:sp>
        <p:nvSpPr>
          <p:cNvPr id="127" name="Text 125"/>
          <p:cNvSpPr txBox="1"/>
          <p:nvPr/>
        </p:nvSpPr>
        <p:spPr>
          <a:xfrm>
            <a:off x="6174449" y="3232029"/>
            <a:ext cx="547141" cy="142257"/>
          </a:xfrm>
          <a:prstGeom prst="rect">
            <a:avLst/>
          </a:prstGeom>
          <a:noFill/>
          <a:ln/>
        </p:spPr>
        <p:txBody>
          <a:bodyPr wrap="square" lIns="12700" tIns="12700" rIns="12700" bIns="12700" rtlCol="0" anchor="ctr"/>
          <a:lstStyle/>
          <a:p>
            <a:pPr algn="r" indent="0" marL="0">
              <a:lnSpc>
                <a:spcPct val="95000"/>
              </a:lnSpc>
              <a:buNone/>
            </a:pPr>
            <a:r>
              <a:rPr lang="en-US" sz="600" dirty="0">
                <a:solidFill>
                  <a:srgbClr val="333333"/>
                </a:solidFill>
                <a:latin typeface="Arial" pitchFamily="34" charset="0"/>
                <a:ea typeface="Arial" pitchFamily="34" charset="-122"/>
                <a:cs typeface="Arial" pitchFamily="34" charset="-120"/>
              </a:rPr>
              <a:t>$4.06</a:t>
            </a:r>
            <a:endParaRPr lang="en-US" sz="600" dirty="0"/>
          </a:p>
        </p:txBody>
      </p:sp>
      <p:sp>
        <p:nvSpPr>
          <p:cNvPr id="128" name="Text 126"/>
          <p:cNvSpPr txBox="1"/>
          <p:nvPr/>
        </p:nvSpPr>
        <p:spPr>
          <a:xfrm>
            <a:off x="4916024" y="3396172"/>
            <a:ext cx="1094282" cy="142257"/>
          </a:xfrm>
          <a:prstGeom prst="rect">
            <a:avLst/>
          </a:prstGeom>
          <a:noFill/>
          <a:ln/>
        </p:spPr>
        <p:txBody>
          <a:bodyPr wrap="square" lIns="12700" tIns="12700" rIns="12700" bIns="12700" rtlCol="0" anchor="ctr"/>
          <a:lstStyle/>
          <a:p>
            <a:pPr algn="l" indent="0" marL="0">
              <a:lnSpc>
                <a:spcPct val="95000"/>
              </a:lnSpc>
              <a:buNone/>
            </a:pPr>
            <a:r>
              <a:rPr lang="en-US" sz="750" b="1" dirty="0">
                <a:solidFill>
                  <a:srgbClr val="333333"/>
                </a:solidFill>
                <a:latin typeface="Arial" pitchFamily="34" charset="0"/>
                <a:ea typeface="Arial" pitchFamily="34" charset="-122"/>
                <a:cs typeface="Arial" pitchFamily="34" charset="-120"/>
              </a:rPr>
              <a:t>Total</a:t>
            </a:r>
            <a:endParaRPr lang="en-US" sz="750" dirty="0"/>
          </a:p>
        </p:txBody>
      </p:sp>
      <p:sp>
        <p:nvSpPr>
          <p:cNvPr id="129" name="Text 127"/>
          <p:cNvSpPr txBox="1"/>
          <p:nvPr/>
        </p:nvSpPr>
        <p:spPr>
          <a:xfrm>
            <a:off x="6174449" y="3396172"/>
            <a:ext cx="547141" cy="142257"/>
          </a:xfrm>
          <a:prstGeom prst="rect">
            <a:avLst/>
          </a:prstGeom>
          <a:noFill/>
          <a:ln/>
        </p:spPr>
        <p:txBody>
          <a:bodyPr wrap="square" lIns="12700" tIns="12700" rIns="12700" bIns="12700" rtlCol="0" anchor="ctr"/>
          <a:lstStyle/>
          <a:p>
            <a:pPr algn="r" indent="0" marL="0">
              <a:lnSpc>
                <a:spcPct val="95000"/>
              </a:lnSpc>
              <a:buNone/>
            </a:pPr>
            <a:r>
              <a:rPr lang="en-US" sz="750" b="1" dirty="0">
                <a:solidFill>
                  <a:srgbClr val="333333"/>
                </a:solidFill>
                <a:latin typeface="Arial" pitchFamily="34" charset="0"/>
                <a:ea typeface="Arial" pitchFamily="34" charset="-122"/>
                <a:cs typeface="Arial" pitchFamily="34" charset="-120"/>
              </a:rPr>
              <a:t>$33.03</a:t>
            </a:r>
            <a:endParaRPr lang="en-US" sz="750" dirty="0"/>
          </a:p>
        </p:txBody>
      </p:sp>
      <p:sp>
        <p:nvSpPr>
          <p:cNvPr id="130" name="Shape 128"/>
          <p:cNvSpPr/>
          <p:nvPr/>
        </p:nvSpPr>
        <p:spPr>
          <a:xfrm>
            <a:off x="4916024" y="3636914"/>
            <a:ext cx="1805565" cy="262628"/>
          </a:xfrm>
          <a:prstGeom prst="roundRect">
            <a:avLst>
              <a:gd name="adj" fmla="val 15000"/>
            </a:avLst>
          </a:prstGeom>
          <a:solidFill>
            <a:srgbClr val="555555"/>
          </a:solidFill>
          <a:ln w="6350">
            <a:solidFill>
              <a:srgbClr val="555555"/>
            </a:solidFill>
            <a:prstDash val="solid"/>
          </a:ln>
        </p:spPr>
      </p:sp>
      <p:sp>
        <p:nvSpPr>
          <p:cNvPr id="131" name="Text 129"/>
          <p:cNvSpPr txBox="1"/>
          <p:nvPr/>
        </p:nvSpPr>
        <p:spPr>
          <a:xfrm>
            <a:off x="4916024" y="3636914"/>
            <a:ext cx="1805565" cy="262628"/>
          </a:xfrm>
          <a:prstGeom prst="rect">
            <a:avLst/>
          </a:prstGeom>
          <a:noFill/>
          <a:ln/>
        </p:spPr>
        <p:txBody>
          <a:bodyPr wrap="square" lIns="12700" tIns="12700" rIns="12700" bIns="12700" rtlCol="0" anchor="ctr"/>
          <a:lstStyle/>
          <a:p>
            <a:pPr algn="ctr" indent="0" marL="0">
              <a:lnSpc>
                <a:spcPct val="95000"/>
              </a:lnSpc>
              <a:buNone/>
            </a:pPr>
            <a:r>
              <a:rPr lang="en-US" sz="750" b="1" dirty="0">
                <a:solidFill>
                  <a:srgbClr val="FFFFFF"/>
                </a:solidFill>
                <a:latin typeface="Arial" pitchFamily="34" charset="0"/>
                <a:ea typeface="Arial" pitchFamily="34" charset="-122"/>
                <a:cs typeface="Arial" pitchFamily="34" charset="-120"/>
              </a:rPr>
              <a:t>Checkout</a:t>
            </a:r>
            <a:endParaRPr lang="en-US" sz="750" dirty="0"/>
          </a:p>
        </p:txBody>
      </p:sp>
      <p:sp>
        <p:nvSpPr>
          <p:cNvPr id="132" name="Text 130"/>
          <p:cNvSpPr txBox="1"/>
          <p:nvPr/>
        </p:nvSpPr>
        <p:spPr>
          <a:xfrm>
            <a:off x="4916024" y="3954255"/>
            <a:ext cx="1805565" cy="131314"/>
          </a:xfrm>
          <a:prstGeom prst="rect">
            <a:avLst/>
          </a:prstGeom>
          <a:noFill/>
          <a:ln/>
        </p:spPr>
        <p:txBody>
          <a:bodyPr wrap="square" lIns="12700" tIns="12700" rIns="12700" bIns="12700" rtlCol="0" anchor="ctr"/>
          <a:lstStyle/>
          <a:p>
            <a:pPr algn="ctr" indent="0" marL="0">
              <a:lnSpc>
                <a:spcPct val="95000"/>
              </a:lnSpc>
              <a:buNone/>
            </a:pPr>
            <a:r>
              <a:rPr lang="en-US" sz="550" dirty="0">
                <a:solidFill>
                  <a:srgbClr val="777777"/>
                </a:solidFill>
                <a:latin typeface="Arial" pitchFamily="34" charset="0"/>
                <a:ea typeface="Arial" pitchFamily="34" charset="-122"/>
                <a:cs typeface="Arial" pitchFamily="34" charset="-120"/>
              </a:rPr>
              <a:t>Pickup · ASAP</a:t>
            </a:r>
            <a:endParaRPr lang="en-US" sz="550" dirty="0"/>
          </a:p>
        </p:txBody>
      </p:sp>
      <p:sp>
        <p:nvSpPr>
          <p:cNvPr id="133" name="Shape 131"/>
          <p:cNvSpPr/>
          <p:nvPr/>
        </p:nvSpPr>
        <p:spPr>
          <a:xfrm>
            <a:off x="4751882" y="1743806"/>
            <a:ext cx="2133850" cy="2516849"/>
          </a:xfrm>
          <a:prstGeom prst="roundRect">
            <a:avLst>
              <a:gd name="adj" fmla="val 3428"/>
            </a:avLst>
          </a:prstGeom>
          <a:ln w="44450">
            <a:solidFill>
              <a:srgbClr val="E97132"/>
            </a:solidFill>
            <a:prstDash val="solid"/>
          </a:ln>
        </p:spPr>
      </p:sp>
      <p:sp>
        <p:nvSpPr>
          <p:cNvPr id="134" name="Text 132"/>
          <p:cNvSpPr txBox="1"/>
          <p:nvPr/>
        </p:nvSpPr>
        <p:spPr>
          <a:xfrm>
            <a:off x="7315200" y="457200"/>
            <a:ext cx="4465015" cy="320040"/>
          </a:xfrm>
          <a:prstGeom prst="rect">
            <a:avLst/>
          </a:prstGeom>
          <a:noFill/>
          <a:ln/>
        </p:spPr>
        <p:txBody>
          <a:bodyPr wrap="square" lIns="0" tIns="0" rIns="0" bIns="0" rtlCol="0" anchor="ctr"/>
          <a:lstStyle/>
          <a:p>
            <a:pPr indent="0" marL="0">
              <a:buNone/>
            </a:pPr>
            <a:r>
              <a:rPr lang="en-US" sz="1300" b="1" spc="100" kern="0" dirty="0">
                <a:solidFill>
                  <a:srgbClr val="595959"/>
                </a:solidFill>
                <a:latin typeface="Aptos" pitchFamily="34" charset="0"/>
                <a:ea typeface="Aptos" pitchFamily="34" charset="-122"/>
                <a:cs typeface="Aptos" pitchFamily="34" charset="-120"/>
              </a:rPr>
              <a:t>GUIDED EXAMPLE · STEP 4</a:t>
            </a:r>
            <a:endParaRPr lang="en-US" sz="1300" dirty="0"/>
          </a:p>
        </p:txBody>
      </p:sp>
      <p:sp>
        <p:nvSpPr>
          <p:cNvPr id="135" name="Text 133"/>
          <p:cNvSpPr txBox="1"/>
          <p:nvPr/>
        </p:nvSpPr>
        <p:spPr>
          <a:xfrm>
            <a:off x="7315200" y="777240"/>
            <a:ext cx="4465015" cy="594360"/>
          </a:xfrm>
          <a:prstGeom prst="rect">
            <a:avLst/>
          </a:prstGeom>
          <a:noFill/>
          <a:ln/>
        </p:spPr>
        <p:txBody>
          <a:bodyPr wrap="square" lIns="0" tIns="0" rIns="0" bIns="0" rtlCol="0" anchor="t"/>
          <a:lstStyle/>
          <a:p>
            <a:pPr indent="0" marL="0">
              <a:buNone/>
            </a:pPr>
            <a:r>
              <a:rPr lang="en-US" sz="2800" dirty="0">
                <a:solidFill>
                  <a:srgbClr val="000000"/>
                </a:solidFill>
                <a:latin typeface="Aptos" pitchFamily="34" charset="0"/>
                <a:ea typeface="Aptos" pitchFamily="34" charset="-122"/>
                <a:cs typeface="Aptos" pitchFamily="34" charset="-120"/>
              </a:rPr>
              <a:t>Your Order Summary</a:t>
            </a:r>
            <a:endParaRPr lang="en-US" sz="2800" dirty="0"/>
          </a:p>
        </p:txBody>
      </p:sp>
      <p:sp>
        <p:nvSpPr>
          <p:cNvPr id="136" name="Shape 134"/>
          <p:cNvSpPr/>
          <p:nvPr/>
        </p:nvSpPr>
        <p:spPr>
          <a:xfrm>
            <a:off x="7315200" y="1463040"/>
            <a:ext cx="914400" cy="310896"/>
          </a:xfrm>
          <a:prstGeom prst="roundRect">
            <a:avLst>
              <a:gd name="adj" fmla="val 50000"/>
            </a:avLst>
          </a:prstGeom>
          <a:solidFill>
            <a:srgbClr val="E97132"/>
          </a:solidFill>
          <a:ln w="12700">
            <a:solidFill>
              <a:srgbClr val="E97132"/>
            </a:solidFill>
            <a:prstDash val="solid"/>
          </a:ln>
        </p:spPr>
      </p:sp>
      <p:sp>
        <p:nvSpPr>
          <p:cNvPr id="137" name="Text 135"/>
          <p:cNvSpPr txBox="1"/>
          <p:nvPr/>
        </p:nvSpPr>
        <p:spPr>
          <a:xfrm>
            <a:off x="7315200" y="1463040"/>
            <a:ext cx="91440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ptos" pitchFamily="34" charset="0"/>
                <a:ea typeface="Aptos" pitchFamily="34" charset="-122"/>
                <a:cs typeface="Aptos" pitchFamily="34" charset="-120"/>
              </a:rPr>
              <a:t>STORY 3</a:t>
            </a:r>
            <a:endParaRPr lang="en-US" sz="1100" dirty="0"/>
          </a:p>
        </p:txBody>
      </p:sp>
      <p:sp>
        <p:nvSpPr>
          <p:cNvPr id="138" name="Text 136"/>
          <p:cNvSpPr txBox="1"/>
          <p:nvPr/>
        </p:nvSpPr>
        <p:spPr>
          <a:xfrm>
            <a:off x="7315200" y="1965960"/>
            <a:ext cx="4465015" cy="2743200"/>
          </a:xfrm>
          <a:prstGeom prst="rect">
            <a:avLst/>
          </a:prstGeom>
          <a:noFill/>
          <a:ln/>
        </p:spPr>
        <p:txBody>
          <a:bodyPr wrap="square" lIns="0" tIns="0" rIns="0" bIns="0" rtlCol="0" anchor="t"/>
          <a:lstStyle/>
          <a:p>
            <a:pPr marL="342900" indent="-342900">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A grey panel on the right: </a:t>
            </a:r>
            <a:pPr indent="0" marL="0">
              <a:buNone/>
            </a:pPr>
            <a:r>
              <a:rPr lang="en-US" sz="1450" b="1" dirty="0">
                <a:solidFill>
                  <a:srgbClr val="262626"/>
                </a:solidFill>
                <a:latin typeface="Aptos" pitchFamily="34" charset="0"/>
                <a:ea typeface="Aptos" pitchFamily="34" charset="-122"/>
                <a:cs typeface="Aptos" pitchFamily="34" charset="-120"/>
              </a:rPr>
              <a:t>Your Order</a:t>
            </a:r>
            <a:pPr indent="0" marL="0">
              <a:buNone/>
            </a:pPr>
            <a:r>
              <a:rPr lang="en-US" sz="1450" dirty="0">
                <a:solidFill>
                  <a:srgbClr val="262626"/>
                </a:solidFill>
                <a:latin typeface="Aptos" pitchFamily="34" charset="0"/>
                <a:ea typeface="Aptos" pitchFamily="34" charset="-122"/>
                <a:cs typeface="Aptos" pitchFamily="34" charset="-120"/>
              </a:rPr>
              <a:t>.</a:t>
            </a:r>
            <a:endParaRPr lang="en-US" sz="1450" dirty="0"/>
          </a:p>
          <a:p>
            <a:pPr marL="342900" indent="-342900">
              <a:spcBef>
                <a:spcPts val="800"/>
              </a:spcBef>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Three items, each with </a:t>
            </a:r>
            <a:pPr indent="0" marL="0">
              <a:buNone/>
            </a:pPr>
            <a:r>
              <a:rPr lang="en-US" sz="1450" b="1" dirty="0">
                <a:solidFill>
                  <a:srgbClr val="262626"/>
                </a:solidFill>
                <a:latin typeface="Aptos" pitchFamily="34" charset="0"/>
                <a:ea typeface="Aptos" pitchFamily="34" charset="-122"/>
                <a:cs typeface="Aptos" pitchFamily="34" charset="-120"/>
              </a:rPr>
              <a:t>− 1 +</a:t>
            </a:r>
            <a:pPr indent="0" marL="0">
              <a:buNone/>
            </a:pPr>
            <a:r>
              <a:rPr lang="en-US" sz="1450" dirty="0">
                <a:solidFill>
                  <a:srgbClr val="262626"/>
                </a:solidFill>
                <a:latin typeface="Aptos" pitchFamily="34" charset="0"/>
                <a:ea typeface="Aptos" pitchFamily="34" charset="-122"/>
                <a:cs typeface="Aptos" pitchFamily="34" charset="-120"/>
              </a:rPr>
              <a:t> and a price.</a:t>
            </a:r>
            <a:endParaRPr lang="en-US" sz="1450" dirty="0"/>
          </a:p>
          <a:p>
            <a:pPr marL="342900" indent="-342900">
              <a:spcBef>
                <a:spcPts val="800"/>
              </a:spcBef>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Subtotal, HST (14%), and a bold </a:t>
            </a:r>
            <a:pPr indent="0" marL="0">
              <a:buNone/>
            </a:pPr>
            <a:r>
              <a:rPr lang="en-US" sz="1450" b="1" dirty="0">
                <a:solidFill>
                  <a:srgbClr val="262626"/>
                </a:solidFill>
                <a:latin typeface="Aptos" pitchFamily="34" charset="0"/>
                <a:ea typeface="Aptos" pitchFamily="34" charset="-122"/>
                <a:cs typeface="Aptos" pitchFamily="34" charset="-120"/>
              </a:rPr>
              <a:t>Total</a:t>
            </a:r>
            <a:pPr indent="0" marL="0">
              <a:buNone/>
            </a:pPr>
            <a:r>
              <a:rPr lang="en-US" sz="1450" dirty="0">
                <a:solidFill>
                  <a:srgbClr val="262626"/>
                </a:solidFill>
                <a:latin typeface="Aptos" pitchFamily="34" charset="0"/>
                <a:ea typeface="Aptos" pitchFamily="34" charset="-122"/>
                <a:cs typeface="Aptos" pitchFamily="34" charset="-120"/>
              </a:rPr>
              <a:t>.</a:t>
            </a:r>
            <a:endParaRPr lang="en-US" sz="1450" dirty="0"/>
          </a:p>
          <a:p>
            <a:pPr marL="342900" indent="-342900">
              <a:spcBef>
                <a:spcPts val="800"/>
              </a:spcBef>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A big </a:t>
            </a:r>
            <a:pPr indent="0" marL="0">
              <a:buNone/>
            </a:pPr>
            <a:r>
              <a:rPr lang="en-US" sz="1450" b="1" dirty="0">
                <a:solidFill>
                  <a:srgbClr val="262626"/>
                </a:solidFill>
                <a:latin typeface="Aptos" pitchFamily="34" charset="0"/>
                <a:ea typeface="Aptos" pitchFamily="34" charset="-122"/>
                <a:cs typeface="Aptos" pitchFamily="34" charset="-120"/>
              </a:rPr>
              <a:t>Checkout</a:t>
            </a:r>
            <a:pPr indent="0" marL="0">
              <a:buNone/>
            </a:pPr>
            <a:r>
              <a:rPr lang="en-US" sz="1450" dirty="0">
                <a:solidFill>
                  <a:srgbClr val="262626"/>
                </a:solidFill>
                <a:latin typeface="Aptos" pitchFamily="34" charset="0"/>
                <a:ea typeface="Aptos" pitchFamily="34" charset="-122"/>
                <a:cs typeface="Aptos" pitchFamily="34" charset="-120"/>
              </a:rPr>
              <a:t> button. It's the only filled button in the panel.</a:t>
            </a:r>
            <a:endParaRPr lang="en-US" sz="1450" dirty="0"/>
          </a:p>
        </p:txBody>
      </p:sp>
      <p:sp>
        <p:nvSpPr>
          <p:cNvPr id="139" name="Shape 137"/>
          <p:cNvSpPr/>
          <p:nvPr/>
        </p:nvSpPr>
        <p:spPr>
          <a:xfrm>
            <a:off x="7315200" y="4846320"/>
            <a:ext cx="4465015" cy="1508760"/>
          </a:xfrm>
          <a:prstGeom prst="roundRect">
            <a:avLst>
              <a:gd name="adj" fmla="val 7273"/>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40" name="Shape 138"/>
          <p:cNvSpPr/>
          <p:nvPr/>
        </p:nvSpPr>
        <p:spPr>
          <a:xfrm>
            <a:off x="7498080" y="5029200"/>
            <a:ext cx="411480" cy="411480"/>
          </a:xfrm>
          <a:prstGeom prst="ellipse">
            <a:avLst/>
          </a:prstGeom>
          <a:solidFill>
            <a:srgbClr val="A02B93"/>
          </a:solidFill>
          <a:ln w="12700">
            <a:solidFill>
              <a:srgbClr val="A02B93"/>
            </a:solidFill>
            <a:prstDash val="solid"/>
          </a:ln>
        </p:spPr>
      </p:sp>
      <p:sp>
        <p:nvSpPr>
          <p:cNvPr id="141" name="Text 139"/>
          <p:cNvSpPr txBox="1"/>
          <p:nvPr/>
        </p:nvSpPr>
        <p:spPr>
          <a:xfrm>
            <a:off x="7498080" y="50292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a:t>
            </a:r>
            <a:endParaRPr lang="en-US" sz="1300" dirty="0"/>
          </a:p>
        </p:txBody>
      </p:sp>
      <p:sp>
        <p:nvSpPr>
          <p:cNvPr id="142" name="Text 140"/>
          <p:cNvSpPr txBox="1"/>
          <p:nvPr/>
        </p:nvSpPr>
        <p:spPr>
          <a:xfrm>
            <a:off x="8046720" y="5029200"/>
            <a:ext cx="3550615" cy="411480"/>
          </a:xfrm>
          <a:prstGeom prst="rect">
            <a:avLst/>
          </a:prstGeom>
          <a:noFill/>
          <a:ln/>
        </p:spPr>
        <p:txBody>
          <a:bodyPr wrap="square" lIns="0" tIns="0" rIns="0" bIns="0" rtlCol="0" anchor="ctr"/>
          <a:lstStyle/>
          <a:p>
            <a:pPr indent="0" marL="0">
              <a:buNone/>
            </a:pPr>
            <a:r>
              <a:rPr lang="en-US" sz="1500" b="1" dirty="0">
                <a:solidFill>
                  <a:srgbClr val="000000"/>
                </a:solidFill>
                <a:latin typeface="Aptos" pitchFamily="34" charset="0"/>
                <a:ea typeface="Aptos" pitchFamily="34" charset="-122"/>
                <a:cs typeface="Aptos" pitchFamily="34" charset="-120"/>
              </a:rPr>
              <a:t>Ask the class</a:t>
            </a:r>
            <a:endParaRPr lang="en-US" sz="1500" dirty="0"/>
          </a:p>
        </p:txBody>
      </p:sp>
      <p:sp>
        <p:nvSpPr>
          <p:cNvPr id="143" name="Text 141"/>
          <p:cNvSpPr txBox="1"/>
          <p:nvPr/>
        </p:nvSpPr>
        <p:spPr>
          <a:xfrm>
            <a:off x="7543800" y="5532120"/>
            <a:ext cx="4053535" cy="731520"/>
          </a:xfrm>
          <a:prstGeom prst="rect">
            <a:avLst/>
          </a:prstGeom>
          <a:noFill/>
          <a:ln/>
        </p:spPr>
        <p:txBody>
          <a:bodyPr wrap="square" lIns="0" tIns="0" rIns="0" bIns="0" rtlCol="0" anchor="t"/>
          <a:lstStyle/>
          <a:p>
            <a:pPr indent="0" marL="0">
              <a:buNone/>
            </a:pPr>
            <a:r>
              <a:rPr lang="en-US" sz="1400" i="1" dirty="0">
                <a:solidFill>
                  <a:srgbClr val="262626"/>
                </a:solidFill>
                <a:latin typeface="Aptos" pitchFamily="34" charset="0"/>
                <a:ea typeface="Aptos" pitchFamily="34" charset="-122"/>
                <a:cs typeface="Aptos" pitchFamily="34" charset="-120"/>
              </a:rPr>
              <a:t>Is this panel an &lt;aside&gt; or a &lt;section&gt;?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374754" y="529153"/>
            <a:ext cx="6565692" cy="5799694"/>
          </a:xfrm>
          <a:prstGeom prst="rect">
            <a:avLst/>
          </a:prstGeom>
          <a:solidFill>
            <a:srgbClr val="FFFFFF"/>
          </a:solidFill>
          <a:ln w="10943">
            <a:solidFill>
              <a:srgbClr val="333333"/>
            </a:solidFill>
            <a:prstDash val="solid"/>
          </a:ln>
        </p:spPr>
      </p:sp>
      <p:sp>
        <p:nvSpPr>
          <p:cNvPr id="3" name="Shape 1"/>
          <p:cNvSpPr/>
          <p:nvPr/>
        </p:nvSpPr>
        <p:spPr>
          <a:xfrm>
            <a:off x="374754" y="529153"/>
            <a:ext cx="6565692" cy="196971"/>
          </a:xfrm>
          <a:prstGeom prst="rect">
            <a:avLst/>
          </a:prstGeom>
          <a:solidFill>
            <a:srgbClr val="EEEEEE"/>
          </a:solidFill>
          <a:ln w="10943">
            <a:solidFill>
              <a:srgbClr val="333333"/>
            </a:solidFill>
            <a:prstDash val="solid"/>
          </a:ln>
        </p:spPr>
      </p:sp>
      <p:sp>
        <p:nvSpPr>
          <p:cNvPr id="4" name="Shape 2"/>
          <p:cNvSpPr/>
          <p:nvPr/>
        </p:nvSpPr>
        <p:spPr>
          <a:xfrm>
            <a:off x="921895" y="561981"/>
            <a:ext cx="2735705" cy="131314"/>
          </a:xfrm>
          <a:prstGeom prst="roundRect">
            <a:avLst>
              <a:gd name="adj" fmla="val 50000"/>
            </a:avLst>
          </a:prstGeom>
          <a:solidFill>
            <a:srgbClr val="FFFFFF"/>
          </a:solidFill>
          <a:ln w="6350">
            <a:solidFill>
              <a:srgbClr val="BBBBBB"/>
            </a:solidFill>
            <a:prstDash val="solid"/>
          </a:ln>
        </p:spPr>
      </p:sp>
      <p:sp>
        <p:nvSpPr>
          <p:cNvPr id="5" name="Text 3"/>
          <p:cNvSpPr txBox="1"/>
          <p:nvPr/>
        </p:nvSpPr>
        <p:spPr>
          <a:xfrm>
            <a:off x="921895" y="561981"/>
            <a:ext cx="2735705" cy="131314"/>
          </a:xfrm>
          <a:prstGeom prst="rect">
            <a:avLst/>
          </a:prstGeom>
          <a:noFill/>
          <a:ln/>
        </p:spPr>
        <p:txBody>
          <a:bodyPr wrap="square" lIns="12700" tIns="57150" rIns="12700" bIns="12700" rtlCol="0" anchor="ctr"/>
          <a:lstStyle/>
          <a:p>
            <a:pPr algn="l" indent="0" marL="0">
              <a:lnSpc>
                <a:spcPct val="95000"/>
              </a:lnSpc>
              <a:buNone/>
            </a:pPr>
            <a:r>
              <a:rPr lang="en-US" sz="500" dirty="0">
                <a:solidFill>
                  <a:srgbClr val="666666"/>
                </a:solidFill>
                <a:latin typeface="Arial" pitchFamily="34" charset="0"/>
                <a:ea typeface="Arial" pitchFamily="34" charset="-122"/>
                <a:cs typeface="Arial" pitchFamily="34" charset="-120"/>
              </a:rPr>
              <a:t>harbourside.ca/order</a:t>
            </a:r>
            <a:endParaRPr lang="en-US" sz="500" dirty="0"/>
          </a:p>
        </p:txBody>
      </p:sp>
      <p:sp>
        <p:nvSpPr>
          <p:cNvPr id="6" name="Shape 4"/>
          <p:cNvSpPr/>
          <p:nvPr/>
        </p:nvSpPr>
        <p:spPr>
          <a:xfrm>
            <a:off x="451354" y="594810"/>
            <a:ext cx="65657" cy="65657"/>
          </a:xfrm>
          <a:prstGeom prst="ellipse">
            <a:avLst/>
          </a:prstGeom>
          <a:solidFill>
            <a:srgbClr val="CCCCCC"/>
          </a:solidFill>
          <a:ln/>
        </p:spPr>
      </p:sp>
      <p:sp>
        <p:nvSpPr>
          <p:cNvPr id="7" name="Shape 5"/>
          <p:cNvSpPr/>
          <p:nvPr/>
        </p:nvSpPr>
        <p:spPr>
          <a:xfrm>
            <a:off x="560782" y="594810"/>
            <a:ext cx="65657" cy="65657"/>
          </a:xfrm>
          <a:prstGeom prst="ellipse">
            <a:avLst/>
          </a:prstGeom>
          <a:solidFill>
            <a:srgbClr val="CCCCCC"/>
          </a:solidFill>
          <a:ln/>
        </p:spPr>
      </p:sp>
      <p:sp>
        <p:nvSpPr>
          <p:cNvPr id="8" name="Shape 6"/>
          <p:cNvSpPr/>
          <p:nvPr/>
        </p:nvSpPr>
        <p:spPr>
          <a:xfrm>
            <a:off x="670210" y="594810"/>
            <a:ext cx="65657" cy="65657"/>
          </a:xfrm>
          <a:prstGeom prst="ellipse">
            <a:avLst/>
          </a:prstGeom>
          <a:solidFill>
            <a:srgbClr val="CCCCCC"/>
          </a:solidFill>
          <a:ln/>
        </p:spPr>
      </p:sp>
      <p:sp>
        <p:nvSpPr>
          <p:cNvPr id="9" name="Shape 7"/>
          <p:cNvSpPr/>
          <p:nvPr/>
        </p:nvSpPr>
        <p:spPr>
          <a:xfrm>
            <a:off x="484182" y="808195"/>
            <a:ext cx="273570" cy="273570"/>
          </a:xfrm>
          <a:prstGeom prst="rect">
            <a:avLst/>
          </a:prstGeom>
          <a:solidFill>
            <a:srgbClr val="FFFFFF"/>
          </a:solidFill>
          <a:ln w="6350">
            <a:solidFill>
              <a:srgbClr val="999999"/>
            </a:solidFill>
            <a:prstDash val="solid"/>
          </a:ln>
        </p:spPr>
      </p:sp>
      <p:sp>
        <p:nvSpPr>
          <p:cNvPr id="10" name="Shape 8"/>
          <p:cNvSpPr/>
          <p:nvPr/>
        </p:nvSpPr>
        <p:spPr>
          <a:xfrm>
            <a:off x="484182" y="808195"/>
            <a:ext cx="273570" cy="273570"/>
          </a:xfrm>
          <a:prstGeom prst="line">
            <a:avLst/>
          </a:prstGeom>
          <a:noFill/>
          <a:ln w="6350">
            <a:solidFill>
              <a:srgbClr val="999999"/>
            </a:solidFill>
            <a:prstDash val="solid"/>
          </a:ln>
        </p:spPr>
      </p:sp>
      <p:sp>
        <p:nvSpPr>
          <p:cNvPr id="11" name="Shape 9"/>
          <p:cNvSpPr/>
          <p:nvPr/>
        </p:nvSpPr>
        <p:spPr>
          <a:xfrm flipV="1">
            <a:off x="484182" y="808195"/>
            <a:ext cx="273570" cy="273570"/>
          </a:xfrm>
          <a:prstGeom prst="line">
            <a:avLst/>
          </a:prstGeom>
          <a:noFill/>
          <a:ln w="6350">
            <a:solidFill>
              <a:srgbClr val="999999"/>
            </a:solidFill>
            <a:prstDash val="solid"/>
          </a:ln>
        </p:spPr>
      </p:sp>
      <p:sp>
        <p:nvSpPr>
          <p:cNvPr id="12" name="Text 10"/>
          <p:cNvSpPr txBox="1"/>
          <p:nvPr/>
        </p:nvSpPr>
        <p:spPr>
          <a:xfrm>
            <a:off x="812467" y="835552"/>
            <a:ext cx="1531995" cy="218856"/>
          </a:xfrm>
          <a:prstGeom prst="rect">
            <a:avLst/>
          </a:prstGeom>
          <a:noFill/>
          <a:ln/>
        </p:spPr>
        <p:txBody>
          <a:bodyPr wrap="square" lIns="12700" tIns="12700" rIns="12700" bIns="12700" rtlCol="0" anchor="ctr"/>
          <a:lstStyle/>
          <a:p>
            <a:pPr algn="l" indent="0" marL="0">
              <a:lnSpc>
                <a:spcPct val="95000"/>
              </a:lnSpc>
              <a:buNone/>
            </a:pPr>
            <a:r>
              <a:rPr lang="en-US" sz="850" b="1" dirty="0">
                <a:solidFill>
                  <a:srgbClr val="333333"/>
                </a:solidFill>
                <a:latin typeface="Arial" pitchFamily="34" charset="0"/>
                <a:ea typeface="Arial" pitchFamily="34" charset="-122"/>
                <a:cs typeface="Arial" pitchFamily="34" charset="-120"/>
              </a:rPr>
              <a:t>Harbourside Fish &amp; Chips</a:t>
            </a:r>
            <a:endParaRPr lang="en-US" sz="850" dirty="0"/>
          </a:p>
        </p:txBody>
      </p:sp>
      <p:sp>
        <p:nvSpPr>
          <p:cNvPr id="13" name="Text 11"/>
          <p:cNvSpPr txBox="1"/>
          <p:nvPr/>
        </p:nvSpPr>
        <p:spPr>
          <a:xfrm>
            <a:off x="3001031" y="879323"/>
            <a:ext cx="711283" cy="131314"/>
          </a:xfrm>
          <a:prstGeom prst="rect">
            <a:avLst/>
          </a:prstGeom>
          <a:noFill/>
          <a:ln/>
        </p:spPr>
        <p:txBody>
          <a:bodyPr wrap="square" lIns="12700" tIns="12700" rIns="12700" bIns="12700" rtlCol="0" anchor="ctr"/>
          <a:lstStyle/>
          <a:p>
            <a:pPr algn="l" indent="0" marL="0">
              <a:lnSpc>
                <a:spcPct val="95000"/>
              </a:lnSpc>
              <a:buNone/>
            </a:pPr>
            <a:r>
              <a:rPr lang="en-US" sz="650" dirty="0">
                <a:solidFill>
                  <a:srgbClr val="333333"/>
                </a:solidFill>
                <a:latin typeface="Arial" pitchFamily="34" charset="0"/>
                <a:ea typeface="Arial" pitchFamily="34" charset="-122"/>
                <a:cs typeface="Arial" pitchFamily="34" charset="-120"/>
              </a:rPr>
              <a:t>Menu</a:t>
            </a:r>
            <a:endParaRPr lang="en-US" sz="650" dirty="0"/>
          </a:p>
        </p:txBody>
      </p:sp>
      <p:sp>
        <p:nvSpPr>
          <p:cNvPr id="14" name="Text 12"/>
          <p:cNvSpPr txBox="1"/>
          <p:nvPr/>
        </p:nvSpPr>
        <p:spPr>
          <a:xfrm>
            <a:off x="3438744" y="879323"/>
            <a:ext cx="711283" cy="131314"/>
          </a:xfrm>
          <a:prstGeom prst="rect">
            <a:avLst/>
          </a:prstGeom>
          <a:noFill/>
          <a:ln/>
        </p:spPr>
        <p:txBody>
          <a:bodyPr wrap="square" lIns="12700" tIns="12700" rIns="12700" bIns="12700" rtlCol="0" anchor="ctr"/>
          <a:lstStyle/>
          <a:p>
            <a:pPr algn="l" indent="0" marL="0">
              <a:lnSpc>
                <a:spcPct val="95000"/>
              </a:lnSpc>
              <a:buNone/>
            </a:pPr>
            <a:r>
              <a:rPr lang="en-US" sz="650" b="1" u="sng" dirty="0">
                <a:solidFill>
                  <a:srgbClr val="333333"/>
                </a:solidFill>
                <a:latin typeface="Arial" pitchFamily="34" charset="0"/>
                <a:ea typeface="Arial" pitchFamily="34" charset="-122"/>
                <a:cs typeface="Arial" pitchFamily="34" charset="-120"/>
              </a:rPr>
              <a:t>Order Online</a:t>
            </a:r>
            <a:endParaRPr lang="en-US" sz="650" dirty="0"/>
          </a:p>
        </p:txBody>
      </p:sp>
      <p:sp>
        <p:nvSpPr>
          <p:cNvPr id="15" name="Text 13"/>
          <p:cNvSpPr txBox="1"/>
          <p:nvPr/>
        </p:nvSpPr>
        <p:spPr>
          <a:xfrm>
            <a:off x="4150027" y="879323"/>
            <a:ext cx="711283" cy="131314"/>
          </a:xfrm>
          <a:prstGeom prst="rect">
            <a:avLst/>
          </a:prstGeom>
          <a:noFill/>
          <a:ln/>
        </p:spPr>
        <p:txBody>
          <a:bodyPr wrap="square" lIns="12700" tIns="12700" rIns="12700" bIns="12700" rtlCol="0" anchor="ctr"/>
          <a:lstStyle/>
          <a:p>
            <a:pPr algn="l" indent="0" marL="0">
              <a:lnSpc>
                <a:spcPct val="95000"/>
              </a:lnSpc>
              <a:buNone/>
            </a:pPr>
            <a:r>
              <a:rPr lang="en-US" sz="650" dirty="0">
                <a:solidFill>
                  <a:srgbClr val="333333"/>
                </a:solidFill>
                <a:latin typeface="Arial" pitchFamily="34" charset="0"/>
                <a:ea typeface="Arial" pitchFamily="34" charset="-122"/>
                <a:cs typeface="Arial" pitchFamily="34" charset="-120"/>
              </a:rPr>
              <a:t>Hours &amp; Location</a:t>
            </a:r>
            <a:endParaRPr lang="en-US" sz="650" dirty="0"/>
          </a:p>
        </p:txBody>
      </p:sp>
      <p:sp>
        <p:nvSpPr>
          <p:cNvPr id="16" name="Text 14"/>
          <p:cNvSpPr txBox="1"/>
          <p:nvPr/>
        </p:nvSpPr>
        <p:spPr>
          <a:xfrm>
            <a:off x="4970738" y="879323"/>
            <a:ext cx="711283" cy="131314"/>
          </a:xfrm>
          <a:prstGeom prst="rect">
            <a:avLst/>
          </a:prstGeom>
          <a:noFill/>
          <a:ln/>
        </p:spPr>
        <p:txBody>
          <a:bodyPr wrap="square" lIns="12700" tIns="12700" rIns="12700" bIns="12700" rtlCol="0" anchor="ctr"/>
          <a:lstStyle/>
          <a:p>
            <a:pPr algn="l" indent="0" marL="0">
              <a:lnSpc>
                <a:spcPct val="95000"/>
              </a:lnSpc>
              <a:buNone/>
            </a:pPr>
            <a:r>
              <a:rPr lang="en-US" sz="650" dirty="0">
                <a:solidFill>
                  <a:srgbClr val="333333"/>
                </a:solidFill>
                <a:latin typeface="Arial" pitchFamily="34" charset="0"/>
                <a:ea typeface="Arial" pitchFamily="34" charset="-122"/>
                <a:cs typeface="Arial" pitchFamily="34" charset="-120"/>
              </a:rPr>
              <a:t>Contact</a:t>
            </a:r>
            <a:endParaRPr lang="en-US" sz="650" dirty="0"/>
          </a:p>
        </p:txBody>
      </p:sp>
      <p:sp>
        <p:nvSpPr>
          <p:cNvPr id="17" name="Shape 15"/>
          <p:cNvSpPr/>
          <p:nvPr/>
        </p:nvSpPr>
        <p:spPr>
          <a:xfrm>
            <a:off x="6174449" y="846495"/>
            <a:ext cx="656569" cy="196971"/>
          </a:xfrm>
          <a:prstGeom prst="roundRect">
            <a:avLst>
              <a:gd name="adj" fmla="val 15000"/>
            </a:avLst>
          </a:prstGeom>
          <a:solidFill>
            <a:srgbClr val="FFFFFF"/>
          </a:solidFill>
          <a:ln w="6350">
            <a:solidFill>
              <a:srgbClr val="555555"/>
            </a:solidFill>
            <a:prstDash val="solid"/>
          </a:ln>
        </p:spPr>
      </p:sp>
      <p:sp>
        <p:nvSpPr>
          <p:cNvPr id="18" name="Text 16"/>
          <p:cNvSpPr txBox="1"/>
          <p:nvPr/>
        </p:nvSpPr>
        <p:spPr>
          <a:xfrm>
            <a:off x="6174449" y="846495"/>
            <a:ext cx="656569" cy="196971"/>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Cart (3)</a:t>
            </a:r>
            <a:endParaRPr lang="en-US" sz="600" dirty="0"/>
          </a:p>
        </p:txBody>
      </p:sp>
      <p:sp>
        <p:nvSpPr>
          <p:cNvPr id="19" name="Shape 17"/>
          <p:cNvSpPr/>
          <p:nvPr/>
        </p:nvSpPr>
        <p:spPr>
          <a:xfrm>
            <a:off x="374754" y="1163836"/>
            <a:ext cx="6565692" cy="5471"/>
          </a:xfrm>
          <a:prstGeom prst="rect">
            <a:avLst/>
          </a:prstGeom>
          <a:solidFill>
            <a:srgbClr val="BBBBBB"/>
          </a:solidFill>
          <a:ln/>
        </p:spPr>
      </p:sp>
      <p:sp>
        <p:nvSpPr>
          <p:cNvPr id="20" name="Shape 18"/>
          <p:cNvSpPr/>
          <p:nvPr/>
        </p:nvSpPr>
        <p:spPr>
          <a:xfrm>
            <a:off x="484182" y="1251379"/>
            <a:ext cx="6346835" cy="437713"/>
          </a:xfrm>
          <a:prstGeom prst="rect">
            <a:avLst/>
          </a:prstGeom>
          <a:solidFill>
            <a:srgbClr val="F5F5F5"/>
          </a:solidFill>
          <a:ln w="6350">
            <a:solidFill>
              <a:srgbClr val="BBBBBB"/>
            </a:solidFill>
            <a:prstDash val="solid"/>
          </a:ln>
        </p:spPr>
      </p:sp>
      <p:sp>
        <p:nvSpPr>
          <p:cNvPr id="21" name="Text 19"/>
          <p:cNvSpPr txBox="1"/>
          <p:nvPr/>
        </p:nvSpPr>
        <p:spPr>
          <a:xfrm>
            <a:off x="593610" y="1306093"/>
            <a:ext cx="2462134" cy="164142"/>
          </a:xfrm>
          <a:prstGeom prst="rect">
            <a:avLst/>
          </a:prstGeom>
          <a:noFill/>
          <a:ln/>
        </p:spPr>
        <p:txBody>
          <a:bodyPr wrap="square" lIns="12700" tIns="12700" rIns="12700" bIns="12700" rtlCol="0" anchor="ctr"/>
          <a:lstStyle/>
          <a:p>
            <a:pPr algn="l" indent="0" marL="0">
              <a:lnSpc>
                <a:spcPct val="95000"/>
              </a:lnSpc>
              <a:buNone/>
            </a:pPr>
            <a:r>
              <a:rPr lang="en-US" sz="950" b="1" dirty="0">
                <a:solidFill>
                  <a:srgbClr val="333333"/>
                </a:solidFill>
                <a:latin typeface="Arial" pitchFamily="34" charset="0"/>
                <a:ea typeface="Arial" pitchFamily="34" charset="-122"/>
                <a:cs typeface="Arial" pitchFamily="34" charset="-120"/>
              </a:rPr>
              <a:t>Order for pickup or delivery</a:t>
            </a:r>
            <a:endParaRPr lang="en-US" sz="950" dirty="0"/>
          </a:p>
        </p:txBody>
      </p:sp>
      <p:sp>
        <p:nvSpPr>
          <p:cNvPr id="22" name="Text 20"/>
          <p:cNvSpPr txBox="1"/>
          <p:nvPr/>
        </p:nvSpPr>
        <p:spPr>
          <a:xfrm>
            <a:off x="593610" y="1470235"/>
            <a:ext cx="2462134" cy="131314"/>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777777"/>
                </a:solidFill>
                <a:latin typeface="Arial" pitchFamily="34" charset="0"/>
                <a:ea typeface="Arial" pitchFamily="34" charset="-122"/>
                <a:cs typeface="Arial" pitchFamily="34" charset="-120"/>
              </a:rPr>
              <a:t>Ready in about 20 minutes</a:t>
            </a:r>
            <a:endParaRPr lang="en-US" sz="600" dirty="0"/>
          </a:p>
        </p:txBody>
      </p:sp>
      <p:sp>
        <p:nvSpPr>
          <p:cNvPr id="23" name="Shape 21"/>
          <p:cNvSpPr/>
          <p:nvPr/>
        </p:nvSpPr>
        <p:spPr>
          <a:xfrm>
            <a:off x="3985885" y="1360807"/>
            <a:ext cx="656569" cy="218856"/>
          </a:xfrm>
          <a:prstGeom prst="roundRect">
            <a:avLst>
              <a:gd name="adj" fmla="val 15000"/>
            </a:avLst>
          </a:prstGeom>
          <a:solidFill>
            <a:srgbClr val="555555"/>
          </a:solidFill>
          <a:ln w="6350">
            <a:solidFill>
              <a:srgbClr val="555555"/>
            </a:solidFill>
            <a:prstDash val="solid"/>
          </a:ln>
        </p:spPr>
      </p:sp>
      <p:sp>
        <p:nvSpPr>
          <p:cNvPr id="24" name="Text 22"/>
          <p:cNvSpPr txBox="1"/>
          <p:nvPr/>
        </p:nvSpPr>
        <p:spPr>
          <a:xfrm>
            <a:off x="3985885" y="1360807"/>
            <a:ext cx="656569" cy="218856"/>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Pickup</a:t>
            </a:r>
            <a:endParaRPr lang="en-US" sz="600" dirty="0"/>
          </a:p>
        </p:txBody>
      </p:sp>
      <p:sp>
        <p:nvSpPr>
          <p:cNvPr id="25" name="Shape 23"/>
          <p:cNvSpPr/>
          <p:nvPr/>
        </p:nvSpPr>
        <p:spPr>
          <a:xfrm>
            <a:off x="4642454" y="1360807"/>
            <a:ext cx="656569" cy="218856"/>
          </a:xfrm>
          <a:prstGeom prst="roundRect">
            <a:avLst>
              <a:gd name="adj" fmla="val 15000"/>
            </a:avLst>
          </a:prstGeom>
          <a:solidFill>
            <a:srgbClr val="FFFFFF"/>
          </a:solidFill>
          <a:ln w="6350">
            <a:solidFill>
              <a:srgbClr val="555555"/>
            </a:solidFill>
            <a:prstDash val="solid"/>
          </a:ln>
        </p:spPr>
      </p:sp>
      <p:sp>
        <p:nvSpPr>
          <p:cNvPr id="26" name="Text 24"/>
          <p:cNvSpPr txBox="1"/>
          <p:nvPr/>
        </p:nvSpPr>
        <p:spPr>
          <a:xfrm>
            <a:off x="4642454" y="1360807"/>
            <a:ext cx="656569" cy="218856"/>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Delivery</a:t>
            </a:r>
            <a:endParaRPr lang="en-US" sz="600" dirty="0"/>
          </a:p>
        </p:txBody>
      </p:sp>
      <p:sp>
        <p:nvSpPr>
          <p:cNvPr id="27" name="Shape 25"/>
          <p:cNvSpPr/>
          <p:nvPr/>
        </p:nvSpPr>
        <p:spPr>
          <a:xfrm>
            <a:off x="5408451" y="1360807"/>
            <a:ext cx="1313138" cy="218856"/>
          </a:xfrm>
          <a:prstGeom prst="roundRect">
            <a:avLst>
              <a:gd name="adj" fmla="val 15000"/>
            </a:avLst>
          </a:prstGeom>
          <a:solidFill>
            <a:srgbClr val="FFFFFF"/>
          </a:solidFill>
          <a:ln w="6350">
            <a:solidFill>
              <a:srgbClr val="555555"/>
            </a:solidFill>
            <a:prstDash val="solid"/>
          </a:ln>
        </p:spPr>
      </p:sp>
      <p:sp>
        <p:nvSpPr>
          <p:cNvPr id="28" name="Text 26"/>
          <p:cNvSpPr txBox="1"/>
          <p:nvPr/>
        </p:nvSpPr>
        <p:spPr>
          <a:xfrm>
            <a:off x="5408451" y="1360807"/>
            <a:ext cx="1313138" cy="218856"/>
          </a:xfrm>
          <a:prstGeom prst="rect">
            <a:avLst/>
          </a:prstGeom>
          <a:noFill/>
          <a:ln/>
        </p:spPr>
        <p:txBody>
          <a:bodyPr wrap="square" lIns="12700" tIns="635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Pickup time: ASAP        ▾</a:t>
            </a:r>
            <a:endParaRPr lang="en-US" sz="600" dirty="0"/>
          </a:p>
        </p:txBody>
      </p:sp>
      <p:sp>
        <p:nvSpPr>
          <p:cNvPr id="29" name="Shape 27"/>
          <p:cNvSpPr/>
          <p:nvPr/>
        </p:nvSpPr>
        <p:spPr>
          <a:xfrm>
            <a:off x="484182" y="1798520"/>
            <a:ext cx="601855" cy="218856"/>
          </a:xfrm>
          <a:prstGeom prst="roundRect">
            <a:avLst>
              <a:gd name="adj" fmla="val 15000"/>
            </a:avLst>
          </a:prstGeom>
          <a:solidFill>
            <a:srgbClr val="555555"/>
          </a:solidFill>
          <a:ln w="6350">
            <a:solidFill>
              <a:srgbClr val="555555"/>
            </a:solidFill>
            <a:prstDash val="solid"/>
          </a:ln>
        </p:spPr>
      </p:sp>
      <p:sp>
        <p:nvSpPr>
          <p:cNvPr id="30" name="Text 28"/>
          <p:cNvSpPr txBox="1"/>
          <p:nvPr/>
        </p:nvSpPr>
        <p:spPr>
          <a:xfrm>
            <a:off x="484182" y="1798520"/>
            <a:ext cx="601855" cy="218856"/>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Fish</a:t>
            </a:r>
            <a:endParaRPr lang="en-US" sz="600" dirty="0"/>
          </a:p>
        </p:txBody>
      </p:sp>
      <p:sp>
        <p:nvSpPr>
          <p:cNvPr id="31" name="Shape 29"/>
          <p:cNvSpPr/>
          <p:nvPr/>
        </p:nvSpPr>
        <p:spPr>
          <a:xfrm>
            <a:off x="1140751" y="1798520"/>
            <a:ext cx="601855" cy="218856"/>
          </a:xfrm>
          <a:prstGeom prst="roundRect">
            <a:avLst>
              <a:gd name="adj" fmla="val 15000"/>
            </a:avLst>
          </a:prstGeom>
          <a:solidFill>
            <a:srgbClr val="FFFFFF"/>
          </a:solidFill>
          <a:ln w="6350">
            <a:solidFill>
              <a:srgbClr val="555555"/>
            </a:solidFill>
            <a:prstDash val="solid"/>
          </a:ln>
        </p:spPr>
      </p:sp>
      <p:sp>
        <p:nvSpPr>
          <p:cNvPr id="32" name="Text 30"/>
          <p:cNvSpPr txBox="1"/>
          <p:nvPr/>
        </p:nvSpPr>
        <p:spPr>
          <a:xfrm>
            <a:off x="1140751" y="1798520"/>
            <a:ext cx="601855" cy="218856"/>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Combos</a:t>
            </a:r>
            <a:endParaRPr lang="en-US" sz="600" dirty="0"/>
          </a:p>
        </p:txBody>
      </p:sp>
      <p:sp>
        <p:nvSpPr>
          <p:cNvPr id="33" name="Shape 31"/>
          <p:cNvSpPr/>
          <p:nvPr/>
        </p:nvSpPr>
        <p:spPr>
          <a:xfrm>
            <a:off x="1797321" y="1798520"/>
            <a:ext cx="601855" cy="218856"/>
          </a:xfrm>
          <a:prstGeom prst="roundRect">
            <a:avLst>
              <a:gd name="adj" fmla="val 15000"/>
            </a:avLst>
          </a:prstGeom>
          <a:solidFill>
            <a:srgbClr val="FFFFFF"/>
          </a:solidFill>
          <a:ln w="6350">
            <a:solidFill>
              <a:srgbClr val="555555"/>
            </a:solidFill>
            <a:prstDash val="solid"/>
          </a:ln>
        </p:spPr>
      </p:sp>
      <p:sp>
        <p:nvSpPr>
          <p:cNvPr id="34" name="Text 32"/>
          <p:cNvSpPr txBox="1"/>
          <p:nvPr/>
        </p:nvSpPr>
        <p:spPr>
          <a:xfrm>
            <a:off x="1797321" y="1798520"/>
            <a:ext cx="601855" cy="218856"/>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Sides</a:t>
            </a:r>
            <a:endParaRPr lang="en-US" sz="600" dirty="0"/>
          </a:p>
        </p:txBody>
      </p:sp>
      <p:sp>
        <p:nvSpPr>
          <p:cNvPr id="35" name="Shape 33"/>
          <p:cNvSpPr/>
          <p:nvPr/>
        </p:nvSpPr>
        <p:spPr>
          <a:xfrm>
            <a:off x="2453890" y="1798520"/>
            <a:ext cx="601855" cy="218856"/>
          </a:xfrm>
          <a:prstGeom prst="roundRect">
            <a:avLst>
              <a:gd name="adj" fmla="val 15000"/>
            </a:avLst>
          </a:prstGeom>
          <a:solidFill>
            <a:srgbClr val="FFFFFF"/>
          </a:solidFill>
          <a:ln w="6350">
            <a:solidFill>
              <a:srgbClr val="555555"/>
            </a:solidFill>
            <a:prstDash val="solid"/>
          </a:ln>
        </p:spPr>
      </p:sp>
      <p:sp>
        <p:nvSpPr>
          <p:cNvPr id="36" name="Text 34"/>
          <p:cNvSpPr txBox="1"/>
          <p:nvPr/>
        </p:nvSpPr>
        <p:spPr>
          <a:xfrm>
            <a:off x="2453890" y="1798520"/>
            <a:ext cx="601855" cy="218856"/>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Drinks</a:t>
            </a:r>
            <a:endParaRPr lang="en-US" sz="600" dirty="0"/>
          </a:p>
        </p:txBody>
      </p:sp>
      <p:sp>
        <p:nvSpPr>
          <p:cNvPr id="37" name="Shape 35"/>
          <p:cNvSpPr/>
          <p:nvPr/>
        </p:nvSpPr>
        <p:spPr>
          <a:xfrm>
            <a:off x="3110459" y="1798520"/>
            <a:ext cx="601855" cy="218856"/>
          </a:xfrm>
          <a:prstGeom prst="roundRect">
            <a:avLst>
              <a:gd name="adj" fmla="val 15000"/>
            </a:avLst>
          </a:prstGeom>
          <a:solidFill>
            <a:srgbClr val="FFFFFF"/>
          </a:solidFill>
          <a:ln w="6350">
            <a:solidFill>
              <a:srgbClr val="555555"/>
            </a:solidFill>
            <a:prstDash val="solid"/>
          </a:ln>
        </p:spPr>
      </p:sp>
      <p:sp>
        <p:nvSpPr>
          <p:cNvPr id="38" name="Text 36"/>
          <p:cNvSpPr txBox="1"/>
          <p:nvPr/>
        </p:nvSpPr>
        <p:spPr>
          <a:xfrm>
            <a:off x="3110459" y="1798520"/>
            <a:ext cx="601855" cy="218856"/>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Desserts</a:t>
            </a:r>
            <a:endParaRPr lang="en-US" sz="600" dirty="0"/>
          </a:p>
        </p:txBody>
      </p:sp>
      <p:sp>
        <p:nvSpPr>
          <p:cNvPr id="39" name="Text 37"/>
          <p:cNvSpPr txBox="1"/>
          <p:nvPr/>
        </p:nvSpPr>
        <p:spPr>
          <a:xfrm>
            <a:off x="484182" y="2115862"/>
            <a:ext cx="1641423" cy="175085"/>
          </a:xfrm>
          <a:prstGeom prst="rect">
            <a:avLst/>
          </a:prstGeom>
          <a:noFill/>
          <a:ln/>
        </p:spPr>
        <p:txBody>
          <a:bodyPr wrap="square" lIns="12700" tIns="12700" rIns="12700" bIns="12700" rtlCol="0" anchor="ctr"/>
          <a:lstStyle/>
          <a:p>
            <a:pPr algn="l" indent="0" marL="0">
              <a:lnSpc>
                <a:spcPct val="95000"/>
              </a:lnSpc>
              <a:buNone/>
            </a:pPr>
            <a:r>
              <a:rPr lang="en-US" sz="950" b="1" dirty="0">
                <a:solidFill>
                  <a:srgbClr val="333333"/>
                </a:solidFill>
                <a:latin typeface="Arial" pitchFamily="34" charset="0"/>
                <a:ea typeface="Arial" pitchFamily="34" charset="-122"/>
                <a:cs typeface="Arial" pitchFamily="34" charset="-120"/>
              </a:rPr>
              <a:t>Fish</a:t>
            </a:r>
            <a:endParaRPr lang="en-US" sz="950" dirty="0"/>
          </a:p>
        </p:txBody>
      </p:sp>
      <p:sp>
        <p:nvSpPr>
          <p:cNvPr id="40" name="Shape 38"/>
          <p:cNvSpPr/>
          <p:nvPr/>
        </p:nvSpPr>
        <p:spPr>
          <a:xfrm>
            <a:off x="484182" y="2345661"/>
            <a:ext cx="1313138" cy="1422567"/>
          </a:xfrm>
          <a:prstGeom prst="rect">
            <a:avLst/>
          </a:prstGeom>
          <a:solidFill>
            <a:srgbClr val="FFFFFF"/>
          </a:solidFill>
          <a:ln w="6350">
            <a:solidFill>
              <a:srgbClr val="999999"/>
            </a:solidFill>
            <a:prstDash val="solid"/>
          </a:ln>
        </p:spPr>
      </p:sp>
      <p:sp>
        <p:nvSpPr>
          <p:cNvPr id="41" name="Shape 39"/>
          <p:cNvSpPr/>
          <p:nvPr/>
        </p:nvSpPr>
        <p:spPr>
          <a:xfrm>
            <a:off x="538896" y="2400375"/>
            <a:ext cx="1203710" cy="656569"/>
          </a:xfrm>
          <a:prstGeom prst="rect">
            <a:avLst/>
          </a:prstGeom>
          <a:solidFill>
            <a:srgbClr val="FFFFFF"/>
          </a:solidFill>
          <a:ln w="6350">
            <a:solidFill>
              <a:srgbClr val="999999"/>
            </a:solidFill>
            <a:prstDash val="solid"/>
          </a:ln>
        </p:spPr>
      </p:sp>
      <p:sp>
        <p:nvSpPr>
          <p:cNvPr id="42" name="Shape 40"/>
          <p:cNvSpPr/>
          <p:nvPr/>
        </p:nvSpPr>
        <p:spPr>
          <a:xfrm>
            <a:off x="538896" y="2400375"/>
            <a:ext cx="1203710" cy="656569"/>
          </a:xfrm>
          <a:prstGeom prst="line">
            <a:avLst/>
          </a:prstGeom>
          <a:noFill/>
          <a:ln w="6350">
            <a:solidFill>
              <a:srgbClr val="999999"/>
            </a:solidFill>
            <a:prstDash val="solid"/>
          </a:ln>
        </p:spPr>
      </p:sp>
      <p:sp>
        <p:nvSpPr>
          <p:cNvPr id="43" name="Shape 41"/>
          <p:cNvSpPr/>
          <p:nvPr/>
        </p:nvSpPr>
        <p:spPr>
          <a:xfrm flipV="1">
            <a:off x="538896" y="2400375"/>
            <a:ext cx="1203710" cy="656569"/>
          </a:xfrm>
          <a:prstGeom prst="line">
            <a:avLst/>
          </a:prstGeom>
          <a:noFill/>
          <a:ln w="6350">
            <a:solidFill>
              <a:srgbClr val="999999"/>
            </a:solidFill>
            <a:prstDash val="solid"/>
          </a:ln>
        </p:spPr>
      </p:sp>
      <p:sp>
        <p:nvSpPr>
          <p:cNvPr id="44" name="Text 42"/>
          <p:cNvSpPr txBox="1"/>
          <p:nvPr/>
        </p:nvSpPr>
        <p:spPr>
          <a:xfrm>
            <a:off x="538896" y="3100715"/>
            <a:ext cx="1203710" cy="131314"/>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Haddock &amp; Chips (1 pc)</a:t>
            </a:r>
            <a:endParaRPr lang="en-US" sz="700" dirty="0"/>
          </a:p>
        </p:txBody>
      </p:sp>
      <p:sp>
        <p:nvSpPr>
          <p:cNvPr id="45" name="Shape 43"/>
          <p:cNvSpPr/>
          <p:nvPr/>
        </p:nvSpPr>
        <p:spPr>
          <a:xfrm>
            <a:off x="538896" y="3275801"/>
            <a:ext cx="1094282" cy="43771"/>
          </a:xfrm>
          <a:prstGeom prst="rect">
            <a:avLst/>
          </a:prstGeom>
          <a:solidFill>
            <a:srgbClr val="DDDDDD"/>
          </a:solidFill>
          <a:ln/>
        </p:spPr>
      </p:sp>
      <p:sp>
        <p:nvSpPr>
          <p:cNvPr id="46" name="Shape 44"/>
          <p:cNvSpPr/>
          <p:nvPr/>
        </p:nvSpPr>
        <p:spPr>
          <a:xfrm>
            <a:off x="538896" y="3363343"/>
            <a:ext cx="820711" cy="43771"/>
          </a:xfrm>
          <a:prstGeom prst="rect">
            <a:avLst/>
          </a:prstGeom>
          <a:solidFill>
            <a:srgbClr val="DDDDDD"/>
          </a:solidFill>
          <a:ln/>
        </p:spPr>
      </p:sp>
      <p:sp>
        <p:nvSpPr>
          <p:cNvPr id="47" name="Text 45"/>
          <p:cNvSpPr txBox="1"/>
          <p:nvPr/>
        </p:nvSpPr>
        <p:spPr>
          <a:xfrm>
            <a:off x="538896" y="3505600"/>
            <a:ext cx="492427" cy="196971"/>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$14.99</a:t>
            </a:r>
            <a:endParaRPr lang="en-US" sz="700" dirty="0"/>
          </a:p>
        </p:txBody>
      </p:sp>
      <p:sp>
        <p:nvSpPr>
          <p:cNvPr id="48" name="Shape 46"/>
          <p:cNvSpPr/>
          <p:nvPr/>
        </p:nvSpPr>
        <p:spPr>
          <a:xfrm>
            <a:off x="1195466" y="3505600"/>
            <a:ext cx="547141" cy="196971"/>
          </a:xfrm>
          <a:prstGeom prst="roundRect">
            <a:avLst>
              <a:gd name="adj" fmla="val 15000"/>
            </a:avLst>
          </a:prstGeom>
          <a:solidFill>
            <a:srgbClr val="555555"/>
          </a:solidFill>
          <a:ln w="6350">
            <a:solidFill>
              <a:srgbClr val="555555"/>
            </a:solidFill>
            <a:prstDash val="solid"/>
          </a:ln>
        </p:spPr>
      </p:sp>
      <p:sp>
        <p:nvSpPr>
          <p:cNvPr id="49" name="Text 47"/>
          <p:cNvSpPr txBox="1"/>
          <p:nvPr/>
        </p:nvSpPr>
        <p:spPr>
          <a:xfrm>
            <a:off x="1195466" y="3505600"/>
            <a:ext cx="547141" cy="196971"/>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Add +</a:t>
            </a:r>
            <a:endParaRPr lang="en-US" sz="600" dirty="0"/>
          </a:p>
        </p:txBody>
      </p:sp>
      <p:sp>
        <p:nvSpPr>
          <p:cNvPr id="50" name="Shape 48"/>
          <p:cNvSpPr/>
          <p:nvPr/>
        </p:nvSpPr>
        <p:spPr>
          <a:xfrm>
            <a:off x="1906749" y="2345661"/>
            <a:ext cx="1313138" cy="1422567"/>
          </a:xfrm>
          <a:prstGeom prst="rect">
            <a:avLst/>
          </a:prstGeom>
          <a:solidFill>
            <a:srgbClr val="FFFFFF"/>
          </a:solidFill>
          <a:ln w="6350">
            <a:solidFill>
              <a:srgbClr val="999999"/>
            </a:solidFill>
            <a:prstDash val="solid"/>
          </a:ln>
        </p:spPr>
      </p:sp>
      <p:sp>
        <p:nvSpPr>
          <p:cNvPr id="51" name="Shape 49"/>
          <p:cNvSpPr/>
          <p:nvPr/>
        </p:nvSpPr>
        <p:spPr>
          <a:xfrm>
            <a:off x="1961463" y="2400375"/>
            <a:ext cx="1203710" cy="656569"/>
          </a:xfrm>
          <a:prstGeom prst="rect">
            <a:avLst/>
          </a:prstGeom>
          <a:solidFill>
            <a:srgbClr val="FFFFFF"/>
          </a:solidFill>
          <a:ln w="6350">
            <a:solidFill>
              <a:srgbClr val="999999"/>
            </a:solidFill>
            <a:prstDash val="solid"/>
          </a:ln>
        </p:spPr>
      </p:sp>
      <p:sp>
        <p:nvSpPr>
          <p:cNvPr id="52" name="Shape 50"/>
          <p:cNvSpPr/>
          <p:nvPr/>
        </p:nvSpPr>
        <p:spPr>
          <a:xfrm>
            <a:off x="1961463" y="2400375"/>
            <a:ext cx="1203710" cy="656569"/>
          </a:xfrm>
          <a:prstGeom prst="line">
            <a:avLst/>
          </a:prstGeom>
          <a:noFill/>
          <a:ln w="6350">
            <a:solidFill>
              <a:srgbClr val="999999"/>
            </a:solidFill>
            <a:prstDash val="solid"/>
          </a:ln>
        </p:spPr>
      </p:sp>
      <p:sp>
        <p:nvSpPr>
          <p:cNvPr id="53" name="Shape 51"/>
          <p:cNvSpPr/>
          <p:nvPr/>
        </p:nvSpPr>
        <p:spPr>
          <a:xfrm flipV="1">
            <a:off x="1961463" y="2400375"/>
            <a:ext cx="1203710" cy="656569"/>
          </a:xfrm>
          <a:prstGeom prst="line">
            <a:avLst/>
          </a:prstGeom>
          <a:noFill/>
          <a:ln w="6350">
            <a:solidFill>
              <a:srgbClr val="999999"/>
            </a:solidFill>
            <a:prstDash val="solid"/>
          </a:ln>
        </p:spPr>
      </p:sp>
      <p:sp>
        <p:nvSpPr>
          <p:cNvPr id="54" name="Text 52"/>
          <p:cNvSpPr txBox="1"/>
          <p:nvPr/>
        </p:nvSpPr>
        <p:spPr>
          <a:xfrm>
            <a:off x="1961463" y="3100715"/>
            <a:ext cx="1203710" cy="131314"/>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Haddock &amp; Chips (2 pc)</a:t>
            </a:r>
            <a:endParaRPr lang="en-US" sz="700" dirty="0"/>
          </a:p>
        </p:txBody>
      </p:sp>
      <p:sp>
        <p:nvSpPr>
          <p:cNvPr id="55" name="Shape 53"/>
          <p:cNvSpPr/>
          <p:nvPr/>
        </p:nvSpPr>
        <p:spPr>
          <a:xfrm>
            <a:off x="1961463" y="3275801"/>
            <a:ext cx="1094282" cy="43771"/>
          </a:xfrm>
          <a:prstGeom prst="rect">
            <a:avLst/>
          </a:prstGeom>
          <a:solidFill>
            <a:srgbClr val="DDDDDD"/>
          </a:solidFill>
          <a:ln/>
        </p:spPr>
      </p:sp>
      <p:sp>
        <p:nvSpPr>
          <p:cNvPr id="56" name="Shape 54"/>
          <p:cNvSpPr/>
          <p:nvPr/>
        </p:nvSpPr>
        <p:spPr>
          <a:xfrm>
            <a:off x="1961463" y="3363343"/>
            <a:ext cx="820711" cy="43771"/>
          </a:xfrm>
          <a:prstGeom prst="rect">
            <a:avLst/>
          </a:prstGeom>
          <a:solidFill>
            <a:srgbClr val="DDDDDD"/>
          </a:solidFill>
          <a:ln/>
        </p:spPr>
      </p:sp>
      <p:sp>
        <p:nvSpPr>
          <p:cNvPr id="57" name="Text 55"/>
          <p:cNvSpPr txBox="1"/>
          <p:nvPr/>
        </p:nvSpPr>
        <p:spPr>
          <a:xfrm>
            <a:off x="1961463" y="3505600"/>
            <a:ext cx="492427" cy="196971"/>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$19.99</a:t>
            </a:r>
            <a:endParaRPr lang="en-US" sz="700" dirty="0"/>
          </a:p>
        </p:txBody>
      </p:sp>
      <p:sp>
        <p:nvSpPr>
          <p:cNvPr id="58" name="Shape 56"/>
          <p:cNvSpPr/>
          <p:nvPr/>
        </p:nvSpPr>
        <p:spPr>
          <a:xfrm>
            <a:off x="2618032" y="3505600"/>
            <a:ext cx="547141" cy="196971"/>
          </a:xfrm>
          <a:prstGeom prst="roundRect">
            <a:avLst>
              <a:gd name="adj" fmla="val 15000"/>
            </a:avLst>
          </a:prstGeom>
          <a:solidFill>
            <a:srgbClr val="555555"/>
          </a:solidFill>
          <a:ln w="6350">
            <a:solidFill>
              <a:srgbClr val="555555"/>
            </a:solidFill>
            <a:prstDash val="solid"/>
          </a:ln>
        </p:spPr>
      </p:sp>
      <p:sp>
        <p:nvSpPr>
          <p:cNvPr id="59" name="Text 57"/>
          <p:cNvSpPr txBox="1"/>
          <p:nvPr/>
        </p:nvSpPr>
        <p:spPr>
          <a:xfrm>
            <a:off x="2618032" y="3505600"/>
            <a:ext cx="547141" cy="196971"/>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Add +</a:t>
            </a:r>
            <a:endParaRPr lang="en-US" sz="600" dirty="0"/>
          </a:p>
        </p:txBody>
      </p:sp>
      <p:sp>
        <p:nvSpPr>
          <p:cNvPr id="60" name="Shape 58"/>
          <p:cNvSpPr/>
          <p:nvPr/>
        </p:nvSpPr>
        <p:spPr>
          <a:xfrm>
            <a:off x="3329315" y="2345661"/>
            <a:ext cx="1313138" cy="1422567"/>
          </a:xfrm>
          <a:prstGeom prst="rect">
            <a:avLst/>
          </a:prstGeom>
          <a:solidFill>
            <a:srgbClr val="FFFFFF"/>
          </a:solidFill>
          <a:ln w="6350">
            <a:solidFill>
              <a:srgbClr val="999999"/>
            </a:solidFill>
            <a:prstDash val="solid"/>
          </a:ln>
        </p:spPr>
      </p:sp>
      <p:sp>
        <p:nvSpPr>
          <p:cNvPr id="61" name="Shape 59"/>
          <p:cNvSpPr/>
          <p:nvPr/>
        </p:nvSpPr>
        <p:spPr>
          <a:xfrm>
            <a:off x="3384030" y="2400375"/>
            <a:ext cx="1203710" cy="656569"/>
          </a:xfrm>
          <a:prstGeom prst="rect">
            <a:avLst/>
          </a:prstGeom>
          <a:solidFill>
            <a:srgbClr val="FFFFFF"/>
          </a:solidFill>
          <a:ln w="6350">
            <a:solidFill>
              <a:srgbClr val="999999"/>
            </a:solidFill>
            <a:prstDash val="solid"/>
          </a:ln>
        </p:spPr>
      </p:sp>
      <p:sp>
        <p:nvSpPr>
          <p:cNvPr id="62" name="Shape 60"/>
          <p:cNvSpPr/>
          <p:nvPr/>
        </p:nvSpPr>
        <p:spPr>
          <a:xfrm>
            <a:off x="3384030" y="2400375"/>
            <a:ext cx="1203710" cy="656569"/>
          </a:xfrm>
          <a:prstGeom prst="line">
            <a:avLst/>
          </a:prstGeom>
          <a:noFill/>
          <a:ln w="6350">
            <a:solidFill>
              <a:srgbClr val="999999"/>
            </a:solidFill>
            <a:prstDash val="solid"/>
          </a:ln>
        </p:spPr>
      </p:sp>
      <p:sp>
        <p:nvSpPr>
          <p:cNvPr id="63" name="Shape 61"/>
          <p:cNvSpPr/>
          <p:nvPr/>
        </p:nvSpPr>
        <p:spPr>
          <a:xfrm flipV="1">
            <a:off x="3384030" y="2400375"/>
            <a:ext cx="1203710" cy="656569"/>
          </a:xfrm>
          <a:prstGeom prst="line">
            <a:avLst/>
          </a:prstGeom>
          <a:noFill/>
          <a:ln w="6350">
            <a:solidFill>
              <a:srgbClr val="999999"/>
            </a:solidFill>
            <a:prstDash val="solid"/>
          </a:ln>
        </p:spPr>
      </p:sp>
      <p:sp>
        <p:nvSpPr>
          <p:cNvPr id="64" name="Text 62"/>
          <p:cNvSpPr txBox="1"/>
          <p:nvPr/>
        </p:nvSpPr>
        <p:spPr>
          <a:xfrm>
            <a:off x="3384030" y="3100715"/>
            <a:ext cx="1203710" cy="131314"/>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Fish Tacos (2)</a:t>
            </a:r>
            <a:endParaRPr lang="en-US" sz="700" dirty="0"/>
          </a:p>
        </p:txBody>
      </p:sp>
      <p:sp>
        <p:nvSpPr>
          <p:cNvPr id="65" name="Shape 63"/>
          <p:cNvSpPr/>
          <p:nvPr/>
        </p:nvSpPr>
        <p:spPr>
          <a:xfrm>
            <a:off x="3384030" y="3275801"/>
            <a:ext cx="1094282" cy="43771"/>
          </a:xfrm>
          <a:prstGeom prst="rect">
            <a:avLst/>
          </a:prstGeom>
          <a:solidFill>
            <a:srgbClr val="DDDDDD"/>
          </a:solidFill>
          <a:ln/>
        </p:spPr>
      </p:sp>
      <p:sp>
        <p:nvSpPr>
          <p:cNvPr id="66" name="Shape 64"/>
          <p:cNvSpPr/>
          <p:nvPr/>
        </p:nvSpPr>
        <p:spPr>
          <a:xfrm>
            <a:off x="3384030" y="3363343"/>
            <a:ext cx="820711" cy="43771"/>
          </a:xfrm>
          <a:prstGeom prst="rect">
            <a:avLst/>
          </a:prstGeom>
          <a:solidFill>
            <a:srgbClr val="DDDDDD"/>
          </a:solidFill>
          <a:ln/>
        </p:spPr>
      </p:sp>
      <p:sp>
        <p:nvSpPr>
          <p:cNvPr id="67" name="Text 65"/>
          <p:cNvSpPr txBox="1"/>
          <p:nvPr/>
        </p:nvSpPr>
        <p:spPr>
          <a:xfrm>
            <a:off x="3384030" y="3505600"/>
            <a:ext cx="492427" cy="196971"/>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$13.49</a:t>
            </a:r>
            <a:endParaRPr lang="en-US" sz="700" dirty="0"/>
          </a:p>
        </p:txBody>
      </p:sp>
      <p:sp>
        <p:nvSpPr>
          <p:cNvPr id="68" name="Shape 66"/>
          <p:cNvSpPr/>
          <p:nvPr/>
        </p:nvSpPr>
        <p:spPr>
          <a:xfrm>
            <a:off x="4040599" y="3505600"/>
            <a:ext cx="547141" cy="196971"/>
          </a:xfrm>
          <a:prstGeom prst="roundRect">
            <a:avLst>
              <a:gd name="adj" fmla="val 15000"/>
            </a:avLst>
          </a:prstGeom>
          <a:solidFill>
            <a:srgbClr val="555555"/>
          </a:solidFill>
          <a:ln w="6350">
            <a:solidFill>
              <a:srgbClr val="555555"/>
            </a:solidFill>
            <a:prstDash val="solid"/>
          </a:ln>
        </p:spPr>
      </p:sp>
      <p:sp>
        <p:nvSpPr>
          <p:cNvPr id="69" name="Text 67"/>
          <p:cNvSpPr txBox="1"/>
          <p:nvPr/>
        </p:nvSpPr>
        <p:spPr>
          <a:xfrm>
            <a:off x="4040599" y="3505600"/>
            <a:ext cx="547141" cy="196971"/>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Add +</a:t>
            </a:r>
            <a:endParaRPr lang="en-US" sz="600" dirty="0"/>
          </a:p>
        </p:txBody>
      </p:sp>
      <p:sp>
        <p:nvSpPr>
          <p:cNvPr id="70" name="Shape 68"/>
          <p:cNvSpPr/>
          <p:nvPr/>
        </p:nvSpPr>
        <p:spPr>
          <a:xfrm>
            <a:off x="484182" y="3877656"/>
            <a:ext cx="1313138" cy="1422567"/>
          </a:xfrm>
          <a:prstGeom prst="rect">
            <a:avLst/>
          </a:prstGeom>
          <a:solidFill>
            <a:srgbClr val="FFFFFF"/>
          </a:solidFill>
          <a:ln w="6350">
            <a:solidFill>
              <a:srgbClr val="999999"/>
            </a:solidFill>
            <a:prstDash val="solid"/>
          </a:ln>
        </p:spPr>
      </p:sp>
      <p:sp>
        <p:nvSpPr>
          <p:cNvPr id="71" name="Shape 69"/>
          <p:cNvSpPr/>
          <p:nvPr/>
        </p:nvSpPr>
        <p:spPr>
          <a:xfrm>
            <a:off x="538896" y="3932370"/>
            <a:ext cx="1203710" cy="656569"/>
          </a:xfrm>
          <a:prstGeom prst="rect">
            <a:avLst/>
          </a:prstGeom>
          <a:solidFill>
            <a:srgbClr val="FFFFFF"/>
          </a:solidFill>
          <a:ln w="6350">
            <a:solidFill>
              <a:srgbClr val="999999"/>
            </a:solidFill>
            <a:prstDash val="solid"/>
          </a:ln>
        </p:spPr>
      </p:sp>
      <p:sp>
        <p:nvSpPr>
          <p:cNvPr id="72" name="Shape 70"/>
          <p:cNvSpPr/>
          <p:nvPr/>
        </p:nvSpPr>
        <p:spPr>
          <a:xfrm>
            <a:off x="538896" y="3932370"/>
            <a:ext cx="1203710" cy="656569"/>
          </a:xfrm>
          <a:prstGeom prst="line">
            <a:avLst/>
          </a:prstGeom>
          <a:noFill/>
          <a:ln w="6350">
            <a:solidFill>
              <a:srgbClr val="999999"/>
            </a:solidFill>
            <a:prstDash val="solid"/>
          </a:ln>
        </p:spPr>
      </p:sp>
      <p:sp>
        <p:nvSpPr>
          <p:cNvPr id="73" name="Shape 71"/>
          <p:cNvSpPr/>
          <p:nvPr/>
        </p:nvSpPr>
        <p:spPr>
          <a:xfrm flipV="1">
            <a:off x="538896" y="3932370"/>
            <a:ext cx="1203710" cy="656569"/>
          </a:xfrm>
          <a:prstGeom prst="line">
            <a:avLst/>
          </a:prstGeom>
          <a:noFill/>
          <a:ln w="6350">
            <a:solidFill>
              <a:srgbClr val="999999"/>
            </a:solidFill>
            <a:prstDash val="solid"/>
          </a:ln>
        </p:spPr>
      </p:sp>
      <p:sp>
        <p:nvSpPr>
          <p:cNvPr id="74" name="Text 72"/>
          <p:cNvSpPr txBox="1"/>
          <p:nvPr/>
        </p:nvSpPr>
        <p:spPr>
          <a:xfrm>
            <a:off x="538896" y="4632710"/>
            <a:ext cx="1203710" cy="131314"/>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Clam Strips &amp; Chips</a:t>
            </a:r>
            <a:endParaRPr lang="en-US" sz="700" dirty="0"/>
          </a:p>
        </p:txBody>
      </p:sp>
      <p:sp>
        <p:nvSpPr>
          <p:cNvPr id="75" name="Shape 73"/>
          <p:cNvSpPr/>
          <p:nvPr/>
        </p:nvSpPr>
        <p:spPr>
          <a:xfrm>
            <a:off x="538896" y="4807795"/>
            <a:ext cx="1094282" cy="43771"/>
          </a:xfrm>
          <a:prstGeom prst="rect">
            <a:avLst/>
          </a:prstGeom>
          <a:solidFill>
            <a:srgbClr val="DDDDDD"/>
          </a:solidFill>
          <a:ln/>
        </p:spPr>
      </p:sp>
      <p:sp>
        <p:nvSpPr>
          <p:cNvPr id="76" name="Shape 74"/>
          <p:cNvSpPr/>
          <p:nvPr/>
        </p:nvSpPr>
        <p:spPr>
          <a:xfrm>
            <a:off x="538896" y="4895338"/>
            <a:ext cx="820711" cy="43771"/>
          </a:xfrm>
          <a:prstGeom prst="rect">
            <a:avLst/>
          </a:prstGeom>
          <a:solidFill>
            <a:srgbClr val="DDDDDD"/>
          </a:solidFill>
          <a:ln/>
        </p:spPr>
      </p:sp>
      <p:sp>
        <p:nvSpPr>
          <p:cNvPr id="77" name="Text 75"/>
          <p:cNvSpPr txBox="1"/>
          <p:nvPr/>
        </p:nvSpPr>
        <p:spPr>
          <a:xfrm>
            <a:off x="538896" y="5037594"/>
            <a:ext cx="492427" cy="196971"/>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$16.99</a:t>
            </a:r>
            <a:endParaRPr lang="en-US" sz="700" dirty="0"/>
          </a:p>
        </p:txBody>
      </p:sp>
      <p:sp>
        <p:nvSpPr>
          <p:cNvPr id="78" name="Shape 76"/>
          <p:cNvSpPr/>
          <p:nvPr/>
        </p:nvSpPr>
        <p:spPr>
          <a:xfrm>
            <a:off x="1195466" y="5037594"/>
            <a:ext cx="547141" cy="196971"/>
          </a:xfrm>
          <a:prstGeom prst="roundRect">
            <a:avLst>
              <a:gd name="adj" fmla="val 15000"/>
            </a:avLst>
          </a:prstGeom>
          <a:solidFill>
            <a:srgbClr val="555555"/>
          </a:solidFill>
          <a:ln w="6350">
            <a:solidFill>
              <a:srgbClr val="555555"/>
            </a:solidFill>
            <a:prstDash val="solid"/>
          </a:ln>
        </p:spPr>
      </p:sp>
      <p:sp>
        <p:nvSpPr>
          <p:cNvPr id="79" name="Text 77"/>
          <p:cNvSpPr txBox="1"/>
          <p:nvPr/>
        </p:nvSpPr>
        <p:spPr>
          <a:xfrm>
            <a:off x="1195466" y="5037594"/>
            <a:ext cx="547141" cy="196971"/>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Add +</a:t>
            </a:r>
            <a:endParaRPr lang="en-US" sz="600" dirty="0"/>
          </a:p>
        </p:txBody>
      </p:sp>
      <p:sp>
        <p:nvSpPr>
          <p:cNvPr id="80" name="Shape 78"/>
          <p:cNvSpPr/>
          <p:nvPr/>
        </p:nvSpPr>
        <p:spPr>
          <a:xfrm>
            <a:off x="1906749" y="3877656"/>
            <a:ext cx="1313138" cy="1422567"/>
          </a:xfrm>
          <a:prstGeom prst="rect">
            <a:avLst/>
          </a:prstGeom>
          <a:solidFill>
            <a:srgbClr val="FFFFFF"/>
          </a:solidFill>
          <a:ln w="6350">
            <a:solidFill>
              <a:srgbClr val="999999"/>
            </a:solidFill>
            <a:prstDash val="solid"/>
          </a:ln>
        </p:spPr>
      </p:sp>
      <p:sp>
        <p:nvSpPr>
          <p:cNvPr id="81" name="Shape 79"/>
          <p:cNvSpPr/>
          <p:nvPr/>
        </p:nvSpPr>
        <p:spPr>
          <a:xfrm>
            <a:off x="1961463" y="3932370"/>
            <a:ext cx="1203710" cy="656569"/>
          </a:xfrm>
          <a:prstGeom prst="rect">
            <a:avLst/>
          </a:prstGeom>
          <a:solidFill>
            <a:srgbClr val="FFFFFF"/>
          </a:solidFill>
          <a:ln w="6350">
            <a:solidFill>
              <a:srgbClr val="999999"/>
            </a:solidFill>
            <a:prstDash val="solid"/>
          </a:ln>
        </p:spPr>
      </p:sp>
      <p:sp>
        <p:nvSpPr>
          <p:cNvPr id="82" name="Shape 80"/>
          <p:cNvSpPr/>
          <p:nvPr/>
        </p:nvSpPr>
        <p:spPr>
          <a:xfrm>
            <a:off x="1961463" y="3932370"/>
            <a:ext cx="1203710" cy="656569"/>
          </a:xfrm>
          <a:prstGeom prst="line">
            <a:avLst/>
          </a:prstGeom>
          <a:noFill/>
          <a:ln w="6350">
            <a:solidFill>
              <a:srgbClr val="999999"/>
            </a:solidFill>
            <a:prstDash val="solid"/>
          </a:ln>
        </p:spPr>
      </p:sp>
      <p:sp>
        <p:nvSpPr>
          <p:cNvPr id="83" name="Shape 81"/>
          <p:cNvSpPr/>
          <p:nvPr/>
        </p:nvSpPr>
        <p:spPr>
          <a:xfrm flipV="1">
            <a:off x="1961463" y="3932370"/>
            <a:ext cx="1203710" cy="656569"/>
          </a:xfrm>
          <a:prstGeom prst="line">
            <a:avLst/>
          </a:prstGeom>
          <a:noFill/>
          <a:ln w="6350">
            <a:solidFill>
              <a:srgbClr val="999999"/>
            </a:solidFill>
            <a:prstDash val="solid"/>
          </a:ln>
        </p:spPr>
      </p:sp>
      <p:sp>
        <p:nvSpPr>
          <p:cNvPr id="84" name="Text 82"/>
          <p:cNvSpPr txBox="1"/>
          <p:nvPr/>
        </p:nvSpPr>
        <p:spPr>
          <a:xfrm>
            <a:off x="1961463" y="4632710"/>
            <a:ext cx="1203710" cy="131314"/>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Scallops &amp; Chips</a:t>
            </a:r>
            <a:endParaRPr lang="en-US" sz="700" dirty="0"/>
          </a:p>
        </p:txBody>
      </p:sp>
      <p:sp>
        <p:nvSpPr>
          <p:cNvPr id="85" name="Shape 83"/>
          <p:cNvSpPr/>
          <p:nvPr/>
        </p:nvSpPr>
        <p:spPr>
          <a:xfrm>
            <a:off x="1961463" y="4807795"/>
            <a:ext cx="1094282" cy="43771"/>
          </a:xfrm>
          <a:prstGeom prst="rect">
            <a:avLst/>
          </a:prstGeom>
          <a:solidFill>
            <a:srgbClr val="DDDDDD"/>
          </a:solidFill>
          <a:ln/>
        </p:spPr>
      </p:sp>
      <p:sp>
        <p:nvSpPr>
          <p:cNvPr id="86" name="Shape 84"/>
          <p:cNvSpPr/>
          <p:nvPr/>
        </p:nvSpPr>
        <p:spPr>
          <a:xfrm>
            <a:off x="1961463" y="4895338"/>
            <a:ext cx="820711" cy="43771"/>
          </a:xfrm>
          <a:prstGeom prst="rect">
            <a:avLst/>
          </a:prstGeom>
          <a:solidFill>
            <a:srgbClr val="DDDDDD"/>
          </a:solidFill>
          <a:ln/>
        </p:spPr>
      </p:sp>
      <p:sp>
        <p:nvSpPr>
          <p:cNvPr id="87" name="Text 85"/>
          <p:cNvSpPr txBox="1"/>
          <p:nvPr/>
        </p:nvSpPr>
        <p:spPr>
          <a:xfrm>
            <a:off x="1961463" y="5037594"/>
            <a:ext cx="492427" cy="196971"/>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$24.99</a:t>
            </a:r>
            <a:endParaRPr lang="en-US" sz="700" dirty="0"/>
          </a:p>
        </p:txBody>
      </p:sp>
      <p:sp>
        <p:nvSpPr>
          <p:cNvPr id="88" name="Shape 86"/>
          <p:cNvSpPr/>
          <p:nvPr/>
        </p:nvSpPr>
        <p:spPr>
          <a:xfrm>
            <a:off x="2618032" y="5037594"/>
            <a:ext cx="547141" cy="196971"/>
          </a:xfrm>
          <a:prstGeom prst="roundRect">
            <a:avLst>
              <a:gd name="adj" fmla="val 15000"/>
            </a:avLst>
          </a:prstGeom>
          <a:solidFill>
            <a:srgbClr val="555555"/>
          </a:solidFill>
          <a:ln w="6350">
            <a:solidFill>
              <a:srgbClr val="555555"/>
            </a:solidFill>
            <a:prstDash val="solid"/>
          </a:ln>
        </p:spPr>
      </p:sp>
      <p:sp>
        <p:nvSpPr>
          <p:cNvPr id="89" name="Text 87"/>
          <p:cNvSpPr txBox="1"/>
          <p:nvPr/>
        </p:nvSpPr>
        <p:spPr>
          <a:xfrm>
            <a:off x="2618032" y="5037594"/>
            <a:ext cx="547141" cy="196971"/>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Add +</a:t>
            </a:r>
            <a:endParaRPr lang="en-US" sz="600" dirty="0"/>
          </a:p>
        </p:txBody>
      </p:sp>
      <p:sp>
        <p:nvSpPr>
          <p:cNvPr id="90" name="Shape 88"/>
          <p:cNvSpPr/>
          <p:nvPr/>
        </p:nvSpPr>
        <p:spPr>
          <a:xfrm>
            <a:off x="3329315" y="3877656"/>
            <a:ext cx="1313138" cy="1422567"/>
          </a:xfrm>
          <a:prstGeom prst="rect">
            <a:avLst/>
          </a:prstGeom>
          <a:solidFill>
            <a:srgbClr val="FFFFFF"/>
          </a:solidFill>
          <a:ln w="6350">
            <a:solidFill>
              <a:srgbClr val="999999"/>
            </a:solidFill>
            <a:prstDash val="solid"/>
          </a:ln>
        </p:spPr>
      </p:sp>
      <p:sp>
        <p:nvSpPr>
          <p:cNvPr id="91" name="Shape 89"/>
          <p:cNvSpPr/>
          <p:nvPr/>
        </p:nvSpPr>
        <p:spPr>
          <a:xfrm>
            <a:off x="3384030" y="3932370"/>
            <a:ext cx="1203710" cy="656569"/>
          </a:xfrm>
          <a:prstGeom prst="rect">
            <a:avLst/>
          </a:prstGeom>
          <a:solidFill>
            <a:srgbClr val="FFFFFF"/>
          </a:solidFill>
          <a:ln w="6350">
            <a:solidFill>
              <a:srgbClr val="999999"/>
            </a:solidFill>
            <a:prstDash val="solid"/>
          </a:ln>
        </p:spPr>
      </p:sp>
      <p:sp>
        <p:nvSpPr>
          <p:cNvPr id="92" name="Shape 90"/>
          <p:cNvSpPr/>
          <p:nvPr/>
        </p:nvSpPr>
        <p:spPr>
          <a:xfrm>
            <a:off x="3384030" y="3932370"/>
            <a:ext cx="1203710" cy="656569"/>
          </a:xfrm>
          <a:prstGeom prst="line">
            <a:avLst/>
          </a:prstGeom>
          <a:noFill/>
          <a:ln w="6350">
            <a:solidFill>
              <a:srgbClr val="999999"/>
            </a:solidFill>
            <a:prstDash val="solid"/>
          </a:ln>
        </p:spPr>
      </p:sp>
      <p:sp>
        <p:nvSpPr>
          <p:cNvPr id="93" name="Shape 91"/>
          <p:cNvSpPr/>
          <p:nvPr/>
        </p:nvSpPr>
        <p:spPr>
          <a:xfrm flipV="1">
            <a:off x="3384030" y="3932370"/>
            <a:ext cx="1203710" cy="656569"/>
          </a:xfrm>
          <a:prstGeom prst="line">
            <a:avLst/>
          </a:prstGeom>
          <a:noFill/>
          <a:ln w="6350">
            <a:solidFill>
              <a:srgbClr val="999999"/>
            </a:solidFill>
            <a:prstDash val="solid"/>
          </a:ln>
        </p:spPr>
      </p:sp>
      <p:sp>
        <p:nvSpPr>
          <p:cNvPr id="94" name="Text 92"/>
          <p:cNvSpPr txBox="1"/>
          <p:nvPr/>
        </p:nvSpPr>
        <p:spPr>
          <a:xfrm>
            <a:off x="3384030" y="4632710"/>
            <a:ext cx="1203710" cy="131314"/>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Lobster Roll</a:t>
            </a:r>
            <a:endParaRPr lang="en-US" sz="700" dirty="0"/>
          </a:p>
        </p:txBody>
      </p:sp>
      <p:sp>
        <p:nvSpPr>
          <p:cNvPr id="95" name="Shape 93"/>
          <p:cNvSpPr/>
          <p:nvPr/>
        </p:nvSpPr>
        <p:spPr>
          <a:xfrm>
            <a:off x="3384030" y="4807795"/>
            <a:ext cx="1094282" cy="43771"/>
          </a:xfrm>
          <a:prstGeom prst="rect">
            <a:avLst/>
          </a:prstGeom>
          <a:solidFill>
            <a:srgbClr val="DDDDDD"/>
          </a:solidFill>
          <a:ln/>
        </p:spPr>
      </p:sp>
      <p:sp>
        <p:nvSpPr>
          <p:cNvPr id="96" name="Shape 94"/>
          <p:cNvSpPr/>
          <p:nvPr/>
        </p:nvSpPr>
        <p:spPr>
          <a:xfrm>
            <a:off x="3384030" y="4895338"/>
            <a:ext cx="820711" cy="43771"/>
          </a:xfrm>
          <a:prstGeom prst="rect">
            <a:avLst/>
          </a:prstGeom>
          <a:solidFill>
            <a:srgbClr val="DDDDDD"/>
          </a:solidFill>
          <a:ln/>
        </p:spPr>
      </p:sp>
      <p:sp>
        <p:nvSpPr>
          <p:cNvPr id="97" name="Text 95"/>
          <p:cNvSpPr txBox="1"/>
          <p:nvPr/>
        </p:nvSpPr>
        <p:spPr>
          <a:xfrm>
            <a:off x="3384030" y="5037594"/>
            <a:ext cx="492427" cy="196971"/>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$22.99</a:t>
            </a:r>
            <a:endParaRPr lang="en-US" sz="700" dirty="0"/>
          </a:p>
        </p:txBody>
      </p:sp>
      <p:sp>
        <p:nvSpPr>
          <p:cNvPr id="98" name="Shape 96"/>
          <p:cNvSpPr/>
          <p:nvPr/>
        </p:nvSpPr>
        <p:spPr>
          <a:xfrm>
            <a:off x="4040599" y="5037594"/>
            <a:ext cx="547141" cy="196971"/>
          </a:xfrm>
          <a:prstGeom prst="roundRect">
            <a:avLst>
              <a:gd name="adj" fmla="val 15000"/>
            </a:avLst>
          </a:prstGeom>
          <a:solidFill>
            <a:srgbClr val="555555"/>
          </a:solidFill>
          <a:ln w="6350">
            <a:solidFill>
              <a:srgbClr val="555555"/>
            </a:solidFill>
            <a:prstDash val="solid"/>
          </a:ln>
        </p:spPr>
      </p:sp>
      <p:sp>
        <p:nvSpPr>
          <p:cNvPr id="99" name="Text 97"/>
          <p:cNvSpPr txBox="1"/>
          <p:nvPr/>
        </p:nvSpPr>
        <p:spPr>
          <a:xfrm>
            <a:off x="4040599" y="5037594"/>
            <a:ext cx="547141" cy="196971"/>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Add +</a:t>
            </a:r>
            <a:endParaRPr lang="en-US" sz="600" dirty="0"/>
          </a:p>
        </p:txBody>
      </p:sp>
      <p:sp>
        <p:nvSpPr>
          <p:cNvPr id="100" name="Shape 98"/>
          <p:cNvSpPr/>
          <p:nvPr/>
        </p:nvSpPr>
        <p:spPr>
          <a:xfrm>
            <a:off x="4806596" y="1798520"/>
            <a:ext cx="2024422" cy="2407420"/>
          </a:xfrm>
          <a:prstGeom prst="rect">
            <a:avLst/>
          </a:prstGeom>
          <a:solidFill>
            <a:srgbClr val="F5F5F5"/>
          </a:solidFill>
          <a:ln w="6350">
            <a:solidFill>
              <a:srgbClr val="999999"/>
            </a:solidFill>
            <a:prstDash val="solid"/>
          </a:ln>
        </p:spPr>
      </p:sp>
      <p:sp>
        <p:nvSpPr>
          <p:cNvPr id="101" name="Text 99"/>
          <p:cNvSpPr txBox="1"/>
          <p:nvPr/>
        </p:nvSpPr>
        <p:spPr>
          <a:xfrm>
            <a:off x="4916024" y="1886062"/>
            <a:ext cx="1367852" cy="164142"/>
          </a:xfrm>
          <a:prstGeom prst="rect">
            <a:avLst/>
          </a:prstGeom>
          <a:noFill/>
          <a:ln/>
        </p:spPr>
        <p:txBody>
          <a:bodyPr wrap="square" lIns="12700" tIns="12700" rIns="12700" bIns="12700" rtlCol="0" anchor="ctr"/>
          <a:lstStyle/>
          <a:p>
            <a:pPr algn="l" indent="0" marL="0">
              <a:lnSpc>
                <a:spcPct val="95000"/>
              </a:lnSpc>
              <a:buNone/>
            </a:pPr>
            <a:r>
              <a:rPr lang="en-US" sz="850" b="1" dirty="0">
                <a:solidFill>
                  <a:srgbClr val="333333"/>
                </a:solidFill>
                <a:latin typeface="Arial" pitchFamily="34" charset="0"/>
                <a:ea typeface="Arial" pitchFamily="34" charset="-122"/>
                <a:cs typeface="Arial" pitchFamily="34" charset="-120"/>
              </a:rPr>
              <a:t>Your Order</a:t>
            </a:r>
            <a:endParaRPr lang="en-US" sz="850" dirty="0"/>
          </a:p>
        </p:txBody>
      </p:sp>
      <p:sp>
        <p:nvSpPr>
          <p:cNvPr id="102" name="Text 100"/>
          <p:cNvSpPr txBox="1"/>
          <p:nvPr/>
        </p:nvSpPr>
        <p:spPr>
          <a:xfrm>
            <a:off x="4916024" y="2148690"/>
            <a:ext cx="984854" cy="153199"/>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Haddock &amp; Chips (2 pc)</a:t>
            </a:r>
            <a:endParaRPr lang="en-US" sz="600" dirty="0"/>
          </a:p>
        </p:txBody>
      </p:sp>
      <p:sp>
        <p:nvSpPr>
          <p:cNvPr id="103" name="Shape 101"/>
          <p:cNvSpPr/>
          <p:nvPr/>
        </p:nvSpPr>
        <p:spPr>
          <a:xfrm>
            <a:off x="5933706" y="2148690"/>
            <a:ext cx="153199" cy="153199"/>
          </a:xfrm>
          <a:prstGeom prst="roundRect">
            <a:avLst>
              <a:gd name="adj" fmla="val 15000"/>
            </a:avLst>
          </a:prstGeom>
          <a:solidFill>
            <a:srgbClr val="FFFFFF"/>
          </a:solidFill>
          <a:ln w="6350">
            <a:solidFill>
              <a:srgbClr val="555555"/>
            </a:solidFill>
            <a:prstDash val="solid"/>
          </a:ln>
        </p:spPr>
      </p:sp>
      <p:sp>
        <p:nvSpPr>
          <p:cNvPr id="104" name="Text 102"/>
          <p:cNvSpPr txBox="1"/>
          <p:nvPr/>
        </p:nvSpPr>
        <p:spPr>
          <a:xfrm>
            <a:off x="5933706" y="2148690"/>
            <a:ext cx="153199" cy="153199"/>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a:t>
            </a:r>
            <a:endParaRPr lang="en-US" sz="600" dirty="0"/>
          </a:p>
        </p:txBody>
      </p:sp>
      <p:sp>
        <p:nvSpPr>
          <p:cNvPr id="105" name="Text 103"/>
          <p:cNvSpPr txBox="1"/>
          <p:nvPr/>
        </p:nvSpPr>
        <p:spPr>
          <a:xfrm>
            <a:off x="6086906" y="2148690"/>
            <a:ext cx="131314" cy="153199"/>
          </a:xfrm>
          <a:prstGeom prst="rect">
            <a:avLst/>
          </a:prstGeom>
          <a:noFill/>
          <a:ln/>
        </p:spPr>
        <p:txBody>
          <a:bodyPr wrap="square" lIns="12700" tIns="12700" rIns="12700" bIns="12700" rtlCol="0" anchor="ctr"/>
          <a:lstStyle/>
          <a:p>
            <a:pPr algn="ctr" indent="0" marL="0">
              <a:lnSpc>
                <a:spcPct val="95000"/>
              </a:lnSpc>
              <a:buNone/>
            </a:pPr>
            <a:r>
              <a:rPr lang="en-US" sz="600" dirty="0">
                <a:solidFill>
                  <a:srgbClr val="333333"/>
                </a:solidFill>
                <a:latin typeface="Arial" pitchFamily="34" charset="0"/>
                <a:ea typeface="Arial" pitchFamily="34" charset="-122"/>
                <a:cs typeface="Arial" pitchFamily="34" charset="-120"/>
              </a:rPr>
              <a:t>1</a:t>
            </a:r>
            <a:endParaRPr lang="en-US" sz="600" dirty="0"/>
          </a:p>
        </p:txBody>
      </p:sp>
      <p:sp>
        <p:nvSpPr>
          <p:cNvPr id="106" name="Shape 104"/>
          <p:cNvSpPr/>
          <p:nvPr/>
        </p:nvSpPr>
        <p:spPr>
          <a:xfrm>
            <a:off x="6218220" y="2148690"/>
            <a:ext cx="153199" cy="153199"/>
          </a:xfrm>
          <a:prstGeom prst="roundRect">
            <a:avLst>
              <a:gd name="adj" fmla="val 15000"/>
            </a:avLst>
          </a:prstGeom>
          <a:solidFill>
            <a:srgbClr val="FFFFFF"/>
          </a:solidFill>
          <a:ln w="6350">
            <a:solidFill>
              <a:srgbClr val="555555"/>
            </a:solidFill>
            <a:prstDash val="solid"/>
          </a:ln>
        </p:spPr>
      </p:sp>
      <p:sp>
        <p:nvSpPr>
          <p:cNvPr id="107" name="Text 105"/>
          <p:cNvSpPr txBox="1"/>
          <p:nvPr/>
        </p:nvSpPr>
        <p:spPr>
          <a:xfrm>
            <a:off x="6218220" y="2148690"/>
            <a:ext cx="153199" cy="153199"/>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a:t>
            </a:r>
            <a:endParaRPr lang="en-US" sz="600" dirty="0"/>
          </a:p>
        </p:txBody>
      </p:sp>
      <p:sp>
        <p:nvSpPr>
          <p:cNvPr id="108" name="Text 106"/>
          <p:cNvSpPr txBox="1"/>
          <p:nvPr/>
        </p:nvSpPr>
        <p:spPr>
          <a:xfrm>
            <a:off x="6393305" y="2148690"/>
            <a:ext cx="328285" cy="153199"/>
          </a:xfrm>
          <a:prstGeom prst="rect">
            <a:avLst/>
          </a:prstGeom>
          <a:noFill/>
          <a:ln/>
        </p:spPr>
        <p:txBody>
          <a:bodyPr wrap="square" lIns="12700" tIns="12700" rIns="12700" bIns="12700" rtlCol="0" anchor="ctr"/>
          <a:lstStyle/>
          <a:p>
            <a:pPr algn="r" indent="0" marL="0">
              <a:lnSpc>
                <a:spcPct val="95000"/>
              </a:lnSpc>
              <a:buNone/>
            </a:pPr>
            <a:r>
              <a:rPr lang="en-US" sz="600" dirty="0">
                <a:solidFill>
                  <a:srgbClr val="333333"/>
                </a:solidFill>
                <a:latin typeface="Arial" pitchFamily="34" charset="0"/>
                <a:ea typeface="Arial" pitchFamily="34" charset="-122"/>
                <a:cs typeface="Arial" pitchFamily="34" charset="-120"/>
              </a:rPr>
              <a:t>$19.99</a:t>
            </a:r>
            <a:endParaRPr lang="en-US" sz="600" dirty="0"/>
          </a:p>
        </p:txBody>
      </p:sp>
      <p:sp>
        <p:nvSpPr>
          <p:cNvPr id="109" name="Text 107"/>
          <p:cNvSpPr txBox="1"/>
          <p:nvPr/>
        </p:nvSpPr>
        <p:spPr>
          <a:xfrm>
            <a:off x="4916024" y="2422261"/>
            <a:ext cx="984854" cy="153199"/>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Fries (large)</a:t>
            </a:r>
            <a:endParaRPr lang="en-US" sz="600" dirty="0"/>
          </a:p>
        </p:txBody>
      </p:sp>
      <p:sp>
        <p:nvSpPr>
          <p:cNvPr id="110" name="Shape 108"/>
          <p:cNvSpPr/>
          <p:nvPr/>
        </p:nvSpPr>
        <p:spPr>
          <a:xfrm>
            <a:off x="5933706" y="2422261"/>
            <a:ext cx="153199" cy="153199"/>
          </a:xfrm>
          <a:prstGeom prst="roundRect">
            <a:avLst>
              <a:gd name="adj" fmla="val 15000"/>
            </a:avLst>
          </a:prstGeom>
          <a:solidFill>
            <a:srgbClr val="FFFFFF"/>
          </a:solidFill>
          <a:ln w="6350">
            <a:solidFill>
              <a:srgbClr val="555555"/>
            </a:solidFill>
            <a:prstDash val="solid"/>
          </a:ln>
        </p:spPr>
      </p:sp>
      <p:sp>
        <p:nvSpPr>
          <p:cNvPr id="111" name="Text 109"/>
          <p:cNvSpPr txBox="1"/>
          <p:nvPr/>
        </p:nvSpPr>
        <p:spPr>
          <a:xfrm>
            <a:off x="5933706" y="2422261"/>
            <a:ext cx="153199" cy="153199"/>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a:t>
            </a:r>
            <a:endParaRPr lang="en-US" sz="600" dirty="0"/>
          </a:p>
        </p:txBody>
      </p:sp>
      <p:sp>
        <p:nvSpPr>
          <p:cNvPr id="112" name="Text 110"/>
          <p:cNvSpPr txBox="1"/>
          <p:nvPr/>
        </p:nvSpPr>
        <p:spPr>
          <a:xfrm>
            <a:off x="6086906" y="2422261"/>
            <a:ext cx="131314" cy="153199"/>
          </a:xfrm>
          <a:prstGeom prst="rect">
            <a:avLst/>
          </a:prstGeom>
          <a:noFill/>
          <a:ln/>
        </p:spPr>
        <p:txBody>
          <a:bodyPr wrap="square" lIns="12700" tIns="12700" rIns="12700" bIns="12700" rtlCol="0" anchor="ctr"/>
          <a:lstStyle/>
          <a:p>
            <a:pPr algn="ctr" indent="0" marL="0">
              <a:lnSpc>
                <a:spcPct val="95000"/>
              </a:lnSpc>
              <a:buNone/>
            </a:pPr>
            <a:r>
              <a:rPr lang="en-US" sz="600" dirty="0">
                <a:solidFill>
                  <a:srgbClr val="333333"/>
                </a:solidFill>
                <a:latin typeface="Arial" pitchFamily="34" charset="0"/>
                <a:ea typeface="Arial" pitchFamily="34" charset="-122"/>
                <a:cs typeface="Arial" pitchFamily="34" charset="-120"/>
              </a:rPr>
              <a:t>1</a:t>
            </a:r>
            <a:endParaRPr lang="en-US" sz="600" dirty="0"/>
          </a:p>
        </p:txBody>
      </p:sp>
      <p:sp>
        <p:nvSpPr>
          <p:cNvPr id="113" name="Shape 111"/>
          <p:cNvSpPr/>
          <p:nvPr/>
        </p:nvSpPr>
        <p:spPr>
          <a:xfrm>
            <a:off x="6218220" y="2422261"/>
            <a:ext cx="153199" cy="153199"/>
          </a:xfrm>
          <a:prstGeom prst="roundRect">
            <a:avLst>
              <a:gd name="adj" fmla="val 15000"/>
            </a:avLst>
          </a:prstGeom>
          <a:solidFill>
            <a:srgbClr val="FFFFFF"/>
          </a:solidFill>
          <a:ln w="6350">
            <a:solidFill>
              <a:srgbClr val="555555"/>
            </a:solidFill>
            <a:prstDash val="solid"/>
          </a:ln>
        </p:spPr>
      </p:sp>
      <p:sp>
        <p:nvSpPr>
          <p:cNvPr id="114" name="Text 112"/>
          <p:cNvSpPr txBox="1"/>
          <p:nvPr/>
        </p:nvSpPr>
        <p:spPr>
          <a:xfrm>
            <a:off x="6218220" y="2422261"/>
            <a:ext cx="153199" cy="153199"/>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a:t>
            </a:r>
            <a:endParaRPr lang="en-US" sz="600" dirty="0"/>
          </a:p>
        </p:txBody>
      </p:sp>
      <p:sp>
        <p:nvSpPr>
          <p:cNvPr id="115" name="Text 113"/>
          <p:cNvSpPr txBox="1"/>
          <p:nvPr/>
        </p:nvSpPr>
        <p:spPr>
          <a:xfrm>
            <a:off x="6393305" y="2422261"/>
            <a:ext cx="328285" cy="153199"/>
          </a:xfrm>
          <a:prstGeom prst="rect">
            <a:avLst/>
          </a:prstGeom>
          <a:noFill/>
          <a:ln/>
        </p:spPr>
        <p:txBody>
          <a:bodyPr wrap="square" lIns="12700" tIns="12700" rIns="12700" bIns="12700" rtlCol="0" anchor="ctr"/>
          <a:lstStyle/>
          <a:p>
            <a:pPr algn="r" indent="0" marL="0">
              <a:lnSpc>
                <a:spcPct val="95000"/>
              </a:lnSpc>
              <a:buNone/>
            </a:pPr>
            <a:r>
              <a:rPr lang="en-US" sz="600" dirty="0">
                <a:solidFill>
                  <a:srgbClr val="333333"/>
                </a:solidFill>
                <a:latin typeface="Arial" pitchFamily="34" charset="0"/>
                <a:ea typeface="Arial" pitchFamily="34" charset="-122"/>
                <a:cs typeface="Arial" pitchFamily="34" charset="-120"/>
              </a:rPr>
              <a:t>$5.49</a:t>
            </a:r>
            <a:endParaRPr lang="en-US" sz="600" dirty="0"/>
          </a:p>
        </p:txBody>
      </p:sp>
      <p:sp>
        <p:nvSpPr>
          <p:cNvPr id="116" name="Text 114"/>
          <p:cNvSpPr txBox="1"/>
          <p:nvPr/>
        </p:nvSpPr>
        <p:spPr>
          <a:xfrm>
            <a:off x="4916024" y="2695831"/>
            <a:ext cx="984854" cy="153199"/>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Coleslaw</a:t>
            </a:r>
            <a:endParaRPr lang="en-US" sz="600" dirty="0"/>
          </a:p>
        </p:txBody>
      </p:sp>
      <p:sp>
        <p:nvSpPr>
          <p:cNvPr id="117" name="Shape 115"/>
          <p:cNvSpPr/>
          <p:nvPr/>
        </p:nvSpPr>
        <p:spPr>
          <a:xfrm>
            <a:off x="5933706" y="2695831"/>
            <a:ext cx="153199" cy="153199"/>
          </a:xfrm>
          <a:prstGeom prst="roundRect">
            <a:avLst>
              <a:gd name="adj" fmla="val 15000"/>
            </a:avLst>
          </a:prstGeom>
          <a:solidFill>
            <a:srgbClr val="FFFFFF"/>
          </a:solidFill>
          <a:ln w="6350">
            <a:solidFill>
              <a:srgbClr val="555555"/>
            </a:solidFill>
            <a:prstDash val="solid"/>
          </a:ln>
        </p:spPr>
      </p:sp>
      <p:sp>
        <p:nvSpPr>
          <p:cNvPr id="118" name="Text 116"/>
          <p:cNvSpPr txBox="1"/>
          <p:nvPr/>
        </p:nvSpPr>
        <p:spPr>
          <a:xfrm>
            <a:off x="5933706" y="2695831"/>
            <a:ext cx="153199" cy="153199"/>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a:t>
            </a:r>
            <a:endParaRPr lang="en-US" sz="600" dirty="0"/>
          </a:p>
        </p:txBody>
      </p:sp>
      <p:sp>
        <p:nvSpPr>
          <p:cNvPr id="119" name="Text 117"/>
          <p:cNvSpPr txBox="1"/>
          <p:nvPr/>
        </p:nvSpPr>
        <p:spPr>
          <a:xfrm>
            <a:off x="6086906" y="2695831"/>
            <a:ext cx="131314" cy="153199"/>
          </a:xfrm>
          <a:prstGeom prst="rect">
            <a:avLst/>
          </a:prstGeom>
          <a:noFill/>
          <a:ln/>
        </p:spPr>
        <p:txBody>
          <a:bodyPr wrap="square" lIns="12700" tIns="12700" rIns="12700" bIns="12700" rtlCol="0" anchor="ctr"/>
          <a:lstStyle/>
          <a:p>
            <a:pPr algn="ctr" indent="0" marL="0">
              <a:lnSpc>
                <a:spcPct val="95000"/>
              </a:lnSpc>
              <a:buNone/>
            </a:pPr>
            <a:r>
              <a:rPr lang="en-US" sz="600" dirty="0">
                <a:solidFill>
                  <a:srgbClr val="333333"/>
                </a:solidFill>
                <a:latin typeface="Arial" pitchFamily="34" charset="0"/>
                <a:ea typeface="Arial" pitchFamily="34" charset="-122"/>
                <a:cs typeface="Arial" pitchFamily="34" charset="-120"/>
              </a:rPr>
              <a:t>1</a:t>
            </a:r>
            <a:endParaRPr lang="en-US" sz="600" dirty="0"/>
          </a:p>
        </p:txBody>
      </p:sp>
      <p:sp>
        <p:nvSpPr>
          <p:cNvPr id="120" name="Shape 118"/>
          <p:cNvSpPr/>
          <p:nvPr/>
        </p:nvSpPr>
        <p:spPr>
          <a:xfrm>
            <a:off x="6218220" y="2695831"/>
            <a:ext cx="153199" cy="153199"/>
          </a:xfrm>
          <a:prstGeom prst="roundRect">
            <a:avLst>
              <a:gd name="adj" fmla="val 15000"/>
            </a:avLst>
          </a:prstGeom>
          <a:solidFill>
            <a:srgbClr val="FFFFFF"/>
          </a:solidFill>
          <a:ln w="6350">
            <a:solidFill>
              <a:srgbClr val="555555"/>
            </a:solidFill>
            <a:prstDash val="solid"/>
          </a:ln>
        </p:spPr>
      </p:sp>
      <p:sp>
        <p:nvSpPr>
          <p:cNvPr id="121" name="Text 119"/>
          <p:cNvSpPr txBox="1"/>
          <p:nvPr/>
        </p:nvSpPr>
        <p:spPr>
          <a:xfrm>
            <a:off x="6218220" y="2695831"/>
            <a:ext cx="153199" cy="153199"/>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a:t>
            </a:r>
            <a:endParaRPr lang="en-US" sz="600" dirty="0"/>
          </a:p>
        </p:txBody>
      </p:sp>
      <p:sp>
        <p:nvSpPr>
          <p:cNvPr id="122" name="Text 120"/>
          <p:cNvSpPr txBox="1"/>
          <p:nvPr/>
        </p:nvSpPr>
        <p:spPr>
          <a:xfrm>
            <a:off x="6393305" y="2695831"/>
            <a:ext cx="328285" cy="153199"/>
          </a:xfrm>
          <a:prstGeom prst="rect">
            <a:avLst/>
          </a:prstGeom>
          <a:noFill/>
          <a:ln/>
        </p:spPr>
        <p:txBody>
          <a:bodyPr wrap="square" lIns="12700" tIns="12700" rIns="12700" bIns="12700" rtlCol="0" anchor="ctr"/>
          <a:lstStyle/>
          <a:p>
            <a:pPr algn="r" indent="0" marL="0">
              <a:lnSpc>
                <a:spcPct val="95000"/>
              </a:lnSpc>
              <a:buNone/>
            </a:pPr>
            <a:r>
              <a:rPr lang="en-US" sz="600" dirty="0">
                <a:solidFill>
                  <a:srgbClr val="333333"/>
                </a:solidFill>
                <a:latin typeface="Arial" pitchFamily="34" charset="0"/>
                <a:ea typeface="Arial" pitchFamily="34" charset="-122"/>
                <a:cs typeface="Arial" pitchFamily="34" charset="-120"/>
              </a:rPr>
              <a:t>$3.49</a:t>
            </a:r>
            <a:endParaRPr lang="en-US" sz="600" dirty="0"/>
          </a:p>
        </p:txBody>
      </p:sp>
      <p:sp>
        <p:nvSpPr>
          <p:cNvPr id="123" name="Shape 121"/>
          <p:cNvSpPr/>
          <p:nvPr/>
        </p:nvSpPr>
        <p:spPr>
          <a:xfrm>
            <a:off x="4916024" y="3002230"/>
            <a:ext cx="1805565" cy="5471"/>
          </a:xfrm>
          <a:prstGeom prst="rect">
            <a:avLst/>
          </a:prstGeom>
          <a:solidFill>
            <a:srgbClr val="BBBBBB"/>
          </a:solidFill>
          <a:ln/>
        </p:spPr>
      </p:sp>
      <p:sp>
        <p:nvSpPr>
          <p:cNvPr id="124" name="Text 122"/>
          <p:cNvSpPr txBox="1"/>
          <p:nvPr/>
        </p:nvSpPr>
        <p:spPr>
          <a:xfrm>
            <a:off x="4916024" y="3067887"/>
            <a:ext cx="1094282" cy="142257"/>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Subtotal</a:t>
            </a:r>
            <a:endParaRPr lang="en-US" sz="600" dirty="0"/>
          </a:p>
        </p:txBody>
      </p:sp>
      <p:sp>
        <p:nvSpPr>
          <p:cNvPr id="125" name="Text 123"/>
          <p:cNvSpPr txBox="1"/>
          <p:nvPr/>
        </p:nvSpPr>
        <p:spPr>
          <a:xfrm>
            <a:off x="6174449" y="3067887"/>
            <a:ext cx="547141" cy="142257"/>
          </a:xfrm>
          <a:prstGeom prst="rect">
            <a:avLst/>
          </a:prstGeom>
          <a:noFill/>
          <a:ln/>
        </p:spPr>
        <p:txBody>
          <a:bodyPr wrap="square" lIns="12700" tIns="12700" rIns="12700" bIns="12700" rtlCol="0" anchor="ctr"/>
          <a:lstStyle/>
          <a:p>
            <a:pPr algn="r" indent="0" marL="0">
              <a:lnSpc>
                <a:spcPct val="95000"/>
              </a:lnSpc>
              <a:buNone/>
            </a:pPr>
            <a:r>
              <a:rPr lang="en-US" sz="600" dirty="0">
                <a:solidFill>
                  <a:srgbClr val="333333"/>
                </a:solidFill>
                <a:latin typeface="Arial" pitchFamily="34" charset="0"/>
                <a:ea typeface="Arial" pitchFamily="34" charset="-122"/>
                <a:cs typeface="Arial" pitchFamily="34" charset="-120"/>
              </a:rPr>
              <a:t>$28.97</a:t>
            </a:r>
            <a:endParaRPr lang="en-US" sz="600" dirty="0"/>
          </a:p>
        </p:txBody>
      </p:sp>
      <p:sp>
        <p:nvSpPr>
          <p:cNvPr id="126" name="Text 124"/>
          <p:cNvSpPr txBox="1"/>
          <p:nvPr/>
        </p:nvSpPr>
        <p:spPr>
          <a:xfrm>
            <a:off x="4916024" y="3232029"/>
            <a:ext cx="1094282" cy="142257"/>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HST (14%)</a:t>
            </a:r>
            <a:endParaRPr lang="en-US" sz="600" dirty="0"/>
          </a:p>
        </p:txBody>
      </p:sp>
      <p:sp>
        <p:nvSpPr>
          <p:cNvPr id="127" name="Text 125"/>
          <p:cNvSpPr txBox="1"/>
          <p:nvPr/>
        </p:nvSpPr>
        <p:spPr>
          <a:xfrm>
            <a:off x="6174449" y="3232029"/>
            <a:ext cx="547141" cy="142257"/>
          </a:xfrm>
          <a:prstGeom prst="rect">
            <a:avLst/>
          </a:prstGeom>
          <a:noFill/>
          <a:ln/>
        </p:spPr>
        <p:txBody>
          <a:bodyPr wrap="square" lIns="12700" tIns="12700" rIns="12700" bIns="12700" rtlCol="0" anchor="ctr"/>
          <a:lstStyle/>
          <a:p>
            <a:pPr algn="r" indent="0" marL="0">
              <a:lnSpc>
                <a:spcPct val="95000"/>
              </a:lnSpc>
              <a:buNone/>
            </a:pPr>
            <a:r>
              <a:rPr lang="en-US" sz="600" dirty="0">
                <a:solidFill>
                  <a:srgbClr val="333333"/>
                </a:solidFill>
                <a:latin typeface="Arial" pitchFamily="34" charset="0"/>
                <a:ea typeface="Arial" pitchFamily="34" charset="-122"/>
                <a:cs typeface="Arial" pitchFamily="34" charset="-120"/>
              </a:rPr>
              <a:t>$4.06</a:t>
            </a:r>
            <a:endParaRPr lang="en-US" sz="600" dirty="0"/>
          </a:p>
        </p:txBody>
      </p:sp>
      <p:sp>
        <p:nvSpPr>
          <p:cNvPr id="128" name="Text 126"/>
          <p:cNvSpPr txBox="1"/>
          <p:nvPr/>
        </p:nvSpPr>
        <p:spPr>
          <a:xfrm>
            <a:off x="4916024" y="3396172"/>
            <a:ext cx="1094282" cy="142257"/>
          </a:xfrm>
          <a:prstGeom prst="rect">
            <a:avLst/>
          </a:prstGeom>
          <a:noFill/>
          <a:ln/>
        </p:spPr>
        <p:txBody>
          <a:bodyPr wrap="square" lIns="12700" tIns="12700" rIns="12700" bIns="12700" rtlCol="0" anchor="ctr"/>
          <a:lstStyle/>
          <a:p>
            <a:pPr algn="l" indent="0" marL="0">
              <a:lnSpc>
                <a:spcPct val="95000"/>
              </a:lnSpc>
              <a:buNone/>
            </a:pPr>
            <a:r>
              <a:rPr lang="en-US" sz="750" b="1" dirty="0">
                <a:solidFill>
                  <a:srgbClr val="333333"/>
                </a:solidFill>
                <a:latin typeface="Arial" pitchFamily="34" charset="0"/>
                <a:ea typeface="Arial" pitchFamily="34" charset="-122"/>
                <a:cs typeface="Arial" pitchFamily="34" charset="-120"/>
              </a:rPr>
              <a:t>Total</a:t>
            </a:r>
            <a:endParaRPr lang="en-US" sz="750" dirty="0"/>
          </a:p>
        </p:txBody>
      </p:sp>
      <p:sp>
        <p:nvSpPr>
          <p:cNvPr id="129" name="Text 127"/>
          <p:cNvSpPr txBox="1"/>
          <p:nvPr/>
        </p:nvSpPr>
        <p:spPr>
          <a:xfrm>
            <a:off x="6174449" y="3396172"/>
            <a:ext cx="547141" cy="142257"/>
          </a:xfrm>
          <a:prstGeom prst="rect">
            <a:avLst/>
          </a:prstGeom>
          <a:noFill/>
          <a:ln/>
        </p:spPr>
        <p:txBody>
          <a:bodyPr wrap="square" lIns="12700" tIns="12700" rIns="12700" bIns="12700" rtlCol="0" anchor="ctr"/>
          <a:lstStyle/>
          <a:p>
            <a:pPr algn="r" indent="0" marL="0">
              <a:lnSpc>
                <a:spcPct val="95000"/>
              </a:lnSpc>
              <a:buNone/>
            </a:pPr>
            <a:r>
              <a:rPr lang="en-US" sz="750" b="1" dirty="0">
                <a:solidFill>
                  <a:srgbClr val="333333"/>
                </a:solidFill>
                <a:latin typeface="Arial" pitchFamily="34" charset="0"/>
                <a:ea typeface="Arial" pitchFamily="34" charset="-122"/>
                <a:cs typeface="Arial" pitchFamily="34" charset="-120"/>
              </a:rPr>
              <a:t>$33.03</a:t>
            </a:r>
            <a:endParaRPr lang="en-US" sz="750" dirty="0"/>
          </a:p>
        </p:txBody>
      </p:sp>
      <p:sp>
        <p:nvSpPr>
          <p:cNvPr id="130" name="Shape 128"/>
          <p:cNvSpPr/>
          <p:nvPr/>
        </p:nvSpPr>
        <p:spPr>
          <a:xfrm>
            <a:off x="4916024" y="3636914"/>
            <a:ext cx="1805565" cy="262628"/>
          </a:xfrm>
          <a:prstGeom prst="roundRect">
            <a:avLst>
              <a:gd name="adj" fmla="val 15000"/>
            </a:avLst>
          </a:prstGeom>
          <a:solidFill>
            <a:srgbClr val="555555"/>
          </a:solidFill>
          <a:ln w="6350">
            <a:solidFill>
              <a:srgbClr val="555555"/>
            </a:solidFill>
            <a:prstDash val="solid"/>
          </a:ln>
        </p:spPr>
      </p:sp>
      <p:sp>
        <p:nvSpPr>
          <p:cNvPr id="131" name="Text 129"/>
          <p:cNvSpPr txBox="1"/>
          <p:nvPr/>
        </p:nvSpPr>
        <p:spPr>
          <a:xfrm>
            <a:off x="4916024" y="3636914"/>
            <a:ext cx="1805565" cy="262628"/>
          </a:xfrm>
          <a:prstGeom prst="rect">
            <a:avLst/>
          </a:prstGeom>
          <a:noFill/>
          <a:ln/>
        </p:spPr>
        <p:txBody>
          <a:bodyPr wrap="square" lIns="12700" tIns="12700" rIns="12700" bIns="12700" rtlCol="0" anchor="ctr"/>
          <a:lstStyle/>
          <a:p>
            <a:pPr algn="ctr" indent="0" marL="0">
              <a:lnSpc>
                <a:spcPct val="95000"/>
              </a:lnSpc>
              <a:buNone/>
            </a:pPr>
            <a:r>
              <a:rPr lang="en-US" sz="750" b="1" dirty="0">
                <a:solidFill>
                  <a:srgbClr val="FFFFFF"/>
                </a:solidFill>
                <a:latin typeface="Arial" pitchFamily="34" charset="0"/>
                <a:ea typeface="Arial" pitchFamily="34" charset="-122"/>
                <a:cs typeface="Arial" pitchFamily="34" charset="-120"/>
              </a:rPr>
              <a:t>Checkout</a:t>
            </a:r>
            <a:endParaRPr lang="en-US" sz="750" dirty="0"/>
          </a:p>
        </p:txBody>
      </p:sp>
      <p:sp>
        <p:nvSpPr>
          <p:cNvPr id="132" name="Text 130"/>
          <p:cNvSpPr txBox="1"/>
          <p:nvPr/>
        </p:nvSpPr>
        <p:spPr>
          <a:xfrm>
            <a:off x="4916024" y="3954255"/>
            <a:ext cx="1805565" cy="131314"/>
          </a:xfrm>
          <a:prstGeom prst="rect">
            <a:avLst/>
          </a:prstGeom>
          <a:noFill/>
          <a:ln/>
        </p:spPr>
        <p:txBody>
          <a:bodyPr wrap="square" lIns="12700" tIns="12700" rIns="12700" bIns="12700" rtlCol="0" anchor="ctr"/>
          <a:lstStyle/>
          <a:p>
            <a:pPr algn="ctr" indent="0" marL="0">
              <a:lnSpc>
                <a:spcPct val="95000"/>
              </a:lnSpc>
              <a:buNone/>
            </a:pPr>
            <a:r>
              <a:rPr lang="en-US" sz="550" dirty="0">
                <a:solidFill>
                  <a:srgbClr val="777777"/>
                </a:solidFill>
                <a:latin typeface="Arial" pitchFamily="34" charset="0"/>
                <a:ea typeface="Arial" pitchFamily="34" charset="-122"/>
                <a:cs typeface="Arial" pitchFamily="34" charset="-120"/>
              </a:rPr>
              <a:t>Pickup · ASAP</a:t>
            </a:r>
            <a:endParaRPr lang="en-US" sz="550" dirty="0"/>
          </a:p>
        </p:txBody>
      </p:sp>
      <p:sp>
        <p:nvSpPr>
          <p:cNvPr id="133" name="Shape 131"/>
          <p:cNvSpPr/>
          <p:nvPr/>
        </p:nvSpPr>
        <p:spPr>
          <a:xfrm>
            <a:off x="374754" y="5540964"/>
            <a:ext cx="6565692" cy="5471"/>
          </a:xfrm>
          <a:prstGeom prst="rect">
            <a:avLst/>
          </a:prstGeom>
          <a:solidFill>
            <a:srgbClr val="BBBBBB"/>
          </a:solidFill>
          <a:ln/>
        </p:spPr>
      </p:sp>
      <p:sp>
        <p:nvSpPr>
          <p:cNvPr id="134" name="Text 132"/>
          <p:cNvSpPr txBox="1"/>
          <p:nvPr/>
        </p:nvSpPr>
        <p:spPr>
          <a:xfrm>
            <a:off x="484182" y="5628507"/>
            <a:ext cx="1969708" cy="437713"/>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Harbourside Fish &amp; Chips</a:t>
            </a:r>
            <a:endParaRPr lang="en-US" sz="600" dirty="0"/>
          </a:p>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12 Water St, Yarmouth NS</a:t>
            </a:r>
            <a:endParaRPr lang="en-US" sz="600" dirty="0"/>
          </a:p>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(902) 555-0142</a:t>
            </a:r>
            <a:endParaRPr lang="en-US" sz="600" dirty="0"/>
          </a:p>
        </p:txBody>
      </p:sp>
      <p:sp>
        <p:nvSpPr>
          <p:cNvPr id="135" name="Text 133"/>
          <p:cNvSpPr txBox="1"/>
          <p:nvPr/>
        </p:nvSpPr>
        <p:spPr>
          <a:xfrm>
            <a:off x="2672746" y="5628507"/>
            <a:ext cx="1969708" cy="437713"/>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Hours</a:t>
            </a:r>
            <a:endParaRPr lang="en-US" sz="600" dirty="0"/>
          </a:p>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Tue–Sun 11 am – 8 pm</a:t>
            </a:r>
            <a:endParaRPr lang="en-US" sz="600" dirty="0"/>
          </a:p>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Closed Mondays</a:t>
            </a:r>
            <a:endParaRPr lang="en-US" sz="600" dirty="0"/>
          </a:p>
        </p:txBody>
      </p:sp>
      <p:sp>
        <p:nvSpPr>
          <p:cNvPr id="136" name="Text 134"/>
          <p:cNvSpPr txBox="1"/>
          <p:nvPr/>
        </p:nvSpPr>
        <p:spPr>
          <a:xfrm>
            <a:off x="4861310" y="5628507"/>
            <a:ext cx="1094282" cy="131314"/>
          </a:xfrm>
          <a:prstGeom prst="rect">
            <a:avLst/>
          </a:prstGeom>
          <a:noFill/>
          <a:ln/>
        </p:spPr>
        <p:txBody>
          <a:bodyPr wrap="square" lIns="12700" tIns="12700" rIns="12700" bIns="12700" rtlCol="0" anchor="ctr"/>
          <a:lstStyle/>
          <a:p>
            <a:pPr algn="l" indent="0" marL="0">
              <a:lnSpc>
                <a:spcPct val="95000"/>
              </a:lnSpc>
              <a:buNone/>
            </a:pPr>
            <a:r>
              <a:rPr lang="en-US" sz="600" b="1" dirty="0">
                <a:solidFill>
                  <a:srgbClr val="333333"/>
                </a:solidFill>
                <a:latin typeface="Arial" pitchFamily="34" charset="0"/>
                <a:ea typeface="Arial" pitchFamily="34" charset="-122"/>
                <a:cs typeface="Arial" pitchFamily="34" charset="-120"/>
              </a:rPr>
              <a:t>Follow us</a:t>
            </a:r>
            <a:endParaRPr lang="en-US" sz="600" dirty="0"/>
          </a:p>
        </p:txBody>
      </p:sp>
      <p:sp>
        <p:nvSpPr>
          <p:cNvPr id="137" name="Shape 135"/>
          <p:cNvSpPr/>
          <p:nvPr/>
        </p:nvSpPr>
        <p:spPr>
          <a:xfrm>
            <a:off x="4861310" y="5803592"/>
            <a:ext cx="164142" cy="164142"/>
          </a:xfrm>
          <a:prstGeom prst="ellipse">
            <a:avLst/>
          </a:prstGeom>
          <a:solidFill>
            <a:srgbClr val="FFFFFF"/>
          </a:solidFill>
          <a:ln w="6350">
            <a:solidFill>
              <a:srgbClr val="999999"/>
            </a:solidFill>
            <a:prstDash val="solid"/>
          </a:ln>
        </p:spPr>
      </p:sp>
      <p:sp>
        <p:nvSpPr>
          <p:cNvPr id="138" name="Shape 136"/>
          <p:cNvSpPr/>
          <p:nvPr/>
        </p:nvSpPr>
        <p:spPr>
          <a:xfrm>
            <a:off x="5080167" y="5803592"/>
            <a:ext cx="164142" cy="164142"/>
          </a:xfrm>
          <a:prstGeom prst="ellipse">
            <a:avLst/>
          </a:prstGeom>
          <a:solidFill>
            <a:srgbClr val="FFFFFF"/>
          </a:solidFill>
          <a:ln w="6350">
            <a:solidFill>
              <a:srgbClr val="999999"/>
            </a:solidFill>
            <a:prstDash val="solid"/>
          </a:ln>
        </p:spPr>
      </p:sp>
      <p:sp>
        <p:nvSpPr>
          <p:cNvPr id="139" name="Shape 137"/>
          <p:cNvSpPr/>
          <p:nvPr/>
        </p:nvSpPr>
        <p:spPr>
          <a:xfrm>
            <a:off x="5299023" y="5803592"/>
            <a:ext cx="164142" cy="164142"/>
          </a:xfrm>
          <a:prstGeom prst="ellipse">
            <a:avLst/>
          </a:prstGeom>
          <a:solidFill>
            <a:srgbClr val="FFFFFF"/>
          </a:solidFill>
          <a:ln w="6350">
            <a:solidFill>
              <a:srgbClr val="999999"/>
            </a:solidFill>
            <a:prstDash val="solid"/>
          </a:ln>
        </p:spPr>
      </p:sp>
      <p:sp>
        <p:nvSpPr>
          <p:cNvPr id="140" name="Text 138"/>
          <p:cNvSpPr txBox="1"/>
          <p:nvPr/>
        </p:nvSpPr>
        <p:spPr>
          <a:xfrm>
            <a:off x="484182" y="6109991"/>
            <a:ext cx="6346835" cy="131314"/>
          </a:xfrm>
          <a:prstGeom prst="rect">
            <a:avLst/>
          </a:prstGeom>
          <a:noFill/>
          <a:ln/>
        </p:spPr>
        <p:txBody>
          <a:bodyPr wrap="square" lIns="12700" tIns="12700" rIns="12700" bIns="12700" rtlCol="0" anchor="ctr"/>
          <a:lstStyle/>
          <a:p>
            <a:pPr algn="ctr" indent="0" marL="0">
              <a:lnSpc>
                <a:spcPct val="95000"/>
              </a:lnSpc>
              <a:buNone/>
            </a:pPr>
            <a:r>
              <a:rPr lang="en-US" sz="500" dirty="0">
                <a:solidFill>
                  <a:srgbClr val="777777"/>
                </a:solidFill>
                <a:latin typeface="Arial" pitchFamily="34" charset="0"/>
                <a:ea typeface="Arial" pitchFamily="34" charset="-122"/>
                <a:cs typeface="Arial" pitchFamily="34" charset="-120"/>
              </a:rPr>
              <a:t>© 2026 Harbourside Fish &amp; Chips</a:t>
            </a:r>
            <a:endParaRPr lang="en-US" sz="500" dirty="0"/>
          </a:p>
        </p:txBody>
      </p:sp>
      <p:sp>
        <p:nvSpPr>
          <p:cNvPr id="141" name="Shape 139"/>
          <p:cNvSpPr/>
          <p:nvPr/>
        </p:nvSpPr>
        <p:spPr>
          <a:xfrm>
            <a:off x="418525" y="769895"/>
            <a:ext cx="6478149" cy="361113"/>
          </a:xfrm>
          <a:prstGeom prst="rect">
            <a:avLst/>
          </a:prstGeom>
          <a:ln w="10943">
            <a:solidFill>
              <a:srgbClr val="1E88E5"/>
            </a:solidFill>
            <a:prstDash val="dash"/>
          </a:ln>
        </p:spPr>
      </p:sp>
      <p:sp>
        <p:nvSpPr>
          <p:cNvPr id="142" name="Shape 140"/>
          <p:cNvSpPr/>
          <p:nvPr/>
        </p:nvSpPr>
        <p:spPr>
          <a:xfrm>
            <a:off x="418525" y="660467"/>
            <a:ext cx="426770" cy="109428"/>
          </a:xfrm>
          <a:prstGeom prst="rect">
            <a:avLst/>
          </a:prstGeom>
          <a:solidFill>
            <a:srgbClr val="1E88E5"/>
          </a:solidFill>
          <a:ln/>
        </p:spPr>
      </p:sp>
      <p:sp>
        <p:nvSpPr>
          <p:cNvPr id="143" name="Text 141"/>
          <p:cNvSpPr txBox="1"/>
          <p:nvPr/>
        </p:nvSpPr>
        <p:spPr>
          <a:xfrm>
            <a:off x="418525" y="660467"/>
            <a:ext cx="426770" cy="109428"/>
          </a:xfrm>
          <a:prstGeom prst="rect">
            <a:avLst/>
          </a:prstGeom>
          <a:noFill/>
          <a:ln/>
        </p:spPr>
        <p:txBody>
          <a:bodyPr wrap="square" lIns="12700" tIns="12700" rIns="12700" bIns="12700" rtlCol="0" anchor="ctr"/>
          <a:lstStyle/>
          <a:p>
            <a:pPr algn="ctr" indent="0" marL="0">
              <a:lnSpc>
                <a:spcPct val="95000"/>
              </a:lnSpc>
              <a:buNone/>
            </a:pPr>
            <a:r>
              <a:rPr lang="en-US" sz="500" b="1" dirty="0">
                <a:solidFill>
                  <a:srgbClr val="FFFFFF"/>
                </a:solidFill>
                <a:latin typeface="Courier New" pitchFamily="34" charset="0"/>
                <a:ea typeface="Courier New" pitchFamily="34" charset="-122"/>
                <a:cs typeface="Courier New" pitchFamily="34" charset="-120"/>
              </a:rPr>
              <a:t>&lt;header&gt;</a:t>
            </a:r>
            <a:endParaRPr lang="en-US" sz="500" dirty="0"/>
          </a:p>
        </p:txBody>
      </p:sp>
      <p:sp>
        <p:nvSpPr>
          <p:cNvPr id="144" name="Shape 142"/>
          <p:cNvSpPr/>
          <p:nvPr/>
        </p:nvSpPr>
        <p:spPr>
          <a:xfrm>
            <a:off x="2946317" y="835552"/>
            <a:ext cx="2571563" cy="218856"/>
          </a:xfrm>
          <a:prstGeom prst="rect">
            <a:avLst/>
          </a:prstGeom>
          <a:ln w="10943">
            <a:solidFill>
              <a:srgbClr val="1E88E5"/>
            </a:solidFill>
            <a:prstDash val="dash"/>
          </a:ln>
        </p:spPr>
      </p:sp>
      <p:sp>
        <p:nvSpPr>
          <p:cNvPr id="145" name="Shape 143"/>
          <p:cNvSpPr/>
          <p:nvPr/>
        </p:nvSpPr>
        <p:spPr>
          <a:xfrm>
            <a:off x="2946317" y="726124"/>
            <a:ext cx="295456" cy="109428"/>
          </a:xfrm>
          <a:prstGeom prst="rect">
            <a:avLst/>
          </a:prstGeom>
          <a:solidFill>
            <a:srgbClr val="1E88E5"/>
          </a:solidFill>
          <a:ln/>
        </p:spPr>
      </p:sp>
      <p:sp>
        <p:nvSpPr>
          <p:cNvPr id="146" name="Text 144"/>
          <p:cNvSpPr txBox="1"/>
          <p:nvPr/>
        </p:nvSpPr>
        <p:spPr>
          <a:xfrm>
            <a:off x="2946317" y="726124"/>
            <a:ext cx="295456" cy="109428"/>
          </a:xfrm>
          <a:prstGeom prst="rect">
            <a:avLst/>
          </a:prstGeom>
          <a:noFill/>
          <a:ln/>
        </p:spPr>
        <p:txBody>
          <a:bodyPr wrap="square" lIns="12700" tIns="12700" rIns="12700" bIns="12700" rtlCol="0" anchor="ctr"/>
          <a:lstStyle/>
          <a:p>
            <a:pPr algn="ctr" indent="0" marL="0">
              <a:lnSpc>
                <a:spcPct val="95000"/>
              </a:lnSpc>
              <a:buNone/>
            </a:pPr>
            <a:r>
              <a:rPr lang="en-US" sz="500" b="1" dirty="0">
                <a:solidFill>
                  <a:srgbClr val="FFFFFF"/>
                </a:solidFill>
                <a:latin typeface="Courier New" pitchFamily="34" charset="0"/>
                <a:ea typeface="Courier New" pitchFamily="34" charset="-122"/>
                <a:cs typeface="Courier New" pitchFamily="34" charset="-120"/>
              </a:rPr>
              <a:t>&lt;nav&gt;</a:t>
            </a:r>
            <a:endParaRPr lang="en-US" sz="500" dirty="0"/>
          </a:p>
        </p:txBody>
      </p:sp>
      <p:sp>
        <p:nvSpPr>
          <p:cNvPr id="147" name="Shape 145"/>
          <p:cNvSpPr/>
          <p:nvPr/>
        </p:nvSpPr>
        <p:spPr>
          <a:xfrm>
            <a:off x="1873920" y="2312832"/>
            <a:ext cx="1378795" cy="1488223"/>
          </a:xfrm>
          <a:prstGeom prst="rect">
            <a:avLst/>
          </a:prstGeom>
          <a:ln w="10943">
            <a:solidFill>
              <a:srgbClr val="1E88E5"/>
            </a:solidFill>
            <a:prstDash val="dash"/>
          </a:ln>
        </p:spPr>
      </p:sp>
      <p:sp>
        <p:nvSpPr>
          <p:cNvPr id="148" name="Shape 146"/>
          <p:cNvSpPr/>
          <p:nvPr/>
        </p:nvSpPr>
        <p:spPr>
          <a:xfrm>
            <a:off x="1873920" y="2203404"/>
            <a:ext cx="470541" cy="109428"/>
          </a:xfrm>
          <a:prstGeom prst="rect">
            <a:avLst/>
          </a:prstGeom>
          <a:solidFill>
            <a:srgbClr val="1E88E5"/>
          </a:solidFill>
          <a:ln/>
        </p:spPr>
      </p:sp>
      <p:sp>
        <p:nvSpPr>
          <p:cNvPr id="149" name="Text 147"/>
          <p:cNvSpPr txBox="1"/>
          <p:nvPr/>
        </p:nvSpPr>
        <p:spPr>
          <a:xfrm>
            <a:off x="1873920" y="2203404"/>
            <a:ext cx="470541" cy="109428"/>
          </a:xfrm>
          <a:prstGeom prst="rect">
            <a:avLst/>
          </a:prstGeom>
          <a:noFill/>
          <a:ln/>
        </p:spPr>
        <p:txBody>
          <a:bodyPr wrap="square" lIns="12700" tIns="12700" rIns="12700" bIns="12700" rtlCol="0" anchor="ctr"/>
          <a:lstStyle/>
          <a:p>
            <a:pPr algn="ctr" indent="0" marL="0">
              <a:lnSpc>
                <a:spcPct val="95000"/>
              </a:lnSpc>
              <a:buNone/>
            </a:pPr>
            <a:r>
              <a:rPr lang="en-US" sz="500" b="1" dirty="0">
                <a:solidFill>
                  <a:srgbClr val="FFFFFF"/>
                </a:solidFill>
                <a:latin typeface="Courier New" pitchFamily="34" charset="0"/>
                <a:ea typeface="Courier New" pitchFamily="34" charset="-122"/>
                <a:cs typeface="Courier New" pitchFamily="34" charset="-120"/>
              </a:rPr>
              <a:t>&lt;article&gt;</a:t>
            </a:r>
            <a:endParaRPr lang="en-US" sz="500" dirty="0"/>
          </a:p>
        </p:txBody>
      </p:sp>
      <p:sp>
        <p:nvSpPr>
          <p:cNvPr id="150" name="Shape 148"/>
          <p:cNvSpPr/>
          <p:nvPr/>
        </p:nvSpPr>
        <p:spPr>
          <a:xfrm>
            <a:off x="4762825" y="1754749"/>
            <a:ext cx="2111964" cy="2494963"/>
          </a:xfrm>
          <a:prstGeom prst="rect">
            <a:avLst/>
          </a:prstGeom>
          <a:ln w="10943">
            <a:solidFill>
              <a:srgbClr val="1E88E5"/>
            </a:solidFill>
            <a:prstDash val="dash"/>
          </a:ln>
        </p:spPr>
      </p:sp>
      <p:sp>
        <p:nvSpPr>
          <p:cNvPr id="151" name="Shape 149"/>
          <p:cNvSpPr/>
          <p:nvPr/>
        </p:nvSpPr>
        <p:spPr>
          <a:xfrm>
            <a:off x="4762825" y="1645320"/>
            <a:ext cx="382999" cy="109428"/>
          </a:xfrm>
          <a:prstGeom prst="rect">
            <a:avLst/>
          </a:prstGeom>
          <a:solidFill>
            <a:srgbClr val="1E88E5"/>
          </a:solidFill>
          <a:ln/>
        </p:spPr>
      </p:sp>
      <p:sp>
        <p:nvSpPr>
          <p:cNvPr id="152" name="Text 150"/>
          <p:cNvSpPr txBox="1"/>
          <p:nvPr/>
        </p:nvSpPr>
        <p:spPr>
          <a:xfrm>
            <a:off x="4762825" y="1645320"/>
            <a:ext cx="382999" cy="109428"/>
          </a:xfrm>
          <a:prstGeom prst="rect">
            <a:avLst/>
          </a:prstGeom>
          <a:noFill/>
          <a:ln/>
        </p:spPr>
        <p:txBody>
          <a:bodyPr wrap="square" lIns="12700" tIns="12700" rIns="12700" bIns="12700" rtlCol="0" anchor="ctr"/>
          <a:lstStyle/>
          <a:p>
            <a:pPr algn="ctr" indent="0" marL="0">
              <a:lnSpc>
                <a:spcPct val="95000"/>
              </a:lnSpc>
              <a:buNone/>
            </a:pPr>
            <a:r>
              <a:rPr lang="en-US" sz="500" b="1" dirty="0">
                <a:solidFill>
                  <a:srgbClr val="FFFFFF"/>
                </a:solidFill>
                <a:latin typeface="Courier New" pitchFamily="34" charset="0"/>
                <a:ea typeface="Courier New" pitchFamily="34" charset="-122"/>
                <a:cs typeface="Courier New" pitchFamily="34" charset="-120"/>
              </a:rPr>
              <a:t>&lt;aside&gt;</a:t>
            </a:r>
            <a:endParaRPr lang="en-US" sz="500" dirty="0"/>
          </a:p>
        </p:txBody>
      </p:sp>
      <p:sp>
        <p:nvSpPr>
          <p:cNvPr id="153" name="Shape 151"/>
          <p:cNvSpPr/>
          <p:nvPr/>
        </p:nvSpPr>
        <p:spPr>
          <a:xfrm>
            <a:off x="418525" y="1207608"/>
            <a:ext cx="6478149" cy="4245814"/>
          </a:xfrm>
          <a:prstGeom prst="rect">
            <a:avLst/>
          </a:prstGeom>
          <a:ln w="10943">
            <a:solidFill>
              <a:srgbClr val="1E88E5"/>
            </a:solidFill>
            <a:prstDash val="dash"/>
          </a:ln>
        </p:spPr>
      </p:sp>
      <p:sp>
        <p:nvSpPr>
          <p:cNvPr id="154" name="Shape 152"/>
          <p:cNvSpPr/>
          <p:nvPr/>
        </p:nvSpPr>
        <p:spPr>
          <a:xfrm>
            <a:off x="418525" y="1098179"/>
            <a:ext cx="339227" cy="109428"/>
          </a:xfrm>
          <a:prstGeom prst="rect">
            <a:avLst/>
          </a:prstGeom>
          <a:solidFill>
            <a:srgbClr val="1E88E5"/>
          </a:solidFill>
          <a:ln/>
        </p:spPr>
      </p:sp>
      <p:sp>
        <p:nvSpPr>
          <p:cNvPr id="155" name="Text 153"/>
          <p:cNvSpPr txBox="1"/>
          <p:nvPr/>
        </p:nvSpPr>
        <p:spPr>
          <a:xfrm>
            <a:off x="418525" y="1098179"/>
            <a:ext cx="339227" cy="109428"/>
          </a:xfrm>
          <a:prstGeom prst="rect">
            <a:avLst/>
          </a:prstGeom>
          <a:noFill/>
          <a:ln/>
        </p:spPr>
        <p:txBody>
          <a:bodyPr wrap="square" lIns="12700" tIns="12700" rIns="12700" bIns="12700" rtlCol="0" anchor="ctr"/>
          <a:lstStyle/>
          <a:p>
            <a:pPr algn="ctr" indent="0" marL="0">
              <a:lnSpc>
                <a:spcPct val="95000"/>
              </a:lnSpc>
              <a:buNone/>
            </a:pPr>
            <a:r>
              <a:rPr lang="en-US" sz="500" b="1" dirty="0">
                <a:solidFill>
                  <a:srgbClr val="FFFFFF"/>
                </a:solidFill>
                <a:latin typeface="Courier New" pitchFamily="34" charset="0"/>
                <a:ea typeface="Courier New" pitchFamily="34" charset="-122"/>
                <a:cs typeface="Courier New" pitchFamily="34" charset="-120"/>
              </a:rPr>
              <a:t>&lt;main&gt;</a:t>
            </a:r>
            <a:endParaRPr lang="en-US" sz="500" dirty="0"/>
          </a:p>
        </p:txBody>
      </p:sp>
      <p:sp>
        <p:nvSpPr>
          <p:cNvPr id="156" name="Shape 154"/>
          <p:cNvSpPr/>
          <p:nvPr/>
        </p:nvSpPr>
        <p:spPr>
          <a:xfrm>
            <a:off x="418525" y="5584735"/>
            <a:ext cx="6478149" cy="700340"/>
          </a:xfrm>
          <a:prstGeom prst="rect">
            <a:avLst/>
          </a:prstGeom>
          <a:ln w="10943">
            <a:solidFill>
              <a:srgbClr val="1E88E5"/>
            </a:solidFill>
            <a:prstDash val="dash"/>
          </a:ln>
        </p:spPr>
      </p:sp>
      <p:sp>
        <p:nvSpPr>
          <p:cNvPr id="157" name="Shape 155"/>
          <p:cNvSpPr/>
          <p:nvPr/>
        </p:nvSpPr>
        <p:spPr>
          <a:xfrm>
            <a:off x="418525" y="5475307"/>
            <a:ext cx="426770" cy="109428"/>
          </a:xfrm>
          <a:prstGeom prst="rect">
            <a:avLst/>
          </a:prstGeom>
          <a:solidFill>
            <a:srgbClr val="1E88E5"/>
          </a:solidFill>
          <a:ln/>
        </p:spPr>
      </p:sp>
      <p:sp>
        <p:nvSpPr>
          <p:cNvPr id="158" name="Text 156"/>
          <p:cNvSpPr txBox="1"/>
          <p:nvPr/>
        </p:nvSpPr>
        <p:spPr>
          <a:xfrm>
            <a:off x="418525" y="5475307"/>
            <a:ext cx="426770" cy="109428"/>
          </a:xfrm>
          <a:prstGeom prst="rect">
            <a:avLst/>
          </a:prstGeom>
          <a:noFill/>
          <a:ln/>
        </p:spPr>
        <p:txBody>
          <a:bodyPr wrap="square" lIns="12700" tIns="12700" rIns="12700" bIns="12700" rtlCol="0" anchor="ctr"/>
          <a:lstStyle/>
          <a:p>
            <a:pPr algn="ctr" indent="0" marL="0">
              <a:lnSpc>
                <a:spcPct val="95000"/>
              </a:lnSpc>
              <a:buNone/>
            </a:pPr>
            <a:r>
              <a:rPr lang="en-US" sz="500" b="1" dirty="0">
                <a:solidFill>
                  <a:srgbClr val="FFFFFF"/>
                </a:solidFill>
                <a:latin typeface="Courier New" pitchFamily="34" charset="0"/>
                <a:ea typeface="Courier New" pitchFamily="34" charset="-122"/>
                <a:cs typeface="Courier New" pitchFamily="34" charset="-120"/>
              </a:rPr>
              <a:t>&lt;footer&gt;</a:t>
            </a:r>
            <a:endParaRPr lang="en-US" sz="500" dirty="0"/>
          </a:p>
        </p:txBody>
      </p:sp>
      <p:sp>
        <p:nvSpPr>
          <p:cNvPr id="159" name="Shape 157"/>
          <p:cNvSpPr/>
          <p:nvPr/>
        </p:nvSpPr>
        <p:spPr>
          <a:xfrm>
            <a:off x="320040" y="5486250"/>
            <a:ext cx="6675120" cy="897311"/>
          </a:xfrm>
          <a:prstGeom prst="roundRect">
            <a:avLst>
              <a:gd name="adj" fmla="val 8152"/>
            </a:avLst>
          </a:prstGeom>
          <a:ln w="44450">
            <a:solidFill>
              <a:srgbClr val="E97132"/>
            </a:solidFill>
            <a:prstDash val="solid"/>
          </a:ln>
        </p:spPr>
      </p:sp>
      <p:sp>
        <p:nvSpPr>
          <p:cNvPr id="160" name="Text 158"/>
          <p:cNvSpPr txBox="1"/>
          <p:nvPr/>
        </p:nvSpPr>
        <p:spPr>
          <a:xfrm>
            <a:off x="7315200" y="457200"/>
            <a:ext cx="4465015" cy="320040"/>
          </a:xfrm>
          <a:prstGeom prst="rect">
            <a:avLst/>
          </a:prstGeom>
          <a:noFill/>
          <a:ln/>
        </p:spPr>
        <p:txBody>
          <a:bodyPr wrap="square" lIns="0" tIns="0" rIns="0" bIns="0" rtlCol="0" anchor="ctr"/>
          <a:lstStyle/>
          <a:p>
            <a:pPr indent="0" marL="0">
              <a:buNone/>
            </a:pPr>
            <a:r>
              <a:rPr lang="en-US" sz="1300" b="1" spc="100" kern="0" dirty="0">
                <a:solidFill>
                  <a:srgbClr val="595959"/>
                </a:solidFill>
                <a:latin typeface="Aptos" pitchFamily="34" charset="0"/>
                <a:ea typeface="Aptos" pitchFamily="34" charset="-122"/>
                <a:cs typeface="Aptos" pitchFamily="34" charset="-120"/>
              </a:rPr>
              <a:t>GUIDED EXAMPLE · STEP 5</a:t>
            </a:r>
            <a:endParaRPr lang="en-US" sz="1300" dirty="0"/>
          </a:p>
        </p:txBody>
      </p:sp>
      <p:sp>
        <p:nvSpPr>
          <p:cNvPr id="161" name="Text 159"/>
          <p:cNvSpPr txBox="1"/>
          <p:nvPr/>
        </p:nvSpPr>
        <p:spPr>
          <a:xfrm>
            <a:off x="7315200" y="777240"/>
            <a:ext cx="4465015" cy="594360"/>
          </a:xfrm>
          <a:prstGeom prst="rect">
            <a:avLst/>
          </a:prstGeom>
          <a:noFill/>
          <a:ln/>
        </p:spPr>
        <p:txBody>
          <a:bodyPr wrap="square" lIns="0" tIns="0" rIns="0" bIns="0" rtlCol="0" anchor="t"/>
          <a:lstStyle/>
          <a:p>
            <a:pPr indent="0" marL="0">
              <a:buNone/>
            </a:pPr>
            <a:r>
              <a:rPr lang="en-US" sz="2800" dirty="0">
                <a:solidFill>
                  <a:srgbClr val="000000"/>
                </a:solidFill>
                <a:latin typeface="Aptos" pitchFamily="34" charset="0"/>
                <a:ea typeface="Aptos" pitchFamily="34" charset="-122"/>
                <a:cs typeface="Aptos" pitchFamily="34" charset="-120"/>
              </a:rPr>
              <a:t>Footer and Landmark Labels</a:t>
            </a:r>
            <a:endParaRPr lang="en-US" sz="2800" dirty="0"/>
          </a:p>
        </p:txBody>
      </p:sp>
      <p:sp>
        <p:nvSpPr>
          <p:cNvPr id="162" name="Text 160"/>
          <p:cNvSpPr txBox="1"/>
          <p:nvPr/>
        </p:nvSpPr>
        <p:spPr>
          <a:xfrm>
            <a:off x="7315200" y="1463040"/>
            <a:ext cx="4465015" cy="3246120"/>
          </a:xfrm>
          <a:prstGeom prst="rect">
            <a:avLst/>
          </a:prstGeom>
          <a:noFill/>
          <a:ln/>
        </p:spPr>
        <p:txBody>
          <a:bodyPr wrap="square" lIns="0" tIns="0" rIns="0" bIns="0" rtlCol="0" anchor="t"/>
          <a:lstStyle/>
          <a:p>
            <a:pPr marL="342900" indent="-342900">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Footer: address, phone, hours, social icons, ©.</a:t>
            </a:r>
            <a:endParaRPr lang="en-US" sz="1450" dirty="0"/>
          </a:p>
          <a:p>
            <a:pPr marL="342900" indent="-342900">
              <a:spcBef>
                <a:spcPts val="800"/>
              </a:spcBef>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Draw a </a:t>
            </a:r>
            <a:pPr indent="0" marL="0">
              <a:buNone/>
            </a:pPr>
            <a:r>
              <a:rPr lang="en-US" sz="1450" b="1" dirty="0">
                <a:solidFill>
                  <a:srgbClr val="262626"/>
                </a:solidFill>
                <a:latin typeface="Aptos" pitchFamily="34" charset="0"/>
                <a:ea typeface="Aptos" pitchFamily="34" charset="-122"/>
                <a:cs typeface="Aptos" pitchFamily="34" charset="-120"/>
              </a:rPr>
              <a:t>blue dashed box</a:t>
            </a:r>
            <a:pPr indent="0" marL="0">
              <a:buNone/>
            </a:pPr>
            <a:r>
              <a:rPr lang="en-US" sz="1450" dirty="0">
                <a:solidFill>
                  <a:srgbClr val="262626"/>
                </a:solidFill>
                <a:latin typeface="Aptos" pitchFamily="34" charset="0"/>
                <a:ea typeface="Aptos" pitchFamily="34" charset="-122"/>
                <a:cs typeface="Aptos" pitchFamily="34" charset="-120"/>
              </a:rPr>
              <a:t> around each region, with a small tag on top.</a:t>
            </a:r>
            <a:endParaRPr lang="en-US" sz="1450" dirty="0"/>
          </a:p>
          <a:p>
            <a:pPr marL="342900" indent="-342900">
              <a:spcBef>
                <a:spcPts val="800"/>
              </a:spcBef>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Tags: </a:t>
            </a:r>
            <a:pPr indent="0" marL="0">
              <a:buNone/>
            </a:pPr>
            <a:r>
              <a:rPr lang="en-US" sz="1450" dirty="0">
                <a:solidFill>
                  <a:srgbClr val="8A2B0B"/>
                </a:solidFill>
                <a:latin typeface="Consolas" pitchFamily="34" charset="0"/>
                <a:ea typeface="Consolas" pitchFamily="34" charset="-122"/>
                <a:cs typeface="Consolas" pitchFamily="34" charset="-120"/>
              </a:rPr>
              <a:t>&lt;header&gt;</a:t>
            </a:r>
            <a:pPr indent="0" marL="0">
              <a:buNone/>
            </a:pPr>
            <a:r>
              <a:rPr lang="en-US" sz="1450" dirty="0">
                <a:solidFill>
                  <a:srgbClr val="262626"/>
                </a:solidFill>
                <a:latin typeface="Aptos" pitchFamily="34" charset="0"/>
                <a:ea typeface="Aptos" pitchFamily="34" charset="-122"/>
                <a:cs typeface="Aptos" pitchFamily="34" charset="-120"/>
              </a:rPr>
              <a:t> </a:t>
            </a:r>
            <a:pPr indent="0" marL="0">
              <a:buNone/>
            </a:pPr>
            <a:r>
              <a:rPr lang="en-US" sz="1450" dirty="0">
                <a:solidFill>
                  <a:srgbClr val="8A2B0B"/>
                </a:solidFill>
                <a:latin typeface="Consolas" pitchFamily="34" charset="0"/>
                <a:ea typeface="Consolas" pitchFamily="34" charset="-122"/>
                <a:cs typeface="Consolas" pitchFamily="34" charset="-120"/>
              </a:rPr>
              <a:t>&lt;nav&gt;</a:t>
            </a:r>
            <a:pPr indent="0" marL="0">
              <a:buNone/>
            </a:pPr>
            <a:r>
              <a:rPr lang="en-US" sz="1450" dirty="0">
                <a:solidFill>
                  <a:srgbClr val="262626"/>
                </a:solidFill>
                <a:latin typeface="Aptos" pitchFamily="34" charset="0"/>
                <a:ea typeface="Aptos" pitchFamily="34" charset="-122"/>
                <a:cs typeface="Aptos" pitchFamily="34" charset="-120"/>
              </a:rPr>
              <a:t> </a:t>
            </a:r>
            <a:pPr indent="0" marL="0">
              <a:buNone/>
            </a:pPr>
            <a:r>
              <a:rPr lang="en-US" sz="1450" dirty="0">
                <a:solidFill>
                  <a:srgbClr val="8A2B0B"/>
                </a:solidFill>
                <a:latin typeface="Consolas" pitchFamily="34" charset="0"/>
                <a:ea typeface="Consolas" pitchFamily="34" charset="-122"/>
                <a:cs typeface="Consolas" pitchFamily="34" charset="-120"/>
              </a:rPr>
              <a:t>&lt;main&gt;</a:t>
            </a:r>
            <a:pPr indent="0" marL="0">
              <a:buNone/>
            </a:pPr>
            <a:r>
              <a:rPr lang="en-US" sz="1450" dirty="0">
                <a:solidFill>
                  <a:srgbClr val="262626"/>
                </a:solidFill>
                <a:latin typeface="Aptos" pitchFamily="34" charset="0"/>
                <a:ea typeface="Aptos" pitchFamily="34" charset="-122"/>
                <a:cs typeface="Aptos" pitchFamily="34" charset="-120"/>
              </a:rPr>
              <a:t> </a:t>
            </a:r>
            <a:pPr indent="0" marL="0">
              <a:buNone/>
            </a:pPr>
            <a:r>
              <a:rPr lang="en-US" sz="1450" dirty="0">
                <a:solidFill>
                  <a:srgbClr val="8A2B0B"/>
                </a:solidFill>
                <a:latin typeface="Consolas" pitchFamily="34" charset="0"/>
                <a:ea typeface="Consolas" pitchFamily="34" charset="-122"/>
                <a:cs typeface="Consolas" pitchFamily="34" charset="-120"/>
              </a:rPr>
              <a:t>&lt;article&gt;</a:t>
            </a:r>
            <a:pPr indent="0" marL="0">
              <a:buNone/>
            </a:pPr>
            <a:r>
              <a:rPr lang="en-US" sz="1450" dirty="0">
                <a:solidFill>
                  <a:srgbClr val="262626"/>
                </a:solidFill>
                <a:latin typeface="Aptos" pitchFamily="34" charset="0"/>
                <a:ea typeface="Aptos" pitchFamily="34" charset="-122"/>
                <a:cs typeface="Aptos" pitchFamily="34" charset="-120"/>
              </a:rPr>
              <a:t> </a:t>
            </a:r>
            <a:pPr indent="0" marL="0">
              <a:buNone/>
            </a:pPr>
            <a:r>
              <a:rPr lang="en-US" sz="1450" dirty="0">
                <a:solidFill>
                  <a:srgbClr val="8A2B0B"/>
                </a:solidFill>
                <a:latin typeface="Consolas" pitchFamily="34" charset="0"/>
                <a:ea typeface="Consolas" pitchFamily="34" charset="-122"/>
                <a:cs typeface="Consolas" pitchFamily="34" charset="-120"/>
              </a:rPr>
              <a:t>&lt;aside&gt;</a:t>
            </a:r>
            <a:pPr indent="0" marL="0">
              <a:buNone/>
            </a:pPr>
            <a:r>
              <a:rPr lang="en-US" sz="1450" dirty="0">
                <a:solidFill>
                  <a:srgbClr val="262626"/>
                </a:solidFill>
                <a:latin typeface="Aptos" pitchFamily="34" charset="0"/>
                <a:ea typeface="Aptos" pitchFamily="34" charset="-122"/>
                <a:cs typeface="Aptos" pitchFamily="34" charset="-120"/>
              </a:rPr>
              <a:t> </a:t>
            </a:r>
            <a:pPr indent="0" marL="0">
              <a:buNone/>
            </a:pPr>
            <a:r>
              <a:rPr lang="en-US" sz="1450" dirty="0">
                <a:solidFill>
                  <a:srgbClr val="8A2B0B"/>
                </a:solidFill>
                <a:latin typeface="Consolas" pitchFamily="34" charset="0"/>
                <a:ea typeface="Consolas" pitchFamily="34" charset="-122"/>
                <a:cs typeface="Consolas" pitchFamily="34" charset="-120"/>
              </a:rPr>
              <a:t>&lt;footer&gt;</a:t>
            </a:r>
            <a:pPr indent="0" marL="0">
              <a:buNone/>
            </a:pPr>
            <a:r>
              <a:rPr lang="en-US" sz="1450" dirty="0">
                <a:solidFill>
                  <a:srgbClr val="262626"/>
                </a:solidFill>
                <a:latin typeface="Aptos" pitchFamily="34" charset="0"/>
                <a:ea typeface="Aptos" pitchFamily="34" charset="-122"/>
                <a:cs typeface="Aptos" pitchFamily="34" charset="-120"/>
              </a:rPr>
              <a:t>.</a:t>
            </a:r>
            <a:endParaRPr lang="en-US" sz="1450" dirty="0"/>
          </a:p>
        </p:txBody>
      </p:sp>
      <p:sp>
        <p:nvSpPr>
          <p:cNvPr id="163" name="Shape 161"/>
          <p:cNvSpPr/>
          <p:nvPr/>
        </p:nvSpPr>
        <p:spPr>
          <a:xfrm>
            <a:off x="7315200" y="4846320"/>
            <a:ext cx="4465015" cy="1508760"/>
          </a:xfrm>
          <a:prstGeom prst="roundRect">
            <a:avLst>
              <a:gd name="adj" fmla="val 7273"/>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64" name="Shape 162"/>
          <p:cNvSpPr/>
          <p:nvPr/>
        </p:nvSpPr>
        <p:spPr>
          <a:xfrm>
            <a:off x="7498080" y="5029200"/>
            <a:ext cx="411480" cy="411480"/>
          </a:xfrm>
          <a:prstGeom prst="ellipse">
            <a:avLst/>
          </a:prstGeom>
          <a:solidFill>
            <a:srgbClr val="A02B93"/>
          </a:solidFill>
          <a:ln w="12700">
            <a:solidFill>
              <a:srgbClr val="A02B93"/>
            </a:solidFill>
            <a:prstDash val="solid"/>
          </a:ln>
        </p:spPr>
      </p:sp>
      <p:sp>
        <p:nvSpPr>
          <p:cNvPr id="165" name="Text 163"/>
          <p:cNvSpPr txBox="1"/>
          <p:nvPr/>
        </p:nvSpPr>
        <p:spPr>
          <a:xfrm>
            <a:off x="7498080" y="50292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a:t>
            </a:r>
            <a:endParaRPr lang="en-US" sz="1300" dirty="0"/>
          </a:p>
        </p:txBody>
      </p:sp>
      <p:sp>
        <p:nvSpPr>
          <p:cNvPr id="166" name="Text 164"/>
          <p:cNvSpPr txBox="1"/>
          <p:nvPr/>
        </p:nvSpPr>
        <p:spPr>
          <a:xfrm>
            <a:off x="8046720" y="5029200"/>
            <a:ext cx="3550615" cy="411480"/>
          </a:xfrm>
          <a:prstGeom prst="rect">
            <a:avLst/>
          </a:prstGeom>
          <a:noFill/>
          <a:ln/>
        </p:spPr>
        <p:txBody>
          <a:bodyPr wrap="square" lIns="0" tIns="0" rIns="0" bIns="0" rtlCol="0" anchor="ctr"/>
          <a:lstStyle/>
          <a:p>
            <a:pPr indent="0" marL="0">
              <a:buNone/>
            </a:pPr>
            <a:r>
              <a:rPr lang="en-US" sz="1500" b="1" dirty="0">
                <a:solidFill>
                  <a:srgbClr val="000000"/>
                </a:solidFill>
                <a:latin typeface="Aptos" pitchFamily="34" charset="0"/>
                <a:ea typeface="Aptos" pitchFamily="34" charset="-122"/>
                <a:cs typeface="Aptos" pitchFamily="34" charset="-120"/>
              </a:rPr>
              <a:t>Ask the class</a:t>
            </a:r>
            <a:endParaRPr lang="en-US" sz="1500" dirty="0"/>
          </a:p>
        </p:txBody>
      </p:sp>
      <p:sp>
        <p:nvSpPr>
          <p:cNvPr id="167" name="Text 165"/>
          <p:cNvSpPr txBox="1"/>
          <p:nvPr/>
        </p:nvSpPr>
        <p:spPr>
          <a:xfrm>
            <a:off x="7543800" y="5532120"/>
            <a:ext cx="4053535" cy="731520"/>
          </a:xfrm>
          <a:prstGeom prst="rect">
            <a:avLst/>
          </a:prstGeom>
          <a:noFill/>
          <a:ln/>
        </p:spPr>
        <p:txBody>
          <a:bodyPr wrap="square" lIns="0" tIns="0" rIns="0" bIns="0" rtlCol="0" anchor="t"/>
          <a:lstStyle/>
          <a:p>
            <a:pPr indent="0" marL="0">
              <a:buNone/>
            </a:pPr>
            <a:r>
              <a:rPr lang="en-US" sz="1400" i="1" dirty="0">
                <a:solidFill>
                  <a:srgbClr val="262626"/>
                </a:solidFill>
                <a:latin typeface="Aptos" pitchFamily="34" charset="0"/>
                <a:ea typeface="Aptos" pitchFamily="34" charset="-122"/>
                <a:cs typeface="Aptos" pitchFamily="34" charset="-120"/>
              </a:rPr>
              <a:t>Compare this to the landmarks example from Class 5. What's the same?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2F2"/>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54864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Finished: Desktop (1200px)</a:t>
            </a:r>
            <a:endParaRPr lang="en-US" sz="2800" dirty="0"/>
          </a:p>
        </p:txBody>
      </p:sp>
      <p:sp>
        <p:nvSpPr>
          <p:cNvPr id="3" name="Shape 1"/>
          <p:cNvSpPr/>
          <p:nvPr/>
        </p:nvSpPr>
        <p:spPr>
          <a:xfrm>
            <a:off x="2320078" y="1013037"/>
            <a:ext cx="6350000" cy="5609167"/>
          </a:xfrm>
          <a:prstGeom prst="rect">
            <a:avLst/>
          </a:prstGeom>
          <a:solidFill>
            <a:srgbClr val="FFFFFF"/>
          </a:solidFill>
          <a:ln w="10583">
            <a:solidFill>
              <a:srgbClr val="333333"/>
            </a:solidFill>
            <a:prstDash val="solid"/>
          </a:ln>
        </p:spPr>
      </p:sp>
      <p:sp>
        <p:nvSpPr>
          <p:cNvPr id="4" name="Shape 2"/>
          <p:cNvSpPr/>
          <p:nvPr/>
        </p:nvSpPr>
        <p:spPr>
          <a:xfrm>
            <a:off x="2320078" y="1013037"/>
            <a:ext cx="6350000" cy="190500"/>
          </a:xfrm>
          <a:prstGeom prst="rect">
            <a:avLst/>
          </a:prstGeom>
          <a:solidFill>
            <a:srgbClr val="EEEEEE"/>
          </a:solidFill>
          <a:ln w="10583">
            <a:solidFill>
              <a:srgbClr val="333333"/>
            </a:solidFill>
            <a:prstDash val="solid"/>
          </a:ln>
        </p:spPr>
      </p:sp>
      <p:sp>
        <p:nvSpPr>
          <p:cNvPr id="5" name="Shape 3"/>
          <p:cNvSpPr/>
          <p:nvPr/>
        </p:nvSpPr>
        <p:spPr>
          <a:xfrm>
            <a:off x="2849245" y="1044787"/>
            <a:ext cx="2645833" cy="127000"/>
          </a:xfrm>
          <a:prstGeom prst="roundRect">
            <a:avLst>
              <a:gd name="adj" fmla="val 50000"/>
            </a:avLst>
          </a:prstGeom>
          <a:solidFill>
            <a:srgbClr val="FFFFFF"/>
          </a:solidFill>
          <a:ln w="6350">
            <a:solidFill>
              <a:srgbClr val="BBBBBB"/>
            </a:solidFill>
            <a:prstDash val="solid"/>
          </a:ln>
        </p:spPr>
      </p:sp>
      <p:sp>
        <p:nvSpPr>
          <p:cNvPr id="6" name="Text 4"/>
          <p:cNvSpPr txBox="1"/>
          <p:nvPr/>
        </p:nvSpPr>
        <p:spPr>
          <a:xfrm>
            <a:off x="2849245" y="1044787"/>
            <a:ext cx="2645833" cy="127000"/>
          </a:xfrm>
          <a:prstGeom prst="rect">
            <a:avLst/>
          </a:prstGeom>
          <a:noFill/>
          <a:ln/>
        </p:spPr>
        <p:txBody>
          <a:bodyPr wrap="square" lIns="12700" tIns="50800" rIns="12700" bIns="12700" rtlCol="0" anchor="ctr"/>
          <a:lstStyle/>
          <a:p>
            <a:pPr algn="l" indent="0" marL="0">
              <a:lnSpc>
                <a:spcPct val="95000"/>
              </a:lnSpc>
              <a:buNone/>
            </a:pPr>
            <a:r>
              <a:rPr lang="en-US" sz="500" dirty="0">
                <a:solidFill>
                  <a:srgbClr val="666666"/>
                </a:solidFill>
                <a:latin typeface="Arial" pitchFamily="34" charset="0"/>
                <a:ea typeface="Arial" pitchFamily="34" charset="-122"/>
                <a:cs typeface="Arial" pitchFamily="34" charset="-120"/>
              </a:rPr>
              <a:t>harbourside.ca/order</a:t>
            </a:r>
            <a:endParaRPr lang="en-US" sz="500" dirty="0"/>
          </a:p>
        </p:txBody>
      </p:sp>
      <p:sp>
        <p:nvSpPr>
          <p:cNvPr id="7" name="Shape 5"/>
          <p:cNvSpPr/>
          <p:nvPr/>
        </p:nvSpPr>
        <p:spPr>
          <a:xfrm>
            <a:off x="2394162" y="1076537"/>
            <a:ext cx="63500" cy="63500"/>
          </a:xfrm>
          <a:prstGeom prst="ellipse">
            <a:avLst/>
          </a:prstGeom>
          <a:solidFill>
            <a:srgbClr val="CCCCCC"/>
          </a:solidFill>
          <a:ln/>
        </p:spPr>
      </p:sp>
      <p:sp>
        <p:nvSpPr>
          <p:cNvPr id="8" name="Shape 6"/>
          <p:cNvSpPr/>
          <p:nvPr/>
        </p:nvSpPr>
        <p:spPr>
          <a:xfrm>
            <a:off x="2499995" y="1076537"/>
            <a:ext cx="63500" cy="63500"/>
          </a:xfrm>
          <a:prstGeom prst="ellipse">
            <a:avLst/>
          </a:prstGeom>
          <a:solidFill>
            <a:srgbClr val="CCCCCC"/>
          </a:solidFill>
          <a:ln/>
        </p:spPr>
      </p:sp>
      <p:sp>
        <p:nvSpPr>
          <p:cNvPr id="9" name="Shape 7"/>
          <p:cNvSpPr/>
          <p:nvPr/>
        </p:nvSpPr>
        <p:spPr>
          <a:xfrm>
            <a:off x="2605828" y="1076537"/>
            <a:ext cx="63500" cy="63500"/>
          </a:xfrm>
          <a:prstGeom prst="ellipse">
            <a:avLst/>
          </a:prstGeom>
          <a:solidFill>
            <a:srgbClr val="CCCCCC"/>
          </a:solidFill>
          <a:ln/>
        </p:spPr>
      </p:sp>
      <p:sp>
        <p:nvSpPr>
          <p:cNvPr id="10" name="Shape 8"/>
          <p:cNvSpPr/>
          <p:nvPr/>
        </p:nvSpPr>
        <p:spPr>
          <a:xfrm>
            <a:off x="2425912" y="1282912"/>
            <a:ext cx="264583" cy="264583"/>
          </a:xfrm>
          <a:prstGeom prst="rect">
            <a:avLst/>
          </a:prstGeom>
          <a:solidFill>
            <a:srgbClr val="FFFFFF"/>
          </a:solidFill>
          <a:ln w="6350">
            <a:solidFill>
              <a:srgbClr val="999999"/>
            </a:solidFill>
            <a:prstDash val="solid"/>
          </a:ln>
        </p:spPr>
      </p:sp>
      <p:sp>
        <p:nvSpPr>
          <p:cNvPr id="11" name="Shape 9"/>
          <p:cNvSpPr/>
          <p:nvPr/>
        </p:nvSpPr>
        <p:spPr>
          <a:xfrm>
            <a:off x="2425912" y="1282912"/>
            <a:ext cx="264583" cy="264583"/>
          </a:xfrm>
          <a:prstGeom prst="line">
            <a:avLst/>
          </a:prstGeom>
          <a:noFill/>
          <a:ln w="6350">
            <a:solidFill>
              <a:srgbClr val="999999"/>
            </a:solidFill>
            <a:prstDash val="solid"/>
          </a:ln>
        </p:spPr>
      </p:sp>
      <p:sp>
        <p:nvSpPr>
          <p:cNvPr id="12" name="Shape 10"/>
          <p:cNvSpPr/>
          <p:nvPr/>
        </p:nvSpPr>
        <p:spPr>
          <a:xfrm flipV="1">
            <a:off x="2425912" y="1282912"/>
            <a:ext cx="264583" cy="264583"/>
          </a:xfrm>
          <a:prstGeom prst="line">
            <a:avLst/>
          </a:prstGeom>
          <a:noFill/>
          <a:ln w="6350">
            <a:solidFill>
              <a:srgbClr val="999999"/>
            </a:solidFill>
            <a:prstDash val="solid"/>
          </a:ln>
        </p:spPr>
      </p:sp>
      <p:sp>
        <p:nvSpPr>
          <p:cNvPr id="13" name="Text 11"/>
          <p:cNvSpPr txBox="1"/>
          <p:nvPr/>
        </p:nvSpPr>
        <p:spPr>
          <a:xfrm>
            <a:off x="2743412" y="1309370"/>
            <a:ext cx="1481667" cy="211667"/>
          </a:xfrm>
          <a:prstGeom prst="rect">
            <a:avLst/>
          </a:prstGeom>
          <a:noFill/>
          <a:ln/>
        </p:spPr>
        <p:txBody>
          <a:bodyPr wrap="square" lIns="12700" tIns="12700" rIns="12700" bIns="12700" rtlCol="0" anchor="ctr"/>
          <a:lstStyle/>
          <a:p>
            <a:pPr algn="l" indent="0" marL="0">
              <a:lnSpc>
                <a:spcPct val="95000"/>
              </a:lnSpc>
              <a:buNone/>
            </a:pPr>
            <a:r>
              <a:rPr lang="en-US" sz="850" b="1" dirty="0">
                <a:solidFill>
                  <a:srgbClr val="333333"/>
                </a:solidFill>
                <a:latin typeface="Arial" pitchFamily="34" charset="0"/>
                <a:ea typeface="Arial" pitchFamily="34" charset="-122"/>
                <a:cs typeface="Arial" pitchFamily="34" charset="-120"/>
              </a:rPr>
              <a:t>Harbourside Fish &amp; Chips</a:t>
            </a:r>
            <a:endParaRPr lang="en-US" sz="850" dirty="0"/>
          </a:p>
        </p:txBody>
      </p:sp>
      <p:sp>
        <p:nvSpPr>
          <p:cNvPr id="14" name="Text 12"/>
          <p:cNvSpPr txBox="1"/>
          <p:nvPr/>
        </p:nvSpPr>
        <p:spPr>
          <a:xfrm>
            <a:off x="4860078" y="1351703"/>
            <a:ext cx="687917" cy="127000"/>
          </a:xfrm>
          <a:prstGeom prst="rect">
            <a:avLst/>
          </a:prstGeom>
          <a:noFill/>
          <a:ln/>
        </p:spPr>
        <p:txBody>
          <a:bodyPr wrap="square" lIns="12700" tIns="12700" rIns="12700" bIns="12700" rtlCol="0" anchor="ctr"/>
          <a:lstStyle/>
          <a:p>
            <a:pPr algn="l" indent="0" marL="0">
              <a:lnSpc>
                <a:spcPct val="95000"/>
              </a:lnSpc>
              <a:buNone/>
            </a:pPr>
            <a:r>
              <a:rPr lang="en-US" sz="650" dirty="0">
                <a:solidFill>
                  <a:srgbClr val="333333"/>
                </a:solidFill>
                <a:latin typeface="Arial" pitchFamily="34" charset="0"/>
                <a:ea typeface="Arial" pitchFamily="34" charset="-122"/>
                <a:cs typeface="Arial" pitchFamily="34" charset="-120"/>
              </a:rPr>
              <a:t>Menu</a:t>
            </a:r>
            <a:endParaRPr lang="en-US" sz="650" dirty="0"/>
          </a:p>
        </p:txBody>
      </p:sp>
      <p:sp>
        <p:nvSpPr>
          <p:cNvPr id="15" name="Text 13"/>
          <p:cNvSpPr txBox="1"/>
          <p:nvPr/>
        </p:nvSpPr>
        <p:spPr>
          <a:xfrm>
            <a:off x="5283412" y="1351703"/>
            <a:ext cx="687917" cy="127000"/>
          </a:xfrm>
          <a:prstGeom prst="rect">
            <a:avLst/>
          </a:prstGeom>
          <a:noFill/>
          <a:ln/>
        </p:spPr>
        <p:txBody>
          <a:bodyPr wrap="square" lIns="12700" tIns="12700" rIns="12700" bIns="12700" rtlCol="0" anchor="ctr"/>
          <a:lstStyle/>
          <a:p>
            <a:pPr algn="l" indent="0" marL="0">
              <a:lnSpc>
                <a:spcPct val="95000"/>
              </a:lnSpc>
              <a:buNone/>
            </a:pPr>
            <a:r>
              <a:rPr lang="en-US" sz="650" b="1" u="sng" dirty="0">
                <a:solidFill>
                  <a:srgbClr val="333333"/>
                </a:solidFill>
                <a:latin typeface="Arial" pitchFamily="34" charset="0"/>
                <a:ea typeface="Arial" pitchFamily="34" charset="-122"/>
                <a:cs typeface="Arial" pitchFamily="34" charset="-120"/>
              </a:rPr>
              <a:t>Order Online</a:t>
            </a:r>
            <a:endParaRPr lang="en-US" sz="650" dirty="0"/>
          </a:p>
        </p:txBody>
      </p:sp>
      <p:sp>
        <p:nvSpPr>
          <p:cNvPr id="16" name="Text 14"/>
          <p:cNvSpPr txBox="1"/>
          <p:nvPr/>
        </p:nvSpPr>
        <p:spPr>
          <a:xfrm>
            <a:off x="5971328" y="1351703"/>
            <a:ext cx="687917" cy="127000"/>
          </a:xfrm>
          <a:prstGeom prst="rect">
            <a:avLst/>
          </a:prstGeom>
          <a:noFill/>
          <a:ln/>
        </p:spPr>
        <p:txBody>
          <a:bodyPr wrap="square" lIns="12700" tIns="12700" rIns="12700" bIns="12700" rtlCol="0" anchor="ctr"/>
          <a:lstStyle/>
          <a:p>
            <a:pPr algn="l" indent="0" marL="0">
              <a:lnSpc>
                <a:spcPct val="95000"/>
              </a:lnSpc>
              <a:buNone/>
            </a:pPr>
            <a:r>
              <a:rPr lang="en-US" sz="650" dirty="0">
                <a:solidFill>
                  <a:srgbClr val="333333"/>
                </a:solidFill>
                <a:latin typeface="Arial" pitchFamily="34" charset="0"/>
                <a:ea typeface="Arial" pitchFamily="34" charset="-122"/>
                <a:cs typeface="Arial" pitchFamily="34" charset="-120"/>
              </a:rPr>
              <a:t>Hours &amp; Location</a:t>
            </a:r>
            <a:endParaRPr lang="en-US" sz="650" dirty="0"/>
          </a:p>
        </p:txBody>
      </p:sp>
      <p:sp>
        <p:nvSpPr>
          <p:cNvPr id="17" name="Text 15"/>
          <p:cNvSpPr txBox="1"/>
          <p:nvPr/>
        </p:nvSpPr>
        <p:spPr>
          <a:xfrm>
            <a:off x="6765078" y="1351703"/>
            <a:ext cx="687917" cy="127000"/>
          </a:xfrm>
          <a:prstGeom prst="rect">
            <a:avLst/>
          </a:prstGeom>
          <a:noFill/>
          <a:ln/>
        </p:spPr>
        <p:txBody>
          <a:bodyPr wrap="square" lIns="12700" tIns="12700" rIns="12700" bIns="12700" rtlCol="0" anchor="ctr"/>
          <a:lstStyle/>
          <a:p>
            <a:pPr algn="l" indent="0" marL="0">
              <a:lnSpc>
                <a:spcPct val="95000"/>
              </a:lnSpc>
              <a:buNone/>
            </a:pPr>
            <a:r>
              <a:rPr lang="en-US" sz="650" dirty="0">
                <a:solidFill>
                  <a:srgbClr val="333333"/>
                </a:solidFill>
                <a:latin typeface="Arial" pitchFamily="34" charset="0"/>
                <a:ea typeface="Arial" pitchFamily="34" charset="-122"/>
                <a:cs typeface="Arial" pitchFamily="34" charset="-120"/>
              </a:rPr>
              <a:t>Contact</a:t>
            </a:r>
            <a:endParaRPr lang="en-US" sz="650" dirty="0"/>
          </a:p>
        </p:txBody>
      </p:sp>
      <p:sp>
        <p:nvSpPr>
          <p:cNvPr id="18" name="Shape 16"/>
          <p:cNvSpPr/>
          <p:nvPr/>
        </p:nvSpPr>
        <p:spPr>
          <a:xfrm>
            <a:off x="7929245" y="1319953"/>
            <a:ext cx="635000" cy="190500"/>
          </a:xfrm>
          <a:prstGeom prst="roundRect">
            <a:avLst>
              <a:gd name="adj" fmla="val 15000"/>
            </a:avLst>
          </a:prstGeom>
          <a:solidFill>
            <a:srgbClr val="FFFFFF"/>
          </a:solidFill>
          <a:ln w="6350">
            <a:solidFill>
              <a:srgbClr val="555555"/>
            </a:solidFill>
            <a:prstDash val="solid"/>
          </a:ln>
        </p:spPr>
      </p:sp>
      <p:sp>
        <p:nvSpPr>
          <p:cNvPr id="19" name="Text 17"/>
          <p:cNvSpPr txBox="1"/>
          <p:nvPr/>
        </p:nvSpPr>
        <p:spPr>
          <a:xfrm>
            <a:off x="7929245" y="1319953"/>
            <a:ext cx="635000" cy="190500"/>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Cart (3)</a:t>
            </a:r>
            <a:endParaRPr lang="en-US" sz="600" dirty="0"/>
          </a:p>
        </p:txBody>
      </p:sp>
      <p:sp>
        <p:nvSpPr>
          <p:cNvPr id="20" name="Shape 18"/>
          <p:cNvSpPr/>
          <p:nvPr/>
        </p:nvSpPr>
        <p:spPr>
          <a:xfrm>
            <a:off x="2320078" y="1626870"/>
            <a:ext cx="6350000" cy="5292"/>
          </a:xfrm>
          <a:prstGeom prst="rect">
            <a:avLst/>
          </a:prstGeom>
          <a:solidFill>
            <a:srgbClr val="BBBBBB"/>
          </a:solidFill>
          <a:ln/>
        </p:spPr>
      </p:sp>
      <p:sp>
        <p:nvSpPr>
          <p:cNvPr id="21" name="Shape 19"/>
          <p:cNvSpPr/>
          <p:nvPr/>
        </p:nvSpPr>
        <p:spPr>
          <a:xfrm>
            <a:off x="2425912" y="1711537"/>
            <a:ext cx="6138333" cy="423333"/>
          </a:xfrm>
          <a:prstGeom prst="rect">
            <a:avLst/>
          </a:prstGeom>
          <a:solidFill>
            <a:srgbClr val="F5F5F5"/>
          </a:solidFill>
          <a:ln w="6350">
            <a:solidFill>
              <a:srgbClr val="BBBBBB"/>
            </a:solidFill>
            <a:prstDash val="solid"/>
          </a:ln>
        </p:spPr>
      </p:sp>
      <p:sp>
        <p:nvSpPr>
          <p:cNvPr id="22" name="Text 20"/>
          <p:cNvSpPr txBox="1"/>
          <p:nvPr/>
        </p:nvSpPr>
        <p:spPr>
          <a:xfrm>
            <a:off x="2531745" y="1764453"/>
            <a:ext cx="2381250" cy="158750"/>
          </a:xfrm>
          <a:prstGeom prst="rect">
            <a:avLst/>
          </a:prstGeom>
          <a:noFill/>
          <a:ln/>
        </p:spPr>
        <p:txBody>
          <a:bodyPr wrap="square" lIns="12700" tIns="12700" rIns="12700" bIns="12700" rtlCol="0" anchor="ctr"/>
          <a:lstStyle/>
          <a:p>
            <a:pPr algn="l" indent="0" marL="0">
              <a:lnSpc>
                <a:spcPct val="95000"/>
              </a:lnSpc>
              <a:buNone/>
            </a:pPr>
            <a:r>
              <a:rPr lang="en-US" sz="900" b="1" dirty="0">
                <a:solidFill>
                  <a:srgbClr val="333333"/>
                </a:solidFill>
                <a:latin typeface="Arial" pitchFamily="34" charset="0"/>
                <a:ea typeface="Arial" pitchFamily="34" charset="-122"/>
                <a:cs typeface="Arial" pitchFamily="34" charset="-120"/>
              </a:rPr>
              <a:t>Order for pickup or delivery</a:t>
            </a:r>
            <a:endParaRPr lang="en-US" sz="900" dirty="0"/>
          </a:p>
        </p:txBody>
      </p:sp>
      <p:sp>
        <p:nvSpPr>
          <p:cNvPr id="23" name="Text 21"/>
          <p:cNvSpPr txBox="1"/>
          <p:nvPr/>
        </p:nvSpPr>
        <p:spPr>
          <a:xfrm>
            <a:off x="2531745" y="1923203"/>
            <a:ext cx="2381250" cy="127000"/>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777777"/>
                </a:solidFill>
                <a:latin typeface="Arial" pitchFamily="34" charset="0"/>
                <a:ea typeface="Arial" pitchFamily="34" charset="-122"/>
                <a:cs typeface="Arial" pitchFamily="34" charset="-120"/>
              </a:rPr>
              <a:t>Ready in about 20 minutes</a:t>
            </a:r>
            <a:endParaRPr lang="en-US" sz="600" dirty="0"/>
          </a:p>
        </p:txBody>
      </p:sp>
      <p:sp>
        <p:nvSpPr>
          <p:cNvPr id="24" name="Shape 22"/>
          <p:cNvSpPr/>
          <p:nvPr/>
        </p:nvSpPr>
        <p:spPr>
          <a:xfrm>
            <a:off x="5812578" y="1817370"/>
            <a:ext cx="635000" cy="211667"/>
          </a:xfrm>
          <a:prstGeom prst="roundRect">
            <a:avLst>
              <a:gd name="adj" fmla="val 15000"/>
            </a:avLst>
          </a:prstGeom>
          <a:solidFill>
            <a:srgbClr val="555555"/>
          </a:solidFill>
          <a:ln w="6350">
            <a:solidFill>
              <a:srgbClr val="555555"/>
            </a:solidFill>
            <a:prstDash val="solid"/>
          </a:ln>
        </p:spPr>
      </p:sp>
      <p:sp>
        <p:nvSpPr>
          <p:cNvPr id="25" name="Text 23"/>
          <p:cNvSpPr txBox="1"/>
          <p:nvPr/>
        </p:nvSpPr>
        <p:spPr>
          <a:xfrm>
            <a:off x="5812578" y="1817370"/>
            <a:ext cx="635000" cy="211667"/>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Pickup</a:t>
            </a:r>
            <a:endParaRPr lang="en-US" sz="600" dirty="0"/>
          </a:p>
        </p:txBody>
      </p:sp>
      <p:sp>
        <p:nvSpPr>
          <p:cNvPr id="26" name="Shape 24"/>
          <p:cNvSpPr/>
          <p:nvPr/>
        </p:nvSpPr>
        <p:spPr>
          <a:xfrm>
            <a:off x="6447578" y="1817370"/>
            <a:ext cx="635000" cy="211667"/>
          </a:xfrm>
          <a:prstGeom prst="roundRect">
            <a:avLst>
              <a:gd name="adj" fmla="val 15000"/>
            </a:avLst>
          </a:prstGeom>
          <a:solidFill>
            <a:srgbClr val="FFFFFF"/>
          </a:solidFill>
          <a:ln w="6350">
            <a:solidFill>
              <a:srgbClr val="555555"/>
            </a:solidFill>
            <a:prstDash val="solid"/>
          </a:ln>
        </p:spPr>
      </p:sp>
      <p:sp>
        <p:nvSpPr>
          <p:cNvPr id="27" name="Text 25"/>
          <p:cNvSpPr txBox="1"/>
          <p:nvPr/>
        </p:nvSpPr>
        <p:spPr>
          <a:xfrm>
            <a:off x="6447578" y="1817370"/>
            <a:ext cx="635000" cy="211667"/>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Delivery</a:t>
            </a:r>
            <a:endParaRPr lang="en-US" sz="600" dirty="0"/>
          </a:p>
        </p:txBody>
      </p:sp>
      <p:sp>
        <p:nvSpPr>
          <p:cNvPr id="28" name="Shape 26"/>
          <p:cNvSpPr/>
          <p:nvPr/>
        </p:nvSpPr>
        <p:spPr>
          <a:xfrm>
            <a:off x="7188412" y="1817370"/>
            <a:ext cx="1270000" cy="211667"/>
          </a:xfrm>
          <a:prstGeom prst="roundRect">
            <a:avLst>
              <a:gd name="adj" fmla="val 15000"/>
            </a:avLst>
          </a:prstGeom>
          <a:solidFill>
            <a:srgbClr val="FFFFFF"/>
          </a:solidFill>
          <a:ln w="6350">
            <a:solidFill>
              <a:srgbClr val="555555"/>
            </a:solidFill>
            <a:prstDash val="solid"/>
          </a:ln>
        </p:spPr>
      </p:sp>
      <p:sp>
        <p:nvSpPr>
          <p:cNvPr id="29" name="Text 27"/>
          <p:cNvSpPr txBox="1"/>
          <p:nvPr/>
        </p:nvSpPr>
        <p:spPr>
          <a:xfrm>
            <a:off x="7188412" y="1817370"/>
            <a:ext cx="1270000" cy="211667"/>
          </a:xfrm>
          <a:prstGeom prst="rect">
            <a:avLst/>
          </a:prstGeom>
          <a:noFill/>
          <a:ln/>
        </p:spPr>
        <p:txBody>
          <a:bodyPr wrap="square" lIns="12700" tIns="635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Pickup time: ASAP        ▾</a:t>
            </a:r>
            <a:endParaRPr lang="en-US" sz="600" dirty="0"/>
          </a:p>
        </p:txBody>
      </p:sp>
      <p:sp>
        <p:nvSpPr>
          <p:cNvPr id="30" name="Shape 28"/>
          <p:cNvSpPr/>
          <p:nvPr/>
        </p:nvSpPr>
        <p:spPr>
          <a:xfrm>
            <a:off x="2425912" y="2240703"/>
            <a:ext cx="582083" cy="211667"/>
          </a:xfrm>
          <a:prstGeom prst="roundRect">
            <a:avLst>
              <a:gd name="adj" fmla="val 15000"/>
            </a:avLst>
          </a:prstGeom>
          <a:solidFill>
            <a:srgbClr val="555555"/>
          </a:solidFill>
          <a:ln w="6350">
            <a:solidFill>
              <a:srgbClr val="555555"/>
            </a:solidFill>
            <a:prstDash val="solid"/>
          </a:ln>
        </p:spPr>
      </p:sp>
      <p:sp>
        <p:nvSpPr>
          <p:cNvPr id="31" name="Text 29"/>
          <p:cNvSpPr txBox="1"/>
          <p:nvPr/>
        </p:nvSpPr>
        <p:spPr>
          <a:xfrm>
            <a:off x="2425912" y="2240703"/>
            <a:ext cx="582083" cy="211667"/>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Fish</a:t>
            </a:r>
            <a:endParaRPr lang="en-US" sz="600" dirty="0"/>
          </a:p>
        </p:txBody>
      </p:sp>
      <p:sp>
        <p:nvSpPr>
          <p:cNvPr id="32" name="Shape 30"/>
          <p:cNvSpPr/>
          <p:nvPr/>
        </p:nvSpPr>
        <p:spPr>
          <a:xfrm>
            <a:off x="3060912" y="2240703"/>
            <a:ext cx="582083" cy="211667"/>
          </a:xfrm>
          <a:prstGeom prst="roundRect">
            <a:avLst>
              <a:gd name="adj" fmla="val 15000"/>
            </a:avLst>
          </a:prstGeom>
          <a:solidFill>
            <a:srgbClr val="FFFFFF"/>
          </a:solidFill>
          <a:ln w="6350">
            <a:solidFill>
              <a:srgbClr val="555555"/>
            </a:solidFill>
            <a:prstDash val="solid"/>
          </a:ln>
        </p:spPr>
      </p:sp>
      <p:sp>
        <p:nvSpPr>
          <p:cNvPr id="33" name="Text 31"/>
          <p:cNvSpPr txBox="1"/>
          <p:nvPr/>
        </p:nvSpPr>
        <p:spPr>
          <a:xfrm>
            <a:off x="3060912" y="2240703"/>
            <a:ext cx="582083" cy="211667"/>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Combos</a:t>
            </a:r>
            <a:endParaRPr lang="en-US" sz="600" dirty="0"/>
          </a:p>
        </p:txBody>
      </p:sp>
      <p:sp>
        <p:nvSpPr>
          <p:cNvPr id="34" name="Shape 32"/>
          <p:cNvSpPr/>
          <p:nvPr/>
        </p:nvSpPr>
        <p:spPr>
          <a:xfrm>
            <a:off x="3695912" y="2240703"/>
            <a:ext cx="582083" cy="211667"/>
          </a:xfrm>
          <a:prstGeom prst="roundRect">
            <a:avLst>
              <a:gd name="adj" fmla="val 15000"/>
            </a:avLst>
          </a:prstGeom>
          <a:solidFill>
            <a:srgbClr val="FFFFFF"/>
          </a:solidFill>
          <a:ln w="6350">
            <a:solidFill>
              <a:srgbClr val="555555"/>
            </a:solidFill>
            <a:prstDash val="solid"/>
          </a:ln>
        </p:spPr>
      </p:sp>
      <p:sp>
        <p:nvSpPr>
          <p:cNvPr id="35" name="Text 33"/>
          <p:cNvSpPr txBox="1"/>
          <p:nvPr/>
        </p:nvSpPr>
        <p:spPr>
          <a:xfrm>
            <a:off x="3695912" y="2240703"/>
            <a:ext cx="582083" cy="211667"/>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Sides</a:t>
            </a:r>
            <a:endParaRPr lang="en-US" sz="600" dirty="0"/>
          </a:p>
        </p:txBody>
      </p:sp>
      <p:sp>
        <p:nvSpPr>
          <p:cNvPr id="36" name="Shape 34"/>
          <p:cNvSpPr/>
          <p:nvPr/>
        </p:nvSpPr>
        <p:spPr>
          <a:xfrm>
            <a:off x="4330912" y="2240703"/>
            <a:ext cx="582083" cy="211667"/>
          </a:xfrm>
          <a:prstGeom prst="roundRect">
            <a:avLst>
              <a:gd name="adj" fmla="val 15000"/>
            </a:avLst>
          </a:prstGeom>
          <a:solidFill>
            <a:srgbClr val="FFFFFF"/>
          </a:solidFill>
          <a:ln w="6350">
            <a:solidFill>
              <a:srgbClr val="555555"/>
            </a:solidFill>
            <a:prstDash val="solid"/>
          </a:ln>
        </p:spPr>
      </p:sp>
      <p:sp>
        <p:nvSpPr>
          <p:cNvPr id="37" name="Text 35"/>
          <p:cNvSpPr txBox="1"/>
          <p:nvPr/>
        </p:nvSpPr>
        <p:spPr>
          <a:xfrm>
            <a:off x="4330912" y="2240703"/>
            <a:ext cx="582083" cy="211667"/>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Drinks</a:t>
            </a:r>
            <a:endParaRPr lang="en-US" sz="600" dirty="0"/>
          </a:p>
        </p:txBody>
      </p:sp>
      <p:sp>
        <p:nvSpPr>
          <p:cNvPr id="38" name="Shape 36"/>
          <p:cNvSpPr/>
          <p:nvPr/>
        </p:nvSpPr>
        <p:spPr>
          <a:xfrm>
            <a:off x="4965912" y="2240703"/>
            <a:ext cx="582083" cy="211667"/>
          </a:xfrm>
          <a:prstGeom prst="roundRect">
            <a:avLst>
              <a:gd name="adj" fmla="val 15000"/>
            </a:avLst>
          </a:prstGeom>
          <a:solidFill>
            <a:srgbClr val="FFFFFF"/>
          </a:solidFill>
          <a:ln w="6350">
            <a:solidFill>
              <a:srgbClr val="555555"/>
            </a:solidFill>
            <a:prstDash val="solid"/>
          </a:ln>
        </p:spPr>
      </p:sp>
      <p:sp>
        <p:nvSpPr>
          <p:cNvPr id="39" name="Text 37"/>
          <p:cNvSpPr txBox="1"/>
          <p:nvPr/>
        </p:nvSpPr>
        <p:spPr>
          <a:xfrm>
            <a:off x="4965912" y="2240703"/>
            <a:ext cx="582083" cy="211667"/>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Desserts</a:t>
            </a:r>
            <a:endParaRPr lang="en-US" sz="600" dirty="0"/>
          </a:p>
        </p:txBody>
      </p:sp>
      <p:sp>
        <p:nvSpPr>
          <p:cNvPr id="40" name="Text 38"/>
          <p:cNvSpPr txBox="1"/>
          <p:nvPr/>
        </p:nvSpPr>
        <p:spPr>
          <a:xfrm>
            <a:off x="2425912" y="2547620"/>
            <a:ext cx="1587500" cy="169333"/>
          </a:xfrm>
          <a:prstGeom prst="rect">
            <a:avLst/>
          </a:prstGeom>
          <a:noFill/>
          <a:ln/>
        </p:spPr>
        <p:txBody>
          <a:bodyPr wrap="square" lIns="12700" tIns="12700" rIns="12700" bIns="12700" rtlCol="0" anchor="ctr"/>
          <a:lstStyle/>
          <a:p>
            <a:pPr algn="l" indent="0" marL="0">
              <a:lnSpc>
                <a:spcPct val="95000"/>
              </a:lnSpc>
              <a:buNone/>
            </a:pPr>
            <a:r>
              <a:rPr lang="en-US" sz="900" b="1" dirty="0">
                <a:solidFill>
                  <a:srgbClr val="333333"/>
                </a:solidFill>
                <a:latin typeface="Arial" pitchFamily="34" charset="0"/>
                <a:ea typeface="Arial" pitchFamily="34" charset="-122"/>
                <a:cs typeface="Arial" pitchFamily="34" charset="-120"/>
              </a:rPr>
              <a:t>Fish</a:t>
            </a:r>
            <a:endParaRPr lang="en-US" sz="900" dirty="0"/>
          </a:p>
        </p:txBody>
      </p:sp>
      <p:sp>
        <p:nvSpPr>
          <p:cNvPr id="41" name="Shape 39"/>
          <p:cNvSpPr/>
          <p:nvPr/>
        </p:nvSpPr>
        <p:spPr>
          <a:xfrm>
            <a:off x="2425912" y="2769870"/>
            <a:ext cx="1270000" cy="1375833"/>
          </a:xfrm>
          <a:prstGeom prst="rect">
            <a:avLst/>
          </a:prstGeom>
          <a:solidFill>
            <a:srgbClr val="FFFFFF"/>
          </a:solidFill>
          <a:ln w="6350">
            <a:solidFill>
              <a:srgbClr val="999999"/>
            </a:solidFill>
            <a:prstDash val="solid"/>
          </a:ln>
        </p:spPr>
      </p:sp>
      <p:sp>
        <p:nvSpPr>
          <p:cNvPr id="42" name="Shape 40"/>
          <p:cNvSpPr/>
          <p:nvPr/>
        </p:nvSpPr>
        <p:spPr>
          <a:xfrm>
            <a:off x="2478828" y="2822787"/>
            <a:ext cx="1164167" cy="635000"/>
          </a:xfrm>
          <a:prstGeom prst="rect">
            <a:avLst/>
          </a:prstGeom>
          <a:solidFill>
            <a:srgbClr val="FFFFFF"/>
          </a:solidFill>
          <a:ln w="6350">
            <a:solidFill>
              <a:srgbClr val="999999"/>
            </a:solidFill>
            <a:prstDash val="solid"/>
          </a:ln>
        </p:spPr>
      </p:sp>
      <p:sp>
        <p:nvSpPr>
          <p:cNvPr id="43" name="Shape 41"/>
          <p:cNvSpPr/>
          <p:nvPr/>
        </p:nvSpPr>
        <p:spPr>
          <a:xfrm>
            <a:off x="2478828" y="2822787"/>
            <a:ext cx="1164167" cy="635000"/>
          </a:xfrm>
          <a:prstGeom prst="line">
            <a:avLst/>
          </a:prstGeom>
          <a:noFill/>
          <a:ln w="6350">
            <a:solidFill>
              <a:srgbClr val="999999"/>
            </a:solidFill>
            <a:prstDash val="solid"/>
          </a:ln>
        </p:spPr>
      </p:sp>
      <p:sp>
        <p:nvSpPr>
          <p:cNvPr id="44" name="Shape 42"/>
          <p:cNvSpPr/>
          <p:nvPr/>
        </p:nvSpPr>
        <p:spPr>
          <a:xfrm flipV="1">
            <a:off x="2478828" y="2822787"/>
            <a:ext cx="1164167" cy="635000"/>
          </a:xfrm>
          <a:prstGeom prst="line">
            <a:avLst/>
          </a:prstGeom>
          <a:noFill/>
          <a:ln w="6350">
            <a:solidFill>
              <a:srgbClr val="999999"/>
            </a:solidFill>
            <a:prstDash val="solid"/>
          </a:ln>
        </p:spPr>
      </p:sp>
      <p:sp>
        <p:nvSpPr>
          <p:cNvPr id="45" name="Text 43"/>
          <p:cNvSpPr txBox="1"/>
          <p:nvPr/>
        </p:nvSpPr>
        <p:spPr>
          <a:xfrm>
            <a:off x="2478828" y="3500120"/>
            <a:ext cx="1164167" cy="127000"/>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Haddock &amp; Chips (1 pc)</a:t>
            </a:r>
            <a:endParaRPr lang="en-US" sz="650" dirty="0"/>
          </a:p>
        </p:txBody>
      </p:sp>
      <p:sp>
        <p:nvSpPr>
          <p:cNvPr id="46" name="Shape 44"/>
          <p:cNvSpPr/>
          <p:nvPr/>
        </p:nvSpPr>
        <p:spPr>
          <a:xfrm>
            <a:off x="2478828" y="3669453"/>
            <a:ext cx="1058333" cy="42333"/>
          </a:xfrm>
          <a:prstGeom prst="rect">
            <a:avLst/>
          </a:prstGeom>
          <a:solidFill>
            <a:srgbClr val="DDDDDD"/>
          </a:solidFill>
          <a:ln/>
        </p:spPr>
      </p:sp>
      <p:sp>
        <p:nvSpPr>
          <p:cNvPr id="47" name="Shape 45"/>
          <p:cNvSpPr/>
          <p:nvPr/>
        </p:nvSpPr>
        <p:spPr>
          <a:xfrm>
            <a:off x="2478828" y="3754120"/>
            <a:ext cx="793750" cy="42333"/>
          </a:xfrm>
          <a:prstGeom prst="rect">
            <a:avLst/>
          </a:prstGeom>
          <a:solidFill>
            <a:srgbClr val="DDDDDD"/>
          </a:solidFill>
          <a:ln/>
        </p:spPr>
      </p:sp>
      <p:sp>
        <p:nvSpPr>
          <p:cNvPr id="48" name="Text 46"/>
          <p:cNvSpPr txBox="1"/>
          <p:nvPr/>
        </p:nvSpPr>
        <p:spPr>
          <a:xfrm>
            <a:off x="2478828" y="3891703"/>
            <a:ext cx="476250" cy="190500"/>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$14.99</a:t>
            </a:r>
            <a:endParaRPr lang="en-US" sz="650" dirty="0"/>
          </a:p>
        </p:txBody>
      </p:sp>
      <p:sp>
        <p:nvSpPr>
          <p:cNvPr id="49" name="Shape 47"/>
          <p:cNvSpPr/>
          <p:nvPr/>
        </p:nvSpPr>
        <p:spPr>
          <a:xfrm>
            <a:off x="3113828" y="3891703"/>
            <a:ext cx="529167" cy="190500"/>
          </a:xfrm>
          <a:prstGeom prst="roundRect">
            <a:avLst>
              <a:gd name="adj" fmla="val 15000"/>
            </a:avLst>
          </a:prstGeom>
          <a:solidFill>
            <a:srgbClr val="555555"/>
          </a:solidFill>
          <a:ln w="6350">
            <a:solidFill>
              <a:srgbClr val="555555"/>
            </a:solidFill>
            <a:prstDash val="solid"/>
          </a:ln>
        </p:spPr>
      </p:sp>
      <p:sp>
        <p:nvSpPr>
          <p:cNvPr id="50" name="Text 48"/>
          <p:cNvSpPr txBox="1"/>
          <p:nvPr/>
        </p:nvSpPr>
        <p:spPr>
          <a:xfrm>
            <a:off x="3113828" y="3891703"/>
            <a:ext cx="529167" cy="190500"/>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Add +</a:t>
            </a:r>
            <a:endParaRPr lang="en-US" sz="600" dirty="0"/>
          </a:p>
        </p:txBody>
      </p:sp>
      <p:sp>
        <p:nvSpPr>
          <p:cNvPr id="51" name="Shape 49"/>
          <p:cNvSpPr/>
          <p:nvPr/>
        </p:nvSpPr>
        <p:spPr>
          <a:xfrm>
            <a:off x="3801745" y="2769870"/>
            <a:ext cx="1270000" cy="1375833"/>
          </a:xfrm>
          <a:prstGeom prst="rect">
            <a:avLst/>
          </a:prstGeom>
          <a:solidFill>
            <a:srgbClr val="FFFFFF"/>
          </a:solidFill>
          <a:ln w="6350">
            <a:solidFill>
              <a:srgbClr val="999999"/>
            </a:solidFill>
            <a:prstDash val="solid"/>
          </a:ln>
        </p:spPr>
      </p:sp>
      <p:sp>
        <p:nvSpPr>
          <p:cNvPr id="52" name="Shape 50"/>
          <p:cNvSpPr/>
          <p:nvPr/>
        </p:nvSpPr>
        <p:spPr>
          <a:xfrm>
            <a:off x="3854662" y="2822787"/>
            <a:ext cx="1164167" cy="635000"/>
          </a:xfrm>
          <a:prstGeom prst="rect">
            <a:avLst/>
          </a:prstGeom>
          <a:solidFill>
            <a:srgbClr val="FFFFFF"/>
          </a:solidFill>
          <a:ln w="6350">
            <a:solidFill>
              <a:srgbClr val="999999"/>
            </a:solidFill>
            <a:prstDash val="solid"/>
          </a:ln>
        </p:spPr>
      </p:sp>
      <p:sp>
        <p:nvSpPr>
          <p:cNvPr id="53" name="Shape 51"/>
          <p:cNvSpPr/>
          <p:nvPr/>
        </p:nvSpPr>
        <p:spPr>
          <a:xfrm>
            <a:off x="3854662" y="2822787"/>
            <a:ext cx="1164167" cy="635000"/>
          </a:xfrm>
          <a:prstGeom prst="line">
            <a:avLst/>
          </a:prstGeom>
          <a:noFill/>
          <a:ln w="6350">
            <a:solidFill>
              <a:srgbClr val="999999"/>
            </a:solidFill>
            <a:prstDash val="solid"/>
          </a:ln>
        </p:spPr>
      </p:sp>
      <p:sp>
        <p:nvSpPr>
          <p:cNvPr id="54" name="Shape 52"/>
          <p:cNvSpPr/>
          <p:nvPr/>
        </p:nvSpPr>
        <p:spPr>
          <a:xfrm flipV="1">
            <a:off x="3854662" y="2822787"/>
            <a:ext cx="1164167" cy="635000"/>
          </a:xfrm>
          <a:prstGeom prst="line">
            <a:avLst/>
          </a:prstGeom>
          <a:noFill/>
          <a:ln w="6350">
            <a:solidFill>
              <a:srgbClr val="999999"/>
            </a:solidFill>
            <a:prstDash val="solid"/>
          </a:ln>
        </p:spPr>
      </p:sp>
      <p:sp>
        <p:nvSpPr>
          <p:cNvPr id="55" name="Text 53"/>
          <p:cNvSpPr txBox="1"/>
          <p:nvPr/>
        </p:nvSpPr>
        <p:spPr>
          <a:xfrm>
            <a:off x="3854662" y="3500120"/>
            <a:ext cx="1164167" cy="127000"/>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Haddock &amp; Chips (2 pc)</a:t>
            </a:r>
            <a:endParaRPr lang="en-US" sz="650" dirty="0"/>
          </a:p>
        </p:txBody>
      </p:sp>
      <p:sp>
        <p:nvSpPr>
          <p:cNvPr id="56" name="Shape 54"/>
          <p:cNvSpPr/>
          <p:nvPr/>
        </p:nvSpPr>
        <p:spPr>
          <a:xfrm>
            <a:off x="3854662" y="3669453"/>
            <a:ext cx="1058333" cy="42333"/>
          </a:xfrm>
          <a:prstGeom prst="rect">
            <a:avLst/>
          </a:prstGeom>
          <a:solidFill>
            <a:srgbClr val="DDDDDD"/>
          </a:solidFill>
          <a:ln/>
        </p:spPr>
      </p:sp>
      <p:sp>
        <p:nvSpPr>
          <p:cNvPr id="57" name="Shape 55"/>
          <p:cNvSpPr/>
          <p:nvPr/>
        </p:nvSpPr>
        <p:spPr>
          <a:xfrm>
            <a:off x="3854662" y="3754120"/>
            <a:ext cx="793750" cy="42333"/>
          </a:xfrm>
          <a:prstGeom prst="rect">
            <a:avLst/>
          </a:prstGeom>
          <a:solidFill>
            <a:srgbClr val="DDDDDD"/>
          </a:solidFill>
          <a:ln/>
        </p:spPr>
      </p:sp>
      <p:sp>
        <p:nvSpPr>
          <p:cNvPr id="58" name="Text 56"/>
          <p:cNvSpPr txBox="1"/>
          <p:nvPr/>
        </p:nvSpPr>
        <p:spPr>
          <a:xfrm>
            <a:off x="3854662" y="3891703"/>
            <a:ext cx="476250" cy="190500"/>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$19.99</a:t>
            </a:r>
            <a:endParaRPr lang="en-US" sz="650" dirty="0"/>
          </a:p>
        </p:txBody>
      </p:sp>
      <p:sp>
        <p:nvSpPr>
          <p:cNvPr id="59" name="Shape 57"/>
          <p:cNvSpPr/>
          <p:nvPr/>
        </p:nvSpPr>
        <p:spPr>
          <a:xfrm>
            <a:off x="4489662" y="3891703"/>
            <a:ext cx="529167" cy="190500"/>
          </a:xfrm>
          <a:prstGeom prst="roundRect">
            <a:avLst>
              <a:gd name="adj" fmla="val 15000"/>
            </a:avLst>
          </a:prstGeom>
          <a:solidFill>
            <a:srgbClr val="555555"/>
          </a:solidFill>
          <a:ln w="6350">
            <a:solidFill>
              <a:srgbClr val="555555"/>
            </a:solidFill>
            <a:prstDash val="solid"/>
          </a:ln>
        </p:spPr>
      </p:sp>
      <p:sp>
        <p:nvSpPr>
          <p:cNvPr id="60" name="Text 58"/>
          <p:cNvSpPr txBox="1"/>
          <p:nvPr/>
        </p:nvSpPr>
        <p:spPr>
          <a:xfrm>
            <a:off x="4489662" y="3891703"/>
            <a:ext cx="529167" cy="190500"/>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Add +</a:t>
            </a:r>
            <a:endParaRPr lang="en-US" sz="600" dirty="0"/>
          </a:p>
        </p:txBody>
      </p:sp>
      <p:sp>
        <p:nvSpPr>
          <p:cNvPr id="61" name="Shape 59"/>
          <p:cNvSpPr/>
          <p:nvPr/>
        </p:nvSpPr>
        <p:spPr>
          <a:xfrm>
            <a:off x="5177578" y="2769870"/>
            <a:ext cx="1270000" cy="1375833"/>
          </a:xfrm>
          <a:prstGeom prst="rect">
            <a:avLst/>
          </a:prstGeom>
          <a:solidFill>
            <a:srgbClr val="FFFFFF"/>
          </a:solidFill>
          <a:ln w="6350">
            <a:solidFill>
              <a:srgbClr val="999999"/>
            </a:solidFill>
            <a:prstDash val="solid"/>
          </a:ln>
        </p:spPr>
      </p:sp>
      <p:sp>
        <p:nvSpPr>
          <p:cNvPr id="62" name="Shape 60"/>
          <p:cNvSpPr/>
          <p:nvPr/>
        </p:nvSpPr>
        <p:spPr>
          <a:xfrm>
            <a:off x="5230495" y="2822787"/>
            <a:ext cx="1164167" cy="635000"/>
          </a:xfrm>
          <a:prstGeom prst="rect">
            <a:avLst/>
          </a:prstGeom>
          <a:solidFill>
            <a:srgbClr val="FFFFFF"/>
          </a:solidFill>
          <a:ln w="6350">
            <a:solidFill>
              <a:srgbClr val="999999"/>
            </a:solidFill>
            <a:prstDash val="solid"/>
          </a:ln>
        </p:spPr>
      </p:sp>
      <p:sp>
        <p:nvSpPr>
          <p:cNvPr id="63" name="Shape 61"/>
          <p:cNvSpPr/>
          <p:nvPr/>
        </p:nvSpPr>
        <p:spPr>
          <a:xfrm>
            <a:off x="5230495" y="2822787"/>
            <a:ext cx="1164167" cy="635000"/>
          </a:xfrm>
          <a:prstGeom prst="line">
            <a:avLst/>
          </a:prstGeom>
          <a:noFill/>
          <a:ln w="6350">
            <a:solidFill>
              <a:srgbClr val="999999"/>
            </a:solidFill>
            <a:prstDash val="solid"/>
          </a:ln>
        </p:spPr>
      </p:sp>
      <p:sp>
        <p:nvSpPr>
          <p:cNvPr id="64" name="Shape 62"/>
          <p:cNvSpPr/>
          <p:nvPr/>
        </p:nvSpPr>
        <p:spPr>
          <a:xfrm flipV="1">
            <a:off x="5230495" y="2822787"/>
            <a:ext cx="1164167" cy="635000"/>
          </a:xfrm>
          <a:prstGeom prst="line">
            <a:avLst/>
          </a:prstGeom>
          <a:noFill/>
          <a:ln w="6350">
            <a:solidFill>
              <a:srgbClr val="999999"/>
            </a:solidFill>
            <a:prstDash val="solid"/>
          </a:ln>
        </p:spPr>
      </p:sp>
      <p:sp>
        <p:nvSpPr>
          <p:cNvPr id="65" name="Text 63"/>
          <p:cNvSpPr txBox="1"/>
          <p:nvPr/>
        </p:nvSpPr>
        <p:spPr>
          <a:xfrm>
            <a:off x="5230495" y="3500120"/>
            <a:ext cx="1164167" cy="127000"/>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Fish Tacos (2)</a:t>
            </a:r>
            <a:endParaRPr lang="en-US" sz="650" dirty="0"/>
          </a:p>
        </p:txBody>
      </p:sp>
      <p:sp>
        <p:nvSpPr>
          <p:cNvPr id="66" name="Shape 64"/>
          <p:cNvSpPr/>
          <p:nvPr/>
        </p:nvSpPr>
        <p:spPr>
          <a:xfrm>
            <a:off x="5230495" y="3669453"/>
            <a:ext cx="1058333" cy="42333"/>
          </a:xfrm>
          <a:prstGeom prst="rect">
            <a:avLst/>
          </a:prstGeom>
          <a:solidFill>
            <a:srgbClr val="DDDDDD"/>
          </a:solidFill>
          <a:ln/>
        </p:spPr>
      </p:sp>
      <p:sp>
        <p:nvSpPr>
          <p:cNvPr id="67" name="Shape 65"/>
          <p:cNvSpPr/>
          <p:nvPr/>
        </p:nvSpPr>
        <p:spPr>
          <a:xfrm>
            <a:off x="5230495" y="3754120"/>
            <a:ext cx="793750" cy="42333"/>
          </a:xfrm>
          <a:prstGeom prst="rect">
            <a:avLst/>
          </a:prstGeom>
          <a:solidFill>
            <a:srgbClr val="DDDDDD"/>
          </a:solidFill>
          <a:ln/>
        </p:spPr>
      </p:sp>
      <p:sp>
        <p:nvSpPr>
          <p:cNvPr id="68" name="Text 66"/>
          <p:cNvSpPr txBox="1"/>
          <p:nvPr/>
        </p:nvSpPr>
        <p:spPr>
          <a:xfrm>
            <a:off x="5230495" y="3891703"/>
            <a:ext cx="476250" cy="190500"/>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$13.49</a:t>
            </a:r>
            <a:endParaRPr lang="en-US" sz="650" dirty="0"/>
          </a:p>
        </p:txBody>
      </p:sp>
      <p:sp>
        <p:nvSpPr>
          <p:cNvPr id="69" name="Shape 67"/>
          <p:cNvSpPr/>
          <p:nvPr/>
        </p:nvSpPr>
        <p:spPr>
          <a:xfrm>
            <a:off x="5865495" y="3891703"/>
            <a:ext cx="529167" cy="190500"/>
          </a:xfrm>
          <a:prstGeom prst="roundRect">
            <a:avLst>
              <a:gd name="adj" fmla="val 15000"/>
            </a:avLst>
          </a:prstGeom>
          <a:solidFill>
            <a:srgbClr val="555555"/>
          </a:solidFill>
          <a:ln w="6350">
            <a:solidFill>
              <a:srgbClr val="555555"/>
            </a:solidFill>
            <a:prstDash val="solid"/>
          </a:ln>
        </p:spPr>
      </p:sp>
      <p:sp>
        <p:nvSpPr>
          <p:cNvPr id="70" name="Text 68"/>
          <p:cNvSpPr txBox="1"/>
          <p:nvPr/>
        </p:nvSpPr>
        <p:spPr>
          <a:xfrm>
            <a:off x="5865495" y="3891703"/>
            <a:ext cx="529167" cy="190500"/>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Add +</a:t>
            </a:r>
            <a:endParaRPr lang="en-US" sz="600" dirty="0"/>
          </a:p>
        </p:txBody>
      </p:sp>
      <p:sp>
        <p:nvSpPr>
          <p:cNvPr id="71" name="Shape 69"/>
          <p:cNvSpPr/>
          <p:nvPr/>
        </p:nvSpPr>
        <p:spPr>
          <a:xfrm>
            <a:off x="2425912" y="4251537"/>
            <a:ext cx="1270000" cy="1375833"/>
          </a:xfrm>
          <a:prstGeom prst="rect">
            <a:avLst/>
          </a:prstGeom>
          <a:solidFill>
            <a:srgbClr val="FFFFFF"/>
          </a:solidFill>
          <a:ln w="6350">
            <a:solidFill>
              <a:srgbClr val="999999"/>
            </a:solidFill>
            <a:prstDash val="solid"/>
          </a:ln>
        </p:spPr>
      </p:sp>
      <p:sp>
        <p:nvSpPr>
          <p:cNvPr id="72" name="Shape 70"/>
          <p:cNvSpPr/>
          <p:nvPr/>
        </p:nvSpPr>
        <p:spPr>
          <a:xfrm>
            <a:off x="2478828" y="4304453"/>
            <a:ext cx="1164167" cy="635000"/>
          </a:xfrm>
          <a:prstGeom prst="rect">
            <a:avLst/>
          </a:prstGeom>
          <a:solidFill>
            <a:srgbClr val="FFFFFF"/>
          </a:solidFill>
          <a:ln w="6350">
            <a:solidFill>
              <a:srgbClr val="999999"/>
            </a:solidFill>
            <a:prstDash val="solid"/>
          </a:ln>
        </p:spPr>
      </p:sp>
      <p:sp>
        <p:nvSpPr>
          <p:cNvPr id="73" name="Shape 71"/>
          <p:cNvSpPr/>
          <p:nvPr/>
        </p:nvSpPr>
        <p:spPr>
          <a:xfrm>
            <a:off x="2478828" y="4304453"/>
            <a:ext cx="1164167" cy="635000"/>
          </a:xfrm>
          <a:prstGeom prst="line">
            <a:avLst/>
          </a:prstGeom>
          <a:noFill/>
          <a:ln w="6350">
            <a:solidFill>
              <a:srgbClr val="999999"/>
            </a:solidFill>
            <a:prstDash val="solid"/>
          </a:ln>
        </p:spPr>
      </p:sp>
      <p:sp>
        <p:nvSpPr>
          <p:cNvPr id="74" name="Shape 72"/>
          <p:cNvSpPr/>
          <p:nvPr/>
        </p:nvSpPr>
        <p:spPr>
          <a:xfrm flipV="1">
            <a:off x="2478828" y="4304453"/>
            <a:ext cx="1164167" cy="635000"/>
          </a:xfrm>
          <a:prstGeom prst="line">
            <a:avLst/>
          </a:prstGeom>
          <a:noFill/>
          <a:ln w="6350">
            <a:solidFill>
              <a:srgbClr val="999999"/>
            </a:solidFill>
            <a:prstDash val="solid"/>
          </a:ln>
        </p:spPr>
      </p:sp>
      <p:sp>
        <p:nvSpPr>
          <p:cNvPr id="75" name="Text 73"/>
          <p:cNvSpPr txBox="1"/>
          <p:nvPr/>
        </p:nvSpPr>
        <p:spPr>
          <a:xfrm>
            <a:off x="2478828" y="4981787"/>
            <a:ext cx="1164167" cy="127000"/>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Clam Strips &amp; Chips</a:t>
            </a:r>
            <a:endParaRPr lang="en-US" sz="650" dirty="0"/>
          </a:p>
        </p:txBody>
      </p:sp>
      <p:sp>
        <p:nvSpPr>
          <p:cNvPr id="76" name="Shape 74"/>
          <p:cNvSpPr/>
          <p:nvPr/>
        </p:nvSpPr>
        <p:spPr>
          <a:xfrm>
            <a:off x="2478828" y="5151120"/>
            <a:ext cx="1058333" cy="42333"/>
          </a:xfrm>
          <a:prstGeom prst="rect">
            <a:avLst/>
          </a:prstGeom>
          <a:solidFill>
            <a:srgbClr val="DDDDDD"/>
          </a:solidFill>
          <a:ln/>
        </p:spPr>
      </p:sp>
      <p:sp>
        <p:nvSpPr>
          <p:cNvPr id="77" name="Shape 75"/>
          <p:cNvSpPr/>
          <p:nvPr/>
        </p:nvSpPr>
        <p:spPr>
          <a:xfrm>
            <a:off x="2478828" y="5235787"/>
            <a:ext cx="793750" cy="42333"/>
          </a:xfrm>
          <a:prstGeom prst="rect">
            <a:avLst/>
          </a:prstGeom>
          <a:solidFill>
            <a:srgbClr val="DDDDDD"/>
          </a:solidFill>
          <a:ln/>
        </p:spPr>
      </p:sp>
      <p:sp>
        <p:nvSpPr>
          <p:cNvPr id="78" name="Text 76"/>
          <p:cNvSpPr txBox="1"/>
          <p:nvPr/>
        </p:nvSpPr>
        <p:spPr>
          <a:xfrm>
            <a:off x="2478828" y="5373370"/>
            <a:ext cx="476250" cy="190500"/>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$16.99</a:t>
            </a:r>
            <a:endParaRPr lang="en-US" sz="650" dirty="0"/>
          </a:p>
        </p:txBody>
      </p:sp>
      <p:sp>
        <p:nvSpPr>
          <p:cNvPr id="79" name="Shape 77"/>
          <p:cNvSpPr/>
          <p:nvPr/>
        </p:nvSpPr>
        <p:spPr>
          <a:xfrm>
            <a:off x="3113828" y="5373370"/>
            <a:ext cx="529167" cy="190500"/>
          </a:xfrm>
          <a:prstGeom prst="roundRect">
            <a:avLst>
              <a:gd name="adj" fmla="val 15000"/>
            </a:avLst>
          </a:prstGeom>
          <a:solidFill>
            <a:srgbClr val="555555"/>
          </a:solidFill>
          <a:ln w="6350">
            <a:solidFill>
              <a:srgbClr val="555555"/>
            </a:solidFill>
            <a:prstDash val="solid"/>
          </a:ln>
        </p:spPr>
      </p:sp>
      <p:sp>
        <p:nvSpPr>
          <p:cNvPr id="80" name="Text 78"/>
          <p:cNvSpPr txBox="1"/>
          <p:nvPr/>
        </p:nvSpPr>
        <p:spPr>
          <a:xfrm>
            <a:off x="3113828" y="5373370"/>
            <a:ext cx="529167" cy="190500"/>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Add +</a:t>
            </a:r>
            <a:endParaRPr lang="en-US" sz="600" dirty="0"/>
          </a:p>
        </p:txBody>
      </p:sp>
      <p:sp>
        <p:nvSpPr>
          <p:cNvPr id="81" name="Shape 79"/>
          <p:cNvSpPr/>
          <p:nvPr/>
        </p:nvSpPr>
        <p:spPr>
          <a:xfrm>
            <a:off x="3801745" y="4251537"/>
            <a:ext cx="1270000" cy="1375833"/>
          </a:xfrm>
          <a:prstGeom prst="rect">
            <a:avLst/>
          </a:prstGeom>
          <a:solidFill>
            <a:srgbClr val="FFFFFF"/>
          </a:solidFill>
          <a:ln w="6350">
            <a:solidFill>
              <a:srgbClr val="999999"/>
            </a:solidFill>
            <a:prstDash val="solid"/>
          </a:ln>
        </p:spPr>
      </p:sp>
      <p:sp>
        <p:nvSpPr>
          <p:cNvPr id="82" name="Shape 80"/>
          <p:cNvSpPr/>
          <p:nvPr/>
        </p:nvSpPr>
        <p:spPr>
          <a:xfrm>
            <a:off x="3854662" y="4304453"/>
            <a:ext cx="1164167" cy="635000"/>
          </a:xfrm>
          <a:prstGeom prst="rect">
            <a:avLst/>
          </a:prstGeom>
          <a:solidFill>
            <a:srgbClr val="FFFFFF"/>
          </a:solidFill>
          <a:ln w="6350">
            <a:solidFill>
              <a:srgbClr val="999999"/>
            </a:solidFill>
            <a:prstDash val="solid"/>
          </a:ln>
        </p:spPr>
      </p:sp>
      <p:sp>
        <p:nvSpPr>
          <p:cNvPr id="83" name="Shape 81"/>
          <p:cNvSpPr/>
          <p:nvPr/>
        </p:nvSpPr>
        <p:spPr>
          <a:xfrm>
            <a:off x="3854662" y="4304453"/>
            <a:ext cx="1164167" cy="635000"/>
          </a:xfrm>
          <a:prstGeom prst="line">
            <a:avLst/>
          </a:prstGeom>
          <a:noFill/>
          <a:ln w="6350">
            <a:solidFill>
              <a:srgbClr val="999999"/>
            </a:solidFill>
            <a:prstDash val="solid"/>
          </a:ln>
        </p:spPr>
      </p:sp>
      <p:sp>
        <p:nvSpPr>
          <p:cNvPr id="84" name="Shape 82"/>
          <p:cNvSpPr/>
          <p:nvPr/>
        </p:nvSpPr>
        <p:spPr>
          <a:xfrm flipV="1">
            <a:off x="3854662" y="4304453"/>
            <a:ext cx="1164167" cy="635000"/>
          </a:xfrm>
          <a:prstGeom prst="line">
            <a:avLst/>
          </a:prstGeom>
          <a:noFill/>
          <a:ln w="6350">
            <a:solidFill>
              <a:srgbClr val="999999"/>
            </a:solidFill>
            <a:prstDash val="solid"/>
          </a:ln>
        </p:spPr>
      </p:sp>
      <p:sp>
        <p:nvSpPr>
          <p:cNvPr id="85" name="Text 83"/>
          <p:cNvSpPr txBox="1"/>
          <p:nvPr/>
        </p:nvSpPr>
        <p:spPr>
          <a:xfrm>
            <a:off x="3854662" y="4981787"/>
            <a:ext cx="1164167" cy="127000"/>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Scallops &amp; Chips</a:t>
            </a:r>
            <a:endParaRPr lang="en-US" sz="650" dirty="0"/>
          </a:p>
        </p:txBody>
      </p:sp>
      <p:sp>
        <p:nvSpPr>
          <p:cNvPr id="86" name="Shape 84"/>
          <p:cNvSpPr/>
          <p:nvPr/>
        </p:nvSpPr>
        <p:spPr>
          <a:xfrm>
            <a:off x="3854662" y="5151120"/>
            <a:ext cx="1058333" cy="42333"/>
          </a:xfrm>
          <a:prstGeom prst="rect">
            <a:avLst/>
          </a:prstGeom>
          <a:solidFill>
            <a:srgbClr val="DDDDDD"/>
          </a:solidFill>
          <a:ln/>
        </p:spPr>
      </p:sp>
      <p:sp>
        <p:nvSpPr>
          <p:cNvPr id="87" name="Shape 85"/>
          <p:cNvSpPr/>
          <p:nvPr/>
        </p:nvSpPr>
        <p:spPr>
          <a:xfrm>
            <a:off x="3854662" y="5235787"/>
            <a:ext cx="793750" cy="42333"/>
          </a:xfrm>
          <a:prstGeom prst="rect">
            <a:avLst/>
          </a:prstGeom>
          <a:solidFill>
            <a:srgbClr val="DDDDDD"/>
          </a:solidFill>
          <a:ln/>
        </p:spPr>
      </p:sp>
      <p:sp>
        <p:nvSpPr>
          <p:cNvPr id="88" name="Text 86"/>
          <p:cNvSpPr txBox="1"/>
          <p:nvPr/>
        </p:nvSpPr>
        <p:spPr>
          <a:xfrm>
            <a:off x="3854662" y="5373370"/>
            <a:ext cx="476250" cy="190500"/>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$24.99</a:t>
            </a:r>
            <a:endParaRPr lang="en-US" sz="650" dirty="0"/>
          </a:p>
        </p:txBody>
      </p:sp>
      <p:sp>
        <p:nvSpPr>
          <p:cNvPr id="89" name="Shape 87"/>
          <p:cNvSpPr/>
          <p:nvPr/>
        </p:nvSpPr>
        <p:spPr>
          <a:xfrm>
            <a:off x="4489662" y="5373370"/>
            <a:ext cx="529167" cy="190500"/>
          </a:xfrm>
          <a:prstGeom prst="roundRect">
            <a:avLst>
              <a:gd name="adj" fmla="val 15000"/>
            </a:avLst>
          </a:prstGeom>
          <a:solidFill>
            <a:srgbClr val="555555"/>
          </a:solidFill>
          <a:ln w="6350">
            <a:solidFill>
              <a:srgbClr val="555555"/>
            </a:solidFill>
            <a:prstDash val="solid"/>
          </a:ln>
        </p:spPr>
      </p:sp>
      <p:sp>
        <p:nvSpPr>
          <p:cNvPr id="90" name="Text 88"/>
          <p:cNvSpPr txBox="1"/>
          <p:nvPr/>
        </p:nvSpPr>
        <p:spPr>
          <a:xfrm>
            <a:off x="4489662" y="5373370"/>
            <a:ext cx="529167" cy="190500"/>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Add +</a:t>
            </a:r>
            <a:endParaRPr lang="en-US" sz="600" dirty="0"/>
          </a:p>
        </p:txBody>
      </p:sp>
      <p:sp>
        <p:nvSpPr>
          <p:cNvPr id="91" name="Shape 89"/>
          <p:cNvSpPr/>
          <p:nvPr/>
        </p:nvSpPr>
        <p:spPr>
          <a:xfrm>
            <a:off x="5177578" y="4251537"/>
            <a:ext cx="1270000" cy="1375833"/>
          </a:xfrm>
          <a:prstGeom prst="rect">
            <a:avLst/>
          </a:prstGeom>
          <a:solidFill>
            <a:srgbClr val="FFFFFF"/>
          </a:solidFill>
          <a:ln w="6350">
            <a:solidFill>
              <a:srgbClr val="999999"/>
            </a:solidFill>
            <a:prstDash val="solid"/>
          </a:ln>
        </p:spPr>
      </p:sp>
      <p:sp>
        <p:nvSpPr>
          <p:cNvPr id="92" name="Shape 90"/>
          <p:cNvSpPr/>
          <p:nvPr/>
        </p:nvSpPr>
        <p:spPr>
          <a:xfrm>
            <a:off x="5230495" y="4304453"/>
            <a:ext cx="1164167" cy="635000"/>
          </a:xfrm>
          <a:prstGeom prst="rect">
            <a:avLst/>
          </a:prstGeom>
          <a:solidFill>
            <a:srgbClr val="FFFFFF"/>
          </a:solidFill>
          <a:ln w="6350">
            <a:solidFill>
              <a:srgbClr val="999999"/>
            </a:solidFill>
            <a:prstDash val="solid"/>
          </a:ln>
        </p:spPr>
      </p:sp>
      <p:sp>
        <p:nvSpPr>
          <p:cNvPr id="93" name="Shape 91"/>
          <p:cNvSpPr/>
          <p:nvPr/>
        </p:nvSpPr>
        <p:spPr>
          <a:xfrm>
            <a:off x="5230495" y="4304453"/>
            <a:ext cx="1164167" cy="635000"/>
          </a:xfrm>
          <a:prstGeom prst="line">
            <a:avLst/>
          </a:prstGeom>
          <a:noFill/>
          <a:ln w="6350">
            <a:solidFill>
              <a:srgbClr val="999999"/>
            </a:solidFill>
            <a:prstDash val="solid"/>
          </a:ln>
        </p:spPr>
      </p:sp>
      <p:sp>
        <p:nvSpPr>
          <p:cNvPr id="94" name="Shape 92"/>
          <p:cNvSpPr/>
          <p:nvPr/>
        </p:nvSpPr>
        <p:spPr>
          <a:xfrm flipV="1">
            <a:off x="5230495" y="4304453"/>
            <a:ext cx="1164167" cy="635000"/>
          </a:xfrm>
          <a:prstGeom prst="line">
            <a:avLst/>
          </a:prstGeom>
          <a:noFill/>
          <a:ln w="6350">
            <a:solidFill>
              <a:srgbClr val="999999"/>
            </a:solidFill>
            <a:prstDash val="solid"/>
          </a:ln>
        </p:spPr>
      </p:sp>
      <p:sp>
        <p:nvSpPr>
          <p:cNvPr id="95" name="Text 93"/>
          <p:cNvSpPr txBox="1"/>
          <p:nvPr/>
        </p:nvSpPr>
        <p:spPr>
          <a:xfrm>
            <a:off x="5230495" y="4981787"/>
            <a:ext cx="1164167" cy="127000"/>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Lobster Roll</a:t>
            </a:r>
            <a:endParaRPr lang="en-US" sz="650" dirty="0"/>
          </a:p>
        </p:txBody>
      </p:sp>
      <p:sp>
        <p:nvSpPr>
          <p:cNvPr id="96" name="Shape 94"/>
          <p:cNvSpPr/>
          <p:nvPr/>
        </p:nvSpPr>
        <p:spPr>
          <a:xfrm>
            <a:off x="5230495" y="5151120"/>
            <a:ext cx="1058333" cy="42333"/>
          </a:xfrm>
          <a:prstGeom prst="rect">
            <a:avLst/>
          </a:prstGeom>
          <a:solidFill>
            <a:srgbClr val="DDDDDD"/>
          </a:solidFill>
          <a:ln/>
        </p:spPr>
      </p:sp>
      <p:sp>
        <p:nvSpPr>
          <p:cNvPr id="97" name="Shape 95"/>
          <p:cNvSpPr/>
          <p:nvPr/>
        </p:nvSpPr>
        <p:spPr>
          <a:xfrm>
            <a:off x="5230495" y="5235787"/>
            <a:ext cx="793750" cy="42333"/>
          </a:xfrm>
          <a:prstGeom prst="rect">
            <a:avLst/>
          </a:prstGeom>
          <a:solidFill>
            <a:srgbClr val="DDDDDD"/>
          </a:solidFill>
          <a:ln/>
        </p:spPr>
      </p:sp>
      <p:sp>
        <p:nvSpPr>
          <p:cNvPr id="98" name="Text 96"/>
          <p:cNvSpPr txBox="1"/>
          <p:nvPr/>
        </p:nvSpPr>
        <p:spPr>
          <a:xfrm>
            <a:off x="5230495" y="5373370"/>
            <a:ext cx="476250" cy="190500"/>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$22.99</a:t>
            </a:r>
            <a:endParaRPr lang="en-US" sz="650" dirty="0"/>
          </a:p>
        </p:txBody>
      </p:sp>
      <p:sp>
        <p:nvSpPr>
          <p:cNvPr id="99" name="Shape 97"/>
          <p:cNvSpPr/>
          <p:nvPr/>
        </p:nvSpPr>
        <p:spPr>
          <a:xfrm>
            <a:off x="5865495" y="5373370"/>
            <a:ext cx="529167" cy="190500"/>
          </a:xfrm>
          <a:prstGeom prst="roundRect">
            <a:avLst>
              <a:gd name="adj" fmla="val 15000"/>
            </a:avLst>
          </a:prstGeom>
          <a:solidFill>
            <a:srgbClr val="555555"/>
          </a:solidFill>
          <a:ln w="6350">
            <a:solidFill>
              <a:srgbClr val="555555"/>
            </a:solidFill>
            <a:prstDash val="solid"/>
          </a:ln>
        </p:spPr>
      </p:sp>
      <p:sp>
        <p:nvSpPr>
          <p:cNvPr id="100" name="Text 98"/>
          <p:cNvSpPr txBox="1"/>
          <p:nvPr/>
        </p:nvSpPr>
        <p:spPr>
          <a:xfrm>
            <a:off x="5865495" y="5373370"/>
            <a:ext cx="529167" cy="190500"/>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Add +</a:t>
            </a:r>
            <a:endParaRPr lang="en-US" sz="600" dirty="0"/>
          </a:p>
        </p:txBody>
      </p:sp>
      <p:sp>
        <p:nvSpPr>
          <p:cNvPr id="101" name="Shape 99"/>
          <p:cNvSpPr/>
          <p:nvPr/>
        </p:nvSpPr>
        <p:spPr>
          <a:xfrm>
            <a:off x="6606328" y="2240703"/>
            <a:ext cx="1957917" cy="2328333"/>
          </a:xfrm>
          <a:prstGeom prst="rect">
            <a:avLst/>
          </a:prstGeom>
          <a:solidFill>
            <a:srgbClr val="F5F5F5"/>
          </a:solidFill>
          <a:ln w="6350">
            <a:solidFill>
              <a:srgbClr val="999999"/>
            </a:solidFill>
            <a:prstDash val="solid"/>
          </a:ln>
        </p:spPr>
      </p:sp>
      <p:sp>
        <p:nvSpPr>
          <p:cNvPr id="102" name="Text 100"/>
          <p:cNvSpPr txBox="1"/>
          <p:nvPr/>
        </p:nvSpPr>
        <p:spPr>
          <a:xfrm>
            <a:off x="6712162" y="2325370"/>
            <a:ext cx="1322917" cy="158750"/>
          </a:xfrm>
          <a:prstGeom prst="rect">
            <a:avLst/>
          </a:prstGeom>
          <a:noFill/>
          <a:ln/>
        </p:spPr>
        <p:txBody>
          <a:bodyPr wrap="square" lIns="12700" tIns="12700" rIns="12700" bIns="12700" rtlCol="0" anchor="ctr"/>
          <a:lstStyle/>
          <a:p>
            <a:pPr algn="l" indent="0" marL="0">
              <a:lnSpc>
                <a:spcPct val="95000"/>
              </a:lnSpc>
              <a:buNone/>
            </a:pPr>
            <a:r>
              <a:rPr lang="en-US" sz="850" b="1" dirty="0">
                <a:solidFill>
                  <a:srgbClr val="333333"/>
                </a:solidFill>
                <a:latin typeface="Arial" pitchFamily="34" charset="0"/>
                <a:ea typeface="Arial" pitchFamily="34" charset="-122"/>
                <a:cs typeface="Arial" pitchFamily="34" charset="-120"/>
              </a:rPr>
              <a:t>Your Order</a:t>
            </a:r>
            <a:endParaRPr lang="en-US" sz="850" dirty="0"/>
          </a:p>
        </p:txBody>
      </p:sp>
      <p:sp>
        <p:nvSpPr>
          <p:cNvPr id="103" name="Text 101"/>
          <p:cNvSpPr txBox="1"/>
          <p:nvPr/>
        </p:nvSpPr>
        <p:spPr>
          <a:xfrm>
            <a:off x="6712162" y="2579370"/>
            <a:ext cx="952500" cy="148167"/>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Haddock &amp; Chips (2 pc)</a:t>
            </a:r>
            <a:endParaRPr lang="en-US" sz="600" dirty="0"/>
          </a:p>
        </p:txBody>
      </p:sp>
      <p:sp>
        <p:nvSpPr>
          <p:cNvPr id="104" name="Shape 102"/>
          <p:cNvSpPr/>
          <p:nvPr/>
        </p:nvSpPr>
        <p:spPr>
          <a:xfrm>
            <a:off x="7696412" y="2579370"/>
            <a:ext cx="148167" cy="148167"/>
          </a:xfrm>
          <a:prstGeom prst="roundRect">
            <a:avLst>
              <a:gd name="adj" fmla="val 15000"/>
            </a:avLst>
          </a:prstGeom>
          <a:solidFill>
            <a:srgbClr val="FFFFFF"/>
          </a:solidFill>
          <a:ln w="6350">
            <a:solidFill>
              <a:srgbClr val="555555"/>
            </a:solidFill>
            <a:prstDash val="solid"/>
          </a:ln>
        </p:spPr>
      </p:sp>
      <p:sp>
        <p:nvSpPr>
          <p:cNvPr id="105" name="Text 103"/>
          <p:cNvSpPr txBox="1"/>
          <p:nvPr/>
        </p:nvSpPr>
        <p:spPr>
          <a:xfrm>
            <a:off x="7696412" y="2579370"/>
            <a:ext cx="148167" cy="148167"/>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a:t>
            </a:r>
            <a:endParaRPr lang="en-US" sz="600" dirty="0"/>
          </a:p>
        </p:txBody>
      </p:sp>
      <p:sp>
        <p:nvSpPr>
          <p:cNvPr id="106" name="Text 104"/>
          <p:cNvSpPr txBox="1"/>
          <p:nvPr/>
        </p:nvSpPr>
        <p:spPr>
          <a:xfrm>
            <a:off x="7844578" y="2579370"/>
            <a:ext cx="127000" cy="148167"/>
          </a:xfrm>
          <a:prstGeom prst="rect">
            <a:avLst/>
          </a:prstGeom>
          <a:noFill/>
          <a:ln/>
        </p:spPr>
        <p:txBody>
          <a:bodyPr wrap="square" lIns="12700" tIns="12700" rIns="12700" bIns="12700" rtlCol="0" anchor="ctr"/>
          <a:lstStyle/>
          <a:p>
            <a:pPr algn="ctr" indent="0" marL="0">
              <a:lnSpc>
                <a:spcPct val="95000"/>
              </a:lnSpc>
              <a:buNone/>
            </a:pPr>
            <a:r>
              <a:rPr lang="en-US" sz="600" dirty="0">
                <a:solidFill>
                  <a:srgbClr val="333333"/>
                </a:solidFill>
                <a:latin typeface="Arial" pitchFamily="34" charset="0"/>
                <a:ea typeface="Arial" pitchFamily="34" charset="-122"/>
                <a:cs typeface="Arial" pitchFamily="34" charset="-120"/>
              </a:rPr>
              <a:t>1</a:t>
            </a:r>
            <a:endParaRPr lang="en-US" sz="600" dirty="0"/>
          </a:p>
        </p:txBody>
      </p:sp>
      <p:sp>
        <p:nvSpPr>
          <p:cNvPr id="107" name="Shape 105"/>
          <p:cNvSpPr/>
          <p:nvPr/>
        </p:nvSpPr>
        <p:spPr>
          <a:xfrm>
            <a:off x="7971578" y="2579370"/>
            <a:ext cx="148167" cy="148167"/>
          </a:xfrm>
          <a:prstGeom prst="roundRect">
            <a:avLst>
              <a:gd name="adj" fmla="val 15000"/>
            </a:avLst>
          </a:prstGeom>
          <a:solidFill>
            <a:srgbClr val="FFFFFF"/>
          </a:solidFill>
          <a:ln w="6350">
            <a:solidFill>
              <a:srgbClr val="555555"/>
            </a:solidFill>
            <a:prstDash val="solid"/>
          </a:ln>
        </p:spPr>
      </p:sp>
      <p:sp>
        <p:nvSpPr>
          <p:cNvPr id="108" name="Text 106"/>
          <p:cNvSpPr txBox="1"/>
          <p:nvPr/>
        </p:nvSpPr>
        <p:spPr>
          <a:xfrm>
            <a:off x="7971578" y="2579370"/>
            <a:ext cx="148167" cy="148167"/>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a:t>
            </a:r>
            <a:endParaRPr lang="en-US" sz="600" dirty="0"/>
          </a:p>
        </p:txBody>
      </p:sp>
      <p:sp>
        <p:nvSpPr>
          <p:cNvPr id="109" name="Text 107"/>
          <p:cNvSpPr txBox="1"/>
          <p:nvPr/>
        </p:nvSpPr>
        <p:spPr>
          <a:xfrm>
            <a:off x="8140912" y="2579370"/>
            <a:ext cx="317500" cy="148167"/>
          </a:xfrm>
          <a:prstGeom prst="rect">
            <a:avLst/>
          </a:prstGeom>
          <a:noFill/>
          <a:ln/>
        </p:spPr>
        <p:txBody>
          <a:bodyPr wrap="square" lIns="12700" tIns="12700" rIns="12700" bIns="12700" rtlCol="0" anchor="ctr"/>
          <a:lstStyle/>
          <a:p>
            <a:pPr algn="r" indent="0" marL="0">
              <a:lnSpc>
                <a:spcPct val="95000"/>
              </a:lnSpc>
              <a:buNone/>
            </a:pPr>
            <a:r>
              <a:rPr lang="en-US" sz="600" dirty="0">
                <a:solidFill>
                  <a:srgbClr val="333333"/>
                </a:solidFill>
                <a:latin typeface="Arial" pitchFamily="34" charset="0"/>
                <a:ea typeface="Arial" pitchFamily="34" charset="-122"/>
                <a:cs typeface="Arial" pitchFamily="34" charset="-120"/>
              </a:rPr>
              <a:t>$19.99</a:t>
            </a:r>
            <a:endParaRPr lang="en-US" sz="600" dirty="0"/>
          </a:p>
        </p:txBody>
      </p:sp>
      <p:sp>
        <p:nvSpPr>
          <p:cNvPr id="110" name="Text 108"/>
          <p:cNvSpPr txBox="1"/>
          <p:nvPr/>
        </p:nvSpPr>
        <p:spPr>
          <a:xfrm>
            <a:off x="6712162" y="2843953"/>
            <a:ext cx="952500" cy="148167"/>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Fries (large)</a:t>
            </a:r>
            <a:endParaRPr lang="en-US" sz="600" dirty="0"/>
          </a:p>
        </p:txBody>
      </p:sp>
      <p:sp>
        <p:nvSpPr>
          <p:cNvPr id="111" name="Shape 109"/>
          <p:cNvSpPr/>
          <p:nvPr/>
        </p:nvSpPr>
        <p:spPr>
          <a:xfrm>
            <a:off x="7696412" y="2843953"/>
            <a:ext cx="148167" cy="148167"/>
          </a:xfrm>
          <a:prstGeom prst="roundRect">
            <a:avLst>
              <a:gd name="adj" fmla="val 15000"/>
            </a:avLst>
          </a:prstGeom>
          <a:solidFill>
            <a:srgbClr val="FFFFFF"/>
          </a:solidFill>
          <a:ln w="6350">
            <a:solidFill>
              <a:srgbClr val="555555"/>
            </a:solidFill>
            <a:prstDash val="solid"/>
          </a:ln>
        </p:spPr>
      </p:sp>
      <p:sp>
        <p:nvSpPr>
          <p:cNvPr id="112" name="Text 110"/>
          <p:cNvSpPr txBox="1"/>
          <p:nvPr/>
        </p:nvSpPr>
        <p:spPr>
          <a:xfrm>
            <a:off x="7696412" y="2843953"/>
            <a:ext cx="148167" cy="148167"/>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a:t>
            </a:r>
            <a:endParaRPr lang="en-US" sz="600" dirty="0"/>
          </a:p>
        </p:txBody>
      </p:sp>
      <p:sp>
        <p:nvSpPr>
          <p:cNvPr id="113" name="Text 111"/>
          <p:cNvSpPr txBox="1"/>
          <p:nvPr/>
        </p:nvSpPr>
        <p:spPr>
          <a:xfrm>
            <a:off x="7844578" y="2843953"/>
            <a:ext cx="127000" cy="148167"/>
          </a:xfrm>
          <a:prstGeom prst="rect">
            <a:avLst/>
          </a:prstGeom>
          <a:noFill/>
          <a:ln/>
        </p:spPr>
        <p:txBody>
          <a:bodyPr wrap="square" lIns="12700" tIns="12700" rIns="12700" bIns="12700" rtlCol="0" anchor="ctr"/>
          <a:lstStyle/>
          <a:p>
            <a:pPr algn="ctr" indent="0" marL="0">
              <a:lnSpc>
                <a:spcPct val="95000"/>
              </a:lnSpc>
              <a:buNone/>
            </a:pPr>
            <a:r>
              <a:rPr lang="en-US" sz="600" dirty="0">
                <a:solidFill>
                  <a:srgbClr val="333333"/>
                </a:solidFill>
                <a:latin typeface="Arial" pitchFamily="34" charset="0"/>
                <a:ea typeface="Arial" pitchFamily="34" charset="-122"/>
                <a:cs typeface="Arial" pitchFamily="34" charset="-120"/>
              </a:rPr>
              <a:t>1</a:t>
            </a:r>
            <a:endParaRPr lang="en-US" sz="600" dirty="0"/>
          </a:p>
        </p:txBody>
      </p:sp>
      <p:sp>
        <p:nvSpPr>
          <p:cNvPr id="114" name="Shape 112"/>
          <p:cNvSpPr/>
          <p:nvPr/>
        </p:nvSpPr>
        <p:spPr>
          <a:xfrm>
            <a:off x="7971578" y="2843953"/>
            <a:ext cx="148167" cy="148167"/>
          </a:xfrm>
          <a:prstGeom prst="roundRect">
            <a:avLst>
              <a:gd name="adj" fmla="val 15000"/>
            </a:avLst>
          </a:prstGeom>
          <a:solidFill>
            <a:srgbClr val="FFFFFF"/>
          </a:solidFill>
          <a:ln w="6350">
            <a:solidFill>
              <a:srgbClr val="555555"/>
            </a:solidFill>
            <a:prstDash val="solid"/>
          </a:ln>
        </p:spPr>
      </p:sp>
      <p:sp>
        <p:nvSpPr>
          <p:cNvPr id="115" name="Text 113"/>
          <p:cNvSpPr txBox="1"/>
          <p:nvPr/>
        </p:nvSpPr>
        <p:spPr>
          <a:xfrm>
            <a:off x="7971578" y="2843953"/>
            <a:ext cx="148167" cy="148167"/>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a:t>
            </a:r>
            <a:endParaRPr lang="en-US" sz="600" dirty="0"/>
          </a:p>
        </p:txBody>
      </p:sp>
      <p:sp>
        <p:nvSpPr>
          <p:cNvPr id="116" name="Text 114"/>
          <p:cNvSpPr txBox="1"/>
          <p:nvPr/>
        </p:nvSpPr>
        <p:spPr>
          <a:xfrm>
            <a:off x="8140912" y="2843953"/>
            <a:ext cx="317500" cy="148167"/>
          </a:xfrm>
          <a:prstGeom prst="rect">
            <a:avLst/>
          </a:prstGeom>
          <a:noFill/>
          <a:ln/>
        </p:spPr>
        <p:txBody>
          <a:bodyPr wrap="square" lIns="12700" tIns="12700" rIns="12700" bIns="12700" rtlCol="0" anchor="ctr"/>
          <a:lstStyle/>
          <a:p>
            <a:pPr algn="r" indent="0" marL="0">
              <a:lnSpc>
                <a:spcPct val="95000"/>
              </a:lnSpc>
              <a:buNone/>
            </a:pPr>
            <a:r>
              <a:rPr lang="en-US" sz="600" dirty="0">
                <a:solidFill>
                  <a:srgbClr val="333333"/>
                </a:solidFill>
                <a:latin typeface="Arial" pitchFamily="34" charset="0"/>
                <a:ea typeface="Arial" pitchFamily="34" charset="-122"/>
                <a:cs typeface="Arial" pitchFamily="34" charset="-120"/>
              </a:rPr>
              <a:t>$5.49</a:t>
            </a:r>
            <a:endParaRPr lang="en-US" sz="600" dirty="0"/>
          </a:p>
        </p:txBody>
      </p:sp>
      <p:sp>
        <p:nvSpPr>
          <p:cNvPr id="117" name="Text 115"/>
          <p:cNvSpPr txBox="1"/>
          <p:nvPr/>
        </p:nvSpPr>
        <p:spPr>
          <a:xfrm>
            <a:off x="6712162" y="3108537"/>
            <a:ext cx="952500" cy="148167"/>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Coleslaw</a:t>
            </a:r>
            <a:endParaRPr lang="en-US" sz="600" dirty="0"/>
          </a:p>
        </p:txBody>
      </p:sp>
      <p:sp>
        <p:nvSpPr>
          <p:cNvPr id="118" name="Shape 116"/>
          <p:cNvSpPr/>
          <p:nvPr/>
        </p:nvSpPr>
        <p:spPr>
          <a:xfrm>
            <a:off x="7696412" y="3108537"/>
            <a:ext cx="148167" cy="148167"/>
          </a:xfrm>
          <a:prstGeom prst="roundRect">
            <a:avLst>
              <a:gd name="adj" fmla="val 15000"/>
            </a:avLst>
          </a:prstGeom>
          <a:solidFill>
            <a:srgbClr val="FFFFFF"/>
          </a:solidFill>
          <a:ln w="6350">
            <a:solidFill>
              <a:srgbClr val="555555"/>
            </a:solidFill>
            <a:prstDash val="solid"/>
          </a:ln>
        </p:spPr>
      </p:sp>
      <p:sp>
        <p:nvSpPr>
          <p:cNvPr id="119" name="Text 117"/>
          <p:cNvSpPr txBox="1"/>
          <p:nvPr/>
        </p:nvSpPr>
        <p:spPr>
          <a:xfrm>
            <a:off x="7696412" y="3108537"/>
            <a:ext cx="148167" cy="148167"/>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a:t>
            </a:r>
            <a:endParaRPr lang="en-US" sz="600" dirty="0"/>
          </a:p>
        </p:txBody>
      </p:sp>
      <p:sp>
        <p:nvSpPr>
          <p:cNvPr id="120" name="Text 118"/>
          <p:cNvSpPr txBox="1"/>
          <p:nvPr/>
        </p:nvSpPr>
        <p:spPr>
          <a:xfrm>
            <a:off x="7844578" y="3108537"/>
            <a:ext cx="127000" cy="148167"/>
          </a:xfrm>
          <a:prstGeom prst="rect">
            <a:avLst/>
          </a:prstGeom>
          <a:noFill/>
          <a:ln/>
        </p:spPr>
        <p:txBody>
          <a:bodyPr wrap="square" lIns="12700" tIns="12700" rIns="12700" bIns="12700" rtlCol="0" anchor="ctr"/>
          <a:lstStyle/>
          <a:p>
            <a:pPr algn="ctr" indent="0" marL="0">
              <a:lnSpc>
                <a:spcPct val="95000"/>
              </a:lnSpc>
              <a:buNone/>
            </a:pPr>
            <a:r>
              <a:rPr lang="en-US" sz="600" dirty="0">
                <a:solidFill>
                  <a:srgbClr val="333333"/>
                </a:solidFill>
                <a:latin typeface="Arial" pitchFamily="34" charset="0"/>
                <a:ea typeface="Arial" pitchFamily="34" charset="-122"/>
                <a:cs typeface="Arial" pitchFamily="34" charset="-120"/>
              </a:rPr>
              <a:t>1</a:t>
            </a:r>
            <a:endParaRPr lang="en-US" sz="600" dirty="0"/>
          </a:p>
        </p:txBody>
      </p:sp>
      <p:sp>
        <p:nvSpPr>
          <p:cNvPr id="121" name="Shape 119"/>
          <p:cNvSpPr/>
          <p:nvPr/>
        </p:nvSpPr>
        <p:spPr>
          <a:xfrm>
            <a:off x="7971578" y="3108537"/>
            <a:ext cx="148167" cy="148167"/>
          </a:xfrm>
          <a:prstGeom prst="roundRect">
            <a:avLst>
              <a:gd name="adj" fmla="val 15000"/>
            </a:avLst>
          </a:prstGeom>
          <a:solidFill>
            <a:srgbClr val="FFFFFF"/>
          </a:solidFill>
          <a:ln w="6350">
            <a:solidFill>
              <a:srgbClr val="555555"/>
            </a:solidFill>
            <a:prstDash val="solid"/>
          </a:ln>
        </p:spPr>
      </p:sp>
      <p:sp>
        <p:nvSpPr>
          <p:cNvPr id="122" name="Text 120"/>
          <p:cNvSpPr txBox="1"/>
          <p:nvPr/>
        </p:nvSpPr>
        <p:spPr>
          <a:xfrm>
            <a:off x="7971578" y="3108537"/>
            <a:ext cx="148167" cy="148167"/>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a:t>
            </a:r>
            <a:endParaRPr lang="en-US" sz="600" dirty="0"/>
          </a:p>
        </p:txBody>
      </p:sp>
      <p:sp>
        <p:nvSpPr>
          <p:cNvPr id="123" name="Text 121"/>
          <p:cNvSpPr txBox="1"/>
          <p:nvPr/>
        </p:nvSpPr>
        <p:spPr>
          <a:xfrm>
            <a:off x="8140912" y="3108537"/>
            <a:ext cx="317500" cy="148167"/>
          </a:xfrm>
          <a:prstGeom prst="rect">
            <a:avLst/>
          </a:prstGeom>
          <a:noFill/>
          <a:ln/>
        </p:spPr>
        <p:txBody>
          <a:bodyPr wrap="square" lIns="12700" tIns="12700" rIns="12700" bIns="12700" rtlCol="0" anchor="ctr"/>
          <a:lstStyle/>
          <a:p>
            <a:pPr algn="r" indent="0" marL="0">
              <a:lnSpc>
                <a:spcPct val="95000"/>
              </a:lnSpc>
              <a:buNone/>
            </a:pPr>
            <a:r>
              <a:rPr lang="en-US" sz="600" dirty="0">
                <a:solidFill>
                  <a:srgbClr val="333333"/>
                </a:solidFill>
                <a:latin typeface="Arial" pitchFamily="34" charset="0"/>
                <a:ea typeface="Arial" pitchFamily="34" charset="-122"/>
                <a:cs typeface="Arial" pitchFamily="34" charset="-120"/>
              </a:rPr>
              <a:t>$3.49</a:t>
            </a:r>
            <a:endParaRPr lang="en-US" sz="600" dirty="0"/>
          </a:p>
        </p:txBody>
      </p:sp>
      <p:sp>
        <p:nvSpPr>
          <p:cNvPr id="124" name="Shape 122"/>
          <p:cNvSpPr/>
          <p:nvPr/>
        </p:nvSpPr>
        <p:spPr>
          <a:xfrm>
            <a:off x="6712162" y="3404870"/>
            <a:ext cx="1746250" cy="5292"/>
          </a:xfrm>
          <a:prstGeom prst="rect">
            <a:avLst/>
          </a:prstGeom>
          <a:solidFill>
            <a:srgbClr val="BBBBBB"/>
          </a:solidFill>
          <a:ln/>
        </p:spPr>
      </p:sp>
      <p:sp>
        <p:nvSpPr>
          <p:cNvPr id="125" name="Text 123"/>
          <p:cNvSpPr txBox="1"/>
          <p:nvPr/>
        </p:nvSpPr>
        <p:spPr>
          <a:xfrm>
            <a:off x="6712162" y="3468370"/>
            <a:ext cx="1058333" cy="137583"/>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Subtotal</a:t>
            </a:r>
            <a:endParaRPr lang="en-US" sz="600" dirty="0"/>
          </a:p>
        </p:txBody>
      </p:sp>
      <p:sp>
        <p:nvSpPr>
          <p:cNvPr id="126" name="Text 124"/>
          <p:cNvSpPr txBox="1"/>
          <p:nvPr/>
        </p:nvSpPr>
        <p:spPr>
          <a:xfrm>
            <a:off x="7929245" y="3468370"/>
            <a:ext cx="529167" cy="137583"/>
          </a:xfrm>
          <a:prstGeom prst="rect">
            <a:avLst/>
          </a:prstGeom>
          <a:noFill/>
          <a:ln/>
        </p:spPr>
        <p:txBody>
          <a:bodyPr wrap="square" lIns="12700" tIns="12700" rIns="12700" bIns="12700" rtlCol="0" anchor="ctr"/>
          <a:lstStyle/>
          <a:p>
            <a:pPr algn="r" indent="0" marL="0">
              <a:lnSpc>
                <a:spcPct val="95000"/>
              </a:lnSpc>
              <a:buNone/>
            </a:pPr>
            <a:r>
              <a:rPr lang="en-US" sz="600" dirty="0">
                <a:solidFill>
                  <a:srgbClr val="333333"/>
                </a:solidFill>
                <a:latin typeface="Arial" pitchFamily="34" charset="0"/>
                <a:ea typeface="Arial" pitchFamily="34" charset="-122"/>
                <a:cs typeface="Arial" pitchFamily="34" charset="-120"/>
              </a:rPr>
              <a:t>$28.97</a:t>
            </a:r>
            <a:endParaRPr lang="en-US" sz="600" dirty="0"/>
          </a:p>
        </p:txBody>
      </p:sp>
      <p:sp>
        <p:nvSpPr>
          <p:cNvPr id="127" name="Text 125"/>
          <p:cNvSpPr txBox="1"/>
          <p:nvPr/>
        </p:nvSpPr>
        <p:spPr>
          <a:xfrm>
            <a:off x="6712162" y="3627120"/>
            <a:ext cx="1058333" cy="137583"/>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HST (14%)</a:t>
            </a:r>
            <a:endParaRPr lang="en-US" sz="600" dirty="0"/>
          </a:p>
        </p:txBody>
      </p:sp>
      <p:sp>
        <p:nvSpPr>
          <p:cNvPr id="128" name="Text 126"/>
          <p:cNvSpPr txBox="1"/>
          <p:nvPr/>
        </p:nvSpPr>
        <p:spPr>
          <a:xfrm>
            <a:off x="7929245" y="3627120"/>
            <a:ext cx="529167" cy="137583"/>
          </a:xfrm>
          <a:prstGeom prst="rect">
            <a:avLst/>
          </a:prstGeom>
          <a:noFill/>
          <a:ln/>
        </p:spPr>
        <p:txBody>
          <a:bodyPr wrap="square" lIns="12700" tIns="12700" rIns="12700" bIns="12700" rtlCol="0" anchor="ctr"/>
          <a:lstStyle/>
          <a:p>
            <a:pPr algn="r" indent="0" marL="0">
              <a:lnSpc>
                <a:spcPct val="95000"/>
              </a:lnSpc>
              <a:buNone/>
            </a:pPr>
            <a:r>
              <a:rPr lang="en-US" sz="600" dirty="0">
                <a:solidFill>
                  <a:srgbClr val="333333"/>
                </a:solidFill>
                <a:latin typeface="Arial" pitchFamily="34" charset="0"/>
                <a:ea typeface="Arial" pitchFamily="34" charset="-122"/>
                <a:cs typeface="Arial" pitchFamily="34" charset="-120"/>
              </a:rPr>
              <a:t>$4.06</a:t>
            </a:r>
            <a:endParaRPr lang="en-US" sz="600" dirty="0"/>
          </a:p>
        </p:txBody>
      </p:sp>
      <p:sp>
        <p:nvSpPr>
          <p:cNvPr id="129" name="Text 127"/>
          <p:cNvSpPr txBox="1"/>
          <p:nvPr/>
        </p:nvSpPr>
        <p:spPr>
          <a:xfrm>
            <a:off x="6712162" y="3785870"/>
            <a:ext cx="1058333" cy="137583"/>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Total</a:t>
            </a:r>
            <a:endParaRPr lang="en-US" sz="700" dirty="0"/>
          </a:p>
        </p:txBody>
      </p:sp>
      <p:sp>
        <p:nvSpPr>
          <p:cNvPr id="130" name="Text 128"/>
          <p:cNvSpPr txBox="1"/>
          <p:nvPr/>
        </p:nvSpPr>
        <p:spPr>
          <a:xfrm>
            <a:off x="7929245" y="3785870"/>
            <a:ext cx="529167" cy="137583"/>
          </a:xfrm>
          <a:prstGeom prst="rect">
            <a:avLst/>
          </a:prstGeom>
          <a:noFill/>
          <a:ln/>
        </p:spPr>
        <p:txBody>
          <a:bodyPr wrap="square" lIns="12700" tIns="12700" rIns="12700" bIns="12700" rtlCol="0" anchor="ctr"/>
          <a:lstStyle/>
          <a:p>
            <a:pPr algn="r" indent="0" marL="0">
              <a:lnSpc>
                <a:spcPct val="95000"/>
              </a:lnSpc>
              <a:buNone/>
            </a:pPr>
            <a:r>
              <a:rPr lang="en-US" sz="700" b="1" dirty="0">
                <a:solidFill>
                  <a:srgbClr val="333333"/>
                </a:solidFill>
                <a:latin typeface="Arial" pitchFamily="34" charset="0"/>
                <a:ea typeface="Arial" pitchFamily="34" charset="-122"/>
                <a:cs typeface="Arial" pitchFamily="34" charset="-120"/>
              </a:rPr>
              <a:t>$33.03</a:t>
            </a:r>
            <a:endParaRPr lang="en-US" sz="700" dirty="0"/>
          </a:p>
        </p:txBody>
      </p:sp>
      <p:sp>
        <p:nvSpPr>
          <p:cNvPr id="131" name="Shape 129"/>
          <p:cNvSpPr/>
          <p:nvPr/>
        </p:nvSpPr>
        <p:spPr>
          <a:xfrm>
            <a:off x="6712162" y="4018703"/>
            <a:ext cx="1746250" cy="254000"/>
          </a:xfrm>
          <a:prstGeom prst="roundRect">
            <a:avLst>
              <a:gd name="adj" fmla="val 15000"/>
            </a:avLst>
          </a:prstGeom>
          <a:solidFill>
            <a:srgbClr val="555555"/>
          </a:solidFill>
          <a:ln w="6350">
            <a:solidFill>
              <a:srgbClr val="555555"/>
            </a:solidFill>
            <a:prstDash val="solid"/>
          </a:ln>
        </p:spPr>
      </p:sp>
      <p:sp>
        <p:nvSpPr>
          <p:cNvPr id="132" name="Text 130"/>
          <p:cNvSpPr txBox="1"/>
          <p:nvPr/>
        </p:nvSpPr>
        <p:spPr>
          <a:xfrm>
            <a:off x="6712162" y="4018703"/>
            <a:ext cx="1746250" cy="254000"/>
          </a:xfrm>
          <a:prstGeom prst="rect">
            <a:avLst/>
          </a:prstGeom>
          <a:noFill/>
          <a:ln/>
        </p:spPr>
        <p:txBody>
          <a:bodyPr wrap="square" lIns="12700" tIns="12700" rIns="12700" bIns="12700" rtlCol="0" anchor="ctr"/>
          <a:lstStyle/>
          <a:p>
            <a:pPr algn="ctr" indent="0" marL="0">
              <a:lnSpc>
                <a:spcPct val="95000"/>
              </a:lnSpc>
              <a:buNone/>
            </a:pPr>
            <a:r>
              <a:rPr lang="en-US" sz="700" b="1" dirty="0">
                <a:solidFill>
                  <a:srgbClr val="FFFFFF"/>
                </a:solidFill>
                <a:latin typeface="Arial" pitchFamily="34" charset="0"/>
                <a:ea typeface="Arial" pitchFamily="34" charset="-122"/>
                <a:cs typeface="Arial" pitchFamily="34" charset="-120"/>
              </a:rPr>
              <a:t>Checkout</a:t>
            </a:r>
            <a:endParaRPr lang="en-US" sz="700" dirty="0"/>
          </a:p>
        </p:txBody>
      </p:sp>
      <p:sp>
        <p:nvSpPr>
          <p:cNvPr id="133" name="Text 131"/>
          <p:cNvSpPr txBox="1"/>
          <p:nvPr/>
        </p:nvSpPr>
        <p:spPr>
          <a:xfrm>
            <a:off x="6712162" y="4325620"/>
            <a:ext cx="1746250" cy="127000"/>
          </a:xfrm>
          <a:prstGeom prst="rect">
            <a:avLst/>
          </a:prstGeom>
          <a:noFill/>
          <a:ln/>
        </p:spPr>
        <p:txBody>
          <a:bodyPr wrap="square" lIns="12700" tIns="12700" rIns="12700" bIns="12700" rtlCol="0" anchor="ctr"/>
          <a:lstStyle/>
          <a:p>
            <a:pPr algn="ctr" indent="0" marL="0">
              <a:lnSpc>
                <a:spcPct val="95000"/>
              </a:lnSpc>
              <a:buNone/>
            </a:pPr>
            <a:r>
              <a:rPr lang="en-US" sz="550" dirty="0">
                <a:solidFill>
                  <a:srgbClr val="777777"/>
                </a:solidFill>
                <a:latin typeface="Arial" pitchFamily="34" charset="0"/>
                <a:ea typeface="Arial" pitchFamily="34" charset="-122"/>
                <a:cs typeface="Arial" pitchFamily="34" charset="-120"/>
              </a:rPr>
              <a:t>Pickup · ASAP</a:t>
            </a:r>
            <a:endParaRPr lang="en-US" sz="550" dirty="0"/>
          </a:p>
        </p:txBody>
      </p:sp>
      <p:sp>
        <p:nvSpPr>
          <p:cNvPr id="134" name="Shape 132"/>
          <p:cNvSpPr/>
          <p:nvPr/>
        </p:nvSpPr>
        <p:spPr>
          <a:xfrm>
            <a:off x="2320078" y="5860203"/>
            <a:ext cx="6350000" cy="5292"/>
          </a:xfrm>
          <a:prstGeom prst="rect">
            <a:avLst/>
          </a:prstGeom>
          <a:solidFill>
            <a:srgbClr val="BBBBBB"/>
          </a:solidFill>
          <a:ln/>
        </p:spPr>
      </p:sp>
      <p:sp>
        <p:nvSpPr>
          <p:cNvPr id="135" name="Text 133"/>
          <p:cNvSpPr txBox="1"/>
          <p:nvPr/>
        </p:nvSpPr>
        <p:spPr>
          <a:xfrm>
            <a:off x="2425912" y="5944870"/>
            <a:ext cx="1905000" cy="423333"/>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Harbourside Fish &amp; Chips</a:t>
            </a:r>
            <a:endParaRPr lang="en-US" sz="600" dirty="0"/>
          </a:p>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12 Water St, Yarmouth NS</a:t>
            </a:r>
            <a:endParaRPr lang="en-US" sz="600" dirty="0"/>
          </a:p>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(902) 555-0142</a:t>
            </a:r>
            <a:endParaRPr lang="en-US" sz="600" dirty="0"/>
          </a:p>
        </p:txBody>
      </p:sp>
      <p:sp>
        <p:nvSpPr>
          <p:cNvPr id="136" name="Text 134"/>
          <p:cNvSpPr txBox="1"/>
          <p:nvPr/>
        </p:nvSpPr>
        <p:spPr>
          <a:xfrm>
            <a:off x="4542578" y="5944870"/>
            <a:ext cx="1905000" cy="423333"/>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Hours</a:t>
            </a:r>
            <a:endParaRPr lang="en-US" sz="600" dirty="0"/>
          </a:p>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Tue–Sun 11 am – 8 pm</a:t>
            </a:r>
            <a:endParaRPr lang="en-US" sz="600" dirty="0"/>
          </a:p>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Closed Mondays</a:t>
            </a:r>
            <a:endParaRPr lang="en-US" sz="600" dirty="0"/>
          </a:p>
        </p:txBody>
      </p:sp>
      <p:sp>
        <p:nvSpPr>
          <p:cNvPr id="137" name="Text 135"/>
          <p:cNvSpPr txBox="1"/>
          <p:nvPr/>
        </p:nvSpPr>
        <p:spPr>
          <a:xfrm>
            <a:off x="6659245" y="5944870"/>
            <a:ext cx="1058333" cy="127000"/>
          </a:xfrm>
          <a:prstGeom prst="rect">
            <a:avLst/>
          </a:prstGeom>
          <a:noFill/>
          <a:ln/>
        </p:spPr>
        <p:txBody>
          <a:bodyPr wrap="square" lIns="12700" tIns="12700" rIns="12700" bIns="12700" rtlCol="0" anchor="ctr"/>
          <a:lstStyle/>
          <a:p>
            <a:pPr algn="l" indent="0" marL="0">
              <a:lnSpc>
                <a:spcPct val="95000"/>
              </a:lnSpc>
              <a:buNone/>
            </a:pPr>
            <a:r>
              <a:rPr lang="en-US" sz="600" b="1" dirty="0">
                <a:solidFill>
                  <a:srgbClr val="333333"/>
                </a:solidFill>
                <a:latin typeface="Arial" pitchFamily="34" charset="0"/>
                <a:ea typeface="Arial" pitchFamily="34" charset="-122"/>
                <a:cs typeface="Arial" pitchFamily="34" charset="-120"/>
              </a:rPr>
              <a:t>Follow us</a:t>
            </a:r>
            <a:endParaRPr lang="en-US" sz="600" dirty="0"/>
          </a:p>
        </p:txBody>
      </p:sp>
      <p:sp>
        <p:nvSpPr>
          <p:cNvPr id="138" name="Shape 136"/>
          <p:cNvSpPr/>
          <p:nvPr/>
        </p:nvSpPr>
        <p:spPr>
          <a:xfrm>
            <a:off x="6659245" y="6114203"/>
            <a:ext cx="158750" cy="158750"/>
          </a:xfrm>
          <a:prstGeom prst="ellipse">
            <a:avLst/>
          </a:prstGeom>
          <a:solidFill>
            <a:srgbClr val="FFFFFF"/>
          </a:solidFill>
          <a:ln w="6350">
            <a:solidFill>
              <a:srgbClr val="999999"/>
            </a:solidFill>
            <a:prstDash val="solid"/>
          </a:ln>
        </p:spPr>
      </p:sp>
      <p:sp>
        <p:nvSpPr>
          <p:cNvPr id="139" name="Shape 137"/>
          <p:cNvSpPr/>
          <p:nvPr/>
        </p:nvSpPr>
        <p:spPr>
          <a:xfrm>
            <a:off x="6870912" y="6114203"/>
            <a:ext cx="158750" cy="158750"/>
          </a:xfrm>
          <a:prstGeom prst="ellipse">
            <a:avLst/>
          </a:prstGeom>
          <a:solidFill>
            <a:srgbClr val="FFFFFF"/>
          </a:solidFill>
          <a:ln w="6350">
            <a:solidFill>
              <a:srgbClr val="999999"/>
            </a:solidFill>
            <a:prstDash val="solid"/>
          </a:ln>
        </p:spPr>
      </p:sp>
      <p:sp>
        <p:nvSpPr>
          <p:cNvPr id="140" name="Shape 138"/>
          <p:cNvSpPr/>
          <p:nvPr/>
        </p:nvSpPr>
        <p:spPr>
          <a:xfrm>
            <a:off x="7082578" y="6114203"/>
            <a:ext cx="158750" cy="158750"/>
          </a:xfrm>
          <a:prstGeom prst="ellipse">
            <a:avLst/>
          </a:prstGeom>
          <a:solidFill>
            <a:srgbClr val="FFFFFF"/>
          </a:solidFill>
          <a:ln w="6350">
            <a:solidFill>
              <a:srgbClr val="999999"/>
            </a:solidFill>
            <a:prstDash val="solid"/>
          </a:ln>
        </p:spPr>
      </p:sp>
      <p:sp>
        <p:nvSpPr>
          <p:cNvPr id="141" name="Text 139"/>
          <p:cNvSpPr txBox="1"/>
          <p:nvPr/>
        </p:nvSpPr>
        <p:spPr>
          <a:xfrm>
            <a:off x="2425912" y="6410537"/>
            <a:ext cx="6138333" cy="127000"/>
          </a:xfrm>
          <a:prstGeom prst="rect">
            <a:avLst/>
          </a:prstGeom>
          <a:noFill/>
          <a:ln/>
        </p:spPr>
        <p:txBody>
          <a:bodyPr wrap="square" lIns="12700" tIns="12700" rIns="12700" bIns="12700" rtlCol="0" anchor="ctr"/>
          <a:lstStyle/>
          <a:p>
            <a:pPr algn="ctr" indent="0" marL="0">
              <a:lnSpc>
                <a:spcPct val="95000"/>
              </a:lnSpc>
              <a:buNone/>
            </a:pPr>
            <a:r>
              <a:rPr lang="en-US" sz="500" dirty="0">
                <a:solidFill>
                  <a:srgbClr val="777777"/>
                </a:solidFill>
                <a:latin typeface="Arial" pitchFamily="34" charset="0"/>
                <a:ea typeface="Arial" pitchFamily="34" charset="-122"/>
                <a:cs typeface="Arial" pitchFamily="34" charset="-120"/>
              </a:rPr>
              <a:t>© 2026 Harbourside Fish &amp; Chips</a:t>
            </a:r>
            <a:endParaRPr lang="en-US" sz="500" dirty="0"/>
          </a:p>
        </p:txBody>
      </p:sp>
      <p:sp>
        <p:nvSpPr>
          <p:cNvPr id="142" name="Shape 140"/>
          <p:cNvSpPr/>
          <p:nvPr/>
        </p:nvSpPr>
        <p:spPr>
          <a:xfrm>
            <a:off x="2362412" y="1245870"/>
            <a:ext cx="6265333" cy="349250"/>
          </a:xfrm>
          <a:prstGeom prst="rect">
            <a:avLst/>
          </a:prstGeom>
          <a:ln w="10583">
            <a:solidFill>
              <a:srgbClr val="1E88E5"/>
            </a:solidFill>
            <a:prstDash val="dash"/>
          </a:ln>
        </p:spPr>
      </p:sp>
      <p:sp>
        <p:nvSpPr>
          <p:cNvPr id="143" name="Shape 141"/>
          <p:cNvSpPr/>
          <p:nvPr/>
        </p:nvSpPr>
        <p:spPr>
          <a:xfrm>
            <a:off x="2362412" y="1140037"/>
            <a:ext cx="412750" cy="105833"/>
          </a:xfrm>
          <a:prstGeom prst="rect">
            <a:avLst/>
          </a:prstGeom>
          <a:solidFill>
            <a:srgbClr val="1E88E5"/>
          </a:solidFill>
          <a:ln/>
        </p:spPr>
      </p:sp>
      <p:sp>
        <p:nvSpPr>
          <p:cNvPr id="144" name="Text 142"/>
          <p:cNvSpPr txBox="1"/>
          <p:nvPr/>
        </p:nvSpPr>
        <p:spPr>
          <a:xfrm>
            <a:off x="2362412" y="1140037"/>
            <a:ext cx="412750" cy="105833"/>
          </a:xfrm>
          <a:prstGeom prst="rect">
            <a:avLst/>
          </a:prstGeom>
          <a:noFill/>
          <a:ln/>
        </p:spPr>
        <p:txBody>
          <a:bodyPr wrap="square" lIns="12700" tIns="12700" rIns="12700" bIns="12700" rtlCol="0" anchor="ctr"/>
          <a:lstStyle/>
          <a:p>
            <a:pPr algn="ctr" indent="0" marL="0">
              <a:lnSpc>
                <a:spcPct val="95000"/>
              </a:lnSpc>
              <a:buNone/>
            </a:pPr>
            <a:r>
              <a:rPr lang="en-US" sz="500" b="1" dirty="0">
                <a:solidFill>
                  <a:srgbClr val="FFFFFF"/>
                </a:solidFill>
                <a:latin typeface="Courier New" pitchFamily="34" charset="0"/>
                <a:ea typeface="Courier New" pitchFamily="34" charset="-122"/>
                <a:cs typeface="Courier New" pitchFamily="34" charset="-120"/>
              </a:rPr>
              <a:t>&lt;header&gt;</a:t>
            </a:r>
            <a:endParaRPr lang="en-US" sz="500" dirty="0"/>
          </a:p>
        </p:txBody>
      </p:sp>
      <p:sp>
        <p:nvSpPr>
          <p:cNvPr id="145" name="Shape 143"/>
          <p:cNvSpPr/>
          <p:nvPr/>
        </p:nvSpPr>
        <p:spPr>
          <a:xfrm>
            <a:off x="4807162" y="1309370"/>
            <a:ext cx="2487083" cy="211667"/>
          </a:xfrm>
          <a:prstGeom prst="rect">
            <a:avLst/>
          </a:prstGeom>
          <a:ln w="10583">
            <a:solidFill>
              <a:srgbClr val="1E88E5"/>
            </a:solidFill>
            <a:prstDash val="dash"/>
          </a:ln>
        </p:spPr>
      </p:sp>
      <p:sp>
        <p:nvSpPr>
          <p:cNvPr id="146" name="Shape 144"/>
          <p:cNvSpPr/>
          <p:nvPr/>
        </p:nvSpPr>
        <p:spPr>
          <a:xfrm>
            <a:off x="4807162" y="1203537"/>
            <a:ext cx="285750" cy="105833"/>
          </a:xfrm>
          <a:prstGeom prst="rect">
            <a:avLst/>
          </a:prstGeom>
          <a:solidFill>
            <a:srgbClr val="1E88E5"/>
          </a:solidFill>
          <a:ln/>
        </p:spPr>
      </p:sp>
      <p:sp>
        <p:nvSpPr>
          <p:cNvPr id="147" name="Text 145"/>
          <p:cNvSpPr txBox="1"/>
          <p:nvPr/>
        </p:nvSpPr>
        <p:spPr>
          <a:xfrm>
            <a:off x="4807162" y="1203537"/>
            <a:ext cx="285750" cy="105833"/>
          </a:xfrm>
          <a:prstGeom prst="rect">
            <a:avLst/>
          </a:prstGeom>
          <a:noFill/>
          <a:ln/>
        </p:spPr>
        <p:txBody>
          <a:bodyPr wrap="square" lIns="12700" tIns="12700" rIns="12700" bIns="12700" rtlCol="0" anchor="ctr"/>
          <a:lstStyle/>
          <a:p>
            <a:pPr algn="ctr" indent="0" marL="0">
              <a:lnSpc>
                <a:spcPct val="95000"/>
              </a:lnSpc>
              <a:buNone/>
            </a:pPr>
            <a:r>
              <a:rPr lang="en-US" sz="500" b="1" dirty="0">
                <a:solidFill>
                  <a:srgbClr val="FFFFFF"/>
                </a:solidFill>
                <a:latin typeface="Courier New" pitchFamily="34" charset="0"/>
                <a:ea typeface="Courier New" pitchFamily="34" charset="-122"/>
                <a:cs typeface="Courier New" pitchFamily="34" charset="-120"/>
              </a:rPr>
              <a:t>&lt;nav&gt;</a:t>
            </a:r>
            <a:endParaRPr lang="en-US" sz="500" dirty="0"/>
          </a:p>
        </p:txBody>
      </p:sp>
      <p:sp>
        <p:nvSpPr>
          <p:cNvPr id="148" name="Shape 146"/>
          <p:cNvSpPr/>
          <p:nvPr/>
        </p:nvSpPr>
        <p:spPr>
          <a:xfrm>
            <a:off x="3769995" y="2738120"/>
            <a:ext cx="1333500" cy="1439333"/>
          </a:xfrm>
          <a:prstGeom prst="rect">
            <a:avLst/>
          </a:prstGeom>
          <a:ln w="10583">
            <a:solidFill>
              <a:srgbClr val="1E88E5"/>
            </a:solidFill>
            <a:prstDash val="dash"/>
          </a:ln>
        </p:spPr>
      </p:sp>
      <p:sp>
        <p:nvSpPr>
          <p:cNvPr id="149" name="Shape 147"/>
          <p:cNvSpPr/>
          <p:nvPr/>
        </p:nvSpPr>
        <p:spPr>
          <a:xfrm>
            <a:off x="3769995" y="2632287"/>
            <a:ext cx="455083" cy="105833"/>
          </a:xfrm>
          <a:prstGeom prst="rect">
            <a:avLst/>
          </a:prstGeom>
          <a:solidFill>
            <a:srgbClr val="1E88E5"/>
          </a:solidFill>
          <a:ln/>
        </p:spPr>
      </p:sp>
      <p:sp>
        <p:nvSpPr>
          <p:cNvPr id="150" name="Text 148"/>
          <p:cNvSpPr txBox="1"/>
          <p:nvPr/>
        </p:nvSpPr>
        <p:spPr>
          <a:xfrm>
            <a:off x="3769995" y="2632287"/>
            <a:ext cx="455083" cy="105833"/>
          </a:xfrm>
          <a:prstGeom prst="rect">
            <a:avLst/>
          </a:prstGeom>
          <a:noFill/>
          <a:ln/>
        </p:spPr>
        <p:txBody>
          <a:bodyPr wrap="square" lIns="12700" tIns="12700" rIns="12700" bIns="12700" rtlCol="0" anchor="ctr"/>
          <a:lstStyle/>
          <a:p>
            <a:pPr algn="ctr" indent="0" marL="0">
              <a:lnSpc>
                <a:spcPct val="95000"/>
              </a:lnSpc>
              <a:buNone/>
            </a:pPr>
            <a:r>
              <a:rPr lang="en-US" sz="500" b="1" dirty="0">
                <a:solidFill>
                  <a:srgbClr val="FFFFFF"/>
                </a:solidFill>
                <a:latin typeface="Courier New" pitchFamily="34" charset="0"/>
                <a:ea typeface="Courier New" pitchFamily="34" charset="-122"/>
                <a:cs typeface="Courier New" pitchFamily="34" charset="-120"/>
              </a:rPr>
              <a:t>&lt;article&gt;</a:t>
            </a:r>
            <a:endParaRPr lang="en-US" sz="500" dirty="0"/>
          </a:p>
        </p:txBody>
      </p:sp>
      <p:sp>
        <p:nvSpPr>
          <p:cNvPr id="151" name="Shape 149"/>
          <p:cNvSpPr/>
          <p:nvPr/>
        </p:nvSpPr>
        <p:spPr>
          <a:xfrm>
            <a:off x="6563995" y="2198370"/>
            <a:ext cx="2042583" cy="2413000"/>
          </a:xfrm>
          <a:prstGeom prst="rect">
            <a:avLst/>
          </a:prstGeom>
          <a:ln w="10583">
            <a:solidFill>
              <a:srgbClr val="1E88E5"/>
            </a:solidFill>
            <a:prstDash val="dash"/>
          </a:ln>
        </p:spPr>
      </p:sp>
      <p:sp>
        <p:nvSpPr>
          <p:cNvPr id="152" name="Shape 150"/>
          <p:cNvSpPr/>
          <p:nvPr/>
        </p:nvSpPr>
        <p:spPr>
          <a:xfrm>
            <a:off x="6563995" y="2092537"/>
            <a:ext cx="370417" cy="105833"/>
          </a:xfrm>
          <a:prstGeom prst="rect">
            <a:avLst/>
          </a:prstGeom>
          <a:solidFill>
            <a:srgbClr val="1E88E5"/>
          </a:solidFill>
          <a:ln/>
        </p:spPr>
      </p:sp>
      <p:sp>
        <p:nvSpPr>
          <p:cNvPr id="153" name="Text 151"/>
          <p:cNvSpPr txBox="1"/>
          <p:nvPr/>
        </p:nvSpPr>
        <p:spPr>
          <a:xfrm>
            <a:off x="6563995" y="2092537"/>
            <a:ext cx="370417" cy="105833"/>
          </a:xfrm>
          <a:prstGeom prst="rect">
            <a:avLst/>
          </a:prstGeom>
          <a:noFill/>
          <a:ln/>
        </p:spPr>
        <p:txBody>
          <a:bodyPr wrap="square" lIns="12700" tIns="12700" rIns="12700" bIns="12700" rtlCol="0" anchor="ctr"/>
          <a:lstStyle/>
          <a:p>
            <a:pPr algn="ctr" indent="0" marL="0">
              <a:lnSpc>
                <a:spcPct val="95000"/>
              </a:lnSpc>
              <a:buNone/>
            </a:pPr>
            <a:r>
              <a:rPr lang="en-US" sz="500" b="1" dirty="0">
                <a:solidFill>
                  <a:srgbClr val="FFFFFF"/>
                </a:solidFill>
                <a:latin typeface="Courier New" pitchFamily="34" charset="0"/>
                <a:ea typeface="Courier New" pitchFamily="34" charset="-122"/>
                <a:cs typeface="Courier New" pitchFamily="34" charset="-120"/>
              </a:rPr>
              <a:t>&lt;aside&gt;</a:t>
            </a:r>
            <a:endParaRPr lang="en-US" sz="500" dirty="0"/>
          </a:p>
        </p:txBody>
      </p:sp>
      <p:sp>
        <p:nvSpPr>
          <p:cNvPr id="154" name="Shape 152"/>
          <p:cNvSpPr/>
          <p:nvPr/>
        </p:nvSpPr>
        <p:spPr>
          <a:xfrm>
            <a:off x="2362412" y="1669203"/>
            <a:ext cx="6265333" cy="4106333"/>
          </a:xfrm>
          <a:prstGeom prst="rect">
            <a:avLst/>
          </a:prstGeom>
          <a:ln w="10583">
            <a:solidFill>
              <a:srgbClr val="1E88E5"/>
            </a:solidFill>
            <a:prstDash val="dash"/>
          </a:ln>
        </p:spPr>
      </p:sp>
      <p:sp>
        <p:nvSpPr>
          <p:cNvPr id="155" name="Shape 153"/>
          <p:cNvSpPr/>
          <p:nvPr/>
        </p:nvSpPr>
        <p:spPr>
          <a:xfrm>
            <a:off x="2362412" y="1563370"/>
            <a:ext cx="328083" cy="105833"/>
          </a:xfrm>
          <a:prstGeom prst="rect">
            <a:avLst/>
          </a:prstGeom>
          <a:solidFill>
            <a:srgbClr val="1E88E5"/>
          </a:solidFill>
          <a:ln/>
        </p:spPr>
      </p:sp>
      <p:sp>
        <p:nvSpPr>
          <p:cNvPr id="156" name="Text 154"/>
          <p:cNvSpPr txBox="1"/>
          <p:nvPr/>
        </p:nvSpPr>
        <p:spPr>
          <a:xfrm>
            <a:off x="2362412" y="1563370"/>
            <a:ext cx="328083" cy="105833"/>
          </a:xfrm>
          <a:prstGeom prst="rect">
            <a:avLst/>
          </a:prstGeom>
          <a:noFill/>
          <a:ln/>
        </p:spPr>
        <p:txBody>
          <a:bodyPr wrap="square" lIns="12700" tIns="12700" rIns="12700" bIns="12700" rtlCol="0" anchor="ctr"/>
          <a:lstStyle/>
          <a:p>
            <a:pPr algn="ctr" indent="0" marL="0">
              <a:lnSpc>
                <a:spcPct val="95000"/>
              </a:lnSpc>
              <a:buNone/>
            </a:pPr>
            <a:r>
              <a:rPr lang="en-US" sz="500" b="1" dirty="0">
                <a:solidFill>
                  <a:srgbClr val="FFFFFF"/>
                </a:solidFill>
                <a:latin typeface="Courier New" pitchFamily="34" charset="0"/>
                <a:ea typeface="Courier New" pitchFamily="34" charset="-122"/>
                <a:cs typeface="Courier New" pitchFamily="34" charset="-120"/>
              </a:rPr>
              <a:t>&lt;main&gt;</a:t>
            </a:r>
            <a:endParaRPr lang="en-US" sz="500" dirty="0"/>
          </a:p>
        </p:txBody>
      </p:sp>
      <p:sp>
        <p:nvSpPr>
          <p:cNvPr id="157" name="Shape 155"/>
          <p:cNvSpPr/>
          <p:nvPr/>
        </p:nvSpPr>
        <p:spPr>
          <a:xfrm>
            <a:off x="2362412" y="5902537"/>
            <a:ext cx="6265333" cy="677333"/>
          </a:xfrm>
          <a:prstGeom prst="rect">
            <a:avLst/>
          </a:prstGeom>
          <a:ln w="10583">
            <a:solidFill>
              <a:srgbClr val="1E88E5"/>
            </a:solidFill>
            <a:prstDash val="dash"/>
          </a:ln>
        </p:spPr>
      </p:sp>
      <p:sp>
        <p:nvSpPr>
          <p:cNvPr id="158" name="Shape 156"/>
          <p:cNvSpPr/>
          <p:nvPr/>
        </p:nvSpPr>
        <p:spPr>
          <a:xfrm>
            <a:off x="2362412" y="5796703"/>
            <a:ext cx="412750" cy="105833"/>
          </a:xfrm>
          <a:prstGeom prst="rect">
            <a:avLst/>
          </a:prstGeom>
          <a:solidFill>
            <a:srgbClr val="1E88E5"/>
          </a:solidFill>
          <a:ln/>
        </p:spPr>
      </p:sp>
      <p:sp>
        <p:nvSpPr>
          <p:cNvPr id="159" name="Text 157"/>
          <p:cNvSpPr txBox="1"/>
          <p:nvPr/>
        </p:nvSpPr>
        <p:spPr>
          <a:xfrm>
            <a:off x="2362412" y="5796703"/>
            <a:ext cx="412750" cy="105833"/>
          </a:xfrm>
          <a:prstGeom prst="rect">
            <a:avLst/>
          </a:prstGeom>
          <a:noFill/>
          <a:ln/>
        </p:spPr>
        <p:txBody>
          <a:bodyPr wrap="square" lIns="12700" tIns="12700" rIns="12700" bIns="12700" rtlCol="0" anchor="ctr"/>
          <a:lstStyle/>
          <a:p>
            <a:pPr algn="ctr" indent="0" marL="0">
              <a:lnSpc>
                <a:spcPct val="95000"/>
              </a:lnSpc>
              <a:buNone/>
            </a:pPr>
            <a:r>
              <a:rPr lang="en-US" sz="500" b="1" dirty="0">
                <a:solidFill>
                  <a:srgbClr val="FFFFFF"/>
                </a:solidFill>
                <a:latin typeface="Courier New" pitchFamily="34" charset="0"/>
                <a:ea typeface="Courier New" pitchFamily="34" charset="-122"/>
                <a:cs typeface="Courier New" pitchFamily="34" charset="-120"/>
              </a:rPr>
              <a:t>&lt;footer&gt;</a:t>
            </a:r>
            <a:endParaRPr lang="en-US" sz="500" dirty="0"/>
          </a:p>
        </p:txBody>
      </p:sp>
      <p:sp>
        <p:nvSpPr>
          <p:cNvPr id="160" name="Shape 158"/>
          <p:cNvSpPr/>
          <p:nvPr/>
        </p:nvSpPr>
        <p:spPr>
          <a:xfrm>
            <a:off x="8828828" y="1245870"/>
            <a:ext cx="1270000" cy="423333"/>
          </a:xfrm>
          <a:prstGeom prst="rect">
            <a:avLst/>
          </a:prstGeom>
          <a:solidFill>
            <a:srgbClr val="FFF2CC"/>
          </a:solidFill>
          <a:ln w="6350">
            <a:solidFill>
              <a:srgbClr val="D6B656"/>
            </a:solidFill>
            <a:prstDash val="solid"/>
          </a:ln>
        </p:spPr>
      </p:sp>
      <p:sp>
        <p:nvSpPr>
          <p:cNvPr id="161" name="Text 159"/>
          <p:cNvSpPr txBox="1"/>
          <p:nvPr/>
        </p:nvSpPr>
        <p:spPr>
          <a:xfrm>
            <a:off x="8828828" y="1245870"/>
            <a:ext cx="1270000" cy="423333"/>
          </a:xfrm>
          <a:prstGeom prst="rect">
            <a:avLst/>
          </a:prstGeom>
          <a:noFill/>
          <a:ln/>
        </p:spPr>
        <p:txBody>
          <a:bodyPr wrap="square" lIns="50800" tIns="50800" rIns="50800" bIns="50800" rtlCol="0" anchor="t"/>
          <a:lstStyle/>
          <a:p>
            <a:pPr algn="l" indent="0" marL="0">
              <a:lnSpc>
                <a:spcPct val="95000"/>
              </a:lnSpc>
              <a:buNone/>
            </a:pPr>
            <a:r>
              <a:rPr lang="en-US" sz="550" dirty="0">
                <a:solidFill>
                  <a:srgbClr val="333333"/>
                </a:solidFill>
                <a:latin typeface="Arial" pitchFamily="34" charset="0"/>
                <a:ea typeface="Arial" pitchFamily="34" charset="-122"/>
                <a:cs typeface="Arial" pitchFamily="34" charset="-120"/>
              </a:rPr>
              <a:t>① The current page ("Order Online") is bold in the nav so users know where they are.</a:t>
            </a:r>
            <a:endParaRPr lang="en-US" sz="550" dirty="0"/>
          </a:p>
        </p:txBody>
      </p:sp>
      <p:sp>
        <p:nvSpPr>
          <p:cNvPr id="162" name="Shape 160"/>
          <p:cNvSpPr/>
          <p:nvPr/>
        </p:nvSpPr>
        <p:spPr>
          <a:xfrm>
            <a:off x="8828828" y="1753870"/>
            <a:ext cx="1270000" cy="423333"/>
          </a:xfrm>
          <a:prstGeom prst="rect">
            <a:avLst/>
          </a:prstGeom>
          <a:solidFill>
            <a:srgbClr val="FFF2CC"/>
          </a:solidFill>
          <a:ln w="6350">
            <a:solidFill>
              <a:srgbClr val="D6B656"/>
            </a:solidFill>
            <a:prstDash val="solid"/>
          </a:ln>
        </p:spPr>
      </p:sp>
      <p:sp>
        <p:nvSpPr>
          <p:cNvPr id="163" name="Text 161"/>
          <p:cNvSpPr txBox="1"/>
          <p:nvPr/>
        </p:nvSpPr>
        <p:spPr>
          <a:xfrm>
            <a:off x="8828828" y="1753870"/>
            <a:ext cx="1270000" cy="423333"/>
          </a:xfrm>
          <a:prstGeom prst="rect">
            <a:avLst/>
          </a:prstGeom>
          <a:noFill/>
          <a:ln/>
        </p:spPr>
        <p:txBody>
          <a:bodyPr wrap="square" lIns="50800" tIns="50800" rIns="50800" bIns="50800" rtlCol="0" anchor="t"/>
          <a:lstStyle/>
          <a:p>
            <a:pPr algn="l" indent="0" marL="0">
              <a:lnSpc>
                <a:spcPct val="95000"/>
              </a:lnSpc>
              <a:buNone/>
            </a:pPr>
            <a:r>
              <a:rPr lang="en-US" sz="550" dirty="0">
                <a:solidFill>
                  <a:srgbClr val="333333"/>
                </a:solidFill>
                <a:latin typeface="Arial" pitchFamily="34" charset="0"/>
                <a:ea typeface="Arial" pitchFamily="34" charset="-122"/>
                <a:cs typeface="Arial" pitchFamily="34" charset="-120"/>
              </a:rPr>
              <a:t>② The two choices users make first (pickup/delivery and time) go at the top of the page.</a:t>
            </a:r>
            <a:endParaRPr lang="en-US" sz="550" dirty="0"/>
          </a:p>
        </p:txBody>
      </p:sp>
      <p:sp>
        <p:nvSpPr>
          <p:cNvPr id="164" name="Shape 162"/>
          <p:cNvSpPr/>
          <p:nvPr/>
        </p:nvSpPr>
        <p:spPr>
          <a:xfrm>
            <a:off x="8828828" y="2240703"/>
            <a:ext cx="1270000" cy="529167"/>
          </a:xfrm>
          <a:prstGeom prst="rect">
            <a:avLst/>
          </a:prstGeom>
          <a:solidFill>
            <a:srgbClr val="FFF2CC"/>
          </a:solidFill>
          <a:ln w="6350">
            <a:solidFill>
              <a:srgbClr val="D6B656"/>
            </a:solidFill>
            <a:prstDash val="solid"/>
          </a:ln>
        </p:spPr>
      </p:sp>
      <p:sp>
        <p:nvSpPr>
          <p:cNvPr id="165" name="Text 163"/>
          <p:cNvSpPr txBox="1"/>
          <p:nvPr/>
        </p:nvSpPr>
        <p:spPr>
          <a:xfrm>
            <a:off x="8828828" y="2240703"/>
            <a:ext cx="1270000" cy="529167"/>
          </a:xfrm>
          <a:prstGeom prst="rect">
            <a:avLst/>
          </a:prstGeom>
          <a:noFill/>
          <a:ln/>
        </p:spPr>
        <p:txBody>
          <a:bodyPr wrap="square" lIns="50800" tIns="50800" rIns="50800" bIns="50800" rtlCol="0" anchor="t"/>
          <a:lstStyle/>
          <a:p>
            <a:pPr algn="l" indent="0" marL="0">
              <a:lnSpc>
                <a:spcPct val="95000"/>
              </a:lnSpc>
              <a:buNone/>
            </a:pPr>
            <a:r>
              <a:rPr lang="en-US" sz="550" dirty="0">
                <a:solidFill>
                  <a:srgbClr val="333333"/>
                </a:solidFill>
                <a:latin typeface="Arial" pitchFamily="34" charset="0"/>
                <a:ea typeface="Arial" pitchFamily="34" charset="-122"/>
                <a:cs typeface="Arial" pitchFamily="34" charset="-120"/>
              </a:rPr>
              <a:t>③ The order summary stays next to the menu, so users can see their total while they add items.</a:t>
            </a:r>
            <a:endParaRPr lang="en-US" sz="550" dirty="0"/>
          </a:p>
        </p:txBody>
      </p:sp>
      <p:sp>
        <p:nvSpPr>
          <p:cNvPr id="166" name="Shape 164"/>
          <p:cNvSpPr/>
          <p:nvPr/>
        </p:nvSpPr>
        <p:spPr>
          <a:xfrm>
            <a:off x="8828828" y="2843953"/>
            <a:ext cx="1270000" cy="529167"/>
          </a:xfrm>
          <a:prstGeom prst="rect">
            <a:avLst/>
          </a:prstGeom>
          <a:solidFill>
            <a:srgbClr val="FFF2CC"/>
          </a:solidFill>
          <a:ln w="6350">
            <a:solidFill>
              <a:srgbClr val="D6B656"/>
            </a:solidFill>
            <a:prstDash val="solid"/>
          </a:ln>
        </p:spPr>
      </p:sp>
      <p:sp>
        <p:nvSpPr>
          <p:cNvPr id="167" name="Text 165"/>
          <p:cNvSpPr txBox="1"/>
          <p:nvPr/>
        </p:nvSpPr>
        <p:spPr>
          <a:xfrm>
            <a:off x="8828828" y="2843953"/>
            <a:ext cx="1270000" cy="529167"/>
          </a:xfrm>
          <a:prstGeom prst="rect">
            <a:avLst/>
          </a:prstGeom>
          <a:noFill/>
          <a:ln/>
        </p:spPr>
        <p:txBody>
          <a:bodyPr wrap="square" lIns="50800" tIns="50800" rIns="50800" bIns="50800" rtlCol="0" anchor="t"/>
          <a:lstStyle/>
          <a:p>
            <a:pPr algn="l" indent="0" marL="0">
              <a:lnSpc>
                <a:spcPct val="95000"/>
              </a:lnSpc>
              <a:buNone/>
            </a:pPr>
            <a:r>
              <a:rPr lang="en-US" sz="550" dirty="0">
                <a:solidFill>
                  <a:srgbClr val="333333"/>
                </a:solidFill>
                <a:latin typeface="Arial" pitchFamily="34" charset="0"/>
                <a:ea typeface="Arial" pitchFamily="34" charset="-122"/>
                <a:cs typeface="Arial" pitchFamily="34" charset="-120"/>
              </a:rPr>
              <a:t>④ Every menu card uses the same layout (image, name, description, price, button), so it becomes one repeated &lt;article&gt;.</a:t>
            </a:r>
            <a:endParaRPr lang="en-US" sz="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b="1" spc="100" kern="0" dirty="0">
                <a:solidFill>
                  <a:srgbClr val="595959"/>
                </a:solidFill>
                <a:latin typeface="Aptos" pitchFamily="34" charset="0"/>
                <a:ea typeface="Aptos" pitchFamily="34" charset="-122"/>
                <a:cs typeface="Aptos" pitchFamily="34" charset="-120"/>
              </a:rPr>
              <a:t>GUIDED EXAMPLE · STEP 6</a:t>
            </a:r>
            <a:endParaRPr lang="en-US" sz="1300" dirty="0"/>
          </a:p>
        </p:txBody>
      </p:sp>
      <p:sp>
        <p:nvSpPr>
          <p:cNvPr id="3" name="Text 1"/>
          <p:cNvSpPr txBox="1"/>
          <p:nvPr/>
        </p:nvSpPr>
        <p:spPr>
          <a:xfrm>
            <a:off x="548640" y="731520"/>
            <a:ext cx="7315200" cy="594360"/>
          </a:xfrm>
          <a:prstGeom prst="rect">
            <a:avLst/>
          </a:prstGeom>
          <a:noFill/>
          <a:ln/>
        </p:spPr>
        <p:txBody>
          <a:bodyPr wrap="square" lIns="0" tIns="0" rIns="0" bIns="0" rtlCol="0" anchor="ctr"/>
          <a:lstStyle/>
          <a:p>
            <a:pPr indent="0" marL="0">
              <a:buNone/>
            </a:pPr>
            <a:r>
              <a:rPr lang="en-US" sz="3200" dirty="0">
                <a:solidFill>
                  <a:srgbClr val="000000"/>
                </a:solidFill>
                <a:latin typeface="Aptos" pitchFamily="34" charset="0"/>
                <a:ea typeface="Aptos" pitchFamily="34" charset="-122"/>
                <a:cs typeface="Aptos" pitchFamily="34" charset="-120"/>
              </a:rPr>
              <a:t>Going Mobile (375px)</a:t>
            </a:r>
            <a:endParaRPr lang="en-US" sz="3200" dirty="0"/>
          </a:p>
        </p:txBody>
      </p:sp>
      <p:sp>
        <p:nvSpPr>
          <p:cNvPr id="4" name="Shape 2"/>
          <p:cNvSpPr/>
          <p:nvPr/>
        </p:nvSpPr>
        <p:spPr>
          <a:xfrm>
            <a:off x="8412480" y="868680"/>
            <a:ext cx="914400" cy="310896"/>
          </a:xfrm>
          <a:prstGeom prst="roundRect">
            <a:avLst>
              <a:gd name="adj" fmla="val 50000"/>
            </a:avLst>
          </a:prstGeom>
          <a:solidFill>
            <a:srgbClr val="E97132"/>
          </a:solidFill>
          <a:ln w="12700">
            <a:solidFill>
              <a:srgbClr val="E97132"/>
            </a:solidFill>
            <a:prstDash val="solid"/>
          </a:ln>
        </p:spPr>
      </p:sp>
      <p:sp>
        <p:nvSpPr>
          <p:cNvPr id="5" name="Text 3"/>
          <p:cNvSpPr txBox="1"/>
          <p:nvPr/>
        </p:nvSpPr>
        <p:spPr>
          <a:xfrm>
            <a:off x="8412480" y="868680"/>
            <a:ext cx="91440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ptos" pitchFamily="34" charset="0"/>
                <a:ea typeface="Aptos" pitchFamily="34" charset="-122"/>
                <a:cs typeface="Aptos" pitchFamily="34" charset="-120"/>
              </a:rPr>
              <a:t>STORY 5</a:t>
            </a:r>
            <a:endParaRPr lang="en-US" sz="1100" dirty="0"/>
          </a:p>
        </p:txBody>
      </p:sp>
      <p:sp>
        <p:nvSpPr>
          <p:cNvPr id="6" name="Text 4"/>
          <p:cNvSpPr txBox="1"/>
          <p:nvPr/>
        </p:nvSpPr>
        <p:spPr>
          <a:xfrm>
            <a:off x="548640" y="1463040"/>
            <a:ext cx="11064240" cy="548640"/>
          </a:xfrm>
          <a:prstGeom prst="rect">
            <a:avLst/>
          </a:prstGeom>
          <a:noFill/>
          <a:ln/>
        </p:spPr>
        <p:txBody>
          <a:bodyPr wrap="square" lIns="0" tIns="0" rIns="0" bIns="0" rtlCol="0" anchor="t"/>
          <a:lstStyle/>
          <a:p>
            <a:pPr indent="0" marL="0">
              <a:buNone/>
            </a:pPr>
            <a:r>
              <a:rPr lang="en-US" sz="1500" dirty="0">
                <a:solidFill>
                  <a:srgbClr val="262626"/>
                </a:solidFill>
                <a:latin typeface="Aptos" pitchFamily="34" charset="0"/>
                <a:ea typeface="Aptos" pitchFamily="34" charset="-122"/>
                <a:cs typeface="Aptos" pitchFamily="34" charset="-120"/>
              </a:rPr>
              <a:t>​</a:t>
            </a:r>
            <a:pPr indent="0" marL="0">
              <a:buNone/>
            </a:pPr>
            <a:r>
              <a:rPr lang="en-US" sz="1500" dirty="0">
                <a:solidFill>
                  <a:srgbClr val="262626"/>
                </a:solidFill>
                <a:latin typeface="Aptos" pitchFamily="34" charset="0"/>
                <a:ea typeface="Aptos" pitchFamily="34" charset="-122"/>
                <a:cs typeface="Aptos" pitchFamily="34" charset="-120"/>
              </a:rPr>
              <a:t>Right-click the page tab → </a:t>
            </a:r>
            <a:pPr indent="0" marL="0">
              <a:buNone/>
            </a:pPr>
            <a:r>
              <a:rPr lang="en-US" sz="1500" b="1" dirty="0">
                <a:solidFill>
                  <a:srgbClr val="262626"/>
                </a:solidFill>
                <a:latin typeface="Aptos" pitchFamily="34" charset="0"/>
                <a:ea typeface="Aptos" pitchFamily="34" charset="-122"/>
                <a:cs typeface="Aptos" pitchFamily="34" charset="-120"/>
              </a:rPr>
              <a:t>Duplicate</a:t>
            </a:r>
            <a:pPr indent="0" marL="0">
              <a:buNone/>
            </a:pPr>
            <a:r>
              <a:rPr lang="en-US" sz="1500" dirty="0">
                <a:solidFill>
                  <a:srgbClr val="262626"/>
                </a:solidFill>
                <a:latin typeface="Aptos" pitchFamily="34" charset="0"/>
                <a:ea typeface="Aptos" pitchFamily="34" charset="-122"/>
                <a:cs typeface="Aptos" pitchFamily="34" charset="-120"/>
              </a:rPr>
              <a:t>, rename it </a:t>
            </a:r>
            <a:pPr indent="0" marL="0">
              <a:buNone/>
            </a:pPr>
            <a:r>
              <a:rPr lang="en-US" sz="1500" b="1" dirty="0">
                <a:solidFill>
                  <a:srgbClr val="262626"/>
                </a:solidFill>
                <a:latin typeface="Aptos" pitchFamily="34" charset="0"/>
                <a:ea typeface="Aptos" pitchFamily="34" charset="-122"/>
                <a:cs typeface="Aptos" pitchFamily="34" charset="-120"/>
              </a:rPr>
              <a:t>Mobile</a:t>
            </a:r>
            <a:pPr indent="0" marL="0">
              <a:buNone/>
            </a:pPr>
            <a:r>
              <a:rPr lang="en-US" sz="1500" dirty="0">
                <a:solidFill>
                  <a:srgbClr val="262626"/>
                </a:solidFill>
                <a:latin typeface="Aptos" pitchFamily="34" charset="0"/>
                <a:ea typeface="Aptos" pitchFamily="34" charset="-122"/>
                <a:cs typeface="Aptos" pitchFamily="34" charset="-120"/>
              </a:rPr>
              <a:t>, and change the frame to </a:t>
            </a:r>
            <a:pPr indent="0" marL="0">
              <a:buNone/>
            </a:pPr>
            <a:r>
              <a:rPr lang="en-US" sz="1500" b="1" dirty="0">
                <a:solidFill>
                  <a:srgbClr val="262626"/>
                </a:solidFill>
                <a:latin typeface="Aptos" pitchFamily="34" charset="0"/>
                <a:ea typeface="Aptos" pitchFamily="34" charset="-122"/>
                <a:cs typeface="Aptos" pitchFamily="34" charset="-120"/>
              </a:rPr>
              <a:t>375 wide</a:t>
            </a:r>
            <a:pPr indent="0" marL="0">
              <a:buNone/>
            </a:pPr>
            <a:r>
              <a:rPr lang="en-US" sz="1500" dirty="0">
                <a:solidFill>
                  <a:srgbClr val="262626"/>
                </a:solidFill>
                <a:latin typeface="Aptos" pitchFamily="34" charset="0"/>
                <a:ea typeface="Aptos" pitchFamily="34" charset="-122"/>
                <a:cs typeface="Aptos" pitchFamily="34" charset="-120"/>
              </a:rPr>
              <a:t>. Before each change, ask: </a:t>
            </a:r>
            <a:pPr indent="0" marL="0">
              <a:buNone/>
            </a:pPr>
            <a:r>
              <a:rPr lang="en-US" sz="1500" i="1" dirty="0">
                <a:solidFill>
                  <a:srgbClr val="262626"/>
                </a:solidFill>
                <a:latin typeface="Aptos" pitchFamily="34" charset="0"/>
                <a:ea typeface="Aptos" pitchFamily="34" charset="-122"/>
                <a:cs typeface="Aptos" pitchFamily="34" charset="-120"/>
              </a:rPr>
              <a:t>what has to change, and why?</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11064240" cy="914400"/>
        </p:xfrm>
        <a:graphic>
          <a:graphicData uri="http://schemas.openxmlformats.org/drawingml/2006/table">
            <a:tbl>
              <a:tblPr/>
              <a:tblGrid>
                <a:gridCol w="2926080"/>
                <a:gridCol w="4023360"/>
                <a:gridCol w="4114800"/>
              </a:tblGrid>
              <a:tr h="548640">
                <a:tc>
                  <a:txBody>
                    <a:bodyPr/>
                    <a:lstStyle/>
                    <a:p>
                      <a:pPr indent="0" marL="0">
                        <a:buNone/>
                      </a:pPr>
                      <a:r>
                        <a:rPr lang="en-US" sz="1400" b="1" dirty="0">
                          <a:solidFill>
                            <a:srgbClr val="FFFFFF"/>
                          </a:solidFill>
                          <a:latin typeface="Aptos" pitchFamily="34" charset="0"/>
                          <a:ea typeface="Aptos" pitchFamily="34" charset="-122"/>
                          <a:cs typeface="Aptos" pitchFamily="34" charset="-120"/>
                        </a:rPr>
                        <a:t>Desktop</a:t>
                      </a:r>
                      <a:endParaRPr lang="en-US" sz="1400" dirty="0">
                        <a:latin typeface="Aptos" charset="0"/>
                        <a:ea typeface="Aptos" charset="0"/>
                        <a:cs typeface="Aptos" charset="0"/>
                      </a:endParaRPr>
                    </a:p>
                  </a:txBody>
                  <a:tcPr marL="101600" marR="101600" marT="50800" marB="508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400" b="1" dirty="0">
                          <a:solidFill>
                            <a:srgbClr val="FFFFFF"/>
                          </a:solidFill>
                          <a:latin typeface="Aptos" pitchFamily="34" charset="0"/>
                          <a:ea typeface="Aptos" pitchFamily="34" charset="-122"/>
                          <a:cs typeface="Aptos" pitchFamily="34" charset="-120"/>
                        </a:rPr>
                        <a:t>Mobile</a:t>
                      </a:r>
                      <a:endParaRPr lang="en-US" sz="1400" dirty="0">
                        <a:latin typeface="Aptos" charset="0"/>
                        <a:ea typeface="Aptos" charset="0"/>
                        <a:cs typeface="Aptos" charset="0"/>
                      </a:endParaRPr>
                    </a:p>
                  </a:txBody>
                  <a:tcPr marL="101600" marR="101600" marT="50800" marB="508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400" b="1" dirty="0">
                          <a:solidFill>
                            <a:srgbClr val="FFFFFF"/>
                          </a:solidFill>
                          <a:latin typeface="Aptos" pitchFamily="34" charset="0"/>
                          <a:ea typeface="Aptos" pitchFamily="34" charset="-122"/>
                          <a:cs typeface="Aptos" pitchFamily="34" charset="-120"/>
                        </a:rPr>
                        <a:t>Why</a:t>
                      </a:r>
                      <a:endParaRPr lang="en-US" sz="1400" dirty="0">
                        <a:latin typeface="Aptos" charset="0"/>
                        <a:ea typeface="Aptos" charset="0"/>
                        <a:cs typeface="Aptos" charset="0"/>
                      </a:endParaRPr>
                    </a:p>
                  </a:txBody>
                  <a:tcPr marL="101600" marR="101600" marT="50800" marB="508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r>
              <a:tr h="548640">
                <a:tc>
                  <a:txBody>
                    <a:bodyPr/>
                    <a:lstStyle/>
                    <a:p>
                      <a:pPr indent="0" marL="0">
                        <a:buNone/>
                      </a:pPr>
                      <a:r>
                        <a:rPr lang="en-US" sz="1400" dirty="0">
                          <a:solidFill>
                            <a:srgbClr val="000000"/>
                          </a:solidFill>
                          <a:latin typeface="Aptos" pitchFamily="34" charset="0"/>
                          <a:ea typeface="Aptos" pitchFamily="34" charset="-122"/>
                          <a:cs typeface="Aptos" pitchFamily="34" charset="-120"/>
                        </a:rPr>
                        <a:t>Nav links across the header</a:t>
                      </a:r>
                      <a:endParaRPr lang="en-US" sz="1400" dirty="0">
                        <a:latin typeface="Aptos" charset="0"/>
                        <a:ea typeface="Aptos" charset="0"/>
                        <a:cs typeface="Aptos" charset="0"/>
                      </a:endParaRPr>
                    </a:p>
                  </a:txBody>
                  <a:tcPr marL="101600" marR="101600" marT="50800" marB="508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Aptos" pitchFamily="34" charset="0"/>
                          <a:ea typeface="Aptos" pitchFamily="34" charset="-122"/>
                          <a:cs typeface="Aptos" pitchFamily="34" charset="-120"/>
                        </a:rPr>
                        <a:t>☰ button. Cart stays visible</a:t>
                      </a:r>
                      <a:endParaRPr lang="en-US" sz="1400" dirty="0">
                        <a:latin typeface="Aptos" charset="0"/>
                        <a:ea typeface="Aptos" charset="0"/>
                        <a:cs typeface="Aptos" charset="0"/>
                      </a:endParaRPr>
                    </a:p>
                  </a:txBody>
                  <a:tcPr marL="101600" marR="101600" marT="50800" marB="508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Aptos" pitchFamily="34" charset="0"/>
                          <a:ea typeface="Aptos" pitchFamily="34" charset="-122"/>
                          <a:cs typeface="Aptos" pitchFamily="34" charset="-120"/>
                        </a:rPr>
                        <a:t>Not enough width. Keep the most important action on screen</a:t>
                      </a:r>
                      <a:endParaRPr lang="en-US" sz="1400" dirty="0">
                        <a:latin typeface="Aptos" charset="0"/>
                        <a:ea typeface="Aptos" charset="0"/>
                        <a:cs typeface="Aptos" charset="0"/>
                      </a:endParaRPr>
                    </a:p>
                  </a:txBody>
                  <a:tcPr marL="101600" marR="101600" marT="50800" marB="508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000000"/>
                          </a:solidFill>
                          <a:latin typeface="Aptos" pitchFamily="34" charset="0"/>
                          <a:ea typeface="Aptos" pitchFamily="34" charset="-122"/>
                          <a:cs typeface="Aptos" pitchFamily="34" charset="-120"/>
                        </a:rPr>
                        <a:t>Tabs in one row</a:t>
                      </a:r>
                      <a:endParaRPr lang="en-US" sz="1400" dirty="0">
                        <a:latin typeface="Aptos" charset="0"/>
                        <a:ea typeface="Aptos" charset="0"/>
                        <a:cs typeface="Aptos" charset="0"/>
                      </a:endParaRPr>
                    </a:p>
                  </a:txBody>
                  <a:tcPr marL="101600" marR="101600" marT="50800" marB="508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400" dirty="0">
                          <a:solidFill>
                            <a:srgbClr val="000000"/>
                          </a:solidFill>
                          <a:latin typeface="Aptos" pitchFamily="34" charset="0"/>
                          <a:ea typeface="Aptos" pitchFamily="34" charset="-122"/>
                          <a:cs typeface="Aptos" pitchFamily="34" charset="-120"/>
                        </a:rPr>
                        <a:t>Tabs scroll sideways</a:t>
                      </a:r>
                      <a:endParaRPr lang="en-US" sz="1400" dirty="0">
                        <a:latin typeface="Aptos" charset="0"/>
                        <a:ea typeface="Aptos" charset="0"/>
                        <a:cs typeface="Aptos" charset="0"/>
                      </a:endParaRPr>
                    </a:p>
                  </a:txBody>
                  <a:tcPr marL="101600" marR="101600" marT="50800" marB="508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400" dirty="0">
                          <a:solidFill>
                            <a:srgbClr val="000000"/>
                          </a:solidFill>
                          <a:latin typeface="Aptos" pitchFamily="34" charset="0"/>
                          <a:ea typeface="Aptos" pitchFamily="34" charset="-122"/>
                          <a:cs typeface="Aptos" pitchFamily="34" charset="-120"/>
                        </a:rPr>
                        <a:t>Wrapping onto two rows pushes the menu down</a:t>
                      </a:r>
                      <a:endParaRPr lang="en-US" sz="1400" dirty="0">
                        <a:latin typeface="Aptos" charset="0"/>
                        <a:ea typeface="Aptos" charset="0"/>
                        <a:cs typeface="Aptos" charset="0"/>
                      </a:endParaRPr>
                    </a:p>
                  </a:txBody>
                  <a:tcPr marL="101600" marR="101600" marT="50800" marB="508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548640">
                <a:tc>
                  <a:txBody>
                    <a:bodyPr/>
                    <a:lstStyle/>
                    <a:p>
                      <a:pPr indent="0" marL="0">
                        <a:buNone/>
                      </a:pPr>
                      <a:r>
                        <a:rPr lang="en-US" sz="1400" dirty="0">
                          <a:solidFill>
                            <a:srgbClr val="000000"/>
                          </a:solidFill>
                          <a:latin typeface="Aptos" pitchFamily="34" charset="0"/>
                          <a:ea typeface="Aptos" pitchFamily="34" charset="-122"/>
                          <a:cs typeface="Aptos" pitchFamily="34" charset="-120"/>
                        </a:rPr>
                        <a:t>3-column card grid</a:t>
                      </a:r>
                      <a:endParaRPr lang="en-US" sz="1400" dirty="0">
                        <a:latin typeface="Aptos" charset="0"/>
                        <a:ea typeface="Aptos" charset="0"/>
                        <a:cs typeface="Aptos" charset="0"/>
                      </a:endParaRPr>
                    </a:p>
                  </a:txBody>
                  <a:tcPr marL="101600" marR="101600" marT="50800" marB="508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Aptos" pitchFamily="34" charset="0"/>
                          <a:ea typeface="Aptos" pitchFamily="34" charset="-122"/>
                          <a:cs typeface="Aptos" pitchFamily="34" charset="-120"/>
                        </a:rPr>
                        <a:t>1-column list: small image left, + button right</a:t>
                      </a:r>
                      <a:endParaRPr lang="en-US" sz="1400" dirty="0">
                        <a:latin typeface="Aptos" charset="0"/>
                        <a:ea typeface="Aptos" charset="0"/>
                        <a:cs typeface="Aptos" charset="0"/>
                      </a:endParaRPr>
                    </a:p>
                  </a:txBody>
                  <a:tcPr marL="101600" marR="101600" marT="50800" marB="508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Aptos" pitchFamily="34" charset="0"/>
                          <a:ea typeface="Aptos" pitchFamily="34" charset="-122"/>
                          <a:cs typeface="Aptos" pitchFamily="34" charset="-120"/>
                        </a:rPr>
                        <a:t>One thumb, one column</a:t>
                      </a:r>
                      <a:endParaRPr lang="en-US" sz="1400" dirty="0">
                        <a:latin typeface="Aptos" charset="0"/>
                        <a:ea typeface="Aptos" charset="0"/>
                        <a:cs typeface="Aptos" charset="0"/>
                      </a:endParaRPr>
                    </a:p>
                  </a:txBody>
                  <a:tcPr marL="101600" marR="101600" marT="50800" marB="508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000000"/>
                          </a:solidFill>
                          <a:latin typeface="Aptos" pitchFamily="34" charset="0"/>
                          <a:ea typeface="Aptos" pitchFamily="34" charset="-122"/>
                          <a:cs typeface="Aptos" pitchFamily="34" charset="-120"/>
                        </a:rPr>
                        <a:t>Order &lt;aside&gt; beside the menu</a:t>
                      </a:r>
                      <a:endParaRPr lang="en-US" sz="1400" dirty="0">
                        <a:latin typeface="Aptos" charset="0"/>
                        <a:ea typeface="Aptos" charset="0"/>
                        <a:cs typeface="Aptos" charset="0"/>
                      </a:endParaRPr>
                    </a:p>
                  </a:txBody>
                  <a:tcPr marL="101600" marR="101600" marT="50800" marB="508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400" dirty="0">
                          <a:solidFill>
                            <a:srgbClr val="000000"/>
                          </a:solidFill>
                          <a:latin typeface="Aptos" pitchFamily="34" charset="0"/>
                          <a:ea typeface="Aptos" pitchFamily="34" charset="-122"/>
                          <a:cs typeface="Aptos" pitchFamily="34" charset="-120"/>
                        </a:rPr>
                        <a:t>A bar that stays at the bottom: View order (3) · $33.03 →</a:t>
                      </a:r>
                      <a:endParaRPr lang="en-US" sz="1400" dirty="0">
                        <a:latin typeface="Aptos" charset="0"/>
                        <a:ea typeface="Aptos" charset="0"/>
                        <a:cs typeface="Aptos" charset="0"/>
                      </a:endParaRPr>
                    </a:p>
                  </a:txBody>
                  <a:tcPr marL="101600" marR="101600" marT="50800" marB="508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400" dirty="0">
                          <a:solidFill>
                            <a:srgbClr val="000000"/>
                          </a:solidFill>
                          <a:latin typeface="Aptos" pitchFamily="34" charset="0"/>
                          <a:ea typeface="Aptos" pitchFamily="34" charset="-122"/>
                          <a:cs typeface="Aptos" pitchFamily="34" charset="-120"/>
                        </a:rPr>
                        <a:t>No room for a sidebar, but the total is still always visible (story 3)</a:t>
                      </a:r>
                      <a:endParaRPr lang="en-US" sz="1400" dirty="0">
                        <a:latin typeface="Aptos" charset="0"/>
                        <a:ea typeface="Aptos" charset="0"/>
                        <a:cs typeface="Aptos" charset="0"/>
                      </a:endParaRPr>
                    </a:p>
                  </a:txBody>
                  <a:tcPr marL="101600" marR="101600" marT="50800" marB="508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548640">
                <a:tc>
                  <a:txBody>
                    <a:bodyPr/>
                    <a:lstStyle/>
                    <a:p>
                      <a:pPr indent="0" marL="0">
                        <a:buNone/>
                      </a:pPr>
                      <a:r>
                        <a:rPr lang="en-US" sz="1400" dirty="0">
                          <a:solidFill>
                            <a:srgbClr val="000000"/>
                          </a:solidFill>
                          <a:latin typeface="Aptos" pitchFamily="34" charset="0"/>
                          <a:ea typeface="Aptos" pitchFamily="34" charset="-122"/>
                          <a:cs typeface="Aptos" pitchFamily="34" charset="-120"/>
                        </a:rPr>
                        <a:t>Order panel</a:t>
                      </a:r>
                      <a:endParaRPr lang="en-US" sz="1400" dirty="0">
                        <a:latin typeface="Aptos" charset="0"/>
                        <a:ea typeface="Aptos" charset="0"/>
                        <a:cs typeface="Aptos" charset="0"/>
                      </a:endParaRPr>
                    </a:p>
                  </a:txBody>
                  <a:tcPr marL="101600" marR="101600" marT="50800" marB="508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Aptos" pitchFamily="34" charset="0"/>
                          <a:ea typeface="Aptos" pitchFamily="34" charset="-122"/>
                          <a:cs typeface="Aptos" pitchFamily="34" charset="-120"/>
                        </a:rPr>
                        <a:t>A separate Your Order screen with Special instructions and Checkout</a:t>
                      </a:r>
                      <a:endParaRPr lang="en-US" sz="1400" dirty="0">
                        <a:latin typeface="Aptos" charset="0"/>
                        <a:ea typeface="Aptos" charset="0"/>
                        <a:cs typeface="Aptos" charset="0"/>
                      </a:endParaRPr>
                    </a:p>
                  </a:txBody>
                  <a:tcPr marL="101600" marR="101600" marT="50800" marB="508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Aptos" pitchFamily="34" charset="0"/>
                          <a:ea typeface="Aptos" pitchFamily="34" charset="-122"/>
                          <a:cs typeface="Aptos" pitchFamily="34" charset="-120"/>
                        </a:rPr>
                        <a:t>Room for the form (story 4). Checkout is easy to reach with a thumb</a:t>
                      </a:r>
                      <a:endParaRPr lang="en-US" sz="1400" dirty="0">
                        <a:latin typeface="Aptos" charset="0"/>
                        <a:ea typeface="Aptos" charset="0"/>
                        <a:cs typeface="Aptos" charset="0"/>
                      </a:endParaRPr>
                    </a:p>
                  </a:txBody>
                  <a:tcPr marL="101600" marR="101600" marT="50800" marB="508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989320"/>
            <a:ext cx="548640" cy="0"/>
          </a:xfrm>
          <a:prstGeom prst="line">
            <a:avLst/>
          </a:prstGeom>
          <a:noFill/>
          <a:ln w="31750">
            <a:solidFill>
              <a:srgbClr val="E53935"/>
            </a:solidFill>
            <a:prstDash val="dash"/>
          </a:ln>
        </p:spPr>
      </p:sp>
      <p:sp>
        <p:nvSpPr>
          <p:cNvPr id="9" name="Text 6"/>
          <p:cNvSpPr txBox="1"/>
          <p:nvPr/>
        </p:nvSpPr>
        <p:spPr>
          <a:xfrm>
            <a:off x="1234440" y="5806440"/>
            <a:ext cx="5669280" cy="411480"/>
          </a:xfrm>
          <a:prstGeom prst="rect">
            <a:avLst/>
          </a:prstGeom>
          <a:noFill/>
          <a:ln/>
        </p:spPr>
        <p:txBody>
          <a:bodyPr wrap="square" lIns="0" tIns="0" rIns="0" bIns="0" rtlCol="0" anchor="ctr"/>
          <a:lstStyle/>
          <a:p>
            <a:pPr indent="0" marL="0">
              <a:buNone/>
            </a:pPr>
            <a:r>
              <a:rPr lang="en-US" sz="1350" dirty="0">
                <a:solidFill>
                  <a:srgbClr val="262626"/>
                </a:solidFill>
                <a:latin typeface="Aptos" pitchFamily="34" charset="0"/>
                <a:ea typeface="Aptos" pitchFamily="34" charset="-122"/>
                <a:cs typeface="Aptos" pitchFamily="34" charset="-120"/>
              </a:rPr>
              <a:t>Red dashed line at 812px = the bottom of the first screen. What does the user see before scrolling?</a:t>
            </a:r>
            <a:endParaRPr lang="en-US" sz="1350" dirty="0"/>
          </a:p>
        </p:txBody>
      </p:sp>
      <p:sp>
        <p:nvSpPr>
          <p:cNvPr id="10" name="Shape 7"/>
          <p:cNvSpPr/>
          <p:nvPr/>
        </p:nvSpPr>
        <p:spPr>
          <a:xfrm>
            <a:off x="7223760" y="5824728"/>
            <a:ext cx="384048" cy="384048"/>
          </a:xfrm>
          <a:prstGeom prst="roundRect">
            <a:avLst>
              <a:gd name="adj" fmla="val 14286"/>
            </a:avLst>
          </a:prstGeom>
          <a:solidFill>
            <a:srgbClr val="555555"/>
          </a:solidFill>
          <a:ln/>
        </p:spPr>
      </p:sp>
      <p:sp>
        <p:nvSpPr>
          <p:cNvPr id="11" name="Text 8"/>
          <p:cNvSpPr txBox="1"/>
          <p:nvPr/>
        </p:nvSpPr>
        <p:spPr>
          <a:xfrm>
            <a:off x="7223760" y="5824728"/>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a:t>
            </a:r>
            <a:endParaRPr lang="en-US" sz="1800" dirty="0"/>
          </a:p>
        </p:txBody>
      </p:sp>
      <p:sp>
        <p:nvSpPr>
          <p:cNvPr id="12" name="Text 9"/>
          <p:cNvSpPr txBox="1"/>
          <p:nvPr/>
        </p:nvSpPr>
        <p:spPr>
          <a:xfrm>
            <a:off x="7772400" y="5806440"/>
            <a:ext cx="3931920" cy="411480"/>
          </a:xfrm>
          <a:prstGeom prst="rect">
            <a:avLst/>
          </a:prstGeom>
          <a:noFill/>
          <a:ln/>
        </p:spPr>
        <p:txBody>
          <a:bodyPr wrap="square" lIns="0" tIns="0" rIns="0" bIns="0" rtlCol="0" anchor="ctr"/>
          <a:lstStyle/>
          <a:p>
            <a:pPr indent="0" marL="0">
              <a:buNone/>
            </a:pPr>
            <a:r>
              <a:rPr lang="en-US" sz="1350" dirty="0">
                <a:solidFill>
                  <a:srgbClr val="262626"/>
                </a:solidFill>
                <a:latin typeface="Aptos" pitchFamily="34" charset="0"/>
                <a:ea typeface="Aptos" pitchFamily="34" charset="-122"/>
                <a:cs typeface="Aptos" pitchFamily="34" charset="-120"/>
              </a:rPr>
              <a:t>Tap targets at least 44 × 44px, so they're easy to hit with a thumb.</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562708" y="328246"/>
            <a:ext cx="2022231" cy="6201508"/>
          </a:xfrm>
          <a:prstGeom prst="roundRect">
            <a:avLst>
              <a:gd name="adj" fmla="val 3000"/>
            </a:avLst>
          </a:prstGeom>
          <a:solidFill>
            <a:srgbClr val="FFFFFF"/>
          </a:solidFill>
          <a:ln w="10785">
            <a:solidFill>
              <a:srgbClr val="333333"/>
            </a:solidFill>
            <a:prstDash val="solid"/>
          </a:ln>
        </p:spPr>
      </p:sp>
      <p:sp>
        <p:nvSpPr>
          <p:cNvPr id="3" name="Shape 1"/>
          <p:cNvSpPr/>
          <p:nvPr/>
        </p:nvSpPr>
        <p:spPr>
          <a:xfrm>
            <a:off x="578886" y="344424"/>
            <a:ext cx="1989875" cy="113245"/>
          </a:xfrm>
          <a:prstGeom prst="rect">
            <a:avLst/>
          </a:prstGeom>
          <a:solidFill>
            <a:srgbClr val="EEEEEE"/>
          </a:solidFill>
          <a:ln/>
        </p:spPr>
      </p:sp>
      <p:sp>
        <p:nvSpPr>
          <p:cNvPr id="4" name="Text 2"/>
          <p:cNvSpPr txBox="1"/>
          <p:nvPr/>
        </p:nvSpPr>
        <p:spPr>
          <a:xfrm>
            <a:off x="1425526" y="328246"/>
            <a:ext cx="296594" cy="129423"/>
          </a:xfrm>
          <a:prstGeom prst="rect">
            <a:avLst/>
          </a:prstGeom>
          <a:noFill/>
          <a:ln/>
        </p:spPr>
        <p:txBody>
          <a:bodyPr wrap="square" lIns="12700" tIns="12700" rIns="12700" bIns="12700" rtlCol="0" anchor="ctr"/>
          <a:lstStyle/>
          <a:p>
            <a:pPr algn="ctr" indent="0" marL="0">
              <a:lnSpc>
                <a:spcPct val="95000"/>
              </a:lnSpc>
              <a:buNone/>
            </a:pPr>
            <a:r>
              <a:rPr lang="en-US" sz="500" b="1" dirty="0">
                <a:solidFill>
                  <a:srgbClr val="333333"/>
                </a:solidFill>
                <a:latin typeface="Arial" pitchFamily="34" charset="0"/>
                <a:ea typeface="Arial" pitchFamily="34" charset="-122"/>
                <a:cs typeface="Arial" pitchFamily="34" charset="-120"/>
              </a:rPr>
              <a:t>9:41</a:t>
            </a:r>
            <a:endParaRPr lang="en-US" sz="500" dirty="0"/>
          </a:p>
        </p:txBody>
      </p:sp>
      <p:sp>
        <p:nvSpPr>
          <p:cNvPr id="5" name="Shape 3"/>
          <p:cNvSpPr/>
          <p:nvPr/>
        </p:nvSpPr>
        <p:spPr>
          <a:xfrm>
            <a:off x="648990" y="500810"/>
            <a:ext cx="215705" cy="215705"/>
          </a:xfrm>
          <a:prstGeom prst="rect">
            <a:avLst/>
          </a:prstGeom>
          <a:solidFill>
            <a:srgbClr val="FFFFFF"/>
          </a:solidFill>
          <a:ln w="6350">
            <a:solidFill>
              <a:srgbClr val="999999"/>
            </a:solidFill>
            <a:prstDash val="solid"/>
          </a:ln>
        </p:spPr>
      </p:sp>
      <p:sp>
        <p:nvSpPr>
          <p:cNvPr id="6" name="Shape 4"/>
          <p:cNvSpPr/>
          <p:nvPr/>
        </p:nvSpPr>
        <p:spPr>
          <a:xfrm>
            <a:off x="648990" y="500810"/>
            <a:ext cx="215705" cy="215705"/>
          </a:xfrm>
          <a:prstGeom prst="line">
            <a:avLst/>
          </a:prstGeom>
          <a:noFill/>
          <a:ln w="6350">
            <a:solidFill>
              <a:srgbClr val="999999"/>
            </a:solidFill>
            <a:prstDash val="solid"/>
          </a:ln>
        </p:spPr>
      </p:sp>
      <p:sp>
        <p:nvSpPr>
          <p:cNvPr id="7" name="Shape 5"/>
          <p:cNvSpPr/>
          <p:nvPr/>
        </p:nvSpPr>
        <p:spPr>
          <a:xfrm flipV="1">
            <a:off x="648990" y="500810"/>
            <a:ext cx="215705" cy="215705"/>
          </a:xfrm>
          <a:prstGeom prst="line">
            <a:avLst/>
          </a:prstGeom>
          <a:noFill/>
          <a:ln w="6350">
            <a:solidFill>
              <a:srgbClr val="999999"/>
            </a:solidFill>
            <a:prstDash val="solid"/>
          </a:ln>
        </p:spPr>
      </p:sp>
      <p:sp>
        <p:nvSpPr>
          <p:cNvPr id="8" name="Text 6"/>
          <p:cNvSpPr txBox="1"/>
          <p:nvPr/>
        </p:nvSpPr>
        <p:spPr>
          <a:xfrm>
            <a:off x="907835" y="522380"/>
            <a:ext cx="916745" cy="172564"/>
          </a:xfrm>
          <a:prstGeom prst="rect">
            <a:avLst/>
          </a:prstGeom>
          <a:noFill/>
          <a:ln/>
        </p:spPr>
        <p:txBody>
          <a:bodyPr wrap="square" lIns="12700" tIns="12700" rIns="12700" bIns="12700" rtlCol="0" anchor="ctr"/>
          <a:lstStyle/>
          <a:p>
            <a:pPr algn="l" indent="0" marL="0">
              <a:lnSpc>
                <a:spcPct val="95000"/>
              </a:lnSpc>
              <a:buNone/>
            </a:pPr>
            <a:r>
              <a:rPr lang="en-US" sz="750" b="1" dirty="0">
                <a:solidFill>
                  <a:srgbClr val="333333"/>
                </a:solidFill>
                <a:latin typeface="Arial" pitchFamily="34" charset="0"/>
                <a:ea typeface="Arial" pitchFamily="34" charset="-122"/>
                <a:cs typeface="Arial" pitchFamily="34" charset="-120"/>
              </a:rPr>
              <a:t>Harbourside</a:t>
            </a:r>
            <a:endParaRPr lang="en-US" sz="750" dirty="0"/>
          </a:p>
        </p:txBody>
      </p:sp>
      <p:sp>
        <p:nvSpPr>
          <p:cNvPr id="9" name="Shape 7"/>
          <p:cNvSpPr/>
          <p:nvPr/>
        </p:nvSpPr>
        <p:spPr>
          <a:xfrm>
            <a:off x="1883898" y="511595"/>
            <a:ext cx="377483" cy="194134"/>
          </a:xfrm>
          <a:prstGeom prst="roundRect">
            <a:avLst>
              <a:gd name="adj" fmla="val 15000"/>
            </a:avLst>
          </a:prstGeom>
          <a:solidFill>
            <a:srgbClr val="FFFFFF"/>
          </a:solidFill>
          <a:ln w="6350">
            <a:solidFill>
              <a:srgbClr val="555555"/>
            </a:solidFill>
            <a:prstDash val="solid"/>
          </a:ln>
        </p:spPr>
      </p:sp>
      <p:sp>
        <p:nvSpPr>
          <p:cNvPr id="10" name="Text 8"/>
          <p:cNvSpPr txBox="1"/>
          <p:nvPr/>
        </p:nvSpPr>
        <p:spPr>
          <a:xfrm>
            <a:off x="1883898" y="511595"/>
            <a:ext cx="377483" cy="194134"/>
          </a:xfrm>
          <a:prstGeom prst="rect">
            <a:avLst/>
          </a:prstGeom>
          <a:noFill/>
          <a:ln/>
        </p:spPr>
        <p:txBody>
          <a:bodyPr wrap="square" lIns="12700" tIns="12700" rIns="12700" bIns="12700" rtlCol="0" anchor="ctr"/>
          <a:lstStyle/>
          <a:p>
            <a:pPr algn="ctr" indent="0" marL="0">
              <a:lnSpc>
                <a:spcPct val="95000"/>
              </a:lnSpc>
              <a:buNone/>
            </a:pPr>
            <a:r>
              <a:rPr lang="en-US" sz="500" b="1" dirty="0">
                <a:solidFill>
                  <a:srgbClr val="333333"/>
                </a:solidFill>
                <a:latin typeface="Arial" pitchFamily="34" charset="0"/>
                <a:ea typeface="Arial" pitchFamily="34" charset="-122"/>
                <a:cs typeface="Arial" pitchFamily="34" charset="-120"/>
              </a:rPr>
              <a:t>Cart (3)</a:t>
            </a:r>
            <a:endParaRPr lang="en-US" sz="500" dirty="0"/>
          </a:p>
        </p:txBody>
      </p:sp>
      <p:sp>
        <p:nvSpPr>
          <p:cNvPr id="11" name="Shape 9"/>
          <p:cNvSpPr/>
          <p:nvPr/>
        </p:nvSpPr>
        <p:spPr>
          <a:xfrm>
            <a:off x="2304522" y="511595"/>
            <a:ext cx="215705" cy="194134"/>
          </a:xfrm>
          <a:prstGeom prst="roundRect">
            <a:avLst>
              <a:gd name="adj" fmla="val 15000"/>
            </a:avLst>
          </a:prstGeom>
          <a:solidFill>
            <a:srgbClr val="FFFFFF"/>
          </a:solidFill>
          <a:ln w="6350">
            <a:solidFill>
              <a:srgbClr val="555555"/>
            </a:solidFill>
            <a:prstDash val="solid"/>
          </a:ln>
        </p:spPr>
      </p:sp>
      <p:sp>
        <p:nvSpPr>
          <p:cNvPr id="12" name="Text 10"/>
          <p:cNvSpPr txBox="1"/>
          <p:nvPr/>
        </p:nvSpPr>
        <p:spPr>
          <a:xfrm>
            <a:off x="2304522" y="511595"/>
            <a:ext cx="215705" cy="194134"/>
          </a:xfrm>
          <a:prstGeom prst="rect">
            <a:avLst/>
          </a:prstGeom>
          <a:noFill/>
          <a:ln/>
        </p:spPr>
        <p:txBody>
          <a:bodyPr wrap="square" lIns="12700" tIns="12700" rIns="12700" bIns="12700" rtlCol="0" anchor="ctr"/>
          <a:lstStyle/>
          <a:p>
            <a:pPr algn="ctr" indent="0" marL="0">
              <a:lnSpc>
                <a:spcPct val="95000"/>
              </a:lnSpc>
              <a:buNone/>
            </a:pPr>
            <a:r>
              <a:rPr lang="en-US" sz="750" b="1" dirty="0">
                <a:solidFill>
                  <a:srgbClr val="333333"/>
                </a:solidFill>
                <a:latin typeface="Arial" pitchFamily="34" charset="0"/>
                <a:ea typeface="Arial" pitchFamily="34" charset="-122"/>
                <a:cs typeface="Arial" pitchFamily="34" charset="-120"/>
              </a:rPr>
              <a:t>☰</a:t>
            </a:r>
            <a:endParaRPr lang="en-US" sz="750" dirty="0"/>
          </a:p>
        </p:txBody>
      </p:sp>
      <p:sp>
        <p:nvSpPr>
          <p:cNvPr id="13" name="Shape 11"/>
          <p:cNvSpPr/>
          <p:nvPr/>
        </p:nvSpPr>
        <p:spPr>
          <a:xfrm>
            <a:off x="562708" y="781226"/>
            <a:ext cx="2022231" cy="5393"/>
          </a:xfrm>
          <a:prstGeom prst="rect">
            <a:avLst/>
          </a:prstGeom>
          <a:solidFill>
            <a:srgbClr val="BBBBBB"/>
          </a:solidFill>
          <a:ln/>
        </p:spPr>
      </p:sp>
      <p:sp>
        <p:nvSpPr>
          <p:cNvPr id="14" name="Shape 12"/>
          <p:cNvSpPr/>
          <p:nvPr/>
        </p:nvSpPr>
        <p:spPr>
          <a:xfrm>
            <a:off x="584278" y="479239"/>
            <a:ext cx="1979090" cy="280416"/>
          </a:xfrm>
          <a:prstGeom prst="rect">
            <a:avLst/>
          </a:prstGeom>
          <a:ln w="10785">
            <a:solidFill>
              <a:srgbClr val="1E88E5"/>
            </a:solidFill>
            <a:prstDash val="dash"/>
          </a:ln>
        </p:spPr>
      </p:sp>
      <p:sp>
        <p:nvSpPr>
          <p:cNvPr id="15" name="Shape 13"/>
          <p:cNvSpPr/>
          <p:nvPr/>
        </p:nvSpPr>
        <p:spPr>
          <a:xfrm>
            <a:off x="584278" y="371387"/>
            <a:ext cx="420624" cy="107852"/>
          </a:xfrm>
          <a:prstGeom prst="rect">
            <a:avLst/>
          </a:prstGeom>
          <a:solidFill>
            <a:srgbClr val="1E88E5"/>
          </a:solidFill>
          <a:ln/>
        </p:spPr>
      </p:sp>
      <p:sp>
        <p:nvSpPr>
          <p:cNvPr id="16" name="Text 14"/>
          <p:cNvSpPr txBox="1"/>
          <p:nvPr/>
        </p:nvSpPr>
        <p:spPr>
          <a:xfrm>
            <a:off x="584278" y="371387"/>
            <a:ext cx="420624" cy="107852"/>
          </a:xfrm>
          <a:prstGeom prst="rect">
            <a:avLst/>
          </a:prstGeom>
          <a:noFill/>
          <a:ln/>
        </p:spPr>
        <p:txBody>
          <a:bodyPr wrap="square" lIns="12700" tIns="12700" rIns="12700" bIns="12700" rtlCol="0" anchor="ctr"/>
          <a:lstStyle/>
          <a:p>
            <a:pPr algn="ctr" indent="0" marL="0">
              <a:lnSpc>
                <a:spcPct val="95000"/>
              </a:lnSpc>
              <a:buNone/>
            </a:pPr>
            <a:r>
              <a:rPr lang="en-US" sz="500" b="1" dirty="0">
                <a:solidFill>
                  <a:srgbClr val="FFFFFF"/>
                </a:solidFill>
                <a:latin typeface="Courier New" pitchFamily="34" charset="0"/>
                <a:ea typeface="Courier New" pitchFamily="34" charset="-122"/>
                <a:cs typeface="Courier New" pitchFamily="34" charset="-120"/>
              </a:rPr>
              <a:t>&lt;header&gt;</a:t>
            </a:r>
            <a:endParaRPr lang="en-US" sz="500" dirty="0"/>
          </a:p>
        </p:txBody>
      </p:sp>
      <p:sp>
        <p:nvSpPr>
          <p:cNvPr id="17" name="Shape 15"/>
          <p:cNvSpPr/>
          <p:nvPr/>
        </p:nvSpPr>
        <p:spPr>
          <a:xfrm>
            <a:off x="648990" y="845937"/>
            <a:ext cx="1849667" cy="754966"/>
          </a:xfrm>
          <a:prstGeom prst="rect">
            <a:avLst/>
          </a:prstGeom>
          <a:solidFill>
            <a:srgbClr val="F5F5F5"/>
          </a:solidFill>
          <a:ln w="6350">
            <a:solidFill>
              <a:srgbClr val="BBBBBB"/>
            </a:solidFill>
            <a:prstDash val="solid"/>
          </a:ln>
        </p:spPr>
      </p:sp>
      <p:sp>
        <p:nvSpPr>
          <p:cNvPr id="18" name="Text 16"/>
          <p:cNvSpPr txBox="1"/>
          <p:nvPr/>
        </p:nvSpPr>
        <p:spPr>
          <a:xfrm>
            <a:off x="713701" y="889078"/>
            <a:ext cx="1725637" cy="150993"/>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Order for pickup or delivery</a:t>
            </a:r>
            <a:endParaRPr lang="en-US" sz="700" dirty="0"/>
          </a:p>
        </p:txBody>
      </p:sp>
      <p:sp>
        <p:nvSpPr>
          <p:cNvPr id="19" name="Shape 17"/>
          <p:cNvSpPr/>
          <p:nvPr/>
        </p:nvSpPr>
        <p:spPr>
          <a:xfrm>
            <a:off x="713701" y="1072427"/>
            <a:ext cx="846641" cy="215705"/>
          </a:xfrm>
          <a:prstGeom prst="roundRect">
            <a:avLst>
              <a:gd name="adj" fmla="val 15000"/>
            </a:avLst>
          </a:prstGeom>
          <a:solidFill>
            <a:srgbClr val="555555"/>
          </a:solidFill>
          <a:ln w="6350">
            <a:solidFill>
              <a:srgbClr val="555555"/>
            </a:solidFill>
            <a:prstDash val="solid"/>
          </a:ln>
        </p:spPr>
      </p:sp>
      <p:sp>
        <p:nvSpPr>
          <p:cNvPr id="20" name="Text 18"/>
          <p:cNvSpPr txBox="1"/>
          <p:nvPr/>
        </p:nvSpPr>
        <p:spPr>
          <a:xfrm>
            <a:off x="713701" y="1072427"/>
            <a:ext cx="846641" cy="215705"/>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Pickup</a:t>
            </a:r>
            <a:endParaRPr lang="en-US" sz="600" dirty="0"/>
          </a:p>
        </p:txBody>
      </p:sp>
      <p:sp>
        <p:nvSpPr>
          <p:cNvPr id="21" name="Shape 19"/>
          <p:cNvSpPr/>
          <p:nvPr/>
        </p:nvSpPr>
        <p:spPr>
          <a:xfrm>
            <a:off x="1560342" y="1072427"/>
            <a:ext cx="846641" cy="215705"/>
          </a:xfrm>
          <a:prstGeom prst="roundRect">
            <a:avLst>
              <a:gd name="adj" fmla="val 15000"/>
            </a:avLst>
          </a:prstGeom>
          <a:solidFill>
            <a:srgbClr val="FFFFFF"/>
          </a:solidFill>
          <a:ln w="6350">
            <a:solidFill>
              <a:srgbClr val="555555"/>
            </a:solidFill>
            <a:prstDash val="solid"/>
          </a:ln>
        </p:spPr>
      </p:sp>
      <p:sp>
        <p:nvSpPr>
          <p:cNvPr id="22" name="Text 20"/>
          <p:cNvSpPr txBox="1"/>
          <p:nvPr/>
        </p:nvSpPr>
        <p:spPr>
          <a:xfrm>
            <a:off x="1560342" y="1072427"/>
            <a:ext cx="846641" cy="215705"/>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Delivery</a:t>
            </a:r>
            <a:endParaRPr lang="en-US" sz="600" dirty="0"/>
          </a:p>
        </p:txBody>
      </p:sp>
      <p:sp>
        <p:nvSpPr>
          <p:cNvPr id="23" name="Shape 21"/>
          <p:cNvSpPr/>
          <p:nvPr/>
        </p:nvSpPr>
        <p:spPr>
          <a:xfrm>
            <a:off x="713701" y="1331273"/>
            <a:ext cx="1693281" cy="215705"/>
          </a:xfrm>
          <a:prstGeom prst="roundRect">
            <a:avLst>
              <a:gd name="adj" fmla="val 15000"/>
            </a:avLst>
          </a:prstGeom>
          <a:solidFill>
            <a:srgbClr val="FFFFFF"/>
          </a:solidFill>
          <a:ln w="6350">
            <a:solidFill>
              <a:srgbClr val="555555"/>
            </a:solidFill>
            <a:prstDash val="solid"/>
          </a:ln>
        </p:spPr>
      </p:sp>
      <p:sp>
        <p:nvSpPr>
          <p:cNvPr id="24" name="Text 22"/>
          <p:cNvSpPr txBox="1"/>
          <p:nvPr/>
        </p:nvSpPr>
        <p:spPr>
          <a:xfrm>
            <a:off x="713701" y="1331273"/>
            <a:ext cx="1693281" cy="215705"/>
          </a:xfrm>
          <a:prstGeom prst="rect">
            <a:avLst/>
          </a:prstGeom>
          <a:noFill/>
          <a:ln/>
        </p:spPr>
        <p:txBody>
          <a:bodyPr wrap="square" lIns="12700" tIns="635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Pickup time: ASAP                     ▾</a:t>
            </a:r>
            <a:endParaRPr lang="en-US" sz="600" dirty="0"/>
          </a:p>
        </p:txBody>
      </p:sp>
      <p:sp>
        <p:nvSpPr>
          <p:cNvPr id="25" name="Shape 23"/>
          <p:cNvSpPr/>
          <p:nvPr/>
        </p:nvSpPr>
        <p:spPr>
          <a:xfrm>
            <a:off x="648990" y="1687185"/>
            <a:ext cx="485335" cy="215705"/>
          </a:xfrm>
          <a:prstGeom prst="roundRect">
            <a:avLst>
              <a:gd name="adj" fmla="val 15000"/>
            </a:avLst>
          </a:prstGeom>
          <a:solidFill>
            <a:srgbClr val="555555"/>
          </a:solidFill>
          <a:ln w="6350">
            <a:solidFill>
              <a:srgbClr val="555555"/>
            </a:solidFill>
            <a:prstDash val="solid"/>
          </a:ln>
        </p:spPr>
      </p:sp>
      <p:sp>
        <p:nvSpPr>
          <p:cNvPr id="26" name="Text 24"/>
          <p:cNvSpPr txBox="1"/>
          <p:nvPr/>
        </p:nvSpPr>
        <p:spPr>
          <a:xfrm>
            <a:off x="648990" y="1687185"/>
            <a:ext cx="485335" cy="215705"/>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FFFFFF"/>
                </a:solidFill>
                <a:latin typeface="Arial" pitchFamily="34" charset="0"/>
                <a:ea typeface="Arial" pitchFamily="34" charset="-122"/>
                <a:cs typeface="Arial" pitchFamily="34" charset="-120"/>
              </a:rPr>
              <a:t>Fish</a:t>
            </a:r>
            <a:endParaRPr lang="en-US" sz="600" dirty="0"/>
          </a:p>
        </p:txBody>
      </p:sp>
      <p:sp>
        <p:nvSpPr>
          <p:cNvPr id="27" name="Shape 25"/>
          <p:cNvSpPr/>
          <p:nvPr/>
        </p:nvSpPr>
        <p:spPr>
          <a:xfrm>
            <a:off x="1177466" y="1687185"/>
            <a:ext cx="485335" cy="215705"/>
          </a:xfrm>
          <a:prstGeom prst="roundRect">
            <a:avLst>
              <a:gd name="adj" fmla="val 15000"/>
            </a:avLst>
          </a:prstGeom>
          <a:solidFill>
            <a:srgbClr val="FFFFFF"/>
          </a:solidFill>
          <a:ln w="6350">
            <a:solidFill>
              <a:srgbClr val="555555"/>
            </a:solidFill>
            <a:prstDash val="solid"/>
          </a:ln>
        </p:spPr>
      </p:sp>
      <p:sp>
        <p:nvSpPr>
          <p:cNvPr id="28" name="Text 26"/>
          <p:cNvSpPr txBox="1"/>
          <p:nvPr/>
        </p:nvSpPr>
        <p:spPr>
          <a:xfrm>
            <a:off x="1177466" y="1687185"/>
            <a:ext cx="485335" cy="215705"/>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Combos</a:t>
            </a:r>
            <a:endParaRPr lang="en-US" sz="600" dirty="0"/>
          </a:p>
        </p:txBody>
      </p:sp>
      <p:sp>
        <p:nvSpPr>
          <p:cNvPr id="29" name="Shape 27"/>
          <p:cNvSpPr/>
          <p:nvPr/>
        </p:nvSpPr>
        <p:spPr>
          <a:xfrm>
            <a:off x="1705942" y="1687185"/>
            <a:ext cx="485335" cy="215705"/>
          </a:xfrm>
          <a:prstGeom prst="roundRect">
            <a:avLst>
              <a:gd name="adj" fmla="val 15000"/>
            </a:avLst>
          </a:prstGeom>
          <a:solidFill>
            <a:srgbClr val="FFFFFF"/>
          </a:solidFill>
          <a:ln w="6350">
            <a:solidFill>
              <a:srgbClr val="555555"/>
            </a:solidFill>
            <a:prstDash val="solid"/>
          </a:ln>
        </p:spPr>
      </p:sp>
      <p:sp>
        <p:nvSpPr>
          <p:cNvPr id="30" name="Text 28"/>
          <p:cNvSpPr txBox="1"/>
          <p:nvPr/>
        </p:nvSpPr>
        <p:spPr>
          <a:xfrm>
            <a:off x="1705942" y="1687185"/>
            <a:ext cx="485335" cy="215705"/>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Sides</a:t>
            </a:r>
            <a:endParaRPr lang="en-US" sz="600" dirty="0"/>
          </a:p>
        </p:txBody>
      </p:sp>
      <p:sp>
        <p:nvSpPr>
          <p:cNvPr id="31" name="Shape 29"/>
          <p:cNvSpPr/>
          <p:nvPr/>
        </p:nvSpPr>
        <p:spPr>
          <a:xfrm>
            <a:off x="2234418" y="1687185"/>
            <a:ext cx="485335" cy="215705"/>
          </a:xfrm>
          <a:prstGeom prst="roundRect">
            <a:avLst>
              <a:gd name="adj" fmla="val 15000"/>
            </a:avLst>
          </a:prstGeom>
          <a:solidFill>
            <a:srgbClr val="FFFFFF"/>
          </a:solidFill>
          <a:ln w="6350">
            <a:solidFill>
              <a:srgbClr val="555555"/>
            </a:solidFill>
            <a:prstDash val="solid"/>
          </a:ln>
        </p:spPr>
      </p:sp>
      <p:sp>
        <p:nvSpPr>
          <p:cNvPr id="32" name="Text 30"/>
          <p:cNvSpPr txBox="1"/>
          <p:nvPr/>
        </p:nvSpPr>
        <p:spPr>
          <a:xfrm>
            <a:off x="2234418" y="1687185"/>
            <a:ext cx="485335" cy="215705"/>
          </a:xfrm>
          <a:prstGeom prst="rect">
            <a:avLst/>
          </a:prstGeom>
          <a:noFill/>
          <a:ln/>
        </p:spPr>
        <p:txBody>
          <a:bodyPr wrap="square" lIns="12700" tIns="12700" rIns="12700" bIns="12700" rtlCol="0" anchor="ctr"/>
          <a:lstStyle/>
          <a:p>
            <a:pPr algn="ctr" indent="0" marL="0">
              <a:lnSpc>
                <a:spcPct val="95000"/>
              </a:lnSpc>
              <a:buNone/>
            </a:pPr>
            <a:r>
              <a:rPr lang="en-US" sz="600" b="1" dirty="0">
                <a:solidFill>
                  <a:srgbClr val="333333"/>
                </a:solidFill>
                <a:latin typeface="Arial" pitchFamily="34" charset="0"/>
                <a:ea typeface="Arial" pitchFamily="34" charset="-122"/>
                <a:cs typeface="Arial" pitchFamily="34" charset="-120"/>
              </a:rPr>
              <a:t>Drinks</a:t>
            </a:r>
            <a:endParaRPr lang="en-US" sz="600" dirty="0"/>
          </a:p>
        </p:txBody>
      </p:sp>
      <p:sp>
        <p:nvSpPr>
          <p:cNvPr id="33" name="Text 31"/>
          <p:cNvSpPr txBox="1"/>
          <p:nvPr/>
        </p:nvSpPr>
        <p:spPr>
          <a:xfrm>
            <a:off x="648990" y="1978386"/>
            <a:ext cx="1078523" cy="150993"/>
          </a:xfrm>
          <a:prstGeom prst="rect">
            <a:avLst/>
          </a:prstGeom>
          <a:noFill/>
          <a:ln/>
        </p:spPr>
        <p:txBody>
          <a:bodyPr wrap="square" lIns="12700" tIns="12700" rIns="12700" bIns="12700" rtlCol="0" anchor="ctr"/>
          <a:lstStyle/>
          <a:p>
            <a:pPr algn="l" indent="0" marL="0">
              <a:lnSpc>
                <a:spcPct val="95000"/>
              </a:lnSpc>
              <a:buNone/>
            </a:pPr>
            <a:r>
              <a:rPr lang="en-US" sz="850" b="1" dirty="0">
                <a:solidFill>
                  <a:srgbClr val="333333"/>
                </a:solidFill>
                <a:latin typeface="Arial" pitchFamily="34" charset="0"/>
                <a:ea typeface="Arial" pitchFamily="34" charset="-122"/>
                <a:cs typeface="Arial" pitchFamily="34" charset="-120"/>
              </a:rPr>
              <a:t>Fish</a:t>
            </a:r>
            <a:endParaRPr lang="en-US" sz="850" dirty="0"/>
          </a:p>
        </p:txBody>
      </p:sp>
      <p:sp>
        <p:nvSpPr>
          <p:cNvPr id="34" name="Shape 32"/>
          <p:cNvSpPr/>
          <p:nvPr/>
        </p:nvSpPr>
        <p:spPr>
          <a:xfrm>
            <a:off x="648990" y="2226447"/>
            <a:ext cx="431409" cy="431409"/>
          </a:xfrm>
          <a:prstGeom prst="rect">
            <a:avLst/>
          </a:prstGeom>
          <a:solidFill>
            <a:srgbClr val="FFFFFF"/>
          </a:solidFill>
          <a:ln w="6350">
            <a:solidFill>
              <a:srgbClr val="999999"/>
            </a:solidFill>
            <a:prstDash val="solid"/>
          </a:ln>
        </p:spPr>
      </p:sp>
      <p:sp>
        <p:nvSpPr>
          <p:cNvPr id="35" name="Shape 33"/>
          <p:cNvSpPr/>
          <p:nvPr/>
        </p:nvSpPr>
        <p:spPr>
          <a:xfrm>
            <a:off x="648990" y="2226447"/>
            <a:ext cx="431409" cy="431409"/>
          </a:xfrm>
          <a:prstGeom prst="line">
            <a:avLst/>
          </a:prstGeom>
          <a:noFill/>
          <a:ln w="6350">
            <a:solidFill>
              <a:srgbClr val="999999"/>
            </a:solidFill>
            <a:prstDash val="solid"/>
          </a:ln>
        </p:spPr>
      </p:sp>
      <p:sp>
        <p:nvSpPr>
          <p:cNvPr id="36" name="Shape 34"/>
          <p:cNvSpPr/>
          <p:nvPr/>
        </p:nvSpPr>
        <p:spPr>
          <a:xfrm flipV="1">
            <a:off x="648990" y="2226447"/>
            <a:ext cx="431409" cy="431409"/>
          </a:xfrm>
          <a:prstGeom prst="line">
            <a:avLst/>
          </a:prstGeom>
          <a:noFill/>
          <a:ln w="6350">
            <a:solidFill>
              <a:srgbClr val="999999"/>
            </a:solidFill>
            <a:prstDash val="solid"/>
          </a:ln>
        </p:spPr>
      </p:sp>
      <p:sp>
        <p:nvSpPr>
          <p:cNvPr id="37" name="Text 35"/>
          <p:cNvSpPr txBox="1"/>
          <p:nvPr/>
        </p:nvSpPr>
        <p:spPr>
          <a:xfrm>
            <a:off x="1145110" y="2226447"/>
            <a:ext cx="1024597" cy="118638"/>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Haddock &amp; Chips (1 pc)</a:t>
            </a:r>
            <a:endParaRPr lang="en-US" sz="650" dirty="0"/>
          </a:p>
        </p:txBody>
      </p:sp>
      <p:sp>
        <p:nvSpPr>
          <p:cNvPr id="38" name="Shape 36"/>
          <p:cNvSpPr/>
          <p:nvPr/>
        </p:nvSpPr>
        <p:spPr>
          <a:xfrm>
            <a:off x="1145110" y="2388225"/>
            <a:ext cx="970671" cy="43141"/>
          </a:xfrm>
          <a:prstGeom prst="rect">
            <a:avLst/>
          </a:prstGeom>
          <a:solidFill>
            <a:srgbClr val="DDDDDD"/>
          </a:solidFill>
          <a:ln/>
        </p:spPr>
      </p:sp>
      <p:sp>
        <p:nvSpPr>
          <p:cNvPr id="39" name="Text 37"/>
          <p:cNvSpPr txBox="1"/>
          <p:nvPr/>
        </p:nvSpPr>
        <p:spPr>
          <a:xfrm>
            <a:off x="1145110" y="2485292"/>
            <a:ext cx="539262" cy="140208"/>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$14.99</a:t>
            </a:r>
            <a:endParaRPr lang="en-US" sz="650" dirty="0"/>
          </a:p>
        </p:txBody>
      </p:sp>
      <p:sp>
        <p:nvSpPr>
          <p:cNvPr id="40" name="Shape 38"/>
          <p:cNvSpPr/>
          <p:nvPr/>
        </p:nvSpPr>
        <p:spPr>
          <a:xfrm>
            <a:off x="2239811" y="2452937"/>
            <a:ext cx="258846" cy="215705"/>
          </a:xfrm>
          <a:prstGeom prst="roundRect">
            <a:avLst>
              <a:gd name="adj" fmla="val 15000"/>
            </a:avLst>
          </a:prstGeom>
          <a:solidFill>
            <a:srgbClr val="555555"/>
          </a:solidFill>
          <a:ln w="6350">
            <a:solidFill>
              <a:srgbClr val="555555"/>
            </a:solidFill>
            <a:prstDash val="solid"/>
          </a:ln>
        </p:spPr>
      </p:sp>
      <p:sp>
        <p:nvSpPr>
          <p:cNvPr id="41" name="Text 39"/>
          <p:cNvSpPr txBox="1"/>
          <p:nvPr/>
        </p:nvSpPr>
        <p:spPr>
          <a:xfrm>
            <a:off x="2239811" y="2452937"/>
            <a:ext cx="258846" cy="215705"/>
          </a:xfrm>
          <a:prstGeom prst="rect">
            <a:avLst/>
          </a:prstGeom>
          <a:noFill/>
          <a:ln/>
        </p:spPr>
        <p:txBody>
          <a:bodyPr wrap="square" lIns="12700" tIns="12700" rIns="12700" bIns="12700" rtlCol="0" anchor="ctr"/>
          <a:lstStyle/>
          <a:p>
            <a:pPr algn="ctr" indent="0" marL="0">
              <a:lnSpc>
                <a:spcPct val="95000"/>
              </a:lnSpc>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42" name="Shape 40"/>
          <p:cNvSpPr/>
          <p:nvPr/>
        </p:nvSpPr>
        <p:spPr>
          <a:xfrm>
            <a:off x="648990" y="2722567"/>
            <a:ext cx="1849667" cy="5393"/>
          </a:xfrm>
          <a:prstGeom prst="rect">
            <a:avLst/>
          </a:prstGeom>
          <a:solidFill>
            <a:srgbClr val="BBBBBB"/>
          </a:solidFill>
          <a:ln/>
        </p:spPr>
      </p:sp>
      <p:sp>
        <p:nvSpPr>
          <p:cNvPr id="43" name="Shape 41"/>
          <p:cNvSpPr/>
          <p:nvPr/>
        </p:nvSpPr>
        <p:spPr>
          <a:xfrm>
            <a:off x="648990" y="2808849"/>
            <a:ext cx="431409" cy="431409"/>
          </a:xfrm>
          <a:prstGeom prst="rect">
            <a:avLst/>
          </a:prstGeom>
          <a:solidFill>
            <a:srgbClr val="FFFFFF"/>
          </a:solidFill>
          <a:ln w="6350">
            <a:solidFill>
              <a:srgbClr val="999999"/>
            </a:solidFill>
            <a:prstDash val="solid"/>
          </a:ln>
        </p:spPr>
      </p:sp>
      <p:sp>
        <p:nvSpPr>
          <p:cNvPr id="44" name="Shape 42"/>
          <p:cNvSpPr/>
          <p:nvPr/>
        </p:nvSpPr>
        <p:spPr>
          <a:xfrm>
            <a:off x="648990" y="2808849"/>
            <a:ext cx="431409" cy="431409"/>
          </a:xfrm>
          <a:prstGeom prst="line">
            <a:avLst/>
          </a:prstGeom>
          <a:noFill/>
          <a:ln w="6350">
            <a:solidFill>
              <a:srgbClr val="999999"/>
            </a:solidFill>
            <a:prstDash val="solid"/>
          </a:ln>
        </p:spPr>
      </p:sp>
      <p:sp>
        <p:nvSpPr>
          <p:cNvPr id="45" name="Shape 43"/>
          <p:cNvSpPr/>
          <p:nvPr/>
        </p:nvSpPr>
        <p:spPr>
          <a:xfrm flipV="1">
            <a:off x="648990" y="2808849"/>
            <a:ext cx="431409" cy="431409"/>
          </a:xfrm>
          <a:prstGeom prst="line">
            <a:avLst/>
          </a:prstGeom>
          <a:noFill/>
          <a:ln w="6350">
            <a:solidFill>
              <a:srgbClr val="999999"/>
            </a:solidFill>
            <a:prstDash val="solid"/>
          </a:ln>
        </p:spPr>
      </p:sp>
      <p:sp>
        <p:nvSpPr>
          <p:cNvPr id="46" name="Text 44"/>
          <p:cNvSpPr txBox="1"/>
          <p:nvPr/>
        </p:nvSpPr>
        <p:spPr>
          <a:xfrm>
            <a:off x="1145110" y="2808849"/>
            <a:ext cx="1024597" cy="118638"/>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Haddock &amp; Chips (2 pc)</a:t>
            </a:r>
            <a:endParaRPr lang="en-US" sz="650" dirty="0"/>
          </a:p>
        </p:txBody>
      </p:sp>
      <p:sp>
        <p:nvSpPr>
          <p:cNvPr id="47" name="Shape 45"/>
          <p:cNvSpPr/>
          <p:nvPr/>
        </p:nvSpPr>
        <p:spPr>
          <a:xfrm>
            <a:off x="1145110" y="2970628"/>
            <a:ext cx="970671" cy="43141"/>
          </a:xfrm>
          <a:prstGeom prst="rect">
            <a:avLst/>
          </a:prstGeom>
          <a:solidFill>
            <a:srgbClr val="DDDDDD"/>
          </a:solidFill>
          <a:ln/>
        </p:spPr>
      </p:sp>
      <p:sp>
        <p:nvSpPr>
          <p:cNvPr id="48" name="Text 46"/>
          <p:cNvSpPr txBox="1"/>
          <p:nvPr/>
        </p:nvSpPr>
        <p:spPr>
          <a:xfrm>
            <a:off x="1145110" y="3067695"/>
            <a:ext cx="539262" cy="140208"/>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$19.99</a:t>
            </a:r>
            <a:endParaRPr lang="en-US" sz="650" dirty="0"/>
          </a:p>
        </p:txBody>
      </p:sp>
      <p:sp>
        <p:nvSpPr>
          <p:cNvPr id="49" name="Shape 47"/>
          <p:cNvSpPr/>
          <p:nvPr/>
        </p:nvSpPr>
        <p:spPr>
          <a:xfrm>
            <a:off x="2239811" y="3035339"/>
            <a:ext cx="258846" cy="215705"/>
          </a:xfrm>
          <a:prstGeom prst="roundRect">
            <a:avLst>
              <a:gd name="adj" fmla="val 15000"/>
            </a:avLst>
          </a:prstGeom>
          <a:solidFill>
            <a:srgbClr val="555555"/>
          </a:solidFill>
          <a:ln w="6350">
            <a:solidFill>
              <a:srgbClr val="555555"/>
            </a:solidFill>
            <a:prstDash val="solid"/>
          </a:ln>
        </p:spPr>
      </p:sp>
      <p:sp>
        <p:nvSpPr>
          <p:cNvPr id="50" name="Text 48"/>
          <p:cNvSpPr txBox="1"/>
          <p:nvPr/>
        </p:nvSpPr>
        <p:spPr>
          <a:xfrm>
            <a:off x="2239811" y="3035339"/>
            <a:ext cx="258846" cy="215705"/>
          </a:xfrm>
          <a:prstGeom prst="rect">
            <a:avLst/>
          </a:prstGeom>
          <a:noFill/>
          <a:ln/>
        </p:spPr>
        <p:txBody>
          <a:bodyPr wrap="square" lIns="12700" tIns="12700" rIns="12700" bIns="12700" rtlCol="0" anchor="ctr"/>
          <a:lstStyle/>
          <a:p>
            <a:pPr algn="ctr" indent="0" marL="0">
              <a:lnSpc>
                <a:spcPct val="95000"/>
              </a:lnSpc>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51" name="Shape 49"/>
          <p:cNvSpPr/>
          <p:nvPr/>
        </p:nvSpPr>
        <p:spPr>
          <a:xfrm>
            <a:off x="648990" y="3304970"/>
            <a:ext cx="1849667" cy="5393"/>
          </a:xfrm>
          <a:prstGeom prst="rect">
            <a:avLst/>
          </a:prstGeom>
          <a:solidFill>
            <a:srgbClr val="BBBBBB"/>
          </a:solidFill>
          <a:ln/>
        </p:spPr>
      </p:sp>
      <p:sp>
        <p:nvSpPr>
          <p:cNvPr id="52" name="Shape 50"/>
          <p:cNvSpPr/>
          <p:nvPr/>
        </p:nvSpPr>
        <p:spPr>
          <a:xfrm>
            <a:off x="648990" y="3391252"/>
            <a:ext cx="431409" cy="431409"/>
          </a:xfrm>
          <a:prstGeom prst="rect">
            <a:avLst/>
          </a:prstGeom>
          <a:solidFill>
            <a:srgbClr val="FFFFFF"/>
          </a:solidFill>
          <a:ln w="6350">
            <a:solidFill>
              <a:srgbClr val="999999"/>
            </a:solidFill>
            <a:prstDash val="solid"/>
          </a:ln>
        </p:spPr>
      </p:sp>
      <p:sp>
        <p:nvSpPr>
          <p:cNvPr id="53" name="Shape 51"/>
          <p:cNvSpPr/>
          <p:nvPr/>
        </p:nvSpPr>
        <p:spPr>
          <a:xfrm>
            <a:off x="648990" y="3391252"/>
            <a:ext cx="431409" cy="431409"/>
          </a:xfrm>
          <a:prstGeom prst="line">
            <a:avLst/>
          </a:prstGeom>
          <a:noFill/>
          <a:ln w="6350">
            <a:solidFill>
              <a:srgbClr val="999999"/>
            </a:solidFill>
            <a:prstDash val="solid"/>
          </a:ln>
        </p:spPr>
      </p:sp>
      <p:sp>
        <p:nvSpPr>
          <p:cNvPr id="54" name="Shape 52"/>
          <p:cNvSpPr/>
          <p:nvPr/>
        </p:nvSpPr>
        <p:spPr>
          <a:xfrm flipV="1">
            <a:off x="648990" y="3391252"/>
            <a:ext cx="431409" cy="431409"/>
          </a:xfrm>
          <a:prstGeom prst="line">
            <a:avLst/>
          </a:prstGeom>
          <a:noFill/>
          <a:ln w="6350">
            <a:solidFill>
              <a:srgbClr val="999999"/>
            </a:solidFill>
            <a:prstDash val="solid"/>
          </a:ln>
        </p:spPr>
      </p:sp>
      <p:sp>
        <p:nvSpPr>
          <p:cNvPr id="55" name="Text 53"/>
          <p:cNvSpPr txBox="1"/>
          <p:nvPr/>
        </p:nvSpPr>
        <p:spPr>
          <a:xfrm>
            <a:off x="1145110" y="3391252"/>
            <a:ext cx="1024597" cy="118638"/>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Fish Tacos (2)</a:t>
            </a:r>
            <a:endParaRPr lang="en-US" sz="650" dirty="0"/>
          </a:p>
        </p:txBody>
      </p:sp>
      <p:sp>
        <p:nvSpPr>
          <p:cNvPr id="56" name="Shape 54"/>
          <p:cNvSpPr/>
          <p:nvPr/>
        </p:nvSpPr>
        <p:spPr>
          <a:xfrm>
            <a:off x="1145110" y="3553030"/>
            <a:ext cx="970671" cy="43141"/>
          </a:xfrm>
          <a:prstGeom prst="rect">
            <a:avLst/>
          </a:prstGeom>
          <a:solidFill>
            <a:srgbClr val="DDDDDD"/>
          </a:solidFill>
          <a:ln/>
        </p:spPr>
      </p:sp>
      <p:sp>
        <p:nvSpPr>
          <p:cNvPr id="57" name="Text 55"/>
          <p:cNvSpPr txBox="1"/>
          <p:nvPr/>
        </p:nvSpPr>
        <p:spPr>
          <a:xfrm>
            <a:off x="1145110" y="3650097"/>
            <a:ext cx="539262" cy="140208"/>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$13.49</a:t>
            </a:r>
            <a:endParaRPr lang="en-US" sz="650" dirty="0"/>
          </a:p>
        </p:txBody>
      </p:sp>
      <p:sp>
        <p:nvSpPr>
          <p:cNvPr id="58" name="Shape 56"/>
          <p:cNvSpPr/>
          <p:nvPr/>
        </p:nvSpPr>
        <p:spPr>
          <a:xfrm>
            <a:off x="2239811" y="3617742"/>
            <a:ext cx="258846" cy="215705"/>
          </a:xfrm>
          <a:prstGeom prst="roundRect">
            <a:avLst>
              <a:gd name="adj" fmla="val 15000"/>
            </a:avLst>
          </a:prstGeom>
          <a:solidFill>
            <a:srgbClr val="555555"/>
          </a:solidFill>
          <a:ln w="6350">
            <a:solidFill>
              <a:srgbClr val="555555"/>
            </a:solidFill>
            <a:prstDash val="solid"/>
          </a:ln>
        </p:spPr>
      </p:sp>
      <p:sp>
        <p:nvSpPr>
          <p:cNvPr id="59" name="Text 57"/>
          <p:cNvSpPr txBox="1"/>
          <p:nvPr/>
        </p:nvSpPr>
        <p:spPr>
          <a:xfrm>
            <a:off x="2239811" y="3617742"/>
            <a:ext cx="258846" cy="215705"/>
          </a:xfrm>
          <a:prstGeom prst="rect">
            <a:avLst/>
          </a:prstGeom>
          <a:noFill/>
          <a:ln/>
        </p:spPr>
        <p:txBody>
          <a:bodyPr wrap="square" lIns="12700" tIns="12700" rIns="12700" bIns="12700" rtlCol="0" anchor="ctr"/>
          <a:lstStyle/>
          <a:p>
            <a:pPr algn="ctr" indent="0" marL="0">
              <a:lnSpc>
                <a:spcPct val="95000"/>
              </a:lnSpc>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60" name="Shape 58"/>
          <p:cNvSpPr/>
          <p:nvPr/>
        </p:nvSpPr>
        <p:spPr>
          <a:xfrm>
            <a:off x="648990" y="3887372"/>
            <a:ext cx="1849667" cy="5393"/>
          </a:xfrm>
          <a:prstGeom prst="rect">
            <a:avLst/>
          </a:prstGeom>
          <a:solidFill>
            <a:srgbClr val="BBBBBB"/>
          </a:solidFill>
          <a:ln/>
        </p:spPr>
      </p:sp>
      <p:sp>
        <p:nvSpPr>
          <p:cNvPr id="61" name="Shape 59"/>
          <p:cNvSpPr/>
          <p:nvPr/>
        </p:nvSpPr>
        <p:spPr>
          <a:xfrm>
            <a:off x="648990" y="3973654"/>
            <a:ext cx="431409" cy="431409"/>
          </a:xfrm>
          <a:prstGeom prst="rect">
            <a:avLst/>
          </a:prstGeom>
          <a:solidFill>
            <a:srgbClr val="FFFFFF"/>
          </a:solidFill>
          <a:ln w="6350">
            <a:solidFill>
              <a:srgbClr val="999999"/>
            </a:solidFill>
            <a:prstDash val="solid"/>
          </a:ln>
        </p:spPr>
      </p:sp>
      <p:sp>
        <p:nvSpPr>
          <p:cNvPr id="62" name="Shape 60"/>
          <p:cNvSpPr/>
          <p:nvPr/>
        </p:nvSpPr>
        <p:spPr>
          <a:xfrm>
            <a:off x="648990" y="3973654"/>
            <a:ext cx="431409" cy="431409"/>
          </a:xfrm>
          <a:prstGeom prst="line">
            <a:avLst/>
          </a:prstGeom>
          <a:noFill/>
          <a:ln w="6350">
            <a:solidFill>
              <a:srgbClr val="999999"/>
            </a:solidFill>
            <a:prstDash val="solid"/>
          </a:ln>
        </p:spPr>
      </p:sp>
      <p:sp>
        <p:nvSpPr>
          <p:cNvPr id="63" name="Shape 61"/>
          <p:cNvSpPr/>
          <p:nvPr/>
        </p:nvSpPr>
        <p:spPr>
          <a:xfrm flipV="1">
            <a:off x="648990" y="3973654"/>
            <a:ext cx="431409" cy="431409"/>
          </a:xfrm>
          <a:prstGeom prst="line">
            <a:avLst/>
          </a:prstGeom>
          <a:noFill/>
          <a:ln w="6350">
            <a:solidFill>
              <a:srgbClr val="999999"/>
            </a:solidFill>
            <a:prstDash val="solid"/>
          </a:ln>
        </p:spPr>
      </p:sp>
      <p:sp>
        <p:nvSpPr>
          <p:cNvPr id="64" name="Text 62"/>
          <p:cNvSpPr txBox="1"/>
          <p:nvPr/>
        </p:nvSpPr>
        <p:spPr>
          <a:xfrm>
            <a:off x="1145110" y="3973654"/>
            <a:ext cx="1024597" cy="118638"/>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Clam Strips &amp; Chips</a:t>
            </a:r>
            <a:endParaRPr lang="en-US" sz="650" dirty="0"/>
          </a:p>
        </p:txBody>
      </p:sp>
      <p:sp>
        <p:nvSpPr>
          <p:cNvPr id="65" name="Shape 63"/>
          <p:cNvSpPr/>
          <p:nvPr/>
        </p:nvSpPr>
        <p:spPr>
          <a:xfrm>
            <a:off x="1145110" y="4135433"/>
            <a:ext cx="970671" cy="43141"/>
          </a:xfrm>
          <a:prstGeom prst="rect">
            <a:avLst/>
          </a:prstGeom>
          <a:solidFill>
            <a:srgbClr val="DDDDDD"/>
          </a:solidFill>
          <a:ln/>
        </p:spPr>
      </p:sp>
      <p:sp>
        <p:nvSpPr>
          <p:cNvPr id="66" name="Text 64"/>
          <p:cNvSpPr txBox="1"/>
          <p:nvPr/>
        </p:nvSpPr>
        <p:spPr>
          <a:xfrm>
            <a:off x="1145110" y="4232500"/>
            <a:ext cx="539262" cy="140208"/>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$16.99</a:t>
            </a:r>
            <a:endParaRPr lang="en-US" sz="650" dirty="0"/>
          </a:p>
        </p:txBody>
      </p:sp>
      <p:sp>
        <p:nvSpPr>
          <p:cNvPr id="67" name="Shape 65"/>
          <p:cNvSpPr/>
          <p:nvPr/>
        </p:nvSpPr>
        <p:spPr>
          <a:xfrm>
            <a:off x="2239811" y="4200144"/>
            <a:ext cx="258846" cy="215705"/>
          </a:xfrm>
          <a:prstGeom prst="roundRect">
            <a:avLst>
              <a:gd name="adj" fmla="val 15000"/>
            </a:avLst>
          </a:prstGeom>
          <a:solidFill>
            <a:srgbClr val="555555"/>
          </a:solidFill>
          <a:ln w="6350">
            <a:solidFill>
              <a:srgbClr val="555555"/>
            </a:solidFill>
            <a:prstDash val="solid"/>
          </a:ln>
        </p:spPr>
      </p:sp>
      <p:sp>
        <p:nvSpPr>
          <p:cNvPr id="68" name="Text 66"/>
          <p:cNvSpPr txBox="1"/>
          <p:nvPr/>
        </p:nvSpPr>
        <p:spPr>
          <a:xfrm>
            <a:off x="2239811" y="4200144"/>
            <a:ext cx="258846" cy="215705"/>
          </a:xfrm>
          <a:prstGeom prst="rect">
            <a:avLst/>
          </a:prstGeom>
          <a:noFill/>
          <a:ln/>
        </p:spPr>
        <p:txBody>
          <a:bodyPr wrap="square" lIns="12700" tIns="12700" rIns="12700" bIns="12700" rtlCol="0" anchor="ctr"/>
          <a:lstStyle/>
          <a:p>
            <a:pPr algn="ctr" indent="0" marL="0">
              <a:lnSpc>
                <a:spcPct val="95000"/>
              </a:lnSpc>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69" name="Shape 67"/>
          <p:cNvSpPr/>
          <p:nvPr/>
        </p:nvSpPr>
        <p:spPr>
          <a:xfrm>
            <a:off x="648990" y="4469775"/>
            <a:ext cx="1849667" cy="5393"/>
          </a:xfrm>
          <a:prstGeom prst="rect">
            <a:avLst/>
          </a:prstGeom>
          <a:solidFill>
            <a:srgbClr val="BBBBBB"/>
          </a:solidFill>
          <a:ln/>
        </p:spPr>
      </p:sp>
      <p:sp>
        <p:nvSpPr>
          <p:cNvPr id="70" name="Shape 68"/>
          <p:cNvSpPr/>
          <p:nvPr/>
        </p:nvSpPr>
        <p:spPr>
          <a:xfrm>
            <a:off x="648990" y="4556057"/>
            <a:ext cx="431409" cy="431409"/>
          </a:xfrm>
          <a:prstGeom prst="rect">
            <a:avLst/>
          </a:prstGeom>
          <a:solidFill>
            <a:srgbClr val="FFFFFF"/>
          </a:solidFill>
          <a:ln w="6350">
            <a:solidFill>
              <a:srgbClr val="999999"/>
            </a:solidFill>
            <a:prstDash val="solid"/>
          </a:ln>
        </p:spPr>
      </p:sp>
      <p:sp>
        <p:nvSpPr>
          <p:cNvPr id="71" name="Shape 69"/>
          <p:cNvSpPr/>
          <p:nvPr/>
        </p:nvSpPr>
        <p:spPr>
          <a:xfrm>
            <a:off x="648990" y="4556057"/>
            <a:ext cx="431409" cy="431409"/>
          </a:xfrm>
          <a:prstGeom prst="line">
            <a:avLst/>
          </a:prstGeom>
          <a:noFill/>
          <a:ln w="6350">
            <a:solidFill>
              <a:srgbClr val="999999"/>
            </a:solidFill>
            <a:prstDash val="solid"/>
          </a:ln>
        </p:spPr>
      </p:sp>
      <p:sp>
        <p:nvSpPr>
          <p:cNvPr id="72" name="Shape 70"/>
          <p:cNvSpPr/>
          <p:nvPr/>
        </p:nvSpPr>
        <p:spPr>
          <a:xfrm flipV="1">
            <a:off x="648990" y="4556057"/>
            <a:ext cx="431409" cy="431409"/>
          </a:xfrm>
          <a:prstGeom prst="line">
            <a:avLst/>
          </a:prstGeom>
          <a:noFill/>
          <a:ln w="6350">
            <a:solidFill>
              <a:srgbClr val="999999"/>
            </a:solidFill>
            <a:prstDash val="solid"/>
          </a:ln>
        </p:spPr>
      </p:sp>
      <p:sp>
        <p:nvSpPr>
          <p:cNvPr id="73" name="Text 71"/>
          <p:cNvSpPr txBox="1"/>
          <p:nvPr/>
        </p:nvSpPr>
        <p:spPr>
          <a:xfrm>
            <a:off x="1145110" y="4556057"/>
            <a:ext cx="1024597" cy="118638"/>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Scallops &amp; Chips</a:t>
            </a:r>
            <a:endParaRPr lang="en-US" sz="650" dirty="0"/>
          </a:p>
        </p:txBody>
      </p:sp>
      <p:sp>
        <p:nvSpPr>
          <p:cNvPr id="74" name="Shape 72"/>
          <p:cNvSpPr/>
          <p:nvPr/>
        </p:nvSpPr>
        <p:spPr>
          <a:xfrm>
            <a:off x="1145110" y="4717835"/>
            <a:ext cx="970671" cy="43141"/>
          </a:xfrm>
          <a:prstGeom prst="rect">
            <a:avLst/>
          </a:prstGeom>
          <a:solidFill>
            <a:srgbClr val="DDDDDD"/>
          </a:solidFill>
          <a:ln/>
        </p:spPr>
      </p:sp>
      <p:sp>
        <p:nvSpPr>
          <p:cNvPr id="75" name="Text 73"/>
          <p:cNvSpPr txBox="1"/>
          <p:nvPr/>
        </p:nvSpPr>
        <p:spPr>
          <a:xfrm>
            <a:off x="1145110" y="4814902"/>
            <a:ext cx="539262" cy="140208"/>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$24.99</a:t>
            </a:r>
            <a:endParaRPr lang="en-US" sz="650" dirty="0"/>
          </a:p>
        </p:txBody>
      </p:sp>
      <p:sp>
        <p:nvSpPr>
          <p:cNvPr id="76" name="Shape 74"/>
          <p:cNvSpPr/>
          <p:nvPr/>
        </p:nvSpPr>
        <p:spPr>
          <a:xfrm>
            <a:off x="2239811" y="4782546"/>
            <a:ext cx="258846" cy="215705"/>
          </a:xfrm>
          <a:prstGeom prst="roundRect">
            <a:avLst>
              <a:gd name="adj" fmla="val 15000"/>
            </a:avLst>
          </a:prstGeom>
          <a:solidFill>
            <a:srgbClr val="555555"/>
          </a:solidFill>
          <a:ln w="6350">
            <a:solidFill>
              <a:srgbClr val="555555"/>
            </a:solidFill>
            <a:prstDash val="solid"/>
          </a:ln>
        </p:spPr>
      </p:sp>
      <p:sp>
        <p:nvSpPr>
          <p:cNvPr id="77" name="Text 75"/>
          <p:cNvSpPr txBox="1"/>
          <p:nvPr/>
        </p:nvSpPr>
        <p:spPr>
          <a:xfrm>
            <a:off x="2239811" y="4782546"/>
            <a:ext cx="258846" cy="215705"/>
          </a:xfrm>
          <a:prstGeom prst="rect">
            <a:avLst/>
          </a:prstGeom>
          <a:noFill/>
          <a:ln/>
        </p:spPr>
        <p:txBody>
          <a:bodyPr wrap="square" lIns="12700" tIns="12700" rIns="12700" bIns="12700" rtlCol="0" anchor="ctr"/>
          <a:lstStyle/>
          <a:p>
            <a:pPr algn="ctr" indent="0" marL="0">
              <a:lnSpc>
                <a:spcPct val="95000"/>
              </a:lnSpc>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78" name="Shape 76"/>
          <p:cNvSpPr/>
          <p:nvPr/>
        </p:nvSpPr>
        <p:spPr>
          <a:xfrm>
            <a:off x="648990" y="5052177"/>
            <a:ext cx="1849667" cy="5393"/>
          </a:xfrm>
          <a:prstGeom prst="rect">
            <a:avLst/>
          </a:prstGeom>
          <a:solidFill>
            <a:srgbClr val="BBBBBB"/>
          </a:solidFill>
          <a:ln/>
        </p:spPr>
      </p:sp>
      <p:sp>
        <p:nvSpPr>
          <p:cNvPr id="79" name="Shape 77"/>
          <p:cNvSpPr/>
          <p:nvPr/>
        </p:nvSpPr>
        <p:spPr>
          <a:xfrm>
            <a:off x="648990" y="5138459"/>
            <a:ext cx="431409" cy="431409"/>
          </a:xfrm>
          <a:prstGeom prst="rect">
            <a:avLst/>
          </a:prstGeom>
          <a:solidFill>
            <a:srgbClr val="FFFFFF"/>
          </a:solidFill>
          <a:ln w="6350">
            <a:solidFill>
              <a:srgbClr val="999999"/>
            </a:solidFill>
            <a:prstDash val="solid"/>
          </a:ln>
        </p:spPr>
      </p:sp>
      <p:sp>
        <p:nvSpPr>
          <p:cNvPr id="80" name="Shape 78"/>
          <p:cNvSpPr/>
          <p:nvPr/>
        </p:nvSpPr>
        <p:spPr>
          <a:xfrm>
            <a:off x="648990" y="5138459"/>
            <a:ext cx="431409" cy="431409"/>
          </a:xfrm>
          <a:prstGeom prst="line">
            <a:avLst/>
          </a:prstGeom>
          <a:noFill/>
          <a:ln w="6350">
            <a:solidFill>
              <a:srgbClr val="999999"/>
            </a:solidFill>
            <a:prstDash val="solid"/>
          </a:ln>
        </p:spPr>
      </p:sp>
      <p:sp>
        <p:nvSpPr>
          <p:cNvPr id="81" name="Shape 79"/>
          <p:cNvSpPr/>
          <p:nvPr/>
        </p:nvSpPr>
        <p:spPr>
          <a:xfrm flipV="1">
            <a:off x="648990" y="5138459"/>
            <a:ext cx="431409" cy="431409"/>
          </a:xfrm>
          <a:prstGeom prst="line">
            <a:avLst/>
          </a:prstGeom>
          <a:noFill/>
          <a:ln w="6350">
            <a:solidFill>
              <a:srgbClr val="999999"/>
            </a:solidFill>
            <a:prstDash val="solid"/>
          </a:ln>
        </p:spPr>
      </p:sp>
      <p:sp>
        <p:nvSpPr>
          <p:cNvPr id="82" name="Text 80"/>
          <p:cNvSpPr txBox="1"/>
          <p:nvPr/>
        </p:nvSpPr>
        <p:spPr>
          <a:xfrm>
            <a:off x="1145110" y="5138459"/>
            <a:ext cx="1024597" cy="118638"/>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Lobster Roll</a:t>
            </a:r>
            <a:endParaRPr lang="en-US" sz="650" dirty="0"/>
          </a:p>
        </p:txBody>
      </p:sp>
      <p:sp>
        <p:nvSpPr>
          <p:cNvPr id="83" name="Shape 81"/>
          <p:cNvSpPr/>
          <p:nvPr/>
        </p:nvSpPr>
        <p:spPr>
          <a:xfrm>
            <a:off x="1145110" y="5300238"/>
            <a:ext cx="970671" cy="43141"/>
          </a:xfrm>
          <a:prstGeom prst="rect">
            <a:avLst/>
          </a:prstGeom>
          <a:solidFill>
            <a:srgbClr val="DDDDDD"/>
          </a:solidFill>
          <a:ln/>
        </p:spPr>
      </p:sp>
      <p:sp>
        <p:nvSpPr>
          <p:cNvPr id="84" name="Text 82"/>
          <p:cNvSpPr txBox="1"/>
          <p:nvPr/>
        </p:nvSpPr>
        <p:spPr>
          <a:xfrm>
            <a:off x="1145110" y="5397305"/>
            <a:ext cx="539262" cy="140208"/>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$22.99</a:t>
            </a:r>
            <a:endParaRPr lang="en-US" sz="650" dirty="0"/>
          </a:p>
        </p:txBody>
      </p:sp>
      <p:sp>
        <p:nvSpPr>
          <p:cNvPr id="85" name="Shape 83"/>
          <p:cNvSpPr/>
          <p:nvPr/>
        </p:nvSpPr>
        <p:spPr>
          <a:xfrm>
            <a:off x="2239811" y="5364949"/>
            <a:ext cx="258846" cy="215705"/>
          </a:xfrm>
          <a:prstGeom prst="roundRect">
            <a:avLst>
              <a:gd name="adj" fmla="val 15000"/>
            </a:avLst>
          </a:prstGeom>
          <a:solidFill>
            <a:srgbClr val="555555"/>
          </a:solidFill>
          <a:ln w="6350">
            <a:solidFill>
              <a:srgbClr val="555555"/>
            </a:solidFill>
            <a:prstDash val="solid"/>
          </a:ln>
        </p:spPr>
      </p:sp>
      <p:sp>
        <p:nvSpPr>
          <p:cNvPr id="86" name="Text 84"/>
          <p:cNvSpPr txBox="1"/>
          <p:nvPr/>
        </p:nvSpPr>
        <p:spPr>
          <a:xfrm>
            <a:off x="2239811" y="5364949"/>
            <a:ext cx="258846" cy="215705"/>
          </a:xfrm>
          <a:prstGeom prst="rect">
            <a:avLst/>
          </a:prstGeom>
          <a:noFill/>
          <a:ln/>
        </p:spPr>
        <p:txBody>
          <a:bodyPr wrap="square" lIns="12700" tIns="12700" rIns="12700" bIns="12700" rtlCol="0" anchor="ctr"/>
          <a:lstStyle/>
          <a:p>
            <a:pPr algn="ctr" indent="0" marL="0">
              <a:lnSpc>
                <a:spcPct val="95000"/>
              </a:lnSpc>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87" name="Shape 85"/>
          <p:cNvSpPr/>
          <p:nvPr/>
        </p:nvSpPr>
        <p:spPr>
          <a:xfrm>
            <a:off x="648990" y="5634580"/>
            <a:ext cx="1849667" cy="5393"/>
          </a:xfrm>
          <a:prstGeom prst="rect">
            <a:avLst/>
          </a:prstGeom>
          <a:solidFill>
            <a:srgbClr val="BBBBBB"/>
          </a:solidFill>
          <a:ln/>
        </p:spPr>
      </p:sp>
      <p:sp>
        <p:nvSpPr>
          <p:cNvPr id="88" name="Shape 86"/>
          <p:cNvSpPr/>
          <p:nvPr/>
        </p:nvSpPr>
        <p:spPr>
          <a:xfrm>
            <a:off x="584278" y="813582"/>
            <a:ext cx="1979090" cy="4874924"/>
          </a:xfrm>
          <a:prstGeom prst="rect">
            <a:avLst/>
          </a:prstGeom>
          <a:ln w="10785">
            <a:solidFill>
              <a:srgbClr val="1E88E5"/>
            </a:solidFill>
            <a:prstDash val="dash"/>
          </a:ln>
        </p:spPr>
      </p:sp>
      <p:sp>
        <p:nvSpPr>
          <p:cNvPr id="89" name="Shape 87"/>
          <p:cNvSpPr/>
          <p:nvPr/>
        </p:nvSpPr>
        <p:spPr>
          <a:xfrm>
            <a:off x="584278" y="705729"/>
            <a:ext cx="334342" cy="107852"/>
          </a:xfrm>
          <a:prstGeom prst="rect">
            <a:avLst/>
          </a:prstGeom>
          <a:solidFill>
            <a:srgbClr val="1E88E5"/>
          </a:solidFill>
          <a:ln/>
        </p:spPr>
      </p:sp>
      <p:sp>
        <p:nvSpPr>
          <p:cNvPr id="90" name="Text 88"/>
          <p:cNvSpPr txBox="1"/>
          <p:nvPr/>
        </p:nvSpPr>
        <p:spPr>
          <a:xfrm>
            <a:off x="584278" y="705729"/>
            <a:ext cx="334342" cy="107852"/>
          </a:xfrm>
          <a:prstGeom prst="rect">
            <a:avLst/>
          </a:prstGeom>
          <a:noFill/>
          <a:ln/>
        </p:spPr>
        <p:txBody>
          <a:bodyPr wrap="square" lIns="12700" tIns="12700" rIns="12700" bIns="12700" rtlCol="0" anchor="ctr"/>
          <a:lstStyle/>
          <a:p>
            <a:pPr algn="ctr" indent="0" marL="0">
              <a:lnSpc>
                <a:spcPct val="95000"/>
              </a:lnSpc>
              <a:buNone/>
            </a:pPr>
            <a:r>
              <a:rPr lang="en-US" sz="500" b="1" dirty="0">
                <a:solidFill>
                  <a:srgbClr val="FFFFFF"/>
                </a:solidFill>
                <a:latin typeface="Courier New" pitchFamily="34" charset="0"/>
                <a:ea typeface="Courier New" pitchFamily="34" charset="-122"/>
                <a:cs typeface="Courier New" pitchFamily="34" charset="-120"/>
              </a:rPr>
              <a:t>&lt;main&gt;</a:t>
            </a:r>
            <a:endParaRPr lang="en-US" sz="500" dirty="0"/>
          </a:p>
        </p:txBody>
      </p:sp>
      <p:sp>
        <p:nvSpPr>
          <p:cNvPr id="91" name="Shape 89"/>
          <p:cNvSpPr/>
          <p:nvPr/>
        </p:nvSpPr>
        <p:spPr>
          <a:xfrm>
            <a:off x="454855" y="4707050"/>
            <a:ext cx="2237935" cy="5393"/>
          </a:xfrm>
          <a:prstGeom prst="rect">
            <a:avLst/>
          </a:prstGeom>
          <a:ln w="10785">
            <a:solidFill>
              <a:srgbClr val="E53935"/>
            </a:solidFill>
            <a:prstDash val="dash"/>
          </a:ln>
        </p:spPr>
      </p:sp>
      <p:sp>
        <p:nvSpPr>
          <p:cNvPr id="92" name="Text 90"/>
          <p:cNvSpPr txBox="1"/>
          <p:nvPr/>
        </p:nvSpPr>
        <p:spPr>
          <a:xfrm>
            <a:off x="454855" y="4728620"/>
            <a:ext cx="1078523" cy="97067"/>
          </a:xfrm>
          <a:prstGeom prst="rect">
            <a:avLst/>
          </a:prstGeom>
          <a:noFill/>
          <a:ln/>
        </p:spPr>
        <p:txBody>
          <a:bodyPr wrap="square" lIns="12700" tIns="12700" rIns="12700" bIns="12700" rtlCol="0" anchor="ctr"/>
          <a:lstStyle/>
          <a:p>
            <a:pPr algn="l" indent="0" marL="0">
              <a:lnSpc>
                <a:spcPct val="95000"/>
              </a:lnSpc>
              <a:buNone/>
            </a:pPr>
            <a:r>
              <a:rPr lang="en-US" sz="450" dirty="0">
                <a:solidFill>
                  <a:srgbClr val="E53935"/>
                </a:solidFill>
                <a:latin typeface="Arial" pitchFamily="34" charset="0"/>
                <a:ea typeface="Arial" pitchFamily="34" charset="-122"/>
                <a:cs typeface="Arial" pitchFamily="34" charset="-120"/>
              </a:rPr>
              <a:t>bottom of the first screen (812px)</a:t>
            </a:r>
            <a:endParaRPr lang="en-US" sz="450" dirty="0"/>
          </a:p>
        </p:txBody>
      </p:sp>
      <p:sp>
        <p:nvSpPr>
          <p:cNvPr id="93" name="Shape 91"/>
          <p:cNvSpPr/>
          <p:nvPr/>
        </p:nvSpPr>
        <p:spPr>
          <a:xfrm>
            <a:off x="627419" y="4318782"/>
            <a:ext cx="1892808" cy="323557"/>
          </a:xfrm>
          <a:prstGeom prst="roundRect">
            <a:avLst>
              <a:gd name="adj" fmla="val 20000"/>
            </a:avLst>
          </a:prstGeom>
          <a:solidFill>
            <a:srgbClr val="333333"/>
          </a:solidFill>
          <a:ln/>
        </p:spPr>
      </p:sp>
      <p:sp>
        <p:nvSpPr>
          <p:cNvPr id="94" name="Text 92"/>
          <p:cNvSpPr txBox="1"/>
          <p:nvPr/>
        </p:nvSpPr>
        <p:spPr>
          <a:xfrm>
            <a:off x="627419" y="4318782"/>
            <a:ext cx="1892808" cy="323557"/>
          </a:xfrm>
          <a:prstGeom prst="rect">
            <a:avLst/>
          </a:prstGeom>
          <a:noFill/>
          <a:ln/>
        </p:spPr>
        <p:txBody>
          <a:bodyPr wrap="square" lIns="12700" tIns="12700" rIns="12700" bIns="12700" rtlCol="0" anchor="ctr"/>
          <a:lstStyle/>
          <a:p>
            <a:pPr algn="ctr" indent="0" marL="0">
              <a:lnSpc>
                <a:spcPct val="95000"/>
              </a:lnSpc>
              <a:buNone/>
            </a:pPr>
            <a:r>
              <a:rPr lang="en-US" sz="700" b="1" dirty="0">
                <a:solidFill>
                  <a:srgbClr val="FFFFFF"/>
                </a:solidFill>
                <a:latin typeface="Arial" pitchFamily="34" charset="0"/>
                <a:ea typeface="Arial" pitchFamily="34" charset="-122"/>
                <a:cs typeface="Arial" pitchFamily="34" charset="-120"/>
              </a:rPr>
              <a:t>View order (3) · $33.03   →</a:t>
            </a:r>
            <a:endParaRPr lang="en-US" sz="700" dirty="0"/>
          </a:p>
        </p:txBody>
      </p:sp>
      <p:sp>
        <p:nvSpPr>
          <p:cNvPr id="95" name="Shape 93"/>
          <p:cNvSpPr/>
          <p:nvPr/>
        </p:nvSpPr>
        <p:spPr>
          <a:xfrm>
            <a:off x="562708" y="5720862"/>
            <a:ext cx="2022231" cy="5393"/>
          </a:xfrm>
          <a:prstGeom prst="rect">
            <a:avLst/>
          </a:prstGeom>
          <a:solidFill>
            <a:srgbClr val="BBBBBB"/>
          </a:solidFill>
          <a:ln/>
        </p:spPr>
      </p:sp>
      <p:sp>
        <p:nvSpPr>
          <p:cNvPr id="96" name="Text 94"/>
          <p:cNvSpPr txBox="1"/>
          <p:nvPr/>
        </p:nvSpPr>
        <p:spPr>
          <a:xfrm>
            <a:off x="648990" y="5785573"/>
            <a:ext cx="1849667" cy="323557"/>
          </a:xfrm>
          <a:prstGeom prst="rect">
            <a:avLst/>
          </a:prstGeom>
          <a:noFill/>
          <a:ln/>
        </p:spPr>
        <p:txBody>
          <a:bodyPr wrap="square" lIns="12700" tIns="12700" rIns="12700" bIns="12700" rtlCol="0" anchor="ctr"/>
          <a:lstStyle/>
          <a:p>
            <a:pPr algn="l" indent="0" marL="0">
              <a:lnSpc>
                <a:spcPct val="95000"/>
              </a:lnSpc>
              <a:buNone/>
            </a:pPr>
            <a:r>
              <a:rPr lang="en-US" sz="550" dirty="0">
                <a:solidFill>
                  <a:srgbClr val="333333"/>
                </a:solidFill>
                <a:latin typeface="Arial" pitchFamily="34" charset="0"/>
                <a:ea typeface="Arial" pitchFamily="34" charset="-122"/>
                <a:cs typeface="Arial" pitchFamily="34" charset="-120"/>
              </a:rPr>
              <a:t>Harbourside Fish &amp; Chips</a:t>
            </a:r>
            <a:endParaRPr lang="en-US" sz="550" dirty="0"/>
          </a:p>
          <a:p>
            <a:pPr algn="l" indent="0" marL="0">
              <a:lnSpc>
                <a:spcPct val="95000"/>
              </a:lnSpc>
              <a:buNone/>
            </a:pPr>
            <a:r>
              <a:rPr lang="en-US" sz="550" dirty="0">
                <a:solidFill>
                  <a:srgbClr val="333333"/>
                </a:solidFill>
                <a:latin typeface="Arial" pitchFamily="34" charset="0"/>
                <a:ea typeface="Arial" pitchFamily="34" charset="-122"/>
                <a:cs typeface="Arial" pitchFamily="34" charset="-120"/>
              </a:rPr>
              <a:t>12 Water St, Yarmouth NS · (902) 555-0142</a:t>
            </a:r>
            <a:endParaRPr lang="en-US" sz="550" dirty="0"/>
          </a:p>
        </p:txBody>
      </p:sp>
      <p:sp>
        <p:nvSpPr>
          <p:cNvPr id="97" name="Text 95"/>
          <p:cNvSpPr txBox="1"/>
          <p:nvPr/>
        </p:nvSpPr>
        <p:spPr>
          <a:xfrm>
            <a:off x="648990" y="6109130"/>
            <a:ext cx="1849667" cy="215705"/>
          </a:xfrm>
          <a:prstGeom prst="rect">
            <a:avLst/>
          </a:prstGeom>
          <a:noFill/>
          <a:ln/>
        </p:spPr>
        <p:txBody>
          <a:bodyPr wrap="square" lIns="12700" tIns="12700" rIns="12700" bIns="12700" rtlCol="0" anchor="ctr"/>
          <a:lstStyle/>
          <a:p>
            <a:pPr algn="l" indent="0" marL="0">
              <a:lnSpc>
                <a:spcPct val="95000"/>
              </a:lnSpc>
              <a:buNone/>
            </a:pPr>
            <a:r>
              <a:rPr lang="en-US" sz="550" dirty="0">
                <a:solidFill>
                  <a:srgbClr val="333333"/>
                </a:solidFill>
                <a:latin typeface="Arial" pitchFamily="34" charset="0"/>
                <a:ea typeface="Arial" pitchFamily="34" charset="-122"/>
                <a:cs typeface="Arial" pitchFamily="34" charset="-120"/>
              </a:rPr>
              <a:t>Tue–Sun 11 am – 8 pm · Closed Mondays</a:t>
            </a:r>
            <a:endParaRPr lang="en-US" sz="550" dirty="0"/>
          </a:p>
        </p:txBody>
      </p:sp>
      <p:sp>
        <p:nvSpPr>
          <p:cNvPr id="98" name="Text 96"/>
          <p:cNvSpPr txBox="1"/>
          <p:nvPr/>
        </p:nvSpPr>
        <p:spPr>
          <a:xfrm>
            <a:off x="648990" y="6324834"/>
            <a:ext cx="1849667" cy="129423"/>
          </a:xfrm>
          <a:prstGeom prst="rect">
            <a:avLst/>
          </a:prstGeom>
          <a:noFill/>
          <a:ln/>
        </p:spPr>
        <p:txBody>
          <a:bodyPr wrap="square" lIns="12700" tIns="12700" rIns="12700" bIns="12700" rtlCol="0" anchor="ctr"/>
          <a:lstStyle/>
          <a:p>
            <a:pPr algn="l" indent="0" marL="0">
              <a:lnSpc>
                <a:spcPct val="95000"/>
              </a:lnSpc>
              <a:buNone/>
            </a:pPr>
            <a:r>
              <a:rPr lang="en-US" sz="450" dirty="0">
                <a:solidFill>
                  <a:srgbClr val="777777"/>
                </a:solidFill>
                <a:latin typeface="Arial" pitchFamily="34" charset="0"/>
                <a:ea typeface="Arial" pitchFamily="34" charset="-122"/>
                <a:cs typeface="Arial" pitchFamily="34" charset="-120"/>
              </a:rPr>
              <a:t>© 2026 Harbourside Fish &amp; Chips</a:t>
            </a:r>
            <a:endParaRPr lang="en-US" sz="450" dirty="0"/>
          </a:p>
        </p:txBody>
      </p:sp>
      <p:sp>
        <p:nvSpPr>
          <p:cNvPr id="99" name="Shape 97"/>
          <p:cNvSpPr/>
          <p:nvPr/>
        </p:nvSpPr>
        <p:spPr>
          <a:xfrm>
            <a:off x="584278" y="5753217"/>
            <a:ext cx="1979090" cy="733396"/>
          </a:xfrm>
          <a:prstGeom prst="rect">
            <a:avLst/>
          </a:prstGeom>
          <a:ln w="10785">
            <a:solidFill>
              <a:srgbClr val="1E88E5"/>
            </a:solidFill>
            <a:prstDash val="dash"/>
          </a:ln>
        </p:spPr>
      </p:sp>
      <p:sp>
        <p:nvSpPr>
          <p:cNvPr id="100" name="Shape 98"/>
          <p:cNvSpPr/>
          <p:nvPr/>
        </p:nvSpPr>
        <p:spPr>
          <a:xfrm>
            <a:off x="584278" y="5645365"/>
            <a:ext cx="420624" cy="107852"/>
          </a:xfrm>
          <a:prstGeom prst="rect">
            <a:avLst/>
          </a:prstGeom>
          <a:solidFill>
            <a:srgbClr val="1E88E5"/>
          </a:solidFill>
          <a:ln/>
        </p:spPr>
      </p:sp>
      <p:sp>
        <p:nvSpPr>
          <p:cNvPr id="101" name="Text 99"/>
          <p:cNvSpPr txBox="1"/>
          <p:nvPr/>
        </p:nvSpPr>
        <p:spPr>
          <a:xfrm>
            <a:off x="584278" y="5645365"/>
            <a:ext cx="420624" cy="107852"/>
          </a:xfrm>
          <a:prstGeom prst="rect">
            <a:avLst/>
          </a:prstGeom>
          <a:noFill/>
          <a:ln/>
        </p:spPr>
        <p:txBody>
          <a:bodyPr wrap="square" lIns="12700" tIns="12700" rIns="12700" bIns="12700" rtlCol="0" anchor="ctr"/>
          <a:lstStyle/>
          <a:p>
            <a:pPr algn="ctr" indent="0" marL="0">
              <a:lnSpc>
                <a:spcPct val="95000"/>
              </a:lnSpc>
              <a:buNone/>
            </a:pPr>
            <a:r>
              <a:rPr lang="en-US" sz="500" b="1" dirty="0">
                <a:solidFill>
                  <a:srgbClr val="FFFFFF"/>
                </a:solidFill>
                <a:latin typeface="Courier New" pitchFamily="34" charset="0"/>
                <a:ea typeface="Courier New" pitchFamily="34" charset="-122"/>
                <a:cs typeface="Courier New" pitchFamily="34" charset="-120"/>
              </a:rPr>
              <a:t>&lt;footer&gt;</a:t>
            </a:r>
            <a:endParaRPr lang="en-US" sz="500" dirty="0"/>
          </a:p>
        </p:txBody>
      </p:sp>
      <p:sp>
        <p:nvSpPr>
          <p:cNvPr id="102" name="Shape 100"/>
          <p:cNvSpPr/>
          <p:nvPr/>
        </p:nvSpPr>
        <p:spPr>
          <a:xfrm>
            <a:off x="4445391" y="328246"/>
            <a:ext cx="2022231" cy="4378804"/>
          </a:xfrm>
          <a:prstGeom prst="roundRect">
            <a:avLst>
              <a:gd name="adj" fmla="val 4000"/>
            </a:avLst>
          </a:prstGeom>
          <a:solidFill>
            <a:srgbClr val="FFFFFF"/>
          </a:solidFill>
          <a:ln w="10785">
            <a:solidFill>
              <a:srgbClr val="333333"/>
            </a:solidFill>
            <a:prstDash val="solid"/>
          </a:ln>
        </p:spPr>
      </p:sp>
      <p:sp>
        <p:nvSpPr>
          <p:cNvPr id="103" name="Shape 101"/>
          <p:cNvSpPr/>
          <p:nvPr/>
        </p:nvSpPr>
        <p:spPr>
          <a:xfrm>
            <a:off x="4461569" y="344424"/>
            <a:ext cx="1989875" cy="113245"/>
          </a:xfrm>
          <a:prstGeom prst="rect">
            <a:avLst/>
          </a:prstGeom>
          <a:solidFill>
            <a:srgbClr val="EEEEEE"/>
          </a:solidFill>
          <a:ln/>
        </p:spPr>
      </p:sp>
      <p:sp>
        <p:nvSpPr>
          <p:cNvPr id="104" name="Text 102"/>
          <p:cNvSpPr txBox="1"/>
          <p:nvPr/>
        </p:nvSpPr>
        <p:spPr>
          <a:xfrm>
            <a:off x="5308209" y="328246"/>
            <a:ext cx="296594" cy="129423"/>
          </a:xfrm>
          <a:prstGeom prst="rect">
            <a:avLst/>
          </a:prstGeom>
          <a:noFill/>
          <a:ln/>
        </p:spPr>
        <p:txBody>
          <a:bodyPr wrap="square" lIns="12700" tIns="12700" rIns="12700" bIns="12700" rtlCol="0" anchor="ctr"/>
          <a:lstStyle/>
          <a:p>
            <a:pPr algn="ctr" indent="0" marL="0">
              <a:lnSpc>
                <a:spcPct val="95000"/>
              </a:lnSpc>
              <a:buNone/>
            </a:pPr>
            <a:r>
              <a:rPr lang="en-US" sz="500" b="1" dirty="0">
                <a:solidFill>
                  <a:srgbClr val="333333"/>
                </a:solidFill>
                <a:latin typeface="Arial" pitchFamily="34" charset="0"/>
                <a:ea typeface="Arial" pitchFamily="34" charset="-122"/>
                <a:cs typeface="Arial" pitchFamily="34" charset="-120"/>
              </a:rPr>
              <a:t>9:41</a:t>
            </a:r>
            <a:endParaRPr lang="en-US" sz="500" dirty="0"/>
          </a:p>
        </p:txBody>
      </p:sp>
      <p:sp>
        <p:nvSpPr>
          <p:cNvPr id="105" name="Shape 103"/>
          <p:cNvSpPr/>
          <p:nvPr/>
        </p:nvSpPr>
        <p:spPr>
          <a:xfrm>
            <a:off x="4531673" y="511595"/>
            <a:ext cx="452980" cy="194134"/>
          </a:xfrm>
          <a:prstGeom prst="roundRect">
            <a:avLst>
              <a:gd name="adj" fmla="val 15000"/>
            </a:avLst>
          </a:prstGeom>
          <a:solidFill>
            <a:srgbClr val="FFFFFF"/>
          </a:solidFill>
          <a:ln w="6350">
            <a:solidFill>
              <a:srgbClr val="555555"/>
            </a:solidFill>
            <a:prstDash val="solid"/>
          </a:ln>
        </p:spPr>
      </p:sp>
      <p:sp>
        <p:nvSpPr>
          <p:cNvPr id="106" name="Text 104"/>
          <p:cNvSpPr txBox="1"/>
          <p:nvPr/>
        </p:nvSpPr>
        <p:spPr>
          <a:xfrm>
            <a:off x="4531673" y="511595"/>
            <a:ext cx="452980" cy="194134"/>
          </a:xfrm>
          <a:prstGeom prst="rect">
            <a:avLst/>
          </a:prstGeom>
          <a:noFill/>
          <a:ln/>
        </p:spPr>
        <p:txBody>
          <a:bodyPr wrap="square" lIns="12700" tIns="12700" rIns="12700" bIns="12700" rtlCol="0" anchor="ctr"/>
          <a:lstStyle/>
          <a:p>
            <a:pPr algn="ctr" indent="0" marL="0">
              <a:lnSpc>
                <a:spcPct val="95000"/>
              </a:lnSpc>
              <a:buNone/>
            </a:pPr>
            <a:r>
              <a:rPr lang="en-US" sz="550" b="1" dirty="0">
                <a:solidFill>
                  <a:srgbClr val="333333"/>
                </a:solidFill>
                <a:latin typeface="Arial" pitchFamily="34" charset="0"/>
                <a:ea typeface="Arial" pitchFamily="34" charset="-122"/>
                <a:cs typeface="Arial" pitchFamily="34" charset="-120"/>
              </a:rPr>
              <a:t>← Menu</a:t>
            </a:r>
            <a:endParaRPr lang="en-US" sz="550" dirty="0"/>
          </a:p>
        </p:txBody>
      </p:sp>
      <p:sp>
        <p:nvSpPr>
          <p:cNvPr id="107" name="Text 105"/>
          <p:cNvSpPr txBox="1"/>
          <p:nvPr/>
        </p:nvSpPr>
        <p:spPr>
          <a:xfrm>
            <a:off x="5038578" y="522380"/>
            <a:ext cx="835855" cy="172564"/>
          </a:xfrm>
          <a:prstGeom prst="rect">
            <a:avLst/>
          </a:prstGeom>
          <a:noFill/>
          <a:ln/>
        </p:spPr>
        <p:txBody>
          <a:bodyPr wrap="square" lIns="12700" tIns="12700" rIns="12700" bIns="12700" rtlCol="0" anchor="ctr"/>
          <a:lstStyle/>
          <a:p>
            <a:pPr algn="ctr" indent="0" marL="0">
              <a:lnSpc>
                <a:spcPct val="95000"/>
              </a:lnSpc>
              <a:buNone/>
            </a:pPr>
            <a:r>
              <a:rPr lang="en-US" sz="750" b="1" dirty="0">
                <a:solidFill>
                  <a:srgbClr val="333333"/>
                </a:solidFill>
                <a:latin typeface="Arial" pitchFamily="34" charset="0"/>
                <a:ea typeface="Arial" pitchFamily="34" charset="-122"/>
                <a:cs typeface="Arial" pitchFamily="34" charset="-120"/>
              </a:rPr>
              <a:t>Your Order</a:t>
            </a:r>
            <a:endParaRPr lang="en-US" sz="750" dirty="0"/>
          </a:p>
        </p:txBody>
      </p:sp>
      <p:sp>
        <p:nvSpPr>
          <p:cNvPr id="108" name="Shape 106"/>
          <p:cNvSpPr/>
          <p:nvPr/>
        </p:nvSpPr>
        <p:spPr>
          <a:xfrm>
            <a:off x="4445391" y="781226"/>
            <a:ext cx="2022231" cy="5393"/>
          </a:xfrm>
          <a:prstGeom prst="rect">
            <a:avLst/>
          </a:prstGeom>
          <a:solidFill>
            <a:srgbClr val="BBBBBB"/>
          </a:solidFill>
          <a:ln/>
        </p:spPr>
      </p:sp>
      <p:sp>
        <p:nvSpPr>
          <p:cNvPr id="109" name="Shape 107"/>
          <p:cNvSpPr/>
          <p:nvPr/>
        </p:nvSpPr>
        <p:spPr>
          <a:xfrm>
            <a:off x="4466961" y="479239"/>
            <a:ext cx="1979090" cy="280416"/>
          </a:xfrm>
          <a:prstGeom prst="rect">
            <a:avLst/>
          </a:prstGeom>
          <a:ln w="10785">
            <a:solidFill>
              <a:srgbClr val="1E88E5"/>
            </a:solidFill>
            <a:prstDash val="dash"/>
          </a:ln>
        </p:spPr>
      </p:sp>
      <p:sp>
        <p:nvSpPr>
          <p:cNvPr id="110" name="Shape 108"/>
          <p:cNvSpPr/>
          <p:nvPr/>
        </p:nvSpPr>
        <p:spPr>
          <a:xfrm>
            <a:off x="4466961" y="371387"/>
            <a:ext cx="420624" cy="107852"/>
          </a:xfrm>
          <a:prstGeom prst="rect">
            <a:avLst/>
          </a:prstGeom>
          <a:solidFill>
            <a:srgbClr val="1E88E5"/>
          </a:solidFill>
          <a:ln/>
        </p:spPr>
      </p:sp>
      <p:sp>
        <p:nvSpPr>
          <p:cNvPr id="111" name="Text 109"/>
          <p:cNvSpPr txBox="1"/>
          <p:nvPr/>
        </p:nvSpPr>
        <p:spPr>
          <a:xfrm>
            <a:off x="4466961" y="371387"/>
            <a:ext cx="420624" cy="107852"/>
          </a:xfrm>
          <a:prstGeom prst="rect">
            <a:avLst/>
          </a:prstGeom>
          <a:noFill/>
          <a:ln/>
        </p:spPr>
        <p:txBody>
          <a:bodyPr wrap="square" lIns="12700" tIns="12700" rIns="12700" bIns="12700" rtlCol="0" anchor="ctr"/>
          <a:lstStyle/>
          <a:p>
            <a:pPr algn="ctr" indent="0" marL="0">
              <a:lnSpc>
                <a:spcPct val="95000"/>
              </a:lnSpc>
              <a:buNone/>
            </a:pPr>
            <a:r>
              <a:rPr lang="en-US" sz="500" b="1" dirty="0">
                <a:solidFill>
                  <a:srgbClr val="FFFFFF"/>
                </a:solidFill>
                <a:latin typeface="Courier New" pitchFamily="34" charset="0"/>
                <a:ea typeface="Courier New" pitchFamily="34" charset="-122"/>
                <a:cs typeface="Courier New" pitchFamily="34" charset="-120"/>
              </a:rPr>
              <a:t>&lt;header&gt;</a:t>
            </a:r>
            <a:endParaRPr lang="en-US" sz="500" dirty="0"/>
          </a:p>
        </p:txBody>
      </p:sp>
      <p:sp>
        <p:nvSpPr>
          <p:cNvPr id="112" name="Shape 110"/>
          <p:cNvSpPr/>
          <p:nvPr/>
        </p:nvSpPr>
        <p:spPr>
          <a:xfrm>
            <a:off x="4531673" y="845937"/>
            <a:ext cx="1849667" cy="301986"/>
          </a:xfrm>
          <a:prstGeom prst="rect">
            <a:avLst/>
          </a:prstGeom>
          <a:solidFill>
            <a:srgbClr val="F5F5F5"/>
          </a:solidFill>
          <a:ln w="6350">
            <a:solidFill>
              <a:srgbClr val="BBBBBB"/>
            </a:solidFill>
            <a:prstDash val="solid"/>
          </a:ln>
        </p:spPr>
      </p:sp>
      <p:sp>
        <p:nvSpPr>
          <p:cNvPr id="113" name="Text 111"/>
          <p:cNvSpPr txBox="1"/>
          <p:nvPr/>
        </p:nvSpPr>
        <p:spPr>
          <a:xfrm>
            <a:off x="4596384" y="910649"/>
            <a:ext cx="1348154" cy="172564"/>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Pickup · ASAP (about 20 min)</a:t>
            </a:r>
            <a:endParaRPr lang="en-US" sz="600" dirty="0"/>
          </a:p>
        </p:txBody>
      </p:sp>
      <p:sp>
        <p:nvSpPr>
          <p:cNvPr id="114" name="Text 112"/>
          <p:cNvSpPr txBox="1"/>
          <p:nvPr/>
        </p:nvSpPr>
        <p:spPr>
          <a:xfrm>
            <a:off x="6009249" y="910649"/>
            <a:ext cx="323557" cy="172564"/>
          </a:xfrm>
          <a:prstGeom prst="rect">
            <a:avLst/>
          </a:prstGeom>
          <a:noFill/>
          <a:ln/>
        </p:spPr>
        <p:txBody>
          <a:bodyPr wrap="square" lIns="12700" tIns="12700" rIns="12700" bIns="12700" rtlCol="0" anchor="ctr"/>
          <a:lstStyle/>
          <a:p>
            <a:pPr algn="r" indent="0" marL="0">
              <a:lnSpc>
                <a:spcPct val="95000"/>
              </a:lnSpc>
              <a:buNone/>
            </a:pPr>
            <a:r>
              <a:rPr lang="en-US" sz="600" u="sng" dirty="0">
                <a:solidFill>
                  <a:srgbClr val="333333"/>
                </a:solidFill>
                <a:latin typeface="Arial" pitchFamily="34" charset="0"/>
                <a:ea typeface="Arial" pitchFamily="34" charset="-122"/>
                <a:cs typeface="Arial" pitchFamily="34" charset="-120"/>
              </a:rPr>
              <a:t>Change</a:t>
            </a:r>
            <a:endParaRPr lang="en-US" sz="600" dirty="0"/>
          </a:p>
        </p:txBody>
      </p:sp>
      <p:sp>
        <p:nvSpPr>
          <p:cNvPr id="115" name="Text 113"/>
          <p:cNvSpPr txBox="1"/>
          <p:nvPr/>
        </p:nvSpPr>
        <p:spPr>
          <a:xfrm>
            <a:off x="4531673" y="1255776"/>
            <a:ext cx="1186375" cy="129423"/>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Haddock &amp; Chips (2 pc)</a:t>
            </a:r>
            <a:endParaRPr lang="en-US" sz="650" dirty="0"/>
          </a:p>
        </p:txBody>
      </p:sp>
      <p:sp>
        <p:nvSpPr>
          <p:cNvPr id="116" name="Text 114"/>
          <p:cNvSpPr txBox="1"/>
          <p:nvPr/>
        </p:nvSpPr>
        <p:spPr>
          <a:xfrm>
            <a:off x="4531673" y="1395984"/>
            <a:ext cx="539262" cy="118638"/>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777777"/>
                </a:solidFill>
                <a:latin typeface="Arial" pitchFamily="34" charset="0"/>
                <a:ea typeface="Arial" pitchFamily="34" charset="-122"/>
                <a:cs typeface="Arial" pitchFamily="34" charset="-120"/>
              </a:rPr>
              <a:t>$19.99</a:t>
            </a:r>
            <a:endParaRPr lang="en-US" sz="600" dirty="0"/>
          </a:p>
        </p:txBody>
      </p:sp>
      <p:sp>
        <p:nvSpPr>
          <p:cNvPr id="117" name="Shape 115"/>
          <p:cNvSpPr/>
          <p:nvPr/>
        </p:nvSpPr>
        <p:spPr>
          <a:xfrm>
            <a:off x="5777367" y="1277346"/>
            <a:ext cx="215705" cy="237275"/>
          </a:xfrm>
          <a:prstGeom prst="roundRect">
            <a:avLst>
              <a:gd name="adj" fmla="val 15000"/>
            </a:avLst>
          </a:prstGeom>
          <a:solidFill>
            <a:srgbClr val="FFFFFF"/>
          </a:solidFill>
          <a:ln w="6350">
            <a:solidFill>
              <a:srgbClr val="555555"/>
            </a:solidFill>
            <a:prstDash val="solid"/>
          </a:ln>
        </p:spPr>
      </p:sp>
      <p:sp>
        <p:nvSpPr>
          <p:cNvPr id="118" name="Text 116"/>
          <p:cNvSpPr txBox="1"/>
          <p:nvPr/>
        </p:nvSpPr>
        <p:spPr>
          <a:xfrm>
            <a:off x="5777367" y="1277346"/>
            <a:ext cx="215705" cy="237275"/>
          </a:xfrm>
          <a:prstGeom prst="rect">
            <a:avLst/>
          </a:prstGeom>
          <a:noFill/>
          <a:ln/>
        </p:spPr>
        <p:txBody>
          <a:bodyPr wrap="square" lIns="12700" tIns="12700" rIns="12700" bIns="12700" rtlCol="0" anchor="ctr"/>
          <a:lstStyle/>
          <a:p>
            <a:pPr algn="ctr" indent="0" marL="0">
              <a:lnSpc>
                <a:spcPct val="95000"/>
              </a:lnSpc>
              <a:buNone/>
            </a:pPr>
            <a:r>
              <a:rPr lang="en-US" sz="750" b="1" dirty="0">
                <a:solidFill>
                  <a:srgbClr val="333333"/>
                </a:solidFill>
                <a:latin typeface="Arial" pitchFamily="34" charset="0"/>
                <a:ea typeface="Arial" pitchFamily="34" charset="-122"/>
                <a:cs typeface="Arial" pitchFamily="34" charset="-120"/>
              </a:rPr>
              <a:t>−</a:t>
            </a:r>
            <a:endParaRPr lang="en-US" sz="750" dirty="0"/>
          </a:p>
        </p:txBody>
      </p:sp>
      <p:sp>
        <p:nvSpPr>
          <p:cNvPr id="119" name="Text 117"/>
          <p:cNvSpPr txBox="1"/>
          <p:nvPr/>
        </p:nvSpPr>
        <p:spPr>
          <a:xfrm>
            <a:off x="5993071" y="1277346"/>
            <a:ext cx="150993" cy="237275"/>
          </a:xfrm>
          <a:prstGeom prst="rect">
            <a:avLst/>
          </a:prstGeom>
          <a:noFill/>
          <a:ln/>
        </p:spPr>
        <p:txBody>
          <a:bodyPr wrap="square" lIns="12700" tIns="12700" rIns="12700" bIns="12700" rtlCol="0" anchor="ctr"/>
          <a:lstStyle/>
          <a:p>
            <a:pPr algn="ctr" indent="0" marL="0">
              <a:lnSpc>
                <a:spcPct val="95000"/>
              </a:lnSpc>
              <a:buNone/>
            </a:pPr>
            <a:r>
              <a:rPr lang="en-US" sz="700" dirty="0">
                <a:solidFill>
                  <a:srgbClr val="333333"/>
                </a:solidFill>
                <a:latin typeface="Arial" pitchFamily="34" charset="0"/>
                <a:ea typeface="Arial" pitchFamily="34" charset="-122"/>
                <a:cs typeface="Arial" pitchFamily="34" charset="-120"/>
              </a:rPr>
              <a:t>1</a:t>
            </a:r>
            <a:endParaRPr lang="en-US" sz="700" dirty="0"/>
          </a:p>
        </p:txBody>
      </p:sp>
      <p:sp>
        <p:nvSpPr>
          <p:cNvPr id="120" name="Shape 118"/>
          <p:cNvSpPr/>
          <p:nvPr/>
        </p:nvSpPr>
        <p:spPr>
          <a:xfrm>
            <a:off x="6144065" y="1277346"/>
            <a:ext cx="237275" cy="237275"/>
          </a:xfrm>
          <a:prstGeom prst="roundRect">
            <a:avLst>
              <a:gd name="adj" fmla="val 15000"/>
            </a:avLst>
          </a:prstGeom>
          <a:solidFill>
            <a:srgbClr val="FFFFFF"/>
          </a:solidFill>
          <a:ln w="6350">
            <a:solidFill>
              <a:srgbClr val="555555"/>
            </a:solidFill>
            <a:prstDash val="solid"/>
          </a:ln>
        </p:spPr>
      </p:sp>
      <p:sp>
        <p:nvSpPr>
          <p:cNvPr id="121" name="Text 119"/>
          <p:cNvSpPr txBox="1"/>
          <p:nvPr/>
        </p:nvSpPr>
        <p:spPr>
          <a:xfrm>
            <a:off x="6144065" y="1277346"/>
            <a:ext cx="237275" cy="237275"/>
          </a:xfrm>
          <a:prstGeom prst="rect">
            <a:avLst/>
          </a:prstGeom>
          <a:noFill/>
          <a:ln/>
        </p:spPr>
        <p:txBody>
          <a:bodyPr wrap="square" lIns="12700" tIns="12700" rIns="12700" bIns="12700" rtlCol="0" anchor="ctr"/>
          <a:lstStyle/>
          <a:p>
            <a:pPr algn="ctr" indent="0" marL="0">
              <a:lnSpc>
                <a:spcPct val="95000"/>
              </a:lnSpc>
              <a:buNone/>
            </a:pPr>
            <a:r>
              <a:rPr lang="en-US" sz="750" b="1" dirty="0">
                <a:solidFill>
                  <a:srgbClr val="333333"/>
                </a:solidFill>
                <a:latin typeface="Arial" pitchFamily="34" charset="0"/>
                <a:ea typeface="Arial" pitchFamily="34" charset="-122"/>
                <a:cs typeface="Arial" pitchFamily="34" charset="-120"/>
              </a:rPr>
              <a:t>+</a:t>
            </a:r>
            <a:endParaRPr lang="en-US" sz="750" dirty="0"/>
          </a:p>
        </p:txBody>
      </p:sp>
      <p:sp>
        <p:nvSpPr>
          <p:cNvPr id="122" name="Shape 120"/>
          <p:cNvSpPr/>
          <p:nvPr/>
        </p:nvSpPr>
        <p:spPr>
          <a:xfrm>
            <a:off x="4531673" y="1557762"/>
            <a:ext cx="1849667" cy="5393"/>
          </a:xfrm>
          <a:prstGeom prst="rect">
            <a:avLst/>
          </a:prstGeom>
          <a:solidFill>
            <a:srgbClr val="BBBBBB"/>
          </a:solidFill>
          <a:ln/>
        </p:spPr>
      </p:sp>
      <p:sp>
        <p:nvSpPr>
          <p:cNvPr id="123" name="Text 121"/>
          <p:cNvSpPr txBox="1"/>
          <p:nvPr/>
        </p:nvSpPr>
        <p:spPr>
          <a:xfrm>
            <a:off x="4531673" y="1600903"/>
            <a:ext cx="1186375" cy="129423"/>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Fries (large)</a:t>
            </a:r>
            <a:endParaRPr lang="en-US" sz="650" dirty="0"/>
          </a:p>
        </p:txBody>
      </p:sp>
      <p:sp>
        <p:nvSpPr>
          <p:cNvPr id="124" name="Text 122"/>
          <p:cNvSpPr txBox="1"/>
          <p:nvPr/>
        </p:nvSpPr>
        <p:spPr>
          <a:xfrm>
            <a:off x="4531673" y="1741111"/>
            <a:ext cx="539262" cy="118638"/>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777777"/>
                </a:solidFill>
                <a:latin typeface="Arial" pitchFamily="34" charset="0"/>
                <a:ea typeface="Arial" pitchFamily="34" charset="-122"/>
                <a:cs typeface="Arial" pitchFamily="34" charset="-120"/>
              </a:rPr>
              <a:t>$5.49</a:t>
            </a:r>
            <a:endParaRPr lang="en-US" sz="600" dirty="0"/>
          </a:p>
        </p:txBody>
      </p:sp>
      <p:sp>
        <p:nvSpPr>
          <p:cNvPr id="125" name="Shape 123"/>
          <p:cNvSpPr/>
          <p:nvPr/>
        </p:nvSpPr>
        <p:spPr>
          <a:xfrm>
            <a:off x="5777367" y="1622474"/>
            <a:ext cx="215705" cy="237275"/>
          </a:xfrm>
          <a:prstGeom prst="roundRect">
            <a:avLst>
              <a:gd name="adj" fmla="val 15000"/>
            </a:avLst>
          </a:prstGeom>
          <a:solidFill>
            <a:srgbClr val="FFFFFF"/>
          </a:solidFill>
          <a:ln w="6350">
            <a:solidFill>
              <a:srgbClr val="555555"/>
            </a:solidFill>
            <a:prstDash val="solid"/>
          </a:ln>
        </p:spPr>
      </p:sp>
      <p:sp>
        <p:nvSpPr>
          <p:cNvPr id="126" name="Text 124"/>
          <p:cNvSpPr txBox="1"/>
          <p:nvPr/>
        </p:nvSpPr>
        <p:spPr>
          <a:xfrm>
            <a:off x="5777367" y="1622474"/>
            <a:ext cx="215705" cy="237275"/>
          </a:xfrm>
          <a:prstGeom prst="rect">
            <a:avLst/>
          </a:prstGeom>
          <a:noFill/>
          <a:ln/>
        </p:spPr>
        <p:txBody>
          <a:bodyPr wrap="square" lIns="12700" tIns="12700" rIns="12700" bIns="12700" rtlCol="0" anchor="ctr"/>
          <a:lstStyle/>
          <a:p>
            <a:pPr algn="ctr" indent="0" marL="0">
              <a:lnSpc>
                <a:spcPct val="95000"/>
              </a:lnSpc>
              <a:buNone/>
            </a:pPr>
            <a:r>
              <a:rPr lang="en-US" sz="750" b="1" dirty="0">
                <a:solidFill>
                  <a:srgbClr val="333333"/>
                </a:solidFill>
                <a:latin typeface="Arial" pitchFamily="34" charset="0"/>
                <a:ea typeface="Arial" pitchFamily="34" charset="-122"/>
                <a:cs typeface="Arial" pitchFamily="34" charset="-120"/>
              </a:rPr>
              <a:t>−</a:t>
            </a:r>
            <a:endParaRPr lang="en-US" sz="750" dirty="0"/>
          </a:p>
        </p:txBody>
      </p:sp>
      <p:sp>
        <p:nvSpPr>
          <p:cNvPr id="127" name="Text 125"/>
          <p:cNvSpPr txBox="1"/>
          <p:nvPr/>
        </p:nvSpPr>
        <p:spPr>
          <a:xfrm>
            <a:off x="5993071" y="1622474"/>
            <a:ext cx="150993" cy="237275"/>
          </a:xfrm>
          <a:prstGeom prst="rect">
            <a:avLst/>
          </a:prstGeom>
          <a:noFill/>
          <a:ln/>
        </p:spPr>
        <p:txBody>
          <a:bodyPr wrap="square" lIns="12700" tIns="12700" rIns="12700" bIns="12700" rtlCol="0" anchor="ctr"/>
          <a:lstStyle/>
          <a:p>
            <a:pPr algn="ctr" indent="0" marL="0">
              <a:lnSpc>
                <a:spcPct val="95000"/>
              </a:lnSpc>
              <a:buNone/>
            </a:pPr>
            <a:r>
              <a:rPr lang="en-US" sz="700" dirty="0">
                <a:solidFill>
                  <a:srgbClr val="333333"/>
                </a:solidFill>
                <a:latin typeface="Arial" pitchFamily="34" charset="0"/>
                <a:ea typeface="Arial" pitchFamily="34" charset="-122"/>
                <a:cs typeface="Arial" pitchFamily="34" charset="-120"/>
              </a:rPr>
              <a:t>1</a:t>
            </a:r>
            <a:endParaRPr lang="en-US" sz="700" dirty="0"/>
          </a:p>
        </p:txBody>
      </p:sp>
      <p:sp>
        <p:nvSpPr>
          <p:cNvPr id="128" name="Shape 126"/>
          <p:cNvSpPr/>
          <p:nvPr/>
        </p:nvSpPr>
        <p:spPr>
          <a:xfrm>
            <a:off x="6144065" y="1622474"/>
            <a:ext cx="237275" cy="237275"/>
          </a:xfrm>
          <a:prstGeom prst="roundRect">
            <a:avLst>
              <a:gd name="adj" fmla="val 15000"/>
            </a:avLst>
          </a:prstGeom>
          <a:solidFill>
            <a:srgbClr val="FFFFFF"/>
          </a:solidFill>
          <a:ln w="6350">
            <a:solidFill>
              <a:srgbClr val="555555"/>
            </a:solidFill>
            <a:prstDash val="solid"/>
          </a:ln>
        </p:spPr>
      </p:sp>
      <p:sp>
        <p:nvSpPr>
          <p:cNvPr id="129" name="Text 127"/>
          <p:cNvSpPr txBox="1"/>
          <p:nvPr/>
        </p:nvSpPr>
        <p:spPr>
          <a:xfrm>
            <a:off x="6144065" y="1622474"/>
            <a:ext cx="237275" cy="237275"/>
          </a:xfrm>
          <a:prstGeom prst="rect">
            <a:avLst/>
          </a:prstGeom>
          <a:noFill/>
          <a:ln/>
        </p:spPr>
        <p:txBody>
          <a:bodyPr wrap="square" lIns="12700" tIns="12700" rIns="12700" bIns="12700" rtlCol="0" anchor="ctr"/>
          <a:lstStyle/>
          <a:p>
            <a:pPr algn="ctr" indent="0" marL="0">
              <a:lnSpc>
                <a:spcPct val="95000"/>
              </a:lnSpc>
              <a:buNone/>
            </a:pPr>
            <a:r>
              <a:rPr lang="en-US" sz="750" b="1" dirty="0">
                <a:solidFill>
                  <a:srgbClr val="333333"/>
                </a:solidFill>
                <a:latin typeface="Arial" pitchFamily="34" charset="0"/>
                <a:ea typeface="Arial" pitchFamily="34" charset="-122"/>
                <a:cs typeface="Arial" pitchFamily="34" charset="-120"/>
              </a:rPr>
              <a:t>+</a:t>
            </a:r>
            <a:endParaRPr lang="en-US" sz="750" dirty="0"/>
          </a:p>
        </p:txBody>
      </p:sp>
      <p:sp>
        <p:nvSpPr>
          <p:cNvPr id="130" name="Shape 128"/>
          <p:cNvSpPr/>
          <p:nvPr/>
        </p:nvSpPr>
        <p:spPr>
          <a:xfrm>
            <a:off x="4531673" y="1902890"/>
            <a:ext cx="1849667" cy="5393"/>
          </a:xfrm>
          <a:prstGeom prst="rect">
            <a:avLst/>
          </a:prstGeom>
          <a:solidFill>
            <a:srgbClr val="BBBBBB"/>
          </a:solidFill>
          <a:ln/>
        </p:spPr>
      </p:sp>
      <p:sp>
        <p:nvSpPr>
          <p:cNvPr id="131" name="Text 129"/>
          <p:cNvSpPr txBox="1"/>
          <p:nvPr/>
        </p:nvSpPr>
        <p:spPr>
          <a:xfrm>
            <a:off x="4531673" y="1946031"/>
            <a:ext cx="1186375" cy="129423"/>
          </a:xfrm>
          <a:prstGeom prst="rect">
            <a:avLst/>
          </a:prstGeom>
          <a:noFill/>
          <a:ln/>
        </p:spPr>
        <p:txBody>
          <a:bodyPr wrap="square" lIns="12700" tIns="12700" rIns="12700" bIns="12700" rtlCol="0" anchor="ctr"/>
          <a:lstStyle/>
          <a:p>
            <a:pPr algn="l" indent="0" marL="0">
              <a:lnSpc>
                <a:spcPct val="95000"/>
              </a:lnSpc>
              <a:buNone/>
            </a:pPr>
            <a:r>
              <a:rPr lang="en-US" sz="650" b="1" dirty="0">
                <a:solidFill>
                  <a:srgbClr val="333333"/>
                </a:solidFill>
                <a:latin typeface="Arial" pitchFamily="34" charset="0"/>
                <a:ea typeface="Arial" pitchFamily="34" charset="-122"/>
                <a:cs typeface="Arial" pitchFamily="34" charset="-120"/>
              </a:rPr>
              <a:t>Coleslaw</a:t>
            </a:r>
            <a:endParaRPr lang="en-US" sz="650" dirty="0"/>
          </a:p>
        </p:txBody>
      </p:sp>
      <p:sp>
        <p:nvSpPr>
          <p:cNvPr id="132" name="Text 130"/>
          <p:cNvSpPr txBox="1"/>
          <p:nvPr/>
        </p:nvSpPr>
        <p:spPr>
          <a:xfrm>
            <a:off x="4531673" y="2086239"/>
            <a:ext cx="539262" cy="118638"/>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777777"/>
                </a:solidFill>
                <a:latin typeface="Arial" pitchFamily="34" charset="0"/>
                <a:ea typeface="Arial" pitchFamily="34" charset="-122"/>
                <a:cs typeface="Arial" pitchFamily="34" charset="-120"/>
              </a:rPr>
              <a:t>$3.49</a:t>
            </a:r>
            <a:endParaRPr lang="en-US" sz="600" dirty="0"/>
          </a:p>
        </p:txBody>
      </p:sp>
      <p:sp>
        <p:nvSpPr>
          <p:cNvPr id="133" name="Shape 131"/>
          <p:cNvSpPr/>
          <p:nvPr/>
        </p:nvSpPr>
        <p:spPr>
          <a:xfrm>
            <a:off x="5777367" y="1967601"/>
            <a:ext cx="215705" cy="237275"/>
          </a:xfrm>
          <a:prstGeom prst="roundRect">
            <a:avLst>
              <a:gd name="adj" fmla="val 15000"/>
            </a:avLst>
          </a:prstGeom>
          <a:solidFill>
            <a:srgbClr val="FFFFFF"/>
          </a:solidFill>
          <a:ln w="6350">
            <a:solidFill>
              <a:srgbClr val="555555"/>
            </a:solidFill>
            <a:prstDash val="solid"/>
          </a:ln>
        </p:spPr>
      </p:sp>
      <p:sp>
        <p:nvSpPr>
          <p:cNvPr id="134" name="Text 132"/>
          <p:cNvSpPr txBox="1"/>
          <p:nvPr/>
        </p:nvSpPr>
        <p:spPr>
          <a:xfrm>
            <a:off x="5777367" y="1967601"/>
            <a:ext cx="215705" cy="237275"/>
          </a:xfrm>
          <a:prstGeom prst="rect">
            <a:avLst/>
          </a:prstGeom>
          <a:noFill/>
          <a:ln/>
        </p:spPr>
        <p:txBody>
          <a:bodyPr wrap="square" lIns="12700" tIns="12700" rIns="12700" bIns="12700" rtlCol="0" anchor="ctr"/>
          <a:lstStyle/>
          <a:p>
            <a:pPr algn="ctr" indent="0" marL="0">
              <a:lnSpc>
                <a:spcPct val="95000"/>
              </a:lnSpc>
              <a:buNone/>
            </a:pPr>
            <a:r>
              <a:rPr lang="en-US" sz="750" b="1" dirty="0">
                <a:solidFill>
                  <a:srgbClr val="333333"/>
                </a:solidFill>
                <a:latin typeface="Arial" pitchFamily="34" charset="0"/>
                <a:ea typeface="Arial" pitchFamily="34" charset="-122"/>
                <a:cs typeface="Arial" pitchFamily="34" charset="-120"/>
              </a:rPr>
              <a:t>−</a:t>
            </a:r>
            <a:endParaRPr lang="en-US" sz="750" dirty="0"/>
          </a:p>
        </p:txBody>
      </p:sp>
      <p:sp>
        <p:nvSpPr>
          <p:cNvPr id="135" name="Text 133"/>
          <p:cNvSpPr txBox="1"/>
          <p:nvPr/>
        </p:nvSpPr>
        <p:spPr>
          <a:xfrm>
            <a:off x="5993071" y="1967601"/>
            <a:ext cx="150993" cy="237275"/>
          </a:xfrm>
          <a:prstGeom prst="rect">
            <a:avLst/>
          </a:prstGeom>
          <a:noFill/>
          <a:ln/>
        </p:spPr>
        <p:txBody>
          <a:bodyPr wrap="square" lIns="12700" tIns="12700" rIns="12700" bIns="12700" rtlCol="0" anchor="ctr"/>
          <a:lstStyle/>
          <a:p>
            <a:pPr algn="ctr" indent="0" marL="0">
              <a:lnSpc>
                <a:spcPct val="95000"/>
              </a:lnSpc>
              <a:buNone/>
            </a:pPr>
            <a:r>
              <a:rPr lang="en-US" sz="700" dirty="0">
                <a:solidFill>
                  <a:srgbClr val="333333"/>
                </a:solidFill>
                <a:latin typeface="Arial" pitchFamily="34" charset="0"/>
                <a:ea typeface="Arial" pitchFamily="34" charset="-122"/>
                <a:cs typeface="Arial" pitchFamily="34" charset="-120"/>
              </a:rPr>
              <a:t>1</a:t>
            </a:r>
            <a:endParaRPr lang="en-US" sz="700" dirty="0"/>
          </a:p>
        </p:txBody>
      </p:sp>
      <p:sp>
        <p:nvSpPr>
          <p:cNvPr id="136" name="Shape 134"/>
          <p:cNvSpPr/>
          <p:nvPr/>
        </p:nvSpPr>
        <p:spPr>
          <a:xfrm>
            <a:off x="6144065" y="1967601"/>
            <a:ext cx="237275" cy="237275"/>
          </a:xfrm>
          <a:prstGeom prst="roundRect">
            <a:avLst>
              <a:gd name="adj" fmla="val 15000"/>
            </a:avLst>
          </a:prstGeom>
          <a:solidFill>
            <a:srgbClr val="FFFFFF"/>
          </a:solidFill>
          <a:ln w="6350">
            <a:solidFill>
              <a:srgbClr val="555555"/>
            </a:solidFill>
            <a:prstDash val="solid"/>
          </a:ln>
        </p:spPr>
      </p:sp>
      <p:sp>
        <p:nvSpPr>
          <p:cNvPr id="137" name="Text 135"/>
          <p:cNvSpPr txBox="1"/>
          <p:nvPr/>
        </p:nvSpPr>
        <p:spPr>
          <a:xfrm>
            <a:off x="6144065" y="1967601"/>
            <a:ext cx="237275" cy="237275"/>
          </a:xfrm>
          <a:prstGeom prst="rect">
            <a:avLst/>
          </a:prstGeom>
          <a:noFill/>
          <a:ln/>
        </p:spPr>
        <p:txBody>
          <a:bodyPr wrap="square" lIns="12700" tIns="12700" rIns="12700" bIns="12700" rtlCol="0" anchor="ctr"/>
          <a:lstStyle/>
          <a:p>
            <a:pPr algn="ctr" indent="0" marL="0">
              <a:lnSpc>
                <a:spcPct val="95000"/>
              </a:lnSpc>
              <a:buNone/>
            </a:pPr>
            <a:r>
              <a:rPr lang="en-US" sz="750" b="1" dirty="0">
                <a:solidFill>
                  <a:srgbClr val="333333"/>
                </a:solidFill>
                <a:latin typeface="Arial" pitchFamily="34" charset="0"/>
                <a:ea typeface="Arial" pitchFamily="34" charset="-122"/>
                <a:cs typeface="Arial" pitchFamily="34" charset="-120"/>
              </a:rPr>
              <a:t>+</a:t>
            </a:r>
            <a:endParaRPr lang="en-US" sz="750" dirty="0"/>
          </a:p>
        </p:txBody>
      </p:sp>
      <p:sp>
        <p:nvSpPr>
          <p:cNvPr id="138" name="Shape 136"/>
          <p:cNvSpPr/>
          <p:nvPr/>
        </p:nvSpPr>
        <p:spPr>
          <a:xfrm>
            <a:off x="4531673" y="2248017"/>
            <a:ext cx="1849667" cy="5393"/>
          </a:xfrm>
          <a:prstGeom prst="rect">
            <a:avLst/>
          </a:prstGeom>
          <a:solidFill>
            <a:srgbClr val="BBBBBB"/>
          </a:solidFill>
          <a:ln/>
        </p:spPr>
      </p:sp>
      <p:sp>
        <p:nvSpPr>
          <p:cNvPr id="139" name="Text 137"/>
          <p:cNvSpPr txBox="1"/>
          <p:nvPr/>
        </p:nvSpPr>
        <p:spPr>
          <a:xfrm>
            <a:off x="4531673" y="2334299"/>
            <a:ext cx="1348154" cy="118638"/>
          </a:xfrm>
          <a:prstGeom prst="rect">
            <a:avLst/>
          </a:prstGeom>
          <a:noFill/>
          <a:ln/>
        </p:spPr>
        <p:txBody>
          <a:bodyPr wrap="square" lIns="12700" tIns="12700" rIns="12700" bIns="12700" rtlCol="0" anchor="ctr"/>
          <a:lstStyle/>
          <a:p>
            <a:pPr algn="l" indent="0" marL="0">
              <a:lnSpc>
                <a:spcPct val="95000"/>
              </a:lnSpc>
              <a:buNone/>
            </a:pPr>
            <a:r>
              <a:rPr lang="en-US" sz="600" b="1" dirty="0">
                <a:solidFill>
                  <a:srgbClr val="333333"/>
                </a:solidFill>
                <a:latin typeface="Arial" pitchFamily="34" charset="0"/>
                <a:ea typeface="Arial" pitchFamily="34" charset="-122"/>
                <a:cs typeface="Arial" pitchFamily="34" charset="-120"/>
              </a:rPr>
              <a:t>Special instructions</a:t>
            </a:r>
            <a:endParaRPr lang="en-US" sz="600" dirty="0"/>
          </a:p>
        </p:txBody>
      </p:sp>
      <p:sp>
        <p:nvSpPr>
          <p:cNvPr id="140" name="Shape 138"/>
          <p:cNvSpPr/>
          <p:nvPr/>
        </p:nvSpPr>
        <p:spPr>
          <a:xfrm>
            <a:off x="4531673" y="2474507"/>
            <a:ext cx="1849667" cy="388268"/>
          </a:xfrm>
          <a:prstGeom prst="roundRect">
            <a:avLst>
              <a:gd name="adj" fmla="val 8000"/>
            </a:avLst>
          </a:prstGeom>
          <a:solidFill>
            <a:srgbClr val="FFFFFF"/>
          </a:solidFill>
          <a:ln w="6350">
            <a:solidFill>
              <a:srgbClr val="999999"/>
            </a:solidFill>
            <a:prstDash val="solid"/>
          </a:ln>
        </p:spPr>
      </p:sp>
      <p:sp>
        <p:nvSpPr>
          <p:cNvPr id="141" name="Text 139"/>
          <p:cNvSpPr txBox="1"/>
          <p:nvPr/>
        </p:nvSpPr>
        <p:spPr>
          <a:xfrm>
            <a:off x="4531673" y="2474507"/>
            <a:ext cx="1849667" cy="388268"/>
          </a:xfrm>
          <a:prstGeom prst="rect">
            <a:avLst/>
          </a:prstGeom>
          <a:noFill/>
          <a:ln/>
        </p:spPr>
        <p:txBody>
          <a:bodyPr wrap="square" lIns="50800" tIns="50800" rIns="50800" bIns="50800" rtlCol="0" anchor="t"/>
          <a:lstStyle/>
          <a:p>
            <a:pPr algn="l" indent="0" marL="0">
              <a:lnSpc>
                <a:spcPct val="95000"/>
              </a:lnSpc>
              <a:buNone/>
            </a:pPr>
            <a:r>
              <a:rPr lang="en-US" sz="550" dirty="0">
                <a:solidFill>
                  <a:srgbClr val="AAAAAA"/>
                </a:solidFill>
                <a:latin typeface="Arial" pitchFamily="34" charset="0"/>
                <a:ea typeface="Arial" pitchFamily="34" charset="-122"/>
                <a:cs typeface="Arial" pitchFamily="34" charset="-120"/>
              </a:rPr>
              <a:t>e.g. extra tartar sauce, no vinegar</a:t>
            </a:r>
            <a:endParaRPr lang="en-US" sz="550" dirty="0"/>
          </a:p>
        </p:txBody>
      </p:sp>
      <p:sp>
        <p:nvSpPr>
          <p:cNvPr id="142" name="Text 140"/>
          <p:cNvSpPr txBox="1"/>
          <p:nvPr/>
        </p:nvSpPr>
        <p:spPr>
          <a:xfrm>
            <a:off x="4531673" y="2981413"/>
            <a:ext cx="1078523" cy="140208"/>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Subtotal</a:t>
            </a:r>
            <a:endParaRPr lang="en-US" sz="600" dirty="0"/>
          </a:p>
        </p:txBody>
      </p:sp>
      <p:sp>
        <p:nvSpPr>
          <p:cNvPr id="143" name="Text 141"/>
          <p:cNvSpPr txBox="1"/>
          <p:nvPr/>
        </p:nvSpPr>
        <p:spPr>
          <a:xfrm>
            <a:off x="5842078" y="2981413"/>
            <a:ext cx="539262" cy="140208"/>
          </a:xfrm>
          <a:prstGeom prst="rect">
            <a:avLst/>
          </a:prstGeom>
          <a:noFill/>
          <a:ln/>
        </p:spPr>
        <p:txBody>
          <a:bodyPr wrap="square" lIns="12700" tIns="12700" rIns="12700" bIns="12700" rtlCol="0" anchor="ctr"/>
          <a:lstStyle/>
          <a:p>
            <a:pPr algn="r" indent="0" marL="0">
              <a:lnSpc>
                <a:spcPct val="95000"/>
              </a:lnSpc>
              <a:buNone/>
            </a:pPr>
            <a:r>
              <a:rPr lang="en-US" sz="600" dirty="0">
                <a:solidFill>
                  <a:srgbClr val="333333"/>
                </a:solidFill>
                <a:latin typeface="Arial" pitchFamily="34" charset="0"/>
                <a:ea typeface="Arial" pitchFamily="34" charset="-122"/>
                <a:cs typeface="Arial" pitchFamily="34" charset="-120"/>
              </a:rPr>
              <a:t>$28.97</a:t>
            </a:r>
            <a:endParaRPr lang="en-US" sz="600" dirty="0"/>
          </a:p>
        </p:txBody>
      </p:sp>
      <p:sp>
        <p:nvSpPr>
          <p:cNvPr id="144" name="Text 142"/>
          <p:cNvSpPr txBox="1"/>
          <p:nvPr/>
        </p:nvSpPr>
        <p:spPr>
          <a:xfrm>
            <a:off x="4531673" y="3143191"/>
            <a:ext cx="1078523" cy="140208"/>
          </a:xfrm>
          <a:prstGeom prst="rect">
            <a:avLst/>
          </a:prstGeom>
          <a:noFill/>
          <a:ln/>
        </p:spPr>
        <p:txBody>
          <a:bodyPr wrap="square" lIns="12700" tIns="12700" rIns="12700" bIns="12700" rtlCol="0" anchor="ctr"/>
          <a:lstStyle/>
          <a:p>
            <a:pPr algn="l" indent="0" marL="0">
              <a:lnSpc>
                <a:spcPct val="95000"/>
              </a:lnSpc>
              <a:buNone/>
            </a:pPr>
            <a:r>
              <a:rPr lang="en-US" sz="600" dirty="0">
                <a:solidFill>
                  <a:srgbClr val="333333"/>
                </a:solidFill>
                <a:latin typeface="Arial" pitchFamily="34" charset="0"/>
                <a:ea typeface="Arial" pitchFamily="34" charset="-122"/>
                <a:cs typeface="Arial" pitchFamily="34" charset="-120"/>
              </a:rPr>
              <a:t>HST (14%)</a:t>
            </a:r>
            <a:endParaRPr lang="en-US" sz="600" dirty="0"/>
          </a:p>
        </p:txBody>
      </p:sp>
      <p:sp>
        <p:nvSpPr>
          <p:cNvPr id="145" name="Text 143"/>
          <p:cNvSpPr txBox="1"/>
          <p:nvPr/>
        </p:nvSpPr>
        <p:spPr>
          <a:xfrm>
            <a:off x="5842078" y="3143191"/>
            <a:ext cx="539262" cy="140208"/>
          </a:xfrm>
          <a:prstGeom prst="rect">
            <a:avLst/>
          </a:prstGeom>
          <a:noFill/>
          <a:ln/>
        </p:spPr>
        <p:txBody>
          <a:bodyPr wrap="square" lIns="12700" tIns="12700" rIns="12700" bIns="12700" rtlCol="0" anchor="ctr"/>
          <a:lstStyle/>
          <a:p>
            <a:pPr algn="r" indent="0" marL="0">
              <a:lnSpc>
                <a:spcPct val="95000"/>
              </a:lnSpc>
              <a:buNone/>
            </a:pPr>
            <a:r>
              <a:rPr lang="en-US" sz="600" dirty="0">
                <a:solidFill>
                  <a:srgbClr val="333333"/>
                </a:solidFill>
                <a:latin typeface="Arial" pitchFamily="34" charset="0"/>
                <a:ea typeface="Arial" pitchFamily="34" charset="-122"/>
                <a:cs typeface="Arial" pitchFamily="34" charset="-120"/>
              </a:rPr>
              <a:t>$4.06</a:t>
            </a:r>
            <a:endParaRPr lang="en-US" sz="600" dirty="0"/>
          </a:p>
        </p:txBody>
      </p:sp>
      <p:sp>
        <p:nvSpPr>
          <p:cNvPr id="146" name="Text 144"/>
          <p:cNvSpPr txBox="1"/>
          <p:nvPr/>
        </p:nvSpPr>
        <p:spPr>
          <a:xfrm>
            <a:off x="4531673" y="3304970"/>
            <a:ext cx="1078523" cy="140208"/>
          </a:xfrm>
          <a:prstGeom prst="rect">
            <a:avLst/>
          </a:prstGeom>
          <a:noFill/>
          <a:ln/>
        </p:spPr>
        <p:txBody>
          <a:bodyPr wrap="square" lIns="12700" tIns="12700" rIns="12700" bIns="12700" rtlCol="0" anchor="ctr"/>
          <a:lstStyle/>
          <a:p>
            <a:pPr algn="l" indent="0" marL="0">
              <a:lnSpc>
                <a:spcPct val="95000"/>
              </a:lnSpc>
              <a:buNone/>
            </a:pPr>
            <a:r>
              <a:rPr lang="en-US" sz="700" b="1" dirty="0">
                <a:solidFill>
                  <a:srgbClr val="333333"/>
                </a:solidFill>
                <a:latin typeface="Arial" pitchFamily="34" charset="0"/>
                <a:ea typeface="Arial" pitchFamily="34" charset="-122"/>
                <a:cs typeface="Arial" pitchFamily="34" charset="-120"/>
              </a:rPr>
              <a:t>Total</a:t>
            </a:r>
            <a:endParaRPr lang="en-US" sz="700" dirty="0"/>
          </a:p>
        </p:txBody>
      </p:sp>
      <p:sp>
        <p:nvSpPr>
          <p:cNvPr id="147" name="Text 145"/>
          <p:cNvSpPr txBox="1"/>
          <p:nvPr/>
        </p:nvSpPr>
        <p:spPr>
          <a:xfrm>
            <a:off x="5842078" y="3304970"/>
            <a:ext cx="539262" cy="140208"/>
          </a:xfrm>
          <a:prstGeom prst="rect">
            <a:avLst/>
          </a:prstGeom>
          <a:noFill/>
          <a:ln/>
        </p:spPr>
        <p:txBody>
          <a:bodyPr wrap="square" lIns="12700" tIns="12700" rIns="12700" bIns="12700" rtlCol="0" anchor="ctr"/>
          <a:lstStyle/>
          <a:p>
            <a:pPr algn="r" indent="0" marL="0">
              <a:lnSpc>
                <a:spcPct val="95000"/>
              </a:lnSpc>
              <a:buNone/>
            </a:pPr>
            <a:r>
              <a:rPr lang="en-US" sz="700" b="1" dirty="0">
                <a:solidFill>
                  <a:srgbClr val="333333"/>
                </a:solidFill>
                <a:latin typeface="Arial" pitchFamily="34" charset="0"/>
                <a:ea typeface="Arial" pitchFamily="34" charset="-122"/>
                <a:cs typeface="Arial" pitchFamily="34" charset="-120"/>
              </a:rPr>
              <a:t>$33.03</a:t>
            </a:r>
            <a:endParaRPr lang="en-US" sz="700" dirty="0"/>
          </a:p>
        </p:txBody>
      </p:sp>
      <p:sp>
        <p:nvSpPr>
          <p:cNvPr id="148" name="Shape 146"/>
          <p:cNvSpPr/>
          <p:nvPr/>
        </p:nvSpPr>
        <p:spPr>
          <a:xfrm>
            <a:off x="4531673" y="4275641"/>
            <a:ext cx="1849667" cy="301986"/>
          </a:xfrm>
          <a:prstGeom prst="roundRect">
            <a:avLst>
              <a:gd name="adj" fmla="val 15000"/>
            </a:avLst>
          </a:prstGeom>
          <a:solidFill>
            <a:srgbClr val="555555"/>
          </a:solidFill>
          <a:ln w="6350">
            <a:solidFill>
              <a:srgbClr val="555555"/>
            </a:solidFill>
            <a:prstDash val="solid"/>
          </a:ln>
        </p:spPr>
      </p:sp>
      <p:sp>
        <p:nvSpPr>
          <p:cNvPr id="149" name="Text 147"/>
          <p:cNvSpPr txBox="1"/>
          <p:nvPr/>
        </p:nvSpPr>
        <p:spPr>
          <a:xfrm>
            <a:off x="4531673" y="4275641"/>
            <a:ext cx="1849667" cy="301986"/>
          </a:xfrm>
          <a:prstGeom prst="rect">
            <a:avLst/>
          </a:prstGeom>
          <a:noFill/>
          <a:ln/>
        </p:spPr>
        <p:txBody>
          <a:bodyPr wrap="square" lIns="12700" tIns="12700" rIns="12700" bIns="12700" rtlCol="0" anchor="ctr"/>
          <a:lstStyle/>
          <a:p>
            <a:pPr algn="ctr" indent="0" marL="0">
              <a:lnSpc>
                <a:spcPct val="95000"/>
              </a:lnSpc>
              <a:buNone/>
            </a:pPr>
            <a:r>
              <a:rPr lang="en-US" sz="700" b="1" dirty="0">
                <a:solidFill>
                  <a:srgbClr val="FFFFFF"/>
                </a:solidFill>
                <a:latin typeface="Arial" pitchFamily="34" charset="0"/>
                <a:ea typeface="Arial" pitchFamily="34" charset="-122"/>
                <a:cs typeface="Arial" pitchFamily="34" charset="-120"/>
              </a:rPr>
              <a:t>Checkout · $33.03</a:t>
            </a:r>
            <a:endParaRPr lang="en-US" sz="700" dirty="0"/>
          </a:p>
        </p:txBody>
      </p:sp>
      <p:sp>
        <p:nvSpPr>
          <p:cNvPr id="150" name="Shape 148"/>
          <p:cNvSpPr/>
          <p:nvPr/>
        </p:nvSpPr>
        <p:spPr>
          <a:xfrm>
            <a:off x="4466961" y="813582"/>
            <a:ext cx="1979090" cy="3828757"/>
          </a:xfrm>
          <a:prstGeom prst="rect">
            <a:avLst/>
          </a:prstGeom>
          <a:ln w="10785">
            <a:solidFill>
              <a:srgbClr val="1E88E5"/>
            </a:solidFill>
            <a:prstDash val="dash"/>
          </a:ln>
        </p:spPr>
      </p:sp>
      <p:sp>
        <p:nvSpPr>
          <p:cNvPr id="151" name="Shape 149"/>
          <p:cNvSpPr/>
          <p:nvPr/>
        </p:nvSpPr>
        <p:spPr>
          <a:xfrm>
            <a:off x="4466961" y="705729"/>
            <a:ext cx="334342" cy="107852"/>
          </a:xfrm>
          <a:prstGeom prst="rect">
            <a:avLst/>
          </a:prstGeom>
          <a:solidFill>
            <a:srgbClr val="1E88E5"/>
          </a:solidFill>
          <a:ln/>
        </p:spPr>
      </p:sp>
      <p:sp>
        <p:nvSpPr>
          <p:cNvPr id="152" name="Text 150"/>
          <p:cNvSpPr txBox="1"/>
          <p:nvPr/>
        </p:nvSpPr>
        <p:spPr>
          <a:xfrm>
            <a:off x="4466961" y="705729"/>
            <a:ext cx="334342" cy="107852"/>
          </a:xfrm>
          <a:prstGeom prst="rect">
            <a:avLst/>
          </a:prstGeom>
          <a:noFill/>
          <a:ln/>
        </p:spPr>
        <p:txBody>
          <a:bodyPr wrap="square" lIns="12700" tIns="12700" rIns="12700" bIns="12700" rtlCol="0" anchor="ctr"/>
          <a:lstStyle/>
          <a:p>
            <a:pPr algn="ctr" indent="0" marL="0">
              <a:lnSpc>
                <a:spcPct val="95000"/>
              </a:lnSpc>
              <a:buNone/>
            </a:pPr>
            <a:r>
              <a:rPr lang="en-US" sz="500" b="1" dirty="0">
                <a:solidFill>
                  <a:srgbClr val="FFFFFF"/>
                </a:solidFill>
                <a:latin typeface="Courier New" pitchFamily="34" charset="0"/>
                <a:ea typeface="Courier New" pitchFamily="34" charset="-122"/>
                <a:cs typeface="Courier New" pitchFamily="34" charset="-120"/>
              </a:rPr>
              <a:t>&lt;main&gt;</a:t>
            </a:r>
            <a:endParaRPr lang="en-US" sz="500" dirty="0"/>
          </a:p>
        </p:txBody>
      </p:sp>
      <p:sp>
        <p:nvSpPr>
          <p:cNvPr id="153" name="Shape 151"/>
          <p:cNvSpPr/>
          <p:nvPr/>
        </p:nvSpPr>
        <p:spPr>
          <a:xfrm>
            <a:off x="2520227" y="4480560"/>
            <a:ext cx="962582" cy="0"/>
          </a:xfrm>
          <a:prstGeom prst="line">
            <a:avLst/>
          </a:prstGeom>
          <a:noFill/>
          <a:ln w="10785">
            <a:solidFill>
              <a:srgbClr val="1E88E5"/>
            </a:solidFill>
            <a:prstDash val="dash"/>
          </a:ln>
        </p:spPr>
      </p:sp>
      <p:sp>
        <p:nvSpPr>
          <p:cNvPr id="154" name="Shape 152"/>
          <p:cNvSpPr/>
          <p:nvPr/>
        </p:nvSpPr>
        <p:spPr>
          <a:xfrm>
            <a:off x="3482809" y="3831289"/>
            <a:ext cx="0" cy="649271"/>
          </a:xfrm>
          <a:prstGeom prst="line">
            <a:avLst/>
          </a:prstGeom>
          <a:noFill/>
          <a:ln w="10785">
            <a:solidFill>
              <a:srgbClr val="1E88E5"/>
            </a:solidFill>
            <a:prstDash val="dash"/>
          </a:ln>
        </p:spPr>
      </p:sp>
      <p:sp>
        <p:nvSpPr>
          <p:cNvPr id="155" name="Shape 153"/>
          <p:cNvSpPr/>
          <p:nvPr/>
        </p:nvSpPr>
        <p:spPr>
          <a:xfrm>
            <a:off x="3482809" y="3831289"/>
            <a:ext cx="962582" cy="0"/>
          </a:xfrm>
          <a:prstGeom prst="line">
            <a:avLst/>
          </a:prstGeom>
          <a:noFill/>
          <a:ln w="10785">
            <a:solidFill>
              <a:srgbClr val="1E88E5"/>
            </a:solidFill>
            <a:prstDash val="dash"/>
            <a:tailEnd type="triangle"/>
          </a:ln>
        </p:spPr>
      </p:sp>
      <p:sp>
        <p:nvSpPr>
          <p:cNvPr id="156" name="Shape 154"/>
          <p:cNvSpPr/>
          <p:nvPr/>
        </p:nvSpPr>
        <p:spPr>
          <a:xfrm>
            <a:off x="2619873" y="444070"/>
            <a:ext cx="329184" cy="329184"/>
          </a:xfrm>
          <a:prstGeom prst="ellipse">
            <a:avLst/>
          </a:prstGeom>
          <a:solidFill>
            <a:srgbClr val="E97132"/>
          </a:solidFill>
          <a:ln w="12700">
            <a:solidFill>
              <a:srgbClr val="E97132"/>
            </a:solidFill>
            <a:prstDash val="solid"/>
          </a:ln>
        </p:spPr>
      </p:sp>
      <p:sp>
        <p:nvSpPr>
          <p:cNvPr id="157" name="Text 155"/>
          <p:cNvSpPr txBox="1"/>
          <p:nvPr/>
        </p:nvSpPr>
        <p:spPr>
          <a:xfrm>
            <a:off x="2619873" y="44407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58" name="Shape 156"/>
          <p:cNvSpPr/>
          <p:nvPr/>
        </p:nvSpPr>
        <p:spPr>
          <a:xfrm>
            <a:off x="2727726" y="1630446"/>
            <a:ext cx="329184" cy="329184"/>
          </a:xfrm>
          <a:prstGeom prst="ellipse">
            <a:avLst/>
          </a:prstGeom>
          <a:solidFill>
            <a:srgbClr val="E97132"/>
          </a:solidFill>
          <a:ln w="12700">
            <a:solidFill>
              <a:srgbClr val="E97132"/>
            </a:solidFill>
            <a:prstDash val="solid"/>
          </a:ln>
        </p:spPr>
      </p:sp>
      <p:sp>
        <p:nvSpPr>
          <p:cNvPr id="159" name="Text 157"/>
          <p:cNvSpPr txBox="1"/>
          <p:nvPr/>
        </p:nvSpPr>
        <p:spPr>
          <a:xfrm>
            <a:off x="2727726" y="163044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0" name="Shape 158"/>
          <p:cNvSpPr/>
          <p:nvPr/>
        </p:nvSpPr>
        <p:spPr>
          <a:xfrm>
            <a:off x="2619873" y="2396197"/>
            <a:ext cx="329184" cy="329184"/>
          </a:xfrm>
          <a:prstGeom prst="ellipse">
            <a:avLst/>
          </a:prstGeom>
          <a:solidFill>
            <a:srgbClr val="E97132"/>
          </a:solidFill>
          <a:ln w="12700">
            <a:solidFill>
              <a:srgbClr val="E97132"/>
            </a:solidFill>
            <a:prstDash val="solid"/>
          </a:ln>
        </p:spPr>
      </p:sp>
      <p:sp>
        <p:nvSpPr>
          <p:cNvPr id="161" name="Text 159"/>
          <p:cNvSpPr txBox="1"/>
          <p:nvPr/>
        </p:nvSpPr>
        <p:spPr>
          <a:xfrm>
            <a:off x="2619873" y="2396197"/>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62" name="Shape 160"/>
          <p:cNvSpPr/>
          <p:nvPr/>
        </p:nvSpPr>
        <p:spPr>
          <a:xfrm>
            <a:off x="2619873" y="4046337"/>
            <a:ext cx="329184" cy="329184"/>
          </a:xfrm>
          <a:prstGeom prst="ellipse">
            <a:avLst/>
          </a:prstGeom>
          <a:solidFill>
            <a:srgbClr val="E97132"/>
          </a:solidFill>
          <a:ln w="12700">
            <a:solidFill>
              <a:srgbClr val="E97132"/>
            </a:solidFill>
            <a:prstDash val="solid"/>
          </a:ln>
        </p:spPr>
      </p:sp>
      <p:sp>
        <p:nvSpPr>
          <p:cNvPr id="163" name="Text 161"/>
          <p:cNvSpPr txBox="1"/>
          <p:nvPr/>
        </p:nvSpPr>
        <p:spPr>
          <a:xfrm>
            <a:off x="2619873" y="4046337"/>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64" name="Shape 162"/>
          <p:cNvSpPr/>
          <p:nvPr/>
        </p:nvSpPr>
        <p:spPr>
          <a:xfrm>
            <a:off x="4075879" y="2504049"/>
            <a:ext cx="329184" cy="329184"/>
          </a:xfrm>
          <a:prstGeom prst="ellipse">
            <a:avLst/>
          </a:prstGeom>
          <a:solidFill>
            <a:srgbClr val="E97132"/>
          </a:solidFill>
          <a:ln w="12700">
            <a:solidFill>
              <a:srgbClr val="E97132"/>
            </a:solidFill>
            <a:prstDash val="solid"/>
          </a:ln>
        </p:spPr>
      </p:sp>
      <p:sp>
        <p:nvSpPr>
          <p:cNvPr id="165" name="Text 163"/>
          <p:cNvSpPr txBox="1"/>
          <p:nvPr/>
        </p:nvSpPr>
        <p:spPr>
          <a:xfrm>
            <a:off x="4075879" y="2504049"/>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166" name="Shape 164"/>
          <p:cNvSpPr/>
          <p:nvPr/>
        </p:nvSpPr>
        <p:spPr>
          <a:xfrm>
            <a:off x="4075879" y="4262042"/>
            <a:ext cx="329184" cy="329184"/>
          </a:xfrm>
          <a:prstGeom prst="ellipse">
            <a:avLst/>
          </a:prstGeom>
          <a:solidFill>
            <a:srgbClr val="E97132"/>
          </a:solidFill>
          <a:ln w="12700">
            <a:solidFill>
              <a:srgbClr val="E97132"/>
            </a:solidFill>
            <a:prstDash val="solid"/>
          </a:ln>
        </p:spPr>
      </p:sp>
      <p:sp>
        <p:nvSpPr>
          <p:cNvPr id="167" name="Text 165"/>
          <p:cNvSpPr txBox="1"/>
          <p:nvPr/>
        </p:nvSpPr>
        <p:spPr>
          <a:xfrm>
            <a:off x="4075879" y="426204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6</a:t>
            </a:r>
            <a:endParaRPr lang="en-US" sz="1300" dirty="0"/>
          </a:p>
        </p:txBody>
      </p:sp>
      <p:sp>
        <p:nvSpPr>
          <p:cNvPr id="168" name="Text 166"/>
          <p:cNvSpPr txBox="1"/>
          <p:nvPr/>
        </p:nvSpPr>
        <p:spPr>
          <a:xfrm>
            <a:off x="6903720" y="411480"/>
            <a:ext cx="4876495" cy="54864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Finished: Mobile (375px)</a:t>
            </a:r>
            <a:endParaRPr lang="en-US" sz="2800" dirty="0"/>
          </a:p>
        </p:txBody>
      </p:sp>
      <p:sp>
        <p:nvSpPr>
          <p:cNvPr id="169" name="Shape 167"/>
          <p:cNvSpPr/>
          <p:nvPr/>
        </p:nvSpPr>
        <p:spPr>
          <a:xfrm>
            <a:off x="6903720" y="1188720"/>
            <a:ext cx="384048" cy="384048"/>
          </a:xfrm>
          <a:prstGeom prst="ellipse">
            <a:avLst/>
          </a:prstGeom>
          <a:solidFill>
            <a:srgbClr val="E97132"/>
          </a:solidFill>
          <a:ln w="12700">
            <a:solidFill>
              <a:srgbClr val="E97132"/>
            </a:solidFill>
            <a:prstDash val="solid"/>
          </a:ln>
        </p:spPr>
      </p:sp>
      <p:sp>
        <p:nvSpPr>
          <p:cNvPr id="170" name="Text 168"/>
          <p:cNvSpPr txBox="1"/>
          <p:nvPr/>
        </p:nvSpPr>
        <p:spPr>
          <a:xfrm>
            <a:off x="6903720" y="1188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71" name="Text 169"/>
          <p:cNvSpPr txBox="1"/>
          <p:nvPr/>
        </p:nvSpPr>
        <p:spPr>
          <a:xfrm>
            <a:off x="7452360" y="1161288"/>
            <a:ext cx="4327855"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Nav moves behind ☰</a:t>
            </a:r>
            <a:endParaRPr lang="en-US" sz="1600" dirty="0"/>
          </a:p>
        </p:txBody>
      </p:sp>
      <p:sp>
        <p:nvSpPr>
          <p:cNvPr id="172" name="Text 170"/>
          <p:cNvSpPr txBox="1"/>
          <p:nvPr/>
        </p:nvSpPr>
        <p:spPr>
          <a:xfrm>
            <a:off x="7452360" y="1481328"/>
            <a:ext cx="4327855" cy="45720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Cart stays visible: it's what users need most here.</a:t>
            </a:r>
            <a:endParaRPr lang="en-US" sz="1350" dirty="0"/>
          </a:p>
        </p:txBody>
      </p:sp>
      <p:sp>
        <p:nvSpPr>
          <p:cNvPr id="173" name="Shape 171"/>
          <p:cNvSpPr/>
          <p:nvPr/>
        </p:nvSpPr>
        <p:spPr>
          <a:xfrm>
            <a:off x="6903720" y="2057400"/>
            <a:ext cx="384048" cy="384048"/>
          </a:xfrm>
          <a:prstGeom prst="ellipse">
            <a:avLst/>
          </a:prstGeom>
          <a:solidFill>
            <a:srgbClr val="E97132"/>
          </a:solidFill>
          <a:ln w="12700">
            <a:solidFill>
              <a:srgbClr val="E97132"/>
            </a:solidFill>
            <a:prstDash val="solid"/>
          </a:ln>
        </p:spPr>
      </p:sp>
      <p:sp>
        <p:nvSpPr>
          <p:cNvPr id="174" name="Text 172"/>
          <p:cNvSpPr txBox="1"/>
          <p:nvPr/>
        </p:nvSpPr>
        <p:spPr>
          <a:xfrm>
            <a:off x="6903720" y="20574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75" name="Text 173"/>
          <p:cNvSpPr txBox="1"/>
          <p:nvPr/>
        </p:nvSpPr>
        <p:spPr>
          <a:xfrm>
            <a:off x="7452360" y="2029968"/>
            <a:ext cx="4327855"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Tabs scroll sideways</a:t>
            </a:r>
            <a:endParaRPr lang="en-US" sz="1600" dirty="0"/>
          </a:p>
        </p:txBody>
      </p:sp>
      <p:sp>
        <p:nvSpPr>
          <p:cNvPr id="176" name="Text 174"/>
          <p:cNvSpPr txBox="1"/>
          <p:nvPr/>
        </p:nvSpPr>
        <p:spPr>
          <a:xfrm>
            <a:off x="7452360" y="2350008"/>
            <a:ext cx="4327855" cy="45720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Instead of wrapping onto a second row.</a:t>
            </a:r>
            <a:endParaRPr lang="en-US" sz="1350" dirty="0"/>
          </a:p>
        </p:txBody>
      </p:sp>
      <p:sp>
        <p:nvSpPr>
          <p:cNvPr id="177" name="Shape 175"/>
          <p:cNvSpPr/>
          <p:nvPr/>
        </p:nvSpPr>
        <p:spPr>
          <a:xfrm>
            <a:off x="6903720" y="2926080"/>
            <a:ext cx="384048" cy="384048"/>
          </a:xfrm>
          <a:prstGeom prst="ellipse">
            <a:avLst/>
          </a:prstGeom>
          <a:solidFill>
            <a:srgbClr val="E97132"/>
          </a:solidFill>
          <a:ln w="12700">
            <a:solidFill>
              <a:srgbClr val="E97132"/>
            </a:solidFill>
            <a:prstDash val="solid"/>
          </a:ln>
        </p:spPr>
      </p:sp>
      <p:sp>
        <p:nvSpPr>
          <p:cNvPr id="178" name="Text 176"/>
          <p:cNvSpPr txBox="1"/>
          <p:nvPr/>
        </p:nvSpPr>
        <p:spPr>
          <a:xfrm>
            <a:off x="6903720" y="2926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79" name="Text 177"/>
          <p:cNvSpPr txBox="1"/>
          <p:nvPr/>
        </p:nvSpPr>
        <p:spPr>
          <a:xfrm>
            <a:off x="7452360" y="2898648"/>
            <a:ext cx="4327855"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Grid → 1 column</a:t>
            </a:r>
            <a:endParaRPr lang="en-US" sz="1600" dirty="0"/>
          </a:p>
        </p:txBody>
      </p:sp>
      <p:sp>
        <p:nvSpPr>
          <p:cNvPr id="180" name="Text 178"/>
          <p:cNvSpPr txBox="1"/>
          <p:nvPr/>
        </p:nvSpPr>
        <p:spPr>
          <a:xfrm>
            <a:off x="7452360" y="3218688"/>
            <a:ext cx="4327855" cy="45720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 buttons are 48 × 40, easy to tap with a thumb.</a:t>
            </a:r>
            <a:endParaRPr lang="en-US" sz="1350" dirty="0"/>
          </a:p>
        </p:txBody>
      </p:sp>
      <p:sp>
        <p:nvSpPr>
          <p:cNvPr id="181" name="Shape 179"/>
          <p:cNvSpPr/>
          <p:nvPr/>
        </p:nvSpPr>
        <p:spPr>
          <a:xfrm>
            <a:off x="6903720" y="3794760"/>
            <a:ext cx="384048" cy="384048"/>
          </a:xfrm>
          <a:prstGeom prst="ellipse">
            <a:avLst/>
          </a:prstGeom>
          <a:solidFill>
            <a:srgbClr val="E97132"/>
          </a:solidFill>
          <a:ln w="12700">
            <a:solidFill>
              <a:srgbClr val="E97132"/>
            </a:solidFill>
            <a:prstDash val="solid"/>
          </a:ln>
        </p:spPr>
      </p:sp>
      <p:sp>
        <p:nvSpPr>
          <p:cNvPr id="182" name="Text 180"/>
          <p:cNvSpPr txBox="1"/>
          <p:nvPr/>
        </p:nvSpPr>
        <p:spPr>
          <a:xfrm>
            <a:off x="6903720" y="3794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83" name="Text 181"/>
          <p:cNvSpPr txBox="1"/>
          <p:nvPr/>
        </p:nvSpPr>
        <p:spPr>
          <a:xfrm>
            <a:off x="7452360" y="3767328"/>
            <a:ext cx="4327855"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Sidebar → bottom bar</a:t>
            </a:r>
            <a:endParaRPr lang="en-US" sz="1600" dirty="0"/>
          </a:p>
        </p:txBody>
      </p:sp>
      <p:sp>
        <p:nvSpPr>
          <p:cNvPr id="184" name="Text 182"/>
          <p:cNvSpPr txBox="1"/>
          <p:nvPr/>
        </p:nvSpPr>
        <p:spPr>
          <a:xfrm>
            <a:off x="7452360" y="4087368"/>
            <a:ext cx="4327855" cy="45720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The order bar stays on screen. Tap it to open Your Order.</a:t>
            </a:r>
            <a:endParaRPr lang="en-US" sz="1350" dirty="0"/>
          </a:p>
        </p:txBody>
      </p:sp>
      <p:sp>
        <p:nvSpPr>
          <p:cNvPr id="185" name="Shape 183"/>
          <p:cNvSpPr/>
          <p:nvPr/>
        </p:nvSpPr>
        <p:spPr>
          <a:xfrm>
            <a:off x="6903720" y="4663440"/>
            <a:ext cx="384048" cy="384048"/>
          </a:xfrm>
          <a:prstGeom prst="ellipse">
            <a:avLst/>
          </a:prstGeom>
          <a:solidFill>
            <a:srgbClr val="E97132"/>
          </a:solidFill>
          <a:ln w="12700">
            <a:solidFill>
              <a:srgbClr val="E97132"/>
            </a:solidFill>
            <a:prstDash val="solid"/>
          </a:ln>
        </p:spPr>
      </p:sp>
      <p:sp>
        <p:nvSpPr>
          <p:cNvPr id="186" name="Text 184"/>
          <p:cNvSpPr txBox="1"/>
          <p:nvPr/>
        </p:nvSpPr>
        <p:spPr>
          <a:xfrm>
            <a:off x="6903720" y="4663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187" name="Text 185"/>
          <p:cNvSpPr txBox="1"/>
          <p:nvPr/>
        </p:nvSpPr>
        <p:spPr>
          <a:xfrm>
            <a:off x="7452360" y="4636008"/>
            <a:ext cx="4327855"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A new screen</a:t>
            </a:r>
            <a:endParaRPr lang="en-US" sz="1600" dirty="0"/>
          </a:p>
        </p:txBody>
      </p:sp>
      <p:sp>
        <p:nvSpPr>
          <p:cNvPr id="188" name="Text 186"/>
          <p:cNvSpPr txBox="1"/>
          <p:nvPr/>
        </p:nvSpPr>
        <p:spPr>
          <a:xfrm>
            <a:off x="7452360" y="4956048"/>
            <a:ext cx="4327855" cy="45720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 real form with a &lt;label&gt; for Special instructions.</a:t>
            </a:r>
            <a:endParaRPr lang="en-US" sz="1350" dirty="0"/>
          </a:p>
        </p:txBody>
      </p:sp>
      <p:sp>
        <p:nvSpPr>
          <p:cNvPr id="189" name="Shape 187"/>
          <p:cNvSpPr/>
          <p:nvPr/>
        </p:nvSpPr>
        <p:spPr>
          <a:xfrm>
            <a:off x="6903720" y="5532120"/>
            <a:ext cx="384048" cy="384048"/>
          </a:xfrm>
          <a:prstGeom prst="ellipse">
            <a:avLst/>
          </a:prstGeom>
          <a:solidFill>
            <a:srgbClr val="E97132"/>
          </a:solidFill>
          <a:ln w="12700">
            <a:solidFill>
              <a:srgbClr val="E97132"/>
            </a:solidFill>
            <a:prstDash val="solid"/>
          </a:ln>
        </p:spPr>
      </p:sp>
      <p:sp>
        <p:nvSpPr>
          <p:cNvPr id="190" name="Text 188"/>
          <p:cNvSpPr txBox="1"/>
          <p:nvPr/>
        </p:nvSpPr>
        <p:spPr>
          <a:xfrm>
            <a:off x="6903720" y="5532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6</a:t>
            </a:r>
            <a:endParaRPr lang="en-US" sz="1300" dirty="0"/>
          </a:p>
        </p:txBody>
      </p:sp>
      <p:sp>
        <p:nvSpPr>
          <p:cNvPr id="191" name="Text 189"/>
          <p:cNvSpPr txBox="1"/>
          <p:nvPr/>
        </p:nvSpPr>
        <p:spPr>
          <a:xfrm>
            <a:off x="7452360" y="5504688"/>
            <a:ext cx="4327855"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Checkout at the bottom</a:t>
            </a:r>
            <a:endParaRPr lang="en-US" sz="1600" dirty="0"/>
          </a:p>
        </p:txBody>
      </p:sp>
      <p:sp>
        <p:nvSpPr>
          <p:cNvPr id="192" name="Text 190"/>
          <p:cNvSpPr txBox="1"/>
          <p:nvPr/>
        </p:nvSpPr>
        <p:spPr>
          <a:xfrm>
            <a:off x="7452360" y="5824728"/>
            <a:ext cx="4327855" cy="45720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Easy to reach with a thumb.</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300" b="1" spc="100" kern="0" dirty="0">
                <a:solidFill>
                  <a:srgbClr val="595959"/>
                </a:solidFill>
                <a:latin typeface="Aptos" pitchFamily="34" charset="0"/>
                <a:ea typeface="Aptos" pitchFamily="34" charset="-122"/>
                <a:cs typeface="Aptos" pitchFamily="34" charset="-120"/>
              </a:rPr>
              <a:t>GUIDED EXAMPLE · STEP 7</a:t>
            </a:r>
            <a:endParaRPr lang="en-US" sz="1300" dirty="0"/>
          </a:p>
        </p:txBody>
      </p:sp>
      <p:sp>
        <p:nvSpPr>
          <p:cNvPr id="3" name="Text 1"/>
          <p:cNvSpPr txBox="1"/>
          <p:nvPr/>
        </p:nvSpPr>
        <p:spPr>
          <a:xfrm>
            <a:off x="548640" y="731520"/>
            <a:ext cx="5486400" cy="594360"/>
          </a:xfrm>
          <a:prstGeom prst="rect">
            <a:avLst/>
          </a:prstGeom>
          <a:noFill/>
          <a:ln/>
        </p:spPr>
        <p:txBody>
          <a:bodyPr wrap="square" lIns="0" tIns="0" rIns="0" bIns="0" rtlCol="0" anchor="ctr"/>
          <a:lstStyle/>
          <a:p>
            <a:pPr indent="0" marL="0">
              <a:buNone/>
            </a:pPr>
            <a:r>
              <a:rPr lang="en-US" sz="3200" dirty="0">
                <a:solidFill>
                  <a:srgbClr val="000000"/>
                </a:solidFill>
                <a:latin typeface="Aptos" pitchFamily="34" charset="0"/>
                <a:ea typeface="Aptos" pitchFamily="34" charset="-122"/>
                <a:cs typeface="Aptos" pitchFamily="34" charset="-120"/>
              </a:rPr>
              <a:t>Export and Post to Teams</a:t>
            </a:r>
            <a:endParaRPr lang="en-US" sz="3200" dirty="0"/>
          </a:p>
        </p:txBody>
      </p:sp>
      <p:sp>
        <p:nvSpPr>
          <p:cNvPr id="4" name="Shape 2"/>
          <p:cNvSpPr/>
          <p:nvPr/>
        </p:nvSpPr>
        <p:spPr>
          <a:xfrm>
            <a:off x="548640" y="1645920"/>
            <a:ext cx="438912" cy="438912"/>
          </a:xfrm>
          <a:prstGeom prst="ellipse">
            <a:avLst/>
          </a:prstGeom>
          <a:solidFill>
            <a:srgbClr val="E97132"/>
          </a:solidFill>
          <a:ln w="12700">
            <a:solidFill>
              <a:srgbClr val="E97132"/>
            </a:solidFill>
            <a:prstDash val="solid"/>
          </a:ln>
        </p:spPr>
      </p:sp>
      <p:sp>
        <p:nvSpPr>
          <p:cNvPr id="5" name="Text 3"/>
          <p:cNvSpPr txBox="1"/>
          <p:nvPr/>
        </p:nvSpPr>
        <p:spPr>
          <a:xfrm>
            <a:off x="548640" y="1645920"/>
            <a:ext cx="438912" cy="438912"/>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6" name="Text 4"/>
          <p:cNvSpPr txBox="1"/>
          <p:nvPr/>
        </p:nvSpPr>
        <p:spPr>
          <a:xfrm>
            <a:off x="1188720" y="1627632"/>
            <a:ext cx="4754880" cy="320040"/>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Export</a:t>
            </a:r>
            <a:endParaRPr lang="en-US" sz="1700" dirty="0"/>
          </a:p>
        </p:txBody>
      </p:sp>
      <p:sp>
        <p:nvSpPr>
          <p:cNvPr id="7" name="Text 5"/>
          <p:cNvSpPr txBox="1"/>
          <p:nvPr/>
        </p:nvSpPr>
        <p:spPr>
          <a:xfrm>
            <a:off x="1188720" y="1975104"/>
            <a:ext cx="4754880" cy="777240"/>
          </a:xfrm>
          <a:prstGeom prst="rect">
            <a:avLst/>
          </a:prstGeom>
          <a:noFill/>
          <a:ln/>
        </p:spPr>
        <p:txBody>
          <a:bodyPr wrap="square" lIns="0" tIns="0" rIns="0" bIns="0" rtlCol="0" anchor="t"/>
          <a:lstStyle/>
          <a:p>
            <a:pPr indent="0" marL="0">
              <a:buNone/>
            </a:pPr>
            <a:r>
              <a:rPr lang="en-US" sz="1400" dirty="0">
                <a:solidFill>
                  <a:srgbClr val="262626"/>
                </a:solidFill>
                <a:latin typeface="Aptos" pitchFamily="34" charset="0"/>
                <a:ea typeface="Aptos" pitchFamily="34" charset="-122"/>
                <a:cs typeface="Aptos" pitchFamily="34" charset="-120"/>
              </a:rPr>
              <a:t>File → Export as → PNG.</a:t>
            </a:r>
            <a:endParaRPr lang="en-US" sz="1400" dirty="0"/>
          </a:p>
        </p:txBody>
      </p:sp>
      <p:sp>
        <p:nvSpPr>
          <p:cNvPr id="8" name="Shape 6"/>
          <p:cNvSpPr/>
          <p:nvPr/>
        </p:nvSpPr>
        <p:spPr>
          <a:xfrm>
            <a:off x="548640" y="2834640"/>
            <a:ext cx="438912" cy="438912"/>
          </a:xfrm>
          <a:prstGeom prst="ellipse">
            <a:avLst/>
          </a:prstGeom>
          <a:solidFill>
            <a:srgbClr val="E97132"/>
          </a:solidFill>
          <a:ln w="12700">
            <a:solidFill>
              <a:srgbClr val="E97132"/>
            </a:solidFill>
            <a:prstDash val="solid"/>
          </a:ln>
        </p:spPr>
      </p:sp>
      <p:sp>
        <p:nvSpPr>
          <p:cNvPr id="9" name="Text 7"/>
          <p:cNvSpPr txBox="1"/>
          <p:nvPr/>
        </p:nvSpPr>
        <p:spPr>
          <a:xfrm>
            <a:off x="548640" y="2834640"/>
            <a:ext cx="438912" cy="438912"/>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0" name="Text 8"/>
          <p:cNvSpPr txBox="1"/>
          <p:nvPr/>
        </p:nvSpPr>
        <p:spPr>
          <a:xfrm>
            <a:off x="1188720" y="2816352"/>
            <a:ext cx="4754880" cy="320040"/>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Tick "Include a copy of my diagram"</a:t>
            </a:r>
            <a:endParaRPr lang="en-US" sz="1700" dirty="0"/>
          </a:p>
        </p:txBody>
      </p:sp>
      <p:sp>
        <p:nvSpPr>
          <p:cNvPr id="11" name="Text 9"/>
          <p:cNvSpPr txBox="1"/>
          <p:nvPr/>
        </p:nvSpPr>
        <p:spPr>
          <a:xfrm>
            <a:off x="1188720" y="3163824"/>
            <a:ext cx="4754880" cy="777240"/>
          </a:xfrm>
          <a:prstGeom prst="rect">
            <a:avLst/>
          </a:prstGeom>
          <a:noFill/>
          <a:ln/>
        </p:spPr>
        <p:txBody>
          <a:bodyPr wrap="square" lIns="0" tIns="0" rIns="0" bIns="0" rtlCol="0" anchor="t"/>
          <a:lstStyle/>
          <a:p>
            <a:pPr indent="0" marL="0">
              <a:buNone/>
            </a:pPr>
            <a:r>
              <a:rPr lang="en-US" sz="1400" dirty="0">
                <a:solidFill>
                  <a:srgbClr val="262626"/>
                </a:solidFill>
                <a:latin typeface="Aptos" pitchFamily="34" charset="0"/>
                <a:ea typeface="Aptos" pitchFamily="34" charset="-122"/>
                <a:cs typeface="Aptos" pitchFamily="34" charset="-120"/>
              </a:rPr>
              <a:t>The PNG then opens again in draw.io and you can still edit it. You only need to share one file per page.</a:t>
            </a:r>
            <a:endParaRPr lang="en-US" sz="1400" dirty="0"/>
          </a:p>
        </p:txBody>
      </p:sp>
      <p:sp>
        <p:nvSpPr>
          <p:cNvPr id="12" name="Shape 10"/>
          <p:cNvSpPr/>
          <p:nvPr/>
        </p:nvSpPr>
        <p:spPr>
          <a:xfrm>
            <a:off x="548640" y="4023360"/>
            <a:ext cx="438912" cy="438912"/>
          </a:xfrm>
          <a:prstGeom prst="ellipse">
            <a:avLst/>
          </a:prstGeom>
          <a:solidFill>
            <a:srgbClr val="E97132"/>
          </a:solidFill>
          <a:ln w="12700">
            <a:solidFill>
              <a:srgbClr val="E97132"/>
            </a:solidFill>
            <a:prstDash val="solid"/>
          </a:ln>
        </p:spPr>
      </p:sp>
      <p:sp>
        <p:nvSpPr>
          <p:cNvPr id="13" name="Text 11"/>
          <p:cNvSpPr txBox="1"/>
          <p:nvPr/>
        </p:nvSpPr>
        <p:spPr>
          <a:xfrm>
            <a:off x="548640" y="4023360"/>
            <a:ext cx="438912" cy="438912"/>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14" name="Text 12"/>
          <p:cNvSpPr txBox="1"/>
          <p:nvPr/>
        </p:nvSpPr>
        <p:spPr>
          <a:xfrm>
            <a:off x="1188720" y="4005072"/>
            <a:ext cx="4754880" cy="320040"/>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Do both pages</a:t>
            </a:r>
            <a:endParaRPr lang="en-US" sz="1700" dirty="0"/>
          </a:p>
        </p:txBody>
      </p:sp>
      <p:sp>
        <p:nvSpPr>
          <p:cNvPr id="15" name="Text 13"/>
          <p:cNvSpPr txBox="1"/>
          <p:nvPr/>
        </p:nvSpPr>
        <p:spPr>
          <a:xfrm>
            <a:off x="1188720" y="4352544"/>
            <a:ext cx="4754880" cy="777240"/>
          </a:xfrm>
          <a:prstGeom prst="rect">
            <a:avLst/>
          </a:prstGeom>
          <a:noFill/>
          <a:ln/>
        </p:spPr>
        <p:txBody>
          <a:bodyPr wrap="square" lIns="0" tIns="0" rIns="0" bIns="0" rtlCol="0" anchor="t"/>
          <a:lstStyle/>
          <a:p>
            <a:pPr indent="0" marL="0">
              <a:buNone/>
            </a:pPr>
            <a:r>
              <a:rPr lang="en-US" sz="1400" dirty="0">
                <a:solidFill>
                  <a:srgbClr val="262626"/>
                </a:solidFill>
                <a:latin typeface="Aptos" pitchFamily="34" charset="0"/>
                <a:ea typeface="Aptos" pitchFamily="34" charset="-122"/>
                <a:cs typeface="Aptos" pitchFamily="34" charset="-120"/>
              </a:rPr>
              <a:t>Switch to the Mobile tab and export again.</a:t>
            </a:r>
            <a:endParaRPr lang="en-US" sz="1400" dirty="0"/>
          </a:p>
        </p:txBody>
      </p:sp>
      <p:sp>
        <p:nvSpPr>
          <p:cNvPr id="16" name="Shape 14"/>
          <p:cNvSpPr/>
          <p:nvPr/>
        </p:nvSpPr>
        <p:spPr>
          <a:xfrm>
            <a:off x="548640" y="5212080"/>
            <a:ext cx="438912" cy="438912"/>
          </a:xfrm>
          <a:prstGeom prst="ellipse">
            <a:avLst/>
          </a:prstGeom>
          <a:solidFill>
            <a:srgbClr val="E97132"/>
          </a:solidFill>
          <a:ln w="12700">
            <a:solidFill>
              <a:srgbClr val="E97132"/>
            </a:solidFill>
            <a:prstDash val="solid"/>
          </a:ln>
        </p:spPr>
      </p:sp>
      <p:sp>
        <p:nvSpPr>
          <p:cNvPr id="17" name="Text 15"/>
          <p:cNvSpPr txBox="1"/>
          <p:nvPr/>
        </p:nvSpPr>
        <p:spPr>
          <a:xfrm>
            <a:off x="548640" y="5212080"/>
            <a:ext cx="438912" cy="438912"/>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18" name="Text 16"/>
          <p:cNvSpPr txBox="1"/>
          <p:nvPr/>
        </p:nvSpPr>
        <p:spPr>
          <a:xfrm>
            <a:off x="1188720" y="5193792"/>
            <a:ext cx="4754880" cy="320040"/>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Post</a:t>
            </a:r>
            <a:endParaRPr lang="en-US" sz="1700" dirty="0"/>
          </a:p>
        </p:txBody>
      </p:sp>
      <p:sp>
        <p:nvSpPr>
          <p:cNvPr id="19" name="Text 17"/>
          <p:cNvSpPr txBox="1"/>
          <p:nvPr/>
        </p:nvSpPr>
        <p:spPr>
          <a:xfrm>
            <a:off x="1188720" y="5541264"/>
            <a:ext cx="4754880" cy="777240"/>
          </a:xfrm>
          <a:prstGeom prst="rect">
            <a:avLst/>
          </a:prstGeom>
          <a:noFill/>
          <a:ln/>
        </p:spPr>
        <p:txBody>
          <a:bodyPr wrap="square" lIns="0" tIns="0" rIns="0" bIns="0" rtlCol="0" anchor="t"/>
          <a:lstStyle/>
          <a:p>
            <a:pPr indent="0" marL="0">
              <a:buNone/>
            </a:pPr>
            <a:r>
              <a:rPr lang="en-US" sz="1400" dirty="0">
                <a:solidFill>
                  <a:srgbClr val="262626"/>
                </a:solidFill>
                <a:latin typeface="Aptos" pitchFamily="34" charset="0"/>
                <a:ea typeface="Aptos" pitchFamily="34" charset="-122"/>
                <a:cs typeface="Aptos" pitchFamily="34" charset="-120"/>
              </a:rPr>
              <a:t>In the class Teams channel: both images, your name and client, your user stories, and one sentence about a mobile change.</a:t>
            </a:r>
            <a:endParaRPr lang="en-US" sz="1400" dirty="0"/>
          </a:p>
        </p:txBody>
      </p:sp>
      <p:sp>
        <p:nvSpPr>
          <p:cNvPr id="20" name="Shape 18"/>
          <p:cNvSpPr/>
          <p:nvPr/>
        </p:nvSpPr>
        <p:spPr>
          <a:xfrm>
            <a:off x="6400800" y="548640"/>
            <a:ext cx="5303520" cy="5760720"/>
          </a:xfrm>
          <a:prstGeom prst="roundRect">
            <a:avLst>
              <a:gd name="adj" fmla="val 206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1" name="Shape 19"/>
          <p:cNvSpPr/>
          <p:nvPr/>
        </p:nvSpPr>
        <p:spPr>
          <a:xfrm>
            <a:off x="6629400" y="749808"/>
            <a:ext cx="457200" cy="457200"/>
          </a:xfrm>
          <a:prstGeom prst="ellipse">
            <a:avLst/>
          </a:prstGeom>
          <a:solidFill>
            <a:srgbClr val="1B5E82"/>
          </a:solidFill>
          <a:ln w="12700">
            <a:solidFill>
              <a:srgbClr val="1B5E82"/>
            </a:solidFill>
            <a:prstDash val="solid"/>
          </a:ln>
        </p:spPr>
      </p:sp>
      <p:sp>
        <p:nvSpPr>
          <p:cNvPr id="22" name="Text 20"/>
          <p:cNvSpPr txBox="1"/>
          <p:nvPr/>
        </p:nvSpPr>
        <p:spPr>
          <a:xfrm>
            <a:off x="6629400" y="7498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JS</a:t>
            </a:r>
            <a:endParaRPr lang="en-US" sz="1300" dirty="0"/>
          </a:p>
        </p:txBody>
      </p:sp>
      <p:sp>
        <p:nvSpPr>
          <p:cNvPr id="23" name="Text 21"/>
          <p:cNvSpPr txBox="1"/>
          <p:nvPr/>
        </p:nvSpPr>
        <p:spPr>
          <a:xfrm>
            <a:off x="7223760" y="777240"/>
            <a:ext cx="4297680" cy="365760"/>
          </a:xfrm>
          <a:prstGeom prst="rect">
            <a:avLst/>
          </a:prstGeom>
          <a:noFill/>
          <a:ln/>
        </p:spPr>
        <p:txBody>
          <a:bodyPr wrap="square" lIns="0" tIns="0" rIns="0" bIns="0" rtlCol="0" anchor="ctr"/>
          <a:lstStyle/>
          <a:p>
            <a:pPr indent="0" marL="0">
              <a:buNone/>
            </a:pPr>
            <a:r>
              <a:rPr lang="en-US" sz="1300" b="1" dirty="0">
                <a:solidFill>
                  <a:srgbClr val="000000"/>
                </a:solidFill>
                <a:latin typeface="Aptos" pitchFamily="34" charset="0"/>
                <a:ea typeface="Aptos" pitchFamily="34" charset="-122"/>
                <a:cs typeface="Aptos" pitchFamily="34" charset="-120"/>
              </a:rPr>
              <a:t>Jamie Symonds</a:t>
            </a:r>
            <a:pPr indent="0" marL="0">
              <a:buNone/>
            </a:pPr>
            <a:r>
              <a:rPr lang="en-US" sz="1100" dirty="0">
                <a:solidFill>
                  <a:srgbClr val="7F7F7F"/>
                </a:solidFill>
                <a:latin typeface="Aptos" pitchFamily="34" charset="0"/>
                <a:ea typeface="Aptos" pitchFamily="34" charset="-122"/>
                <a:cs typeface="Aptos" pitchFamily="34" charset="-120"/>
              </a:rPr>
              <a:t>   10:42 AM</a:t>
            </a:r>
            <a:endParaRPr lang="en-US" sz="1300" dirty="0"/>
          </a:p>
        </p:txBody>
      </p:sp>
      <p:sp>
        <p:nvSpPr>
          <p:cNvPr id="24" name="Text 22"/>
          <p:cNvSpPr txBox="1"/>
          <p:nvPr/>
        </p:nvSpPr>
        <p:spPr>
          <a:xfrm>
            <a:off x="7223760" y="1234440"/>
            <a:ext cx="4297680" cy="320040"/>
          </a:xfrm>
          <a:prstGeom prst="rect">
            <a:avLst/>
          </a:prstGeom>
          <a:noFill/>
          <a:ln/>
        </p:spPr>
        <p:txBody>
          <a:bodyPr wrap="square" lIns="0" tIns="0" rIns="0" bIns="0" rtlCol="0" anchor="ctr"/>
          <a:lstStyle/>
          <a:p>
            <a:pPr indent="0" marL="0">
              <a:buNone/>
            </a:pPr>
            <a:r>
              <a:rPr lang="en-US" sz="1350" b="1" dirty="0">
                <a:solidFill>
                  <a:srgbClr val="000000"/>
                </a:solidFill>
                <a:latin typeface="Aptos" pitchFamily="34" charset="0"/>
                <a:ea typeface="Aptos" pitchFamily="34" charset="-122"/>
                <a:cs typeface="Aptos" pitchFamily="34" charset="-120"/>
              </a:rPr>
              <a:t>Harbourside Fish &amp; Chips: online ordering page</a:t>
            </a:r>
            <a:endParaRPr lang="en-US" sz="1350" dirty="0"/>
          </a:p>
        </p:txBody>
      </p:sp>
      <p:sp>
        <p:nvSpPr>
          <p:cNvPr id="25" name="Text 23"/>
          <p:cNvSpPr txBox="1"/>
          <p:nvPr/>
        </p:nvSpPr>
        <p:spPr>
          <a:xfrm>
            <a:off x="7223760" y="1572768"/>
            <a:ext cx="4297680" cy="502920"/>
          </a:xfrm>
          <a:prstGeom prst="rect">
            <a:avLst/>
          </a:prstGeom>
          <a:noFill/>
          <a:ln/>
        </p:spPr>
        <p:txBody>
          <a:bodyPr wrap="square" lIns="0" tIns="0" rIns="0" bIns="0" rtlCol="0" anchor="t"/>
          <a:lstStyle/>
          <a:p>
            <a:pPr indent="0" marL="0">
              <a:buNone/>
            </a:pPr>
            <a:r>
              <a:rPr lang="en-US" sz="1200" dirty="0">
                <a:solidFill>
                  <a:srgbClr val="262626"/>
                </a:solidFill>
                <a:latin typeface="Aptos" pitchFamily="34" charset="0"/>
                <a:ea typeface="Aptos" pitchFamily="34" charset="-122"/>
                <a:cs typeface="Aptos" pitchFamily="34" charset="-120"/>
              </a:rPr>
              <a:t>Stories: browse by category · pickup or delivery · see my total · special instructions · order with one thumb</a:t>
            </a:r>
            <a:endParaRPr lang="en-US" sz="1200" dirty="0"/>
          </a:p>
        </p:txBody>
      </p:sp>
      <p:sp>
        <p:nvSpPr>
          <p:cNvPr id="26" name="Text 24"/>
          <p:cNvSpPr txBox="1"/>
          <p:nvPr/>
        </p:nvSpPr>
        <p:spPr>
          <a:xfrm>
            <a:off x="7223760" y="2103120"/>
            <a:ext cx="4297680" cy="685800"/>
          </a:xfrm>
          <a:prstGeom prst="rect">
            <a:avLst/>
          </a:prstGeom>
          <a:noFill/>
          <a:ln/>
        </p:spPr>
        <p:txBody>
          <a:bodyPr wrap="square" lIns="0" tIns="0" rIns="0" bIns="0" rtlCol="0" anchor="t"/>
          <a:lstStyle/>
          <a:p>
            <a:pPr indent="0" marL="0">
              <a:buNone/>
            </a:pPr>
            <a:r>
              <a:rPr lang="en-US" sz="1200" dirty="0">
                <a:solidFill>
                  <a:srgbClr val="262626"/>
                </a:solidFill>
                <a:latin typeface="Aptos" pitchFamily="34" charset="0"/>
                <a:ea typeface="Aptos" pitchFamily="34" charset="-122"/>
                <a:cs typeface="Aptos" pitchFamily="34" charset="-120"/>
              </a:rPr>
              <a:t>On mobile I replaced the order sidebar with a bar at the bottom of the screen, because there's no room for a sidebar but users still need to see their total.</a:t>
            </a:r>
            <a:endParaRPr lang="en-US" sz="1200" dirty="0"/>
          </a:p>
        </p:txBody>
      </p:sp>
      <p:sp>
        <p:nvSpPr>
          <p:cNvPr id="27" name="Shape 25"/>
          <p:cNvSpPr/>
          <p:nvPr/>
        </p:nvSpPr>
        <p:spPr>
          <a:xfrm>
            <a:off x="7223760" y="2926080"/>
            <a:ext cx="2514600" cy="1600200"/>
          </a:xfrm>
          <a:prstGeom prst="rect">
            <a:avLst/>
          </a:prstGeom>
          <a:solidFill>
            <a:srgbClr val="F2F2F2"/>
          </a:solidFill>
          <a:ln w="9525">
            <a:solidFill>
              <a:srgbClr val="D0D7DB"/>
            </a:solidFill>
            <a:prstDash val="solid"/>
          </a:ln>
        </p:spPr>
      </p:sp>
      <p:sp>
        <p:nvSpPr>
          <p:cNvPr id="28" name="Shape 26"/>
          <p:cNvSpPr/>
          <p:nvPr/>
        </p:nvSpPr>
        <p:spPr>
          <a:xfrm>
            <a:off x="7642860" y="2985770"/>
            <a:ext cx="1676400" cy="1480820"/>
          </a:xfrm>
          <a:prstGeom prst="rect">
            <a:avLst/>
          </a:prstGeom>
          <a:solidFill>
            <a:srgbClr val="FFFFFF"/>
          </a:solidFill>
          <a:ln w="6350">
            <a:solidFill>
              <a:srgbClr val="333333"/>
            </a:solidFill>
            <a:prstDash val="solid"/>
          </a:ln>
        </p:spPr>
      </p:sp>
      <p:sp>
        <p:nvSpPr>
          <p:cNvPr id="29" name="Shape 27"/>
          <p:cNvSpPr/>
          <p:nvPr/>
        </p:nvSpPr>
        <p:spPr>
          <a:xfrm>
            <a:off x="7642860" y="2985770"/>
            <a:ext cx="1676400" cy="50292"/>
          </a:xfrm>
          <a:prstGeom prst="rect">
            <a:avLst/>
          </a:prstGeom>
          <a:solidFill>
            <a:srgbClr val="EEEEEE"/>
          </a:solidFill>
          <a:ln w="6350">
            <a:solidFill>
              <a:srgbClr val="333333"/>
            </a:solidFill>
            <a:prstDash val="solid"/>
          </a:ln>
        </p:spPr>
      </p:sp>
      <p:sp>
        <p:nvSpPr>
          <p:cNvPr id="30" name="Shape 28"/>
          <p:cNvSpPr/>
          <p:nvPr/>
        </p:nvSpPr>
        <p:spPr>
          <a:xfrm>
            <a:off x="7782560" y="2994152"/>
            <a:ext cx="698500" cy="33528"/>
          </a:xfrm>
          <a:prstGeom prst="roundRect">
            <a:avLst>
              <a:gd name="adj" fmla="val 50000"/>
            </a:avLst>
          </a:prstGeom>
          <a:solidFill>
            <a:srgbClr val="FFFFFF"/>
          </a:solidFill>
          <a:ln w="6350">
            <a:solidFill>
              <a:srgbClr val="BBBBBB"/>
            </a:solidFill>
            <a:prstDash val="solid"/>
          </a:ln>
        </p:spPr>
      </p:sp>
      <p:sp>
        <p:nvSpPr>
          <p:cNvPr id="31" name="Text 29"/>
          <p:cNvSpPr txBox="1"/>
          <p:nvPr/>
        </p:nvSpPr>
        <p:spPr>
          <a:xfrm>
            <a:off x="7782560" y="2994152"/>
            <a:ext cx="698500" cy="33528"/>
          </a:xfrm>
          <a:prstGeom prst="rect">
            <a:avLst/>
          </a:prstGeom>
          <a:noFill/>
          <a:ln/>
        </p:spPr>
        <p:txBody>
          <a:bodyPr wrap="square" lIns="12700" tIns="12700" rIns="12700" bIns="12700" rtlCol="0" anchor="ctr"/>
          <a:lstStyle/>
          <a:p>
            <a:pPr algn="l" indent="0" marL="0">
              <a:lnSpc>
                <a:spcPct val="95000"/>
              </a:lnSpc>
              <a:buNone/>
            </a:pPr>
            <a:r>
              <a:rPr lang="en-US" sz="150" dirty="0">
                <a:solidFill>
                  <a:srgbClr val="666666"/>
                </a:solidFill>
                <a:latin typeface="Arial" pitchFamily="34" charset="0"/>
                <a:ea typeface="Arial" pitchFamily="34" charset="-122"/>
                <a:cs typeface="Arial" pitchFamily="34" charset="-120"/>
              </a:rPr>
              <a:t>harbourside.ca/order</a:t>
            </a:r>
            <a:endParaRPr lang="en-US" sz="150" dirty="0"/>
          </a:p>
        </p:txBody>
      </p:sp>
      <p:sp>
        <p:nvSpPr>
          <p:cNvPr id="32" name="Shape 30"/>
          <p:cNvSpPr/>
          <p:nvPr/>
        </p:nvSpPr>
        <p:spPr>
          <a:xfrm>
            <a:off x="7662418" y="3002534"/>
            <a:ext cx="16764" cy="16764"/>
          </a:xfrm>
          <a:prstGeom prst="ellipse">
            <a:avLst/>
          </a:prstGeom>
          <a:solidFill>
            <a:srgbClr val="CCCCCC"/>
          </a:solidFill>
          <a:ln/>
        </p:spPr>
      </p:sp>
      <p:sp>
        <p:nvSpPr>
          <p:cNvPr id="33" name="Shape 31"/>
          <p:cNvSpPr/>
          <p:nvPr/>
        </p:nvSpPr>
        <p:spPr>
          <a:xfrm>
            <a:off x="7690358" y="3002534"/>
            <a:ext cx="16764" cy="16764"/>
          </a:xfrm>
          <a:prstGeom prst="ellipse">
            <a:avLst/>
          </a:prstGeom>
          <a:solidFill>
            <a:srgbClr val="CCCCCC"/>
          </a:solidFill>
          <a:ln/>
        </p:spPr>
      </p:sp>
      <p:sp>
        <p:nvSpPr>
          <p:cNvPr id="34" name="Shape 32"/>
          <p:cNvSpPr/>
          <p:nvPr/>
        </p:nvSpPr>
        <p:spPr>
          <a:xfrm>
            <a:off x="7718298" y="3002534"/>
            <a:ext cx="16764" cy="16764"/>
          </a:xfrm>
          <a:prstGeom prst="ellipse">
            <a:avLst/>
          </a:prstGeom>
          <a:solidFill>
            <a:srgbClr val="CCCCCC"/>
          </a:solidFill>
          <a:ln/>
        </p:spPr>
      </p:sp>
      <p:sp>
        <p:nvSpPr>
          <p:cNvPr id="35" name="Shape 33"/>
          <p:cNvSpPr/>
          <p:nvPr/>
        </p:nvSpPr>
        <p:spPr>
          <a:xfrm>
            <a:off x="7670800" y="3057017"/>
            <a:ext cx="69850" cy="69850"/>
          </a:xfrm>
          <a:prstGeom prst="rect">
            <a:avLst/>
          </a:prstGeom>
          <a:solidFill>
            <a:srgbClr val="FFFFFF"/>
          </a:solidFill>
          <a:ln w="6350">
            <a:solidFill>
              <a:srgbClr val="999999"/>
            </a:solidFill>
            <a:prstDash val="solid"/>
          </a:ln>
        </p:spPr>
      </p:sp>
      <p:sp>
        <p:nvSpPr>
          <p:cNvPr id="36" name="Shape 34"/>
          <p:cNvSpPr/>
          <p:nvPr/>
        </p:nvSpPr>
        <p:spPr>
          <a:xfrm>
            <a:off x="7670800" y="3057017"/>
            <a:ext cx="69850" cy="69850"/>
          </a:xfrm>
          <a:prstGeom prst="line">
            <a:avLst/>
          </a:prstGeom>
          <a:noFill/>
          <a:ln w="6350">
            <a:solidFill>
              <a:srgbClr val="999999"/>
            </a:solidFill>
            <a:prstDash val="solid"/>
          </a:ln>
        </p:spPr>
      </p:sp>
      <p:sp>
        <p:nvSpPr>
          <p:cNvPr id="37" name="Shape 35"/>
          <p:cNvSpPr/>
          <p:nvPr/>
        </p:nvSpPr>
        <p:spPr>
          <a:xfrm flipV="1">
            <a:off x="7670800" y="3057017"/>
            <a:ext cx="69850" cy="69850"/>
          </a:xfrm>
          <a:prstGeom prst="line">
            <a:avLst/>
          </a:prstGeom>
          <a:noFill/>
          <a:ln w="6350">
            <a:solidFill>
              <a:srgbClr val="999999"/>
            </a:solidFill>
            <a:prstDash val="solid"/>
          </a:ln>
        </p:spPr>
      </p:sp>
      <p:sp>
        <p:nvSpPr>
          <p:cNvPr id="38" name="Text 36"/>
          <p:cNvSpPr txBox="1"/>
          <p:nvPr/>
        </p:nvSpPr>
        <p:spPr>
          <a:xfrm>
            <a:off x="7754620" y="3064002"/>
            <a:ext cx="391160" cy="55880"/>
          </a:xfrm>
          <a:prstGeom prst="rect">
            <a:avLst/>
          </a:prstGeom>
          <a:noFill/>
          <a:ln/>
        </p:spPr>
        <p:txBody>
          <a:bodyPr wrap="square" lIns="12700" tIns="12700" rIns="12700" bIns="12700" rtlCol="0" anchor="ctr"/>
          <a:lstStyle/>
          <a:p>
            <a:pPr algn="l" indent="0" marL="0">
              <a:lnSpc>
                <a:spcPct val="95000"/>
              </a:lnSpc>
              <a:buNone/>
            </a:pPr>
            <a:r>
              <a:rPr lang="en-US" sz="200" b="1" dirty="0">
                <a:solidFill>
                  <a:srgbClr val="333333"/>
                </a:solidFill>
                <a:latin typeface="Arial" pitchFamily="34" charset="0"/>
                <a:ea typeface="Arial" pitchFamily="34" charset="-122"/>
                <a:cs typeface="Arial" pitchFamily="34" charset="-120"/>
              </a:rPr>
              <a:t>Harbourside Fish &amp; Chips</a:t>
            </a:r>
            <a:endParaRPr lang="en-US" sz="200" dirty="0"/>
          </a:p>
        </p:txBody>
      </p:sp>
      <p:sp>
        <p:nvSpPr>
          <p:cNvPr id="39" name="Text 37"/>
          <p:cNvSpPr txBox="1"/>
          <p:nvPr/>
        </p:nvSpPr>
        <p:spPr>
          <a:xfrm>
            <a:off x="8313420" y="3075178"/>
            <a:ext cx="181610" cy="33528"/>
          </a:xfrm>
          <a:prstGeom prst="rect">
            <a:avLst/>
          </a:prstGeom>
          <a:noFill/>
          <a:ln/>
        </p:spPr>
        <p:txBody>
          <a:bodyPr wrap="square" lIns="12700" tIns="12700" rIns="12700" bIns="12700" rtlCol="0" anchor="ctr"/>
          <a:lstStyle/>
          <a:p>
            <a:pPr algn="l" indent="0" marL="0">
              <a:lnSpc>
                <a:spcPct val="95000"/>
              </a:lnSpc>
              <a:buNone/>
            </a:pPr>
            <a:r>
              <a:rPr lang="en-US" sz="150" dirty="0">
                <a:solidFill>
                  <a:srgbClr val="333333"/>
                </a:solidFill>
                <a:latin typeface="Arial" pitchFamily="34" charset="0"/>
                <a:ea typeface="Arial" pitchFamily="34" charset="-122"/>
                <a:cs typeface="Arial" pitchFamily="34" charset="-120"/>
              </a:rPr>
              <a:t>Menu</a:t>
            </a:r>
            <a:endParaRPr lang="en-US" sz="150" dirty="0"/>
          </a:p>
        </p:txBody>
      </p:sp>
      <p:sp>
        <p:nvSpPr>
          <p:cNvPr id="40" name="Text 38"/>
          <p:cNvSpPr txBox="1"/>
          <p:nvPr/>
        </p:nvSpPr>
        <p:spPr>
          <a:xfrm>
            <a:off x="8425180" y="3075178"/>
            <a:ext cx="181610" cy="33528"/>
          </a:xfrm>
          <a:prstGeom prst="rect">
            <a:avLst/>
          </a:prstGeom>
          <a:noFill/>
          <a:ln/>
        </p:spPr>
        <p:txBody>
          <a:bodyPr wrap="square" lIns="12700" tIns="12700" rIns="12700" bIns="12700" rtlCol="0" anchor="ctr"/>
          <a:lstStyle/>
          <a:p>
            <a:pPr algn="l" indent="0" marL="0">
              <a:lnSpc>
                <a:spcPct val="95000"/>
              </a:lnSpc>
              <a:buNone/>
            </a:pPr>
            <a:r>
              <a:rPr lang="en-US" sz="150" b="1" u="sng" dirty="0">
                <a:solidFill>
                  <a:srgbClr val="333333"/>
                </a:solidFill>
                <a:latin typeface="Arial" pitchFamily="34" charset="0"/>
                <a:ea typeface="Arial" pitchFamily="34" charset="-122"/>
                <a:cs typeface="Arial" pitchFamily="34" charset="-120"/>
              </a:rPr>
              <a:t>Order Online</a:t>
            </a:r>
            <a:endParaRPr lang="en-US" sz="150" dirty="0"/>
          </a:p>
        </p:txBody>
      </p:sp>
      <p:sp>
        <p:nvSpPr>
          <p:cNvPr id="41" name="Text 39"/>
          <p:cNvSpPr txBox="1"/>
          <p:nvPr/>
        </p:nvSpPr>
        <p:spPr>
          <a:xfrm>
            <a:off x="8606790" y="3075178"/>
            <a:ext cx="181610" cy="33528"/>
          </a:xfrm>
          <a:prstGeom prst="rect">
            <a:avLst/>
          </a:prstGeom>
          <a:noFill/>
          <a:ln/>
        </p:spPr>
        <p:txBody>
          <a:bodyPr wrap="square" lIns="12700" tIns="12700" rIns="12700" bIns="12700" rtlCol="0" anchor="ctr"/>
          <a:lstStyle/>
          <a:p>
            <a:pPr algn="l" indent="0" marL="0">
              <a:lnSpc>
                <a:spcPct val="95000"/>
              </a:lnSpc>
              <a:buNone/>
            </a:pPr>
            <a:r>
              <a:rPr lang="en-US" sz="150" dirty="0">
                <a:solidFill>
                  <a:srgbClr val="333333"/>
                </a:solidFill>
                <a:latin typeface="Arial" pitchFamily="34" charset="0"/>
                <a:ea typeface="Arial" pitchFamily="34" charset="-122"/>
                <a:cs typeface="Arial" pitchFamily="34" charset="-120"/>
              </a:rPr>
              <a:t>Hours &amp; Location</a:t>
            </a:r>
            <a:endParaRPr lang="en-US" sz="150" dirty="0"/>
          </a:p>
        </p:txBody>
      </p:sp>
      <p:sp>
        <p:nvSpPr>
          <p:cNvPr id="42" name="Text 40"/>
          <p:cNvSpPr txBox="1"/>
          <p:nvPr/>
        </p:nvSpPr>
        <p:spPr>
          <a:xfrm>
            <a:off x="8816340" y="3075178"/>
            <a:ext cx="181610" cy="33528"/>
          </a:xfrm>
          <a:prstGeom prst="rect">
            <a:avLst/>
          </a:prstGeom>
          <a:noFill/>
          <a:ln/>
        </p:spPr>
        <p:txBody>
          <a:bodyPr wrap="square" lIns="12700" tIns="12700" rIns="12700" bIns="12700" rtlCol="0" anchor="ctr"/>
          <a:lstStyle/>
          <a:p>
            <a:pPr algn="l" indent="0" marL="0">
              <a:lnSpc>
                <a:spcPct val="95000"/>
              </a:lnSpc>
              <a:buNone/>
            </a:pPr>
            <a:r>
              <a:rPr lang="en-US" sz="150" dirty="0">
                <a:solidFill>
                  <a:srgbClr val="333333"/>
                </a:solidFill>
                <a:latin typeface="Arial" pitchFamily="34" charset="0"/>
                <a:ea typeface="Arial" pitchFamily="34" charset="-122"/>
                <a:cs typeface="Arial" pitchFamily="34" charset="-120"/>
              </a:rPr>
              <a:t>Contact</a:t>
            </a:r>
            <a:endParaRPr lang="en-US" sz="150" dirty="0"/>
          </a:p>
        </p:txBody>
      </p:sp>
      <p:sp>
        <p:nvSpPr>
          <p:cNvPr id="43" name="Shape 41"/>
          <p:cNvSpPr/>
          <p:nvPr/>
        </p:nvSpPr>
        <p:spPr>
          <a:xfrm>
            <a:off x="9123680" y="3066796"/>
            <a:ext cx="167640" cy="50292"/>
          </a:xfrm>
          <a:prstGeom prst="roundRect">
            <a:avLst>
              <a:gd name="adj" fmla="val 15000"/>
            </a:avLst>
          </a:prstGeom>
          <a:solidFill>
            <a:srgbClr val="FFFFFF"/>
          </a:solidFill>
          <a:ln w="6350">
            <a:solidFill>
              <a:srgbClr val="555555"/>
            </a:solidFill>
            <a:prstDash val="solid"/>
          </a:ln>
        </p:spPr>
      </p:sp>
      <p:sp>
        <p:nvSpPr>
          <p:cNvPr id="44" name="Text 42"/>
          <p:cNvSpPr txBox="1"/>
          <p:nvPr/>
        </p:nvSpPr>
        <p:spPr>
          <a:xfrm>
            <a:off x="9123680" y="3066796"/>
            <a:ext cx="167640" cy="50292"/>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333333"/>
                </a:solidFill>
                <a:latin typeface="Arial" pitchFamily="34" charset="0"/>
                <a:ea typeface="Arial" pitchFamily="34" charset="-122"/>
                <a:cs typeface="Arial" pitchFamily="34" charset="-120"/>
              </a:rPr>
              <a:t>Cart (3)</a:t>
            </a:r>
            <a:endParaRPr lang="en-US" sz="150" dirty="0"/>
          </a:p>
        </p:txBody>
      </p:sp>
      <p:sp>
        <p:nvSpPr>
          <p:cNvPr id="45" name="Shape 43"/>
          <p:cNvSpPr/>
          <p:nvPr/>
        </p:nvSpPr>
        <p:spPr>
          <a:xfrm>
            <a:off x="7642860" y="3147822"/>
            <a:ext cx="1676400" cy="1397"/>
          </a:xfrm>
          <a:prstGeom prst="rect">
            <a:avLst/>
          </a:prstGeom>
          <a:solidFill>
            <a:srgbClr val="BBBBBB"/>
          </a:solidFill>
          <a:ln/>
        </p:spPr>
      </p:sp>
      <p:sp>
        <p:nvSpPr>
          <p:cNvPr id="46" name="Shape 44"/>
          <p:cNvSpPr/>
          <p:nvPr/>
        </p:nvSpPr>
        <p:spPr>
          <a:xfrm>
            <a:off x="7670800" y="3170174"/>
            <a:ext cx="1620520" cy="111760"/>
          </a:xfrm>
          <a:prstGeom prst="rect">
            <a:avLst/>
          </a:prstGeom>
          <a:solidFill>
            <a:srgbClr val="F5F5F5"/>
          </a:solidFill>
          <a:ln w="6350">
            <a:solidFill>
              <a:srgbClr val="BBBBBB"/>
            </a:solidFill>
            <a:prstDash val="solid"/>
          </a:ln>
        </p:spPr>
      </p:sp>
      <p:sp>
        <p:nvSpPr>
          <p:cNvPr id="47" name="Text 45"/>
          <p:cNvSpPr txBox="1"/>
          <p:nvPr/>
        </p:nvSpPr>
        <p:spPr>
          <a:xfrm>
            <a:off x="7698740" y="3184144"/>
            <a:ext cx="628650" cy="41910"/>
          </a:xfrm>
          <a:prstGeom prst="rect">
            <a:avLst/>
          </a:prstGeom>
          <a:noFill/>
          <a:ln/>
        </p:spPr>
        <p:txBody>
          <a:bodyPr wrap="square" lIns="12700" tIns="12700" rIns="12700" bIns="12700" rtlCol="0" anchor="ctr"/>
          <a:lstStyle/>
          <a:p>
            <a:pPr algn="l" indent="0" marL="0">
              <a:lnSpc>
                <a:spcPct val="95000"/>
              </a:lnSpc>
              <a:buNone/>
            </a:pPr>
            <a:r>
              <a:rPr lang="en-US" sz="250" b="1" dirty="0">
                <a:solidFill>
                  <a:srgbClr val="333333"/>
                </a:solidFill>
                <a:latin typeface="Arial" pitchFamily="34" charset="0"/>
                <a:ea typeface="Arial" pitchFamily="34" charset="-122"/>
                <a:cs typeface="Arial" pitchFamily="34" charset="-120"/>
              </a:rPr>
              <a:t>Order for pickup or delivery</a:t>
            </a:r>
            <a:endParaRPr lang="en-US" sz="250" dirty="0"/>
          </a:p>
        </p:txBody>
      </p:sp>
      <p:sp>
        <p:nvSpPr>
          <p:cNvPr id="48" name="Text 46"/>
          <p:cNvSpPr txBox="1"/>
          <p:nvPr/>
        </p:nvSpPr>
        <p:spPr>
          <a:xfrm>
            <a:off x="7698740" y="3226054"/>
            <a:ext cx="628650" cy="33528"/>
          </a:xfrm>
          <a:prstGeom prst="rect">
            <a:avLst/>
          </a:prstGeom>
          <a:noFill/>
          <a:ln/>
        </p:spPr>
        <p:txBody>
          <a:bodyPr wrap="square" lIns="12700" tIns="12700" rIns="12700" bIns="12700" rtlCol="0" anchor="ctr"/>
          <a:lstStyle/>
          <a:p>
            <a:pPr algn="l" indent="0" marL="0">
              <a:lnSpc>
                <a:spcPct val="95000"/>
              </a:lnSpc>
              <a:buNone/>
            </a:pPr>
            <a:r>
              <a:rPr lang="en-US" sz="150" dirty="0">
                <a:solidFill>
                  <a:srgbClr val="777777"/>
                </a:solidFill>
                <a:latin typeface="Arial" pitchFamily="34" charset="0"/>
                <a:ea typeface="Arial" pitchFamily="34" charset="-122"/>
                <a:cs typeface="Arial" pitchFamily="34" charset="-120"/>
              </a:rPr>
              <a:t>Ready in about 20 minutes</a:t>
            </a:r>
            <a:endParaRPr lang="en-US" sz="150" dirty="0"/>
          </a:p>
        </p:txBody>
      </p:sp>
      <p:sp>
        <p:nvSpPr>
          <p:cNvPr id="49" name="Shape 47"/>
          <p:cNvSpPr/>
          <p:nvPr/>
        </p:nvSpPr>
        <p:spPr>
          <a:xfrm>
            <a:off x="8564880" y="3198114"/>
            <a:ext cx="167640" cy="55880"/>
          </a:xfrm>
          <a:prstGeom prst="roundRect">
            <a:avLst>
              <a:gd name="adj" fmla="val 15000"/>
            </a:avLst>
          </a:prstGeom>
          <a:solidFill>
            <a:srgbClr val="555555"/>
          </a:solidFill>
          <a:ln w="6350">
            <a:solidFill>
              <a:srgbClr val="555555"/>
            </a:solidFill>
            <a:prstDash val="solid"/>
          </a:ln>
        </p:spPr>
      </p:sp>
      <p:sp>
        <p:nvSpPr>
          <p:cNvPr id="50" name="Text 48"/>
          <p:cNvSpPr txBox="1"/>
          <p:nvPr/>
        </p:nvSpPr>
        <p:spPr>
          <a:xfrm>
            <a:off x="8564880" y="3198114"/>
            <a:ext cx="167640" cy="55880"/>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FFFFFF"/>
                </a:solidFill>
                <a:latin typeface="Arial" pitchFamily="34" charset="0"/>
                <a:ea typeface="Arial" pitchFamily="34" charset="-122"/>
                <a:cs typeface="Arial" pitchFamily="34" charset="-120"/>
              </a:rPr>
              <a:t>Pickup</a:t>
            </a:r>
            <a:endParaRPr lang="en-US" sz="150" dirty="0"/>
          </a:p>
        </p:txBody>
      </p:sp>
      <p:sp>
        <p:nvSpPr>
          <p:cNvPr id="51" name="Shape 49"/>
          <p:cNvSpPr/>
          <p:nvPr/>
        </p:nvSpPr>
        <p:spPr>
          <a:xfrm>
            <a:off x="8732520" y="3198114"/>
            <a:ext cx="167640" cy="55880"/>
          </a:xfrm>
          <a:prstGeom prst="roundRect">
            <a:avLst>
              <a:gd name="adj" fmla="val 15000"/>
            </a:avLst>
          </a:prstGeom>
          <a:solidFill>
            <a:srgbClr val="FFFFFF"/>
          </a:solidFill>
          <a:ln w="6350">
            <a:solidFill>
              <a:srgbClr val="555555"/>
            </a:solidFill>
            <a:prstDash val="solid"/>
          </a:ln>
        </p:spPr>
      </p:sp>
      <p:sp>
        <p:nvSpPr>
          <p:cNvPr id="52" name="Text 50"/>
          <p:cNvSpPr txBox="1"/>
          <p:nvPr/>
        </p:nvSpPr>
        <p:spPr>
          <a:xfrm>
            <a:off x="8732520" y="3198114"/>
            <a:ext cx="167640" cy="55880"/>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333333"/>
                </a:solidFill>
                <a:latin typeface="Arial" pitchFamily="34" charset="0"/>
                <a:ea typeface="Arial" pitchFamily="34" charset="-122"/>
                <a:cs typeface="Arial" pitchFamily="34" charset="-120"/>
              </a:rPr>
              <a:t>Delivery</a:t>
            </a:r>
            <a:endParaRPr lang="en-US" sz="150" dirty="0"/>
          </a:p>
        </p:txBody>
      </p:sp>
      <p:sp>
        <p:nvSpPr>
          <p:cNvPr id="53" name="Shape 51"/>
          <p:cNvSpPr/>
          <p:nvPr/>
        </p:nvSpPr>
        <p:spPr>
          <a:xfrm>
            <a:off x="8928100" y="3198114"/>
            <a:ext cx="335280" cy="55880"/>
          </a:xfrm>
          <a:prstGeom prst="roundRect">
            <a:avLst>
              <a:gd name="adj" fmla="val 15000"/>
            </a:avLst>
          </a:prstGeom>
          <a:solidFill>
            <a:srgbClr val="FFFFFF"/>
          </a:solidFill>
          <a:ln w="6350">
            <a:solidFill>
              <a:srgbClr val="555555"/>
            </a:solidFill>
            <a:prstDash val="solid"/>
          </a:ln>
        </p:spPr>
      </p:sp>
      <p:sp>
        <p:nvSpPr>
          <p:cNvPr id="54" name="Text 52"/>
          <p:cNvSpPr txBox="1"/>
          <p:nvPr/>
        </p:nvSpPr>
        <p:spPr>
          <a:xfrm>
            <a:off x="8928100" y="3198114"/>
            <a:ext cx="335280" cy="55880"/>
          </a:xfrm>
          <a:prstGeom prst="rect">
            <a:avLst/>
          </a:prstGeom>
          <a:noFill/>
          <a:ln/>
        </p:spPr>
        <p:txBody>
          <a:bodyPr wrap="square" lIns="12700" tIns="19050" rIns="12700" bIns="12700" rtlCol="0" anchor="ctr"/>
          <a:lstStyle/>
          <a:p>
            <a:pPr algn="l" indent="0" marL="0">
              <a:lnSpc>
                <a:spcPct val="95000"/>
              </a:lnSpc>
              <a:buNone/>
            </a:pPr>
            <a:r>
              <a:rPr lang="en-US" sz="150" dirty="0">
                <a:solidFill>
                  <a:srgbClr val="333333"/>
                </a:solidFill>
                <a:latin typeface="Arial" pitchFamily="34" charset="0"/>
                <a:ea typeface="Arial" pitchFamily="34" charset="-122"/>
                <a:cs typeface="Arial" pitchFamily="34" charset="-120"/>
              </a:rPr>
              <a:t>Pickup time: ASAP        ▾</a:t>
            </a:r>
            <a:endParaRPr lang="en-US" sz="150" dirty="0"/>
          </a:p>
        </p:txBody>
      </p:sp>
      <p:sp>
        <p:nvSpPr>
          <p:cNvPr id="55" name="Shape 53"/>
          <p:cNvSpPr/>
          <p:nvPr/>
        </p:nvSpPr>
        <p:spPr>
          <a:xfrm>
            <a:off x="7670800" y="3309874"/>
            <a:ext cx="153670" cy="55880"/>
          </a:xfrm>
          <a:prstGeom prst="roundRect">
            <a:avLst>
              <a:gd name="adj" fmla="val 15000"/>
            </a:avLst>
          </a:prstGeom>
          <a:solidFill>
            <a:srgbClr val="555555"/>
          </a:solidFill>
          <a:ln w="6350">
            <a:solidFill>
              <a:srgbClr val="555555"/>
            </a:solidFill>
            <a:prstDash val="solid"/>
          </a:ln>
        </p:spPr>
      </p:sp>
      <p:sp>
        <p:nvSpPr>
          <p:cNvPr id="56" name="Text 54"/>
          <p:cNvSpPr txBox="1"/>
          <p:nvPr/>
        </p:nvSpPr>
        <p:spPr>
          <a:xfrm>
            <a:off x="7670800" y="3309874"/>
            <a:ext cx="153670" cy="55880"/>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FFFFFF"/>
                </a:solidFill>
                <a:latin typeface="Arial" pitchFamily="34" charset="0"/>
                <a:ea typeface="Arial" pitchFamily="34" charset="-122"/>
                <a:cs typeface="Arial" pitchFamily="34" charset="-120"/>
              </a:rPr>
              <a:t>Fish</a:t>
            </a:r>
            <a:endParaRPr lang="en-US" sz="150" dirty="0"/>
          </a:p>
        </p:txBody>
      </p:sp>
      <p:sp>
        <p:nvSpPr>
          <p:cNvPr id="57" name="Shape 55"/>
          <p:cNvSpPr/>
          <p:nvPr/>
        </p:nvSpPr>
        <p:spPr>
          <a:xfrm>
            <a:off x="7838440" y="3309874"/>
            <a:ext cx="153670" cy="55880"/>
          </a:xfrm>
          <a:prstGeom prst="roundRect">
            <a:avLst>
              <a:gd name="adj" fmla="val 15000"/>
            </a:avLst>
          </a:prstGeom>
          <a:solidFill>
            <a:srgbClr val="FFFFFF"/>
          </a:solidFill>
          <a:ln w="6350">
            <a:solidFill>
              <a:srgbClr val="555555"/>
            </a:solidFill>
            <a:prstDash val="solid"/>
          </a:ln>
        </p:spPr>
      </p:sp>
      <p:sp>
        <p:nvSpPr>
          <p:cNvPr id="58" name="Text 56"/>
          <p:cNvSpPr txBox="1"/>
          <p:nvPr/>
        </p:nvSpPr>
        <p:spPr>
          <a:xfrm>
            <a:off x="7838440" y="3309874"/>
            <a:ext cx="153670" cy="55880"/>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333333"/>
                </a:solidFill>
                <a:latin typeface="Arial" pitchFamily="34" charset="0"/>
                <a:ea typeface="Arial" pitchFamily="34" charset="-122"/>
                <a:cs typeface="Arial" pitchFamily="34" charset="-120"/>
              </a:rPr>
              <a:t>Combos</a:t>
            </a:r>
            <a:endParaRPr lang="en-US" sz="150" dirty="0"/>
          </a:p>
        </p:txBody>
      </p:sp>
      <p:sp>
        <p:nvSpPr>
          <p:cNvPr id="59" name="Shape 57"/>
          <p:cNvSpPr/>
          <p:nvPr/>
        </p:nvSpPr>
        <p:spPr>
          <a:xfrm>
            <a:off x="8006080" y="3309874"/>
            <a:ext cx="153670" cy="55880"/>
          </a:xfrm>
          <a:prstGeom prst="roundRect">
            <a:avLst>
              <a:gd name="adj" fmla="val 15000"/>
            </a:avLst>
          </a:prstGeom>
          <a:solidFill>
            <a:srgbClr val="FFFFFF"/>
          </a:solidFill>
          <a:ln w="6350">
            <a:solidFill>
              <a:srgbClr val="555555"/>
            </a:solidFill>
            <a:prstDash val="solid"/>
          </a:ln>
        </p:spPr>
      </p:sp>
      <p:sp>
        <p:nvSpPr>
          <p:cNvPr id="60" name="Text 58"/>
          <p:cNvSpPr txBox="1"/>
          <p:nvPr/>
        </p:nvSpPr>
        <p:spPr>
          <a:xfrm>
            <a:off x="8006080" y="3309874"/>
            <a:ext cx="153670" cy="55880"/>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333333"/>
                </a:solidFill>
                <a:latin typeface="Arial" pitchFamily="34" charset="0"/>
                <a:ea typeface="Arial" pitchFamily="34" charset="-122"/>
                <a:cs typeface="Arial" pitchFamily="34" charset="-120"/>
              </a:rPr>
              <a:t>Sides</a:t>
            </a:r>
            <a:endParaRPr lang="en-US" sz="150" dirty="0"/>
          </a:p>
        </p:txBody>
      </p:sp>
      <p:sp>
        <p:nvSpPr>
          <p:cNvPr id="61" name="Shape 59"/>
          <p:cNvSpPr/>
          <p:nvPr/>
        </p:nvSpPr>
        <p:spPr>
          <a:xfrm>
            <a:off x="8173720" y="3309874"/>
            <a:ext cx="153670" cy="55880"/>
          </a:xfrm>
          <a:prstGeom prst="roundRect">
            <a:avLst>
              <a:gd name="adj" fmla="val 15000"/>
            </a:avLst>
          </a:prstGeom>
          <a:solidFill>
            <a:srgbClr val="FFFFFF"/>
          </a:solidFill>
          <a:ln w="6350">
            <a:solidFill>
              <a:srgbClr val="555555"/>
            </a:solidFill>
            <a:prstDash val="solid"/>
          </a:ln>
        </p:spPr>
      </p:sp>
      <p:sp>
        <p:nvSpPr>
          <p:cNvPr id="62" name="Text 60"/>
          <p:cNvSpPr txBox="1"/>
          <p:nvPr/>
        </p:nvSpPr>
        <p:spPr>
          <a:xfrm>
            <a:off x="8173720" y="3309874"/>
            <a:ext cx="153670" cy="55880"/>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333333"/>
                </a:solidFill>
                <a:latin typeface="Arial" pitchFamily="34" charset="0"/>
                <a:ea typeface="Arial" pitchFamily="34" charset="-122"/>
                <a:cs typeface="Arial" pitchFamily="34" charset="-120"/>
              </a:rPr>
              <a:t>Drinks</a:t>
            </a:r>
            <a:endParaRPr lang="en-US" sz="150" dirty="0"/>
          </a:p>
        </p:txBody>
      </p:sp>
      <p:sp>
        <p:nvSpPr>
          <p:cNvPr id="63" name="Shape 61"/>
          <p:cNvSpPr/>
          <p:nvPr/>
        </p:nvSpPr>
        <p:spPr>
          <a:xfrm>
            <a:off x="8341360" y="3309874"/>
            <a:ext cx="153670" cy="55880"/>
          </a:xfrm>
          <a:prstGeom prst="roundRect">
            <a:avLst>
              <a:gd name="adj" fmla="val 15000"/>
            </a:avLst>
          </a:prstGeom>
          <a:solidFill>
            <a:srgbClr val="FFFFFF"/>
          </a:solidFill>
          <a:ln w="6350">
            <a:solidFill>
              <a:srgbClr val="555555"/>
            </a:solidFill>
            <a:prstDash val="solid"/>
          </a:ln>
        </p:spPr>
      </p:sp>
      <p:sp>
        <p:nvSpPr>
          <p:cNvPr id="64" name="Text 62"/>
          <p:cNvSpPr txBox="1"/>
          <p:nvPr/>
        </p:nvSpPr>
        <p:spPr>
          <a:xfrm>
            <a:off x="8341360" y="3309874"/>
            <a:ext cx="153670" cy="55880"/>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333333"/>
                </a:solidFill>
                <a:latin typeface="Arial" pitchFamily="34" charset="0"/>
                <a:ea typeface="Arial" pitchFamily="34" charset="-122"/>
                <a:cs typeface="Arial" pitchFamily="34" charset="-120"/>
              </a:rPr>
              <a:t>Desserts</a:t>
            </a:r>
            <a:endParaRPr lang="en-US" sz="150" dirty="0"/>
          </a:p>
        </p:txBody>
      </p:sp>
      <p:sp>
        <p:nvSpPr>
          <p:cNvPr id="65" name="Text 63"/>
          <p:cNvSpPr txBox="1"/>
          <p:nvPr/>
        </p:nvSpPr>
        <p:spPr>
          <a:xfrm>
            <a:off x="7670800" y="3390900"/>
            <a:ext cx="419100" cy="44704"/>
          </a:xfrm>
          <a:prstGeom prst="rect">
            <a:avLst/>
          </a:prstGeom>
          <a:noFill/>
          <a:ln/>
        </p:spPr>
        <p:txBody>
          <a:bodyPr wrap="square" lIns="12700" tIns="12700" rIns="12700" bIns="12700" rtlCol="0" anchor="ctr"/>
          <a:lstStyle/>
          <a:p>
            <a:pPr algn="l" indent="0" marL="0">
              <a:lnSpc>
                <a:spcPct val="95000"/>
              </a:lnSpc>
              <a:buNone/>
            </a:pPr>
            <a:r>
              <a:rPr lang="en-US" sz="250" b="1" dirty="0">
                <a:solidFill>
                  <a:srgbClr val="333333"/>
                </a:solidFill>
                <a:latin typeface="Arial" pitchFamily="34" charset="0"/>
                <a:ea typeface="Arial" pitchFamily="34" charset="-122"/>
                <a:cs typeface="Arial" pitchFamily="34" charset="-120"/>
              </a:rPr>
              <a:t>Fish</a:t>
            </a:r>
            <a:endParaRPr lang="en-US" sz="250" dirty="0"/>
          </a:p>
        </p:txBody>
      </p:sp>
      <p:sp>
        <p:nvSpPr>
          <p:cNvPr id="66" name="Shape 64"/>
          <p:cNvSpPr/>
          <p:nvPr/>
        </p:nvSpPr>
        <p:spPr>
          <a:xfrm>
            <a:off x="7670800" y="3449574"/>
            <a:ext cx="335280" cy="363220"/>
          </a:xfrm>
          <a:prstGeom prst="rect">
            <a:avLst/>
          </a:prstGeom>
          <a:solidFill>
            <a:srgbClr val="FFFFFF"/>
          </a:solidFill>
          <a:ln w="6350">
            <a:solidFill>
              <a:srgbClr val="999999"/>
            </a:solidFill>
            <a:prstDash val="solid"/>
          </a:ln>
        </p:spPr>
      </p:sp>
      <p:sp>
        <p:nvSpPr>
          <p:cNvPr id="67" name="Shape 65"/>
          <p:cNvSpPr/>
          <p:nvPr/>
        </p:nvSpPr>
        <p:spPr>
          <a:xfrm>
            <a:off x="7684770" y="3463544"/>
            <a:ext cx="307340" cy="167640"/>
          </a:xfrm>
          <a:prstGeom prst="rect">
            <a:avLst/>
          </a:prstGeom>
          <a:solidFill>
            <a:srgbClr val="FFFFFF"/>
          </a:solidFill>
          <a:ln w="6350">
            <a:solidFill>
              <a:srgbClr val="999999"/>
            </a:solidFill>
            <a:prstDash val="solid"/>
          </a:ln>
        </p:spPr>
      </p:sp>
      <p:sp>
        <p:nvSpPr>
          <p:cNvPr id="68" name="Shape 66"/>
          <p:cNvSpPr/>
          <p:nvPr/>
        </p:nvSpPr>
        <p:spPr>
          <a:xfrm>
            <a:off x="7684770" y="3463544"/>
            <a:ext cx="307340" cy="167640"/>
          </a:xfrm>
          <a:prstGeom prst="line">
            <a:avLst/>
          </a:prstGeom>
          <a:noFill/>
          <a:ln w="6350">
            <a:solidFill>
              <a:srgbClr val="999999"/>
            </a:solidFill>
            <a:prstDash val="solid"/>
          </a:ln>
        </p:spPr>
      </p:sp>
      <p:sp>
        <p:nvSpPr>
          <p:cNvPr id="69" name="Shape 67"/>
          <p:cNvSpPr/>
          <p:nvPr/>
        </p:nvSpPr>
        <p:spPr>
          <a:xfrm flipV="1">
            <a:off x="7684770" y="3463544"/>
            <a:ext cx="307340" cy="167640"/>
          </a:xfrm>
          <a:prstGeom prst="line">
            <a:avLst/>
          </a:prstGeom>
          <a:noFill/>
          <a:ln w="6350">
            <a:solidFill>
              <a:srgbClr val="999999"/>
            </a:solidFill>
            <a:prstDash val="solid"/>
          </a:ln>
        </p:spPr>
      </p:sp>
      <p:sp>
        <p:nvSpPr>
          <p:cNvPr id="70" name="Text 68"/>
          <p:cNvSpPr txBox="1"/>
          <p:nvPr/>
        </p:nvSpPr>
        <p:spPr>
          <a:xfrm>
            <a:off x="7684770" y="3642360"/>
            <a:ext cx="307340" cy="33528"/>
          </a:xfrm>
          <a:prstGeom prst="rect">
            <a:avLst/>
          </a:prstGeom>
          <a:noFill/>
          <a:ln/>
        </p:spPr>
        <p:txBody>
          <a:bodyPr wrap="square" lIns="12700" tIns="12700" rIns="12700" bIns="12700" rtlCol="0" anchor="ctr"/>
          <a:lstStyle/>
          <a:p>
            <a:pPr algn="l" indent="0" marL="0">
              <a:lnSpc>
                <a:spcPct val="95000"/>
              </a:lnSpc>
              <a:buNone/>
            </a:pPr>
            <a:r>
              <a:rPr lang="en-US" sz="200" b="1" dirty="0">
                <a:solidFill>
                  <a:srgbClr val="333333"/>
                </a:solidFill>
                <a:latin typeface="Arial" pitchFamily="34" charset="0"/>
                <a:ea typeface="Arial" pitchFamily="34" charset="-122"/>
                <a:cs typeface="Arial" pitchFamily="34" charset="-120"/>
              </a:rPr>
              <a:t>Haddock &amp; Chips (1 pc)</a:t>
            </a:r>
            <a:endParaRPr lang="en-US" sz="200" dirty="0"/>
          </a:p>
        </p:txBody>
      </p:sp>
      <p:sp>
        <p:nvSpPr>
          <p:cNvPr id="71" name="Shape 69"/>
          <p:cNvSpPr/>
          <p:nvPr/>
        </p:nvSpPr>
        <p:spPr>
          <a:xfrm>
            <a:off x="7684770" y="3687064"/>
            <a:ext cx="279400" cy="11176"/>
          </a:xfrm>
          <a:prstGeom prst="rect">
            <a:avLst/>
          </a:prstGeom>
          <a:solidFill>
            <a:srgbClr val="DDDDDD"/>
          </a:solidFill>
          <a:ln/>
        </p:spPr>
      </p:sp>
      <p:sp>
        <p:nvSpPr>
          <p:cNvPr id="72" name="Shape 70"/>
          <p:cNvSpPr/>
          <p:nvPr/>
        </p:nvSpPr>
        <p:spPr>
          <a:xfrm>
            <a:off x="7684770" y="3709416"/>
            <a:ext cx="209550" cy="11176"/>
          </a:xfrm>
          <a:prstGeom prst="rect">
            <a:avLst/>
          </a:prstGeom>
          <a:solidFill>
            <a:srgbClr val="DDDDDD"/>
          </a:solidFill>
          <a:ln/>
        </p:spPr>
      </p:sp>
      <p:sp>
        <p:nvSpPr>
          <p:cNvPr id="73" name="Text 71"/>
          <p:cNvSpPr txBox="1"/>
          <p:nvPr/>
        </p:nvSpPr>
        <p:spPr>
          <a:xfrm>
            <a:off x="7684770" y="3745738"/>
            <a:ext cx="125730" cy="50292"/>
          </a:xfrm>
          <a:prstGeom prst="rect">
            <a:avLst/>
          </a:prstGeom>
          <a:noFill/>
          <a:ln/>
        </p:spPr>
        <p:txBody>
          <a:bodyPr wrap="square" lIns="12700" tIns="12700" rIns="12700" bIns="12700" rtlCol="0" anchor="ctr"/>
          <a:lstStyle/>
          <a:p>
            <a:pPr algn="l" indent="0" marL="0">
              <a:lnSpc>
                <a:spcPct val="95000"/>
              </a:lnSpc>
              <a:buNone/>
            </a:pPr>
            <a:r>
              <a:rPr lang="en-US" sz="200" b="1" dirty="0">
                <a:solidFill>
                  <a:srgbClr val="333333"/>
                </a:solidFill>
                <a:latin typeface="Arial" pitchFamily="34" charset="0"/>
                <a:ea typeface="Arial" pitchFamily="34" charset="-122"/>
                <a:cs typeface="Arial" pitchFamily="34" charset="-120"/>
              </a:rPr>
              <a:t>$14.99</a:t>
            </a:r>
            <a:endParaRPr lang="en-US" sz="200" dirty="0"/>
          </a:p>
        </p:txBody>
      </p:sp>
      <p:sp>
        <p:nvSpPr>
          <p:cNvPr id="74" name="Shape 72"/>
          <p:cNvSpPr/>
          <p:nvPr/>
        </p:nvSpPr>
        <p:spPr>
          <a:xfrm>
            <a:off x="7852410" y="3745738"/>
            <a:ext cx="139700" cy="50292"/>
          </a:xfrm>
          <a:prstGeom prst="roundRect">
            <a:avLst>
              <a:gd name="adj" fmla="val 15000"/>
            </a:avLst>
          </a:prstGeom>
          <a:solidFill>
            <a:srgbClr val="555555"/>
          </a:solidFill>
          <a:ln w="6350">
            <a:solidFill>
              <a:srgbClr val="555555"/>
            </a:solidFill>
            <a:prstDash val="solid"/>
          </a:ln>
        </p:spPr>
      </p:sp>
      <p:sp>
        <p:nvSpPr>
          <p:cNvPr id="75" name="Text 73"/>
          <p:cNvSpPr txBox="1"/>
          <p:nvPr/>
        </p:nvSpPr>
        <p:spPr>
          <a:xfrm>
            <a:off x="7852410" y="3745738"/>
            <a:ext cx="139700" cy="50292"/>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FFFFFF"/>
                </a:solidFill>
                <a:latin typeface="Arial" pitchFamily="34" charset="0"/>
                <a:ea typeface="Arial" pitchFamily="34" charset="-122"/>
                <a:cs typeface="Arial" pitchFamily="34" charset="-120"/>
              </a:rPr>
              <a:t>Add +</a:t>
            </a:r>
            <a:endParaRPr lang="en-US" sz="150" dirty="0"/>
          </a:p>
        </p:txBody>
      </p:sp>
      <p:sp>
        <p:nvSpPr>
          <p:cNvPr id="76" name="Shape 74"/>
          <p:cNvSpPr/>
          <p:nvPr/>
        </p:nvSpPr>
        <p:spPr>
          <a:xfrm>
            <a:off x="8034020" y="3449574"/>
            <a:ext cx="335280" cy="363220"/>
          </a:xfrm>
          <a:prstGeom prst="rect">
            <a:avLst/>
          </a:prstGeom>
          <a:solidFill>
            <a:srgbClr val="FFFFFF"/>
          </a:solidFill>
          <a:ln w="6350">
            <a:solidFill>
              <a:srgbClr val="999999"/>
            </a:solidFill>
            <a:prstDash val="solid"/>
          </a:ln>
        </p:spPr>
      </p:sp>
      <p:sp>
        <p:nvSpPr>
          <p:cNvPr id="77" name="Shape 75"/>
          <p:cNvSpPr/>
          <p:nvPr/>
        </p:nvSpPr>
        <p:spPr>
          <a:xfrm>
            <a:off x="8047990" y="3463544"/>
            <a:ext cx="307340" cy="167640"/>
          </a:xfrm>
          <a:prstGeom prst="rect">
            <a:avLst/>
          </a:prstGeom>
          <a:solidFill>
            <a:srgbClr val="FFFFFF"/>
          </a:solidFill>
          <a:ln w="6350">
            <a:solidFill>
              <a:srgbClr val="999999"/>
            </a:solidFill>
            <a:prstDash val="solid"/>
          </a:ln>
        </p:spPr>
      </p:sp>
      <p:sp>
        <p:nvSpPr>
          <p:cNvPr id="78" name="Shape 76"/>
          <p:cNvSpPr/>
          <p:nvPr/>
        </p:nvSpPr>
        <p:spPr>
          <a:xfrm>
            <a:off x="8047990" y="3463544"/>
            <a:ext cx="307340" cy="167640"/>
          </a:xfrm>
          <a:prstGeom prst="line">
            <a:avLst/>
          </a:prstGeom>
          <a:noFill/>
          <a:ln w="6350">
            <a:solidFill>
              <a:srgbClr val="999999"/>
            </a:solidFill>
            <a:prstDash val="solid"/>
          </a:ln>
        </p:spPr>
      </p:sp>
      <p:sp>
        <p:nvSpPr>
          <p:cNvPr id="79" name="Shape 77"/>
          <p:cNvSpPr/>
          <p:nvPr/>
        </p:nvSpPr>
        <p:spPr>
          <a:xfrm flipV="1">
            <a:off x="8047990" y="3463544"/>
            <a:ext cx="307340" cy="167640"/>
          </a:xfrm>
          <a:prstGeom prst="line">
            <a:avLst/>
          </a:prstGeom>
          <a:noFill/>
          <a:ln w="6350">
            <a:solidFill>
              <a:srgbClr val="999999"/>
            </a:solidFill>
            <a:prstDash val="solid"/>
          </a:ln>
        </p:spPr>
      </p:sp>
      <p:sp>
        <p:nvSpPr>
          <p:cNvPr id="80" name="Text 78"/>
          <p:cNvSpPr txBox="1"/>
          <p:nvPr/>
        </p:nvSpPr>
        <p:spPr>
          <a:xfrm>
            <a:off x="8047990" y="3642360"/>
            <a:ext cx="307340" cy="33528"/>
          </a:xfrm>
          <a:prstGeom prst="rect">
            <a:avLst/>
          </a:prstGeom>
          <a:noFill/>
          <a:ln/>
        </p:spPr>
        <p:txBody>
          <a:bodyPr wrap="square" lIns="12700" tIns="12700" rIns="12700" bIns="12700" rtlCol="0" anchor="ctr"/>
          <a:lstStyle/>
          <a:p>
            <a:pPr algn="l" indent="0" marL="0">
              <a:lnSpc>
                <a:spcPct val="95000"/>
              </a:lnSpc>
              <a:buNone/>
            </a:pPr>
            <a:r>
              <a:rPr lang="en-US" sz="200" b="1" dirty="0">
                <a:solidFill>
                  <a:srgbClr val="333333"/>
                </a:solidFill>
                <a:latin typeface="Arial" pitchFamily="34" charset="0"/>
                <a:ea typeface="Arial" pitchFamily="34" charset="-122"/>
                <a:cs typeface="Arial" pitchFamily="34" charset="-120"/>
              </a:rPr>
              <a:t>Haddock &amp; Chips (2 pc)</a:t>
            </a:r>
            <a:endParaRPr lang="en-US" sz="200" dirty="0"/>
          </a:p>
        </p:txBody>
      </p:sp>
      <p:sp>
        <p:nvSpPr>
          <p:cNvPr id="81" name="Shape 79"/>
          <p:cNvSpPr/>
          <p:nvPr/>
        </p:nvSpPr>
        <p:spPr>
          <a:xfrm>
            <a:off x="8047990" y="3687064"/>
            <a:ext cx="279400" cy="11176"/>
          </a:xfrm>
          <a:prstGeom prst="rect">
            <a:avLst/>
          </a:prstGeom>
          <a:solidFill>
            <a:srgbClr val="DDDDDD"/>
          </a:solidFill>
          <a:ln/>
        </p:spPr>
      </p:sp>
      <p:sp>
        <p:nvSpPr>
          <p:cNvPr id="82" name="Shape 80"/>
          <p:cNvSpPr/>
          <p:nvPr/>
        </p:nvSpPr>
        <p:spPr>
          <a:xfrm>
            <a:off x="8047990" y="3709416"/>
            <a:ext cx="209550" cy="11176"/>
          </a:xfrm>
          <a:prstGeom prst="rect">
            <a:avLst/>
          </a:prstGeom>
          <a:solidFill>
            <a:srgbClr val="DDDDDD"/>
          </a:solidFill>
          <a:ln/>
        </p:spPr>
      </p:sp>
      <p:sp>
        <p:nvSpPr>
          <p:cNvPr id="83" name="Text 81"/>
          <p:cNvSpPr txBox="1"/>
          <p:nvPr/>
        </p:nvSpPr>
        <p:spPr>
          <a:xfrm>
            <a:off x="8047990" y="3745738"/>
            <a:ext cx="125730" cy="50292"/>
          </a:xfrm>
          <a:prstGeom prst="rect">
            <a:avLst/>
          </a:prstGeom>
          <a:noFill/>
          <a:ln/>
        </p:spPr>
        <p:txBody>
          <a:bodyPr wrap="square" lIns="12700" tIns="12700" rIns="12700" bIns="12700" rtlCol="0" anchor="ctr"/>
          <a:lstStyle/>
          <a:p>
            <a:pPr algn="l" indent="0" marL="0">
              <a:lnSpc>
                <a:spcPct val="95000"/>
              </a:lnSpc>
              <a:buNone/>
            </a:pPr>
            <a:r>
              <a:rPr lang="en-US" sz="200" b="1" dirty="0">
                <a:solidFill>
                  <a:srgbClr val="333333"/>
                </a:solidFill>
                <a:latin typeface="Arial" pitchFamily="34" charset="0"/>
                <a:ea typeface="Arial" pitchFamily="34" charset="-122"/>
                <a:cs typeface="Arial" pitchFamily="34" charset="-120"/>
              </a:rPr>
              <a:t>$19.99</a:t>
            </a:r>
            <a:endParaRPr lang="en-US" sz="200" dirty="0"/>
          </a:p>
        </p:txBody>
      </p:sp>
      <p:sp>
        <p:nvSpPr>
          <p:cNvPr id="84" name="Shape 82"/>
          <p:cNvSpPr/>
          <p:nvPr/>
        </p:nvSpPr>
        <p:spPr>
          <a:xfrm>
            <a:off x="8215630" y="3745738"/>
            <a:ext cx="139700" cy="50292"/>
          </a:xfrm>
          <a:prstGeom prst="roundRect">
            <a:avLst>
              <a:gd name="adj" fmla="val 15000"/>
            </a:avLst>
          </a:prstGeom>
          <a:solidFill>
            <a:srgbClr val="555555"/>
          </a:solidFill>
          <a:ln w="6350">
            <a:solidFill>
              <a:srgbClr val="555555"/>
            </a:solidFill>
            <a:prstDash val="solid"/>
          </a:ln>
        </p:spPr>
      </p:sp>
      <p:sp>
        <p:nvSpPr>
          <p:cNvPr id="85" name="Text 83"/>
          <p:cNvSpPr txBox="1"/>
          <p:nvPr/>
        </p:nvSpPr>
        <p:spPr>
          <a:xfrm>
            <a:off x="8215630" y="3745738"/>
            <a:ext cx="139700" cy="50292"/>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FFFFFF"/>
                </a:solidFill>
                <a:latin typeface="Arial" pitchFamily="34" charset="0"/>
                <a:ea typeface="Arial" pitchFamily="34" charset="-122"/>
                <a:cs typeface="Arial" pitchFamily="34" charset="-120"/>
              </a:rPr>
              <a:t>Add +</a:t>
            </a:r>
            <a:endParaRPr lang="en-US" sz="150" dirty="0"/>
          </a:p>
        </p:txBody>
      </p:sp>
      <p:sp>
        <p:nvSpPr>
          <p:cNvPr id="86" name="Shape 84"/>
          <p:cNvSpPr/>
          <p:nvPr/>
        </p:nvSpPr>
        <p:spPr>
          <a:xfrm>
            <a:off x="8397240" y="3449574"/>
            <a:ext cx="335280" cy="363220"/>
          </a:xfrm>
          <a:prstGeom prst="rect">
            <a:avLst/>
          </a:prstGeom>
          <a:solidFill>
            <a:srgbClr val="FFFFFF"/>
          </a:solidFill>
          <a:ln w="6350">
            <a:solidFill>
              <a:srgbClr val="999999"/>
            </a:solidFill>
            <a:prstDash val="solid"/>
          </a:ln>
        </p:spPr>
      </p:sp>
      <p:sp>
        <p:nvSpPr>
          <p:cNvPr id="87" name="Shape 85"/>
          <p:cNvSpPr/>
          <p:nvPr/>
        </p:nvSpPr>
        <p:spPr>
          <a:xfrm>
            <a:off x="8411210" y="3463544"/>
            <a:ext cx="307340" cy="167640"/>
          </a:xfrm>
          <a:prstGeom prst="rect">
            <a:avLst/>
          </a:prstGeom>
          <a:solidFill>
            <a:srgbClr val="FFFFFF"/>
          </a:solidFill>
          <a:ln w="6350">
            <a:solidFill>
              <a:srgbClr val="999999"/>
            </a:solidFill>
            <a:prstDash val="solid"/>
          </a:ln>
        </p:spPr>
      </p:sp>
      <p:sp>
        <p:nvSpPr>
          <p:cNvPr id="88" name="Shape 86"/>
          <p:cNvSpPr/>
          <p:nvPr/>
        </p:nvSpPr>
        <p:spPr>
          <a:xfrm>
            <a:off x="8411210" y="3463544"/>
            <a:ext cx="307340" cy="167640"/>
          </a:xfrm>
          <a:prstGeom prst="line">
            <a:avLst/>
          </a:prstGeom>
          <a:noFill/>
          <a:ln w="6350">
            <a:solidFill>
              <a:srgbClr val="999999"/>
            </a:solidFill>
            <a:prstDash val="solid"/>
          </a:ln>
        </p:spPr>
      </p:sp>
      <p:sp>
        <p:nvSpPr>
          <p:cNvPr id="89" name="Shape 87"/>
          <p:cNvSpPr/>
          <p:nvPr/>
        </p:nvSpPr>
        <p:spPr>
          <a:xfrm flipV="1">
            <a:off x="8411210" y="3463544"/>
            <a:ext cx="307340" cy="167640"/>
          </a:xfrm>
          <a:prstGeom prst="line">
            <a:avLst/>
          </a:prstGeom>
          <a:noFill/>
          <a:ln w="6350">
            <a:solidFill>
              <a:srgbClr val="999999"/>
            </a:solidFill>
            <a:prstDash val="solid"/>
          </a:ln>
        </p:spPr>
      </p:sp>
      <p:sp>
        <p:nvSpPr>
          <p:cNvPr id="90" name="Text 88"/>
          <p:cNvSpPr txBox="1"/>
          <p:nvPr/>
        </p:nvSpPr>
        <p:spPr>
          <a:xfrm>
            <a:off x="8411210" y="3642360"/>
            <a:ext cx="307340" cy="33528"/>
          </a:xfrm>
          <a:prstGeom prst="rect">
            <a:avLst/>
          </a:prstGeom>
          <a:noFill/>
          <a:ln/>
        </p:spPr>
        <p:txBody>
          <a:bodyPr wrap="square" lIns="12700" tIns="12700" rIns="12700" bIns="12700" rtlCol="0" anchor="ctr"/>
          <a:lstStyle/>
          <a:p>
            <a:pPr algn="l" indent="0" marL="0">
              <a:lnSpc>
                <a:spcPct val="95000"/>
              </a:lnSpc>
              <a:buNone/>
            </a:pPr>
            <a:r>
              <a:rPr lang="en-US" sz="200" b="1" dirty="0">
                <a:solidFill>
                  <a:srgbClr val="333333"/>
                </a:solidFill>
                <a:latin typeface="Arial" pitchFamily="34" charset="0"/>
                <a:ea typeface="Arial" pitchFamily="34" charset="-122"/>
                <a:cs typeface="Arial" pitchFamily="34" charset="-120"/>
              </a:rPr>
              <a:t>Fish Tacos (2)</a:t>
            </a:r>
            <a:endParaRPr lang="en-US" sz="200" dirty="0"/>
          </a:p>
        </p:txBody>
      </p:sp>
      <p:sp>
        <p:nvSpPr>
          <p:cNvPr id="91" name="Shape 89"/>
          <p:cNvSpPr/>
          <p:nvPr/>
        </p:nvSpPr>
        <p:spPr>
          <a:xfrm>
            <a:off x="8411210" y="3687064"/>
            <a:ext cx="279400" cy="11176"/>
          </a:xfrm>
          <a:prstGeom prst="rect">
            <a:avLst/>
          </a:prstGeom>
          <a:solidFill>
            <a:srgbClr val="DDDDDD"/>
          </a:solidFill>
          <a:ln/>
        </p:spPr>
      </p:sp>
      <p:sp>
        <p:nvSpPr>
          <p:cNvPr id="92" name="Shape 90"/>
          <p:cNvSpPr/>
          <p:nvPr/>
        </p:nvSpPr>
        <p:spPr>
          <a:xfrm>
            <a:off x="8411210" y="3709416"/>
            <a:ext cx="209550" cy="11176"/>
          </a:xfrm>
          <a:prstGeom prst="rect">
            <a:avLst/>
          </a:prstGeom>
          <a:solidFill>
            <a:srgbClr val="DDDDDD"/>
          </a:solidFill>
          <a:ln/>
        </p:spPr>
      </p:sp>
      <p:sp>
        <p:nvSpPr>
          <p:cNvPr id="93" name="Text 91"/>
          <p:cNvSpPr txBox="1"/>
          <p:nvPr/>
        </p:nvSpPr>
        <p:spPr>
          <a:xfrm>
            <a:off x="8411210" y="3745738"/>
            <a:ext cx="125730" cy="50292"/>
          </a:xfrm>
          <a:prstGeom prst="rect">
            <a:avLst/>
          </a:prstGeom>
          <a:noFill/>
          <a:ln/>
        </p:spPr>
        <p:txBody>
          <a:bodyPr wrap="square" lIns="12700" tIns="12700" rIns="12700" bIns="12700" rtlCol="0" anchor="ctr"/>
          <a:lstStyle/>
          <a:p>
            <a:pPr algn="l" indent="0" marL="0">
              <a:lnSpc>
                <a:spcPct val="95000"/>
              </a:lnSpc>
              <a:buNone/>
            </a:pPr>
            <a:r>
              <a:rPr lang="en-US" sz="200" b="1" dirty="0">
                <a:solidFill>
                  <a:srgbClr val="333333"/>
                </a:solidFill>
                <a:latin typeface="Arial" pitchFamily="34" charset="0"/>
                <a:ea typeface="Arial" pitchFamily="34" charset="-122"/>
                <a:cs typeface="Arial" pitchFamily="34" charset="-120"/>
              </a:rPr>
              <a:t>$13.49</a:t>
            </a:r>
            <a:endParaRPr lang="en-US" sz="200" dirty="0"/>
          </a:p>
        </p:txBody>
      </p:sp>
      <p:sp>
        <p:nvSpPr>
          <p:cNvPr id="94" name="Shape 92"/>
          <p:cNvSpPr/>
          <p:nvPr/>
        </p:nvSpPr>
        <p:spPr>
          <a:xfrm>
            <a:off x="8578850" y="3745738"/>
            <a:ext cx="139700" cy="50292"/>
          </a:xfrm>
          <a:prstGeom prst="roundRect">
            <a:avLst>
              <a:gd name="adj" fmla="val 15000"/>
            </a:avLst>
          </a:prstGeom>
          <a:solidFill>
            <a:srgbClr val="555555"/>
          </a:solidFill>
          <a:ln w="6350">
            <a:solidFill>
              <a:srgbClr val="555555"/>
            </a:solidFill>
            <a:prstDash val="solid"/>
          </a:ln>
        </p:spPr>
      </p:sp>
      <p:sp>
        <p:nvSpPr>
          <p:cNvPr id="95" name="Text 93"/>
          <p:cNvSpPr txBox="1"/>
          <p:nvPr/>
        </p:nvSpPr>
        <p:spPr>
          <a:xfrm>
            <a:off x="8578850" y="3745738"/>
            <a:ext cx="139700" cy="50292"/>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FFFFFF"/>
                </a:solidFill>
                <a:latin typeface="Arial" pitchFamily="34" charset="0"/>
                <a:ea typeface="Arial" pitchFamily="34" charset="-122"/>
                <a:cs typeface="Arial" pitchFamily="34" charset="-120"/>
              </a:rPr>
              <a:t>Add +</a:t>
            </a:r>
            <a:endParaRPr lang="en-US" sz="150" dirty="0"/>
          </a:p>
        </p:txBody>
      </p:sp>
      <p:sp>
        <p:nvSpPr>
          <p:cNvPr id="96" name="Shape 94"/>
          <p:cNvSpPr/>
          <p:nvPr/>
        </p:nvSpPr>
        <p:spPr>
          <a:xfrm>
            <a:off x="7670800" y="3840734"/>
            <a:ext cx="335280" cy="363220"/>
          </a:xfrm>
          <a:prstGeom prst="rect">
            <a:avLst/>
          </a:prstGeom>
          <a:solidFill>
            <a:srgbClr val="FFFFFF"/>
          </a:solidFill>
          <a:ln w="6350">
            <a:solidFill>
              <a:srgbClr val="999999"/>
            </a:solidFill>
            <a:prstDash val="solid"/>
          </a:ln>
        </p:spPr>
      </p:sp>
      <p:sp>
        <p:nvSpPr>
          <p:cNvPr id="97" name="Shape 95"/>
          <p:cNvSpPr/>
          <p:nvPr/>
        </p:nvSpPr>
        <p:spPr>
          <a:xfrm>
            <a:off x="7684770" y="3854704"/>
            <a:ext cx="307340" cy="167640"/>
          </a:xfrm>
          <a:prstGeom prst="rect">
            <a:avLst/>
          </a:prstGeom>
          <a:solidFill>
            <a:srgbClr val="FFFFFF"/>
          </a:solidFill>
          <a:ln w="6350">
            <a:solidFill>
              <a:srgbClr val="999999"/>
            </a:solidFill>
            <a:prstDash val="solid"/>
          </a:ln>
        </p:spPr>
      </p:sp>
      <p:sp>
        <p:nvSpPr>
          <p:cNvPr id="98" name="Shape 96"/>
          <p:cNvSpPr/>
          <p:nvPr/>
        </p:nvSpPr>
        <p:spPr>
          <a:xfrm>
            <a:off x="7684770" y="3854704"/>
            <a:ext cx="307340" cy="167640"/>
          </a:xfrm>
          <a:prstGeom prst="line">
            <a:avLst/>
          </a:prstGeom>
          <a:noFill/>
          <a:ln w="6350">
            <a:solidFill>
              <a:srgbClr val="999999"/>
            </a:solidFill>
            <a:prstDash val="solid"/>
          </a:ln>
        </p:spPr>
      </p:sp>
      <p:sp>
        <p:nvSpPr>
          <p:cNvPr id="99" name="Shape 97"/>
          <p:cNvSpPr/>
          <p:nvPr/>
        </p:nvSpPr>
        <p:spPr>
          <a:xfrm flipV="1">
            <a:off x="7684770" y="3854704"/>
            <a:ext cx="307340" cy="167640"/>
          </a:xfrm>
          <a:prstGeom prst="line">
            <a:avLst/>
          </a:prstGeom>
          <a:noFill/>
          <a:ln w="6350">
            <a:solidFill>
              <a:srgbClr val="999999"/>
            </a:solidFill>
            <a:prstDash val="solid"/>
          </a:ln>
        </p:spPr>
      </p:sp>
      <p:sp>
        <p:nvSpPr>
          <p:cNvPr id="100" name="Text 98"/>
          <p:cNvSpPr txBox="1"/>
          <p:nvPr/>
        </p:nvSpPr>
        <p:spPr>
          <a:xfrm>
            <a:off x="7684770" y="4033520"/>
            <a:ext cx="307340" cy="33528"/>
          </a:xfrm>
          <a:prstGeom prst="rect">
            <a:avLst/>
          </a:prstGeom>
          <a:noFill/>
          <a:ln/>
        </p:spPr>
        <p:txBody>
          <a:bodyPr wrap="square" lIns="12700" tIns="12700" rIns="12700" bIns="12700" rtlCol="0" anchor="ctr"/>
          <a:lstStyle/>
          <a:p>
            <a:pPr algn="l" indent="0" marL="0">
              <a:lnSpc>
                <a:spcPct val="95000"/>
              </a:lnSpc>
              <a:buNone/>
            </a:pPr>
            <a:r>
              <a:rPr lang="en-US" sz="200" b="1" dirty="0">
                <a:solidFill>
                  <a:srgbClr val="333333"/>
                </a:solidFill>
                <a:latin typeface="Arial" pitchFamily="34" charset="0"/>
                <a:ea typeface="Arial" pitchFamily="34" charset="-122"/>
                <a:cs typeface="Arial" pitchFamily="34" charset="-120"/>
              </a:rPr>
              <a:t>Clam Strips &amp; Chips</a:t>
            </a:r>
            <a:endParaRPr lang="en-US" sz="200" dirty="0"/>
          </a:p>
        </p:txBody>
      </p:sp>
      <p:sp>
        <p:nvSpPr>
          <p:cNvPr id="101" name="Shape 99"/>
          <p:cNvSpPr/>
          <p:nvPr/>
        </p:nvSpPr>
        <p:spPr>
          <a:xfrm>
            <a:off x="7684770" y="4078224"/>
            <a:ext cx="279400" cy="11176"/>
          </a:xfrm>
          <a:prstGeom prst="rect">
            <a:avLst/>
          </a:prstGeom>
          <a:solidFill>
            <a:srgbClr val="DDDDDD"/>
          </a:solidFill>
          <a:ln/>
        </p:spPr>
      </p:sp>
      <p:sp>
        <p:nvSpPr>
          <p:cNvPr id="102" name="Shape 100"/>
          <p:cNvSpPr/>
          <p:nvPr/>
        </p:nvSpPr>
        <p:spPr>
          <a:xfrm>
            <a:off x="7684770" y="4100576"/>
            <a:ext cx="209550" cy="11176"/>
          </a:xfrm>
          <a:prstGeom prst="rect">
            <a:avLst/>
          </a:prstGeom>
          <a:solidFill>
            <a:srgbClr val="DDDDDD"/>
          </a:solidFill>
          <a:ln/>
        </p:spPr>
      </p:sp>
      <p:sp>
        <p:nvSpPr>
          <p:cNvPr id="103" name="Text 101"/>
          <p:cNvSpPr txBox="1"/>
          <p:nvPr/>
        </p:nvSpPr>
        <p:spPr>
          <a:xfrm>
            <a:off x="7684770" y="4136898"/>
            <a:ext cx="125730" cy="50292"/>
          </a:xfrm>
          <a:prstGeom prst="rect">
            <a:avLst/>
          </a:prstGeom>
          <a:noFill/>
          <a:ln/>
        </p:spPr>
        <p:txBody>
          <a:bodyPr wrap="square" lIns="12700" tIns="12700" rIns="12700" bIns="12700" rtlCol="0" anchor="ctr"/>
          <a:lstStyle/>
          <a:p>
            <a:pPr algn="l" indent="0" marL="0">
              <a:lnSpc>
                <a:spcPct val="95000"/>
              </a:lnSpc>
              <a:buNone/>
            </a:pPr>
            <a:r>
              <a:rPr lang="en-US" sz="200" b="1" dirty="0">
                <a:solidFill>
                  <a:srgbClr val="333333"/>
                </a:solidFill>
                <a:latin typeface="Arial" pitchFamily="34" charset="0"/>
                <a:ea typeface="Arial" pitchFamily="34" charset="-122"/>
                <a:cs typeface="Arial" pitchFamily="34" charset="-120"/>
              </a:rPr>
              <a:t>$16.99</a:t>
            </a:r>
            <a:endParaRPr lang="en-US" sz="200" dirty="0"/>
          </a:p>
        </p:txBody>
      </p:sp>
      <p:sp>
        <p:nvSpPr>
          <p:cNvPr id="104" name="Shape 102"/>
          <p:cNvSpPr/>
          <p:nvPr/>
        </p:nvSpPr>
        <p:spPr>
          <a:xfrm>
            <a:off x="7852410" y="4136898"/>
            <a:ext cx="139700" cy="50292"/>
          </a:xfrm>
          <a:prstGeom prst="roundRect">
            <a:avLst>
              <a:gd name="adj" fmla="val 15000"/>
            </a:avLst>
          </a:prstGeom>
          <a:solidFill>
            <a:srgbClr val="555555"/>
          </a:solidFill>
          <a:ln w="6350">
            <a:solidFill>
              <a:srgbClr val="555555"/>
            </a:solidFill>
            <a:prstDash val="solid"/>
          </a:ln>
        </p:spPr>
      </p:sp>
      <p:sp>
        <p:nvSpPr>
          <p:cNvPr id="105" name="Text 103"/>
          <p:cNvSpPr txBox="1"/>
          <p:nvPr/>
        </p:nvSpPr>
        <p:spPr>
          <a:xfrm>
            <a:off x="7852410" y="4136898"/>
            <a:ext cx="139700" cy="50292"/>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FFFFFF"/>
                </a:solidFill>
                <a:latin typeface="Arial" pitchFamily="34" charset="0"/>
                <a:ea typeface="Arial" pitchFamily="34" charset="-122"/>
                <a:cs typeface="Arial" pitchFamily="34" charset="-120"/>
              </a:rPr>
              <a:t>Add +</a:t>
            </a:r>
            <a:endParaRPr lang="en-US" sz="150" dirty="0"/>
          </a:p>
        </p:txBody>
      </p:sp>
      <p:sp>
        <p:nvSpPr>
          <p:cNvPr id="106" name="Shape 104"/>
          <p:cNvSpPr/>
          <p:nvPr/>
        </p:nvSpPr>
        <p:spPr>
          <a:xfrm>
            <a:off x="8034020" y="3840734"/>
            <a:ext cx="335280" cy="363220"/>
          </a:xfrm>
          <a:prstGeom prst="rect">
            <a:avLst/>
          </a:prstGeom>
          <a:solidFill>
            <a:srgbClr val="FFFFFF"/>
          </a:solidFill>
          <a:ln w="6350">
            <a:solidFill>
              <a:srgbClr val="999999"/>
            </a:solidFill>
            <a:prstDash val="solid"/>
          </a:ln>
        </p:spPr>
      </p:sp>
      <p:sp>
        <p:nvSpPr>
          <p:cNvPr id="107" name="Shape 105"/>
          <p:cNvSpPr/>
          <p:nvPr/>
        </p:nvSpPr>
        <p:spPr>
          <a:xfrm>
            <a:off x="8047990" y="3854704"/>
            <a:ext cx="307340" cy="167640"/>
          </a:xfrm>
          <a:prstGeom prst="rect">
            <a:avLst/>
          </a:prstGeom>
          <a:solidFill>
            <a:srgbClr val="FFFFFF"/>
          </a:solidFill>
          <a:ln w="6350">
            <a:solidFill>
              <a:srgbClr val="999999"/>
            </a:solidFill>
            <a:prstDash val="solid"/>
          </a:ln>
        </p:spPr>
      </p:sp>
      <p:sp>
        <p:nvSpPr>
          <p:cNvPr id="108" name="Shape 106"/>
          <p:cNvSpPr/>
          <p:nvPr/>
        </p:nvSpPr>
        <p:spPr>
          <a:xfrm>
            <a:off x="8047990" y="3854704"/>
            <a:ext cx="307340" cy="167640"/>
          </a:xfrm>
          <a:prstGeom prst="line">
            <a:avLst/>
          </a:prstGeom>
          <a:noFill/>
          <a:ln w="6350">
            <a:solidFill>
              <a:srgbClr val="999999"/>
            </a:solidFill>
            <a:prstDash val="solid"/>
          </a:ln>
        </p:spPr>
      </p:sp>
      <p:sp>
        <p:nvSpPr>
          <p:cNvPr id="109" name="Shape 107"/>
          <p:cNvSpPr/>
          <p:nvPr/>
        </p:nvSpPr>
        <p:spPr>
          <a:xfrm flipV="1">
            <a:off x="8047990" y="3854704"/>
            <a:ext cx="307340" cy="167640"/>
          </a:xfrm>
          <a:prstGeom prst="line">
            <a:avLst/>
          </a:prstGeom>
          <a:noFill/>
          <a:ln w="6350">
            <a:solidFill>
              <a:srgbClr val="999999"/>
            </a:solidFill>
            <a:prstDash val="solid"/>
          </a:ln>
        </p:spPr>
      </p:sp>
      <p:sp>
        <p:nvSpPr>
          <p:cNvPr id="110" name="Text 108"/>
          <p:cNvSpPr txBox="1"/>
          <p:nvPr/>
        </p:nvSpPr>
        <p:spPr>
          <a:xfrm>
            <a:off x="8047990" y="4033520"/>
            <a:ext cx="307340" cy="33528"/>
          </a:xfrm>
          <a:prstGeom prst="rect">
            <a:avLst/>
          </a:prstGeom>
          <a:noFill/>
          <a:ln/>
        </p:spPr>
        <p:txBody>
          <a:bodyPr wrap="square" lIns="12700" tIns="12700" rIns="12700" bIns="12700" rtlCol="0" anchor="ctr"/>
          <a:lstStyle/>
          <a:p>
            <a:pPr algn="l" indent="0" marL="0">
              <a:lnSpc>
                <a:spcPct val="95000"/>
              </a:lnSpc>
              <a:buNone/>
            </a:pPr>
            <a:r>
              <a:rPr lang="en-US" sz="200" b="1" dirty="0">
                <a:solidFill>
                  <a:srgbClr val="333333"/>
                </a:solidFill>
                <a:latin typeface="Arial" pitchFamily="34" charset="0"/>
                <a:ea typeface="Arial" pitchFamily="34" charset="-122"/>
                <a:cs typeface="Arial" pitchFamily="34" charset="-120"/>
              </a:rPr>
              <a:t>Scallops &amp; Chips</a:t>
            </a:r>
            <a:endParaRPr lang="en-US" sz="200" dirty="0"/>
          </a:p>
        </p:txBody>
      </p:sp>
      <p:sp>
        <p:nvSpPr>
          <p:cNvPr id="111" name="Shape 109"/>
          <p:cNvSpPr/>
          <p:nvPr/>
        </p:nvSpPr>
        <p:spPr>
          <a:xfrm>
            <a:off x="8047990" y="4078224"/>
            <a:ext cx="279400" cy="11176"/>
          </a:xfrm>
          <a:prstGeom prst="rect">
            <a:avLst/>
          </a:prstGeom>
          <a:solidFill>
            <a:srgbClr val="DDDDDD"/>
          </a:solidFill>
          <a:ln/>
        </p:spPr>
      </p:sp>
      <p:sp>
        <p:nvSpPr>
          <p:cNvPr id="112" name="Shape 110"/>
          <p:cNvSpPr/>
          <p:nvPr/>
        </p:nvSpPr>
        <p:spPr>
          <a:xfrm>
            <a:off x="8047990" y="4100576"/>
            <a:ext cx="209550" cy="11176"/>
          </a:xfrm>
          <a:prstGeom prst="rect">
            <a:avLst/>
          </a:prstGeom>
          <a:solidFill>
            <a:srgbClr val="DDDDDD"/>
          </a:solidFill>
          <a:ln/>
        </p:spPr>
      </p:sp>
      <p:sp>
        <p:nvSpPr>
          <p:cNvPr id="113" name="Text 111"/>
          <p:cNvSpPr txBox="1"/>
          <p:nvPr/>
        </p:nvSpPr>
        <p:spPr>
          <a:xfrm>
            <a:off x="8047990" y="4136898"/>
            <a:ext cx="125730" cy="50292"/>
          </a:xfrm>
          <a:prstGeom prst="rect">
            <a:avLst/>
          </a:prstGeom>
          <a:noFill/>
          <a:ln/>
        </p:spPr>
        <p:txBody>
          <a:bodyPr wrap="square" lIns="12700" tIns="12700" rIns="12700" bIns="12700" rtlCol="0" anchor="ctr"/>
          <a:lstStyle/>
          <a:p>
            <a:pPr algn="l" indent="0" marL="0">
              <a:lnSpc>
                <a:spcPct val="95000"/>
              </a:lnSpc>
              <a:buNone/>
            </a:pPr>
            <a:r>
              <a:rPr lang="en-US" sz="200" b="1" dirty="0">
                <a:solidFill>
                  <a:srgbClr val="333333"/>
                </a:solidFill>
                <a:latin typeface="Arial" pitchFamily="34" charset="0"/>
                <a:ea typeface="Arial" pitchFamily="34" charset="-122"/>
                <a:cs typeface="Arial" pitchFamily="34" charset="-120"/>
              </a:rPr>
              <a:t>$24.99</a:t>
            </a:r>
            <a:endParaRPr lang="en-US" sz="200" dirty="0"/>
          </a:p>
        </p:txBody>
      </p:sp>
      <p:sp>
        <p:nvSpPr>
          <p:cNvPr id="114" name="Shape 112"/>
          <p:cNvSpPr/>
          <p:nvPr/>
        </p:nvSpPr>
        <p:spPr>
          <a:xfrm>
            <a:off x="8215630" y="4136898"/>
            <a:ext cx="139700" cy="50292"/>
          </a:xfrm>
          <a:prstGeom prst="roundRect">
            <a:avLst>
              <a:gd name="adj" fmla="val 15000"/>
            </a:avLst>
          </a:prstGeom>
          <a:solidFill>
            <a:srgbClr val="555555"/>
          </a:solidFill>
          <a:ln w="6350">
            <a:solidFill>
              <a:srgbClr val="555555"/>
            </a:solidFill>
            <a:prstDash val="solid"/>
          </a:ln>
        </p:spPr>
      </p:sp>
      <p:sp>
        <p:nvSpPr>
          <p:cNvPr id="115" name="Text 113"/>
          <p:cNvSpPr txBox="1"/>
          <p:nvPr/>
        </p:nvSpPr>
        <p:spPr>
          <a:xfrm>
            <a:off x="8215630" y="4136898"/>
            <a:ext cx="139700" cy="50292"/>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FFFFFF"/>
                </a:solidFill>
                <a:latin typeface="Arial" pitchFamily="34" charset="0"/>
                <a:ea typeface="Arial" pitchFamily="34" charset="-122"/>
                <a:cs typeface="Arial" pitchFamily="34" charset="-120"/>
              </a:rPr>
              <a:t>Add +</a:t>
            </a:r>
            <a:endParaRPr lang="en-US" sz="150" dirty="0"/>
          </a:p>
        </p:txBody>
      </p:sp>
      <p:sp>
        <p:nvSpPr>
          <p:cNvPr id="116" name="Shape 114"/>
          <p:cNvSpPr/>
          <p:nvPr/>
        </p:nvSpPr>
        <p:spPr>
          <a:xfrm>
            <a:off x="8397240" y="3840734"/>
            <a:ext cx="335280" cy="363220"/>
          </a:xfrm>
          <a:prstGeom prst="rect">
            <a:avLst/>
          </a:prstGeom>
          <a:solidFill>
            <a:srgbClr val="FFFFFF"/>
          </a:solidFill>
          <a:ln w="6350">
            <a:solidFill>
              <a:srgbClr val="999999"/>
            </a:solidFill>
            <a:prstDash val="solid"/>
          </a:ln>
        </p:spPr>
      </p:sp>
      <p:sp>
        <p:nvSpPr>
          <p:cNvPr id="117" name="Shape 115"/>
          <p:cNvSpPr/>
          <p:nvPr/>
        </p:nvSpPr>
        <p:spPr>
          <a:xfrm>
            <a:off x="8411210" y="3854704"/>
            <a:ext cx="307340" cy="167640"/>
          </a:xfrm>
          <a:prstGeom prst="rect">
            <a:avLst/>
          </a:prstGeom>
          <a:solidFill>
            <a:srgbClr val="FFFFFF"/>
          </a:solidFill>
          <a:ln w="6350">
            <a:solidFill>
              <a:srgbClr val="999999"/>
            </a:solidFill>
            <a:prstDash val="solid"/>
          </a:ln>
        </p:spPr>
      </p:sp>
      <p:sp>
        <p:nvSpPr>
          <p:cNvPr id="118" name="Shape 116"/>
          <p:cNvSpPr/>
          <p:nvPr/>
        </p:nvSpPr>
        <p:spPr>
          <a:xfrm>
            <a:off x="8411210" y="3854704"/>
            <a:ext cx="307340" cy="167640"/>
          </a:xfrm>
          <a:prstGeom prst="line">
            <a:avLst/>
          </a:prstGeom>
          <a:noFill/>
          <a:ln w="6350">
            <a:solidFill>
              <a:srgbClr val="999999"/>
            </a:solidFill>
            <a:prstDash val="solid"/>
          </a:ln>
        </p:spPr>
      </p:sp>
      <p:sp>
        <p:nvSpPr>
          <p:cNvPr id="119" name="Shape 117"/>
          <p:cNvSpPr/>
          <p:nvPr/>
        </p:nvSpPr>
        <p:spPr>
          <a:xfrm flipV="1">
            <a:off x="8411210" y="3854704"/>
            <a:ext cx="307340" cy="167640"/>
          </a:xfrm>
          <a:prstGeom prst="line">
            <a:avLst/>
          </a:prstGeom>
          <a:noFill/>
          <a:ln w="6350">
            <a:solidFill>
              <a:srgbClr val="999999"/>
            </a:solidFill>
            <a:prstDash val="solid"/>
          </a:ln>
        </p:spPr>
      </p:sp>
      <p:sp>
        <p:nvSpPr>
          <p:cNvPr id="120" name="Text 118"/>
          <p:cNvSpPr txBox="1"/>
          <p:nvPr/>
        </p:nvSpPr>
        <p:spPr>
          <a:xfrm>
            <a:off x="8411210" y="4033520"/>
            <a:ext cx="307340" cy="33528"/>
          </a:xfrm>
          <a:prstGeom prst="rect">
            <a:avLst/>
          </a:prstGeom>
          <a:noFill/>
          <a:ln/>
        </p:spPr>
        <p:txBody>
          <a:bodyPr wrap="square" lIns="12700" tIns="12700" rIns="12700" bIns="12700" rtlCol="0" anchor="ctr"/>
          <a:lstStyle/>
          <a:p>
            <a:pPr algn="l" indent="0" marL="0">
              <a:lnSpc>
                <a:spcPct val="95000"/>
              </a:lnSpc>
              <a:buNone/>
            </a:pPr>
            <a:r>
              <a:rPr lang="en-US" sz="200" b="1" dirty="0">
                <a:solidFill>
                  <a:srgbClr val="333333"/>
                </a:solidFill>
                <a:latin typeface="Arial" pitchFamily="34" charset="0"/>
                <a:ea typeface="Arial" pitchFamily="34" charset="-122"/>
                <a:cs typeface="Arial" pitchFamily="34" charset="-120"/>
              </a:rPr>
              <a:t>Lobster Roll</a:t>
            </a:r>
            <a:endParaRPr lang="en-US" sz="200" dirty="0"/>
          </a:p>
        </p:txBody>
      </p:sp>
      <p:sp>
        <p:nvSpPr>
          <p:cNvPr id="121" name="Shape 119"/>
          <p:cNvSpPr/>
          <p:nvPr/>
        </p:nvSpPr>
        <p:spPr>
          <a:xfrm>
            <a:off x="8411210" y="4078224"/>
            <a:ext cx="279400" cy="11176"/>
          </a:xfrm>
          <a:prstGeom prst="rect">
            <a:avLst/>
          </a:prstGeom>
          <a:solidFill>
            <a:srgbClr val="DDDDDD"/>
          </a:solidFill>
          <a:ln/>
        </p:spPr>
      </p:sp>
      <p:sp>
        <p:nvSpPr>
          <p:cNvPr id="122" name="Shape 120"/>
          <p:cNvSpPr/>
          <p:nvPr/>
        </p:nvSpPr>
        <p:spPr>
          <a:xfrm>
            <a:off x="8411210" y="4100576"/>
            <a:ext cx="209550" cy="11176"/>
          </a:xfrm>
          <a:prstGeom prst="rect">
            <a:avLst/>
          </a:prstGeom>
          <a:solidFill>
            <a:srgbClr val="DDDDDD"/>
          </a:solidFill>
          <a:ln/>
        </p:spPr>
      </p:sp>
      <p:sp>
        <p:nvSpPr>
          <p:cNvPr id="123" name="Text 121"/>
          <p:cNvSpPr txBox="1"/>
          <p:nvPr/>
        </p:nvSpPr>
        <p:spPr>
          <a:xfrm>
            <a:off x="8411210" y="4136898"/>
            <a:ext cx="125730" cy="50292"/>
          </a:xfrm>
          <a:prstGeom prst="rect">
            <a:avLst/>
          </a:prstGeom>
          <a:noFill/>
          <a:ln/>
        </p:spPr>
        <p:txBody>
          <a:bodyPr wrap="square" lIns="12700" tIns="12700" rIns="12700" bIns="12700" rtlCol="0" anchor="ctr"/>
          <a:lstStyle/>
          <a:p>
            <a:pPr algn="l" indent="0" marL="0">
              <a:lnSpc>
                <a:spcPct val="95000"/>
              </a:lnSpc>
              <a:buNone/>
            </a:pPr>
            <a:r>
              <a:rPr lang="en-US" sz="200" b="1" dirty="0">
                <a:solidFill>
                  <a:srgbClr val="333333"/>
                </a:solidFill>
                <a:latin typeface="Arial" pitchFamily="34" charset="0"/>
                <a:ea typeface="Arial" pitchFamily="34" charset="-122"/>
                <a:cs typeface="Arial" pitchFamily="34" charset="-120"/>
              </a:rPr>
              <a:t>$22.99</a:t>
            </a:r>
            <a:endParaRPr lang="en-US" sz="200" dirty="0"/>
          </a:p>
        </p:txBody>
      </p:sp>
      <p:sp>
        <p:nvSpPr>
          <p:cNvPr id="124" name="Shape 122"/>
          <p:cNvSpPr/>
          <p:nvPr/>
        </p:nvSpPr>
        <p:spPr>
          <a:xfrm>
            <a:off x="8578850" y="4136898"/>
            <a:ext cx="139700" cy="50292"/>
          </a:xfrm>
          <a:prstGeom prst="roundRect">
            <a:avLst>
              <a:gd name="adj" fmla="val 15000"/>
            </a:avLst>
          </a:prstGeom>
          <a:solidFill>
            <a:srgbClr val="555555"/>
          </a:solidFill>
          <a:ln w="6350">
            <a:solidFill>
              <a:srgbClr val="555555"/>
            </a:solidFill>
            <a:prstDash val="solid"/>
          </a:ln>
        </p:spPr>
      </p:sp>
      <p:sp>
        <p:nvSpPr>
          <p:cNvPr id="125" name="Text 123"/>
          <p:cNvSpPr txBox="1"/>
          <p:nvPr/>
        </p:nvSpPr>
        <p:spPr>
          <a:xfrm>
            <a:off x="8578850" y="4136898"/>
            <a:ext cx="139700" cy="50292"/>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FFFFFF"/>
                </a:solidFill>
                <a:latin typeface="Arial" pitchFamily="34" charset="0"/>
                <a:ea typeface="Arial" pitchFamily="34" charset="-122"/>
                <a:cs typeface="Arial" pitchFamily="34" charset="-120"/>
              </a:rPr>
              <a:t>Add +</a:t>
            </a:r>
            <a:endParaRPr lang="en-US" sz="150" dirty="0"/>
          </a:p>
        </p:txBody>
      </p:sp>
      <p:sp>
        <p:nvSpPr>
          <p:cNvPr id="126" name="Shape 124"/>
          <p:cNvSpPr/>
          <p:nvPr/>
        </p:nvSpPr>
        <p:spPr>
          <a:xfrm>
            <a:off x="8774430" y="3309874"/>
            <a:ext cx="516890" cy="614680"/>
          </a:xfrm>
          <a:prstGeom prst="rect">
            <a:avLst/>
          </a:prstGeom>
          <a:solidFill>
            <a:srgbClr val="F5F5F5"/>
          </a:solidFill>
          <a:ln w="6350">
            <a:solidFill>
              <a:srgbClr val="999999"/>
            </a:solidFill>
            <a:prstDash val="solid"/>
          </a:ln>
        </p:spPr>
      </p:sp>
      <p:sp>
        <p:nvSpPr>
          <p:cNvPr id="127" name="Text 125"/>
          <p:cNvSpPr txBox="1"/>
          <p:nvPr/>
        </p:nvSpPr>
        <p:spPr>
          <a:xfrm>
            <a:off x="8802370" y="3332226"/>
            <a:ext cx="349250" cy="41910"/>
          </a:xfrm>
          <a:prstGeom prst="rect">
            <a:avLst/>
          </a:prstGeom>
          <a:noFill/>
          <a:ln/>
        </p:spPr>
        <p:txBody>
          <a:bodyPr wrap="square" lIns="12700" tIns="12700" rIns="12700" bIns="12700" rtlCol="0" anchor="ctr"/>
          <a:lstStyle/>
          <a:p>
            <a:pPr algn="l" indent="0" marL="0">
              <a:lnSpc>
                <a:spcPct val="95000"/>
              </a:lnSpc>
              <a:buNone/>
            </a:pPr>
            <a:r>
              <a:rPr lang="en-US" sz="200" b="1" dirty="0">
                <a:solidFill>
                  <a:srgbClr val="333333"/>
                </a:solidFill>
                <a:latin typeface="Arial" pitchFamily="34" charset="0"/>
                <a:ea typeface="Arial" pitchFamily="34" charset="-122"/>
                <a:cs typeface="Arial" pitchFamily="34" charset="-120"/>
              </a:rPr>
              <a:t>Your Order</a:t>
            </a:r>
            <a:endParaRPr lang="en-US" sz="200" dirty="0"/>
          </a:p>
        </p:txBody>
      </p:sp>
      <p:sp>
        <p:nvSpPr>
          <p:cNvPr id="128" name="Text 126"/>
          <p:cNvSpPr txBox="1"/>
          <p:nvPr/>
        </p:nvSpPr>
        <p:spPr>
          <a:xfrm>
            <a:off x="8802370" y="3399282"/>
            <a:ext cx="251460" cy="39116"/>
          </a:xfrm>
          <a:prstGeom prst="rect">
            <a:avLst/>
          </a:prstGeom>
          <a:noFill/>
          <a:ln/>
        </p:spPr>
        <p:txBody>
          <a:bodyPr wrap="square" lIns="12700" tIns="12700" rIns="12700" bIns="12700" rtlCol="0" anchor="ctr"/>
          <a:lstStyle/>
          <a:p>
            <a:pPr algn="l" indent="0" marL="0">
              <a:lnSpc>
                <a:spcPct val="95000"/>
              </a:lnSpc>
              <a:buNone/>
            </a:pPr>
            <a:r>
              <a:rPr lang="en-US" sz="150" dirty="0">
                <a:solidFill>
                  <a:srgbClr val="333333"/>
                </a:solidFill>
                <a:latin typeface="Arial" pitchFamily="34" charset="0"/>
                <a:ea typeface="Arial" pitchFamily="34" charset="-122"/>
                <a:cs typeface="Arial" pitchFamily="34" charset="-120"/>
              </a:rPr>
              <a:t>Haddock &amp; Chips (2 pc)</a:t>
            </a:r>
            <a:endParaRPr lang="en-US" sz="150" dirty="0"/>
          </a:p>
        </p:txBody>
      </p:sp>
      <p:sp>
        <p:nvSpPr>
          <p:cNvPr id="129" name="Shape 127"/>
          <p:cNvSpPr/>
          <p:nvPr/>
        </p:nvSpPr>
        <p:spPr>
          <a:xfrm>
            <a:off x="9062212" y="3399282"/>
            <a:ext cx="39116" cy="39116"/>
          </a:xfrm>
          <a:prstGeom prst="roundRect">
            <a:avLst>
              <a:gd name="adj" fmla="val 15000"/>
            </a:avLst>
          </a:prstGeom>
          <a:solidFill>
            <a:srgbClr val="FFFFFF"/>
          </a:solidFill>
          <a:ln w="6350">
            <a:solidFill>
              <a:srgbClr val="555555"/>
            </a:solidFill>
            <a:prstDash val="solid"/>
          </a:ln>
        </p:spPr>
      </p:sp>
      <p:sp>
        <p:nvSpPr>
          <p:cNvPr id="130" name="Text 128"/>
          <p:cNvSpPr txBox="1"/>
          <p:nvPr/>
        </p:nvSpPr>
        <p:spPr>
          <a:xfrm>
            <a:off x="9062212" y="3399282"/>
            <a:ext cx="39116" cy="39116"/>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333333"/>
                </a:solidFill>
                <a:latin typeface="Arial" pitchFamily="34" charset="0"/>
                <a:ea typeface="Arial" pitchFamily="34" charset="-122"/>
                <a:cs typeface="Arial" pitchFamily="34" charset="-120"/>
              </a:rPr>
              <a:t>−</a:t>
            </a:r>
            <a:endParaRPr lang="en-US" sz="150" dirty="0"/>
          </a:p>
        </p:txBody>
      </p:sp>
      <p:sp>
        <p:nvSpPr>
          <p:cNvPr id="131" name="Text 129"/>
          <p:cNvSpPr txBox="1"/>
          <p:nvPr/>
        </p:nvSpPr>
        <p:spPr>
          <a:xfrm>
            <a:off x="9101328" y="3399282"/>
            <a:ext cx="33528" cy="39116"/>
          </a:xfrm>
          <a:prstGeom prst="rect">
            <a:avLst/>
          </a:prstGeom>
          <a:noFill/>
          <a:ln/>
        </p:spPr>
        <p:txBody>
          <a:bodyPr wrap="square" lIns="12700" tIns="12700" rIns="12700" bIns="12700" rtlCol="0" anchor="ctr"/>
          <a:lstStyle/>
          <a:p>
            <a:pPr algn="ctr" indent="0" marL="0">
              <a:lnSpc>
                <a:spcPct val="95000"/>
              </a:lnSpc>
              <a:buNone/>
            </a:pPr>
            <a:r>
              <a:rPr lang="en-US" sz="150" dirty="0">
                <a:solidFill>
                  <a:srgbClr val="333333"/>
                </a:solidFill>
                <a:latin typeface="Arial" pitchFamily="34" charset="0"/>
                <a:ea typeface="Arial" pitchFamily="34" charset="-122"/>
                <a:cs typeface="Arial" pitchFamily="34" charset="-120"/>
              </a:rPr>
              <a:t>1</a:t>
            </a:r>
            <a:endParaRPr lang="en-US" sz="150" dirty="0"/>
          </a:p>
        </p:txBody>
      </p:sp>
      <p:sp>
        <p:nvSpPr>
          <p:cNvPr id="132" name="Shape 130"/>
          <p:cNvSpPr/>
          <p:nvPr/>
        </p:nvSpPr>
        <p:spPr>
          <a:xfrm>
            <a:off x="9134856" y="3399282"/>
            <a:ext cx="39116" cy="39116"/>
          </a:xfrm>
          <a:prstGeom prst="roundRect">
            <a:avLst>
              <a:gd name="adj" fmla="val 15000"/>
            </a:avLst>
          </a:prstGeom>
          <a:solidFill>
            <a:srgbClr val="FFFFFF"/>
          </a:solidFill>
          <a:ln w="6350">
            <a:solidFill>
              <a:srgbClr val="555555"/>
            </a:solidFill>
            <a:prstDash val="solid"/>
          </a:ln>
        </p:spPr>
      </p:sp>
      <p:sp>
        <p:nvSpPr>
          <p:cNvPr id="133" name="Text 131"/>
          <p:cNvSpPr txBox="1"/>
          <p:nvPr/>
        </p:nvSpPr>
        <p:spPr>
          <a:xfrm>
            <a:off x="9134856" y="3399282"/>
            <a:ext cx="39116" cy="39116"/>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333333"/>
                </a:solidFill>
                <a:latin typeface="Arial" pitchFamily="34" charset="0"/>
                <a:ea typeface="Arial" pitchFamily="34" charset="-122"/>
                <a:cs typeface="Arial" pitchFamily="34" charset="-120"/>
              </a:rPr>
              <a:t>+</a:t>
            </a:r>
            <a:endParaRPr lang="en-US" sz="150" dirty="0"/>
          </a:p>
        </p:txBody>
      </p:sp>
      <p:sp>
        <p:nvSpPr>
          <p:cNvPr id="134" name="Text 132"/>
          <p:cNvSpPr txBox="1"/>
          <p:nvPr/>
        </p:nvSpPr>
        <p:spPr>
          <a:xfrm>
            <a:off x="9179560" y="3399282"/>
            <a:ext cx="83820" cy="39116"/>
          </a:xfrm>
          <a:prstGeom prst="rect">
            <a:avLst/>
          </a:prstGeom>
          <a:noFill/>
          <a:ln/>
        </p:spPr>
        <p:txBody>
          <a:bodyPr wrap="square" lIns="12700" tIns="12700" rIns="12700" bIns="12700" rtlCol="0" anchor="ctr"/>
          <a:lstStyle/>
          <a:p>
            <a:pPr algn="r" indent="0" marL="0">
              <a:lnSpc>
                <a:spcPct val="95000"/>
              </a:lnSpc>
              <a:buNone/>
            </a:pPr>
            <a:r>
              <a:rPr lang="en-US" sz="150" dirty="0">
                <a:solidFill>
                  <a:srgbClr val="333333"/>
                </a:solidFill>
                <a:latin typeface="Arial" pitchFamily="34" charset="0"/>
                <a:ea typeface="Arial" pitchFamily="34" charset="-122"/>
                <a:cs typeface="Arial" pitchFamily="34" charset="-120"/>
              </a:rPr>
              <a:t>$19.99</a:t>
            </a:r>
            <a:endParaRPr lang="en-US" sz="150" dirty="0"/>
          </a:p>
        </p:txBody>
      </p:sp>
      <p:sp>
        <p:nvSpPr>
          <p:cNvPr id="135" name="Text 133"/>
          <p:cNvSpPr txBox="1"/>
          <p:nvPr/>
        </p:nvSpPr>
        <p:spPr>
          <a:xfrm>
            <a:off x="8802370" y="3469132"/>
            <a:ext cx="251460" cy="39116"/>
          </a:xfrm>
          <a:prstGeom prst="rect">
            <a:avLst/>
          </a:prstGeom>
          <a:noFill/>
          <a:ln/>
        </p:spPr>
        <p:txBody>
          <a:bodyPr wrap="square" lIns="12700" tIns="12700" rIns="12700" bIns="12700" rtlCol="0" anchor="ctr"/>
          <a:lstStyle/>
          <a:p>
            <a:pPr algn="l" indent="0" marL="0">
              <a:lnSpc>
                <a:spcPct val="95000"/>
              </a:lnSpc>
              <a:buNone/>
            </a:pPr>
            <a:r>
              <a:rPr lang="en-US" sz="150" dirty="0">
                <a:solidFill>
                  <a:srgbClr val="333333"/>
                </a:solidFill>
                <a:latin typeface="Arial" pitchFamily="34" charset="0"/>
                <a:ea typeface="Arial" pitchFamily="34" charset="-122"/>
                <a:cs typeface="Arial" pitchFamily="34" charset="-120"/>
              </a:rPr>
              <a:t>Fries (large)</a:t>
            </a:r>
            <a:endParaRPr lang="en-US" sz="150" dirty="0"/>
          </a:p>
        </p:txBody>
      </p:sp>
      <p:sp>
        <p:nvSpPr>
          <p:cNvPr id="136" name="Shape 134"/>
          <p:cNvSpPr/>
          <p:nvPr/>
        </p:nvSpPr>
        <p:spPr>
          <a:xfrm>
            <a:off x="9062212" y="3469132"/>
            <a:ext cx="39116" cy="39116"/>
          </a:xfrm>
          <a:prstGeom prst="roundRect">
            <a:avLst>
              <a:gd name="adj" fmla="val 15000"/>
            </a:avLst>
          </a:prstGeom>
          <a:solidFill>
            <a:srgbClr val="FFFFFF"/>
          </a:solidFill>
          <a:ln w="6350">
            <a:solidFill>
              <a:srgbClr val="555555"/>
            </a:solidFill>
            <a:prstDash val="solid"/>
          </a:ln>
        </p:spPr>
      </p:sp>
      <p:sp>
        <p:nvSpPr>
          <p:cNvPr id="137" name="Text 135"/>
          <p:cNvSpPr txBox="1"/>
          <p:nvPr/>
        </p:nvSpPr>
        <p:spPr>
          <a:xfrm>
            <a:off x="9062212" y="3469132"/>
            <a:ext cx="39116" cy="39116"/>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333333"/>
                </a:solidFill>
                <a:latin typeface="Arial" pitchFamily="34" charset="0"/>
                <a:ea typeface="Arial" pitchFamily="34" charset="-122"/>
                <a:cs typeface="Arial" pitchFamily="34" charset="-120"/>
              </a:rPr>
              <a:t>−</a:t>
            </a:r>
            <a:endParaRPr lang="en-US" sz="150" dirty="0"/>
          </a:p>
        </p:txBody>
      </p:sp>
      <p:sp>
        <p:nvSpPr>
          <p:cNvPr id="138" name="Text 136"/>
          <p:cNvSpPr txBox="1"/>
          <p:nvPr/>
        </p:nvSpPr>
        <p:spPr>
          <a:xfrm>
            <a:off x="9101328" y="3469132"/>
            <a:ext cx="33528" cy="39116"/>
          </a:xfrm>
          <a:prstGeom prst="rect">
            <a:avLst/>
          </a:prstGeom>
          <a:noFill/>
          <a:ln/>
        </p:spPr>
        <p:txBody>
          <a:bodyPr wrap="square" lIns="12700" tIns="12700" rIns="12700" bIns="12700" rtlCol="0" anchor="ctr"/>
          <a:lstStyle/>
          <a:p>
            <a:pPr algn="ctr" indent="0" marL="0">
              <a:lnSpc>
                <a:spcPct val="95000"/>
              </a:lnSpc>
              <a:buNone/>
            </a:pPr>
            <a:r>
              <a:rPr lang="en-US" sz="150" dirty="0">
                <a:solidFill>
                  <a:srgbClr val="333333"/>
                </a:solidFill>
                <a:latin typeface="Arial" pitchFamily="34" charset="0"/>
                <a:ea typeface="Arial" pitchFamily="34" charset="-122"/>
                <a:cs typeface="Arial" pitchFamily="34" charset="-120"/>
              </a:rPr>
              <a:t>1</a:t>
            </a:r>
            <a:endParaRPr lang="en-US" sz="150" dirty="0"/>
          </a:p>
        </p:txBody>
      </p:sp>
      <p:sp>
        <p:nvSpPr>
          <p:cNvPr id="139" name="Shape 137"/>
          <p:cNvSpPr/>
          <p:nvPr/>
        </p:nvSpPr>
        <p:spPr>
          <a:xfrm>
            <a:off x="9134856" y="3469132"/>
            <a:ext cx="39116" cy="39116"/>
          </a:xfrm>
          <a:prstGeom prst="roundRect">
            <a:avLst>
              <a:gd name="adj" fmla="val 15000"/>
            </a:avLst>
          </a:prstGeom>
          <a:solidFill>
            <a:srgbClr val="FFFFFF"/>
          </a:solidFill>
          <a:ln w="6350">
            <a:solidFill>
              <a:srgbClr val="555555"/>
            </a:solidFill>
            <a:prstDash val="solid"/>
          </a:ln>
        </p:spPr>
      </p:sp>
      <p:sp>
        <p:nvSpPr>
          <p:cNvPr id="140" name="Text 138"/>
          <p:cNvSpPr txBox="1"/>
          <p:nvPr/>
        </p:nvSpPr>
        <p:spPr>
          <a:xfrm>
            <a:off x="9134856" y="3469132"/>
            <a:ext cx="39116" cy="39116"/>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333333"/>
                </a:solidFill>
                <a:latin typeface="Arial" pitchFamily="34" charset="0"/>
                <a:ea typeface="Arial" pitchFamily="34" charset="-122"/>
                <a:cs typeface="Arial" pitchFamily="34" charset="-120"/>
              </a:rPr>
              <a:t>+</a:t>
            </a:r>
            <a:endParaRPr lang="en-US" sz="150" dirty="0"/>
          </a:p>
        </p:txBody>
      </p:sp>
      <p:sp>
        <p:nvSpPr>
          <p:cNvPr id="141" name="Text 139"/>
          <p:cNvSpPr txBox="1"/>
          <p:nvPr/>
        </p:nvSpPr>
        <p:spPr>
          <a:xfrm>
            <a:off x="9179560" y="3469132"/>
            <a:ext cx="83820" cy="39116"/>
          </a:xfrm>
          <a:prstGeom prst="rect">
            <a:avLst/>
          </a:prstGeom>
          <a:noFill/>
          <a:ln/>
        </p:spPr>
        <p:txBody>
          <a:bodyPr wrap="square" lIns="12700" tIns="12700" rIns="12700" bIns="12700" rtlCol="0" anchor="ctr"/>
          <a:lstStyle/>
          <a:p>
            <a:pPr algn="r" indent="0" marL="0">
              <a:lnSpc>
                <a:spcPct val="95000"/>
              </a:lnSpc>
              <a:buNone/>
            </a:pPr>
            <a:r>
              <a:rPr lang="en-US" sz="150" dirty="0">
                <a:solidFill>
                  <a:srgbClr val="333333"/>
                </a:solidFill>
                <a:latin typeface="Arial" pitchFamily="34" charset="0"/>
                <a:ea typeface="Arial" pitchFamily="34" charset="-122"/>
                <a:cs typeface="Arial" pitchFamily="34" charset="-120"/>
              </a:rPr>
              <a:t>$5.49</a:t>
            </a:r>
            <a:endParaRPr lang="en-US" sz="150" dirty="0"/>
          </a:p>
        </p:txBody>
      </p:sp>
      <p:sp>
        <p:nvSpPr>
          <p:cNvPr id="142" name="Text 140"/>
          <p:cNvSpPr txBox="1"/>
          <p:nvPr/>
        </p:nvSpPr>
        <p:spPr>
          <a:xfrm>
            <a:off x="8802370" y="3538982"/>
            <a:ext cx="251460" cy="39116"/>
          </a:xfrm>
          <a:prstGeom prst="rect">
            <a:avLst/>
          </a:prstGeom>
          <a:noFill/>
          <a:ln/>
        </p:spPr>
        <p:txBody>
          <a:bodyPr wrap="square" lIns="12700" tIns="12700" rIns="12700" bIns="12700" rtlCol="0" anchor="ctr"/>
          <a:lstStyle/>
          <a:p>
            <a:pPr algn="l" indent="0" marL="0">
              <a:lnSpc>
                <a:spcPct val="95000"/>
              </a:lnSpc>
              <a:buNone/>
            </a:pPr>
            <a:r>
              <a:rPr lang="en-US" sz="150" dirty="0">
                <a:solidFill>
                  <a:srgbClr val="333333"/>
                </a:solidFill>
                <a:latin typeface="Arial" pitchFamily="34" charset="0"/>
                <a:ea typeface="Arial" pitchFamily="34" charset="-122"/>
                <a:cs typeface="Arial" pitchFamily="34" charset="-120"/>
              </a:rPr>
              <a:t>Coleslaw</a:t>
            </a:r>
            <a:endParaRPr lang="en-US" sz="150" dirty="0"/>
          </a:p>
        </p:txBody>
      </p:sp>
      <p:sp>
        <p:nvSpPr>
          <p:cNvPr id="143" name="Shape 141"/>
          <p:cNvSpPr/>
          <p:nvPr/>
        </p:nvSpPr>
        <p:spPr>
          <a:xfrm>
            <a:off x="9062212" y="3538982"/>
            <a:ext cx="39116" cy="39116"/>
          </a:xfrm>
          <a:prstGeom prst="roundRect">
            <a:avLst>
              <a:gd name="adj" fmla="val 15000"/>
            </a:avLst>
          </a:prstGeom>
          <a:solidFill>
            <a:srgbClr val="FFFFFF"/>
          </a:solidFill>
          <a:ln w="6350">
            <a:solidFill>
              <a:srgbClr val="555555"/>
            </a:solidFill>
            <a:prstDash val="solid"/>
          </a:ln>
        </p:spPr>
      </p:sp>
      <p:sp>
        <p:nvSpPr>
          <p:cNvPr id="144" name="Text 142"/>
          <p:cNvSpPr txBox="1"/>
          <p:nvPr/>
        </p:nvSpPr>
        <p:spPr>
          <a:xfrm>
            <a:off x="9062212" y="3538982"/>
            <a:ext cx="39116" cy="39116"/>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333333"/>
                </a:solidFill>
                <a:latin typeface="Arial" pitchFamily="34" charset="0"/>
                <a:ea typeface="Arial" pitchFamily="34" charset="-122"/>
                <a:cs typeface="Arial" pitchFamily="34" charset="-120"/>
              </a:rPr>
              <a:t>−</a:t>
            </a:r>
            <a:endParaRPr lang="en-US" sz="150" dirty="0"/>
          </a:p>
        </p:txBody>
      </p:sp>
      <p:sp>
        <p:nvSpPr>
          <p:cNvPr id="145" name="Text 143"/>
          <p:cNvSpPr txBox="1"/>
          <p:nvPr/>
        </p:nvSpPr>
        <p:spPr>
          <a:xfrm>
            <a:off x="9101328" y="3538982"/>
            <a:ext cx="33528" cy="39116"/>
          </a:xfrm>
          <a:prstGeom prst="rect">
            <a:avLst/>
          </a:prstGeom>
          <a:noFill/>
          <a:ln/>
        </p:spPr>
        <p:txBody>
          <a:bodyPr wrap="square" lIns="12700" tIns="12700" rIns="12700" bIns="12700" rtlCol="0" anchor="ctr"/>
          <a:lstStyle/>
          <a:p>
            <a:pPr algn="ctr" indent="0" marL="0">
              <a:lnSpc>
                <a:spcPct val="95000"/>
              </a:lnSpc>
              <a:buNone/>
            </a:pPr>
            <a:r>
              <a:rPr lang="en-US" sz="150" dirty="0">
                <a:solidFill>
                  <a:srgbClr val="333333"/>
                </a:solidFill>
                <a:latin typeface="Arial" pitchFamily="34" charset="0"/>
                <a:ea typeface="Arial" pitchFamily="34" charset="-122"/>
                <a:cs typeface="Arial" pitchFamily="34" charset="-120"/>
              </a:rPr>
              <a:t>1</a:t>
            </a:r>
            <a:endParaRPr lang="en-US" sz="150" dirty="0"/>
          </a:p>
        </p:txBody>
      </p:sp>
      <p:sp>
        <p:nvSpPr>
          <p:cNvPr id="146" name="Shape 144"/>
          <p:cNvSpPr/>
          <p:nvPr/>
        </p:nvSpPr>
        <p:spPr>
          <a:xfrm>
            <a:off x="9134856" y="3538982"/>
            <a:ext cx="39116" cy="39116"/>
          </a:xfrm>
          <a:prstGeom prst="roundRect">
            <a:avLst>
              <a:gd name="adj" fmla="val 15000"/>
            </a:avLst>
          </a:prstGeom>
          <a:solidFill>
            <a:srgbClr val="FFFFFF"/>
          </a:solidFill>
          <a:ln w="6350">
            <a:solidFill>
              <a:srgbClr val="555555"/>
            </a:solidFill>
            <a:prstDash val="solid"/>
          </a:ln>
        </p:spPr>
      </p:sp>
      <p:sp>
        <p:nvSpPr>
          <p:cNvPr id="147" name="Text 145"/>
          <p:cNvSpPr txBox="1"/>
          <p:nvPr/>
        </p:nvSpPr>
        <p:spPr>
          <a:xfrm>
            <a:off x="9134856" y="3538982"/>
            <a:ext cx="39116" cy="39116"/>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333333"/>
                </a:solidFill>
                <a:latin typeface="Arial" pitchFamily="34" charset="0"/>
                <a:ea typeface="Arial" pitchFamily="34" charset="-122"/>
                <a:cs typeface="Arial" pitchFamily="34" charset="-120"/>
              </a:rPr>
              <a:t>+</a:t>
            </a:r>
            <a:endParaRPr lang="en-US" sz="150" dirty="0"/>
          </a:p>
        </p:txBody>
      </p:sp>
      <p:sp>
        <p:nvSpPr>
          <p:cNvPr id="148" name="Text 146"/>
          <p:cNvSpPr txBox="1"/>
          <p:nvPr/>
        </p:nvSpPr>
        <p:spPr>
          <a:xfrm>
            <a:off x="9179560" y="3538982"/>
            <a:ext cx="83820" cy="39116"/>
          </a:xfrm>
          <a:prstGeom prst="rect">
            <a:avLst/>
          </a:prstGeom>
          <a:noFill/>
          <a:ln/>
        </p:spPr>
        <p:txBody>
          <a:bodyPr wrap="square" lIns="12700" tIns="12700" rIns="12700" bIns="12700" rtlCol="0" anchor="ctr"/>
          <a:lstStyle/>
          <a:p>
            <a:pPr algn="r" indent="0" marL="0">
              <a:lnSpc>
                <a:spcPct val="95000"/>
              </a:lnSpc>
              <a:buNone/>
            </a:pPr>
            <a:r>
              <a:rPr lang="en-US" sz="150" dirty="0">
                <a:solidFill>
                  <a:srgbClr val="333333"/>
                </a:solidFill>
                <a:latin typeface="Arial" pitchFamily="34" charset="0"/>
                <a:ea typeface="Arial" pitchFamily="34" charset="-122"/>
                <a:cs typeface="Arial" pitchFamily="34" charset="-120"/>
              </a:rPr>
              <a:t>$3.49</a:t>
            </a:r>
            <a:endParaRPr lang="en-US" sz="150" dirty="0"/>
          </a:p>
        </p:txBody>
      </p:sp>
      <p:sp>
        <p:nvSpPr>
          <p:cNvPr id="149" name="Shape 147"/>
          <p:cNvSpPr/>
          <p:nvPr/>
        </p:nvSpPr>
        <p:spPr>
          <a:xfrm>
            <a:off x="8802370" y="3617214"/>
            <a:ext cx="461010" cy="1397"/>
          </a:xfrm>
          <a:prstGeom prst="rect">
            <a:avLst/>
          </a:prstGeom>
          <a:solidFill>
            <a:srgbClr val="BBBBBB"/>
          </a:solidFill>
          <a:ln/>
        </p:spPr>
      </p:sp>
      <p:sp>
        <p:nvSpPr>
          <p:cNvPr id="150" name="Text 148"/>
          <p:cNvSpPr txBox="1"/>
          <p:nvPr/>
        </p:nvSpPr>
        <p:spPr>
          <a:xfrm>
            <a:off x="8802370" y="3633978"/>
            <a:ext cx="279400" cy="36322"/>
          </a:xfrm>
          <a:prstGeom prst="rect">
            <a:avLst/>
          </a:prstGeom>
          <a:noFill/>
          <a:ln/>
        </p:spPr>
        <p:txBody>
          <a:bodyPr wrap="square" lIns="12700" tIns="12700" rIns="12700" bIns="12700" rtlCol="0" anchor="ctr"/>
          <a:lstStyle/>
          <a:p>
            <a:pPr algn="l" indent="0" marL="0">
              <a:lnSpc>
                <a:spcPct val="95000"/>
              </a:lnSpc>
              <a:buNone/>
            </a:pPr>
            <a:r>
              <a:rPr lang="en-US" sz="150" dirty="0">
                <a:solidFill>
                  <a:srgbClr val="333333"/>
                </a:solidFill>
                <a:latin typeface="Arial" pitchFamily="34" charset="0"/>
                <a:ea typeface="Arial" pitchFamily="34" charset="-122"/>
                <a:cs typeface="Arial" pitchFamily="34" charset="-120"/>
              </a:rPr>
              <a:t>Subtotal</a:t>
            </a:r>
            <a:endParaRPr lang="en-US" sz="150" dirty="0"/>
          </a:p>
        </p:txBody>
      </p:sp>
      <p:sp>
        <p:nvSpPr>
          <p:cNvPr id="151" name="Text 149"/>
          <p:cNvSpPr txBox="1"/>
          <p:nvPr/>
        </p:nvSpPr>
        <p:spPr>
          <a:xfrm>
            <a:off x="9123680" y="3633978"/>
            <a:ext cx="139700" cy="36322"/>
          </a:xfrm>
          <a:prstGeom prst="rect">
            <a:avLst/>
          </a:prstGeom>
          <a:noFill/>
          <a:ln/>
        </p:spPr>
        <p:txBody>
          <a:bodyPr wrap="square" lIns="12700" tIns="12700" rIns="12700" bIns="12700" rtlCol="0" anchor="ctr"/>
          <a:lstStyle/>
          <a:p>
            <a:pPr algn="r" indent="0" marL="0">
              <a:lnSpc>
                <a:spcPct val="95000"/>
              </a:lnSpc>
              <a:buNone/>
            </a:pPr>
            <a:r>
              <a:rPr lang="en-US" sz="150" dirty="0">
                <a:solidFill>
                  <a:srgbClr val="333333"/>
                </a:solidFill>
                <a:latin typeface="Arial" pitchFamily="34" charset="0"/>
                <a:ea typeface="Arial" pitchFamily="34" charset="-122"/>
                <a:cs typeface="Arial" pitchFamily="34" charset="-120"/>
              </a:rPr>
              <a:t>$28.97</a:t>
            </a:r>
            <a:endParaRPr lang="en-US" sz="150" dirty="0"/>
          </a:p>
        </p:txBody>
      </p:sp>
      <p:sp>
        <p:nvSpPr>
          <p:cNvPr id="152" name="Text 150"/>
          <p:cNvSpPr txBox="1"/>
          <p:nvPr/>
        </p:nvSpPr>
        <p:spPr>
          <a:xfrm>
            <a:off x="8802370" y="3675888"/>
            <a:ext cx="279400" cy="36322"/>
          </a:xfrm>
          <a:prstGeom prst="rect">
            <a:avLst/>
          </a:prstGeom>
          <a:noFill/>
          <a:ln/>
        </p:spPr>
        <p:txBody>
          <a:bodyPr wrap="square" lIns="12700" tIns="12700" rIns="12700" bIns="12700" rtlCol="0" anchor="ctr"/>
          <a:lstStyle/>
          <a:p>
            <a:pPr algn="l" indent="0" marL="0">
              <a:lnSpc>
                <a:spcPct val="95000"/>
              </a:lnSpc>
              <a:buNone/>
            </a:pPr>
            <a:r>
              <a:rPr lang="en-US" sz="150" dirty="0">
                <a:solidFill>
                  <a:srgbClr val="333333"/>
                </a:solidFill>
                <a:latin typeface="Arial" pitchFamily="34" charset="0"/>
                <a:ea typeface="Arial" pitchFamily="34" charset="-122"/>
                <a:cs typeface="Arial" pitchFamily="34" charset="-120"/>
              </a:rPr>
              <a:t>HST (14%)</a:t>
            </a:r>
            <a:endParaRPr lang="en-US" sz="150" dirty="0"/>
          </a:p>
        </p:txBody>
      </p:sp>
      <p:sp>
        <p:nvSpPr>
          <p:cNvPr id="153" name="Text 151"/>
          <p:cNvSpPr txBox="1"/>
          <p:nvPr/>
        </p:nvSpPr>
        <p:spPr>
          <a:xfrm>
            <a:off x="9123680" y="3675888"/>
            <a:ext cx="139700" cy="36322"/>
          </a:xfrm>
          <a:prstGeom prst="rect">
            <a:avLst/>
          </a:prstGeom>
          <a:noFill/>
          <a:ln/>
        </p:spPr>
        <p:txBody>
          <a:bodyPr wrap="square" lIns="12700" tIns="12700" rIns="12700" bIns="12700" rtlCol="0" anchor="ctr"/>
          <a:lstStyle/>
          <a:p>
            <a:pPr algn="r" indent="0" marL="0">
              <a:lnSpc>
                <a:spcPct val="95000"/>
              </a:lnSpc>
              <a:buNone/>
            </a:pPr>
            <a:r>
              <a:rPr lang="en-US" sz="150" dirty="0">
                <a:solidFill>
                  <a:srgbClr val="333333"/>
                </a:solidFill>
                <a:latin typeface="Arial" pitchFamily="34" charset="0"/>
                <a:ea typeface="Arial" pitchFamily="34" charset="-122"/>
                <a:cs typeface="Arial" pitchFamily="34" charset="-120"/>
              </a:rPr>
              <a:t>$4.06</a:t>
            </a:r>
            <a:endParaRPr lang="en-US" sz="150" dirty="0"/>
          </a:p>
        </p:txBody>
      </p:sp>
      <p:sp>
        <p:nvSpPr>
          <p:cNvPr id="154" name="Text 152"/>
          <p:cNvSpPr txBox="1"/>
          <p:nvPr/>
        </p:nvSpPr>
        <p:spPr>
          <a:xfrm>
            <a:off x="8802370" y="3717798"/>
            <a:ext cx="279400" cy="36322"/>
          </a:xfrm>
          <a:prstGeom prst="rect">
            <a:avLst/>
          </a:prstGeom>
          <a:noFill/>
          <a:ln/>
        </p:spPr>
        <p:txBody>
          <a:bodyPr wrap="square" lIns="12700" tIns="12700" rIns="12700" bIns="12700" rtlCol="0" anchor="ctr"/>
          <a:lstStyle/>
          <a:p>
            <a:pPr algn="l" indent="0" marL="0">
              <a:lnSpc>
                <a:spcPct val="95000"/>
              </a:lnSpc>
              <a:buNone/>
            </a:pPr>
            <a:r>
              <a:rPr lang="en-US" sz="200" b="1" dirty="0">
                <a:solidFill>
                  <a:srgbClr val="333333"/>
                </a:solidFill>
                <a:latin typeface="Arial" pitchFamily="34" charset="0"/>
                <a:ea typeface="Arial" pitchFamily="34" charset="-122"/>
                <a:cs typeface="Arial" pitchFamily="34" charset="-120"/>
              </a:rPr>
              <a:t>Total</a:t>
            </a:r>
            <a:endParaRPr lang="en-US" sz="200" dirty="0"/>
          </a:p>
        </p:txBody>
      </p:sp>
      <p:sp>
        <p:nvSpPr>
          <p:cNvPr id="155" name="Text 153"/>
          <p:cNvSpPr txBox="1"/>
          <p:nvPr/>
        </p:nvSpPr>
        <p:spPr>
          <a:xfrm>
            <a:off x="9123680" y="3717798"/>
            <a:ext cx="139700" cy="36322"/>
          </a:xfrm>
          <a:prstGeom prst="rect">
            <a:avLst/>
          </a:prstGeom>
          <a:noFill/>
          <a:ln/>
        </p:spPr>
        <p:txBody>
          <a:bodyPr wrap="square" lIns="12700" tIns="12700" rIns="12700" bIns="12700" rtlCol="0" anchor="ctr"/>
          <a:lstStyle/>
          <a:p>
            <a:pPr algn="r" indent="0" marL="0">
              <a:lnSpc>
                <a:spcPct val="95000"/>
              </a:lnSpc>
              <a:buNone/>
            </a:pPr>
            <a:r>
              <a:rPr lang="en-US" sz="200" b="1" dirty="0">
                <a:solidFill>
                  <a:srgbClr val="333333"/>
                </a:solidFill>
                <a:latin typeface="Arial" pitchFamily="34" charset="0"/>
                <a:ea typeface="Arial" pitchFamily="34" charset="-122"/>
                <a:cs typeface="Arial" pitchFamily="34" charset="-120"/>
              </a:rPr>
              <a:t>$33.03</a:t>
            </a:r>
            <a:endParaRPr lang="en-US" sz="200" dirty="0"/>
          </a:p>
        </p:txBody>
      </p:sp>
      <p:sp>
        <p:nvSpPr>
          <p:cNvPr id="156" name="Shape 154"/>
          <p:cNvSpPr/>
          <p:nvPr/>
        </p:nvSpPr>
        <p:spPr>
          <a:xfrm>
            <a:off x="8802370" y="3779266"/>
            <a:ext cx="461010" cy="67056"/>
          </a:xfrm>
          <a:prstGeom prst="roundRect">
            <a:avLst>
              <a:gd name="adj" fmla="val 15000"/>
            </a:avLst>
          </a:prstGeom>
          <a:solidFill>
            <a:srgbClr val="555555"/>
          </a:solidFill>
          <a:ln w="6350">
            <a:solidFill>
              <a:srgbClr val="555555"/>
            </a:solidFill>
            <a:prstDash val="solid"/>
          </a:ln>
        </p:spPr>
      </p:sp>
      <p:sp>
        <p:nvSpPr>
          <p:cNvPr id="157" name="Text 155"/>
          <p:cNvSpPr txBox="1"/>
          <p:nvPr/>
        </p:nvSpPr>
        <p:spPr>
          <a:xfrm>
            <a:off x="8802370" y="3779266"/>
            <a:ext cx="461010" cy="67056"/>
          </a:xfrm>
          <a:prstGeom prst="rect">
            <a:avLst/>
          </a:prstGeom>
          <a:noFill/>
          <a:ln/>
        </p:spPr>
        <p:txBody>
          <a:bodyPr wrap="square" lIns="12700" tIns="12700" rIns="12700" bIns="12700" rtlCol="0" anchor="ctr"/>
          <a:lstStyle/>
          <a:p>
            <a:pPr algn="ctr" indent="0" marL="0">
              <a:lnSpc>
                <a:spcPct val="95000"/>
              </a:lnSpc>
              <a:buNone/>
            </a:pPr>
            <a:r>
              <a:rPr lang="en-US" sz="200" b="1" dirty="0">
                <a:solidFill>
                  <a:srgbClr val="FFFFFF"/>
                </a:solidFill>
                <a:latin typeface="Arial" pitchFamily="34" charset="0"/>
                <a:ea typeface="Arial" pitchFamily="34" charset="-122"/>
                <a:cs typeface="Arial" pitchFamily="34" charset="-120"/>
              </a:rPr>
              <a:t>Checkout</a:t>
            </a:r>
            <a:endParaRPr lang="en-US" sz="200" dirty="0"/>
          </a:p>
        </p:txBody>
      </p:sp>
      <p:sp>
        <p:nvSpPr>
          <p:cNvPr id="158" name="Text 156"/>
          <p:cNvSpPr txBox="1"/>
          <p:nvPr/>
        </p:nvSpPr>
        <p:spPr>
          <a:xfrm>
            <a:off x="8802370" y="3860292"/>
            <a:ext cx="461010" cy="33528"/>
          </a:xfrm>
          <a:prstGeom prst="rect">
            <a:avLst/>
          </a:prstGeom>
          <a:noFill/>
          <a:ln/>
        </p:spPr>
        <p:txBody>
          <a:bodyPr wrap="square" lIns="12700" tIns="12700" rIns="12700" bIns="12700" rtlCol="0" anchor="ctr"/>
          <a:lstStyle/>
          <a:p>
            <a:pPr algn="ctr" indent="0" marL="0">
              <a:lnSpc>
                <a:spcPct val="95000"/>
              </a:lnSpc>
              <a:buNone/>
            </a:pPr>
            <a:r>
              <a:rPr lang="en-US" sz="150" dirty="0">
                <a:solidFill>
                  <a:srgbClr val="777777"/>
                </a:solidFill>
                <a:latin typeface="Arial" pitchFamily="34" charset="0"/>
                <a:ea typeface="Arial" pitchFamily="34" charset="-122"/>
                <a:cs typeface="Arial" pitchFamily="34" charset="-120"/>
              </a:rPr>
              <a:t>Pickup · ASAP</a:t>
            </a:r>
            <a:endParaRPr lang="en-US" sz="150" dirty="0"/>
          </a:p>
        </p:txBody>
      </p:sp>
      <p:sp>
        <p:nvSpPr>
          <p:cNvPr id="159" name="Shape 157"/>
          <p:cNvSpPr/>
          <p:nvPr/>
        </p:nvSpPr>
        <p:spPr>
          <a:xfrm>
            <a:off x="7642860" y="4265422"/>
            <a:ext cx="1676400" cy="1397"/>
          </a:xfrm>
          <a:prstGeom prst="rect">
            <a:avLst/>
          </a:prstGeom>
          <a:solidFill>
            <a:srgbClr val="BBBBBB"/>
          </a:solidFill>
          <a:ln/>
        </p:spPr>
      </p:sp>
      <p:sp>
        <p:nvSpPr>
          <p:cNvPr id="160" name="Text 158"/>
          <p:cNvSpPr txBox="1"/>
          <p:nvPr/>
        </p:nvSpPr>
        <p:spPr>
          <a:xfrm>
            <a:off x="7670800" y="4287774"/>
            <a:ext cx="502920" cy="111760"/>
          </a:xfrm>
          <a:prstGeom prst="rect">
            <a:avLst/>
          </a:prstGeom>
          <a:noFill/>
          <a:ln/>
        </p:spPr>
        <p:txBody>
          <a:bodyPr wrap="square" lIns="12700" tIns="12700" rIns="12700" bIns="12700" rtlCol="0" anchor="ctr"/>
          <a:lstStyle/>
          <a:p>
            <a:pPr algn="l" indent="0" marL="0">
              <a:lnSpc>
                <a:spcPct val="95000"/>
              </a:lnSpc>
              <a:buNone/>
            </a:pPr>
            <a:r>
              <a:rPr lang="en-US" sz="150" dirty="0">
                <a:solidFill>
                  <a:srgbClr val="333333"/>
                </a:solidFill>
                <a:latin typeface="Arial" pitchFamily="34" charset="0"/>
                <a:ea typeface="Arial" pitchFamily="34" charset="-122"/>
                <a:cs typeface="Arial" pitchFamily="34" charset="-120"/>
              </a:rPr>
              <a:t>Harbourside Fish &amp; Chips</a:t>
            </a:r>
            <a:endParaRPr lang="en-US" sz="150" dirty="0"/>
          </a:p>
          <a:p>
            <a:pPr algn="l" indent="0" marL="0">
              <a:lnSpc>
                <a:spcPct val="95000"/>
              </a:lnSpc>
              <a:buNone/>
            </a:pPr>
            <a:r>
              <a:rPr lang="en-US" sz="150" dirty="0">
                <a:solidFill>
                  <a:srgbClr val="333333"/>
                </a:solidFill>
                <a:latin typeface="Arial" pitchFamily="34" charset="0"/>
                <a:ea typeface="Arial" pitchFamily="34" charset="-122"/>
                <a:cs typeface="Arial" pitchFamily="34" charset="-120"/>
              </a:rPr>
              <a:t>12 Water St, Yarmouth NS</a:t>
            </a:r>
            <a:endParaRPr lang="en-US" sz="150" dirty="0"/>
          </a:p>
          <a:p>
            <a:pPr algn="l" indent="0" marL="0">
              <a:lnSpc>
                <a:spcPct val="95000"/>
              </a:lnSpc>
              <a:buNone/>
            </a:pPr>
            <a:r>
              <a:rPr lang="en-US" sz="150" dirty="0">
                <a:solidFill>
                  <a:srgbClr val="333333"/>
                </a:solidFill>
                <a:latin typeface="Arial" pitchFamily="34" charset="0"/>
                <a:ea typeface="Arial" pitchFamily="34" charset="-122"/>
                <a:cs typeface="Arial" pitchFamily="34" charset="-120"/>
              </a:rPr>
              <a:t>(902) 555-0142</a:t>
            </a:r>
            <a:endParaRPr lang="en-US" sz="150" dirty="0"/>
          </a:p>
        </p:txBody>
      </p:sp>
      <p:sp>
        <p:nvSpPr>
          <p:cNvPr id="161" name="Text 159"/>
          <p:cNvSpPr txBox="1"/>
          <p:nvPr/>
        </p:nvSpPr>
        <p:spPr>
          <a:xfrm>
            <a:off x="8229600" y="4287774"/>
            <a:ext cx="502920" cy="111760"/>
          </a:xfrm>
          <a:prstGeom prst="rect">
            <a:avLst/>
          </a:prstGeom>
          <a:noFill/>
          <a:ln/>
        </p:spPr>
        <p:txBody>
          <a:bodyPr wrap="square" lIns="12700" tIns="12700" rIns="12700" bIns="12700" rtlCol="0" anchor="ctr"/>
          <a:lstStyle/>
          <a:p>
            <a:pPr algn="l" indent="0" marL="0">
              <a:lnSpc>
                <a:spcPct val="95000"/>
              </a:lnSpc>
              <a:buNone/>
            </a:pPr>
            <a:r>
              <a:rPr lang="en-US" sz="150" dirty="0">
                <a:solidFill>
                  <a:srgbClr val="333333"/>
                </a:solidFill>
                <a:latin typeface="Arial" pitchFamily="34" charset="0"/>
                <a:ea typeface="Arial" pitchFamily="34" charset="-122"/>
                <a:cs typeface="Arial" pitchFamily="34" charset="-120"/>
              </a:rPr>
              <a:t>Hours</a:t>
            </a:r>
            <a:endParaRPr lang="en-US" sz="150" dirty="0"/>
          </a:p>
          <a:p>
            <a:pPr algn="l" indent="0" marL="0">
              <a:lnSpc>
                <a:spcPct val="95000"/>
              </a:lnSpc>
              <a:buNone/>
            </a:pPr>
            <a:r>
              <a:rPr lang="en-US" sz="150" dirty="0">
                <a:solidFill>
                  <a:srgbClr val="333333"/>
                </a:solidFill>
                <a:latin typeface="Arial" pitchFamily="34" charset="0"/>
                <a:ea typeface="Arial" pitchFamily="34" charset="-122"/>
                <a:cs typeface="Arial" pitchFamily="34" charset="-120"/>
              </a:rPr>
              <a:t>Tue–Sun 11 am – 8 pm</a:t>
            </a:r>
            <a:endParaRPr lang="en-US" sz="150" dirty="0"/>
          </a:p>
          <a:p>
            <a:pPr algn="l" indent="0" marL="0">
              <a:lnSpc>
                <a:spcPct val="95000"/>
              </a:lnSpc>
              <a:buNone/>
            </a:pPr>
            <a:r>
              <a:rPr lang="en-US" sz="150" dirty="0">
                <a:solidFill>
                  <a:srgbClr val="333333"/>
                </a:solidFill>
                <a:latin typeface="Arial" pitchFamily="34" charset="0"/>
                <a:ea typeface="Arial" pitchFamily="34" charset="-122"/>
                <a:cs typeface="Arial" pitchFamily="34" charset="-120"/>
              </a:rPr>
              <a:t>Closed Mondays</a:t>
            </a:r>
            <a:endParaRPr lang="en-US" sz="150" dirty="0"/>
          </a:p>
        </p:txBody>
      </p:sp>
      <p:sp>
        <p:nvSpPr>
          <p:cNvPr id="162" name="Text 160"/>
          <p:cNvSpPr txBox="1"/>
          <p:nvPr/>
        </p:nvSpPr>
        <p:spPr>
          <a:xfrm>
            <a:off x="8788400" y="4287774"/>
            <a:ext cx="279400" cy="33528"/>
          </a:xfrm>
          <a:prstGeom prst="rect">
            <a:avLst/>
          </a:prstGeom>
          <a:noFill/>
          <a:ln/>
        </p:spPr>
        <p:txBody>
          <a:bodyPr wrap="square" lIns="12700" tIns="12700" rIns="12700" bIns="12700" rtlCol="0" anchor="ctr"/>
          <a:lstStyle/>
          <a:p>
            <a:pPr algn="l" indent="0" marL="0">
              <a:lnSpc>
                <a:spcPct val="95000"/>
              </a:lnSpc>
              <a:buNone/>
            </a:pPr>
            <a:r>
              <a:rPr lang="en-US" sz="150" b="1" dirty="0">
                <a:solidFill>
                  <a:srgbClr val="333333"/>
                </a:solidFill>
                <a:latin typeface="Arial" pitchFamily="34" charset="0"/>
                <a:ea typeface="Arial" pitchFamily="34" charset="-122"/>
                <a:cs typeface="Arial" pitchFamily="34" charset="-120"/>
              </a:rPr>
              <a:t>Follow us</a:t>
            </a:r>
            <a:endParaRPr lang="en-US" sz="150" dirty="0"/>
          </a:p>
        </p:txBody>
      </p:sp>
      <p:sp>
        <p:nvSpPr>
          <p:cNvPr id="163" name="Shape 161"/>
          <p:cNvSpPr/>
          <p:nvPr/>
        </p:nvSpPr>
        <p:spPr>
          <a:xfrm>
            <a:off x="8788400" y="4332478"/>
            <a:ext cx="41910" cy="41910"/>
          </a:xfrm>
          <a:prstGeom prst="ellipse">
            <a:avLst/>
          </a:prstGeom>
          <a:solidFill>
            <a:srgbClr val="FFFFFF"/>
          </a:solidFill>
          <a:ln w="6350">
            <a:solidFill>
              <a:srgbClr val="999999"/>
            </a:solidFill>
            <a:prstDash val="solid"/>
          </a:ln>
        </p:spPr>
      </p:sp>
      <p:sp>
        <p:nvSpPr>
          <p:cNvPr id="164" name="Shape 162"/>
          <p:cNvSpPr/>
          <p:nvPr/>
        </p:nvSpPr>
        <p:spPr>
          <a:xfrm>
            <a:off x="8844280" y="4332478"/>
            <a:ext cx="41910" cy="41910"/>
          </a:xfrm>
          <a:prstGeom prst="ellipse">
            <a:avLst/>
          </a:prstGeom>
          <a:solidFill>
            <a:srgbClr val="FFFFFF"/>
          </a:solidFill>
          <a:ln w="6350">
            <a:solidFill>
              <a:srgbClr val="999999"/>
            </a:solidFill>
            <a:prstDash val="solid"/>
          </a:ln>
        </p:spPr>
      </p:sp>
      <p:sp>
        <p:nvSpPr>
          <p:cNvPr id="165" name="Shape 163"/>
          <p:cNvSpPr/>
          <p:nvPr/>
        </p:nvSpPr>
        <p:spPr>
          <a:xfrm>
            <a:off x="8900160" y="4332478"/>
            <a:ext cx="41910" cy="41910"/>
          </a:xfrm>
          <a:prstGeom prst="ellipse">
            <a:avLst/>
          </a:prstGeom>
          <a:solidFill>
            <a:srgbClr val="FFFFFF"/>
          </a:solidFill>
          <a:ln w="6350">
            <a:solidFill>
              <a:srgbClr val="999999"/>
            </a:solidFill>
            <a:prstDash val="solid"/>
          </a:ln>
        </p:spPr>
      </p:sp>
      <p:sp>
        <p:nvSpPr>
          <p:cNvPr id="166" name="Text 164"/>
          <p:cNvSpPr txBox="1"/>
          <p:nvPr/>
        </p:nvSpPr>
        <p:spPr>
          <a:xfrm>
            <a:off x="7670800" y="4410710"/>
            <a:ext cx="1620520" cy="33528"/>
          </a:xfrm>
          <a:prstGeom prst="rect">
            <a:avLst/>
          </a:prstGeom>
          <a:noFill/>
          <a:ln/>
        </p:spPr>
        <p:txBody>
          <a:bodyPr wrap="square" lIns="12700" tIns="12700" rIns="12700" bIns="12700" rtlCol="0" anchor="ctr"/>
          <a:lstStyle/>
          <a:p>
            <a:pPr algn="ctr" indent="0" marL="0">
              <a:lnSpc>
                <a:spcPct val="95000"/>
              </a:lnSpc>
              <a:buNone/>
            </a:pPr>
            <a:r>
              <a:rPr lang="en-US" sz="150" dirty="0">
                <a:solidFill>
                  <a:srgbClr val="777777"/>
                </a:solidFill>
                <a:latin typeface="Arial" pitchFamily="34" charset="0"/>
                <a:ea typeface="Arial" pitchFamily="34" charset="-122"/>
                <a:cs typeface="Arial" pitchFamily="34" charset="-120"/>
              </a:rPr>
              <a:t>© 2026 Harbourside Fish &amp; Chips</a:t>
            </a:r>
            <a:endParaRPr lang="en-US" sz="150" dirty="0"/>
          </a:p>
        </p:txBody>
      </p:sp>
      <p:sp>
        <p:nvSpPr>
          <p:cNvPr id="167" name="Shape 165"/>
          <p:cNvSpPr/>
          <p:nvPr/>
        </p:nvSpPr>
        <p:spPr>
          <a:xfrm>
            <a:off x="7654036" y="3047238"/>
            <a:ext cx="1654048" cy="92202"/>
          </a:xfrm>
          <a:prstGeom prst="rect">
            <a:avLst/>
          </a:prstGeom>
          <a:ln w="6350">
            <a:solidFill>
              <a:srgbClr val="1E88E5"/>
            </a:solidFill>
            <a:prstDash val="dash"/>
          </a:ln>
        </p:spPr>
      </p:sp>
      <p:sp>
        <p:nvSpPr>
          <p:cNvPr id="168" name="Shape 166"/>
          <p:cNvSpPr/>
          <p:nvPr/>
        </p:nvSpPr>
        <p:spPr>
          <a:xfrm>
            <a:off x="7654036" y="3019298"/>
            <a:ext cx="108966" cy="27940"/>
          </a:xfrm>
          <a:prstGeom prst="rect">
            <a:avLst/>
          </a:prstGeom>
          <a:solidFill>
            <a:srgbClr val="1E88E5"/>
          </a:solidFill>
          <a:ln/>
        </p:spPr>
      </p:sp>
      <p:sp>
        <p:nvSpPr>
          <p:cNvPr id="169" name="Text 167"/>
          <p:cNvSpPr txBox="1"/>
          <p:nvPr/>
        </p:nvSpPr>
        <p:spPr>
          <a:xfrm>
            <a:off x="7654036" y="3019298"/>
            <a:ext cx="108966" cy="27940"/>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FFFFFF"/>
                </a:solidFill>
                <a:latin typeface="Courier New" pitchFamily="34" charset="0"/>
                <a:ea typeface="Courier New" pitchFamily="34" charset="-122"/>
                <a:cs typeface="Courier New" pitchFamily="34" charset="-120"/>
              </a:rPr>
              <a:t>&lt;header&gt;</a:t>
            </a:r>
            <a:endParaRPr lang="en-US" sz="150" dirty="0"/>
          </a:p>
        </p:txBody>
      </p:sp>
      <p:sp>
        <p:nvSpPr>
          <p:cNvPr id="170" name="Shape 168"/>
          <p:cNvSpPr/>
          <p:nvPr/>
        </p:nvSpPr>
        <p:spPr>
          <a:xfrm>
            <a:off x="8299450" y="3064002"/>
            <a:ext cx="656590" cy="55880"/>
          </a:xfrm>
          <a:prstGeom prst="rect">
            <a:avLst/>
          </a:prstGeom>
          <a:ln w="6350">
            <a:solidFill>
              <a:srgbClr val="1E88E5"/>
            </a:solidFill>
            <a:prstDash val="dash"/>
          </a:ln>
        </p:spPr>
      </p:sp>
      <p:sp>
        <p:nvSpPr>
          <p:cNvPr id="171" name="Shape 169"/>
          <p:cNvSpPr/>
          <p:nvPr/>
        </p:nvSpPr>
        <p:spPr>
          <a:xfrm>
            <a:off x="8299450" y="3036062"/>
            <a:ext cx="75438" cy="27940"/>
          </a:xfrm>
          <a:prstGeom prst="rect">
            <a:avLst/>
          </a:prstGeom>
          <a:solidFill>
            <a:srgbClr val="1E88E5"/>
          </a:solidFill>
          <a:ln/>
        </p:spPr>
      </p:sp>
      <p:sp>
        <p:nvSpPr>
          <p:cNvPr id="172" name="Text 170"/>
          <p:cNvSpPr txBox="1"/>
          <p:nvPr/>
        </p:nvSpPr>
        <p:spPr>
          <a:xfrm>
            <a:off x="8299450" y="3036062"/>
            <a:ext cx="75438" cy="27940"/>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FFFFFF"/>
                </a:solidFill>
                <a:latin typeface="Courier New" pitchFamily="34" charset="0"/>
                <a:ea typeface="Courier New" pitchFamily="34" charset="-122"/>
                <a:cs typeface="Courier New" pitchFamily="34" charset="-120"/>
              </a:rPr>
              <a:t>&lt;nav&gt;</a:t>
            </a:r>
            <a:endParaRPr lang="en-US" sz="150" dirty="0"/>
          </a:p>
        </p:txBody>
      </p:sp>
      <p:sp>
        <p:nvSpPr>
          <p:cNvPr id="173" name="Shape 171"/>
          <p:cNvSpPr/>
          <p:nvPr/>
        </p:nvSpPr>
        <p:spPr>
          <a:xfrm>
            <a:off x="8025638" y="3441192"/>
            <a:ext cx="352044" cy="379984"/>
          </a:xfrm>
          <a:prstGeom prst="rect">
            <a:avLst/>
          </a:prstGeom>
          <a:ln w="6350">
            <a:solidFill>
              <a:srgbClr val="1E88E5"/>
            </a:solidFill>
            <a:prstDash val="dash"/>
          </a:ln>
        </p:spPr>
      </p:sp>
      <p:sp>
        <p:nvSpPr>
          <p:cNvPr id="174" name="Shape 172"/>
          <p:cNvSpPr/>
          <p:nvPr/>
        </p:nvSpPr>
        <p:spPr>
          <a:xfrm>
            <a:off x="8025638" y="3413252"/>
            <a:ext cx="120142" cy="27940"/>
          </a:xfrm>
          <a:prstGeom prst="rect">
            <a:avLst/>
          </a:prstGeom>
          <a:solidFill>
            <a:srgbClr val="1E88E5"/>
          </a:solidFill>
          <a:ln/>
        </p:spPr>
      </p:sp>
      <p:sp>
        <p:nvSpPr>
          <p:cNvPr id="175" name="Text 173"/>
          <p:cNvSpPr txBox="1"/>
          <p:nvPr/>
        </p:nvSpPr>
        <p:spPr>
          <a:xfrm>
            <a:off x="8025638" y="3413252"/>
            <a:ext cx="120142" cy="27940"/>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FFFFFF"/>
                </a:solidFill>
                <a:latin typeface="Courier New" pitchFamily="34" charset="0"/>
                <a:ea typeface="Courier New" pitchFamily="34" charset="-122"/>
                <a:cs typeface="Courier New" pitchFamily="34" charset="-120"/>
              </a:rPr>
              <a:t>&lt;article&gt;</a:t>
            </a:r>
            <a:endParaRPr lang="en-US" sz="150" dirty="0"/>
          </a:p>
        </p:txBody>
      </p:sp>
      <p:sp>
        <p:nvSpPr>
          <p:cNvPr id="176" name="Shape 174"/>
          <p:cNvSpPr/>
          <p:nvPr/>
        </p:nvSpPr>
        <p:spPr>
          <a:xfrm>
            <a:off x="8763254" y="3298698"/>
            <a:ext cx="539242" cy="637032"/>
          </a:xfrm>
          <a:prstGeom prst="rect">
            <a:avLst/>
          </a:prstGeom>
          <a:ln w="6350">
            <a:solidFill>
              <a:srgbClr val="1E88E5"/>
            </a:solidFill>
            <a:prstDash val="dash"/>
          </a:ln>
        </p:spPr>
      </p:sp>
      <p:sp>
        <p:nvSpPr>
          <p:cNvPr id="177" name="Shape 175"/>
          <p:cNvSpPr/>
          <p:nvPr/>
        </p:nvSpPr>
        <p:spPr>
          <a:xfrm>
            <a:off x="8763254" y="3270758"/>
            <a:ext cx="97790" cy="27940"/>
          </a:xfrm>
          <a:prstGeom prst="rect">
            <a:avLst/>
          </a:prstGeom>
          <a:solidFill>
            <a:srgbClr val="1E88E5"/>
          </a:solidFill>
          <a:ln/>
        </p:spPr>
      </p:sp>
      <p:sp>
        <p:nvSpPr>
          <p:cNvPr id="178" name="Text 176"/>
          <p:cNvSpPr txBox="1"/>
          <p:nvPr/>
        </p:nvSpPr>
        <p:spPr>
          <a:xfrm>
            <a:off x="8763254" y="3270758"/>
            <a:ext cx="97790" cy="27940"/>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FFFFFF"/>
                </a:solidFill>
                <a:latin typeface="Courier New" pitchFamily="34" charset="0"/>
                <a:ea typeface="Courier New" pitchFamily="34" charset="-122"/>
                <a:cs typeface="Courier New" pitchFamily="34" charset="-120"/>
              </a:rPr>
              <a:t>&lt;aside&gt;</a:t>
            </a:r>
            <a:endParaRPr lang="en-US" sz="150" dirty="0"/>
          </a:p>
        </p:txBody>
      </p:sp>
      <p:sp>
        <p:nvSpPr>
          <p:cNvPr id="179" name="Shape 177"/>
          <p:cNvSpPr/>
          <p:nvPr/>
        </p:nvSpPr>
        <p:spPr>
          <a:xfrm>
            <a:off x="7654036" y="3158998"/>
            <a:ext cx="1654048" cy="1084072"/>
          </a:xfrm>
          <a:prstGeom prst="rect">
            <a:avLst/>
          </a:prstGeom>
          <a:ln w="6350">
            <a:solidFill>
              <a:srgbClr val="1E88E5"/>
            </a:solidFill>
            <a:prstDash val="dash"/>
          </a:ln>
        </p:spPr>
      </p:sp>
      <p:sp>
        <p:nvSpPr>
          <p:cNvPr id="180" name="Shape 178"/>
          <p:cNvSpPr/>
          <p:nvPr/>
        </p:nvSpPr>
        <p:spPr>
          <a:xfrm>
            <a:off x="7654036" y="3131058"/>
            <a:ext cx="86614" cy="27940"/>
          </a:xfrm>
          <a:prstGeom prst="rect">
            <a:avLst/>
          </a:prstGeom>
          <a:solidFill>
            <a:srgbClr val="1E88E5"/>
          </a:solidFill>
          <a:ln/>
        </p:spPr>
      </p:sp>
      <p:sp>
        <p:nvSpPr>
          <p:cNvPr id="181" name="Text 179"/>
          <p:cNvSpPr txBox="1"/>
          <p:nvPr/>
        </p:nvSpPr>
        <p:spPr>
          <a:xfrm>
            <a:off x="7654036" y="3131058"/>
            <a:ext cx="86614" cy="27940"/>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FFFFFF"/>
                </a:solidFill>
                <a:latin typeface="Courier New" pitchFamily="34" charset="0"/>
                <a:ea typeface="Courier New" pitchFamily="34" charset="-122"/>
                <a:cs typeface="Courier New" pitchFamily="34" charset="-120"/>
              </a:rPr>
              <a:t>&lt;main&gt;</a:t>
            </a:r>
            <a:endParaRPr lang="en-US" sz="150" dirty="0"/>
          </a:p>
        </p:txBody>
      </p:sp>
      <p:sp>
        <p:nvSpPr>
          <p:cNvPr id="182" name="Shape 180"/>
          <p:cNvSpPr/>
          <p:nvPr/>
        </p:nvSpPr>
        <p:spPr>
          <a:xfrm>
            <a:off x="7654036" y="4276598"/>
            <a:ext cx="1654048" cy="178816"/>
          </a:xfrm>
          <a:prstGeom prst="rect">
            <a:avLst/>
          </a:prstGeom>
          <a:ln w="6350">
            <a:solidFill>
              <a:srgbClr val="1E88E5"/>
            </a:solidFill>
            <a:prstDash val="dash"/>
          </a:ln>
        </p:spPr>
      </p:sp>
      <p:sp>
        <p:nvSpPr>
          <p:cNvPr id="183" name="Shape 181"/>
          <p:cNvSpPr/>
          <p:nvPr/>
        </p:nvSpPr>
        <p:spPr>
          <a:xfrm>
            <a:off x="7654036" y="4248658"/>
            <a:ext cx="108966" cy="27940"/>
          </a:xfrm>
          <a:prstGeom prst="rect">
            <a:avLst/>
          </a:prstGeom>
          <a:solidFill>
            <a:srgbClr val="1E88E5"/>
          </a:solidFill>
          <a:ln/>
        </p:spPr>
      </p:sp>
      <p:sp>
        <p:nvSpPr>
          <p:cNvPr id="184" name="Text 182"/>
          <p:cNvSpPr txBox="1"/>
          <p:nvPr/>
        </p:nvSpPr>
        <p:spPr>
          <a:xfrm>
            <a:off x="7654036" y="4248658"/>
            <a:ext cx="108966" cy="27940"/>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FFFFFF"/>
                </a:solidFill>
                <a:latin typeface="Courier New" pitchFamily="34" charset="0"/>
                <a:ea typeface="Courier New" pitchFamily="34" charset="-122"/>
                <a:cs typeface="Courier New" pitchFamily="34" charset="-120"/>
              </a:rPr>
              <a:t>&lt;footer&gt;</a:t>
            </a:r>
            <a:endParaRPr lang="en-US" sz="150" dirty="0"/>
          </a:p>
        </p:txBody>
      </p:sp>
      <p:sp>
        <p:nvSpPr>
          <p:cNvPr id="185" name="Shape 183"/>
          <p:cNvSpPr/>
          <p:nvPr/>
        </p:nvSpPr>
        <p:spPr>
          <a:xfrm>
            <a:off x="9875520" y="2926080"/>
            <a:ext cx="1600200" cy="1600200"/>
          </a:xfrm>
          <a:prstGeom prst="rect">
            <a:avLst/>
          </a:prstGeom>
          <a:solidFill>
            <a:srgbClr val="F2F2F2"/>
          </a:solidFill>
          <a:ln w="9525">
            <a:solidFill>
              <a:srgbClr val="D0D7DB"/>
            </a:solidFill>
            <a:prstDash val="solid"/>
          </a:ln>
        </p:spPr>
      </p:sp>
      <p:sp>
        <p:nvSpPr>
          <p:cNvPr id="186" name="Shape 184"/>
          <p:cNvSpPr/>
          <p:nvPr/>
        </p:nvSpPr>
        <p:spPr>
          <a:xfrm>
            <a:off x="9979269" y="2984695"/>
            <a:ext cx="483577" cy="1482969"/>
          </a:xfrm>
          <a:prstGeom prst="roundRect">
            <a:avLst>
              <a:gd name="adj" fmla="val 3000"/>
            </a:avLst>
          </a:prstGeom>
          <a:solidFill>
            <a:srgbClr val="FFFFFF"/>
          </a:solidFill>
          <a:ln w="6350">
            <a:solidFill>
              <a:srgbClr val="333333"/>
            </a:solidFill>
            <a:prstDash val="solid"/>
          </a:ln>
        </p:spPr>
      </p:sp>
      <p:sp>
        <p:nvSpPr>
          <p:cNvPr id="187" name="Shape 185"/>
          <p:cNvSpPr/>
          <p:nvPr/>
        </p:nvSpPr>
        <p:spPr>
          <a:xfrm>
            <a:off x="9983138" y="2988564"/>
            <a:ext cx="475840" cy="27080"/>
          </a:xfrm>
          <a:prstGeom prst="rect">
            <a:avLst/>
          </a:prstGeom>
          <a:solidFill>
            <a:srgbClr val="EEEEEE"/>
          </a:solidFill>
          <a:ln/>
        </p:spPr>
      </p:sp>
      <p:sp>
        <p:nvSpPr>
          <p:cNvPr id="188" name="Text 186"/>
          <p:cNvSpPr txBox="1"/>
          <p:nvPr/>
        </p:nvSpPr>
        <p:spPr>
          <a:xfrm>
            <a:off x="10185595" y="2984695"/>
            <a:ext cx="70925" cy="30949"/>
          </a:xfrm>
          <a:prstGeom prst="rect">
            <a:avLst/>
          </a:prstGeom>
          <a:noFill/>
          <a:ln/>
        </p:spPr>
        <p:txBody>
          <a:bodyPr wrap="square" lIns="12700" tIns="12700" rIns="12700" bIns="12700" rtlCol="0" anchor="ctr"/>
          <a:lstStyle/>
          <a:p>
            <a:pPr algn="ctr" indent="0" marL="0">
              <a:lnSpc>
                <a:spcPct val="95000"/>
              </a:lnSpc>
              <a:buNone/>
            </a:pPr>
            <a:r>
              <a:rPr lang="en-US" sz="100" b="1" dirty="0">
                <a:solidFill>
                  <a:srgbClr val="333333"/>
                </a:solidFill>
                <a:latin typeface="Arial" pitchFamily="34" charset="0"/>
                <a:ea typeface="Arial" pitchFamily="34" charset="-122"/>
                <a:cs typeface="Arial" pitchFamily="34" charset="-120"/>
              </a:rPr>
              <a:t>9:41</a:t>
            </a:r>
            <a:endParaRPr lang="en-US" sz="100" dirty="0"/>
          </a:p>
        </p:txBody>
      </p:sp>
      <p:sp>
        <p:nvSpPr>
          <p:cNvPr id="189" name="Shape 187"/>
          <p:cNvSpPr/>
          <p:nvPr/>
        </p:nvSpPr>
        <p:spPr>
          <a:xfrm>
            <a:off x="9999902" y="3025961"/>
            <a:ext cx="51582" cy="51582"/>
          </a:xfrm>
          <a:prstGeom prst="rect">
            <a:avLst/>
          </a:prstGeom>
          <a:solidFill>
            <a:srgbClr val="FFFFFF"/>
          </a:solidFill>
          <a:ln w="6350">
            <a:solidFill>
              <a:srgbClr val="999999"/>
            </a:solidFill>
            <a:prstDash val="solid"/>
          </a:ln>
        </p:spPr>
      </p:sp>
      <p:sp>
        <p:nvSpPr>
          <p:cNvPr id="190" name="Shape 188"/>
          <p:cNvSpPr/>
          <p:nvPr/>
        </p:nvSpPr>
        <p:spPr>
          <a:xfrm>
            <a:off x="9999902" y="3025961"/>
            <a:ext cx="51582" cy="51582"/>
          </a:xfrm>
          <a:prstGeom prst="line">
            <a:avLst/>
          </a:prstGeom>
          <a:noFill/>
          <a:ln w="6350">
            <a:solidFill>
              <a:srgbClr val="999999"/>
            </a:solidFill>
            <a:prstDash val="solid"/>
          </a:ln>
        </p:spPr>
      </p:sp>
      <p:sp>
        <p:nvSpPr>
          <p:cNvPr id="191" name="Shape 189"/>
          <p:cNvSpPr/>
          <p:nvPr/>
        </p:nvSpPr>
        <p:spPr>
          <a:xfrm flipV="1">
            <a:off x="9999902" y="3025961"/>
            <a:ext cx="51582" cy="51582"/>
          </a:xfrm>
          <a:prstGeom prst="line">
            <a:avLst/>
          </a:prstGeom>
          <a:noFill/>
          <a:ln w="6350">
            <a:solidFill>
              <a:srgbClr val="999999"/>
            </a:solidFill>
            <a:prstDash val="solid"/>
          </a:ln>
        </p:spPr>
      </p:sp>
      <p:sp>
        <p:nvSpPr>
          <p:cNvPr id="192" name="Text 190"/>
          <p:cNvSpPr txBox="1"/>
          <p:nvPr/>
        </p:nvSpPr>
        <p:spPr>
          <a:xfrm>
            <a:off x="10061800" y="3031119"/>
            <a:ext cx="219222" cy="41265"/>
          </a:xfrm>
          <a:prstGeom prst="rect">
            <a:avLst/>
          </a:prstGeom>
          <a:noFill/>
          <a:ln/>
        </p:spPr>
        <p:txBody>
          <a:bodyPr wrap="square" lIns="12700" tIns="12700" rIns="12700" bIns="12700" rtlCol="0" anchor="ctr"/>
          <a:lstStyle/>
          <a:p>
            <a:pPr algn="l" indent="0" marL="0">
              <a:lnSpc>
                <a:spcPct val="95000"/>
              </a:lnSpc>
              <a:buNone/>
            </a:pPr>
            <a:r>
              <a:rPr lang="en-US" sz="200" b="1" dirty="0">
                <a:solidFill>
                  <a:srgbClr val="333333"/>
                </a:solidFill>
                <a:latin typeface="Arial" pitchFamily="34" charset="0"/>
                <a:ea typeface="Arial" pitchFamily="34" charset="-122"/>
                <a:cs typeface="Arial" pitchFamily="34" charset="-120"/>
              </a:rPr>
              <a:t>Harbourside</a:t>
            </a:r>
            <a:endParaRPr lang="en-US" sz="200" dirty="0"/>
          </a:p>
        </p:txBody>
      </p:sp>
      <p:sp>
        <p:nvSpPr>
          <p:cNvPr id="193" name="Shape 191"/>
          <p:cNvSpPr/>
          <p:nvPr/>
        </p:nvSpPr>
        <p:spPr>
          <a:xfrm>
            <a:off x="10295206" y="3028540"/>
            <a:ext cx="90268" cy="46423"/>
          </a:xfrm>
          <a:prstGeom prst="roundRect">
            <a:avLst>
              <a:gd name="adj" fmla="val 15000"/>
            </a:avLst>
          </a:prstGeom>
          <a:solidFill>
            <a:srgbClr val="FFFFFF"/>
          </a:solidFill>
          <a:ln w="6350">
            <a:solidFill>
              <a:srgbClr val="555555"/>
            </a:solidFill>
            <a:prstDash val="solid"/>
          </a:ln>
        </p:spPr>
      </p:sp>
      <p:sp>
        <p:nvSpPr>
          <p:cNvPr id="194" name="Text 192"/>
          <p:cNvSpPr txBox="1"/>
          <p:nvPr/>
        </p:nvSpPr>
        <p:spPr>
          <a:xfrm>
            <a:off x="10295206" y="3028540"/>
            <a:ext cx="90268" cy="46423"/>
          </a:xfrm>
          <a:prstGeom prst="rect">
            <a:avLst/>
          </a:prstGeom>
          <a:noFill/>
          <a:ln/>
        </p:spPr>
        <p:txBody>
          <a:bodyPr wrap="square" lIns="12700" tIns="12700" rIns="12700" bIns="12700" rtlCol="0" anchor="ctr"/>
          <a:lstStyle/>
          <a:p>
            <a:pPr algn="ctr" indent="0" marL="0">
              <a:lnSpc>
                <a:spcPct val="95000"/>
              </a:lnSpc>
              <a:buNone/>
            </a:pPr>
            <a:r>
              <a:rPr lang="en-US" sz="100" b="1" dirty="0">
                <a:solidFill>
                  <a:srgbClr val="333333"/>
                </a:solidFill>
                <a:latin typeface="Arial" pitchFamily="34" charset="0"/>
                <a:ea typeface="Arial" pitchFamily="34" charset="-122"/>
                <a:cs typeface="Arial" pitchFamily="34" charset="-120"/>
              </a:rPr>
              <a:t>Cart (3)</a:t>
            </a:r>
            <a:endParaRPr lang="en-US" sz="100" dirty="0"/>
          </a:p>
        </p:txBody>
      </p:sp>
      <p:sp>
        <p:nvSpPr>
          <p:cNvPr id="195" name="Shape 193"/>
          <p:cNvSpPr/>
          <p:nvPr/>
        </p:nvSpPr>
        <p:spPr>
          <a:xfrm>
            <a:off x="10395790" y="3028540"/>
            <a:ext cx="51582" cy="46423"/>
          </a:xfrm>
          <a:prstGeom prst="roundRect">
            <a:avLst>
              <a:gd name="adj" fmla="val 15000"/>
            </a:avLst>
          </a:prstGeom>
          <a:solidFill>
            <a:srgbClr val="FFFFFF"/>
          </a:solidFill>
          <a:ln w="6350">
            <a:solidFill>
              <a:srgbClr val="555555"/>
            </a:solidFill>
            <a:prstDash val="solid"/>
          </a:ln>
        </p:spPr>
      </p:sp>
      <p:sp>
        <p:nvSpPr>
          <p:cNvPr id="196" name="Text 194"/>
          <p:cNvSpPr txBox="1"/>
          <p:nvPr/>
        </p:nvSpPr>
        <p:spPr>
          <a:xfrm>
            <a:off x="10395790" y="3028540"/>
            <a:ext cx="51582" cy="46423"/>
          </a:xfrm>
          <a:prstGeom prst="rect">
            <a:avLst/>
          </a:prstGeom>
          <a:noFill/>
          <a:ln/>
        </p:spPr>
        <p:txBody>
          <a:bodyPr wrap="square" lIns="12700" tIns="12700" rIns="12700" bIns="12700" rtlCol="0" anchor="ctr"/>
          <a:lstStyle/>
          <a:p>
            <a:pPr algn="ctr" indent="0" marL="0">
              <a:lnSpc>
                <a:spcPct val="95000"/>
              </a:lnSpc>
              <a:buNone/>
            </a:pPr>
            <a:r>
              <a:rPr lang="en-US" sz="200" b="1" dirty="0">
                <a:solidFill>
                  <a:srgbClr val="333333"/>
                </a:solidFill>
                <a:latin typeface="Arial" pitchFamily="34" charset="0"/>
                <a:ea typeface="Arial" pitchFamily="34" charset="-122"/>
                <a:cs typeface="Arial" pitchFamily="34" charset="-120"/>
              </a:rPr>
              <a:t>☰</a:t>
            </a:r>
            <a:endParaRPr lang="en-US" sz="200" dirty="0"/>
          </a:p>
        </p:txBody>
      </p:sp>
      <p:sp>
        <p:nvSpPr>
          <p:cNvPr id="197" name="Shape 195"/>
          <p:cNvSpPr/>
          <p:nvPr/>
        </p:nvSpPr>
        <p:spPr>
          <a:xfrm>
            <a:off x="9979269" y="3093017"/>
            <a:ext cx="483577" cy="1290"/>
          </a:xfrm>
          <a:prstGeom prst="rect">
            <a:avLst/>
          </a:prstGeom>
          <a:solidFill>
            <a:srgbClr val="BBBBBB"/>
          </a:solidFill>
          <a:ln/>
        </p:spPr>
      </p:sp>
      <p:sp>
        <p:nvSpPr>
          <p:cNvPr id="198" name="Shape 196"/>
          <p:cNvSpPr/>
          <p:nvPr/>
        </p:nvSpPr>
        <p:spPr>
          <a:xfrm>
            <a:off x="9984427" y="3020802"/>
            <a:ext cx="473261" cy="67056"/>
          </a:xfrm>
          <a:prstGeom prst="rect">
            <a:avLst/>
          </a:prstGeom>
          <a:ln w="6350">
            <a:solidFill>
              <a:srgbClr val="1E88E5"/>
            </a:solidFill>
            <a:prstDash val="dash"/>
          </a:ln>
        </p:spPr>
      </p:sp>
      <p:sp>
        <p:nvSpPr>
          <p:cNvPr id="199" name="Shape 197"/>
          <p:cNvSpPr/>
          <p:nvPr/>
        </p:nvSpPr>
        <p:spPr>
          <a:xfrm>
            <a:off x="9984427" y="2995012"/>
            <a:ext cx="100584" cy="25791"/>
          </a:xfrm>
          <a:prstGeom prst="rect">
            <a:avLst/>
          </a:prstGeom>
          <a:solidFill>
            <a:srgbClr val="1E88E5"/>
          </a:solidFill>
          <a:ln/>
        </p:spPr>
      </p:sp>
      <p:sp>
        <p:nvSpPr>
          <p:cNvPr id="200" name="Text 198"/>
          <p:cNvSpPr txBox="1"/>
          <p:nvPr/>
        </p:nvSpPr>
        <p:spPr>
          <a:xfrm>
            <a:off x="9984427" y="2995012"/>
            <a:ext cx="100584" cy="25791"/>
          </a:xfrm>
          <a:prstGeom prst="rect">
            <a:avLst/>
          </a:prstGeom>
          <a:noFill/>
          <a:ln/>
        </p:spPr>
        <p:txBody>
          <a:bodyPr wrap="square" lIns="12700" tIns="12700" rIns="12700" bIns="12700" rtlCol="0" anchor="ctr"/>
          <a:lstStyle/>
          <a:p>
            <a:pPr algn="ctr" indent="0" marL="0">
              <a:lnSpc>
                <a:spcPct val="95000"/>
              </a:lnSpc>
              <a:buNone/>
            </a:pPr>
            <a:r>
              <a:rPr lang="en-US" sz="100" b="1" dirty="0">
                <a:solidFill>
                  <a:srgbClr val="FFFFFF"/>
                </a:solidFill>
                <a:latin typeface="Courier New" pitchFamily="34" charset="0"/>
                <a:ea typeface="Courier New" pitchFamily="34" charset="-122"/>
                <a:cs typeface="Courier New" pitchFamily="34" charset="-120"/>
              </a:rPr>
              <a:t>&lt;header&gt;</a:t>
            </a:r>
            <a:endParaRPr lang="en-US" sz="100" dirty="0"/>
          </a:p>
        </p:txBody>
      </p:sp>
      <p:sp>
        <p:nvSpPr>
          <p:cNvPr id="201" name="Shape 199"/>
          <p:cNvSpPr/>
          <p:nvPr/>
        </p:nvSpPr>
        <p:spPr>
          <a:xfrm>
            <a:off x="9999902" y="3108491"/>
            <a:ext cx="442312" cy="180535"/>
          </a:xfrm>
          <a:prstGeom prst="rect">
            <a:avLst/>
          </a:prstGeom>
          <a:solidFill>
            <a:srgbClr val="F5F5F5"/>
          </a:solidFill>
          <a:ln w="6350">
            <a:solidFill>
              <a:srgbClr val="BBBBBB"/>
            </a:solidFill>
            <a:prstDash val="solid"/>
          </a:ln>
        </p:spPr>
      </p:sp>
      <p:sp>
        <p:nvSpPr>
          <p:cNvPr id="202" name="Text 200"/>
          <p:cNvSpPr txBox="1"/>
          <p:nvPr/>
        </p:nvSpPr>
        <p:spPr>
          <a:xfrm>
            <a:off x="10015376" y="3118807"/>
            <a:ext cx="412652" cy="36107"/>
          </a:xfrm>
          <a:prstGeom prst="rect">
            <a:avLst/>
          </a:prstGeom>
          <a:noFill/>
          <a:ln/>
        </p:spPr>
        <p:txBody>
          <a:bodyPr wrap="square" lIns="12700" tIns="12700" rIns="12700" bIns="12700" rtlCol="0" anchor="ctr"/>
          <a:lstStyle/>
          <a:p>
            <a:pPr algn="l" indent="0" marL="0">
              <a:lnSpc>
                <a:spcPct val="95000"/>
              </a:lnSpc>
              <a:buNone/>
            </a:pPr>
            <a:r>
              <a:rPr lang="en-US" sz="150" b="1" dirty="0">
                <a:solidFill>
                  <a:srgbClr val="333333"/>
                </a:solidFill>
                <a:latin typeface="Arial" pitchFamily="34" charset="0"/>
                <a:ea typeface="Arial" pitchFamily="34" charset="-122"/>
                <a:cs typeface="Arial" pitchFamily="34" charset="-120"/>
              </a:rPr>
              <a:t>Order for pickup or delivery</a:t>
            </a:r>
            <a:endParaRPr lang="en-US" sz="150" dirty="0"/>
          </a:p>
        </p:txBody>
      </p:sp>
      <p:sp>
        <p:nvSpPr>
          <p:cNvPr id="203" name="Shape 201"/>
          <p:cNvSpPr/>
          <p:nvPr/>
        </p:nvSpPr>
        <p:spPr>
          <a:xfrm>
            <a:off x="10015376" y="3162652"/>
            <a:ext cx="202458" cy="51582"/>
          </a:xfrm>
          <a:prstGeom prst="roundRect">
            <a:avLst>
              <a:gd name="adj" fmla="val 15000"/>
            </a:avLst>
          </a:prstGeom>
          <a:solidFill>
            <a:srgbClr val="555555"/>
          </a:solidFill>
          <a:ln w="6350">
            <a:solidFill>
              <a:srgbClr val="555555"/>
            </a:solidFill>
            <a:prstDash val="solid"/>
          </a:ln>
        </p:spPr>
      </p:sp>
      <p:sp>
        <p:nvSpPr>
          <p:cNvPr id="204" name="Text 202"/>
          <p:cNvSpPr txBox="1"/>
          <p:nvPr/>
        </p:nvSpPr>
        <p:spPr>
          <a:xfrm>
            <a:off x="10015376" y="3162652"/>
            <a:ext cx="202458" cy="51582"/>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FFFFFF"/>
                </a:solidFill>
                <a:latin typeface="Arial" pitchFamily="34" charset="0"/>
                <a:ea typeface="Arial" pitchFamily="34" charset="-122"/>
                <a:cs typeface="Arial" pitchFamily="34" charset="-120"/>
              </a:rPr>
              <a:t>Pickup</a:t>
            </a:r>
            <a:endParaRPr lang="en-US" sz="150" dirty="0"/>
          </a:p>
        </p:txBody>
      </p:sp>
      <p:sp>
        <p:nvSpPr>
          <p:cNvPr id="205" name="Shape 203"/>
          <p:cNvSpPr/>
          <p:nvPr/>
        </p:nvSpPr>
        <p:spPr>
          <a:xfrm>
            <a:off x="10217834" y="3162652"/>
            <a:ext cx="202458" cy="51582"/>
          </a:xfrm>
          <a:prstGeom prst="roundRect">
            <a:avLst>
              <a:gd name="adj" fmla="val 15000"/>
            </a:avLst>
          </a:prstGeom>
          <a:solidFill>
            <a:srgbClr val="FFFFFF"/>
          </a:solidFill>
          <a:ln w="6350">
            <a:solidFill>
              <a:srgbClr val="555555"/>
            </a:solidFill>
            <a:prstDash val="solid"/>
          </a:ln>
        </p:spPr>
      </p:sp>
      <p:sp>
        <p:nvSpPr>
          <p:cNvPr id="206" name="Text 204"/>
          <p:cNvSpPr txBox="1"/>
          <p:nvPr/>
        </p:nvSpPr>
        <p:spPr>
          <a:xfrm>
            <a:off x="10217834" y="3162652"/>
            <a:ext cx="202458" cy="51582"/>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333333"/>
                </a:solidFill>
                <a:latin typeface="Arial" pitchFamily="34" charset="0"/>
                <a:ea typeface="Arial" pitchFamily="34" charset="-122"/>
                <a:cs typeface="Arial" pitchFamily="34" charset="-120"/>
              </a:rPr>
              <a:t>Delivery</a:t>
            </a:r>
            <a:endParaRPr lang="en-US" sz="150" dirty="0"/>
          </a:p>
        </p:txBody>
      </p:sp>
      <p:sp>
        <p:nvSpPr>
          <p:cNvPr id="207" name="Shape 205"/>
          <p:cNvSpPr/>
          <p:nvPr/>
        </p:nvSpPr>
        <p:spPr>
          <a:xfrm>
            <a:off x="10015376" y="3224550"/>
            <a:ext cx="404915" cy="51582"/>
          </a:xfrm>
          <a:prstGeom prst="roundRect">
            <a:avLst>
              <a:gd name="adj" fmla="val 15000"/>
            </a:avLst>
          </a:prstGeom>
          <a:solidFill>
            <a:srgbClr val="FFFFFF"/>
          </a:solidFill>
          <a:ln w="6350">
            <a:solidFill>
              <a:srgbClr val="555555"/>
            </a:solidFill>
            <a:prstDash val="solid"/>
          </a:ln>
        </p:spPr>
      </p:sp>
      <p:sp>
        <p:nvSpPr>
          <p:cNvPr id="208" name="Text 206"/>
          <p:cNvSpPr txBox="1"/>
          <p:nvPr/>
        </p:nvSpPr>
        <p:spPr>
          <a:xfrm>
            <a:off x="10015376" y="3224550"/>
            <a:ext cx="404915" cy="51582"/>
          </a:xfrm>
          <a:prstGeom prst="rect">
            <a:avLst/>
          </a:prstGeom>
          <a:noFill/>
          <a:ln/>
        </p:spPr>
        <p:txBody>
          <a:bodyPr wrap="square" lIns="12700" tIns="12700" rIns="12700" bIns="12700" rtlCol="0" anchor="ctr"/>
          <a:lstStyle/>
          <a:p>
            <a:pPr algn="l" indent="0" marL="0">
              <a:lnSpc>
                <a:spcPct val="95000"/>
              </a:lnSpc>
              <a:buNone/>
            </a:pPr>
            <a:r>
              <a:rPr lang="en-US" sz="150" dirty="0">
                <a:solidFill>
                  <a:srgbClr val="333333"/>
                </a:solidFill>
                <a:latin typeface="Arial" pitchFamily="34" charset="0"/>
                <a:ea typeface="Arial" pitchFamily="34" charset="-122"/>
                <a:cs typeface="Arial" pitchFamily="34" charset="-120"/>
              </a:rPr>
              <a:t>Pickup time: ASAP                     ▾</a:t>
            </a:r>
            <a:endParaRPr lang="en-US" sz="150" dirty="0"/>
          </a:p>
        </p:txBody>
      </p:sp>
      <p:sp>
        <p:nvSpPr>
          <p:cNvPr id="209" name="Shape 207"/>
          <p:cNvSpPr/>
          <p:nvPr/>
        </p:nvSpPr>
        <p:spPr>
          <a:xfrm>
            <a:off x="9999902" y="3309659"/>
            <a:ext cx="116058" cy="51582"/>
          </a:xfrm>
          <a:prstGeom prst="roundRect">
            <a:avLst>
              <a:gd name="adj" fmla="val 15000"/>
            </a:avLst>
          </a:prstGeom>
          <a:solidFill>
            <a:srgbClr val="555555"/>
          </a:solidFill>
          <a:ln w="6350">
            <a:solidFill>
              <a:srgbClr val="555555"/>
            </a:solidFill>
            <a:prstDash val="solid"/>
          </a:ln>
        </p:spPr>
      </p:sp>
      <p:sp>
        <p:nvSpPr>
          <p:cNvPr id="210" name="Text 208"/>
          <p:cNvSpPr txBox="1"/>
          <p:nvPr/>
        </p:nvSpPr>
        <p:spPr>
          <a:xfrm>
            <a:off x="9999902" y="3309659"/>
            <a:ext cx="116058" cy="51582"/>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FFFFFF"/>
                </a:solidFill>
                <a:latin typeface="Arial" pitchFamily="34" charset="0"/>
                <a:ea typeface="Arial" pitchFamily="34" charset="-122"/>
                <a:cs typeface="Arial" pitchFamily="34" charset="-120"/>
              </a:rPr>
              <a:t>Fish</a:t>
            </a:r>
            <a:endParaRPr lang="en-US" sz="150" dirty="0"/>
          </a:p>
        </p:txBody>
      </p:sp>
      <p:sp>
        <p:nvSpPr>
          <p:cNvPr id="211" name="Shape 209"/>
          <p:cNvSpPr/>
          <p:nvPr/>
        </p:nvSpPr>
        <p:spPr>
          <a:xfrm>
            <a:off x="10126277" y="3309659"/>
            <a:ext cx="116058" cy="51582"/>
          </a:xfrm>
          <a:prstGeom prst="roundRect">
            <a:avLst>
              <a:gd name="adj" fmla="val 15000"/>
            </a:avLst>
          </a:prstGeom>
          <a:solidFill>
            <a:srgbClr val="FFFFFF"/>
          </a:solidFill>
          <a:ln w="6350">
            <a:solidFill>
              <a:srgbClr val="555555"/>
            </a:solidFill>
            <a:prstDash val="solid"/>
          </a:ln>
        </p:spPr>
      </p:sp>
      <p:sp>
        <p:nvSpPr>
          <p:cNvPr id="212" name="Text 210"/>
          <p:cNvSpPr txBox="1"/>
          <p:nvPr/>
        </p:nvSpPr>
        <p:spPr>
          <a:xfrm>
            <a:off x="10126277" y="3309659"/>
            <a:ext cx="116058" cy="51582"/>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333333"/>
                </a:solidFill>
                <a:latin typeface="Arial" pitchFamily="34" charset="0"/>
                <a:ea typeface="Arial" pitchFamily="34" charset="-122"/>
                <a:cs typeface="Arial" pitchFamily="34" charset="-120"/>
              </a:rPr>
              <a:t>Combos</a:t>
            </a:r>
            <a:endParaRPr lang="en-US" sz="150" dirty="0"/>
          </a:p>
        </p:txBody>
      </p:sp>
      <p:sp>
        <p:nvSpPr>
          <p:cNvPr id="213" name="Shape 211"/>
          <p:cNvSpPr/>
          <p:nvPr/>
        </p:nvSpPr>
        <p:spPr>
          <a:xfrm>
            <a:off x="10252651" y="3309659"/>
            <a:ext cx="116058" cy="51582"/>
          </a:xfrm>
          <a:prstGeom prst="roundRect">
            <a:avLst>
              <a:gd name="adj" fmla="val 15000"/>
            </a:avLst>
          </a:prstGeom>
          <a:solidFill>
            <a:srgbClr val="FFFFFF"/>
          </a:solidFill>
          <a:ln w="6350">
            <a:solidFill>
              <a:srgbClr val="555555"/>
            </a:solidFill>
            <a:prstDash val="solid"/>
          </a:ln>
        </p:spPr>
      </p:sp>
      <p:sp>
        <p:nvSpPr>
          <p:cNvPr id="214" name="Text 212"/>
          <p:cNvSpPr txBox="1"/>
          <p:nvPr/>
        </p:nvSpPr>
        <p:spPr>
          <a:xfrm>
            <a:off x="10252651" y="3309659"/>
            <a:ext cx="116058" cy="51582"/>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333333"/>
                </a:solidFill>
                <a:latin typeface="Arial" pitchFamily="34" charset="0"/>
                <a:ea typeface="Arial" pitchFamily="34" charset="-122"/>
                <a:cs typeface="Arial" pitchFamily="34" charset="-120"/>
              </a:rPr>
              <a:t>Sides</a:t>
            </a:r>
            <a:endParaRPr lang="en-US" sz="150" dirty="0"/>
          </a:p>
        </p:txBody>
      </p:sp>
      <p:sp>
        <p:nvSpPr>
          <p:cNvPr id="215" name="Shape 213"/>
          <p:cNvSpPr/>
          <p:nvPr/>
        </p:nvSpPr>
        <p:spPr>
          <a:xfrm>
            <a:off x="10379026" y="3309659"/>
            <a:ext cx="116058" cy="51582"/>
          </a:xfrm>
          <a:prstGeom prst="roundRect">
            <a:avLst>
              <a:gd name="adj" fmla="val 15000"/>
            </a:avLst>
          </a:prstGeom>
          <a:solidFill>
            <a:srgbClr val="FFFFFF"/>
          </a:solidFill>
          <a:ln w="6350">
            <a:solidFill>
              <a:srgbClr val="555555"/>
            </a:solidFill>
            <a:prstDash val="solid"/>
          </a:ln>
        </p:spPr>
      </p:sp>
      <p:sp>
        <p:nvSpPr>
          <p:cNvPr id="216" name="Text 214"/>
          <p:cNvSpPr txBox="1"/>
          <p:nvPr/>
        </p:nvSpPr>
        <p:spPr>
          <a:xfrm>
            <a:off x="10379026" y="3309659"/>
            <a:ext cx="116058" cy="51582"/>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333333"/>
                </a:solidFill>
                <a:latin typeface="Arial" pitchFamily="34" charset="0"/>
                <a:ea typeface="Arial" pitchFamily="34" charset="-122"/>
                <a:cs typeface="Arial" pitchFamily="34" charset="-120"/>
              </a:rPr>
              <a:t>Drinks</a:t>
            </a:r>
            <a:endParaRPr lang="en-US" sz="150" dirty="0"/>
          </a:p>
        </p:txBody>
      </p:sp>
      <p:sp>
        <p:nvSpPr>
          <p:cNvPr id="217" name="Text 215"/>
          <p:cNvSpPr txBox="1"/>
          <p:nvPr/>
        </p:nvSpPr>
        <p:spPr>
          <a:xfrm>
            <a:off x="9999902" y="3379294"/>
            <a:ext cx="257908" cy="36107"/>
          </a:xfrm>
          <a:prstGeom prst="rect">
            <a:avLst/>
          </a:prstGeom>
          <a:noFill/>
          <a:ln/>
        </p:spPr>
        <p:txBody>
          <a:bodyPr wrap="square" lIns="12700" tIns="12700" rIns="12700" bIns="12700" rtlCol="0" anchor="ctr"/>
          <a:lstStyle/>
          <a:p>
            <a:pPr algn="l" indent="0" marL="0">
              <a:lnSpc>
                <a:spcPct val="95000"/>
              </a:lnSpc>
              <a:buNone/>
            </a:pPr>
            <a:r>
              <a:rPr lang="en-US" sz="200" b="1" dirty="0">
                <a:solidFill>
                  <a:srgbClr val="333333"/>
                </a:solidFill>
                <a:latin typeface="Arial" pitchFamily="34" charset="0"/>
                <a:ea typeface="Arial" pitchFamily="34" charset="-122"/>
                <a:cs typeface="Arial" pitchFamily="34" charset="-120"/>
              </a:rPr>
              <a:t>Fish</a:t>
            </a:r>
            <a:endParaRPr lang="en-US" sz="200" dirty="0"/>
          </a:p>
        </p:txBody>
      </p:sp>
      <p:sp>
        <p:nvSpPr>
          <p:cNvPr id="218" name="Shape 216"/>
          <p:cNvSpPr/>
          <p:nvPr/>
        </p:nvSpPr>
        <p:spPr>
          <a:xfrm>
            <a:off x="9999902" y="3438613"/>
            <a:ext cx="103163" cy="103163"/>
          </a:xfrm>
          <a:prstGeom prst="rect">
            <a:avLst/>
          </a:prstGeom>
          <a:solidFill>
            <a:srgbClr val="FFFFFF"/>
          </a:solidFill>
          <a:ln w="6350">
            <a:solidFill>
              <a:srgbClr val="999999"/>
            </a:solidFill>
            <a:prstDash val="solid"/>
          </a:ln>
        </p:spPr>
      </p:sp>
      <p:sp>
        <p:nvSpPr>
          <p:cNvPr id="219" name="Shape 217"/>
          <p:cNvSpPr/>
          <p:nvPr/>
        </p:nvSpPr>
        <p:spPr>
          <a:xfrm>
            <a:off x="9999902" y="3438613"/>
            <a:ext cx="103163" cy="103163"/>
          </a:xfrm>
          <a:prstGeom prst="line">
            <a:avLst/>
          </a:prstGeom>
          <a:noFill/>
          <a:ln w="6350">
            <a:solidFill>
              <a:srgbClr val="999999"/>
            </a:solidFill>
            <a:prstDash val="solid"/>
          </a:ln>
        </p:spPr>
      </p:sp>
      <p:sp>
        <p:nvSpPr>
          <p:cNvPr id="220" name="Shape 218"/>
          <p:cNvSpPr/>
          <p:nvPr/>
        </p:nvSpPr>
        <p:spPr>
          <a:xfrm flipV="1">
            <a:off x="9999902" y="3438613"/>
            <a:ext cx="103163" cy="103163"/>
          </a:xfrm>
          <a:prstGeom prst="line">
            <a:avLst/>
          </a:prstGeom>
          <a:noFill/>
          <a:ln w="6350">
            <a:solidFill>
              <a:srgbClr val="999999"/>
            </a:solidFill>
            <a:prstDash val="solid"/>
          </a:ln>
        </p:spPr>
      </p:sp>
      <p:sp>
        <p:nvSpPr>
          <p:cNvPr id="221" name="Text 219"/>
          <p:cNvSpPr txBox="1"/>
          <p:nvPr/>
        </p:nvSpPr>
        <p:spPr>
          <a:xfrm>
            <a:off x="10118539" y="3438613"/>
            <a:ext cx="245012" cy="28370"/>
          </a:xfrm>
          <a:prstGeom prst="rect">
            <a:avLst/>
          </a:prstGeom>
          <a:noFill/>
          <a:ln/>
        </p:spPr>
        <p:txBody>
          <a:bodyPr wrap="square" lIns="12700" tIns="12700" rIns="12700" bIns="12700" rtlCol="0" anchor="ctr"/>
          <a:lstStyle/>
          <a:p>
            <a:pPr algn="l" indent="0" marL="0">
              <a:lnSpc>
                <a:spcPct val="95000"/>
              </a:lnSpc>
              <a:buNone/>
            </a:pPr>
            <a:r>
              <a:rPr lang="en-US" sz="150" b="1" dirty="0">
                <a:solidFill>
                  <a:srgbClr val="333333"/>
                </a:solidFill>
                <a:latin typeface="Arial" pitchFamily="34" charset="0"/>
                <a:ea typeface="Arial" pitchFamily="34" charset="-122"/>
                <a:cs typeface="Arial" pitchFamily="34" charset="-120"/>
              </a:rPr>
              <a:t>Haddock &amp; Chips (1 pc)</a:t>
            </a:r>
            <a:endParaRPr lang="en-US" sz="150" dirty="0"/>
          </a:p>
        </p:txBody>
      </p:sp>
      <p:sp>
        <p:nvSpPr>
          <p:cNvPr id="222" name="Shape 220"/>
          <p:cNvSpPr/>
          <p:nvPr/>
        </p:nvSpPr>
        <p:spPr>
          <a:xfrm>
            <a:off x="10118539" y="3477299"/>
            <a:ext cx="232117" cy="10316"/>
          </a:xfrm>
          <a:prstGeom prst="rect">
            <a:avLst/>
          </a:prstGeom>
          <a:solidFill>
            <a:srgbClr val="DDDDDD"/>
          </a:solidFill>
          <a:ln/>
        </p:spPr>
      </p:sp>
      <p:sp>
        <p:nvSpPr>
          <p:cNvPr id="223" name="Text 221"/>
          <p:cNvSpPr txBox="1"/>
          <p:nvPr/>
        </p:nvSpPr>
        <p:spPr>
          <a:xfrm>
            <a:off x="10118539" y="3500511"/>
            <a:ext cx="128954" cy="33528"/>
          </a:xfrm>
          <a:prstGeom prst="rect">
            <a:avLst/>
          </a:prstGeom>
          <a:noFill/>
          <a:ln/>
        </p:spPr>
        <p:txBody>
          <a:bodyPr wrap="square" lIns="12700" tIns="12700" rIns="12700" bIns="12700" rtlCol="0" anchor="ctr"/>
          <a:lstStyle/>
          <a:p>
            <a:pPr algn="l" indent="0" marL="0">
              <a:lnSpc>
                <a:spcPct val="95000"/>
              </a:lnSpc>
              <a:buNone/>
            </a:pPr>
            <a:r>
              <a:rPr lang="en-US" sz="150" b="1" dirty="0">
                <a:solidFill>
                  <a:srgbClr val="333333"/>
                </a:solidFill>
                <a:latin typeface="Arial" pitchFamily="34" charset="0"/>
                <a:ea typeface="Arial" pitchFamily="34" charset="-122"/>
                <a:cs typeface="Arial" pitchFamily="34" charset="-120"/>
              </a:rPr>
              <a:t>$14.99</a:t>
            </a:r>
            <a:endParaRPr lang="en-US" sz="150" dirty="0"/>
          </a:p>
        </p:txBody>
      </p:sp>
      <p:sp>
        <p:nvSpPr>
          <p:cNvPr id="224" name="Shape 222"/>
          <p:cNvSpPr/>
          <p:nvPr/>
        </p:nvSpPr>
        <p:spPr>
          <a:xfrm>
            <a:off x="10380316" y="3492774"/>
            <a:ext cx="61898" cy="51582"/>
          </a:xfrm>
          <a:prstGeom prst="roundRect">
            <a:avLst>
              <a:gd name="adj" fmla="val 15000"/>
            </a:avLst>
          </a:prstGeom>
          <a:solidFill>
            <a:srgbClr val="555555"/>
          </a:solidFill>
          <a:ln w="6350">
            <a:solidFill>
              <a:srgbClr val="555555"/>
            </a:solidFill>
            <a:prstDash val="solid"/>
          </a:ln>
        </p:spPr>
      </p:sp>
      <p:sp>
        <p:nvSpPr>
          <p:cNvPr id="225" name="Text 223"/>
          <p:cNvSpPr txBox="1"/>
          <p:nvPr/>
        </p:nvSpPr>
        <p:spPr>
          <a:xfrm>
            <a:off x="10380316" y="3492774"/>
            <a:ext cx="61898" cy="51582"/>
          </a:xfrm>
          <a:prstGeom prst="rect">
            <a:avLst/>
          </a:prstGeom>
          <a:noFill/>
          <a:ln/>
        </p:spPr>
        <p:txBody>
          <a:bodyPr wrap="square" lIns="12700" tIns="12700" rIns="12700" bIns="12700" rtlCol="0" anchor="ctr"/>
          <a:lstStyle/>
          <a:p>
            <a:pPr algn="ctr" indent="0" marL="0">
              <a:lnSpc>
                <a:spcPct val="95000"/>
              </a:lnSpc>
              <a:buNone/>
            </a:pPr>
            <a:r>
              <a:rPr lang="en-US" sz="200" b="1" dirty="0">
                <a:solidFill>
                  <a:srgbClr val="FFFFFF"/>
                </a:solidFill>
                <a:latin typeface="Arial" pitchFamily="34" charset="0"/>
                <a:ea typeface="Arial" pitchFamily="34" charset="-122"/>
                <a:cs typeface="Arial" pitchFamily="34" charset="-120"/>
              </a:rPr>
              <a:t>+</a:t>
            </a:r>
            <a:endParaRPr lang="en-US" sz="200" dirty="0"/>
          </a:p>
        </p:txBody>
      </p:sp>
      <p:sp>
        <p:nvSpPr>
          <p:cNvPr id="226" name="Shape 224"/>
          <p:cNvSpPr/>
          <p:nvPr/>
        </p:nvSpPr>
        <p:spPr>
          <a:xfrm>
            <a:off x="9999902" y="3557250"/>
            <a:ext cx="442312" cy="1290"/>
          </a:xfrm>
          <a:prstGeom prst="rect">
            <a:avLst/>
          </a:prstGeom>
          <a:solidFill>
            <a:srgbClr val="BBBBBB"/>
          </a:solidFill>
          <a:ln/>
        </p:spPr>
      </p:sp>
      <p:sp>
        <p:nvSpPr>
          <p:cNvPr id="227" name="Shape 225"/>
          <p:cNvSpPr/>
          <p:nvPr/>
        </p:nvSpPr>
        <p:spPr>
          <a:xfrm>
            <a:off x="9999902" y="3577883"/>
            <a:ext cx="103163" cy="103163"/>
          </a:xfrm>
          <a:prstGeom prst="rect">
            <a:avLst/>
          </a:prstGeom>
          <a:solidFill>
            <a:srgbClr val="FFFFFF"/>
          </a:solidFill>
          <a:ln w="6350">
            <a:solidFill>
              <a:srgbClr val="999999"/>
            </a:solidFill>
            <a:prstDash val="solid"/>
          </a:ln>
        </p:spPr>
      </p:sp>
      <p:sp>
        <p:nvSpPr>
          <p:cNvPr id="228" name="Shape 226"/>
          <p:cNvSpPr/>
          <p:nvPr/>
        </p:nvSpPr>
        <p:spPr>
          <a:xfrm>
            <a:off x="9999902" y="3577883"/>
            <a:ext cx="103163" cy="103163"/>
          </a:xfrm>
          <a:prstGeom prst="line">
            <a:avLst/>
          </a:prstGeom>
          <a:noFill/>
          <a:ln w="6350">
            <a:solidFill>
              <a:srgbClr val="999999"/>
            </a:solidFill>
            <a:prstDash val="solid"/>
          </a:ln>
        </p:spPr>
      </p:sp>
      <p:sp>
        <p:nvSpPr>
          <p:cNvPr id="229" name="Shape 227"/>
          <p:cNvSpPr/>
          <p:nvPr/>
        </p:nvSpPr>
        <p:spPr>
          <a:xfrm flipV="1">
            <a:off x="9999902" y="3577883"/>
            <a:ext cx="103163" cy="103163"/>
          </a:xfrm>
          <a:prstGeom prst="line">
            <a:avLst/>
          </a:prstGeom>
          <a:noFill/>
          <a:ln w="6350">
            <a:solidFill>
              <a:srgbClr val="999999"/>
            </a:solidFill>
            <a:prstDash val="solid"/>
          </a:ln>
        </p:spPr>
      </p:sp>
      <p:sp>
        <p:nvSpPr>
          <p:cNvPr id="230" name="Text 228"/>
          <p:cNvSpPr txBox="1"/>
          <p:nvPr/>
        </p:nvSpPr>
        <p:spPr>
          <a:xfrm>
            <a:off x="10118539" y="3577883"/>
            <a:ext cx="245012" cy="28370"/>
          </a:xfrm>
          <a:prstGeom prst="rect">
            <a:avLst/>
          </a:prstGeom>
          <a:noFill/>
          <a:ln/>
        </p:spPr>
        <p:txBody>
          <a:bodyPr wrap="square" lIns="12700" tIns="12700" rIns="12700" bIns="12700" rtlCol="0" anchor="ctr"/>
          <a:lstStyle/>
          <a:p>
            <a:pPr algn="l" indent="0" marL="0">
              <a:lnSpc>
                <a:spcPct val="95000"/>
              </a:lnSpc>
              <a:buNone/>
            </a:pPr>
            <a:r>
              <a:rPr lang="en-US" sz="150" b="1" dirty="0">
                <a:solidFill>
                  <a:srgbClr val="333333"/>
                </a:solidFill>
                <a:latin typeface="Arial" pitchFamily="34" charset="0"/>
                <a:ea typeface="Arial" pitchFamily="34" charset="-122"/>
                <a:cs typeface="Arial" pitchFamily="34" charset="-120"/>
              </a:rPr>
              <a:t>Haddock &amp; Chips (2 pc)</a:t>
            </a:r>
            <a:endParaRPr lang="en-US" sz="150" dirty="0"/>
          </a:p>
        </p:txBody>
      </p:sp>
      <p:sp>
        <p:nvSpPr>
          <p:cNvPr id="231" name="Shape 229"/>
          <p:cNvSpPr/>
          <p:nvPr/>
        </p:nvSpPr>
        <p:spPr>
          <a:xfrm>
            <a:off x="10118539" y="3616569"/>
            <a:ext cx="232117" cy="10316"/>
          </a:xfrm>
          <a:prstGeom prst="rect">
            <a:avLst/>
          </a:prstGeom>
          <a:solidFill>
            <a:srgbClr val="DDDDDD"/>
          </a:solidFill>
          <a:ln/>
        </p:spPr>
      </p:sp>
      <p:sp>
        <p:nvSpPr>
          <p:cNvPr id="232" name="Text 230"/>
          <p:cNvSpPr txBox="1"/>
          <p:nvPr/>
        </p:nvSpPr>
        <p:spPr>
          <a:xfrm>
            <a:off x="10118539" y="3639781"/>
            <a:ext cx="128954" cy="33528"/>
          </a:xfrm>
          <a:prstGeom prst="rect">
            <a:avLst/>
          </a:prstGeom>
          <a:noFill/>
          <a:ln/>
        </p:spPr>
        <p:txBody>
          <a:bodyPr wrap="square" lIns="12700" tIns="12700" rIns="12700" bIns="12700" rtlCol="0" anchor="ctr"/>
          <a:lstStyle/>
          <a:p>
            <a:pPr algn="l" indent="0" marL="0">
              <a:lnSpc>
                <a:spcPct val="95000"/>
              </a:lnSpc>
              <a:buNone/>
            </a:pPr>
            <a:r>
              <a:rPr lang="en-US" sz="150" b="1" dirty="0">
                <a:solidFill>
                  <a:srgbClr val="333333"/>
                </a:solidFill>
                <a:latin typeface="Arial" pitchFamily="34" charset="0"/>
                <a:ea typeface="Arial" pitchFamily="34" charset="-122"/>
                <a:cs typeface="Arial" pitchFamily="34" charset="-120"/>
              </a:rPr>
              <a:t>$19.99</a:t>
            </a:r>
            <a:endParaRPr lang="en-US" sz="150" dirty="0"/>
          </a:p>
        </p:txBody>
      </p:sp>
      <p:sp>
        <p:nvSpPr>
          <p:cNvPr id="233" name="Shape 231"/>
          <p:cNvSpPr/>
          <p:nvPr/>
        </p:nvSpPr>
        <p:spPr>
          <a:xfrm>
            <a:off x="10380316" y="3632044"/>
            <a:ext cx="61898" cy="51582"/>
          </a:xfrm>
          <a:prstGeom prst="roundRect">
            <a:avLst>
              <a:gd name="adj" fmla="val 15000"/>
            </a:avLst>
          </a:prstGeom>
          <a:solidFill>
            <a:srgbClr val="555555"/>
          </a:solidFill>
          <a:ln w="6350">
            <a:solidFill>
              <a:srgbClr val="555555"/>
            </a:solidFill>
            <a:prstDash val="solid"/>
          </a:ln>
        </p:spPr>
      </p:sp>
      <p:sp>
        <p:nvSpPr>
          <p:cNvPr id="234" name="Text 232"/>
          <p:cNvSpPr txBox="1"/>
          <p:nvPr/>
        </p:nvSpPr>
        <p:spPr>
          <a:xfrm>
            <a:off x="10380316" y="3632044"/>
            <a:ext cx="61898" cy="51582"/>
          </a:xfrm>
          <a:prstGeom prst="rect">
            <a:avLst/>
          </a:prstGeom>
          <a:noFill/>
          <a:ln/>
        </p:spPr>
        <p:txBody>
          <a:bodyPr wrap="square" lIns="12700" tIns="12700" rIns="12700" bIns="12700" rtlCol="0" anchor="ctr"/>
          <a:lstStyle/>
          <a:p>
            <a:pPr algn="ctr" indent="0" marL="0">
              <a:lnSpc>
                <a:spcPct val="95000"/>
              </a:lnSpc>
              <a:buNone/>
            </a:pPr>
            <a:r>
              <a:rPr lang="en-US" sz="200" b="1" dirty="0">
                <a:solidFill>
                  <a:srgbClr val="FFFFFF"/>
                </a:solidFill>
                <a:latin typeface="Arial" pitchFamily="34" charset="0"/>
                <a:ea typeface="Arial" pitchFamily="34" charset="-122"/>
                <a:cs typeface="Arial" pitchFamily="34" charset="-120"/>
              </a:rPr>
              <a:t>+</a:t>
            </a:r>
            <a:endParaRPr lang="en-US" sz="200" dirty="0"/>
          </a:p>
        </p:txBody>
      </p:sp>
      <p:sp>
        <p:nvSpPr>
          <p:cNvPr id="235" name="Shape 233"/>
          <p:cNvSpPr/>
          <p:nvPr/>
        </p:nvSpPr>
        <p:spPr>
          <a:xfrm>
            <a:off x="9999902" y="3696521"/>
            <a:ext cx="442312" cy="1290"/>
          </a:xfrm>
          <a:prstGeom prst="rect">
            <a:avLst/>
          </a:prstGeom>
          <a:solidFill>
            <a:srgbClr val="BBBBBB"/>
          </a:solidFill>
          <a:ln/>
        </p:spPr>
      </p:sp>
      <p:sp>
        <p:nvSpPr>
          <p:cNvPr id="236" name="Shape 234"/>
          <p:cNvSpPr/>
          <p:nvPr/>
        </p:nvSpPr>
        <p:spPr>
          <a:xfrm>
            <a:off x="9999902" y="3717153"/>
            <a:ext cx="103163" cy="103163"/>
          </a:xfrm>
          <a:prstGeom prst="rect">
            <a:avLst/>
          </a:prstGeom>
          <a:solidFill>
            <a:srgbClr val="FFFFFF"/>
          </a:solidFill>
          <a:ln w="6350">
            <a:solidFill>
              <a:srgbClr val="999999"/>
            </a:solidFill>
            <a:prstDash val="solid"/>
          </a:ln>
        </p:spPr>
      </p:sp>
      <p:sp>
        <p:nvSpPr>
          <p:cNvPr id="237" name="Shape 235"/>
          <p:cNvSpPr/>
          <p:nvPr/>
        </p:nvSpPr>
        <p:spPr>
          <a:xfrm>
            <a:off x="9999902" y="3717153"/>
            <a:ext cx="103163" cy="103163"/>
          </a:xfrm>
          <a:prstGeom prst="line">
            <a:avLst/>
          </a:prstGeom>
          <a:noFill/>
          <a:ln w="6350">
            <a:solidFill>
              <a:srgbClr val="999999"/>
            </a:solidFill>
            <a:prstDash val="solid"/>
          </a:ln>
        </p:spPr>
      </p:sp>
      <p:sp>
        <p:nvSpPr>
          <p:cNvPr id="238" name="Shape 236"/>
          <p:cNvSpPr/>
          <p:nvPr/>
        </p:nvSpPr>
        <p:spPr>
          <a:xfrm flipV="1">
            <a:off x="9999902" y="3717153"/>
            <a:ext cx="103163" cy="103163"/>
          </a:xfrm>
          <a:prstGeom prst="line">
            <a:avLst/>
          </a:prstGeom>
          <a:noFill/>
          <a:ln w="6350">
            <a:solidFill>
              <a:srgbClr val="999999"/>
            </a:solidFill>
            <a:prstDash val="solid"/>
          </a:ln>
        </p:spPr>
      </p:sp>
      <p:sp>
        <p:nvSpPr>
          <p:cNvPr id="239" name="Text 237"/>
          <p:cNvSpPr txBox="1"/>
          <p:nvPr/>
        </p:nvSpPr>
        <p:spPr>
          <a:xfrm>
            <a:off x="10118539" y="3717153"/>
            <a:ext cx="245012" cy="28370"/>
          </a:xfrm>
          <a:prstGeom prst="rect">
            <a:avLst/>
          </a:prstGeom>
          <a:noFill/>
          <a:ln/>
        </p:spPr>
        <p:txBody>
          <a:bodyPr wrap="square" lIns="12700" tIns="12700" rIns="12700" bIns="12700" rtlCol="0" anchor="ctr"/>
          <a:lstStyle/>
          <a:p>
            <a:pPr algn="l" indent="0" marL="0">
              <a:lnSpc>
                <a:spcPct val="95000"/>
              </a:lnSpc>
              <a:buNone/>
            </a:pPr>
            <a:r>
              <a:rPr lang="en-US" sz="150" b="1" dirty="0">
                <a:solidFill>
                  <a:srgbClr val="333333"/>
                </a:solidFill>
                <a:latin typeface="Arial" pitchFamily="34" charset="0"/>
                <a:ea typeface="Arial" pitchFamily="34" charset="-122"/>
                <a:cs typeface="Arial" pitchFamily="34" charset="-120"/>
              </a:rPr>
              <a:t>Fish Tacos (2)</a:t>
            </a:r>
            <a:endParaRPr lang="en-US" sz="150" dirty="0"/>
          </a:p>
        </p:txBody>
      </p:sp>
      <p:sp>
        <p:nvSpPr>
          <p:cNvPr id="240" name="Shape 238"/>
          <p:cNvSpPr/>
          <p:nvPr/>
        </p:nvSpPr>
        <p:spPr>
          <a:xfrm>
            <a:off x="10118539" y="3755839"/>
            <a:ext cx="232117" cy="10316"/>
          </a:xfrm>
          <a:prstGeom prst="rect">
            <a:avLst/>
          </a:prstGeom>
          <a:solidFill>
            <a:srgbClr val="DDDDDD"/>
          </a:solidFill>
          <a:ln/>
        </p:spPr>
      </p:sp>
      <p:sp>
        <p:nvSpPr>
          <p:cNvPr id="241" name="Text 239"/>
          <p:cNvSpPr txBox="1"/>
          <p:nvPr/>
        </p:nvSpPr>
        <p:spPr>
          <a:xfrm>
            <a:off x="10118539" y="3779051"/>
            <a:ext cx="128954" cy="33528"/>
          </a:xfrm>
          <a:prstGeom prst="rect">
            <a:avLst/>
          </a:prstGeom>
          <a:noFill/>
          <a:ln/>
        </p:spPr>
        <p:txBody>
          <a:bodyPr wrap="square" lIns="12700" tIns="12700" rIns="12700" bIns="12700" rtlCol="0" anchor="ctr"/>
          <a:lstStyle/>
          <a:p>
            <a:pPr algn="l" indent="0" marL="0">
              <a:lnSpc>
                <a:spcPct val="95000"/>
              </a:lnSpc>
              <a:buNone/>
            </a:pPr>
            <a:r>
              <a:rPr lang="en-US" sz="150" b="1" dirty="0">
                <a:solidFill>
                  <a:srgbClr val="333333"/>
                </a:solidFill>
                <a:latin typeface="Arial" pitchFamily="34" charset="0"/>
                <a:ea typeface="Arial" pitchFamily="34" charset="-122"/>
                <a:cs typeface="Arial" pitchFamily="34" charset="-120"/>
              </a:rPr>
              <a:t>$13.49</a:t>
            </a:r>
            <a:endParaRPr lang="en-US" sz="150" dirty="0"/>
          </a:p>
        </p:txBody>
      </p:sp>
      <p:sp>
        <p:nvSpPr>
          <p:cNvPr id="242" name="Shape 240"/>
          <p:cNvSpPr/>
          <p:nvPr/>
        </p:nvSpPr>
        <p:spPr>
          <a:xfrm>
            <a:off x="10380316" y="3771314"/>
            <a:ext cx="61898" cy="51582"/>
          </a:xfrm>
          <a:prstGeom prst="roundRect">
            <a:avLst>
              <a:gd name="adj" fmla="val 15000"/>
            </a:avLst>
          </a:prstGeom>
          <a:solidFill>
            <a:srgbClr val="555555"/>
          </a:solidFill>
          <a:ln w="6350">
            <a:solidFill>
              <a:srgbClr val="555555"/>
            </a:solidFill>
            <a:prstDash val="solid"/>
          </a:ln>
        </p:spPr>
      </p:sp>
      <p:sp>
        <p:nvSpPr>
          <p:cNvPr id="243" name="Text 241"/>
          <p:cNvSpPr txBox="1"/>
          <p:nvPr/>
        </p:nvSpPr>
        <p:spPr>
          <a:xfrm>
            <a:off x="10380316" y="3771314"/>
            <a:ext cx="61898" cy="51582"/>
          </a:xfrm>
          <a:prstGeom prst="rect">
            <a:avLst/>
          </a:prstGeom>
          <a:noFill/>
          <a:ln/>
        </p:spPr>
        <p:txBody>
          <a:bodyPr wrap="square" lIns="12700" tIns="12700" rIns="12700" bIns="12700" rtlCol="0" anchor="ctr"/>
          <a:lstStyle/>
          <a:p>
            <a:pPr algn="ctr" indent="0" marL="0">
              <a:lnSpc>
                <a:spcPct val="95000"/>
              </a:lnSpc>
              <a:buNone/>
            </a:pPr>
            <a:r>
              <a:rPr lang="en-US" sz="200" b="1" dirty="0">
                <a:solidFill>
                  <a:srgbClr val="FFFFFF"/>
                </a:solidFill>
                <a:latin typeface="Arial" pitchFamily="34" charset="0"/>
                <a:ea typeface="Arial" pitchFamily="34" charset="-122"/>
                <a:cs typeface="Arial" pitchFamily="34" charset="-120"/>
              </a:rPr>
              <a:t>+</a:t>
            </a:r>
            <a:endParaRPr lang="en-US" sz="200" dirty="0"/>
          </a:p>
        </p:txBody>
      </p:sp>
      <p:sp>
        <p:nvSpPr>
          <p:cNvPr id="244" name="Shape 242"/>
          <p:cNvSpPr/>
          <p:nvPr/>
        </p:nvSpPr>
        <p:spPr>
          <a:xfrm>
            <a:off x="9999902" y="3835791"/>
            <a:ext cx="442312" cy="1290"/>
          </a:xfrm>
          <a:prstGeom prst="rect">
            <a:avLst/>
          </a:prstGeom>
          <a:solidFill>
            <a:srgbClr val="BBBBBB"/>
          </a:solidFill>
          <a:ln/>
        </p:spPr>
      </p:sp>
      <p:sp>
        <p:nvSpPr>
          <p:cNvPr id="245" name="Shape 243"/>
          <p:cNvSpPr/>
          <p:nvPr/>
        </p:nvSpPr>
        <p:spPr>
          <a:xfrm>
            <a:off x="9999902" y="3856423"/>
            <a:ext cx="103163" cy="103163"/>
          </a:xfrm>
          <a:prstGeom prst="rect">
            <a:avLst/>
          </a:prstGeom>
          <a:solidFill>
            <a:srgbClr val="FFFFFF"/>
          </a:solidFill>
          <a:ln w="6350">
            <a:solidFill>
              <a:srgbClr val="999999"/>
            </a:solidFill>
            <a:prstDash val="solid"/>
          </a:ln>
        </p:spPr>
      </p:sp>
      <p:sp>
        <p:nvSpPr>
          <p:cNvPr id="246" name="Shape 244"/>
          <p:cNvSpPr/>
          <p:nvPr/>
        </p:nvSpPr>
        <p:spPr>
          <a:xfrm>
            <a:off x="9999902" y="3856423"/>
            <a:ext cx="103163" cy="103163"/>
          </a:xfrm>
          <a:prstGeom prst="line">
            <a:avLst/>
          </a:prstGeom>
          <a:noFill/>
          <a:ln w="6350">
            <a:solidFill>
              <a:srgbClr val="999999"/>
            </a:solidFill>
            <a:prstDash val="solid"/>
          </a:ln>
        </p:spPr>
      </p:sp>
      <p:sp>
        <p:nvSpPr>
          <p:cNvPr id="247" name="Shape 245"/>
          <p:cNvSpPr/>
          <p:nvPr/>
        </p:nvSpPr>
        <p:spPr>
          <a:xfrm flipV="1">
            <a:off x="9999902" y="3856423"/>
            <a:ext cx="103163" cy="103163"/>
          </a:xfrm>
          <a:prstGeom prst="line">
            <a:avLst/>
          </a:prstGeom>
          <a:noFill/>
          <a:ln w="6350">
            <a:solidFill>
              <a:srgbClr val="999999"/>
            </a:solidFill>
            <a:prstDash val="solid"/>
          </a:ln>
        </p:spPr>
      </p:sp>
      <p:sp>
        <p:nvSpPr>
          <p:cNvPr id="248" name="Text 246"/>
          <p:cNvSpPr txBox="1"/>
          <p:nvPr/>
        </p:nvSpPr>
        <p:spPr>
          <a:xfrm>
            <a:off x="10118539" y="3856423"/>
            <a:ext cx="245012" cy="28370"/>
          </a:xfrm>
          <a:prstGeom prst="rect">
            <a:avLst/>
          </a:prstGeom>
          <a:noFill/>
          <a:ln/>
        </p:spPr>
        <p:txBody>
          <a:bodyPr wrap="square" lIns="12700" tIns="12700" rIns="12700" bIns="12700" rtlCol="0" anchor="ctr"/>
          <a:lstStyle/>
          <a:p>
            <a:pPr algn="l" indent="0" marL="0">
              <a:lnSpc>
                <a:spcPct val="95000"/>
              </a:lnSpc>
              <a:buNone/>
            </a:pPr>
            <a:r>
              <a:rPr lang="en-US" sz="150" b="1" dirty="0">
                <a:solidFill>
                  <a:srgbClr val="333333"/>
                </a:solidFill>
                <a:latin typeface="Arial" pitchFamily="34" charset="0"/>
                <a:ea typeface="Arial" pitchFamily="34" charset="-122"/>
                <a:cs typeface="Arial" pitchFamily="34" charset="-120"/>
              </a:rPr>
              <a:t>Clam Strips &amp; Chips</a:t>
            </a:r>
            <a:endParaRPr lang="en-US" sz="150" dirty="0"/>
          </a:p>
        </p:txBody>
      </p:sp>
      <p:sp>
        <p:nvSpPr>
          <p:cNvPr id="249" name="Shape 247"/>
          <p:cNvSpPr/>
          <p:nvPr/>
        </p:nvSpPr>
        <p:spPr>
          <a:xfrm>
            <a:off x="10118539" y="3895110"/>
            <a:ext cx="232117" cy="10316"/>
          </a:xfrm>
          <a:prstGeom prst="rect">
            <a:avLst/>
          </a:prstGeom>
          <a:solidFill>
            <a:srgbClr val="DDDDDD"/>
          </a:solidFill>
          <a:ln/>
        </p:spPr>
      </p:sp>
      <p:sp>
        <p:nvSpPr>
          <p:cNvPr id="250" name="Text 248"/>
          <p:cNvSpPr txBox="1"/>
          <p:nvPr/>
        </p:nvSpPr>
        <p:spPr>
          <a:xfrm>
            <a:off x="10118539" y="3918321"/>
            <a:ext cx="128954" cy="33528"/>
          </a:xfrm>
          <a:prstGeom prst="rect">
            <a:avLst/>
          </a:prstGeom>
          <a:noFill/>
          <a:ln/>
        </p:spPr>
        <p:txBody>
          <a:bodyPr wrap="square" lIns="12700" tIns="12700" rIns="12700" bIns="12700" rtlCol="0" anchor="ctr"/>
          <a:lstStyle/>
          <a:p>
            <a:pPr algn="l" indent="0" marL="0">
              <a:lnSpc>
                <a:spcPct val="95000"/>
              </a:lnSpc>
              <a:buNone/>
            </a:pPr>
            <a:r>
              <a:rPr lang="en-US" sz="150" b="1" dirty="0">
                <a:solidFill>
                  <a:srgbClr val="333333"/>
                </a:solidFill>
                <a:latin typeface="Arial" pitchFamily="34" charset="0"/>
                <a:ea typeface="Arial" pitchFamily="34" charset="-122"/>
                <a:cs typeface="Arial" pitchFamily="34" charset="-120"/>
              </a:rPr>
              <a:t>$16.99</a:t>
            </a:r>
            <a:endParaRPr lang="en-US" sz="150" dirty="0"/>
          </a:p>
        </p:txBody>
      </p:sp>
      <p:sp>
        <p:nvSpPr>
          <p:cNvPr id="251" name="Shape 249"/>
          <p:cNvSpPr/>
          <p:nvPr/>
        </p:nvSpPr>
        <p:spPr>
          <a:xfrm>
            <a:off x="10380316" y="3910584"/>
            <a:ext cx="61898" cy="51582"/>
          </a:xfrm>
          <a:prstGeom prst="roundRect">
            <a:avLst>
              <a:gd name="adj" fmla="val 15000"/>
            </a:avLst>
          </a:prstGeom>
          <a:solidFill>
            <a:srgbClr val="555555"/>
          </a:solidFill>
          <a:ln w="6350">
            <a:solidFill>
              <a:srgbClr val="555555"/>
            </a:solidFill>
            <a:prstDash val="solid"/>
          </a:ln>
        </p:spPr>
      </p:sp>
      <p:sp>
        <p:nvSpPr>
          <p:cNvPr id="252" name="Text 250"/>
          <p:cNvSpPr txBox="1"/>
          <p:nvPr/>
        </p:nvSpPr>
        <p:spPr>
          <a:xfrm>
            <a:off x="10380316" y="3910584"/>
            <a:ext cx="61898" cy="51582"/>
          </a:xfrm>
          <a:prstGeom prst="rect">
            <a:avLst/>
          </a:prstGeom>
          <a:noFill/>
          <a:ln/>
        </p:spPr>
        <p:txBody>
          <a:bodyPr wrap="square" lIns="12700" tIns="12700" rIns="12700" bIns="12700" rtlCol="0" anchor="ctr"/>
          <a:lstStyle/>
          <a:p>
            <a:pPr algn="ctr" indent="0" marL="0">
              <a:lnSpc>
                <a:spcPct val="95000"/>
              </a:lnSpc>
              <a:buNone/>
            </a:pPr>
            <a:r>
              <a:rPr lang="en-US" sz="200" b="1" dirty="0">
                <a:solidFill>
                  <a:srgbClr val="FFFFFF"/>
                </a:solidFill>
                <a:latin typeface="Arial" pitchFamily="34" charset="0"/>
                <a:ea typeface="Arial" pitchFamily="34" charset="-122"/>
                <a:cs typeface="Arial" pitchFamily="34" charset="-120"/>
              </a:rPr>
              <a:t>+</a:t>
            </a:r>
            <a:endParaRPr lang="en-US" sz="200" dirty="0"/>
          </a:p>
        </p:txBody>
      </p:sp>
      <p:sp>
        <p:nvSpPr>
          <p:cNvPr id="253" name="Shape 251"/>
          <p:cNvSpPr/>
          <p:nvPr/>
        </p:nvSpPr>
        <p:spPr>
          <a:xfrm>
            <a:off x="9999902" y="3975061"/>
            <a:ext cx="442312" cy="1290"/>
          </a:xfrm>
          <a:prstGeom prst="rect">
            <a:avLst/>
          </a:prstGeom>
          <a:solidFill>
            <a:srgbClr val="BBBBBB"/>
          </a:solidFill>
          <a:ln/>
        </p:spPr>
      </p:sp>
      <p:sp>
        <p:nvSpPr>
          <p:cNvPr id="254" name="Shape 252"/>
          <p:cNvSpPr/>
          <p:nvPr/>
        </p:nvSpPr>
        <p:spPr>
          <a:xfrm>
            <a:off x="9999902" y="3995694"/>
            <a:ext cx="103163" cy="103163"/>
          </a:xfrm>
          <a:prstGeom prst="rect">
            <a:avLst/>
          </a:prstGeom>
          <a:solidFill>
            <a:srgbClr val="FFFFFF"/>
          </a:solidFill>
          <a:ln w="6350">
            <a:solidFill>
              <a:srgbClr val="999999"/>
            </a:solidFill>
            <a:prstDash val="solid"/>
          </a:ln>
        </p:spPr>
      </p:sp>
      <p:sp>
        <p:nvSpPr>
          <p:cNvPr id="255" name="Shape 253"/>
          <p:cNvSpPr/>
          <p:nvPr/>
        </p:nvSpPr>
        <p:spPr>
          <a:xfrm>
            <a:off x="9999902" y="3995694"/>
            <a:ext cx="103163" cy="103163"/>
          </a:xfrm>
          <a:prstGeom prst="line">
            <a:avLst/>
          </a:prstGeom>
          <a:noFill/>
          <a:ln w="6350">
            <a:solidFill>
              <a:srgbClr val="999999"/>
            </a:solidFill>
            <a:prstDash val="solid"/>
          </a:ln>
        </p:spPr>
      </p:sp>
      <p:sp>
        <p:nvSpPr>
          <p:cNvPr id="256" name="Shape 254"/>
          <p:cNvSpPr/>
          <p:nvPr/>
        </p:nvSpPr>
        <p:spPr>
          <a:xfrm flipV="1">
            <a:off x="9999902" y="3995694"/>
            <a:ext cx="103163" cy="103163"/>
          </a:xfrm>
          <a:prstGeom prst="line">
            <a:avLst/>
          </a:prstGeom>
          <a:noFill/>
          <a:ln w="6350">
            <a:solidFill>
              <a:srgbClr val="999999"/>
            </a:solidFill>
            <a:prstDash val="solid"/>
          </a:ln>
        </p:spPr>
      </p:sp>
      <p:sp>
        <p:nvSpPr>
          <p:cNvPr id="257" name="Text 255"/>
          <p:cNvSpPr txBox="1"/>
          <p:nvPr/>
        </p:nvSpPr>
        <p:spPr>
          <a:xfrm>
            <a:off x="10118539" y="3995694"/>
            <a:ext cx="245012" cy="28370"/>
          </a:xfrm>
          <a:prstGeom prst="rect">
            <a:avLst/>
          </a:prstGeom>
          <a:noFill/>
          <a:ln/>
        </p:spPr>
        <p:txBody>
          <a:bodyPr wrap="square" lIns="12700" tIns="12700" rIns="12700" bIns="12700" rtlCol="0" anchor="ctr"/>
          <a:lstStyle/>
          <a:p>
            <a:pPr algn="l" indent="0" marL="0">
              <a:lnSpc>
                <a:spcPct val="95000"/>
              </a:lnSpc>
              <a:buNone/>
            </a:pPr>
            <a:r>
              <a:rPr lang="en-US" sz="150" b="1" dirty="0">
                <a:solidFill>
                  <a:srgbClr val="333333"/>
                </a:solidFill>
                <a:latin typeface="Arial" pitchFamily="34" charset="0"/>
                <a:ea typeface="Arial" pitchFamily="34" charset="-122"/>
                <a:cs typeface="Arial" pitchFamily="34" charset="-120"/>
              </a:rPr>
              <a:t>Scallops &amp; Chips</a:t>
            </a:r>
            <a:endParaRPr lang="en-US" sz="150" dirty="0"/>
          </a:p>
        </p:txBody>
      </p:sp>
      <p:sp>
        <p:nvSpPr>
          <p:cNvPr id="258" name="Shape 256"/>
          <p:cNvSpPr/>
          <p:nvPr/>
        </p:nvSpPr>
        <p:spPr>
          <a:xfrm>
            <a:off x="10118539" y="4034380"/>
            <a:ext cx="232117" cy="10316"/>
          </a:xfrm>
          <a:prstGeom prst="rect">
            <a:avLst/>
          </a:prstGeom>
          <a:solidFill>
            <a:srgbClr val="DDDDDD"/>
          </a:solidFill>
          <a:ln/>
        </p:spPr>
      </p:sp>
      <p:sp>
        <p:nvSpPr>
          <p:cNvPr id="259" name="Text 257"/>
          <p:cNvSpPr txBox="1"/>
          <p:nvPr/>
        </p:nvSpPr>
        <p:spPr>
          <a:xfrm>
            <a:off x="10118539" y="4057591"/>
            <a:ext cx="128954" cy="33528"/>
          </a:xfrm>
          <a:prstGeom prst="rect">
            <a:avLst/>
          </a:prstGeom>
          <a:noFill/>
          <a:ln/>
        </p:spPr>
        <p:txBody>
          <a:bodyPr wrap="square" lIns="12700" tIns="12700" rIns="12700" bIns="12700" rtlCol="0" anchor="ctr"/>
          <a:lstStyle/>
          <a:p>
            <a:pPr algn="l" indent="0" marL="0">
              <a:lnSpc>
                <a:spcPct val="95000"/>
              </a:lnSpc>
              <a:buNone/>
            </a:pPr>
            <a:r>
              <a:rPr lang="en-US" sz="150" b="1" dirty="0">
                <a:solidFill>
                  <a:srgbClr val="333333"/>
                </a:solidFill>
                <a:latin typeface="Arial" pitchFamily="34" charset="0"/>
                <a:ea typeface="Arial" pitchFamily="34" charset="-122"/>
                <a:cs typeface="Arial" pitchFamily="34" charset="-120"/>
              </a:rPr>
              <a:t>$24.99</a:t>
            </a:r>
            <a:endParaRPr lang="en-US" sz="150" dirty="0"/>
          </a:p>
        </p:txBody>
      </p:sp>
      <p:sp>
        <p:nvSpPr>
          <p:cNvPr id="260" name="Shape 258"/>
          <p:cNvSpPr/>
          <p:nvPr/>
        </p:nvSpPr>
        <p:spPr>
          <a:xfrm>
            <a:off x="10380316" y="4049854"/>
            <a:ext cx="61898" cy="51582"/>
          </a:xfrm>
          <a:prstGeom prst="roundRect">
            <a:avLst>
              <a:gd name="adj" fmla="val 15000"/>
            </a:avLst>
          </a:prstGeom>
          <a:solidFill>
            <a:srgbClr val="555555"/>
          </a:solidFill>
          <a:ln w="6350">
            <a:solidFill>
              <a:srgbClr val="555555"/>
            </a:solidFill>
            <a:prstDash val="solid"/>
          </a:ln>
        </p:spPr>
      </p:sp>
      <p:sp>
        <p:nvSpPr>
          <p:cNvPr id="261" name="Text 259"/>
          <p:cNvSpPr txBox="1"/>
          <p:nvPr/>
        </p:nvSpPr>
        <p:spPr>
          <a:xfrm>
            <a:off x="10380316" y="4049854"/>
            <a:ext cx="61898" cy="51582"/>
          </a:xfrm>
          <a:prstGeom prst="rect">
            <a:avLst/>
          </a:prstGeom>
          <a:noFill/>
          <a:ln/>
        </p:spPr>
        <p:txBody>
          <a:bodyPr wrap="square" lIns="12700" tIns="12700" rIns="12700" bIns="12700" rtlCol="0" anchor="ctr"/>
          <a:lstStyle/>
          <a:p>
            <a:pPr algn="ctr" indent="0" marL="0">
              <a:lnSpc>
                <a:spcPct val="95000"/>
              </a:lnSpc>
              <a:buNone/>
            </a:pPr>
            <a:r>
              <a:rPr lang="en-US" sz="200" b="1" dirty="0">
                <a:solidFill>
                  <a:srgbClr val="FFFFFF"/>
                </a:solidFill>
                <a:latin typeface="Arial" pitchFamily="34" charset="0"/>
                <a:ea typeface="Arial" pitchFamily="34" charset="-122"/>
                <a:cs typeface="Arial" pitchFamily="34" charset="-120"/>
              </a:rPr>
              <a:t>+</a:t>
            </a:r>
            <a:endParaRPr lang="en-US" sz="200" dirty="0"/>
          </a:p>
        </p:txBody>
      </p:sp>
      <p:sp>
        <p:nvSpPr>
          <p:cNvPr id="262" name="Shape 260"/>
          <p:cNvSpPr/>
          <p:nvPr/>
        </p:nvSpPr>
        <p:spPr>
          <a:xfrm>
            <a:off x="9999902" y="4114331"/>
            <a:ext cx="442312" cy="1290"/>
          </a:xfrm>
          <a:prstGeom prst="rect">
            <a:avLst/>
          </a:prstGeom>
          <a:solidFill>
            <a:srgbClr val="BBBBBB"/>
          </a:solidFill>
          <a:ln/>
        </p:spPr>
      </p:sp>
      <p:sp>
        <p:nvSpPr>
          <p:cNvPr id="263" name="Shape 261"/>
          <p:cNvSpPr/>
          <p:nvPr/>
        </p:nvSpPr>
        <p:spPr>
          <a:xfrm>
            <a:off x="9999902" y="4134964"/>
            <a:ext cx="103163" cy="103163"/>
          </a:xfrm>
          <a:prstGeom prst="rect">
            <a:avLst/>
          </a:prstGeom>
          <a:solidFill>
            <a:srgbClr val="FFFFFF"/>
          </a:solidFill>
          <a:ln w="6350">
            <a:solidFill>
              <a:srgbClr val="999999"/>
            </a:solidFill>
            <a:prstDash val="solid"/>
          </a:ln>
        </p:spPr>
      </p:sp>
      <p:sp>
        <p:nvSpPr>
          <p:cNvPr id="264" name="Shape 262"/>
          <p:cNvSpPr/>
          <p:nvPr/>
        </p:nvSpPr>
        <p:spPr>
          <a:xfrm>
            <a:off x="9999902" y="4134964"/>
            <a:ext cx="103163" cy="103163"/>
          </a:xfrm>
          <a:prstGeom prst="line">
            <a:avLst/>
          </a:prstGeom>
          <a:noFill/>
          <a:ln w="6350">
            <a:solidFill>
              <a:srgbClr val="999999"/>
            </a:solidFill>
            <a:prstDash val="solid"/>
          </a:ln>
        </p:spPr>
      </p:sp>
      <p:sp>
        <p:nvSpPr>
          <p:cNvPr id="265" name="Shape 263"/>
          <p:cNvSpPr/>
          <p:nvPr/>
        </p:nvSpPr>
        <p:spPr>
          <a:xfrm flipV="1">
            <a:off x="9999902" y="4134964"/>
            <a:ext cx="103163" cy="103163"/>
          </a:xfrm>
          <a:prstGeom prst="line">
            <a:avLst/>
          </a:prstGeom>
          <a:noFill/>
          <a:ln w="6350">
            <a:solidFill>
              <a:srgbClr val="999999"/>
            </a:solidFill>
            <a:prstDash val="solid"/>
          </a:ln>
        </p:spPr>
      </p:sp>
      <p:sp>
        <p:nvSpPr>
          <p:cNvPr id="266" name="Text 264"/>
          <p:cNvSpPr txBox="1"/>
          <p:nvPr/>
        </p:nvSpPr>
        <p:spPr>
          <a:xfrm>
            <a:off x="10118539" y="4134964"/>
            <a:ext cx="245012" cy="28370"/>
          </a:xfrm>
          <a:prstGeom prst="rect">
            <a:avLst/>
          </a:prstGeom>
          <a:noFill/>
          <a:ln/>
        </p:spPr>
        <p:txBody>
          <a:bodyPr wrap="square" lIns="12700" tIns="12700" rIns="12700" bIns="12700" rtlCol="0" anchor="ctr"/>
          <a:lstStyle/>
          <a:p>
            <a:pPr algn="l" indent="0" marL="0">
              <a:lnSpc>
                <a:spcPct val="95000"/>
              </a:lnSpc>
              <a:buNone/>
            </a:pPr>
            <a:r>
              <a:rPr lang="en-US" sz="150" b="1" dirty="0">
                <a:solidFill>
                  <a:srgbClr val="333333"/>
                </a:solidFill>
                <a:latin typeface="Arial" pitchFamily="34" charset="0"/>
                <a:ea typeface="Arial" pitchFamily="34" charset="-122"/>
                <a:cs typeface="Arial" pitchFamily="34" charset="-120"/>
              </a:rPr>
              <a:t>Lobster Roll</a:t>
            </a:r>
            <a:endParaRPr lang="en-US" sz="150" dirty="0"/>
          </a:p>
        </p:txBody>
      </p:sp>
      <p:sp>
        <p:nvSpPr>
          <p:cNvPr id="267" name="Shape 265"/>
          <p:cNvSpPr/>
          <p:nvPr/>
        </p:nvSpPr>
        <p:spPr>
          <a:xfrm>
            <a:off x="10118539" y="4173650"/>
            <a:ext cx="232117" cy="10316"/>
          </a:xfrm>
          <a:prstGeom prst="rect">
            <a:avLst/>
          </a:prstGeom>
          <a:solidFill>
            <a:srgbClr val="DDDDDD"/>
          </a:solidFill>
          <a:ln/>
        </p:spPr>
      </p:sp>
      <p:sp>
        <p:nvSpPr>
          <p:cNvPr id="268" name="Text 266"/>
          <p:cNvSpPr txBox="1"/>
          <p:nvPr/>
        </p:nvSpPr>
        <p:spPr>
          <a:xfrm>
            <a:off x="10118539" y="4196862"/>
            <a:ext cx="128954" cy="33528"/>
          </a:xfrm>
          <a:prstGeom prst="rect">
            <a:avLst/>
          </a:prstGeom>
          <a:noFill/>
          <a:ln/>
        </p:spPr>
        <p:txBody>
          <a:bodyPr wrap="square" lIns="12700" tIns="12700" rIns="12700" bIns="12700" rtlCol="0" anchor="ctr"/>
          <a:lstStyle/>
          <a:p>
            <a:pPr algn="l" indent="0" marL="0">
              <a:lnSpc>
                <a:spcPct val="95000"/>
              </a:lnSpc>
              <a:buNone/>
            </a:pPr>
            <a:r>
              <a:rPr lang="en-US" sz="150" b="1" dirty="0">
                <a:solidFill>
                  <a:srgbClr val="333333"/>
                </a:solidFill>
                <a:latin typeface="Arial" pitchFamily="34" charset="0"/>
                <a:ea typeface="Arial" pitchFamily="34" charset="-122"/>
                <a:cs typeface="Arial" pitchFamily="34" charset="-120"/>
              </a:rPr>
              <a:t>$22.99</a:t>
            </a:r>
            <a:endParaRPr lang="en-US" sz="150" dirty="0"/>
          </a:p>
        </p:txBody>
      </p:sp>
      <p:sp>
        <p:nvSpPr>
          <p:cNvPr id="269" name="Shape 267"/>
          <p:cNvSpPr/>
          <p:nvPr/>
        </p:nvSpPr>
        <p:spPr>
          <a:xfrm>
            <a:off x="10380316" y="4189124"/>
            <a:ext cx="61898" cy="51582"/>
          </a:xfrm>
          <a:prstGeom prst="roundRect">
            <a:avLst>
              <a:gd name="adj" fmla="val 15000"/>
            </a:avLst>
          </a:prstGeom>
          <a:solidFill>
            <a:srgbClr val="555555"/>
          </a:solidFill>
          <a:ln w="6350">
            <a:solidFill>
              <a:srgbClr val="555555"/>
            </a:solidFill>
            <a:prstDash val="solid"/>
          </a:ln>
        </p:spPr>
      </p:sp>
      <p:sp>
        <p:nvSpPr>
          <p:cNvPr id="270" name="Text 268"/>
          <p:cNvSpPr txBox="1"/>
          <p:nvPr/>
        </p:nvSpPr>
        <p:spPr>
          <a:xfrm>
            <a:off x="10380316" y="4189124"/>
            <a:ext cx="61898" cy="51582"/>
          </a:xfrm>
          <a:prstGeom prst="rect">
            <a:avLst/>
          </a:prstGeom>
          <a:noFill/>
          <a:ln/>
        </p:spPr>
        <p:txBody>
          <a:bodyPr wrap="square" lIns="12700" tIns="12700" rIns="12700" bIns="12700" rtlCol="0" anchor="ctr"/>
          <a:lstStyle/>
          <a:p>
            <a:pPr algn="ctr" indent="0" marL="0">
              <a:lnSpc>
                <a:spcPct val="95000"/>
              </a:lnSpc>
              <a:buNone/>
            </a:pPr>
            <a:r>
              <a:rPr lang="en-US" sz="200" b="1" dirty="0">
                <a:solidFill>
                  <a:srgbClr val="FFFFFF"/>
                </a:solidFill>
                <a:latin typeface="Arial" pitchFamily="34" charset="0"/>
                <a:ea typeface="Arial" pitchFamily="34" charset="-122"/>
                <a:cs typeface="Arial" pitchFamily="34" charset="-120"/>
              </a:rPr>
              <a:t>+</a:t>
            </a:r>
            <a:endParaRPr lang="en-US" sz="200" dirty="0"/>
          </a:p>
        </p:txBody>
      </p:sp>
      <p:sp>
        <p:nvSpPr>
          <p:cNvPr id="271" name="Shape 269"/>
          <p:cNvSpPr/>
          <p:nvPr/>
        </p:nvSpPr>
        <p:spPr>
          <a:xfrm>
            <a:off x="9999902" y="4253601"/>
            <a:ext cx="442312" cy="1290"/>
          </a:xfrm>
          <a:prstGeom prst="rect">
            <a:avLst/>
          </a:prstGeom>
          <a:solidFill>
            <a:srgbClr val="BBBBBB"/>
          </a:solidFill>
          <a:ln/>
        </p:spPr>
      </p:sp>
      <p:sp>
        <p:nvSpPr>
          <p:cNvPr id="272" name="Shape 270"/>
          <p:cNvSpPr/>
          <p:nvPr/>
        </p:nvSpPr>
        <p:spPr>
          <a:xfrm>
            <a:off x="9984427" y="3100754"/>
            <a:ext cx="473261" cy="1165743"/>
          </a:xfrm>
          <a:prstGeom prst="rect">
            <a:avLst/>
          </a:prstGeom>
          <a:ln w="6350">
            <a:solidFill>
              <a:srgbClr val="1E88E5"/>
            </a:solidFill>
            <a:prstDash val="dash"/>
          </a:ln>
        </p:spPr>
      </p:sp>
      <p:sp>
        <p:nvSpPr>
          <p:cNvPr id="273" name="Shape 271"/>
          <p:cNvSpPr/>
          <p:nvPr/>
        </p:nvSpPr>
        <p:spPr>
          <a:xfrm>
            <a:off x="9984427" y="3074963"/>
            <a:ext cx="79951" cy="25791"/>
          </a:xfrm>
          <a:prstGeom prst="rect">
            <a:avLst/>
          </a:prstGeom>
          <a:solidFill>
            <a:srgbClr val="1E88E5"/>
          </a:solidFill>
          <a:ln/>
        </p:spPr>
      </p:sp>
      <p:sp>
        <p:nvSpPr>
          <p:cNvPr id="274" name="Text 272"/>
          <p:cNvSpPr txBox="1"/>
          <p:nvPr/>
        </p:nvSpPr>
        <p:spPr>
          <a:xfrm>
            <a:off x="9984427" y="3074963"/>
            <a:ext cx="79951" cy="25791"/>
          </a:xfrm>
          <a:prstGeom prst="rect">
            <a:avLst/>
          </a:prstGeom>
          <a:noFill/>
          <a:ln/>
        </p:spPr>
        <p:txBody>
          <a:bodyPr wrap="square" lIns="12700" tIns="12700" rIns="12700" bIns="12700" rtlCol="0" anchor="ctr"/>
          <a:lstStyle/>
          <a:p>
            <a:pPr algn="ctr" indent="0" marL="0">
              <a:lnSpc>
                <a:spcPct val="95000"/>
              </a:lnSpc>
              <a:buNone/>
            </a:pPr>
            <a:r>
              <a:rPr lang="en-US" sz="100" b="1" dirty="0">
                <a:solidFill>
                  <a:srgbClr val="FFFFFF"/>
                </a:solidFill>
                <a:latin typeface="Courier New" pitchFamily="34" charset="0"/>
                <a:ea typeface="Courier New" pitchFamily="34" charset="-122"/>
                <a:cs typeface="Courier New" pitchFamily="34" charset="-120"/>
              </a:rPr>
              <a:t>&lt;main&gt;</a:t>
            </a:r>
            <a:endParaRPr lang="en-US" sz="100" dirty="0"/>
          </a:p>
        </p:txBody>
      </p:sp>
      <p:sp>
        <p:nvSpPr>
          <p:cNvPr id="275" name="Shape 273"/>
          <p:cNvSpPr/>
          <p:nvPr/>
        </p:nvSpPr>
        <p:spPr>
          <a:xfrm>
            <a:off x="9953478" y="4031801"/>
            <a:ext cx="535158" cy="1290"/>
          </a:xfrm>
          <a:prstGeom prst="rect">
            <a:avLst/>
          </a:prstGeom>
          <a:ln w="6350">
            <a:solidFill>
              <a:srgbClr val="E53935"/>
            </a:solidFill>
            <a:prstDash val="dash"/>
          </a:ln>
        </p:spPr>
      </p:sp>
      <p:sp>
        <p:nvSpPr>
          <p:cNvPr id="276" name="Text 274"/>
          <p:cNvSpPr txBox="1"/>
          <p:nvPr/>
        </p:nvSpPr>
        <p:spPr>
          <a:xfrm>
            <a:off x="9953478" y="4036959"/>
            <a:ext cx="257908" cy="23212"/>
          </a:xfrm>
          <a:prstGeom prst="rect">
            <a:avLst/>
          </a:prstGeom>
          <a:noFill/>
          <a:ln/>
        </p:spPr>
        <p:txBody>
          <a:bodyPr wrap="square" lIns="12700" tIns="12700" rIns="12700" bIns="12700" rtlCol="0" anchor="ctr"/>
          <a:lstStyle/>
          <a:p>
            <a:pPr algn="l" indent="0" marL="0">
              <a:lnSpc>
                <a:spcPct val="95000"/>
              </a:lnSpc>
              <a:buNone/>
            </a:pPr>
            <a:r>
              <a:rPr lang="en-US" sz="100" dirty="0">
                <a:solidFill>
                  <a:srgbClr val="E53935"/>
                </a:solidFill>
                <a:latin typeface="Arial" pitchFamily="34" charset="0"/>
                <a:ea typeface="Arial" pitchFamily="34" charset="-122"/>
                <a:cs typeface="Arial" pitchFamily="34" charset="-120"/>
              </a:rPr>
              <a:t>bottom of the first screen (812px)</a:t>
            </a:r>
            <a:endParaRPr lang="en-US" sz="100" dirty="0"/>
          </a:p>
        </p:txBody>
      </p:sp>
      <p:sp>
        <p:nvSpPr>
          <p:cNvPr id="277" name="Shape 275"/>
          <p:cNvSpPr/>
          <p:nvPr/>
        </p:nvSpPr>
        <p:spPr>
          <a:xfrm>
            <a:off x="9994744" y="3938954"/>
            <a:ext cx="452628" cy="77372"/>
          </a:xfrm>
          <a:prstGeom prst="roundRect">
            <a:avLst>
              <a:gd name="adj" fmla="val 20000"/>
            </a:avLst>
          </a:prstGeom>
          <a:solidFill>
            <a:srgbClr val="333333"/>
          </a:solidFill>
          <a:ln/>
        </p:spPr>
      </p:sp>
      <p:sp>
        <p:nvSpPr>
          <p:cNvPr id="278" name="Text 276"/>
          <p:cNvSpPr txBox="1"/>
          <p:nvPr/>
        </p:nvSpPr>
        <p:spPr>
          <a:xfrm>
            <a:off x="9994744" y="3938954"/>
            <a:ext cx="452628" cy="77372"/>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FFFFFF"/>
                </a:solidFill>
                <a:latin typeface="Arial" pitchFamily="34" charset="0"/>
                <a:ea typeface="Arial" pitchFamily="34" charset="-122"/>
                <a:cs typeface="Arial" pitchFamily="34" charset="-120"/>
              </a:rPr>
              <a:t>View order (3) · $33.03   →</a:t>
            </a:r>
            <a:endParaRPr lang="en-US" sz="150" dirty="0"/>
          </a:p>
        </p:txBody>
      </p:sp>
      <p:sp>
        <p:nvSpPr>
          <p:cNvPr id="279" name="Shape 277"/>
          <p:cNvSpPr/>
          <p:nvPr/>
        </p:nvSpPr>
        <p:spPr>
          <a:xfrm>
            <a:off x="9979269" y="4274234"/>
            <a:ext cx="483577" cy="1290"/>
          </a:xfrm>
          <a:prstGeom prst="rect">
            <a:avLst/>
          </a:prstGeom>
          <a:solidFill>
            <a:srgbClr val="BBBBBB"/>
          </a:solidFill>
          <a:ln/>
        </p:spPr>
      </p:sp>
      <p:sp>
        <p:nvSpPr>
          <p:cNvPr id="280" name="Text 278"/>
          <p:cNvSpPr txBox="1"/>
          <p:nvPr/>
        </p:nvSpPr>
        <p:spPr>
          <a:xfrm>
            <a:off x="9999902" y="4289708"/>
            <a:ext cx="442312" cy="77372"/>
          </a:xfrm>
          <a:prstGeom prst="rect">
            <a:avLst/>
          </a:prstGeom>
          <a:noFill/>
          <a:ln/>
        </p:spPr>
        <p:txBody>
          <a:bodyPr wrap="square" lIns="12700" tIns="12700" rIns="12700" bIns="12700" rtlCol="0" anchor="ctr"/>
          <a:lstStyle/>
          <a:p>
            <a:pPr algn="l" indent="0" marL="0">
              <a:lnSpc>
                <a:spcPct val="95000"/>
              </a:lnSpc>
              <a:buNone/>
            </a:pPr>
            <a:r>
              <a:rPr lang="en-US" sz="150" dirty="0">
                <a:solidFill>
                  <a:srgbClr val="333333"/>
                </a:solidFill>
                <a:latin typeface="Arial" pitchFamily="34" charset="0"/>
                <a:ea typeface="Arial" pitchFamily="34" charset="-122"/>
                <a:cs typeface="Arial" pitchFamily="34" charset="-120"/>
              </a:rPr>
              <a:t>Harbourside Fish &amp; Chips</a:t>
            </a:r>
            <a:endParaRPr lang="en-US" sz="150" dirty="0"/>
          </a:p>
          <a:p>
            <a:pPr algn="l" indent="0" marL="0">
              <a:lnSpc>
                <a:spcPct val="95000"/>
              </a:lnSpc>
              <a:buNone/>
            </a:pPr>
            <a:r>
              <a:rPr lang="en-US" sz="150" dirty="0">
                <a:solidFill>
                  <a:srgbClr val="333333"/>
                </a:solidFill>
                <a:latin typeface="Arial" pitchFamily="34" charset="0"/>
                <a:ea typeface="Arial" pitchFamily="34" charset="-122"/>
                <a:cs typeface="Arial" pitchFamily="34" charset="-120"/>
              </a:rPr>
              <a:t>12 Water St, Yarmouth NS · (902) 555-0142</a:t>
            </a:r>
            <a:endParaRPr lang="en-US" sz="150" dirty="0"/>
          </a:p>
        </p:txBody>
      </p:sp>
      <p:sp>
        <p:nvSpPr>
          <p:cNvPr id="281" name="Text 279"/>
          <p:cNvSpPr txBox="1"/>
          <p:nvPr/>
        </p:nvSpPr>
        <p:spPr>
          <a:xfrm>
            <a:off x="9999902" y="4367081"/>
            <a:ext cx="442312" cy="51582"/>
          </a:xfrm>
          <a:prstGeom prst="rect">
            <a:avLst/>
          </a:prstGeom>
          <a:noFill/>
          <a:ln/>
        </p:spPr>
        <p:txBody>
          <a:bodyPr wrap="square" lIns="12700" tIns="12700" rIns="12700" bIns="12700" rtlCol="0" anchor="ctr"/>
          <a:lstStyle/>
          <a:p>
            <a:pPr algn="l" indent="0" marL="0">
              <a:lnSpc>
                <a:spcPct val="95000"/>
              </a:lnSpc>
              <a:buNone/>
            </a:pPr>
            <a:r>
              <a:rPr lang="en-US" sz="150" dirty="0">
                <a:solidFill>
                  <a:srgbClr val="333333"/>
                </a:solidFill>
                <a:latin typeface="Arial" pitchFamily="34" charset="0"/>
                <a:ea typeface="Arial" pitchFamily="34" charset="-122"/>
                <a:cs typeface="Arial" pitchFamily="34" charset="-120"/>
              </a:rPr>
              <a:t>Tue–Sun 11 am – 8 pm · Closed Mondays</a:t>
            </a:r>
            <a:endParaRPr lang="en-US" sz="150" dirty="0"/>
          </a:p>
        </p:txBody>
      </p:sp>
      <p:sp>
        <p:nvSpPr>
          <p:cNvPr id="282" name="Text 280"/>
          <p:cNvSpPr txBox="1"/>
          <p:nvPr/>
        </p:nvSpPr>
        <p:spPr>
          <a:xfrm>
            <a:off x="9999902" y="4418662"/>
            <a:ext cx="442312" cy="30949"/>
          </a:xfrm>
          <a:prstGeom prst="rect">
            <a:avLst/>
          </a:prstGeom>
          <a:noFill/>
          <a:ln/>
        </p:spPr>
        <p:txBody>
          <a:bodyPr wrap="square" lIns="12700" tIns="12700" rIns="12700" bIns="12700" rtlCol="0" anchor="ctr"/>
          <a:lstStyle/>
          <a:p>
            <a:pPr algn="l" indent="0" marL="0">
              <a:lnSpc>
                <a:spcPct val="95000"/>
              </a:lnSpc>
              <a:buNone/>
            </a:pPr>
            <a:r>
              <a:rPr lang="en-US" sz="100" dirty="0">
                <a:solidFill>
                  <a:srgbClr val="777777"/>
                </a:solidFill>
                <a:latin typeface="Arial" pitchFamily="34" charset="0"/>
                <a:ea typeface="Arial" pitchFamily="34" charset="-122"/>
                <a:cs typeface="Arial" pitchFamily="34" charset="-120"/>
              </a:rPr>
              <a:t>© 2026 Harbourside Fish &amp; Chips</a:t>
            </a:r>
            <a:endParaRPr lang="en-US" sz="100" dirty="0"/>
          </a:p>
        </p:txBody>
      </p:sp>
      <p:sp>
        <p:nvSpPr>
          <p:cNvPr id="283" name="Shape 281"/>
          <p:cNvSpPr/>
          <p:nvPr/>
        </p:nvSpPr>
        <p:spPr>
          <a:xfrm>
            <a:off x="9984427" y="4281971"/>
            <a:ext cx="473261" cy="175377"/>
          </a:xfrm>
          <a:prstGeom prst="rect">
            <a:avLst/>
          </a:prstGeom>
          <a:ln w="6350">
            <a:solidFill>
              <a:srgbClr val="1E88E5"/>
            </a:solidFill>
            <a:prstDash val="dash"/>
          </a:ln>
        </p:spPr>
      </p:sp>
      <p:sp>
        <p:nvSpPr>
          <p:cNvPr id="284" name="Shape 282"/>
          <p:cNvSpPr/>
          <p:nvPr/>
        </p:nvSpPr>
        <p:spPr>
          <a:xfrm>
            <a:off x="9984427" y="4256180"/>
            <a:ext cx="100584" cy="25791"/>
          </a:xfrm>
          <a:prstGeom prst="rect">
            <a:avLst/>
          </a:prstGeom>
          <a:solidFill>
            <a:srgbClr val="1E88E5"/>
          </a:solidFill>
          <a:ln/>
        </p:spPr>
      </p:sp>
      <p:sp>
        <p:nvSpPr>
          <p:cNvPr id="285" name="Text 283"/>
          <p:cNvSpPr txBox="1"/>
          <p:nvPr/>
        </p:nvSpPr>
        <p:spPr>
          <a:xfrm>
            <a:off x="9984427" y="4256180"/>
            <a:ext cx="100584" cy="25791"/>
          </a:xfrm>
          <a:prstGeom prst="rect">
            <a:avLst/>
          </a:prstGeom>
          <a:noFill/>
          <a:ln/>
        </p:spPr>
        <p:txBody>
          <a:bodyPr wrap="square" lIns="12700" tIns="12700" rIns="12700" bIns="12700" rtlCol="0" anchor="ctr"/>
          <a:lstStyle/>
          <a:p>
            <a:pPr algn="ctr" indent="0" marL="0">
              <a:lnSpc>
                <a:spcPct val="95000"/>
              </a:lnSpc>
              <a:buNone/>
            </a:pPr>
            <a:r>
              <a:rPr lang="en-US" sz="100" b="1" dirty="0">
                <a:solidFill>
                  <a:srgbClr val="FFFFFF"/>
                </a:solidFill>
                <a:latin typeface="Courier New" pitchFamily="34" charset="0"/>
                <a:ea typeface="Courier New" pitchFamily="34" charset="-122"/>
                <a:cs typeface="Courier New" pitchFamily="34" charset="-120"/>
              </a:rPr>
              <a:t>&lt;footer&gt;</a:t>
            </a:r>
            <a:endParaRPr lang="en-US" sz="100" dirty="0"/>
          </a:p>
        </p:txBody>
      </p:sp>
      <p:sp>
        <p:nvSpPr>
          <p:cNvPr id="286" name="Shape 284"/>
          <p:cNvSpPr/>
          <p:nvPr/>
        </p:nvSpPr>
        <p:spPr>
          <a:xfrm>
            <a:off x="10907737" y="2984695"/>
            <a:ext cx="483577" cy="1047105"/>
          </a:xfrm>
          <a:prstGeom prst="roundRect">
            <a:avLst>
              <a:gd name="adj" fmla="val 4000"/>
            </a:avLst>
          </a:prstGeom>
          <a:solidFill>
            <a:srgbClr val="FFFFFF"/>
          </a:solidFill>
          <a:ln w="6350">
            <a:solidFill>
              <a:srgbClr val="333333"/>
            </a:solidFill>
            <a:prstDash val="solid"/>
          </a:ln>
        </p:spPr>
      </p:sp>
      <p:sp>
        <p:nvSpPr>
          <p:cNvPr id="287" name="Shape 285"/>
          <p:cNvSpPr/>
          <p:nvPr/>
        </p:nvSpPr>
        <p:spPr>
          <a:xfrm>
            <a:off x="10911606" y="2988564"/>
            <a:ext cx="475840" cy="27080"/>
          </a:xfrm>
          <a:prstGeom prst="rect">
            <a:avLst/>
          </a:prstGeom>
          <a:solidFill>
            <a:srgbClr val="EEEEEE"/>
          </a:solidFill>
          <a:ln/>
        </p:spPr>
      </p:sp>
      <p:sp>
        <p:nvSpPr>
          <p:cNvPr id="288" name="Text 286"/>
          <p:cNvSpPr txBox="1"/>
          <p:nvPr/>
        </p:nvSpPr>
        <p:spPr>
          <a:xfrm>
            <a:off x="11114063" y="2984695"/>
            <a:ext cx="70925" cy="30949"/>
          </a:xfrm>
          <a:prstGeom prst="rect">
            <a:avLst/>
          </a:prstGeom>
          <a:noFill/>
          <a:ln/>
        </p:spPr>
        <p:txBody>
          <a:bodyPr wrap="square" lIns="12700" tIns="12700" rIns="12700" bIns="12700" rtlCol="0" anchor="ctr"/>
          <a:lstStyle/>
          <a:p>
            <a:pPr algn="ctr" indent="0" marL="0">
              <a:lnSpc>
                <a:spcPct val="95000"/>
              </a:lnSpc>
              <a:buNone/>
            </a:pPr>
            <a:r>
              <a:rPr lang="en-US" sz="100" b="1" dirty="0">
                <a:solidFill>
                  <a:srgbClr val="333333"/>
                </a:solidFill>
                <a:latin typeface="Arial" pitchFamily="34" charset="0"/>
                <a:ea typeface="Arial" pitchFamily="34" charset="-122"/>
                <a:cs typeface="Arial" pitchFamily="34" charset="-120"/>
              </a:rPr>
              <a:t>9:41</a:t>
            </a:r>
            <a:endParaRPr lang="en-US" sz="100" dirty="0"/>
          </a:p>
        </p:txBody>
      </p:sp>
      <p:sp>
        <p:nvSpPr>
          <p:cNvPr id="289" name="Shape 287"/>
          <p:cNvSpPr/>
          <p:nvPr/>
        </p:nvSpPr>
        <p:spPr>
          <a:xfrm>
            <a:off x="10928370" y="3028540"/>
            <a:ext cx="108321" cy="46423"/>
          </a:xfrm>
          <a:prstGeom prst="roundRect">
            <a:avLst>
              <a:gd name="adj" fmla="val 15000"/>
            </a:avLst>
          </a:prstGeom>
          <a:solidFill>
            <a:srgbClr val="FFFFFF"/>
          </a:solidFill>
          <a:ln w="6350">
            <a:solidFill>
              <a:srgbClr val="555555"/>
            </a:solidFill>
            <a:prstDash val="solid"/>
          </a:ln>
        </p:spPr>
      </p:sp>
      <p:sp>
        <p:nvSpPr>
          <p:cNvPr id="290" name="Text 288"/>
          <p:cNvSpPr txBox="1"/>
          <p:nvPr/>
        </p:nvSpPr>
        <p:spPr>
          <a:xfrm>
            <a:off x="10928370" y="3028540"/>
            <a:ext cx="108321" cy="46423"/>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333333"/>
                </a:solidFill>
                <a:latin typeface="Arial" pitchFamily="34" charset="0"/>
                <a:ea typeface="Arial" pitchFamily="34" charset="-122"/>
                <a:cs typeface="Arial" pitchFamily="34" charset="-120"/>
              </a:rPr>
              <a:t>← Menu</a:t>
            </a:r>
            <a:endParaRPr lang="en-US" sz="150" dirty="0"/>
          </a:p>
        </p:txBody>
      </p:sp>
      <p:sp>
        <p:nvSpPr>
          <p:cNvPr id="291" name="Text 289"/>
          <p:cNvSpPr txBox="1"/>
          <p:nvPr/>
        </p:nvSpPr>
        <p:spPr>
          <a:xfrm>
            <a:off x="11049586" y="3031119"/>
            <a:ext cx="199878" cy="41265"/>
          </a:xfrm>
          <a:prstGeom prst="rect">
            <a:avLst/>
          </a:prstGeom>
          <a:noFill/>
          <a:ln/>
        </p:spPr>
        <p:txBody>
          <a:bodyPr wrap="square" lIns="12700" tIns="12700" rIns="12700" bIns="12700" rtlCol="0" anchor="ctr"/>
          <a:lstStyle/>
          <a:p>
            <a:pPr algn="ctr" indent="0" marL="0">
              <a:lnSpc>
                <a:spcPct val="95000"/>
              </a:lnSpc>
              <a:buNone/>
            </a:pPr>
            <a:r>
              <a:rPr lang="en-US" sz="200" b="1" dirty="0">
                <a:solidFill>
                  <a:srgbClr val="333333"/>
                </a:solidFill>
                <a:latin typeface="Arial" pitchFamily="34" charset="0"/>
                <a:ea typeface="Arial" pitchFamily="34" charset="-122"/>
                <a:cs typeface="Arial" pitchFamily="34" charset="-120"/>
              </a:rPr>
              <a:t>Your Order</a:t>
            </a:r>
            <a:endParaRPr lang="en-US" sz="200" dirty="0"/>
          </a:p>
        </p:txBody>
      </p:sp>
      <p:sp>
        <p:nvSpPr>
          <p:cNvPr id="292" name="Shape 290"/>
          <p:cNvSpPr/>
          <p:nvPr/>
        </p:nvSpPr>
        <p:spPr>
          <a:xfrm>
            <a:off x="10907737" y="3093017"/>
            <a:ext cx="483577" cy="1290"/>
          </a:xfrm>
          <a:prstGeom prst="rect">
            <a:avLst/>
          </a:prstGeom>
          <a:solidFill>
            <a:srgbClr val="BBBBBB"/>
          </a:solidFill>
          <a:ln/>
        </p:spPr>
      </p:sp>
      <p:sp>
        <p:nvSpPr>
          <p:cNvPr id="293" name="Shape 291"/>
          <p:cNvSpPr/>
          <p:nvPr/>
        </p:nvSpPr>
        <p:spPr>
          <a:xfrm>
            <a:off x="10912895" y="3020802"/>
            <a:ext cx="473261" cy="67056"/>
          </a:xfrm>
          <a:prstGeom prst="rect">
            <a:avLst/>
          </a:prstGeom>
          <a:ln w="6350">
            <a:solidFill>
              <a:srgbClr val="1E88E5"/>
            </a:solidFill>
            <a:prstDash val="dash"/>
          </a:ln>
        </p:spPr>
      </p:sp>
      <p:sp>
        <p:nvSpPr>
          <p:cNvPr id="294" name="Shape 292"/>
          <p:cNvSpPr/>
          <p:nvPr/>
        </p:nvSpPr>
        <p:spPr>
          <a:xfrm>
            <a:off x="10912895" y="2995012"/>
            <a:ext cx="100584" cy="25791"/>
          </a:xfrm>
          <a:prstGeom prst="rect">
            <a:avLst/>
          </a:prstGeom>
          <a:solidFill>
            <a:srgbClr val="1E88E5"/>
          </a:solidFill>
          <a:ln/>
        </p:spPr>
      </p:sp>
      <p:sp>
        <p:nvSpPr>
          <p:cNvPr id="295" name="Text 293"/>
          <p:cNvSpPr txBox="1"/>
          <p:nvPr/>
        </p:nvSpPr>
        <p:spPr>
          <a:xfrm>
            <a:off x="10912895" y="2995012"/>
            <a:ext cx="100584" cy="25791"/>
          </a:xfrm>
          <a:prstGeom prst="rect">
            <a:avLst/>
          </a:prstGeom>
          <a:noFill/>
          <a:ln/>
        </p:spPr>
        <p:txBody>
          <a:bodyPr wrap="square" lIns="12700" tIns="12700" rIns="12700" bIns="12700" rtlCol="0" anchor="ctr"/>
          <a:lstStyle/>
          <a:p>
            <a:pPr algn="ctr" indent="0" marL="0">
              <a:lnSpc>
                <a:spcPct val="95000"/>
              </a:lnSpc>
              <a:buNone/>
            </a:pPr>
            <a:r>
              <a:rPr lang="en-US" sz="100" b="1" dirty="0">
                <a:solidFill>
                  <a:srgbClr val="FFFFFF"/>
                </a:solidFill>
                <a:latin typeface="Courier New" pitchFamily="34" charset="0"/>
                <a:ea typeface="Courier New" pitchFamily="34" charset="-122"/>
                <a:cs typeface="Courier New" pitchFamily="34" charset="-120"/>
              </a:rPr>
              <a:t>&lt;header&gt;</a:t>
            </a:r>
            <a:endParaRPr lang="en-US" sz="100" dirty="0"/>
          </a:p>
        </p:txBody>
      </p:sp>
      <p:sp>
        <p:nvSpPr>
          <p:cNvPr id="296" name="Shape 294"/>
          <p:cNvSpPr/>
          <p:nvPr/>
        </p:nvSpPr>
        <p:spPr>
          <a:xfrm>
            <a:off x="10928370" y="3108491"/>
            <a:ext cx="442312" cy="72214"/>
          </a:xfrm>
          <a:prstGeom prst="rect">
            <a:avLst/>
          </a:prstGeom>
          <a:solidFill>
            <a:srgbClr val="F5F5F5"/>
          </a:solidFill>
          <a:ln w="6350">
            <a:solidFill>
              <a:srgbClr val="BBBBBB"/>
            </a:solidFill>
            <a:prstDash val="solid"/>
          </a:ln>
        </p:spPr>
      </p:sp>
      <p:sp>
        <p:nvSpPr>
          <p:cNvPr id="297" name="Text 295"/>
          <p:cNvSpPr txBox="1"/>
          <p:nvPr/>
        </p:nvSpPr>
        <p:spPr>
          <a:xfrm>
            <a:off x="10943844" y="3123966"/>
            <a:ext cx="322385" cy="41265"/>
          </a:xfrm>
          <a:prstGeom prst="rect">
            <a:avLst/>
          </a:prstGeom>
          <a:noFill/>
          <a:ln/>
        </p:spPr>
        <p:txBody>
          <a:bodyPr wrap="square" lIns="12700" tIns="12700" rIns="12700" bIns="12700" rtlCol="0" anchor="ctr"/>
          <a:lstStyle/>
          <a:p>
            <a:pPr algn="l" indent="0" marL="0">
              <a:lnSpc>
                <a:spcPct val="95000"/>
              </a:lnSpc>
              <a:buNone/>
            </a:pPr>
            <a:r>
              <a:rPr lang="en-US" sz="150" dirty="0">
                <a:solidFill>
                  <a:srgbClr val="333333"/>
                </a:solidFill>
                <a:latin typeface="Arial" pitchFamily="34" charset="0"/>
                <a:ea typeface="Arial" pitchFamily="34" charset="-122"/>
                <a:cs typeface="Arial" pitchFamily="34" charset="-120"/>
              </a:rPr>
              <a:t>Pickup · ASAP (about 20 min)</a:t>
            </a:r>
            <a:endParaRPr lang="en-US" sz="150" dirty="0"/>
          </a:p>
        </p:txBody>
      </p:sp>
      <p:sp>
        <p:nvSpPr>
          <p:cNvPr id="298" name="Text 296"/>
          <p:cNvSpPr txBox="1"/>
          <p:nvPr/>
        </p:nvSpPr>
        <p:spPr>
          <a:xfrm>
            <a:off x="11281703" y="3123966"/>
            <a:ext cx="77372" cy="41265"/>
          </a:xfrm>
          <a:prstGeom prst="rect">
            <a:avLst/>
          </a:prstGeom>
          <a:noFill/>
          <a:ln/>
        </p:spPr>
        <p:txBody>
          <a:bodyPr wrap="square" lIns="12700" tIns="12700" rIns="12700" bIns="12700" rtlCol="0" anchor="ctr"/>
          <a:lstStyle/>
          <a:p>
            <a:pPr algn="r" indent="0" marL="0">
              <a:lnSpc>
                <a:spcPct val="95000"/>
              </a:lnSpc>
              <a:buNone/>
            </a:pPr>
            <a:r>
              <a:rPr lang="en-US" sz="150" u="sng" dirty="0">
                <a:solidFill>
                  <a:srgbClr val="333333"/>
                </a:solidFill>
                <a:latin typeface="Arial" pitchFamily="34" charset="0"/>
                <a:ea typeface="Arial" pitchFamily="34" charset="-122"/>
                <a:cs typeface="Arial" pitchFamily="34" charset="-120"/>
              </a:rPr>
              <a:t>Change</a:t>
            </a:r>
            <a:endParaRPr lang="en-US" sz="150" dirty="0"/>
          </a:p>
        </p:txBody>
      </p:sp>
      <p:sp>
        <p:nvSpPr>
          <p:cNvPr id="299" name="Text 297"/>
          <p:cNvSpPr txBox="1"/>
          <p:nvPr/>
        </p:nvSpPr>
        <p:spPr>
          <a:xfrm>
            <a:off x="10928370" y="3206496"/>
            <a:ext cx="283698" cy="30949"/>
          </a:xfrm>
          <a:prstGeom prst="rect">
            <a:avLst/>
          </a:prstGeom>
          <a:noFill/>
          <a:ln/>
        </p:spPr>
        <p:txBody>
          <a:bodyPr wrap="square" lIns="12700" tIns="12700" rIns="12700" bIns="12700" rtlCol="0" anchor="ctr"/>
          <a:lstStyle/>
          <a:p>
            <a:pPr algn="l" indent="0" marL="0">
              <a:lnSpc>
                <a:spcPct val="95000"/>
              </a:lnSpc>
              <a:buNone/>
            </a:pPr>
            <a:r>
              <a:rPr lang="en-US" sz="150" b="1" dirty="0">
                <a:solidFill>
                  <a:srgbClr val="333333"/>
                </a:solidFill>
                <a:latin typeface="Arial" pitchFamily="34" charset="0"/>
                <a:ea typeface="Arial" pitchFamily="34" charset="-122"/>
                <a:cs typeface="Arial" pitchFamily="34" charset="-120"/>
              </a:rPr>
              <a:t>Haddock &amp; Chips (2 pc)</a:t>
            </a:r>
            <a:endParaRPr lang="en-US" sz="150" dirty="0"/>
          </a:p>
        </p:txBody>
      </p:sp>
      <p:sp>
        <p:nvSpPr>
          <p:cNvPr id="300" name="Text 298"/>
          <p:cNvSpPr txBox="1"/>
          <p:nvPr/>
        </p:nvSpPr>
        <p:spPr>
          <a:xfrm>
            <a:off x="10928370" y="3240024"/>
            <a:ext cx="128954" cy="28370"/>
          </a:xfrm>
          <a:prstGeom prst="rect">
            <a:avLst/>
          </a:prstGeom>
          <a:noFill/>
          <a:ln/>
        </p:spPr>
        <p:txBody>
          <a:bodyPr wrap="square" lIns="12700" tIns="12700" rIns="12700" bIns="12700" rtlCol="0" anchor="ctr"/>
          <a:lstStyle/>
          <a:p>
            <a:pPr algn="l" indent="0" marL="0">
              <a:lnSpc>
                <a:spcPct val="95000"/>
              </a:lnSpc>
              <a:buNone/>
            </a:pPr>
            <a:r>
              <a:rPr lang="en-US" sz="150" dirty="0">
                <a:solidFill>
                  <a:srgbClr val="777777"/>
                </a:solidFill>
                <a:latin typeface="Arial" pitchFamily="34" charset="0"/>
                <a:ea typeface="Arial" pitchFamily="34" charset="-122"/>
                <a:cs typeface="Arial" pitchFamily="34" charset="-120"/>
              </a:rPr>
              <a:t>$19.99</a:t>
            </a:r>
            <a:endParaRPr lang="en-US" sz="150" dirty="0"/>
          </a:p>
        </p:txBody>
      </p:sp>
      <p:sp>
        <p:nvSpPr>
          <p:cNvPr id="301" name="Shape 299"/>
          <p:cNvSpPr/>
          <p:nvPr/>
        </p:nvSpPr>
        <p:spPr>
          <a:xfrm>
            <a:off x="11226253" y="3211654"/>
            <a:ext cx="51582" cy="56740"/>
          </a:xfrm>
          <a:prstGeom prst="roundRect">
            <a:avLst>
              <a:gd name="adj" fmla="val 15000"/>
            </a:avLst>
          </a:prstGeom>
          <a:solidFill>
            <a:srgbClr val="FFFFFF"/>
          </a:solidFill>
          <a:ln w="6350">
            <a:solidFill>
              <a:srgbClr val="555555"/>
            </a:solidFill>
            <a:prstDash val="solid"/>
          </a:ln>
        </p:spPr>
      </p:sp>
      <p:sp>
        <p:nvSpPr>
          <p:cNvPr id="302" name="Text 300"/>
          <p:cNvSpPr txBox="1"/>
          <p:nvPr/>
        </p:nvSpPr>
        <p:spPr>
          <a:xfrm>
            <a:off x="11226253" y="3211654"/>
            <a:ext cx="51582" cy="56740"/>
          </a:xfrm>
          <a:prstGeom prst="rect">
            <a:avLst/>
          </a:prstGeom>
          <a:noFill/>
          <a:ln/>
        </p:spPr>
        <p:txBody>
          <a:bodyPr wrap="square" lIns="12700" tIns="12700" rIns="12700" bIns="12700" rtlCol="0" anchor="ctr"/>
          <a:lstStyle/>
          <a:p>
            <a:pPr algn="ctr" indent="0" marL="0">
              <a:lnSpc>
                <a:spcPct val="95000"/>
              </a:lnSpc>
              <a:buNone/>
            </a:pPr>
            <a:r>
              <a:rPr lang="en-US" sz="200" b="1" dirty="0">
                <a:solidFill>
                  <a:srgbClr val="333333"/>
                </a:solidFill>
                <a:latin typeface="Arial" pitchFamily="34" charset="0"/>
                <a:ea typeface="Arial" pitchFamily="34" charset="-122"/>
                <a:cs typeface="Arial" pitchFamily="34" charset="-120"/>
              </a:rPr>
              <a:t>−</a:t>
            </a:r>
            <a:endParaRPr lang="en-US" sz="200" dirty="0"/>
          </a:p>
        </p:txBody>
      </p:sp>
      <p:sp>
        <p:nvSpPr>
          <p:cNvPr id="303" name="Text 301"/>
          <p:cNvSpPr txBox="1"/>
          <p:nvPr/>
        </p:nvSpPr>
        <p:spPr>
          <a:xfrm>
            <a:off x="11277834" y="3211654"/>
            <a:ext cx="36107" cy="56740"/>
          </a:xfrm>
          <a:prstGeom prst="rect">
            <a:avLst/>
          </a:prstGeom>
          <a:noFill/>
          <a:ln/>
        </p:spPr>
        <p:txBody>
          <a:bodyPr wrap="square" lIns="12700" tIns="12700" rIns="12700" bIns="12700" rtlCol="0" anchor="ctr"/>
          <a:lstStyle/>
          <a:p>
            <a:pPr algn="ctr" indent="0" marL="0">
              <a:lnSpc>
                <a:spcPct val="95000"/>
              </a:lnSpc>
              <a:buNone/>
            </a:pPr>
            <a:r>
              <a:rPr lang="en-US" sz="150" dirty="0">
                <a:solidFill>
                  <a:srgbClr val="333333"/>
                </a:solidFill>
                <a:latin typeface="Arial" pitchFamily="34" charset="0"/>
                <a:ea typeface="Arial" pitchFamily="34" charset="-122"/>
                <a:cs typeface="Arial" pitchFamily="34" charset="-120"/>
              </a:rPr>
              <a:t>1</a:t>
            </a:r>
            <a:endParaRPr lang="en-US" sz="150" dirty="0"/>
          </a:p>
        </p:txBody>
      </p:sp>
      <p:sp>
        <p:nvSpPr>
          <p:cNvPr id="304" name="Shape 302"/>
          <p:cNvSpPr/>
          <p:nvPr/>
        </p:nvSpPr>
        <p:spPr>
          <a:xfrm>
            <a:off x="11313942" y="3211654"/>
            <a:ext cx="56740" cy="56740"/>
          </a:xfrm>
          <a:prstGeom prst="roundRect">
            <a:avLst>
              <a:gd name="adj" fmla="val 15000"/>
            </a:avLst>
          </a:prstGeom>
          <a:solidFill>
            <a:srgbClr val="FFFFFF"/>
          </a:solidFill>
          <a:ln w="6350">
            <a:solidFill>
              <a:srgbClr val="555555"/>
            </a:solidFill>
            <a:prstDash val="solid"/>
          </a:ln>
        </p:spPr>
      </p:sp>
      <p:sp>
        <p:nvSpPr>
          <p:cNvPr id="305" name="Text 303"/>
          <p:cNvSpPr txBox="1"/>
          <p:nvPr/>
        </p:nvSpPr>
        <p:spPr>
          <a:xfrm>
            <a:off x="11313942" y="3211654"/>
            <a:ext cx="56740" cy="56740"/>
          </a:xfrm>
          <a:prstGeom prst="rect">
            <a:avLst/>
          </a:prstGeom>
          <a:noFill/>
          <a:ln/>
        </p:spPr>
        <p:txBody>
          <a:bodyPr wrap="square" lIns="12700" tIns="12700" rIns="12700" bIns="12700" rtlCol="0" anchor="ctr"/>
          <a:lstStyle/>
          <a:p>
            <a:pPr algn="ctr" indent="0" marL="0">
              <a:lnSpc>
                <a:spcPct val="95000"/>
              </a:lnSpc>
              <a:buNone/>
            </a:pPr>
            <a:r>
              <a:rPr lang="en-US" sz="200" b="1" dirty="0">
                <a:solidFill>
                  <a:srgbClr val="333333"/>
                </a:solidFill>
                <a:latin typeface="Arial" pitchFamily="34" charset="0"/>
                <a:ea typeface="Arial" pitchFamily="34" charset="-122"/>
                <a:cs typeface="Arial" pitchFamily="34" charset="-120"/>
              </a:rPr>
              <a:t>+</a:t>
            </a:r>
            <a:endParaRPr lang="en-US" sz="200" dirty="0"/>
          </a:p>
        </p:txBody>
      </p:sp>
      <p:sp>
        <p:nvSpPr>
          <p:cNvPr id="306" name="Shape 304"/>
          <p:cNvSpPr/>
          <p:nvPr/>
        </p:nvSpPr>
        <p:spPr>
          <a:xfrm>
            <a:off x="10928370" y="3278710"/>
            <a:ext cx="442312" cy="1290"/>
          </a:xfrm>
          <a:prstGeom prst="rect">
            <a:avLst/>
          </a:prstGeom>
          <a:solidFill>
            <a:srgbClr val="BBBBBB"/>
          </a:solidFill>
          <a:ln/>
        </p:spPr>
      </p:sp>
      <p:sp>
        <p:nvSpPr>
          <p:cNvPr id="307" name="Text 305"/>
          <p:cNvSpPr txBox="1"/>
          <p:nvPr/>
        </p:nvSpPr>
        <p:spPr>
          <a:xfrm>
            <a:off x="10928370" y="3289026"/>
            <a:ext cx="283698" cy="30949"/>
          </a:xfrm>
          <a:prstGeom prst="rect">
            <a:avLst/>
          </a:prstGeom>
          <a:noFill/>
          <a:ln/>
        </p:spPr>
        <p:txBody>
          <a:bodyPr wrap="square" lIns="12700" tIns="12700" rIns="12700" bIns="12700" rtlCol="0" anchor="ctr"/>
          <a:lstStyle/>
          <a:p>
            <a:pPr algn="l" indent="0" marL="0">
              <a:lnSpc>
                <a:spcPct val="95000"/>
              </a:lnSpc>
              <a:buNone/>
            </a:pPr>
            <a:r>
              <a:rPr lang="en-US" sz="150" b="1" dirty="0">
                <a:solidFill>
                  <a:srgbClr val="333333"/>
                </a:solidFill>
                <a:latin typeface="Arial" pitchFamily="34" charset="0"/>
                <a:ea typeface="Arial" pitchFamily="34" charset="-122"/>
                <a:cs typeface="Arial" pitchFamily="34" charset="-120"/>
              </a:rPr>
              <a:t>Fries (large)</a:t>
            </a:r>
            <a:endParaRPr lang="en-US" sz="150" dirty="0"/>
          </a:p>
        </p:txBody>
      </p:sp>
      <p:sp>
        <p:nvSpPr>
          <p:cNvPr id="308" name="Text 306"/>
          <p:cNvSpPr txBox="1"/>
          <p:nvPr/>
        </p:nvSpPr>
        <p:spPr>
          <a:xfrm>
            <a:off x="10928370" y="3322554"/>
            <a:ext cx="128954" cy="28370"/>
          </a:xfrm>
          <a:prstGeom prst="rect">
            <a:avLst/>
          </a:prstGeom>
          <a:noFill/>
          <a:ln/>
        </p:spPr>
        <p:txBody>
          <a:bodyPr wrap="square" lIns="12700" tIns="12700" rIns="12700" bIns="12700" rtlCol="0" anchor="ctr"/>
          <a:lstStyle/>
          <a:p>
            <a:pPr algn="l" indent="0" marL="0">
              <a:lnSpc>
                <a:spcPct val="95000"/>
              </a:lnSpc>
              <a:buNone/>
            </a:pPr>
            <a:r>
              <a:rPr lang="en-US" sz="150" dirty="0">
                <a:solidFill>
                  <a:srgbClr val="777777"/>
                </a:solidFill>
                <a:latin typeface="Arial" pitchFamily="34" charset="0"/>
                <a:ea typeface="Arial" pitchFamily="34" charset="-122"/>
                <a:cs typeface="Arial" pitchFamily="34" charset="-120"/>
              </a:rPr>
              <a:t>$5.49</a:t>
            </a:r>
            <a:endParaRPr lang="en-US" sz="150" dirty="0"/>
          </a:p>
        </p:txBody>
      </p:sp>
      <p:sp>
        <p:nvSpPr>
          <p:cNvPr id="309" name="Shape 307"/>
          <p:cNvSpPr/>
          <p:nvPr/>
        </p:nvSpPr>
        <p:spPr>
          <a:xfrm>
            <a:off x="11226253" y="3294185"/>
            <a:ext cx="51582" cy="56740"/>
          </a:xfrm>
          <a:prstGeom prst="roundRect">
            <a:avLst>
              <a:gd name="adj" fmla="val 15000"/>
            </a:avLst>
          </a:prstGeom>
          <a:solidFill>
            <a:srgbClr val="FFFFFF"/>
          </a:solidFill>
          <a:ln w="6350">
            <a:solidFill>
              <a:srgbClr val="555555"/>
            </a:solidFill>
            <a:prstDash val="solid"/>
          </a:ln>
        </p:spPr>
      </p:sp>
      <p:sp>
        <p:nvSpPr>
          <p:cNvPr id="310" name="Text 308"/>
          <p:cNvSpPr txBox="1"/>
          <p:nvPr/>
        </p:nvSpPr>
        <p:spPr>
          <a:xfrm>
            <a:off x="11226253" y="3294185"/>
            <a:ext cx="51582" cy="56740"/>
          </a:xfrm>
          <a:prstGeom prst="rect">
            <a:avLst/>
          </a:prstGeom>
          <a:noFill/>
          <a:ln/>
        </p:spPr>
        <p:txBody>
          <a:bodyPr wrap="square" lIns="12700" tIns="12700" rIns="12700" bIns="12700" rtlCol="0" anchor="ctr"/>
          <a:lstStyle/>
          <a:p>
            <a:pPr algn="ctr" indent="0" marL="0">
              <a:lnSpc>
                <a:spcPct val="95000"/>
              </a:lnSpc>
              <a:buNone/>
            </a:pPr>
            <a:r>
              <a:rPr lang="en-US" sz="200" b="1" dirty="0">
                <a:solidFill>
                  <a:srgbClr val="333333"/>
                </a:solidFill>
                <a:latin typeface="Arial" pitchFamily="34" charset="0"/>
                <a:ea typeface="Arial" pitchFamily="34" charset="-122"/>
                <a:cs typeface="Arial" pitchFamily="34" charset="-120"/>
              </a:rPr>
              <a:t>−</a:t>
            </a:r>
            <a:endParaRPr lang="en-US" sz="200" dirty="0"/>
          </a:p>
        </p:txBody>
      </p:sp>
      <p:sp>
        <p:nvSpPr>
          <p:cNvPr id="311" name="Text 309"/>
          <p:cNvSpPr txBox="1"/>
          <p:nvPr/>
        </p:nvSpPr>
        <p:spPr>
          <a:xfrm>
            <a:off x="11277834" y="3294185"/>
            <a:ext cx="36107" cy="56740"/>
          </a:xfrm>
          <a:prstGeom prst="rect">
            <a:avLst/>
          </a:prstGeom>
          <a:noFill/>
          <a:ln/>
        </p:spPr>
        <p:txBody>
          <a:bodyPr wrap="square" lIns="12700" tIns="12700" rIns="12700" bIns="12700" rtlCol="0" anchor="ctr"/>
          <a:lstStyle/>
          <a:p>
            <a:pPr algn="ctr" indent="0" marL="0">
              <a:lnSpc>
                <a:spcPct val="95000"/>
              </a:lnSpc>
              <a:buNone/>
            </a:pPr>
            <a:r>
              <a:rPr lang="en-US" sz="150" dirty="0">
                <a:solidFill>
                  <a:srgbClr val="333333"/>
                </a:solidFill>
                <a:latin typeface="Arial" pitchFamily="34" charset="0"/>
                <a:ea typeface="Arial" pitchFamily="34" charset="-122"/>
                <a:cs typeface="Arial" pitchFamily="34" charset="-120"/>
              </a:rPr>
              <a:t>1</a:t>
            </a:r>
            <a:endParaRPr lang="en-US" sz="150" dirty="0"/>
          </a:p>
        </p:txBody>
      </p:sp>
      <p:sp>
        <p:nvSpPr>
          <p:cNvPr id="312" name="Shape 310"/>
          <p:cNvSpPr/>
          <p:nvPr/>
        </p:nvSpPr>
        <p:spPr>
          <a:xfrm>
            <a:off x="11313942" y="3294185"/>
            <a:ext cx="56740" cy="56740"/>
          </a:xfrm>
          <a:prstGeom prst="roundRect">
            <a:avLst>
              <a:gd name="adj" fmla="val 15000"/>
            </a:avLst>
          </a:prstGeom>
          <a:solidFill>
            <a:srgbClr val="FFFFFF"/>
          </a:solidFill>
          <a:ln w="6350">
            <a:solidFill>
              <a:srgbClr val="555555"/>
            </a:solidFill>
            <a:prstDash val="solid"/>
          </a:ln>
        </p:spPr>
      </p:sp>
      <p:sp>
        <p:nvSpPr>
          <p:cNvPr id="313" name="Text 311"/>
          <p:cNvSpPr txBox="1"/>
          <p:nvPr/>
        </p:nvSpPr>
        <p:spPr>
          <a:xfrm>
            <a:off x="11313942" y="3294185"/>
            <a:ext cx="56740" cy="56740"/>
          </a:xfrm>
          <a:prstGeom prst="rect">
            <a:avLst/>
          </a:prstGeom>
          <a:noFill/>
          <a:ln/>
        </p:spPr>
        <p:txBody>
          <a:bodyPr wrap="square" lIns="12700" tIns="12700" rIns="12700" bIns="12700" rtlCol="0" anchor="ctr"/>
          <a:lstStyle/>
          <a:p>
            <a:pPr algn="ctr" indent="0" marL="0">
              <a:lnSpc>
                <a:spcPct val="95000"/>
              </a:lnSpc>
              <a:buNone/>
            </a:pPr>
            <a:r>
              <a:rPr lang="en-US" sz="200" b="1" dirty="0">
                <a:solidFill>
                  <a:srgbClr val="333333"/>
                </a:solidFill>
                <a:latin typeface="Arial" pitchFamily="34" charset="0"/>
                <a:ea typeface="Arial" pitchFamily="34" charset="-122"/>
                <a:cs typeface="Arial" pitchFamily="34" charset="-120"/>
              </a:rPr>
              <a:t>+</a:t>
            </a:r>
            <a:endParaRPr lang="en-US" sz="200" dirty="0"/>
          </a:p>
        </p:txBody>
      </p:sp>
      <p:sp>
        <p:nvSpPr>
          <p:cNvPr id="314" name="Shape 312"/>
          <p:cNvSpPr/>
          <p:nvPr/>
        </p:nvSpPr>
        <p:spPr>
          <a:xfrm>
            <a:off x="10928370" y="3361241"/>
            <a:ext cx="442312" cy="1290"/>
          </a:xfrm>
          <a:prstGeom prst="rect">
            <a:avLst/>
          </a:prstGeom>
          <a:solidFill>
            <a:srgbClr val="BBBBBB"/>
          </a:solidFill>
          <a:ln/>
        </p:spPr>
      </p:sp>
      <p:sp>
        <p:nvSpPr>
          <p:cNvPr id="315" name="Text 313"/>
          <p:cNvSpPr txBox="1"/>
          <p:nvPr/>
        </p:nvSpPr>
        <p:spPr>
          <a:xfrm>
            <a:off x="10928370" y="3371557"/>
            <a:ext cx="283698" cy="30949"/>
          </a:xfrm>
          <a:prstGeom prst="rect">
            <a:avLst/>
          </a:prstGeom>
          <a:noFill/>
          <a:ln/>
        </p:spPr>
        <p:txBody>
          <a:bodyPr wrap="square" lIns="12700" tIns="12700" rIns="12700" bIns="12700" rtlCol="0" anchor="ctr"/>
          <a:lstStyle/>
          <a:p>
            <a:pPr algn="l" indent="0" marL="0">
              <a:lnSpc>
                <a:spcPct val="95000"/>
              </a:lnSpc>
              <a:buNone/>
            </a:pPr>
            <a:r>
              <a:rPr lang="en-US" sz="150" b="1" dirty="0">
                <a:solidFill>
                  <a:srgbClr val="333333"/>
                </a:solidFill>
                <a:latin typeface="Arial" pitchFamily="34" charset="0"/>
                <a:ea typeface="Arial" pitchFamily="34" charset="-122"/>
                <a:cs typeface="Arial" pitchFamily="34" charset="-120"/>
              </a:rPr>
              <a:t>Coleslaw</a:t>
            </a:r>
            <a:endParaRPr lang="en-US" sz="150" dirty="0"/>
          </a:p>
        </p:txBody>
      </p:sp>
      <p:sp>
        <p:nvSpPr>
          <p:cNvPr id="316" name="Text 314"/>
          <p:cNvSpPr txBox="1"/>
          <p:nvPr/>
        </p:nvSpPr>
        <p:spPr>
          <a:xfrm>
            <a:off x="10928370" y="3405085"/>
            <a:ext cx="128954" cy="28370"/>
          </a:xfrm>
          <a:prstGeom prst="rect">
            <a:avLst/>
          </a:prstGeom>
          <a:noFill/>
          <a:ln/>
        </p:spPr>
        <p:txBody>
          <a:bodyPr wrap="square" lIns="12700" tIns="12700" rIns="12700" bIns="12700" rtlCol="0" anchor="ctr"/>
          <a:lstStyle/>
          <a:p>
            <a:pPr algn="l" indent="0" marL="0">
              <a:lnSpc>
                <a:spcPct val="95000"/>
              </a:lnSpc>
              <a:buNone/>
            </a:pPr>
            <a:r>
              <a:rPr lang="en-US" sz="150" dirty="0">
                <a:solidFill>
                  <a:srgbClr val="777777"/>
                </a:solidFill>
                <a:latin typeface="Arial" pitchFamily="34" charset="0"/>
                <a:ea typeface="Arial" pitchFamily="34" charset="-122"/>
                <a:cs typeface="Arial" pitchFamily="34" charset="-120"/>
              </a:rPr>
              <a:t>$3.49</a:t>
            </a:r>
            <a:endParaRPr lang="en-US" sz="150" dirty="0"/>
          </a:p>
        </p:txBody>
      </p:sp>
      <p:sp>
        <p:nvSpPr>
          <p:cNvPr id="317" name="Shape 315"/>
          <p:cNvSpPr/>
          <p:nvPr/>
        </p:nvSpPr>
        <p:spPr>
          <a:xfrm>
            <a:off x="11226253" y="3376715"/>
            <a:ext cx="51582" cy="56740"/>
          </a:xfrm>
          <a:prstGeom prst="roundRect">
            <a:avLst>
              <a:gd name="adj" fmla="val 15000"/>
            </a:avLst>
          </a:prstGeom>
          <a:solidFill>
            <a:srgbClr val="FFFFFF"/>
          </a:solidFill>
          <a:ln w="6350">
            <a:solidFill>
              <a:srgbClr val="555555"/>
            </a:solidFill>
            <a:prstDash val="solid"/>
          </a:ln>
        </p:spPr>
      </p:sp>
      <p:sp>
        <p:nvSpPr>
          <p:cNvPr id="318" name="Text 316"/>
          <p:cNvSpPr txBox="1"/>
          <p:nvPr/>
        </p:nvSpPr>
        <p:spPr>
          <a:xfrm>
            <a:off x="11226253" y="3376715"/>
            <a:ext cx="51582" cy="56740"/>
          </a:xfrm>
          <a:prstGeom prst="rect">
            <a:avLst/>
          </a:prstGeom>
          <a:noFill/>
          <a:ln/>
        </p:spPr>
        <p:txBody>
          <a:bodyPr wrap="square" lIns="12700" tIns="12700" rIns="12700" bIns="12700" rtlCol="0" anchor="ctr"/>
          <a:lstStyle/>
          <a:p>
            <a:pPr algn="ctr" indent="0" marL="0">
              <a:lnSpc>
                <a:spcPct val="95000"/>
              </a:lnSpc>
              <a:buNone/>
            </a:pPr>
            <a:r>
              <a:rPr lang="en-US" sz="200" b="1" dirty="0">
                <a:solidFill>
                  <a:srgbClr val="333333"/>
                </a:solidFill>
                <a:latin typeface="Arial" pitchFamily="34" charset="0"/>
                <a:ea typeface="Arial" pitchFamily="34" charset="-122"/>
                <a:cs typeface="Arial" pitchFamily="34" charset="-120"/>
              </a:rPr>
              <a:t>−</a:t>
            </a:r>
            <a:endParaRPr lang="en-US" sz="200" dirty="0"/>
          </a:p>
        </p:txBody>
      </p:sp>
      <p:sp>
        <p:nvSpPr>
          <p:cNvPr id="319" name="Text 317"/>
          <p:cNvSpPr txBox="1"/>
          <p:nvPr/>
        </p:nvSpPr>
        <p:spPr>
          <a:xfrm>
            <a:off x="11277834" y="3376715"/>
            <a:ext cx="36107" cy="56740"/>
          </a:xfrm>
          <a:prstGeom prst="rect">
            <a:avLst/>
          </a:prstGeom>
          <a:noFill/>
          <a:ln/>
        </p:spPr>
        <p:txBody>
          <a:bodyPr wrap="square" lIns="12700" tIns="12700" rIns="12700" bIns="12700" rtlCol="0" anchor="ctr"/>
          <a:lstStyle/>
          <a:p>
            <a:pPr algn="ctr" indent="0" marL="0">
              <a:lnSpc>
                <a:spcPct val="95000"/>
              </a:lnSpc>
              <a:buNone/>
            </a:pPr>
            <a:r>
              <a:rPr lang="en-US" sz="150" dirty="0">
                <a:solidFill>
                  <a:srgbClr val="333333"/>
                </a:solidFill>
                <a:latin typeface="Arial" pitchFamily="34" charset="0"/>
                <a:ea typeface="Arial" pitchFamily="34" charset="-122"/>
                <a:cs typeface="Arial" pitchFamily="34" charset="-120"/>
              </a:rPr>
              <a:t>1</a:t>
            </a:r>
            <a:endParaRPr lang="en-US" sz="150" dirty="0"/>
          </a:p>
        </p:txBody>
      </p:sp>
      <p:sp>
        <p:nvSpPr>
          <p:cNvPr id="320" name="Shape 318"/>
          <p:cNvSpPr/>
          <p:nvPr/>
        </p:nvSpPr>
        <p:spPr>
          <a:xfrm>
            <a:off x="11313942" y="3376715"/>
            <a:ext cx="56740" cy="56740"/>
          </a:xfrm>
          <a:prstGeom prst="roundRect">
            <a:avLst>
              <a:gd name="adj" fmla="val 15000"/>
            </a:avLst>
          </a:prstGeom>
          <a:solidFill>
            <a:srgbClr val="FFFFFF"/>
          </a:solidFill>
          <a:ln w="6350">
            <a:solidFill>
              <a:srgbClr val="555555"/>
            </a:solidFill>
            <a:prstDash val="solid"/>
          </a:ln>
        </p:spPr>
      </p:sp>
      <p:sp>
        <p:nvSpPr>
          <p:cNvPr id="321" name="Text 319"/>
          <p:cNvSpPr txBox="1"/>
          <p:nvPr/>
        </p:nvSpPr>
        <p:spPr>
          <a:xfrm>
            <a:off x="11313942" y="3376715"/>
            <a:ext cx="56740" cy="56740"/>
          </a:xfrm>
          <a:prstGeom prst="rect">
            <a:avLst/>
          </a:prstGeom>
          <a:noFill/>
          <a:ln/>
        </p:spPr>
        <p:txBody>
          <a:bodyPr wrap="square" lIns="12700" tIns="12700" rIns="12700" bIns="12700" rtlCol="0" anchor="ctr"/>
          <a:lstStyle/>
          <a:p>
            <a:pPr algn="ctr" indent="0" marL="0">
              <a:lnSpc>
                <a:spcPct val="95000"/>
              </a:lnSpc>
              <a:buNone/>
            </a:pPr>
            <a:r>
              <a:rPr lang="en-US" sz="200" b="1" dirty="0">
                <a:solidFill>
                  <a:srgbClr val="333333"/>
                </a:solidFill>
                <a:latin typeface="Arial" pitchFamily="34" charset="0"/>
                <a:ea typeface="Arial" pitchFamily="34" charset="-122"/>
                <a:cs typeface="Arial" pitchFamily="34" charset="-120"/>
              </a:rPr>
              <a:t>+</a:t>
            </a:r>
            <a:endParaRPr lang="en-US" sz="200" dirty="0"/>
          </a:p>
        </p:txBody>
      </p:sp>
      <p:sp>
        <p:nvSpPr>
          <p:cNvPr id="322" name="Shape 320"/>
          <p:cNvSpPr/>
          <p:nvPr/>
        </p:nvSpPr>
        <p:spPr>
          <a:xfrm>
            <a:off x="10928370" y="3443771"/>
            <a:ext cx="442312" cy="1290"/>
          </a:xfrm>
          <a:prstGeom prst="rect">
            <a:avLst/>
          </a:prstGeom>
          <a:solidFill>
            <a:srgbClr val="BBBBBB"/>
          </a:solidFill>
          <a:ln/>
        </p:spPr>
      </p:sp>
      <p:sp>
        <p:nvSpPr>
          <p:cNvPr id="323" name="Text 321"/>
          <p:cNvSpPr txBox="1"/>
          <p:nvPr/>
        </p:nvSpPr>
        <p:spPr>
          <a:xfrm>
            <a:off x="10928370" y="3464404"/>
            <a:ext cx="322385" cy="28370"/>
          </a:xfrm>
          <a:prstGeom prst="rect">
            <a:avLst/>
          </a:prstGeom>
          <a:noFill/>
          <a:ln/>
        </p:spPr>
        <p:txBody>
          <a:bodyPr wrap="square" lIns="12700" tIns="12700" rIns="12700" bIns="12700" rtlCol="0" anchor="ctr"/>
          <a:lstStyle/>
          <a:p>
            <a:pPr algn="l" indent="0" marL="0">
              <a:lnSpc>
                <a:spcPct val="95000"/>
              </a:lnSpc>
              <a:buNone/>
            </a:pPr>
            <a:r>
              <a:rPr lang="en-US" sz="150" b="1" dirty="0">
                <a:solidFill>
                  <a:srgbClr val="333333"/>
                </a:solidFill>
                <a:latin typeface="Arial" pitchFamily="34" charset="0"/>
                <a:ea typeface="Arial" pitchFamily="34" charset="-122"/>
                <a:cs typeface="Arial" pitchFamily="34" charset="-120"/>
              </a:rPr>
              <a:t>Special instructions</a:t>
            </a:r>
            <a:endParaRPr lang="en-US" sz="150" dirty="0"/>
          </a:p>
        </p:txBody>
      </p:sp>
      <p:sp>
        <p:nvSpPr>
          <p:cNvPr id="324" name="Shape 322"/>
          <p:cNvSpPr/>
          <p:nvPr/>
        </p:nvSpPr>
        <p:spPr>
          <a:xfrm>
            <a:off x="10928370" y="3497932"/>
            <a:ext cx="442312" cy="92847"/>
          </a:xfrm>
          <a:prstGeom prst="roundRect">
            <a:avLst>
              <a:gd name="adj" fmla="val 8000"/>
            </a:avLst>
          </a:prstGeom>
          <a:solidFill>
            <a:srgbClr val="FFFFFF"/>
          </a:solidFill>
          <a:ln w="6350">
            <a:solidFill>
              <a:srgbClr val="999999"/>
            </a:solidFill>
            <a:prstDash val="solid"/>
          </a:ln>
        </p:spPr>
      </p:sp>
      <p:sp>
        <p:nvSpPr>
          <p:cNvPr id="325" name="Text 323"/>
          <p:cNvSpPr txBox="1"/>
          <p:nvPr/>
        </p:nvSpPr>
        <p:spPr>
          <a:xfrm>
            <a:off x="10928370" y="3497932"/>
            <a:ext cx="442312" cy="92847"/>
          </a:xfrm>
          <a:prstGeom prst="rect">
            <a:avLst/>
          </a:prstGeom>
          <a:noFill/>
          <a:ln/>
        </p:spPr>
        <p:txBody>
          <a:bodyPr wrap="square" lIns="12700" tIns="12700" rIns="12700" bIns="12700" rtlCol="0" anchor="t"/>
          <a:lstStyle/>
          <a:p>
            <a:pPr algn="l" indent="0" marL="0">
              <a:lnSpc>
                <a:spcPct val="95000"/>
              </a:lnSpc>
              <a:buNone/>
            </a:pPr>
            <a:r>
              <a:rPr lang="en-US" sz="150" dirty="0">
                <a:solidFill>
                  <a:srgbClr val="AAAAAA"/>
                </a:solidFill>
                <a:latin typeface="Arial" pitchFamily="34" charset="0"/>
                <a:ea typeface="Arial" pitchFamily="34" charset="-122"/>
                <a:cs typeface="Arial" pitchFamily="34" charset="-120"/>
              </a:rPr>
              <a:t>e.g. extra tartar sauce, no vinegar</a:t>
            </a:r>
            <a:endParaRPr lang="en-US" sz="150" dirty="0"/>
          </a:p>
        </p:txBody>
      </p:sp>
      <p:sp>
        <p:nvSpPr>
          <p:cNvPr id="326" name="Text 324"/>
          <p:cNvSpPr txBox="1"/>
          <p:nvPr/>
        </p:nvSpPr>
        <p:spPr>
          <a:xfrm>
            <a:off x="10928370" y="3619148"/>
            <a:ext cx="257908" cy="33528"/>
          </a:xfrm>
          <a:prstGeom prst="rect">
            <a:avLst/>
          </a:prstGeom>
          <a:noFill/>
          <a:ln/>
        </p:spPr>
        <p:txBody>
          <a:bodyPr wrap="square" lIns="12700" tIns="12700" rIns="12700" bIns="12700" rtlCol="0" anchor="ctr"/>
          <a:lstStyle/>
          <a:p>
            <a:pPr algn="l" indent="0" marL="0">
              <a:lnSpc>
                <a:spcPct val="95000"/>
              </a:lnSpc>
              <a:buNone/>
            </a:pPr>
            <a:r>
              <a:rPr lang="en-US" sz="150" dirty="0">
                <a:solidFill>
                  <a:srgbClr val="333333"/>
                </a:solidFill>
                <a:latin typeface="Arial" pitchFamily="34" charset="0"/>
                <a:ea typeface="Arial" pitchFamily="34" charset="-122"/>
                <a:cs typeface="Arial" pitchFamily="34" charset="-120"/>
              </a:rPr>
              <a:t>Subtotal</a:t>
            </a:r>
            <a:endParaRPr lang="en-US" sz="150" dirty="0"/>
          </a:p>
        </p:txBody>
      </p:sp>
      <p:sp>
        <p:nvSpPr>
          <p:cNvPr id="327" name="Text 325"/>
          <p:cNvSpPr txBox="1"/>
          <p:nvPr/>
        </p:nvSpPr>
        <p:spPr>
          <a:xfrm>
            <a:off x="11241727" y="3619148"/>
            <a:ext cx="128954" cy="33528"/>
          </a:xfrm>
          <a:prstGeom prst="rect">
            <a:avLst/>
          </a:prstGeom>
          <a:noFill/>
          <a:ln/>
        </p:spPr>
        <p:txBody>
          <a:bodyPr wrap="square" lIns="12700" tIns="12700" rIns="12700" bIns="12700" rtlCol="0" anchor="ctr"/>
          <a:lstStyle/>
          <a:p>
            <a:pPr algn="r" indent="0" marL="0">
              <a:lnSpc>
                <a:spcPct val="95000"/>
              </a:lnSpc>
              <a:buNone/>
            </a:pPr>
            <a:r>
              <a:rPr lang="en-US" sz="150" dirty="0">
                <a:solidFill>
                  <a:srgbClr val="333333"/>
                </a:solidFill>
                <a:latin typeface="Arial" pitchFamily="34" charset="0"/>
                <a:ea typeface="Arial" pitchFamily="34" charset="-122"/>
                <a:cs typeface="Arial" pitchFamily="34" charset="-120"/>
              </a:rPr>
              <a:t>$28.97</a:t>
            </a:r>
            <a:endParaRPr lang="en-US" sz="150" dirty="0"/>
          </a:p>
        </p:txBody>
      </p:sp>
      <p:sp>
        <p:nvSpPr>
          <p:cNvPr id="328" name="Text 326"/>
          <p:cNvSpPr txBox="1"/>
          <p:nvPr/>
        </p:nvSpPr>
        <p:spPr>
          <a:xfrm>
            <a:off x="10928370" y="3657834"/>
            <a:ext cx="257908" cy="33528"/>
          </a:xfrm>
          <a:prstGeom prst="rect">
            <a:avLst/>
          </a:prstGeom>
          <a:noFill/>
          <a:ln/>
        </p:spPr>
        <p:txBody>
          <a:bodyPr wrap="square" lIns="12700" tIns="12700" rIns="12700" bIns="12700" rtlCol="0" anchor="ctr"/>
          <a:lstStyle/>
          <a:p>
            <a:pPr algn="l" indent="0" marL="0">
              <a:lnSpc>
                <a:spcPct val="95000"/>
              </a:lnSpc>
              <a:buNone/>
            </a:pPr>
            <a:r>
              <a:rPr lang="en-US" sz="150" dirty="0">
                <a:solidFill>
                  <a:srgbClr val="333333"/>
                </a:solidFill>
                <a:latin typeface="Arial" pitchFamily="34" charset="0"/>
                <a:ea typeface="Arial" pitchFamily="34" charset="-122"/>
                <a:cs typeface="Arial" pitchFamily="34" charset="-120"/>
              </a:rPr>
              <a:t>HST (14%)</a:t>
            </a:r>
            <a:endParaRPr lang="en-US" sz="150" dirty="0"/>
          </a:p>
        </p:txBody>
      </p:sp>
      <p:sp>
        <p:nvSpPr>
          <p:cNvPr id="329" name="Text 327"/>
          <p:cNvSpPr txBox="1"/>
          <p:nvPr/>
        </p:nvSpPr>
        <p:spPr>
          <a:xfrm>
            <a:off x="11241727" y="3657834"/>
            <a:ext cx="128954" cy="33528"/>
          </a:xfrm>
          <a:prstGeom prst="rect">
            <a:avLst/>
          </a:prstGeom>
          <a:noFill/>
          <a:ln/>
        </p:spPr>
        <p:txBody>
          <a:bodyPr wrap="square" lIns="12700" tIns="12700" rIns="12700" bIns="12700" rtlCol="0" anchor="ctr"/>
          <a:lstStyle/>
          <a:p>
            <a:pPr algn="r" indent="0" marL="0">
              <a:lnSpc>
                <a:spcPct val="95000"/>
              </a:lnSpc>
              <a:buNone/>
            </a:pPr>
            <a:r>
              <a:rPr lang="en-US" sz="150" dirty="0">
                <a:solidFill>
                  <a:srgbClr val="333333"/>
                </a:solidFill>
                <a:latin typeface="Arial" pitchFamily="34" charset="0"/>
                <a:ea typeface="Arial" pitchFamily="34" charset="-122"/>
                <a:cs typeface="Arial" pitchFamily="34" charset="-120"/>
              </a:rPr>
              <a:t>$4.06</a:t>
            </a:r>
            <a:endParaRPr lang="en-US" sz="150" dirty="0"/>
          </a:p>
        </p:txBody>
      </p:sp>
      <p:sp>
        <p:nvSpPr>
          <p:cNvPr id="330" name="Text 328"/>
          <p:cNvSpPr txBox="1"/>
          <p:nvPr/>
        </p:nvSpPr>
        <p:spPr>
          <a:xfrm>
            <a:off x="10928370" y="3696521"/>
            <a:ext cx="257908" cy="33528"/>
          </a:xfrm>
          <a:prstGeom prst="rect">
            <a:avLst/>
          </a:prstGeom>
          <a:noFill/>
          <a:ln/>
        </p:spPr>
        <p:txBody>
          <a:bodyPr wrap="square" lIns="12700" tIns="12700" rIns="12700" bIns="12700" rtlCol="0" anchor="ctr"/>
          <a:lstStyle/>
          <a:p>
            <a:pPr algn="l" indent="0" marL="0">
              <a:lnSpc>
                <a:spcPct val="95000"/>
              </a:lnSpc>
              <a:buNone/>
            </a:pPr>
            <a:r>
              <a:rPr lang="en-US" sz="150" b="1" dirty="0">
                <a:solidFill>
                  <a:srgbClr val="333333"/>
                </a:solidFill>
                <a:latin typeface="Arial" pitchFamily="34" charset="0"/>
                <a:ea typeface="Arial" pitchFamily="34" charset="-122"/>
                <a:cs typeface="Arial" pitchFamily="34" charset="-120"/>
              </a:rPr>
              <a:t>Total</a:t>
            </a:r>
            <a:endParaRPr lang="en-US" sz="150" dirty="0"/>
          </a:p>
        </p:txBody>
      </p:sp>
      <p:sp>
        <p:nvSpPr>
          <p:cNvPr id="331" name="Text 329"/>
          <p:cNvSpPr txBox="1"/>
          <p:nvPr/>
        </p:nvSpPr>
        <p:spPr>
          <a:xfrm>
            <a:off x="11241727" y="3696521"/>
            <a:ext cx="128954" cy="33528"/>
          </a:xfrm>
          <a:prstGeom prst="rect">
            <a:avLst/>
          </a:prstGeom>
          <a:noFill/>
          <a:ln/>
        </p:spPr>
        <p:txBody>
          <a:bodyPr wrap="square" lIns="12700" tIns="12700" rIns="12700" bIns="12700" rtlCol="0" anchor="ctr"/>
          <a:lstStyle/>
          <a:p>
            <a:pPr algn="r" indent="0" marL="0">
              <a:lnSpc>
                <a:spcPct val="95000"/>
              </a:lnSpc>
              <a:buNone/>
            </a:pPr>
            <a:r>
              <a:rPr lang="en-US" sz="150" b="1" dirty="0">
                <a:solidFill>
                  <a:srgbClr val="333333"/>
                </a:solidFill>
                <a:latin typeface="Arial" pitchFamily="34" charset="0"/>
                <a:ea typeface="Arial" pitchFamily="34" charset="-122"/>
                <a:cs typeface="Arial" pitchFamily="34" charset="-120"/>
              </a:rPr>
              <a:t>$33.03</a:t>
            </a:r>
            <a:endParaRPr lang="en-US" sz="150" dirty="0"/>
          </a:p>
        </p:txBody>
      </p:sp>
      <p:sp>
        <p:nvSpPr>
          <p:cNvPr id="332" name="Shape 330"/>
          <p:cNvSpPr/>
          <p:nvPr/>
        </p:nvSpPr>
        <p:spPr>
          <a:xfrm>
            <a:off x="10928370" y="3928638"/>
            <a:ext cx="442312" cy="72214"/>
          </a:xfrm>
          <a:prstGeom prst="roundRect">
            <a:avLst>
              <a:gd name="adj" fmla="val 15000"/>
            </a:avLst>
          </a:prstGeom>
          <a:solidFill>
            <a:srgbClr val="555555"/>
          </a:solidFill>
          <a:ln w="6350">
            <a:solidFill>
              <a:srgbClr val="555555"/>
            </a:solidFill>
            <a:prstDash val="solid"/>
          </a:ln>
        </p:spPr>
      </p:sp>
      <p:sp>
        <p:nvSpPr>
          <p:cNvPr id="333" name="Text 331"/>
          <p:cNvSpPr txBox="1"/>
          <p:nvPr/>
        </p:nvSpPr>
        <p:spPr>
          <a:xfrm>
            <a:off x="10928370" y="3928638"/>
            <a:ext cx="442312" cy="72214"/>
          </a:xfrm>
          <a:prstGeom prst="rect">
            <a:avLst/>
          </a:prstGeom>
          <a:noFill/>
          <a:ln/>
        </p:spPr>
        <p:txBody>
          <a:bodyPr wrap="square" lIns="12700" tIns="12700" rIns="12700" bIns="12700" rtlCol="0" anchor="ctr"/>
          <a:lstStyle/>
          <a:p>
            <a:pPr algn="ctr" indent="0" marL="0">
              <a:lnSpc>
                <a:spcPct val="95000"/>
              </a:lnSpc>
              <a:buNone/>
            </a:pPr>
            <a:r>
              <a:rPr lang="en-US" sz="150" b="1" dirty="0">
                <a:solidFill>
                  <a:srgbClr val="FFFFFF"/>
                </a:solidFill>
                <a:latin typeface="Arial" pitchFamily="34" charset="0"/>
                <a:ea typeface="Arial" pitchFamily="34" charset="-122"/>
                <a:cs typeface="Arial" pitchFamily="34" charset="-120"/>
              </a:rPr>
              <a:t>Checkout · $33.03</a:t>
            </a:r>
            <a:endParaRPr lang="en-US" sz="150" dirty="0"/>
          </a:p>
        </p:txBody>
      </p:sp>
      <p:sp>
        <p:nvSpPr>
          <p:cNvPr id="334" name="Shape 332"/>
          <p:cNvSpPr/>
          <p:nvPr/>
        </p:nvSpPr>
        <p:spPr>
          <a:xfrm>
            <a:off x="10912895" y="3100754"/>
            <a:ext cx="473261" cy="915572"/>
          </a:xfrm>
          <a:prstGeom prst="rect">
            <a:avLst/>
          </a:prstGeom>
          <a:ln w="6350">
            <a:solidFill>
              <a:srgbClr val="1E88E5"/>
            </a:solidFill>
            <a:prstDash val="dash"/>
          </a:ln>
        </p:spPr>
      </p:sp>
      <p:sp>
        <p:nvSpPr>
          <p:cNvPr id="335" name="Shape 333"/>
          <p:cNvSpPr/>
          <p:nvPr/>
        </p:nvSpPr>
        <p:spPr>
          <a:xfrm>
            <a:off x="10912895" y="3074963"/>
            <a:ext cx="79951" cy="25791"/>
          </a:xfrm>
          <a:prstGeom prst="rect">
            <a:avLst/>
          </a:prstGeom>
          <a:solidFill>
            <a:srgbClr val="1E88E5"/>
          </a:solidFill>
          <a:ln/>
        </p:spPr>
      </p:sp>
      <p:sp>
        <p:nvSpPr>
          <p:cNvPr id="336" name="Text 334"/>
          <p:cNvSpPr txBox="1"/>
          <p:nvPr/>
        </p:nvSpPr>
        <p:spPr>
          <a:xfrm>
            <a:off x="10912895" y="3074963"/>
            <a:ext cx="79951" cy="25791"/>
          </a:xfrm>
          <a:prstGeom prst="rect">
            <a:avLst/>
          </a:prstGeom>
          <a:noFill/>
          <a:ln/>
        </p:spPr>
        <p:txBody>
          <a:bodyPr wrap="square" lIns="12700" tIns="12700" rIns="12700" bIns="12700" rtlCol="0" anchor="ctr"/>
          <a:lstStyle/>
          <a:p>
            <a:pPr algn="ctr" indent="0" marL="0">
              <a:lnSpc>
                <a:spcPct val="95000"/>
              </a:lnSpc>
              <a:buNone/>
            </a:pPr>
            <a:r>
              <a:rPr lang="en-US" sz="100" b="1" dirty="0">
                <a:solidFill>
                  <a:srgbClr val="FFFFFF"/>
                </a:solidFill>
                <a:latin typeface="Courier New" pitchFamily="34" charset="0"/>
                <a:ea typeface="Courier New" pitchFamily="34" charset="-122"/>
                <a:cs typeface="Courier New" pitchFamily="34" charset="-120"/>
              </a:rPr>
              <a:t>&lt;main&gt;</a:t>
            </a:r>
            <a:endParaRPr lang="en-US" sz="100" dirty="0"/>
          </a:p>
        </p:txBody>
      </p:sp>
      <p:sp>
        <p:nvSpPr>
          <p:cNvPr id="337" name="Shape 335"/>
          <p:cNvSpPr/>
          <p:nvPr/>
        </p:nvSpPr>
        <p:spPr>
          <a:xfrm>
            <a:off x="10447372" y="3977640"/>
            <a:ext cx="230183" cy="0"/>
          </a:xfrm>
          <a:prstGeom prst="line">
            <a:avLst/>
          </a:prstGeom>
          <a:noFill/>
          <a:ln w="6350">
            <a:solidFill>
              <a:srgbClr val="1E88E5"/>
            </a:solidFill>
            <a:prstDash val="dash"/>
          </a:ln>
        </p:spPr>
      </p:sp>
      <p:sp>
        <p:nvSpPr>
          <p:cNvPr id="338" name="Shape 336"/>
          <p:cNvSpPr/>
          <p:nvPr/>
        </p:nvSpPr>
        <p:spPr>
          <a:xfrm>
            <a:off x="10677554" y="3822380"/>
            <a:ext cx="0" cy="155260"/>
          </a:xfrm>
          <a:prstGeom prst="line">
            <a:avLst/>
          </a:prstGeom>
          <a:noFill/>
          <a:ln w="6350">
            <a:solidFill>
              <a:srgbClr val="1E88E5"/>
            </a:solidFill>
            <a:prstDash val="dash"/>
          </a:ln>
        </p:spPr>
      </p:sp>
      <p:sp>
        <p:nvSpPr>
          <p:cNvPr id="339" name="Shape 337"/>
          <p:cNvSpPr/>
          <p:nvPr/>
        </p:nvSpPr>
        <p:spPr>
          <a:xfrm>
            <a:off x="10677554" y="3822380"/>
            <a:ext cx="230183" cy="0"/>
          </a:xfrm>
          <a:prstGeom prst="line">
            <a:avLst/>
          </a:prstGeom>
          <a:noFill/>
          <a:ln w="6350">
            <a:solidFill>
              <a:srgbClr val="1E88E5"/>
            </a:solidFill>
            <a:prstDash val="dash"/>
            <a:tailEnd type="triangle"/>
          </a:ln>
        </p:spPr>
      </p:sp>
      <p:sp>
        <p:nvSpPr>
          <p:cNvPr id="340" name="Shape 338"/>
          <p:cNvSpPr/>
          <p:nvPr/>
        </p:nvSpPr>
        <p:spPr>
          <a:xfrm>
            <a:off x="6629400" y="4754880"/>
            <a:ext cx="4846320" cy="0"/>
          </a:xfrm>
          <a:prstGeom prst="line">
            <a:avLst/>
          </a:prstGeom>
          <a:noFill/>
          <a:ln w="12700">
            <a:solidFill>
              <a:srgbClr val="E0E0E0"/>
            </a:solidFill>
            <a:prstDash val="solid"/>
          </a:ln>
        </p:spPr>
      </p:sp>
      <p:sp>
        <p:nvSpPr>
          <p:cNvPr id="341" name="Shape 339"/>
          <p:cNvSpPr/>
          <p:nvPr/>
        </p:nvSpPr>
        <p:spPr>
          <a:xfrm>
            <a:off x="7223760" y="4919472"/>
            <a:ext cx="365760" cy="365760"/>
          </a:xfrm>
          <a:prstGeom prst="ellipse">
            <a:avLst/>
          </a:prstGeom>
          <a:solidFill>
            <a:srgbClr val="A02B93"/>
          </a:solidFill>
          <a:ln w="12700">
            <a:solidFill>
              <a:srgbClr val="A02B93"/>
            </a:solidFill>
            <a:prstDash val="solid"/>
          </a:ln>
        </p:spPr>
      </p:sp>
      <p:sp>
        <p:nvSpPr>
          <p:cNvPr id="342" name="Text 340"/>
          <p:cNvSpPr txBox="1"/>
          <p:nvPr/>
        </p:nvSpPr>
        <p:spPr>
          <a:xfrm>
            <a:off x="7223760" y="4919472"/>
            <a:ext cx="36576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AB</a:t>
            </a:r>
            <a:endParaRPr lang="en-US" sz="1050" dirty="0"/>
          </a:p>
        </p:txBody>
      </p:sp>
      <p:sp>
        <p:nvSpPr>
          <p:cNvPr id="343" name="Text 341"/>
          <p:cNvSpPr txBox="1"/>
          <p:nvPr/>
        </p:nvSpPr>
        <p:spPr>
          <a:xfrm>
            <a:off x="7726680" y="4892040"/>
            <a:ext cx="3749040" cy="1188720"/>
          </a:xfrm>
          <a:prstGeom prst="rect">
            <a:avLst/>
          </a:prstGeom>
          <a:noFill/>
          <a:ln/>
        </p:spPr>
        <p:txBody>
          <a:bodyPr wrap="square" lIns="0" tIns="0" rIns="0" bIns="0" rtlCol="0" anchor="t"/>
          <a:lstStyle/>
          <a:p>
            <a:pPr indent="0" marL="0">
              <a:spcAft>
                <a:spcPts val="400"/>
              </a:spcAft>
              <a:buNone/>
            </a:pPr>
            <a:r>
              <a:rPr lang="en-US" sz="1200" b="1" dirty="0">
                <a:solidFill>
                  <a:srgbClr val="262626"/>
                </a:solidFill>
                <a:latin typeface="Aptos" pitchFamily="34" charset="0"/>
                <a:ea typeface="Aptos" pitchFamily="34" charset="-122"/>
                <a:cs typeface="Aptos" pitchFamily="34" charset="-120"/>
              </a:rPr>
              <a:t>✅ Works: </a:t>
            </a:r>
            <a:pPr indent="0" marL="0">
              <a:spcAft>
                <a:spcPts val="400"/>
              </a:spcAft>
              <a:buNone/>
            </a:pPr>
            <a:r>
              <a:rPr lang="en-US" sz="1200" dirty="0">
                <a:solidFill>
                  <a:srgbClr val="262626"/>
                </a:solidFill>
                <a:latin typeface="Aptos" pitchFamily="34" charset="0"/>
                <a:ea typeface="Aptos" pitchFamily="34" charset="-122"/>
                <a:cs typeface="Aptos" pitchFamily="34" charset="-120"/>
              </a:rPr>
              <a:t>I could see my total the whole time, even on the phone.</a:t>
            </a:r>
            <a:endParaRPr lang="en-US" sz="1200" dirty="0"/>
          </a:p>
          <a:p>
            <a:pPr indent="0" marL="0">
              <a:spcAft>
                <a:spcPts val="400"/>
              </a:spcAft>
              <a:buNone/>
            </a:pPr>
            <a:r>
              <a:rPr lang="en-US" sz="1200" b="1" dirty="0">
                <a:solidFill>
                  <a:srgbClr val="262626"/>
                </a:solidFill>
                <a:latin typeface="Aptos" pitchFamily="34" charset="0"/>
                <a:ea typeface="Aptos" pitchFamily="34" charset="-122"/>
                <a:cs typeface="Aptos" pitchFamily="34" charset="-120"/>
              </a:rPr>
              <a:t>❓ Wonder: </a:t>
            </a:r>
            <a:pPr indent="0" marL="0">
              <a:spcAft>
                <a:spcPts val="400"/>
              </a:spcAft>
              <a:buNone/>
            </a:pPr>
            <a:r>
              <a:rPr lang="en-US" sz="1200" dirty="0">
                <a:solidFill>
                  <a:srgbClr val="262626"/>
                </a:solidFill>
                <a:latin typeface="Aptos" pitchFamily="34" charset="0"/>
                <a:ea typeface="Aptos" pitchFamily="34" charset="-122"/>
                <a:cs typeface="Aptos" pitchFamily="34" charset="-120"/>
              </a:rPr>
              <a:t>where would I type my address for delivery?</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926080" y="640080"/>
            <a:ext cx="8412480" cy="4206240"/>
          </a:xfrm>
          <a:prstGeom prst="rect">
            <a:avLst/>
          </a:prstGeom>
          <a:noFill/>
          <a:ln/>
        </p:spPr>
        <p:txBody>
          <a:bodyPr wrap="square" lIns="0" tIns="0" rIns="0" bIns="0" rtlCol="0" anchor="ctr"/>
          <a:lstStyle/>
          <a:p>
            <a:pPr algn="r" indent="0" marL="0">
              <a:buNone/>
            </a:pPr>
            <a:r>
              <a:rPr lang="en-US" sz="6000" dirty="0">
                <a:solidFill>
                  <a:srgbClr val="FFFFFF"/>
                </a:solidFill>
                <a:latin typeface="Aptos" pitchFamily="34" charset="0"/>
                <a:ea typeface="Aptos" pitchFamily="34" charset="-122"/>
                <a:cs typeface="Aptos" pitchFamily="34" charset="-120"/>
              </a:rPr>
              <a:t>Your Turn</a:t>
            </a:r>
            <a:endParaRPr lang="en-US" sz="6000" dirty="0"/>
          </a:p>
        </p:txBody>
      </p:sp>
      <p:sp>
        <p:nvSpPr>
          <p:cNvPr id="3" name="Text 1"/>
          <p:cNvSpPr txBox="1"/>
          <p:nvPr/>
        </p:nvSpPr>
        <p:spPr>
          <a:xfrm>
            <a:off x="1417320" y="5989320"/>
            <a:ext cx="10058400" cy="411480"/>
          </a:xfrm>
          <a:prstGeom prst="rect">
            <a:avLst/>
          </a:prstGeom>
          <a:noFill/>
          <a:ln/>
        </p:spPr>
        <p:txBody>
          <a:bodyPr wrap="square" lIns="0" tIns="0" rIns="0" bIns="0" rtlCol="0" anchor="ctr"/>
          <a:lstStyle/>
          <a:p>
            <a:pPr indent="0" marL="0">
              <a:buNone/>
            </a:pPr>
            <a:r>
              <a:rPr lang="en-US" sz="1800" dirty="0">
                <a:solidFill>
                  <a:srgbClr val="FFFFFF"/>
                </a:solidFill>
                <a:latin typeface="Aptos" pitchFamily="34" charset="0"/>
                <a:ea typeface="Aptos" pitchFamily="34" charset="-122"/>
                <a:cs typeface="Aptos" pitchFamily="34" charset="-120"/>
              </a:rPr>
              <a:t>Wireframe one page of your own   ·   desktop + mobile   ·   share it on Teams</a:t>
            </a:r>
            <a:endParaRPr lang="en-US" sz="1800" dirty="0"/>
          </a:p>
        </p:txBody>
      </p:sp>
      <p:sp>
        <p:nvSpPr>
          <p:cNvPr id="4" name="Shape 2"/>
          <p:cNvSpPr/>
          <p:nvPr/>
        </p:nvSpPr>
        <p:spPr>
          <a:xfrm>
            <a:off x="914400" y="3840480"/>
            <a:ext cx="0" cy="3017520"/>
          </a:xfrm>
          <a:prstGeom prst="line">
            <a:avLst/>
          </a:prstGeom>
          <a:noFill/>
          <a:ln w="25400">
            <a:solidFill>
              <a:srgbClr val="FFFFFF"/>
            </a:solidFill>
            <a:prstDash val="solid"/>
          </a:ln>
        </p:spPr>
      </p:sp>
      <p:sp>
        <p:nvSpPr>
          <p:cNvPr id="5" name="Text 3"/>
          <p:cNvSpPr txBox="1"/>
          <p:nvPr/>
        </p:nvSpPr>
        <p:spPr>
          <a:xfrm>
            <a:off x="3794760" y="5029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6" name="Text 4"/>
          <p:cNvSpPr txBox="1"/>
          <p:nvPr/>
        </p:nvSpPr>
        <p:spPr>
          <a:xfrm>
            <a:off x="4160520" y="7315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7" name="Text 5"/>
          <p:cNvSpPr txBox="1"/>
          <p:nvPr/>
        </p:nvSpPr>
        <p:spPr>
          <a:xfrm>
            <a:off x="3749040" y="914400"/>
            <a:ext cx="36576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Aptos" pitchFamily="34" charset="0"/>
                <a:ea typeface="Aptos" pitchFamily="34" charset="-122"/>
                <a:cs typeface="Aptos" pitchFamily="34" charset="-120"/>
              </a:rPr>
              <a:t>○</a:t>
            </a:r>
            <a:endParaRPr lang="en-US" sz="1600" dirty="0"/>
          </a:p>
        </p:txBody>
      </p:sp>
      <p:sp>
        <p:nvSpPr>
          <p:cNvPr id="8" name="Text 6"/>
          <p:cNvSpPr txBox="1"/>
          <p:nvPr/>
        </p:nvSpPr>
        <p:spPr>
          <a:xfrm>
            <a:off x="11521440" y="57607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9" name="Text 7"/>
          <p:cNvSpPr txBox="1"/>
          <p:nvPr/>
        </p:nvSpPr>
        <p:spPr>
          <a:xfrm>
            <a:off x="11292840" y="626364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10" name="Text 8"/>
          <p:cNvSpPr txBox="1"/>
          <p:nvPr/>
        </p:nvSpPr>
        <p:spPr>
          <a:xfrm>
            <a:off x="11887200" y="6263640"/>
            <a:ext cx="36576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Aptos" pitchFamily="34" charset="0"/>
                <a:ea typeface="Aptos" pitchFamily="34" charset="-122"/>
                <a:cs typeface="Aptos" pitchFamily="34" charset="-120"/>
              </a:rPr>
              <a: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Your Turn – Part 1: Pick a Client, Write Stories (10 min)</a:t>
            </a:r>
            <a:endParaRPr lang="en-US" sz="2800" dirty="0"/>
          </a:p>
        </p:txBody>
      </p:sp>
      <p:sp>
        <p:nvSpPr>
          <p:cNvPr id="4" name="Shape 1"/>
          <p:cNvSpPr/>
          <p:nvPr/>
        </p:nvSpPr>
        <p:spPr>
          <a:xfrm>
            <a:off x="685800" y="1325880"/>
            <a:ext cx="2167128" cy="1554480"/>
          </a:xfrm>
          <a:prstGeom prst="roundRect">
            <a:avLst>
              <a:gd name="adj" fmla="val 705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868680" y="1463040"/>
            <a:ext cx="548640" cy="502920"/>
          </a:xfrm>
          <a:prstGeom prst="rect">
            <a:avLst/>
          </a:prstGeom>
          <a:noFill/>
          <a:ln/>
        </p:spPr>
        <p:txBody>
          <a:bodyPr wrap="square" lIns="0" tIns="0" rIns="0" bIns="0" rtlCol="0" anchor="ctr"/>
          <a:lstStyle/>
          <a:p>
            <a:pPr indent="0" marL="0">
              <a:buNone/>
            </a:pPr>
            <a:r>
              <a:rPr lang="en-US" sz="2600" dirty="0">
                <a:solidFill>
                  <a:srgbClr val="000000"/>
                </a:solidFill>
                <a:latin typeface="Segoe UI Emoji" pitchFamily="34" charset="0"/>
                <a:ea typeface="Segoe UI Emoji" pitchFamily="34" charset="-122"/>
                <a:cs typeface="Segoe UI Emoji" pitchFamily="34" charset="-120"/>
              </a:rPr>
              <a:t>🥐</a:t>
            </a:r>
            <a:endParaRPr lang="en-US" sz="2600" dirty="0"/>
          </a:p>
        </p:txBody>
      </p:sp>
      <p:sp>
        <p:nvSpPr>
          <p:cNvPr id="6" name="Text 3"/>
          <p:cNvSpPr txBox="1"/>
          <p:nvPr/>
        </p:nvSpPr>
        <p:spPr>
          <a:xfrm>
            <a:off x="868680" y="2011680"/>
            <a:ext cx="1801368" cy="347472"/>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Bakery</a:t>
            </a:r>
            <a:endParaRPr lang="en-US" sz="1600" dirty="0"/>
          </a:p>
        </p:txBody>
      </p:sp>
      <p:sp>
        <p:nvSpPr>
          <p:cNvPr id="7" name="Text 4"/>
          <p:cNvSpPr txBox="1"/>
          <p:nvPr/>
        </p:nvSpPr>
        <p:spPr>
          <a:xfrm>
            <a:off x="868680" y="2350008"/>
            <a:ext cx="1801368" cy="457200"/>
          </a:xfrm>
          <a:prstGeom prst="rect">
            <a:avLst/>
          </a:prstGeom>
          <a:noFill/>
          <a:ln/>
        </p:spPr>
        <p:txBody>
          <a:bodyPr wrap="square" lIns="0" tIns="0" rIns="0" bIns="0" rtlCol="0" anchor="t"/>
          <a:lstStyle/>
          <a:p>
            <a:pPr indent="0" marL="0">
              <a:buNone/>
            </a:pPr>
            <a:r>
              <a:rPr lang="en-US" sz="1300" dirty="0">
                <a:solidFill>
                  <a:srgbClr val="595959"/>
                </a:solidFill>
                <a:latin typeface="Aptos" pitchFamily="34" charset="0"/>
                <a:ea typeface="Aptos" pitchFamily="34" charset="-122"/>
                <a:cs typeface="Aptos" pitchFamily="34" charset="-120"/>
              </a:rPr>
              <a:t>Pre-order a birthday cake</a:t>
            </a:r>
            <a:endParaRPr lang="en-US" sz="1300" dirty="0"/>
          </a:p>
        </p:txBody>
      </p:sp>
      <p:sp>
        <p:nvSpPr>
          <p:cNvPr id="8" name="Shape 5"/>
          <p:cNvSpPr/>
          <p:nvPr/>
        </p:nvSpPr>
        <p:spPr>
          <a:xfrm>
            <a:off x="3076956" y="1325880"/>
            <a:ext cx="2167128" cy="1554480"/>
          </a:xfrm>
          <a:prstGeom prst="roundRect">
            <a:avLst>
              <a:gd name="adj" fmla="val 705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3259836" y="1463040"/>
            <a:ext cx="548640" cy="502920"/>
          </a:xfrm>
          <a:prstGeom prst="rect">
            <a:avLst/>
          </a:prstGeom>
          <a:noFill/>
          <a:ln/>
        </p:spPr>
        <p:txBody>
          <a:bodyPr wrap="square" lIns="0" tIns="0" rIns="0" bIns="0" rtlCol="0" anchor="ctr"/>
          <a:lstStyle/>
          <a:p>
            <a:pPr indent="0" marL="0">
              <a:buNone/>
            </a:pPr>
            <a:r>
              <a:rPr lang="en-US" sz="2600" dirty="0">
                <a:solidFill>
                  <a:srgbClr val="000000"/>
                </a:solidFill>
                <a:latin typeface="Segoe UI Emoji" pitchFamily="34" charset="0"/>
                <a:ea typeface="Segoe UI Emoji" pitchFamily="34" charset="-122"/>
                <a:cs typeface="Segoe UI Emoji" pitchFamily="34" charset="-120"/>
              </a:rPr>
              <a:t>🎸</a:t>
            </a:r>
            <a:endParaRPr lang="en-US" sz="2600" dirty="0"/>
          </a:p>
        </p:txBody>
      </p:sp>
      <p:sp>
        <p:nvSpPr>
          <p:cNvPr id="10" name="Text 7"/>
          <p:cNvSpPr txBox="1"/>
          <p:nvPr/>
        </p:nvSpPr>
        <p:spPr>
          <a:xfrm>
            <a:off x="3259836" y="2011680"/>
            <a:ext cx="1801368" cy="347472"/>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Local band</a:t>
            </a:r>
            <a:endParaRPr lang="en-US" sz="1600" dirty="0"/>
          </a:p>
        </p:txBody>
      </p:sp>
      <p:sp>
        <p:nvSpPr>
          <p:cNvPr id="11" name="Text 8"/>
          <p:cNvSpPr txBox="1"/>
          <p:nvPr/>
        </p:nvSpPr>
        <p:spPr>
          <a:xfrm>
            <a:off x="3259836" y="2350008"/>
            <a:ext cx="1801368" cy="457200"/>
          </a:xfrm>
          <a:prstGeom prst="rect">
            <a:avLst/>
          </a:prstGeom>
          <a:noFill/>
          <a:ln/>
        </p:spPr>
        <p:txBody>
          <a:bodyPr wrap="square" lIns="0" tIns="0" rIns="0" bIns="0" rtlCol="0" anchor="t"/>
          <a:lstStyle/>
          <a:p>
            <a:pPr indent="0" marL="0">
              <a:buNone/>
            </a:pPr>
            <a:r>
              <a:rPr lang="en-US" sz="1300" dirty="0">
                <a:solidFill>
                  <a:srgbClr val="595959"/>
                </a:solidFill>
                <a:latin typeface="Aptos" pitchFamily="34" charset="0"/>
                <a:ea typeface="Aptos" pitchFamily="34" charset="-122"/>
                <a:cs typeface="Aptos" pitchFamily="34" charset="-120"/>
              </a:rPr>
              <a:t>Upcoming shows and tickets</a:t>
            </a:r>
            <a:endParaRPr lang="en-US" sz="1300" dirty="0"/>
          </a:p>
        </p:txBody>
      </p:sp>
      <p:sp>
        <p:nvSpPr>
          <p:cNvPr id="12" name="Shape 9"/>
          <p:cNvSpPr/>
          <p:nvPr/>
        </p:nvSpPr>
        <p:spPr>
          <a:xfrm>
            <a:off x="5468112" y="1325880"/>
            <a:ext cx="2167128" cy="1554480"/>
          </a:xfrm>
          <a:prstGeom prst="roundRect">
            <a:avLst>
              <a:gd name="adj" fmla="val 705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5650992" y="1463040"/>
            <a:ext cx="548640" cy="502920"/>
          </a:xfrm>
          <a:prstGeom prst="rect">
            <a:avLst/>
          </a:prstGeom>
          <a:noFill/>
          <a:ln/>
        </p:spPr>
        <p:txBody>
          <a:bodyPr wrap="square" lIns="0" tIns="0" rIns="0" bIns="0" rtlCol="0" anchor="ctr"/>
          <a:lstStyle/>
          <a:p>
            <a:pPr indent="0" marL="0">
              <a:buNone/>
            </a:pPr>
            <a:r>
              <a:rPr lang="en-US" sz="2600" dirty="0">
                <a:solidFill>
                  <a:srgbClr val="000000"/>
                </a:solidFill>
                <a:latin typeface="Segoe UI Emoji" pitchFamily="34" charset="0"/>
                <a:ea typeface="Segoe UI Emoji" pitchFamily="34" charset="-122"/>
                <a:cs typeface="Segoe UI Emoji" pitchFamily="34" charset="-120"/>
              </a:rPr>
              <a:t>🐾</a:t>
            </a:r>
            <a:endParaRPr lang="en-US" sz="2600" dirty="0"/>
          </a:p>
        </p:txBody>
      </p:sp>
      <p:sp>
        <p:nvSpPr>
          <p:cNvPr id="14" name="Text 11"/>
          <p:cNvSpPr txBox="1"/>
          <p:nvPr/>
        </p:nvSpPr>
        <p:spPr>
          <a:xfrm>
            <a:off x="5650992" y="2011680"/>
            <a:ext cx="1801368" cy="347472"/>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Dog groomer</a:t>
            </a:r>
            <a:endParaRPr lang="en-US" sz="1600" dirty="0"/>
          </a:p>
        </p:txBody>
      </p:sp>
      <p:sp>
        <p:nvSpPr>
          <p:cNvPr id="15" name="Text 12"/>
          <p:cNvSpPr txBox="1"/>
          <p:nvPr/>
        </p:nvSpPr>
        <p:spPr>
          <a:xfrm>
            <a:off x="5650992" y="2350008"/>
            <a:ext cx="1801368" cy="457200"/>
          </a:xfrm>
          <a:prstGeom prst="rect">
            <a:avLst/>
          </a:prstGeom>
          <a:noFill/>
          <a:ln/>
        </p:spPr>
        <p:txBody>
          <a:bodyPr wrap="square" lIns="0" tIns="0" rIns="0" bIns="0" rtlCol="0" anchor="t"/>
          <a:lstStyle/>
          <a:p>
            <a:pPr indent="0" marL="0">
              <a:buNone/>
            </a:pPr>
            <a:r>
              <a:rPr lang="en-US" sz="1300" dirty="0">
                <a:solidFill>
                  <a:srgbClr val="595959"/>
                </a:solidFill>
                <a:latin typeface="Aptos" pitchFamily="34" charset="0"/>
                <a:ea typeface="Aptos" pitchFamily="34" charset="-122"/>
                <a:cs typeface="Aptos" pitchFamily="34" charset="-120"/>
              </a:rPr>
              <a:t>Book an appointment</a:t>
            </a:r>
            <a:endParaRPr lang="en-US" sz="1300" dirty="0"/>
          </a:p>
        </p:txBody>
      </p:sp>
      <p:sp>
        <p:nvSpPr>
          <p:cNvPr id="16" name="Shape 13"/>
          <p:cNvSpPr/>
          <p:nvPr/>
        </p:nvSpPr>
        <p:spPr>
          <a:xfrm>
            <a:off x="685800" y="3081528"/>
            <a:ext cx="2167128" cy="1554480"/>
          </a:xfrm>
          <a:prstGeom prst="roundRect">
            <a:avLst>
              <a:gd name="adj" fmla="val 705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7" name="Text 14"/>
          <p:cNvSpPr txBox="1"/>
          <p:nvPr/>
        </p:nvSpPr>
        <p:spPr>
          <a:xfrm>
            <a:off x="868680" y="3218688"/>
            <a:ext cx="548640" cy="502920"/>
          </a:xfrm>
          <a:prstGeom prst="rect">
            <a:avLst/>
          </a:prstGeom>
          <a:noFill/>
          <a:ln/>
        </p:spPr>
        <p:txBody>
          <a:bodyPr wrap="square" lIns="0" tIns="0" rIns="0" bIns="0" rtlCol="0" anchor="ctr"/>
          <a:lstStyle/>
          <a:p>
            <a:pPr indent="0" marL="0">
              <a:buNone/>
            </a:pPr>
            <a:r>
              <a:rPr lang="en-US" sz="2600" dirty="0">
                <a:solidFill>
                  <a:srgbClr val="000000"/>
                </a:solidFill>
                <a:latin typeface="Segoe UI Emoji" pitchFamily="34" charset="0"/>
                <a:ea typeface="Segoe UI Emoji" pitchFamily="34" charset="-122"/>
                <a:cs typeface="Segoe UI Emoji" pitchFamily="34" charset="-120"/>
              </a:rPr>
              <a:t>🏒</a:t>
            </a:r>
            <a:endParaRPr lang="en-US" sz="2600" dirty="0"/>
          </a:p>
        </p:txBody>
      </p:sp>
      <p:sp>
        <p:nvSpPr>
          <p:cNvPr id="18" name="Text 15"/>
          <p:cNvSpPr txBox="1"/>
          <p:nvPr/>
        </p:nvSpPr>
        <p:spPr>
          <a:xfrm>
            <a:off x="868680" y="3767328"/>
            <a:ext cx="1801368" cy="347472"/>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Minor hockey</a:t>
            </a:r>
            <a:endParaRPr lang="en-US" sz="1600" dirty="0"/>
          </a:p>
        </p:txBody>
      </p:sp>
      <p:sp>
        <p:nvSpPr>
          <p:cNvPr id="19" name="Text 16"/>
          <p:cNvSpPr txBox="1"/>
          <p:nvPr/>
        </p:nvSpPr>
        <p:spPr>
          <a:xfrm>
            <a:off x="868680" y="4105656"/>
            <a:ext cx="1801368" cy="457200"/>
          </a:xfrm>
          <a:prstGeom prst="rect">
            <a:avLst/>
          </a:prstGeom>
          <a:noFill/>
          <a:ln/>
        </p:spPr>
        <p:txBody>
          <a:bodyPr wrap="square" lIns="0" tIns="0" rIns="0" bIns="0" rtlCol="0" anchor="t"/>
          <a:lstStyle/>
          <a:p>
            <a:pPr indent="0" marL="0">
              <a:buNone/>
            </a:pPr>
            <a:r>
              <a:rPr lang="en-US" sz="1300" dirty="0">
                <a:solidFill>
                  <a:srgbClr val="595959"/>
                </a:solidFill>
                <a:latin typeface="Aptos" pitchFamily="34" charset="0"/>
                <a:ea typeface="Aptos" pitchFamily="34" charset="-122"/>
                <a:cs typeface="Aptos" pitchFamily="34" charset="-120"/>
              </a:rPr>
              <a:t>Team schedule and registration</a:t>
            </a:r>
            <a:endParaRPr lang="en-US" sz="1300" dirty="0"/>
          </a:p>
        </p:txBody>
      </p:sp>
      <p:sp>
        <p:nvSpPr>
          <p:cNvPr id="20" name="Shape 17"/>
          <p:cNvSpPr/>
          <p:nvPr/>
        </p:nvSpPr>
        <p:spPr>
          <a:xfrm>
            <a:off x="3076956" y="3081528"/>
            <a:ext cx="2167128" cy="1554480"/>
          </a:xfrm>
          <a:prstGeom prst="roundRect">
            <a:avLst>
              <a:gd name="adj" fmla="val 705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1" name="Text 18"/>
          <p:cNvSpPr txBox="1"/>
          <p:nvPr/>
        </p:nvSpPr>
        <p:spPr>
          <a:xfrm>
            <a:off x="3259836" y="3218688"/>
            <a:ext cx="548640" cy="502920"/>
          </a:xfrm>
          <a:prstGeom prst="rect">
            <a:avLst/>
          </a:prstGeom>
          <a:noFill/>
          <a:ln/>
        </p:spPr>
        <p:txBody>
          <a:bodyPr wrap="square" lIns="0" tIns="0" rIns="0" bIns="0" rtlCol="0" anchor="ctr"/>
          <a:lstStyle/>
          <a:p>
            <a:pPr indent="0" marL="0">
              <a:buNone/>
            </a:pPr>
            <a:r>
              <a:rPr lang="en-US" sz="2600" dirty="0">
                <a:solidFill>
                  <a:srgbClr val="000000"/>
                </a:solidFill>
                <a:latin typeface="Segoe UI Emoji" pitchFamily="34" charset="0"/>
                <a:ea typeface="Segoe UI Emoji" pitchFamily="34" charset="-122"/>
                <a:cs typeface="Segoe UI Emoji" pitchFamily="34" charset="-120"/>
              </a:rPr>
              <a:t>🚚</a:t>
            </a:r>
            <a:endParaRPr lang="en-US" sz="2600" dirty="0"/>
          </a:p>
        </p:txBody>
      </p:sp>
      <p:sp>
        <p:nvSpPr>
          <p:cNvPr id="22" name="Text 19"/>
          <p:cNvSpPr txBox="1"/>
          <p:nvPr/>
        </p:nvSpPr>
        <p:spPr>
          <a:xfrm>
            <a:off x="3259836" y="3767328"/>
            <a:ext cx="1801368" cy="347472"/>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Food truck</a:t>
            </a:r>
            <a:endParaRPr lang="en-US" sz="1600" dirty="0"/>
          </a:p>
        </p:txBody>
      </p:sp>
      <p:sp>
        <p:nvSpPr>
          <p:cNvPr id="23" name="Text 20"/>
          <p:cNvSpPr txBox="1"/>
          <p:nvPr/>
        </p:nvSpPr>
        <p:spPr>
          <a:xfrm>
            <a:off x="3259836" y="4105656"/>
            <a:ext cx="1801368" cy="457200"/>
          </a:xfrm>
          <a:prstGeom prst="rect">
            <a:avLst/>
          </a:prstGeom>
          <a:noFill/>
          <a:ln/>
        </p:spPr>
        <p:txBody>
          <a:bodyPr wrap="square" lIns="0" tIns="0" rIns="0" bIns="0" rtlCol="0" anchor="t"/>
          <a:lstStyle/>
          <a:p>
            <a:pPr indent="0" marL="0">
              <a:buNone/>
            </a:pPr>
            <a:r>
              <a:rPr lang="en-US" sz="1300" dirty="0">
                <a:solidFill>
                  <a:srgbClr val="595959"/>
                </a:solidFill>
                <a:latin typeface="Aptos" pitchFamily="34" charset="0"/>
                <a:ea typeface="Aptos" pitchFamily="34" charset="-122"/>
                <a:cs typeface="Aptos" pitchFamily="34" charset="-120"/>
              </a:rPr>
              <a:t>Today's location and menu</a:t>
            </a:r>
            <a:endParaRPr lang="en-US" sz="1300" dirty="0"/>
          </a:p>
        </p:txBody>
      </p:sp>
      <p:sp>
        <p:nvSpPr>
          <p:cNvPr id="24" name="Shape 21"/>
          <p:cNvSpPr/>
          <p:nvPr/>
        </p:nvSpPr>
        <p:spPr>
          <a:xfrm>
            <a:off x="5468112" y="3081528"/>
            <a:ext cx="2167128" cy="1554480"/>
          </a:xfrm>
          <a:prstGeom prst="roundRect">
            <a:avLst>
              <a:gd name="adj" fmla="val 705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5" name="Text 22"/>
          <p:cNvSpPr txBox="1"/>
          <p:nvPr/>
        </p:nvSpPr>
        <p:spPr>
          <a:xfrm>
            <a:off x="5650992" y="3218688"/>
            <a:ext cx="548640" cy="502920"/>
          </a:xfrm>
          <a:prstGeom prst="rect">
            <a:avLst/>
          </a:prstGeom>
          <a:noFill/>
          <a:ln/>
        </p:spPr>
        <p:txBody>
          <a:bodyPr wrap="square" lIns="0" tIns="0" rIns="0" bIns="0" rtlCol="0" anchor="ctr"/>
          <a:lstStyle/>
          <a:p>
            <a:pPr indent="0" marL="0">
              <a:buNone/>
            </a:pPr>
            <a:r>
              <a:rPr lang="en-US" sz="2600" dirty="0">
                <a:solidFill>
                  <a:srgbClr val="000000"/>
                </a:solidFill>
                <a:latin typeface="Segoe UI Emoji" pitchFamily="34" charset="0"/>
                <a:ea typeface="Segoe UI Emoji" pitchFamily="34" charset="-122"/>
                <a:cs typeface="Segoe UI Emoji" pitchFamily="34" charset="-120"/>
              </a:rPr>
              <a:t>🏕️</a:t>
            </a:r>
            <a:endParaRPr lang="en-US" sz="2600" dirty="0"/>
          </a:p>
        </p:txBody>
      </p:sp>
      <p:sp>
        <p:nvSpPr>
          <p:cNvPr id="26" name="Text 23"/>
          <p:cNvSpPr txBox="1"/>
          <p:nvPr/>
        </p:nvSpPr>
        <p:spPr>
          <a:xfrm>
            <a:off x="5650992" y="3767328"/>
            <a:ext cx="1801368" cy="347472"/>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Campground</a:t>
            </a:r>
            <a:endParaRPr lang="en-US" sz="1600" dirty="0"/>
          </a:p>
        </p:txBody>
      </p:sp>
      <p:sp>
        <p:nvSpPr>
          <p:cNvPr id="27" name="Text 24"/>
          <p:cNvSpPr txBox="1"/>
          <p:nvPr/>
        </p:nvSpPr>
        <p:spPr>
          <a:xfrm>
            <a:off x="5650992" y="4105656"/>
            <a:ext cx="1801368" cy="457200"/>
          </a:xfrm>
          <a:prstGeom prst="rect">
            <a:avLst/>
          </a:prstGeom>
          <a:noFill/>
          <a:ln/>
        </p:spPr>
        <p:txBody>
          <a:bodyPr wrap="square" lIns="0" tIns="0" rIns="0" bIns="0" rtlCol="0" anchor="t"/>
          <a:lstStyle/>
          <a:p>
            <a:pPr indent="0" marL="0">
              <a:buNone/>
            </a:pPr>
            <a:r>
              <a:rPr lang="en-US" sz="1300" dirty="0">
                <a:solidFill>
                  <a:srgbClr val="595959"/>
                </a:solidFill>
                <a:latin typeface="Aptos" pitchFamily="34" charset="0"/>
                <a:ea typeface="Aptos" pitchFamily="34" charset="-122"/>
                <a:cs typeface="Aptos" pitchFamily="34" charset="-120"/>
              </a:rPr>
              <a:t>Pick a site, reserve dates</a:t>
            </a:r>
            <a:endParaRPr lang="en-US" sz="1300" dirty="0"/>
          </a:p>
        </p:txBody>
      </p:sp>
      <p:sp>
        <p:nvSpPr>
          <p:cNvPr id="28" name="Shape 25"/>
          <p:cNvSpPr/>
          <p:nvPr/>
        </p:nvSpPr>
        <p:spPr>
          <a:xfrm>
            <a:off x="685800" y="4892040"/>
            <a:ext cx="6949440" cy="1005840"/>
          </a:xfrm>
          <a:prstGeom prst="roundRect">
            <a:avLst>
              <a:gd name="adj" fmla="val 10909"/>
            </a:avLst>
          </a:prstGeom>
          <a:solidFill>
            <a:srgbClr val="FBE9DF"/>
          </a:solidFill>
          <a:ln w="9525">
            <a:solidFill>
              <a:srgbClr val="F2C6AC"/>
            </a:solidFill>
            <a:prstDash val="solid"/>
          </a:ln>
          <a:effectLst>
            <a:outerShdw sx="100000" sy="100000" kx="0" ky="0" algn="bl" rotWithShape="0" blurRad="76200" dist="25400" dir="5400000">
              <a:srgbClr val="000000">
                <a:alpha val="12000"/>
              </a:srgbClr>
            </a:outerShdw>
          </a:effectLst>
        </p:spPr>
      </p:sp>
      <p:sp>
        <p:nvSpPr>
          <p:cNvPr id="29" name="Text 26"/>
          <p:cNvSpPr txBox="1"/>
          <p:nvPr/>
        </p:nvSpPr>
        <p:spPr>
          <a:xfrm>
            <a:off x="914400" y="4892040"/>
            <a:ext cx="6492240" cy="1005840"/>
          </a:xfrm>
          <a:prstGeom prst="rect">
            <a:avLst/>
          </a:prstGeom>
          <a:noFill/>
          <a:ln/>
        </p:spPr>
        <p:txBody>
          <a:bodyPr wrap="square" lIns="0" tIns="0" rIns="0" bIns="0" rtlCol="0" anchor="ctr"/>
          <a:lstStyle/>
          <a:p>
            <a:pPr indent="0" marL="0">
              <a:buNone/>
            </a:pPr>
            <a:r>
              <a:rPr lang="en-US" sz="1400" b="1" dirty="0">
                <a:solidFill>
                  <a:srgbClr val="262626"/>
                </a:solidFill>
                <a:latin typeface="Aptos" pitchFamily="34" charset="0"/>
                <a:ea typeface="Aptos" pitchFamily="34" charset="-122"/>
                <a:cs typeface="Aptos" pitchFamily="34" charset="-120"/>
              </a:rPr>
              <a:t>💡 Or pitch your own. </a:t>
            </a:r>
            <a:pPr indent="0" marL="0">
              <a:buNone/>
            </a:pPr>
            <a:r>
              <a:rPr lang="en-US" sz="1400" dirty="0">
                <a:solidFill>
                  <a:srgbClr val="262626"/>
                </a:solidFill>
                <a:latin typeface="Aptos" pitchFamily="34" charset="0"/>
                <a:ea typeface="Aptos" pitchFamily="34" charset="-122"/>
                <a:cs typeface="Aptos" pitchFamily="34" charset="-120"/>
              </a:rPr>
              <a:t>Check with me first. It needs one main page where the user does something, not just reads.</a:t>
            </a:r>
            <a:endParaRPr lang="en-US" sz="1400" dirty="0"/>
          </a:p>
        </p:txBody>
      </p:sp>
      <p:sp>
        <p:nvSpPr>
          <p:cNvPr id="30" name="Shape 27"/>
          <p:cNvSpPr/>
          <p:nvPr/>
        </p:nvSpPr>
        <p:spPr>
          <a:xfrm>
            <a:off x="8001000" y="1325880"/>
            <a:ext cx="3520440" cy="4572000"/>
          </a:xfrm>
          <a:prstGeom prst="roundRect">
            <a:avLst>
              <a:gd name="adj" fmla="val 3117"/>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31" name="Text 28"/>
          <p:cNvSpPr txBox="1"/>
          <p:nvPr/>
        </p:nvSpPr>
        <p:spPr>
          <a:xfrm>
            <a:off x="8229600" y="1554480"/>
            <a:ext cx="3108960" cy="640080"/>
          </a:xfrm>
          <a:prstGeom prst="rect">
            <a:avLst/>
          </a:prstGeom>
          <a:noFill/>
          <a:ln/>
        </p:spPr>
        <p:txBody>
          <a:bodyPr wrap="square" lIns="0" tIns="0" rIns="0" bIns="0" rtlCol="0" anchor="t"/>
          <a:lstStyle/>
          <a:p>
            <a:pPr indent="0" marL="0">
              <a:buNone/>
            </a:pPr>
            <a:r>
              <a:rPr lang="en-US" sz="1800" b="1" dirty="0">
                <a:solidFill>
                  <a:srgbClr val="FFFFFF"/>
                </a:solidFill>
                <a:latin typeface="Aptos" pitchFamily="34" charset="0"/>
                <a:ea typeface="Aptos" pitchFamily="34" charset="-122"/>
                <a:cs typeface="Aptos" pitchFamily="34" charset="-120"/>
              </a:rPr>
              <a:t>Then write 3–4 user stories</a:t>
            </a:r>
            <a:endParaRPr lang="en-US" sz="1800" dirty="0"/>
          </a:p>
        </p:txBody>
      </p:sp>
      <p:sp>
        <p:nvSpPr>
          <p:cNvPr id="32" name="Text 29"/>
          <p:cNvSpPr txBox="1"/>
          <p:nvPr/>
        </p:nvSpPr>
        <p:spPr>
          <a:xfrm>
            <a:off x="8229600" y="2286000"/>
            <a:ext cx="3108960" cy="548640"/>
          </a:xfrm>
          <a:prstGeom prst="rect">
            <a:avLst/>
          </a:prstGeom>
          <a:noFill/>
          <a:ln/>
        </p:spPr>
        <p:txBody>
          <a:bodyPr wrap="square" lIns="0" tIns="0" rIns="0" bIns="0" rtlCol="0" anchor="t"/>
          <a:lstStyle/>
          <a:p>
            <a:pPr indent="0" marL="0">
              <a:buNone/>
            </a:pPr>
            <a:r>
              <a:rPr lang="en-US" sz="1500" i="1" dirty="0">
                <a:solidFill>
                  <a:srgbClr val="F2C6AC"/>
                </a:solidFill>
                <a:latin typeface="Aptos" pitchFamily="34" charset="0"/>
                <a:ea typeface="Aptos" pitchFamily="34" charset="-122"/>
                <a:cs typeface="Aptos" pitchFamily="34" charset="-120"/>
              </a:rPr>
              <a:t>As a ___, I want to ___ so that ___.</a:t>
            </a:r>
            <a:endParaRPr lang="en-US" sz="1500" dirty="0"/>
          </a:p>
        </p:txBody>
      </p:sp>
      <p:sp>
        <p:nvSpPr>
          <p:cNvPr id="33" name="Text 30"/>
          <p:cNvSpPr txBox="1"/>
          <p:nvPr/>
        </p:nvSpPr>
        <p:spPr>
          <a:xfrm>
            <a:off x="8229600" y="3017520"/>
            <a:ext cx="3108960" cy="2560320"/>
          </a:xfrm>
          <a:prstGeom prst="rect">
            <a:avLst/>
          </a:prstGeom>
          <a:noFill/>
          <a:ln/>
        </p:spPr>
        <p:txBody>
          <a:bodyPr wrap="square" lIns="0" tIns="0" rIns="0" bIns="0" rtlCol="0" anchor="t"/>
          <a:lstStyle/>
          <a:p>
            <a:pPr indent="0" marL="0">
              <a:buNone/>
            </a:pPr>
            <a:r>
              <a:rPr lang="en-US" sz="1400" b="1" dirty="0">
                <a:solidFill>
                  <a:srgbClr val="FFFFFF"/>
                </a:solidFill>
                <a:latin typeface="Aptos" pitchFamily="34" charset="0"/>
                <a:ea typeface="Aptos" pitchFamily="34" charset="-122"/>
                <a:cs typeface="Aptos" pitchFamily="34" charset="-120"/>
              </a:rPr>
              <a:t>Example</a:t>
            </a:r>
            <a:endParaRPr lang="en-US" sz="1400" dirty="0"/>
          </a:p>
          <a:p>
            <a:pPr indent="0" marL="0">
              <a:buNone/>
            </a:pPr>
            <a:r>
              <a:rPr lang="en-US" sz="1400" dirty="0">
                <a:solidFill>
                  <a:srgbClr val="D9D9D9"/>
                </a:solidFill>
                <a:latin typeface="Aptos" pitchFamily="34" charset="0"/>
                <a:ea typeface="Aptos" pitchFamily="34" charset="-122"/>
                <a:cs typeface="Aptos" pitchFamily="34" charset="-120"/>
              </a:rPr>
              <a:t>As a dog owner, I want to see open appointment times so that I can book without calling.</a:t>
            </a:r>
            <a:endParaRPr lang="en-US" sz="1400" dirty="0"/>
          </a:p>
          <a:p>
            <a:pPr indent="0" marL="0">
              <a:buNone/>
            </a:pPr>
            <a:r>
              <a:rPr lang="en-US" sz="800" dirty="0">
                <a:solidFill>
                  <a:srgbClr val="000000"/>
                </a:solidFill>
                <a:latin typeface="Aptos" pitchFamily="34" charset="0"/>
                <a:ea typeface="Aptos" pitchFamily="34" charset="-122"/>
                <a:cs typeface="Aptos" pitchFamily="34" charset="-120"/>
              </a:rPr>
              <a:t> </a:t>
            </a:r>
            <a:endParaRPr lang="en-US" sz="1400" dirty="0"/>
          </a:p>
          <a:p>
            <a:pPr indent="0" marL="0">
              <a:buNone/>
            </a:pPr>
            <a:r>
              <a:rPr lang="en-US" sz="1400" b="1" dirty="0">
                <a:solidFill>
                  <a:srgbClr val="D9D9D9"/>
                </a:solidFill>
                <a:latin typeface="Aptos" pitchFamily="34" charset="0"/>
                <a:ea typeface="Aptos" pitchFamily="34" charset="-122"/>
                <a:cs typeface="Aptos" pitchFamily="34" charset="-120"/>
              </a:rPr>
              <a:t>Include at least one story about using a phone.</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Your Turn – Part 2: Wireframe It (30 min)</a:t>
            </a:r>
            <a:endParaRPr lang="en-US" sz="2800" dirty="0"/>
          </a:p>
        </p:txBody>
      </p:sp>
      <p:sp>
        <p:nvSpPr>
          <p:cNvPr id="4" name="Shape 1"/>
          <p:cNvSpPr/>
          <p:nvPr/>
        </p:nvSpPr>
        <p:spPr>
          <a:xfrm>
            <a:off x="685800" y="1325880"/>
            <a:ext cx="694944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960120" y="1508760"/>
            <a:ext cx="6400800" cy="36576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Your wireframe must have…</a:t>
            </a:r>
            <a:endParaRPr lang="en-US" sz="1800" dirty="0"/>
          </a:p>
        </p:txBody>
      </p:sp>
      <p:sp>
        <p:nvSpPr>
          <p:cNvPr id="6" name="Shape 3"/>
          <p:cNvSpPr/>
          <p:nvPr/>
        </p:nvSpPr>
        <p:spPr>
          <a:xfrm>
            <a:off x="960120" y="2103120"/>
            <a:ext cx="274320" cy="274320"/>
          </a:xfrm>
          <a:prstGeom prst="roundRect">
            <a:avLst>
              <a:gd name="adj" fmla="val 16667"/>
            </a:avLst>
          </a:prstGeom>
          <a:solidFill>
            <a:srgbClr val="FFFFFF"/>
          </a:solidFill>
          <a:ln w="19050">
            <a:solidFill>
              <a:srgbClr val="1B5E82"/>
            </a:solidFill>
            <a:prstDash val="solid"/>
          </a:ln>
        </p:spPr>
      </p:sp>
      <p:sp>
        <p:nvSpPr>
          <p:cNvPr id="7" name="Text 4"/>
          <p:cNvSpPr txBox="1"/>
          <p:nvPr/>
        </p:nvSpPr>
        <p:spPr>
          <a:xfrm>
            <a:off x="1417320" y="2057400"/>
            <a:ext cx="6035040" cy="411480"/>
          </a:xfrm>
          <a:prstGeom prst="rect">
            <a:avLst/>
          </a:prstGeom>
          <a:noFill/>
          <a:ln/>
        </p:spPr>
        <p:txBody>
          <a:bodyPr wrap="square" lIns="0" tIns="0" rIns="0" bIns="0" rtlCol="0" anchor="t"/>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Your </a:t>
            </a:r>
            <a:pPr indent="0" marL="0">
              <a:buNone/>
            </a:pPr>
            <a:r>
              <a:rPr lang="en-US" sz="1450" b="1" dirty="0">
                <a:solidFill>
                  <a:srgbClr val="262626"/>
                </a:solidFill>
                <a:latin typeface="Aptos" pitchFamily="34" charset="0"/>
                <a:ea typeface="Aptos" pitchFamily="34" charset="-122"/>
                <a:cs typeface="Aptos" pitchFamily="34" charset="-120"/>
              </a:rPr>
              <a:t>user stories</a:t>
            </a:r>
            <a:pPr indent="0" marL="0">
              <a:buNone/>
            </a:pPr>
            <a:r>
              <a:rPr lang="en-US" sz="1450" dirty="0">
                <a:solidFill>
                  <a:srgbClr val="262626"/>
                </a:solidFill>
                <a:latin typeface="Aptos" pitchFamily="34" charset="0"/>
                <a:ea typeface="Aptos" pitchFamily="34" charset="-122"/>
                <a:cs typeface="Aptos" pitchFamily="34" charset="-120"/>
              </a:rPr>
              <a:t> written at the top of the page</a:t>
            </a:r>
            <a:endParaRPr lang="en-US" sz="1450" dirty="0"/>
          </a:p>
        </p:txBody>
      </p:sp>
      <p:sp>
        <p:nvSpPr>
          <p:cNvPr id="8" name="Shape 5"/>
          <p:cNvSpPr/>
          <p:nvPr/>
        </p:nvSpPr>
        <p:spPr>
          <a:xfrm>
            <a:off x="960120" y="2688336"/>
            <a:ext cx="274320" cy="274320"/>
          </a:xfrm>
          <a:prstGeom prst="roundRect">
            <a:avLst>
              <a:gd name="adj" fmla="val 16667"/>
            </a:avLst>
          </a:prstGeom>
          <a:solidFill>
            <a:srgbClr val="FFFFFF"/>
          </a:solidFill>
          <a:ln w="19050">
            <a:solidFill>
              <a:srgbClr val="1B5E82"/>
            </a:solidFill>
            <a:prstDash val="solid"/>
          </a:ln>
        </p:spPr>
      </p:sp>
      <p:sp>
        <p:nvSpPr>
          <p:cNvPr id="9" name="Text 6"/>
          <p:cNvSpPr txBox="1"/>
          <p:nvPr/>
        </p:nvSpPr>
        <p:spPr>
          <a:xfrm>
            <a:off x="1417320" y="2642616"/>
            <a:ext cx="6035040" cy="411480"/>
          </a:xfrm>
          <a:prstGeom prst="rect">
            <a:avLst/>
          </a:prstGeom>
          <a:noFill/>
          <a:ln/>
        </p:spPr>
        <p:txBody>
          <a:bodyPr wrap="square" lIns="0" tIns="0" rIns="0" bIns="0" rtlCol="0" anchor="t"/>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A </a:t>
            </a:r>
            <a:pPr indent="0" marL="0">
              <a:buNone/>
            </a:pPr>
            <a:r>
              <a:rPr lang="en-US" sz="1450" b="1" dirty="0">
                <a:solidFill>
                  <a:srgbClr val="262626"/>
                </a:solidFill>
                <a:latin typeface="Aptos" pitchFamily="34" charset="0"/>
                <a:ea typeface="Aptos" pitchFamily="34" charset="-122"/>
                <a:cs typeface="Aptos" pitchFamily="34" charset="-120"/>
              </a:rPr>
              <a:t>Desktop</a:t>
            </a:r>
            <a:pPr indent="0" marL="0">
              <a:buNone/>
            </a:pPr>
            <a:r>
              <a:rPr lang="en-US" sz="1450" dirty="0">
                <a:solidFill>
                  <a:srgbClr val="262626"/>
                </a:solidFill>
                <a:latin typeface="Aptos" pitchFamily="34" charset="0"/>
                <a:ea typeface="Aptos" pitchFamily="34" charset="-122"/>
                <a:cs typeface="Aptos" pitchFamily="34" charset="-120"/>
              </a:rPr>
              <a:t> page tab (1200px wide) and a </a:t>
            </a:r>
            <a:pPr indent="0" marL="0">
              <a:buNone/>
            </a:pPr>
            <a:r>
              <a:rPr lang="en-US" sz="1450" b="1" dirty="0">
                <a:solidFill>
                  <a:srgbClr val="262626"/>
                </a:solidFill>
                <a:latin typeface="Aptos" pitchFamily="34" charset="0"/>
                <a:ea typeface="Aptos" pitchFamily="34" charset="-122"/>
                <a:cs typeface="Aptos" pitchFamily="34" charset="-120"/>
              </a:rPr>
              <a:t>Mobile</a:t>
            </a:r>
            <a:pPr indent="0" marL="0">
              <a:buNone/>
            </a:pPr>
            <a:r>
              <a:rPr lang="en-US" sz="1450" dirty="0">
                <a:solidFill>
                  <a:srgbClr val="262626"/>
                </a:solidFill>
                <a:latin typeface="Aptos" pitchFamily="34" charset="0"/>
                <a:ea typeface="Aptos" pitchFamily="34" charset="-122"/>
                <a:cs typeface="Aptos" pitchFamily="34" charset="-120"/>
              </a:rPr>
              <a:t> page tab (375px wide)</a:t>
            </a:r>
            <a:endParaRPr lang="en-US" sz="1450" dirty="0"/>
          </a:p>
        </p:txBody>
      </p:sp>
      <p:sp>
        <p:nvSpPr>
          <p:cNvPr id="10" name="Shape 7"/>
          <p:cNvSpPr/>
          <p:nvPr/>
        </p:nvSpPr>
        <p:spPr>
          <a:xfrm>
            <a:off x="960120" y="3273552"/>
            <a:ext cx="274320" cy="274320"/>
          </a:xfrm>
          <a:prstGeom prst="roundRect">
            <a:avLst>
              <a:gd name="adj" fmla="val 16667"/>
            </a:avLst>
          </a:prstGeom>
          <a:solidFill>
            <a:srgbClr val="FFFFFF"/>
          </a:solidFill>
          <a:ln w="19050">
            <a:solidFill>
              <a:srgbClr val="1B5E82"/>
            </a:solidFill>
            <a:prstDash val="solid"/>
          </a:ln>
        </p:spPr>
      </p:sp>
      <p:sp>
        <p:nvSpPr>
          <p:cNvPr id="11" name="Text 8"/>
          <p:cNvSpPr txBox="1"/>
          <p:nvPr/>
        </p:nvSpPr>
        <p:spPr>
          <a:xfrm>
            <a:off x="1417320" y="3227832"/>
            <a:ext cx="6035040" cy="411480"/>
          </a:xfrm>
          <a:prstGeom prst="rect">
            <a:avLst/>
          </a:prstGeom>
          <a:noFill/>
          <a:ln/>
        </p:spPr>
        <p:txBody>
          <a:bodyPr wrap="square" lIns="0" tIns="0" rIns="0" bIns="0" rtlCol="0" anchor="t"/>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Low-fi only: greyscale, X boxes for images, grey bars for text</a:t>
            </a:r>
            <a:endParaRPr lang="en-US" sz="1450" dirty="0"/>
          </a:p>
        </p:txBody>
      </p:sp>
      <p:sp>
        <p:nvSpPr>
          <p:cNvPr id="12" name="Shape 9"/>
          <p:cNvSpPr/>
          <p:nvPr/>
        </p:nvSpPr>
        <p:spPr>
          <a:xfrm>
            <a:off x="960120" y="3858768"/>
            <a:ext cx="274320" cy="274320"/>
          </a:xfrm>
          <a:prstGeom prst="roundRect">
            <a:avLst>
              <a:gd name="adj" fmla="val 16667"/>
            </a:avLst>
          </a:prstGeom>
          <a:solidFill>
            <a:srgbClr val="FFFFFF"/>
          </a:solidFill>
          <a:ln w="19050">
            <a:solidFill>
              <a:srgbClr val="1B5E82"/>
            </a:solidFill>
            <a:prstDash val="solid"/>
          </a:ln>
        </p:spPr>
      </p:sp>
      <p:sp>
        <p:nvSpPr>
          <p:cNvPr id="13" name="Text 10"/>
          <p:cNvSpPr txBox="1"/>
          <p:nvPr/>
        </p:nvSpPr>
        <p:spPr>
          <a:xfrm>
            <a:off x="1417320" y="3813048"/>
            <a:ext cx="6035040" cy="411480"/>
          </a:xfrm>
          <a:prstGeom prst="rect">
            <a:avLst/>
          </a:prstGeom>
          <a:noFill/>
          <a:ln/>
        </p:spPr>
        <p:txBody>
          <a:bodyPr wrap="square" lIns="0" tIns="0" rIns="0" bIns="0" rtlCol="0" anchor="t"/>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Every story numbered </a:t>
            </a:r>
            <a:pPr indent="0" marL="0">
              <a:buNone/>
            </a:pPr>
            <a:r>
              <a:rPr lang="en-US" sz="1450" b="1" dirty="0">
                <a:solidFill>
                  <a:srgbClr val="262626"/>
                </a:solidFill>
                <a:latin typeface="Aptos" pitchFamily="34" charset="0"/>
                <a:ea typeface="Aptos" pitchFamily="34" charset="-122"/>
                <a:cs typeface="Aptos" pitchFamily="34" charset="-120"/>
              </a:rPr>
              <a:t>① ② ③</a:t>
            </a:r>
            <a:pPr indent="0" marL="0">
              <a:buNone/>
            </a:pPr>
            <a:r>
              <a:rPr lang="en-US" sz="1450" dirty="0">
                <a:solidFill>
                  <a:srgbClr val="262626"/>
                </a:solidFill>
                <a:latin typeface="Aptos" pitchFamily="34" charset="0"/>
                <a:ea typeface="Aptos" pitchFamily="34" charset="-122"/>
                <a:cs typeface="Aptos" pitchFamily="34" charset="-120"/>
              </a:rPr>
              <a:t> on the part of the page that handles it</a:t>
            </a:r>
            <a:endParaRPr lang="en-US" sz="1450" dirty="0"/>
          </a:p>
        </p:txBody>
      </p:sp>
      <p:sp>
        <p:nvSpPr>
          <p:cNvPr id="14" name="Shape 11"/>
          <p:cNvSpPr/>
          <p:nvPr/>
        </p:nvSpPr>
        <p:spPr>
          <a:xfrm>
            <a:off x="960120" y="4443984"/>
            <a:ext cx="274320" cy="274320"/>
          </a:xfrm>
          <a:prstGeom prst="roundRect">
            <a:avLst>
              <a:gd name="adj" fmla="val 16667"/>
            </a:avLst>
          </a:prstGeom>
          <a:solidFill>
            <a:srgbClr val="FFFFFF"/>
          </a:solidFill>
          <a:ln w="19050">
            <a:solidFill>
              <a:srgbClr val="1B5E82"/>
            </a:solidFill>
            <a:prstDash val="solid"/>
          </a:ln>
        </p:spPr>
      </p:sp>
      <p:sp>
        <p:nvSpPr>
          <p:cNvPr id="15" name="Text 12"/>
          <p:cNvSpPr txBox="1"/>
          <p:nvPr/>
        </p:nvSpPr>
        <p:spPr>
          <a:xfrm>
            <a:off x="1417320" y="4398264"/>
            <a:ext cx="6035040" cy="411480"/>
          </a:xfrm>
          <a:prstGeom prst="rect">
            <a:avLst/>
          </a:prstGeom>
          <a:noFill/>
          <a:ln/>
        </p:spPr>
        <p:txBody>
          <a:bodyPr wrap="square" lIns="0" tIns="0" rIns="0" bIns="0" rtlCol="0" anchor="t"/>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Landmark labels: </a:t>
            </a:r>
            <a:pPr indent="0" marL="0">
              <a:buNone/>
            </a:pPr>
            <a:r>
              <a:rPr lang="en-US" sz="1450" dirty="0">
                <a:solidFill>
                  <a:srgbClr val="8A2B0B"/>
                </a:solidFill>
                <a:latin typeface="Consolas" pitchFamily="34" charset="0"/>
                <a:ea typeface="Consolas" pitchFamily="34" charset="-122"/>
                <a:cs typeface="Consolas" pitchFamily="34" charset="-120"/>
              </a:rPr>
              <a:t>&lt;header&gt;</a:t>
            </a:r>
            <a:pPr indent="0" marL="0">
              <a:buNone/>
            </a:pPr>
            <a:r>
              <a:rPr lang="en-US" sz="1450" dirty="0">
                <a:solidFill>
                  <a:srgbClr val="262626"/>
                </a:solidFill>
                <a:latin typeface="Aptos" pitchFamily="34" charset="0"/>
                <a:ea typeface="Aptos" pitchFamily="34" charset="-122"/>
                <a:cs typeface="Aptos" pitchFamily="34" charset="-120"/>
              </a:rPr>
              <a:t> </a:t>
            </a:r>
            <a:pPr indent="0" marL="0">
              <a:buNone/>
            </a:pPr>
            <a:r>
              <a:rPr lang="en-US" sz="1450" dirty="0">
                <a:solidFill>
                  <a:srgbClr val="8A2B0B"/>
                </a:solidFill>
                <a:latin typeface="Consolas" pitchFamily="34" charset="0"/>
                <a:ea typeface="Consolas" pitchFamily="34" charset="-122"/>
                <a:cs typeface="Consolas" pitchFamily="34" charset="-120"/>
              </a:rPr>
              <a:t>&lt;nav&gt;</a:t>
            </a:r>
            <a:pPr indent="0" marL="0">
              <a:buNone/>
            </a:pPr>
            <a:r>
              <a:rPr lang="en-US" sz="1450" dirty="0">
                <a:solidFill>
                  <a:srgbClr val="262626"/>
                </a:solidFill>
                <a:latin typeface="Aptos" pitchFamily="34" charset="0"/>
                <a:ea typeface="Aptos" pitchFamily="34" charset="-122"/>
                <a:cs typeface="Aptos" pitchFamily="34" charset="-120"/>
              </a:rPr>
              <a:t> </a:t>
            </a:r>
            <a:pPr indent="0" marL="0">
              <a:buNone/>
            </a:pPr>
            <a:r>
              <a:rPr lang="en-US" sz="1450" dirty="0">
                <a:solidFill>
                  <a:srgbClr val="8A2B0B"/>
                </a:solidFill>
                <a:latin typeface="Consolas" pitchFamily="34" charset="0"/>
                <a:ea typeface="Consolas" pitchFamily="34" charset="-122"/>
                <a:cs typeface="Consolas" pitchFamily="34" charset="-120"/>
              </a:rPr>
              <a:t>&lt;main&gt;</a:t>
            </a:r>
            <a:pPr indent="0" marL="0">
              <a:buNone/>
            </a:pPr>
            <a:r>
              <a:rPr lang="en-US" sz="1450" dirty="0">
                <a:solidFill>
                  <a:srgbClr val="262626"/>
                </a:solidFill>
                <a:latin typeface="Aptos" pitchFamily="34" charset="0"/>
                <a:ea typeface="Aptos" pitchFamily="34" charset="-122"/>
                <a:cs typeface="Aptos" pitchFamily="34" charset="-120"/>
              </a:rPr>
              <a:t> </a:t>
            </a:r>
            <a:pPr indent="0" marL="0">
              <a:buNone/>
            </a:pPr>
            <a:r>
              <a:rPr lang="en-US" sz="1450" dirty="0">
                <a:solidFill>
                  <a:srgbClr val="8A2B0B"/>
                </a:solidFill>
                <a:latin typeface="Consolas" pitchFamily="34" charset="0"/>
                <a:ea typeface="Consolas" pitchFamily="34" charset="-122"/>
                <a:cs typeface="Consolas" pitchFamily="34" charset="-120"/>
              </a:rPr>
              <a:t>&lt;footer&gt;</a:t>
            </a:r>
            <a:pPr indent="0" marL="0">
              <a:buNone/>
            </a:pPr>
            <a:r>
              <a:rPr lang="en-US" sz="1450" dirty="0">
                <a:solidFill>
                  <a:srgbClr val="262626"/>
                </a:solidFill>
                <a:latin typeface="Aptos" pitchFamily="34" charset="0"/>
                <a:ea typeface="Aptos" pitchFamily="34" charset="-122"/>
                <a:cs typeface="Aptos" pitchFamily="34" charset="-120"/>
              </a:rPr>
              <a:t> + one more</a:t>
            </a:r>
            <a:endParaRPr lang="en-US" sz="1450" dirty="0"/>
          </a:p>
        </p:txBody>
      </p:sp>
      <p:sp>
        <p:nvSpPr>
          <p:cNvPr id="16" name="Shape 13"/>
          <p:cNvSpPr/>
          <p:nvPr/>
        </p:nvSpPr>
        <p:spPr>
          <a:xfrm>
            <a:off x="960120" y="5029200"/>
            <a:ext cx="274320" cy="274320"/>
          </a:xfrm>
          <a:prstGeom prst="roundRect">
            <a:avLst>
              <a:gd name="adj" fmla="val 16667"/>
            </a:avLst>
          </a:prstGeom>
          <a:solidFill>
            <a:srgbClr val="FFFFFF"/>
          </a:solidFill>
          <a:ln w="19050">
            <a:solidFill>
              <a:srgbClr val="1B5E82"/>
            </a:solidFill>
            <a:prstDash val="solid"/>
          </a:ln>
        </p:spPr>
      </p:sp>
      <p:sp>
        <p:nvSpPr>
          <p:cNvPr id="17" name="Text 14"/>
          <p:cNvSpPr txBox="1"/>
          <p:nvPr/>
        </p:nvSpPr>
        <p:spPr>
          <a:xfrm>
            <a:off x="1417320" y="4983480"/>
            <a:ext cx="6035040" cy="411480"/>
          </a:xfrm>
          <a:prstGeom prst="rect">
            <a:avLst/>
          </a:prstGeom>
          <a:noFill/>
          <a:ln/>
        </p:spPr>
        <p:txBody>
          <a:bodyPr wrap="square" lIns="0" tIns="0" rIns="0" bIns="0" rtlCol="0" anchor="t"/>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At least </a:t>
            </a:r>
            <a:pPr indent="0" marL="0">
              <a:buNone/>
            </a:pPr>
            <a:r>
              <a:rPr lang="en-US" sz="1450" b="1" dirty="0">
                <a:solidFill>
                  <a:srgbClr val="262626"/>
                </a:solidFill>
                <a:latin typeface="Aptos" pitchFamily="34" charset="0"/>
                <a:ea typeface="Aptos" pitchFamily="34" charset="-122"/>
                <a:cs typeface="Aptos" pitchFamily="34" charset="-120"/>
              </a:rPr>
              <a:t>two things rearranged</a:t>
            </a:r>
            <a:pPr indent="0" marL="0">
              <a:buNone/>
            </a:pPr>
            <a:r>
              <a:rPr lang="en-US" sz="1450" dirty="0">
                <a:solidFill>
                  <a:srgbClr val="262626"/>
                </a:solidFill>
                <a:latin typeface="Aptos" pitchFamily="34" charset="0"/>
                <a:ea typeface="Aptos" pitchFamily="34" charset="-122"/>
                <a:cs typeface="Aptos" pitchFamily="34" charset="-120"/>
              </a:rPr>
              <a:t> for mobile, not just made narrower</a:t>
            </a:r>
            <a:endParaRPr lang="en-US" sz="1450" dirty="0"/>
          </a:p>
        </p:txBody>
      </p:sp>
      <p:sp>
        <p:nvSpPr>
          <p:cNvPr id="18" name="Shape 15"/>
          <p:cNvSpPr/>
          <p:nvPr/>
        </p:nvSpPr>
        <p:spPr>
          <a:xfrm>
            <a:off x="960120" y="5614416"/>
            <a:ext cx="274320" cy="274320"/>
          </a:xfrm>
          <a:prstGeom prst="roundRect">
            <a:avLst>
              <a:gd name="adj" fmla="val 16667"/>
            </a:avLst>
          </a:prstGeom>
          <a:solidFill>
            <a:srgbClr val="FFFFFF"/>
          </a:solidFill>
          <a:ln w="19050">
            <a:solidFill>
              <a:srgbClr val="1B5E82"/>
            </a:solidFill>
            <a:prstDash val="solid"/>
          </a:ln>
        </p:spPr>
      </p:sp>
      <p:sp>
        <p:nvSpPr>
          <p:cNvPr id="19" name="Text 16"/>
          <p:cNvSpPr txBox="1"/>
          <p:nvPr/>
        </p:nvSpPr>
        <p:spPr>
          <a:xfrm>
            <a:off x="1417320" y="5568696"/>
            <a:ext cx="6035040" cy="411480"/>
          </a:xfrm>
          <a:prstGeom prst="rect">
            <a:avLst/>
          </a:prstGeom>
          <a:noFill/>
          <a:ln/>
        </p:spPr>
        <p:txBody>
          <a:bodyPr wrap="square" lIns="0" tIns="0" rIns="0" bIns="0" rtlCol="0" anchor="t"/>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Mobile buttons that look </a:t>
            </a:r>
            <a:pPr indent="0" marL="0">
              <a:buNone/>
            </a:pPr>
            <a:r>
              <a:rPr lang="en-US" sz="1450" b="1" dirty="0">
                <a:solidFill>
                  <a:srgbClr val="262626"/>
                </a:solidFill>
                <a:latin typeface="Aptos" pitchFamily="34" charset="0"/>
                <a:ea typeface="Aptos" pitchFamily="34" charset="-122"/>
                <a:cs typeface="Aptos" pitchFamily="34" charset="-120"/>
              </a:rPr>
              <a:t>44px or bigger</a:t>
            </a:r>
            <a:endParaRPr lang="en-US" sz="1450" dirty="0"/>
          </a:p>
        </p:txBody>
      </p:sp>
      <p:sp>
        <p:nvSpPr>
          <p:cNvPr id="20" name="Shape 17"/>
          <p:cNvSpPr/>
          <p:nvPr/>
        </p:nvSpPr>
        <p:spPr>
          <a:xfrm>
            <a:off x="8001000" y="1325880"/>
            <a:ext cx="3520440" cy="2423160"/>
          </a:xfrm>
          <a:prstGeom prst="roundRect">
            <a:avLst>
              <a:gd name="adj" fmla="val 4528"/>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1" name="Shape 18"/>
          <p:cNvSpPr/>
          <p:nvPr/>
        </p:nvSpPr>
        <p:spPr>
          <a:xfrm>
            <a:off x="8275320" y="1645920"/>
            <a:ext cx="1828800" cy="1280160"/>
          </a:xfrm>
          <a:prstGeom prst="rect">
            <a:avLst/>
          </a:prstGeom>
          <a:solidFill>
            <a:srgbClr val="FFFFFF"/>
          </a:solidFill>
          <a:ln w="15875">
            <a:solidFill>
              <a:srgbClr val="333333"/>
            </a:solidFill>
            <a:prstDash val="solid"/>
          </a:ln>
        </p:spPr>
      </p:sp>
      <p:sp>
        <p:nvSpPr>
          <p:cNvPr id="22" name="Shape 19"/>
          <p:cNvSpPr/>
          <p:nvPr/>
        </p:nvSpPr>
        <p:spPr>
          <a:xfrm>
            <a:off x="8275320" y="1645920"/>
            <a:ext cx="1828800" cy="128016"/>
          </a:xfrm>
          <a:prstGeom prst="rect">
            <a:avLst/>
          </a:prstGeom>
          <a:solidFill>
            <a:srgbClr val="EEEEEE"/>
          </a:solidFill>
          <a:ln w="15875">
            <a:solidFill>
              <a:srgbClr val="333333"/>
            </a:solidFill>
            <a:prstDash val="solid"/>
          </a:ln>
        </p:spPr>
      </p:sp>
      <p:sp>
        <p:nvSpPr>
          <p:cNvPr id="23" name="Shape 20"/>
          <p:cNvSpPr/>
          <p:nvPr/>
        </p:nvSpPr>
        <p:spPr>
          <a:xfrm>
            <a:off x="10515600" y="1645920"/>
            <a:ext cx="658368" cy="1280160"/>
          </a:xfrm>
          <a:prstGeom prst="roundRect">
            <a:avLst>
              <a:gd name="adj" fmla="val 11111"/>
            </a:avLst>
          </a:prstGeom>
          <a:solidFill>
            <a:srgbClr val="FFFFFF"/>
          </a:solidFill>
          <a:ln w="15875">
            <a:solidFill>
              <a:srgbClr val="333333"/>
            </a:solidFill>
            <a:prstDash val="solid"/>
          </a:ln>
        </p:spPr>
      </p:sp>
      <p:sp>
        <p:nvSpPr>
          <p:cNvPr id="24" name="Text 21"/>
          <p:cNvSpPr txBox="1"/>
          <p:nvPr/>
        </p:nvSpPr>
        <p:spPr>
          <a:xfrm>
            <a:off x="8275320" y="3017520"/>
            <a:ext cx="1828800" cy="274320"/>
          </a:xfrm>
          <a:prstGeom prst="rect">
            <a:avLst/>
          </a:prstGeom>
          <a:noFill/>
          <a:ln/>
        </p:spPr>
        <p:txBody>
          <a:bodyPr wrap="square" lIns="0" tIns="0" rIns="0" bIns="0" rtlCol="0" anchor="ctr"/>
          <a:lstStyle/>
          <a:p>
            <a:pPr algn="ctr" indent="0" marL="0">
              <a:buNone/>
            </a:pPr>
            <a:r>
              <a:rPr lang="en-US" sz="1300" b="1" dirty="0">
                <a:solidFill>
                  <a:srgbClr val="000000"/>
                </a:solidFill>
                <a:latin typeface="Consolas" pitchFamily="34" charset="0"/>
                <a:ea typeface="Consolas" pitchFamily="34" charset="-122"/>
                <a:cs typeface="Consolas" pitchFamily="34" charset="-120"/>
              </a:rPr>
              <a:t>1200px</a:t>
            </a:r>
            <a:endParaRPr lang="en-US" sz="1300" dirty="0"/>
          </a:p>
        </p:txBody>
      </p:sp>
      <p:sp>
        <p:nvSpPr>
          <p:cNvPr id="25" name="Text 22"/>
          <p:cNvSpPr txBox="1"/>
          <p:nvPr/>
        </p:nvSpPr>
        <p:spPr>
          <a:xfrm>
            <a:off x="10296144" y="3017520"/>
            <a:ext cx="1097280" cy="274320"/>
          </a:xfrm>
          <a:prstGeom prst="rect">
            <a:avLst/>
          </a:prstGeom>
          <a:noFill/>
          <a:ln/>
        </p:spPr>
        <p:txBody>
          <a:bodyPr wrap="square" lIns="0" tIns="0" rIns="0" bIns="0" rtlCol="0" anchor="ctr"/>
          <a:lstStyle/>
          <a:p>
            <a:pPr algn="ctr" indent="0" marL="0">
              <a:buNone/>
            </a:pPr>
            <a:r>
              <a:rPr lang="en-US" sz="1300" b="1" dirty="0">
                <a:solidFill>
                  <a:srgbClr val="000000"/>
                </a:solidFill>
                <a:latin typeface="Consolas" pitchFamily="34" charset="0"/>
                <a:ea typeface="Consolas" pitchFamily="34" charset="-122"/>
                <a:cs typeface="Consolas" pitchFamily="34" charset="-120"/>
              </a:rPr>
              <a:t>375px</a:t>
            </a:r>
            <a:endParaRPr lang="en-US" sz="1300" dirty="0"/>
          </a:p>
        </p:txBody>
      </p:sp>
      <p:sp>
        <p:nvSpPr>
          <p:cNvPr id="26" name="Text 23"/>
          <p:cNvSpPr txBox="1"/>
          <p:nvPr/>
        </p:nvSpPr>
        <p:spPr>
          <a:xfrm>
            <a:off x="8229600" y="3310128"/>
            <a:ext cx="3108960" cy="320040"/>
          </a:xfrm>
          <a:prstGeom prst="rect">
            <a:avLst/>
          </a:prstGeom>
          <a:noFill/>
          <a:ln/>
        </p:spPr>
        <p:txBody>
          <a:bodyPr wrap="square" lIns="0" tIns="0" rIns="0" bIns="0" rtlCol="0" anchor="ctr"/>
          <a:lstStyle/>
          <a:p>
            <a:pPr algn="ctr" indent="0" marL="0">
              <a:buNone/>
            </a:pPr>
            <a:r>
              <a:rPr lang="en-US" sz="1300" dirty="0">
                <a:solidFill>
                  <a:srgbClr val="595959"/>
                </a:solidFill>
                <a:latin typeface="Aptos" pitchFamily="34" charset="0"/>
                <a:ea typeface="Aptos" pitchFamily="34" charset="-122"/>
                <a:cs typeface="Aptos" pitchFamily="34" charset="-120"/>
              </a:rPr>
              <a:t>Two page tabs, one file</a:t>
            </a:r>
            <a:endParaRPr lang="en-US" sz="1300" dirty="0"/>
          </a:p>
        </p:txBody>
      </p:sp>
      <p:sp>
        <p:nvSpPr>
          <p:cNvPr id="27" name="Shape 24"/>
          <p:cNvSpPr/>
          <p:nvPr/>
        </p:nvSpPr>
        <p:spPr>
          <a:xfrm>
            <a:off x="8001000" y="3931920"/>
            <a:ext cx="3520440" cy="2423160"/>
          </a:xfrm>
          <a:prstGeom prst="roundRect">
            <a:avLst>
              <a:gd name="adj" fmla="val 4528"/>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28" name="Text 25"/>
          <p:cNvSpPr txBox="1"/>
          <p:nvPr/>
        </p:nvSpPr>
        <p:spPr>
          <a:xfrm>
            <a:off x="8229600" y="4114800"/>
            <a:ext cx="3108960" cy="2103120"/>
          </a:xfrm>
          <a:prstGeom prst="rect">
            <a:avLst/>
          </a:prstGeom>
          <a:noFill/>
          <a:ln/>
        </p:spPr>
        <p:txBody>
          <a:bodyPr wrap="square" lIns="0" tIns="0" rIns="0" bIns="0" rtlCol="0" anchor="t"/>
          <a:lstStyle/>
          <a:p>
            <a:pPr indent="0" marL="0">
              <a:spcAft>
                <a:spcPts val="600"/>
              </a:spcAft>
              <a:buNone/>
            </a:pPr>
            <a:r>
              <a:rPr lang="en-US" sz="1700" b="1" dirty="0">
                <a:solidFill>
                  <a:srgbClr val="FFFFFF"/>
                </a:solidFill>
                <a:latin typeface="Aptos" pitchFamily="34" charset="0"/>
                <a:ea typeface="Aptos" pitchFamily="34" charset="-122"/>
                <a:cs typeface="Aptos" pitchFamily="34" charset="-120"/>
              </a:rPr>
              <a:t>Stuck?</a:t>
            </a:r>
            <a:endParaRPr lang="en-US" sz="1700" dirty="0"/>
          </a:p>
          <a:p>
            <a:pPr indent="0" marL="0">
              <a:spcAft>
                <a:spcPts val="600"/>
              </a:spcAft>
              <a:buNone/>
            </a:pPr>
            <a:r>
              <a:rPr lang="en-US" sz="1400" dirty="0">
                <a:solidFill>
                  <a:srgbClr val="D9D9D9"/>
                </a:solidFill>
                <a:latin typeface="Aptos" pitchFamily="34" charset="0"/>
                <a:ea typeface="Aptos" pitchFamily="34" charset="-122"/>
                <a:cs typeface="Aptos" pitchFamily="34" charset="-120"/>
              </a:rPr>
              <a:t>Start with the header and footer. Every page has them. Then add one box for each user story, and move them around until it makes sense.</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Your Turn – Part 3: Post and Give Feedback (10 min)</a:t>
            </a:r>
            <a:endParaRPr lang="en-US" sz="2800" dirty="0"/>
          </a:p>
        </p:txBody>
      </p:sp>
      <p:sp>
        <p:nvSpPr>
          <p:cNvPr id="4" name="Shape 1"/>
          <p:cNvSpPr/>
          <p:nvPr/>
        </p:nvSpPr>
        <p:spPr>
          <a:xfrm>
            <a:off x="685800" y="1325880"/>
            <a:ext cx="539496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960120" y="1508760"/>
            <a:ext cx="4846320" cy="36576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Your post</a:t>
            </a:r>
            <a:endParaRPr lang="en-US" sz="1800" dirty="0"/>
          </a:p>
        </p:txBody>
      </p:sp>
      <p:sp>
        <p:nvSpPr>
          <p:cNvPr id="6" name="Shape 3"/>
          <p:cNvSpPr/>
          <p:nvPr/>
        </p:nvSpPr>
        <p:spPr>
          <a:xfrm>
            <a:off x="960120" y="2057400"/>
            <a:ext cx="420624" cy="420624"/>
          </a:xfrm>
          <a:prstGeom prst="ellipse">
            <a:avLst/>
          </a:prstGeom>
          <a:solidFill>
            <a:srgbClr val="E97132"/>
          </a:solidFill>
          <a:ln w="12700">
            <a:solidFill>
              <a:srgbClr val="E97132"/>
            </a:solidFill>
            <a:prstDash val="solid"/>
          </a:ln>
        </p:spPr>
      </p:sp>
      <p:sp>
        <p:nvSpPr>
          <p:cNvPr id="7" name="Text 4"/>
          <p:cNvSpPr txBox="1"/>
          <p:nvPr/>
        </p:nvSpPr>
        <p:spPr>
          <a:xfrm>
            <a:off x="960120" y="20574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8" name="Text 5"/>
          <p:cNvSpPr txBox="1"/>
          <p:nvPr/>
        </p:nvSpPr>
        <p:spPr>
          <a:xfrm>
            <a:off x="1554480" y="2039112"/>
            <a:ext cx="429768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Two PNGs</a:t>
            </a:r>
            <a:endParaRPr lang="en-US" sz="1600" dirty="0"/>
          </a:p>
        </p:txBody>
      </p:sp>
      <p:sp>
        <p:nvSpPr>
          <p:cNvPr id="9" name="Text 6"/>
          <p:cNvSpPr txBox="1"/>
          <p:nvPr/>
        </p:nvSpPr>
        <p:spPr>
          <a:xfrm>
            <a:off x="1554480" y="2359152"/>
            <a:ext cx="4297680" cy="59436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Desktop and Mobile, exported with Include a copy of my diagram.</a:t>
            </a:r>
            <a:endParaRPr lang="en-US" sz="1350" dirty="0"/>
          </a:p>
        </p:txBody>
      </p:sp>
      <p:sp>
        <p:nvSpPr>
          <p:cNvPr id="10" name="Shape 7"/>
          <p:cNvSpPr/>
          <p:nvPr/>
        </p:nvSpPr>
        <p:spPr>
          <a:xfrm>
            <a:off x="960120" y="3108960"/>
            <a:ext cx="420624" cy="420624"/>
          </a:xfrm>
          <a:prstGeom prst="ellipse">
            <a:avLst/>
          </a:prstGeom>
          <a:solidFill>
            <a:srgbClr val="E97132"/>
          </a:solidFill>
          <a:ln w="12700">
            <a:solidFill>
              <a:srgbClr val="E97132"/>
            </a:solidFill>
            <a:prstDash val="solid"/>
          </a:ln>
        </p:spPr>
      </p:sp>
      <p:sp>
        <p:nvSpPr>
          <p:cNvPr id="11" name="Text 8"/>
          <p:cNvSpPr txBox="1"/>
          <p:nvPr/>
        </p:nvSpPr>
        <p:spPr>
          <a:xfrm>
            <a:off x="960120" y="310896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2" name="Text 9"/>
          <p:cNvSpPr txBox="1"/>
          <p:nvPr/>
        </p:nvSpPr>
        <p:spPr>
          <a:xfrm>
            <a:off x="1554480" y="3090672"/>
            <a:ext cx="429768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Name and client</a:t>
            </a:r>
            <a:endParaRPr lang="en-US" sz="1600" dirty="0"/>
          </a:p>
        </p:txBody>
      </p:sp>
      <p:sp>
        <p:nvSpPr>
          <p:cNvPr id="13" name="Text 10"/>
          <p:cNvSpPr txBox="1"/>
          <p:nvPr/>
        </p:nvSpPr>
        <p:spPr>
          <a:xfrm>
            <a:off x="1554480" y="3410712"/>
            <a:ext cx="4297680" cy="59436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e.g. "Jordan: Paws &amp; Suds dog grooming, booking page"</a:t>
            </a:r>
            <a:endParaRPr lang="en-US" sz="1350" dirty="0"/>
          </a:p>
        </p:txBody>
      </p:sp>
      <p:sp>
        <p:nvSpPr>
          <p:cNvPr id="14" name="Shape 11"/>
          <p:cNvSpPr/>
          <p:nvPr/>
        </p:nvSpPr>
        <p:spPr>
          <a:xfrm>
            <a:off x="960120" y="4160520"/>
            <a:ext cx="420624" cy="420624"/>
          </a:xfrm>
          <a:prstGeom prst="ellipse">
            <a:avLst/>
          </a:prstGeom>
          <a:solidFill>
            <a:srgbClr val="E97132"/>
          </a:solidFill>
          <a:ln w="12700">
            <a:solidFill>
              <a:srgbClr val="E97132"/>
            </a:solidFill>
            <a:prstDash val="solid"/>
          </a:ln>
        </p:spPr>
      </p:sp>
      <p:sp>
        <p:nvSpPr>
          <p:cNvPr id="15" name="Text 12"/>
          <p:cNvSpPr txBox="1"/>
          <p:nvPr/>
        </p:nvSpPr>
        <p:spPr>
          <a:xfrm>
            <a:off x="960120" y="416052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16" name="Text 13"/>
          <p:cNvSpPr txBox="1"/>
          <p:nvPr/>
        </p:nvSpPr>
        <p:spPr>
          <a:xfrm>
            <a:off x="1554480" y="4142232"/>
            <a:ext cx="429768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Your user stories</a:t>
            </a:r>
            <a:endParaRPr lang="en-US" sz="1600" dirty="0"/>
          </a:p>
        </p:txBody>
      </p:sp>
      <p:sp>
        <p:nvSpPr>
          <p:cNvPr id="17" name="Text 14"/>
          <p:cNvSpPr txBox="1"/>
          <p:nvPr/>
        </p:nvSpPr>
        <p:spPr>
          <a:xfrm>
            <a:off x="1554480" y="4462272"/>
            <a:ext cx="4297680" cy="59436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Paste them in, numbered.</a:t>
            </a:r>
            <a:endParaRPr lang="en-US" sz="1350" dirty="0"/>
          </a:p>
        </p:txBody>
      </p:sp>
      <p:sp>
        <p:nvSpPr>
          <p:cNvPr id="18" name="Shape 15"/>
          <p:cNvSpPr/>
          <p:nvPr/>
        </p:nvSpPr>
        <p:spPr>
          <a:xfrm>
            <a:off x="960120" y="5212080"/>
            <a:ext cx="420624" cy="420624"/>
          </a:xfrm>
          <a:prstGeom prst="ellipse">
            <a:avLst/>
          </a:prstGeom>
          <a:solidFill>
            <a:srgbClr val="E97132"/>
          </a:solidFill>
          <a:ln w="12700">
            <a:solidFill>
              <a:srgbClr val="E97132"/>
            </a:solidFill>
            <a:prstDash val="solid"/>
          </a:ln>
        </p:spPr>
      </p:sp>
      <p:sp>
        <p:nvSpPr>
          <p:cNvPr id="19" name="Text 16"/>
          <p:cNvSpPr txBox="1"/>
          <p:nvPr/>
        </p:nvSpPr>
        <p:spPr>
          <a:xfrm>
            <a:off x="960120" y="521208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20" name="Text 17"/>
          <p:cNvSpPr txBox="1"/>
          <p:nvPr/>
        </p:nvSpPr>
        <p:spPr>
          <a:xfrm>
            <a:off x="1554480" y="5193792"/>
            <a:ext cx="429768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One sentence</a:t>
            </a:r>
            <a:endParaRPr lang="en-US" sz="1600" dirty="0"/>
          </a:p>
        </p:txBody>
      </p:sp>
      <p:sp>
        <p:nvSpPr>
          <p:cNvPr id="21" name="Text 18"/>
          <p:cNvSpPr txBox="1"/>
          <p:nvPr/>
        </p:nvSpPr>
        <p:spPr>
          <a:xfrm>
            <a:off x="1554480" y="5513832"/>
            <a:ext cx="4297680" cy="59436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Something you changed for mobile, and why.</a:t>
            </a:r>
            <a:endParaRPr lang="en-US" sz="1350" dirty="0"/>
          </a:p>
        </p:txBody>
      </p:sp>
      <p:sp>
        <p:nvSpPr>
          <p:cNvPr id="22" name="Text 19"/>
          <p:cNvSpPr txBox="1"/>
          <p:nvPr/>
        </p:nvSpPr>
        <p:spPr>
          <a:xfrm>
            <a:off x="6446520" y="1371600"/>
            <a:ext cx="5029200" cy="41148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Then reply to 2 classmates</a:t>
            </a:r>
            <a:endParaRPr lang="en-US" sz="1800" dirty="0"/>
          </a:p>
        </p:txBody>
      </p:sp>
      <p:sp>
        <p:nvSpPr>
          <p:cNvPr id="23" name="Shape 20"/>
          <p:cNvSpPr/>
          <p:nvPr/>
        </p:nvSpPr>
        <p:spPr>
          <a:xfrm>
            <a:off x="6446520" y="1920240"/>
            <a:ext cx="5074920" cy="1691640"/>
          </a:xfrm>
          <a:prstGeom prst="roundRect">
            <a:avLst>
              <a:gd name="adj" fmla="val 6486"/>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4" name="Shape 21"/>
          <p:cNvSpPr/>
          <p:nvPr/>
        </p:nvSpPr>
        <p:spPr>
          <a:xfrm>
            <a:off x="6675120" y="2103120"/>
            <a:ext cx="420624" cy="420624"/>
          </a:xfrm>
          <a:prstGeom prst="ellipse">
            <a:avLst/>
          </a:prstGeom>
          <a:solidFill>
            <a:srgbClr val="2E7D32"/>
          </a:solidFill>
          <a:ln w="12700">
            <a:solidFill>
              <a:srgbClr val="2E7D32"/>
            </a:solidFill>
            <a:prstDash val="solid"/>
          </a:ln>
        </p:spPr>
      </p:sp>
      <p:sp>
        <p:nvSpPr>
          <p:cNvPr id="25" name="Text 22"/>
          <p:cNvSpPr txBox="1"/>
          <p:nvPr/>
        </p:nvSpPr>
        <p:spPr>
          <a:xfrm>
            <a:off x="6675120" y="210312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a:t>
            </a:r>
            <a:endParaRPr lang="en-US" sz="1800" dirty="0"/>
          </a:p>
        </p:txBody>
      </p:sp>
      <p:sp>
        <p:nvSpPr>
          <p:cNvPr id="26" name="Text 23"/>
          <p:cNvSpPr txBox="1"/>
          <p:nvPr/>
        </p:nvSpPr>
        <p:spPr>
          <a:xfrm>
            <a:off x="7269480" y="2103120"/>
            <a:ext cx="4023360" cy="420624"/>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Works</a:t>
            </a:r>
            <a:endParaRPr lang="en-US" sz="1700" dirty="0"/>
          </a:p>
        </p:txBody>
      </p:sp>
      <p:sp>
        <p:nvSpPr>
          <p:cNvPr id="27" name="Text 24"/>
          <p:cNvSpPr txBox="1"/>
          <p:nvPr/>
        </p:nvSpPr>
        <p:spPr>
          <a:xfrm>
            <a:off x="6675120" y="2633472"/>
            <a:ext cx="4663440" cy="365760"/>
          </a:xfrm>
          <a:prstGeom prst="rect">
            <a:avLst/>
          </a:prstGeom>
          <a:noFill/>
          <a:ln/>
        </p:spPr>
        <p:txBody>
          <a:bodyPr wrap="square" lIns="0" tIns="0" rIns="0" bIns="0" rtlCol="0" anchor="ctr"/>
          <a:lstStyle/>
          <a:p>
            <a:pPr indent="0" marL="0">
              <a:buNone/>
            </a:pPr>
            <a:r>
              <a:rPr lang="en-US" sz="1350" dirty="0">
                <a:solidFill>
                  <a:srgbClr val="262626"/>
                </a:solidFill>
                <a:latin typeface="Aptos" pitchFamily="34" charset="0"/>
                <a:ea typeface="Aptos" pitchFamily="34" charset="-122"/>
                <a:cs typeface="Aptos" pitchFamily="34" charset="-120"/>
              </a:rPr>
              <a:t>Name one user story you could clearly complete, and how.</a:t>
            </a:r>
            <a:endParaRPr lang="en-US" sz="1350" dirty="0"/>
          </a:p>
        </p:txBody>
      </p:sp>
      <p:sp>
        <p:nvSpPr>
          <p:cNvPr id="28" name="Text 25"/>
          <p:cNvSpPr txBox="1"/>
          <p:nvPr/>
        </p:nvSpPr>
        <p:spPr>
          <a:xfrm>
            <a:off x="6675120" y="3017520"/>
            <a:ext cx="4663440" cy="502920"/>
          </a:xfrm>
          <a:prstGeom prst="rect">
            <a:avLst/>
          </a:prstGeom>
          <a:noFill/>
          <a:ln/>
        </p:spPr>
        <p:txBody>
          <a:bodyPr wrap="square" lIns="0" tIns="0" rIns="0" bIns="0" rtlCol="0" anchor="t"/>
          <a:lstStyle/>
          <a:p>
            <a:pPr indent="0" marL="0">
              <a:buNone/>
            </a:pPr>
            <a:r>
              <a:rPr lang="en-US" sz="1300" i="1" dirty="0">
                <a:solidFill>
                  <a:srgbClr val="595959"/>
                </a:solidFill>
                <a:latin typeface="Aptos" pitchFamily="34" charset="0"/>
                <a:ea typeface="Aptos" pitchFamily="34" charset="-122"/>
                <a:cs typeface="Aptos" pitchFamily="34" charset="-120"/>
              </a:rPr>
              <a:t>"I could book an appointment in two taps from the home page."</a:t>
            </a:r>
            <a:endParaRPr lang="en-US" sz="1300" dirty="0"/>
          </a:p>
        </p:txBody>
      </p:sp>
      <p:sp>
        <p:nvSpPr>
          <p:cNvPr id="29" name="Shape 26"/>
          <p:cNvSpPr/>
          <p:nvPr/>
        </p:nvSpPr>
        <p:spPr>
          <a:xfrm>
            <a:off x="6446520" y="3794760"/>
            <a:ext cx="5074920" cy="1691640"/>
          </a:xfrm>
          <a:prstGeom prst="roundRect">
            <a:avLst>
              <a:gd name="adj" fmla="val 6486"/>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30" name="Shape 27"/>
          <p:cNvSpPr/>
          <p:nvPr/>
        </p:nvSpPr>
        <p:spPr>
          <a:xfrm>
            <a:off x="6675120" y="3977640"/>
            <a:ext cx="420624" cy="420624"/>
          </a:xfrm>
          <a:prstGeom prst="ellipse">
            <a:avLst/>
          </a:prstGeom>
          <a:solidFill>
            <a:srgbClr val="A02B93"/>
          </a:solidFill>
          <a:ln w="12700">
            <a:solidFill>
              <a:srgbClr val="A02B93"/>
            </a:solidFill>
            <a:prstDash val="solid"/>
          </a:ln>
        </p:spPr>
      </p:sp>
      <p:sp>
        <p:nvSpPr>
          <p:cNvPr id="31" name="Text 28"/>
          <p:cNvSpPr txBox="1"/>
          <p:nvPr/>
        </p:nvSpPr>
        <p:spPr>
          <a:xfrm>
            <a:off x="6675120" y="397764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a:t>
            </a:r>
            <a:endParaRPr lang="en-US" sz="1800" dirty="0"/>
          </a:p>
        </p:txBody>
      </p:sp>
      <p:sp>
        <p:nvSpPr>
          <p:cNvPr id="32" name="Text 29"/>
          <p:cNvSpPr txBox="1"/>
          <p:nvPr/>
        </p:nvSpPr>
        <p:spPr>
          <a:xfrm>
            <a:off x="7269480" y="3977640"/>
            <a:ext cx="4023360" cy="420624"/>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Wonder</a:t>
            </a:r>
            <a:endParaRPr lang="en-US" sz="1700" dirty="0"/>
          </a:p>
        </p:txBody>
      </p:sp>
      <p:sp>
        <p:nvSpPr>
          <p:cNvPr id="33" name="Text 30"/>
          <p:cNvSpPr txBox="1"/>
          <p:nvPr/>
        </p:nvSpPr>
        <p:spPr>
          <a:xfrm>
            <a:off x="6675120" y="4507992"/>
            <a:ext cx="4663440" cy="365760"/>
          </a:xfrm>
          <a:prstGeom prst="rect">
            <a:avLst/>
          </a:prstGeom>
          <a:noFill/>
          <a:ln/>
        </p:spPr>
        <p:txBody>
          <a:bodyPr wrap="square" lIns="0" tIns="0" rIns="0" bIns="0" rtlCol="0" anchor="ctr"/>
          <a:lstStyle/>
          <a:p>
            <a:pPr indent="0" marL="0">
              <a:buNone/>
            </a:pPr>
            <a:r>
              <a:rPr lang="en-US" sz="1350" dirty="0">
                <a:solidFill>
                  <a:srgbClr val="262626"/>
                </a:solidFill>
                <a:latin typeface="Aptos" pitchFamily="34" charset="0"/>
                <a:ea typeface="Aptos" pitchFamily="34" charset="-122"/>
                <a:cs typeface="Aptos" pitchFamily="34" charset="-120"/>
              </a:rPr>
              <a:t>One place a user might get stuck, or something you'd move.</a:t>
            </a:r>
            <a:endParaRPr lang="en-US" sz="1350" dirty="0"/>
          </a:p>
        </p:txBody>
      </p:sp>
      <p:sp>
        <p:nvSpPr>
          <p:cNvPr id="34" name="Text 31"/>
          <p:cNvSpPr txBox="1"/>
          <p:nvPr/>
        </p:nvSpPr>
        <p:spPr>
          <a:xfrm>
            <a:off x="6675120" y="4892040"/>
            <a:ext cx="4663440" cy="502920"/>
          </a:xfrm>
          <a:prstGeom prst="rect">
            <a:avLst/>
          </a:prstGeom>
          <a:noFill/>
          <a:ln/>
        </p:spPr>
        <p:txBody>
          <a:bodyPr wrap="square" lIns="0" tIns="0" rIns="0" bIns="0" rtlCol="0" anchor="t"/>
          <a:lstStyle/>
          <a:p>
            <a:pPr indent="0" marL="0">
              <a:buNone/>
            </a:pPr>
            <a:r>
              <a:rPr lang="en-US" sz="1300" i="1" dirty="0">
                <a:solidFill>
                  <a:srgbClr val="595959"/>
                </a:solidFill>
                <a:latin typeface="Aptos" pitchFamily="34" charset="0"/>
                <a:ea typeface="Aptos" pitchFamily="34" charset="-122"/>
                <a:cs typeface="Aptos" pitchFamily="34" charset="-120"/>
              </a:rPr>
              <a:t>"I wonder if people will find the price list. It's below the fold on mobile."</a:t>
            </a:r>
            <a:endParaRPr lang="en-US" sz="1300" dirty="0"/>
          </a:p>
        </p:txBody>
      </p:sp>
      <p:sp>
        <p:nvSpPr>
          <p:cNvPr id="35" name="Text 32"/>
          <p:cNvSpPr txBox="1"/>
          <p:nvPr/>
        </p:nvSpPr>
        <p:spPr>
          <a:xfrm>
            <a:off x="6446520" y="5760720"/>
            <a:ext cx="5074920" cy="457200"/>
          </a:xfrm>
          <a:prstGeom prst="rect">
            <a:avLst/>
          </a:prstGeom>
          <a:noFill/>
          <a:ln/>
        </p:spPr>
        <p:txBody>
          <a:bodyPr wrap="square" lIns="0" tIns="0" rIns="0" bIns="0" rtlCol="0" anchor="ctr"/>
          <a:lstStyle/>
          <a:p>
            <a:pPr indent="0" marL="0">
              <a:buNone/>
            </a:pPr>
            <a:r>
              <a:rPr lang="en-US" sz="1350" b="1" dirty="0">
                <a:solidFill>
                  <a:srgbClr val="1B5E82"/>
                </a:solidFill>
                <a:latin typeface="Aptos" pitchFamily="34" charset="0"/>
                <a:ea typeface="Aptos" pitchFamily="34" charset="-122"/>
                <a:cs typeface="Aptos" pitchFamily="34" charset="-120"/>
              </a:rPr>
              <a:t>Pick posts with fewer than 2 replies, so everyone gets feedback.</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Usability and Design Principles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Watch Out For</a:t>
            </a:r>
            <a:endParaRPr lang="en-US" sz="2800" dirty="0"/>
          </a:p>
        </p:txBody>
      </p:sp>
      <p:sp>
        <p:nvSpPr>
          <p:cNvPr id="7" name="Shape 4"/>
          <p:cNvSpPr/>
          <p:nvPr/>
        </p:nvSpPr>
        <p:spPr>
          <a:xfrm>
            <a:off x="4754880" y="1783080"/>
            <a:ext cx="6903720" cy="749808"/>
          </a:xfrm>
          <a:prstGeom prst="roundRect">
            <a:avLst>
              <a:gd name="adj" fmla="val 14634"/>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4919472" y="1947672"/>
            <a:ext cx="420624" cy="420624"/>
          </a:xfrm>
          <a:prstGeom prst="ellipse">
            <a:avLst/>
          </a:prstGeom>
          <a:solidFill>
            <a:srgbClr val="C62828"/>
          </a:solidFill>
          <a:ln w="12700">
            <a:solidFill>
              <a:srgbClr val="C62828"/>
            </a:solidFill>
            <a:prstDash val="solid"/>
          </a:ln>
        </p:spPr>
      </p:sp>
      <p:sp>
        <p:nvSpPr>
          <p:cNvPr id="9" name="Text 6"/>
          <p:cNvSpPr txBox="1"/>
          <p:nvPr/>
        </p:nvSpPr>
        <p:spPr>
          <a:xfrm>
            <a:off x="4919472" y="194767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a:t>
            </a:r>
            <a:endParaRPr lang="en-US" sz="1800" dirty="0"/>
          </a:p>
        </p:txBody>
      </p:sp>
      <p:sp>
        <p:nvSpPr>
          <p:cNvPr id="10" name="Text 7"/>
          <p:cNvSpPr txBox="1"/>
          <p:nvPr/>
        </p:nvSpPr>
        <p:spPr>
          <a:xfrm>
            <a:off x="5532120" y="1856232"/>
            <a:ext cx="594360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Colours, fonts and photos</a:t>
            </a:r>
            <a:endParaRPr lang="en-US" sz="1600" dirty="0"/>
          </a:p>
        </p:txBody>
      </p:sp>
      <p:sp>
        <p:nvSpPr>
          <p:cNvPr id="11" name="Text 8"/>
          <p:cNvSpPr txBox="1"/>
          <p:nvPr/>
        </p:nvSpPr>
        <p:spPr>
          <a:xfrm>
            <a:off x="5532120" y="2176272"/>
            <a:ext cx="5943600" cy="292608"/>
          </a:xfrm>
          <a:prstGeom prst="rect">
            <a:avLst/>
          </a:prstGeom>
          <a:noFill/>
          <a:ln/>
        </p:spPr>
        <p:txBody>
          <a:bodyPr wrap="square" lIns="0" tIns="0" rIns="0" bIns="0" rtlCol="0" anchor="ctr"/>
          <a:lstStyle/>
          <a:p>
            <a:pPr indent="0" marL="0">
              <a:buNone/>
            </a:pPr>
            <a:r>
              <a:rPr lang="en-US" sz="1350" dirty="0">
                <a:solidFill>
                  <a:srgbClr val="262626"/>
                </a:solidFill>
                <a:latin typeface="Aptos" pitchFamily="34" charset="0"/>
                <a:ea typeface="Aptos" pitchFamily="34" charset="-122"/>
                <a:cs typeface="Aptos" pitchFamily="34" charset="-120"/>
              </a:rPr>
              <a:t>Stay greyscale. Use X boxes for images.</a:t>
            </a:r>
            <a:endParaRPr lang="en-US" sz="1350" dirty="0"/>
          </a:p>
        </p:txBody>
      </p:sp>
      <p:sp>
        <p:nvSpPr>
          <p:cNvPr id="12" name="Shape 9"/>
          <p:cNvSpPr/>
          <p:nvPr/>
        </p:nvSpPr>
        <p:spPr>
          <a:xfrm>
            <a:off x="4754880" y="2679192"/>
            <a:ext cx="6903720" cy="749808"/>
          </a:xfrm>
          <a:prstGeom prst="roundRect">
            <a:avLst>
              <a:gd name="adj" fmla="val 14634"/>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4919472" y="2843784"/>
            <a:ext cx="420624" cy="420624"/>
          </a:xfrm>
          <a:prstGeom prst="ellipse">
            <a:avLst/>
          </a:prstGeom>
          <a:solidFill>
            <a:srgbClr val="C62828"/>
          </a:solidFill>
          <a:ln w="12700">
            <a:solidFill>
              <a:srgbClr val="C62828"/>
            </a:solidFill>
            <a:prstDash val="solid"/>
          </a:ln>
        </p:spPr>
      </p:sp>
      <p:sp>
        <p:nvSpPr>
          <p:cNvPr id="14" name="Text 11"/>
          <p:cNvSpPr txBox="1"/>
          <p:nvPr/>
        </p:nvSpPr>
        <p:spPr>
          <a:xfrm>
            <a:off x="4919472" y="2843784"/>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a:t>
            </a:r>
            <a:endParaRPr lang="en-US" sz="1800" dirty="0"/>
          </a:p>
        </p:txBody>
      </p:sp>
      <p:sp>
        <p:nvSpPr>
          <p:cNvPr id="15" name="Text 12"/>
          <p:cNvSpPr txBox="1"/>
          <p:nvPr/>
        </p:nvSpPr>
        <p:spPr>
          <a:xfrm>
            <a:off x="5532120" y="2752344"/>
            <a:ext cx="594360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Mobile = desktop, only narrower</a:t>
            </a:r>
            <a:endParaRPr lang="en-US" sz="1600" dirty="0"/>
          </a:p>
        </p:txBody>
      </p:sp>
      <p:sp>
        <p:nvSpPr>
          <p:cNvPr id="16" name="Text 13"/>
          <p:cNvSpPr txBox="1"/>
          <p:nvPr/>
        </p:nvSpPr>
        <p:spPr>
          <a:xfrm>
            <a:off x="5532120" y="3072384"/>
            <a:ext cx="5943600" cy="292608"/>
          </a:xfrm>
          <a:prstGeom prst="rect">
            <a:avLst/>
          </a:prstGeom>
          <a:noFill/>
          <a:ln/>
        </p:spPr>
        <p:txBody>
          <a:bodyPr wrap="square" lIns="0" tIns="0" rIns="0" bIns="0" rtlCol="0" anchor="ctr"/>
          <a:lstStyle/>
          <a:p>
            <a:pPr indent="0" marL="0">
              <a:buNone/>
            </a:pPr>
            <a:r>
              <a:rPr lang="en-US" sz="1350" dirty="0">
                <a:solidFill>
                  <a:srgbClr val="262626"/>
                </a:solidFill>
                <a:latin typeface="Aptos" pitchFamily="34" charset="0"/>
                <a:ea typeface="Aptos" pitchFamily="34" charset="-122"/>
                <a:cs typeface="Aptos" pitchFamily="34" charset="-120"/>
              </a:rPr>
              <a:t>Rearrange it: stack columns, collapse the nav, move the sidebar.</a:t>
            </a:r>
            <a:endParaRPr lang="en-US" sz="1350" dirty="0"/>
          </a:p>
        </p:txBody>
      </p:sp>
      <p:sp>
        <p:nvSpPr>
          <p:cNvPr id="17" name="Shape 14"/>
          <p:cNvSpPr/>
          <p:nvPr/>
        </p:nvSpPr>
        <p:spPr>
          <a:xfrm>
            <a:off x="4754880" y="3575304"/>
            <a:ext cx="6903720" cy="749808"/>
          </a:xfrm>
          <a:prstGeom prst="roundRect">
            <a:avLst>
              <a:gd name="adj" fmla="val 14634"/>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8" name="Shape 15"/>
          <p:cNvSpPr/>
          <p:nvPr/>
        </p:nvSpPr>
        <p:spPr>
          <a:xfrm>
            <a:off x="4919472" y="3739896"/>
            <a:ext cx="420624" cy="420624"/>
          </a:xfrm>
          <a:prstGeom prst="ellipse">
            <a:avLst/>
          </a:prstGeom>
          <a:solidFill>
            <a:srgbClr val="C62828"/>
          </a:solidFill>
          <a:ln w="12700">
            <a:solidFill>
              <a:srgbClr val="C62828"/>
            </a:solidFill>
            <a:prstDash val="solid"/>
          </a:ln>
        </p:spPr>
      </p:sp>
      <p:sp>
        <p:nvSpPr>
          <p:cNvPr id="19" name="Text 16"/>
          <p:cNvSpPr txBox="1"/>
          <p:nvPr/>
        </p:nvSpPr>
        <p:spPr>
          <a:xfrm>
            <a:off x="4919472" y="3739896"/>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a:t>
            </a:r>
            <a:endParaRPr lang="en-US" sz="1800" dirty="0"/>
          </a:p>
        </p:txBody>
      </p:sp>
      <p:sp>
        <p:nvSpPr>
          <p:cNvPr id="20" name="Text 17"/>
          <p:cNvSpPr txBox="1"/>
          <p:nvPr/>
        </p:nvSpPr>
        <p:spPr>
          <a:xfrm>
            <a:off x="5532120" y="3648456"/>
            <a:ext cx="594360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A story with nowhere to happen</a:t>
            </a:r>
            <a:endParaRPr lang="en-US" sz="1600" dirty="0"/>
          </a:p>
        </p:txBody>
      </p:sp>
      <p:sp>
        <p:nvSpPr>
          <p:cNvPr id="21" name="Text 18"/>
          <p:cNvSpPr txBox="1"/>
          <p:nvPr/>
        </p:nvSpPr>
        <p:spPr>
          <a:xfrm>
            <a:off x="5532120" y="3968496"/>
            <a:ext cx="5943600" cy="292608"/>
          </a:xfrm>
          <a:prstGeom prst="rect">
            <a:avLst/>
          </a:prstGeom>
          <a:noFill/>
          <a:ln/>
        </p:spPr>
        <p:txBody>
          <a:bodyPr wrap="square" lIns="0" tIns="0" rIns="0" bIns="0" rtlCol="0" anchor="ctr"/>
          <a:lstStyle/>
          <a:p>
            <a:pPr indent="0" marL="0">
              <a:buNone/>
            </a:pPr>
            <a:r>
              <a:rPr lang="en-US" sz="1350" dirty="0">
                <a:solidFill>
                  <a:srgbClr val="262626"/>
                </a:solidFill>
                <a:latin typeface="Aptos" pitchFamily="34" charset="0"/>
                <a:ea typeface="Aptos" pitchFamily="34" charset="-122"/>
                <a:cs typeface="Aptos" pitchFamily="34" charset="-120"/>
              </a:rPr>
              <a:t>Number the stories on the wireframe. Every number needs a place.</a:t>
            </a:r>
            <a:endParaRPr lang="en-US" sz="1350" dirty="0"/>
          </a:p>
        </p:txBody>
      </p:sp>
      <p:sp>
        <p:nvSpPr>
          <p:cNvPr id="22" name="Shape 19"/>
          <p:cNvSpPr/>
          <p:nvPr/>
        </p:nvSpPr>
        <p:spPr>
          <a:xfrm>
            <a:off x="4754880" y="4471416"/>
            <a:ext cx="6903720" cy="749808"/>
          </a:xfrm>
          <a:prstGeom prst="roundRect">
            <a:avLst>
              <a:gd name="adj" fmla="val 14634"/>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4919472" y="4636008"/>
            <a:ext cx="420624" cy="420624"/>
          </a:xfrm>
          <a:prstGeom prst="ellipse">
            <a:avLst/>
          </a:prstGeom>
          <a:solidFill>
            <a:srgbClr val="C62828"/>
          </a:solidFill>
          <a:ln w="12700">
            <a:solidFill>
              <a:srgbClr val="C62828"/>
            </a:solidFill>
            <a:prstDash val="solid"/>
          </a:ln>
        </p:spPr>
      </p:sp>
      <p:sp>
        <p:nvSpPr>
          <p:cNvPr id="24" name="Text 21"/>
          <p:cNvSpPr txBox="1"/>
          <p:nvPr/>
        </p:nvSpPr>
        <p:spPr>
          <a:xfrm>
            <a:off x="4919472" y="463600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a:t>
            </a:r>
            <a:endParaRPr lang="en-US" sz="1800" dirty="0"/>
          </a:p>
        </p:txBody>
      </p:sp>
      <p:sp>
        <p:nvSpPr>
          <p:cNvPr id="25" name="Text 22"/>
          <p:cNvSpPr txBox="1"/>
          <p:nvPr/>
        </p:nvSpPr>
        <p:spPr>
          <a:xfrm>
            <a:off x="5532120" y="4544568"/>
            <a:ext cx="594360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No landmarks, or everything is a &lt;div&gt;</a:t>
            </a:r>
            <a:endParaRPr lang="en-US" sz="1600" dirty="0"/>
          </a:p>
        </p:txBody>
      </p:sp>
      <p:sp>
        <p:nvSpPr>
          <p:cNvPr id="26" name="Text 23"/>
          <p:cNvSpPr txBox="1"/>
          <p:nvPr/>
        </p:nvSpPr>
        <p:spPr>
          <a:xfrm>
            <a:off x="5532120" y="4864608"/>
            <a:ext cx="5943600" cy="292608"/>
          </a:xfrm>
          <a:prstGeom prst="rect">
            <a:avLst/>
          </a:prstGeom>
          <a:noFill/>
          <a:ln/>
        </p:spPr>
        <p:txBody>
          <a:bodyPr wrap="square" lIns="0" tIns="0" rIns="0" bIns="0" rtlCol="0" anchor="ctr"/>
          <a:lstStyle/>
          <a:p>
            <a:pPr indent="0" marL="0">
              <a:buNone/>
            </a:pPr>
            <a:r>
              <a:rPr lang="en-US" sz="1350" dirty="0">
                <a:solidFill>
                  <a:srgbClr val="262626"/>
                </a:solidFill>
                <a:latin typeface="Aptos" pitchFamily="34" charset="0"/>
                <a:ea typeface="Aptos" pitchFamily="34" charset="-122"/>
                <a:cs typeface="Aptos" pitchFamily="34" charset="-120"/>
              </a:rPr>
              <a:t>Label header, nav, main and footer at least.</a:t>
            </a:r>
            <a:endParaRPr lang="en-US" sz="1350" dirty="0"/>
          </a:p>
        </p:txBody>
      </p:sp>
      <p:sp>
        <p:nvSpPr>
          <p:cNvPr id="27" name="Shape 24"/>
          <p:cNvSpPr/>
          <p:nvPr/>
        </p:nvSpPr>
        <p:spPr>
          <a:xfrm>
            <a:off x="4754880" y="5367528"/>
            <a:ext cx="6903720" cy="749808"/>
          </a:xfrm>
          <a:prstGeom prst="roundRect">
            <a:avLst>
              <a:gd name="adj" fmla="val 14634"/>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8" name="Shape 25"/>
          <p:cNvSpPr/>
          <p:nvPr/>
        </p:nvSpPr>
        <p:spPr>
          <a:xfrm>
            <a:off x="4919472" y="5532120"/>
            <a:ext cx="420624" cy="420624"/>
          </a:xfrm>
          <a:prstGeom prst="ellipse">
            <a:avLst/>
          </a:prstGeom>
          <a:solidFill>
            <a:srgbClr val="C62828"/>
          </a:solidFill>
          <a:ln w="12700">
            <a:solidFill>
              <a:srgbClr val="C62828"/>
            </a:solidFill>
            <a:prstDash val="solid"/>
          </a:ln>
        </p:spPr>
      </p:sp>
      <p:sp>
        <p:nvSpPr>
          <p:cNvPr id="29" name="Text 26"/>
          <p:cNvSpPr txBox="1"/>
          <p:nvPr/>
        </p:nvSpPr>
        <p:spPr>
          <a:xfrm>
            <a:off x="4919472" y="553212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a:t>
            </a:r>
            <a:endParaRPr lang="en-US" sz="1800" dirty="0"/>
          </a:p>
        </p:txBody>
      </p:sp>
      <p:sp>
        <p:nvSpPr>
          <p:cNvPr id="30" name="Text 27"/>
          <p:cNvSpPr txBox="1"/>
          <p:nvPr/>
        </p:nvSpPr>
        <p:spPr>
          <a:xfrm>
            <a:off x="5532120" y="5440680"/>
            <a:ext cx="594360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Wonky alignment</a:t>
            </a:r>
            <a:endParaRPr lang="en-US" sz="1600" dirty="0"/>
          </a:p>
        </p:txBody>
      </p:sp>
      <p:sp>
        <p:nvSpPr>
          <p:cNvPr id="31" name="Text 28"/>
          <p:cNvSpPr txBox="1"/>
          <p:nvPr/>
        </p:nvSpPr>
        <p:spPr>
          <a:xfrm>
            <a:off x="5532120" y="5760720"/>
            <a:ext cx="5943600" cy="292608"/>
          </a:xfrm>
          <a:prstGeom prst="rect">
            <a:avLst/>
          </a:prstGeom>
          <a:noFill/>
          <a:ln/>
        </p:spPr>
        <p:txBody>
          <a:bodyPr wrap="square" lIns="0" tIns="0" rIns="0" bIns="0" rtlCol="0" anchor="ctr"/>
          <a:lstStyle/>
          <a:p>
            <a:pPr indent="0" marL="0">
              <a:buNone/>
            </a:pPr>
            <a:r>
              <a:rPr lang="en-US" sz="1350" dirty="0">
                <a:solidFill>
                  <a:srgbClr val="262626"/>
                </a:solidFill>
                <a:latin typeface="Aptos" pitchFamily="34" charset="0"/>
                <a:ea typeface="Aptos" pitchFamily="34" charset="-122"/>
                <a:cs typeface="Aptos" pitchFamily="34" charset="-120"/>
              </a:rPr>
              <a:t>Arrange → Align, and turn on View → Grid.</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Usability and Design Principles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Wrap-up</a:t>
            </a:r>
            <a:endParaRPr lang="en-US" sz="2800" dirty="0"/>
          </a:p>
        </p:txBody>
      </p:sp>
      <p:sp>
        <p:nvSpPr>
          <p:cNvPr id="7" name="Text 4"/>
          <p:cNvSpPr txBox="1"/>
          <p:nvPr/>
        </p:nvSpPr>
        <p:spPr>
          <a:xfrm>
            <a:off x="4754880" y="1783080"/>
            <a:ext cx="6903720" cy="4663440"/>
          </a:xfrm>
          <a:prstGeom prst="rect">
            <a:avLst/>
          </a:prstGeom>
          <a:noFill/>
          <a:ln/>
        </p:spPr>
        <p:txBody>
          <a:bodyPr wrap="square" lIns="0" tIns="0" rIns="0" bIns="0" rtlCol="0" anchor="t"/>
          <a:lstStyle/>
          <a:p>
            <a:pPr marL="342900" indent="-342900">
              <a:buSzPct val="100000"/>
              <a:buChar char="•"/>
            </a:pPr>
            <a:r>
              <a:rPr lang="en-US" sz="2000" b="1" dirty="0">
                <a:solidFill>
                  <a:srgbClr val="000000"/>
                </a:solidFill>
                <a:latin typeface="Aptos" pitchFamily="34" charset="0"/>
                <a:ea typeface="Aptos" pitchFamily="34" charset="-122"/>
                <a:cs typeface="Aptos" pitchFamily="34" charset="-120"/>
              </a:rPr>
              <a:t>Recap:</a:t>
            </a:r>
            <a:endParaRPr lang="en-US" sz="2000" dirty="0"/>
          </a:p>
          <a:p>
            <a:pPr lvl="1" marL="685800" indent="-342900">
              <a:spcBef>
                <a:spcPts val="300"/>
              </a:spcBef>
              <a:buSzPct val="100000"/>
              <a:buChar char="•"/>
            </a:pPr>
            <a:r>
              <a:rPr lang="en-US" sz="1600" dirty="0">
                <a:solidFill>
                  <a:srgbClr val="000000"/>
                </a:solidFill>
                <a:latin typeface="Aptos" pitchFamily="34" charset="0"/>
                <a:ea typeface="Aptos" pitchFamily="34" charset="-122"/>
                <a:cs typeface="Aptos" pitchFamily="34" charset="-120"/>
              </a:rPr>
              <a:t>A wireframe is a low-fi plan of a page: what goes where, not how it looks.</a:t>
            </a:r>
            <a:endParaRPr lang="en-US" sz="2000" dirty="0"/>
          </a:p>
          <a:p>
            <a:pPr lvl="1" marL="685800" indent="-342900">
              <a:spcBef>
                <a:spcPts val="300"/>
              </a:spcBef>
              <a:buSzPct val="100000"/>
              <a:buChar char="•"/>
            </a:pPr>
            <a:r>
              <a:rPr lang="en-US" sz="1600" dirty="0">
                <a:solidFill>
                  <a:srgbClr val="000000"/>
                </a:solidFill>
                <a:latin typeface="Aptos" pitchFamily="34" charset="0"/>
                <a:ea typeface="Aptos" pitchFamily="34" charset="-122"/>
                <a:cs typeface="Aptos" pitchFamily="34" charset="-120"/>
              </a:rPr>
              <a:t>Every user story needs a place on the page.</a:t>
            </a:r>
            <a:endParaRPr lang="en-US" sz="2000" dirty="0"/>
          </a:p>
          <a:p>
            <a:pPr lvl="1" marL="685800" indent="-342900">
              <a:spcBef>
                <a:spcPts val="300"/>
              </a:spcBef>
              <a:buSzPct val="100000"/>
              <a:buChar char="•"/>
            </a:pPr>
            <a:r>
              <a:rPr lang="en-US" sz="1600" dirty="0">
                <a:solidFill>
                  <a:srgbClr val="000000"/>
                </a:solidFill>
                <a:latin typeface="Aptos" pitchFamily="34" charset="0"/>
                <a:ea typeface="Aptos" pitchFamily="34" charset="-122"/>
                <a:cs typeface="Aptos" pitchFamily="34" charset="-120"/>
              </a:rPr>
              <a:t>Mobile isn't a smaller desktop. Rearrange the content for one thumb and one column.</a:t>
            </a:r>
            <a:endParaRPr lang="en-US" sz="2000" dirty="0"/>
          </a:p>
          <a:p>
            <a:pPr lvl="1" marL="685800" indent="-342900">
              <a:spcBef>
                <a:spcPts val="300"/>
              </a:spcBef>
              <a:buSzPct val="100000"/>
              <a:buChar char="•"/>
            </a:pPr>
            <a:r>
              <a:rPr lang="en-US" sz="1600" dirty="0">
                <a:solidFill>
                  <a:srgbClr val="000000"/>
                </a:solidFill>
                <a:latin typeface="Aptos" pitchFamily="34" charset="0"/>
                <a:ea typeface="Aptos" pitchFamily="34" charset="-122"/>
                <a:cs typeface="Aptos" pitchFamily="34" charset="-120"/>
              </a:rPr>
              <a:t>The regions you draw become the landmarks you code.</a:t>
            </a:r>
            <a:endParaRPr lang="en-US" sz="2000" dirty="0"/>
          </a:p>
          <a:p>
            <a:pPr marL="342900" indent="-342900">
              <a:spcBef>
                <a:spcPts val="800"/>
              </a:spcBef>
              <a:buSzPct val="100000"/>
              <a:buChar char="•"/>
            </a:pPr>
            <a:r>
              <a:rPr lang="en-US" sz="2000" b="1" dirty="0">
                <a:solidFill>
                  <a:srgbClr val="000000"/>
                </a:solidFill>
                <a:latin typeface="Aptos" pitchFamily="34" charset="0"/>
                <a:ea typeface="Aptos" pitchFamily="34" charset="-122"/>
                <a:cs typeface="Aptos" pitchFamily="34" charset="-120"/>
              </a:rPr>
              <a:t>Let's look at a few Teams posts:</a:t>
            </a:r>
            <a:endParaRPr lang="en-US" sz="2000" dirty="0"/>
          </a:p>
          <a:p>
            <a:pPr lvl="1" marL="685800" indent="-342900">
              <a:spcBef>
                <a:spcPts val="300"/>
              </a:spcBef>
              <a:buSzPct val="100000"/>
              <a:buChar char="•"/>
            </a:pPr>
            <a:r>
              <a:rPr lang="en-US" sz="1600" dirty="0">
                <a:solidFill>
                  <a:srgbClr val="000000"/>
                </a:solidFill>
                <a:latin typeface="Aptos" pitchFamily="34" charset="0"/>
                <a:ea typeface="Aptos" pitchFamily="34" charset="-122"/>
                <a:cs typeface="Aptos" pitchFamily="34" charset="-120"/>
              </a:rPr>
              <a:t>If you had to write the HTML tomorrow, what's the landmark structure?</a:t>
            </a:r>
            <a:endParaRPr lang="en-US" sz="2000" dirty="0"/>
          </a:p>
          <a:p>
            <a:pPr lvl="1" marL="685800" indent="-342900">
              <a:spcBef>
                <a:spcPts val="300"/>
              </a:spcBef>
              <a:buSzPct val="100000"/>
              <a:buChar char="•"/>
            </a:pPr>
            <a:r>
              <a:rPr lang="en-US" sz="1600" dirty="0">
                <a:solidFill>
                  <a:srgbClr val="000000"/>
                </a:solidFill>
                <a:latin typeface="Aptos" pitchFamily="34" charset="0"/>
                <a:ea typeface="Aptos" pitchFamily="34" charset="-122"/>
                <a:cs typeface="Aptos" pitchFamily="34" charset="-120"/>
              </a:rPr>
              <a:t>What's the first thing a phone user sees before scrolling? Is it the right thing?</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6: Wireframes</dc:title>
  <dc:subject>PptxGenJS Presentation</dc:subject>
  <dc:creator>Jamie Symonds</dc:creator>
  <cp:lastModifiedBy>Jamie Symonds</cp:lastModifiedBy>
  <cp:revision>1</cp:revision>
  <dcterms:created xsi:type="dcterms:W3CDTF">2026-09-30T22:40:13Z</dcterms:created>
  <dcterms:modified xsi:type="dcterms:W3CDTF">2026-09-30T22:40:13Z</dcterms:modified>
</cp:coreProperties>
</file>