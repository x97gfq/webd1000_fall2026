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we planned a page with a wireframe, and every wireframe was full of X boxes: images. Today we learn how to make those images fast.
Today is mostly hands-on. There are six short labs. Students need a large photo (from their phone is best) and a browser for pixlr.com.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ask everyone to get a photo from their phone onto their laptop (OneDrive, email it to yourself, or a USB cable). They'll need it for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 min pixels and colour depth + Lab 1, 15 min compression and formats, then Labs 2–5 in Pixlr (about 45 min, with a short concept slide before each), 15 min putting images on a page (Lab 6), 5 min wrap-up.
Everything students make today gets used next class, when we style images with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test photo is a straight-off-the-phone photo: 3,000–4,000+ pixels wide and 2–5 MB. That's what makes the size differences dramatic.
If a student has no photo: unsplash.com or pexels.com have free photos. Download the largest ('Original') size.
Pixlr: pixlr.com, then Pixlr Editor (the full editor). No account needed to start, but CHECK BEFORE CLASS: Pixlr's free tier has at times limited how many saves you get per day. If students hit a limit, use squoosh.app instead (free, no account, made by Google, shows the file size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usually the heaviest part of a web page. The HTML for a whole page might be 20–50 KB. One unoptimized phone photo can be 3–5 MB, about 100 times more.
Google measures 'Largest Contentful Paint' (LCP): how long until the biggest thing on screen appears. On most pages the biggest thing is an image. Slow LCP hurts the user and can hurt search ranking.
Connect to non-functional requirements from earlier: 'Pages load in under 2 seconds on a typical connection.' Image choices are how you meet that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any photo far enough and you see it's a grid of coloured squares: pixels. A 'raster' image (JPG, PNG, GIF, WebP, AVIF) is exactly that grid, stored as numbers.
Dimensions = width × height in pixels. A 12-megapixel phone photo is about 4032 × 3024 = 12.2 million pixels.
DPI / PPI: you'll see '72 dpi' or '300 dpi' in Properties. That number matters for PRINTING. On the web it's ignored: a 1200-pixel-wide image is 1200 pixels wide whether it says 72 or 300 dpi. Only the pixel dimensions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depth = how many bits are used to store the colour of ONE pixel. More bits = more possible colours = bigger files (before compression).
8 bits per channel × 3 channels (red, green, blue) = 24-bit colour: 256 × 256 × 256 = about 16.7 million colours. That's what JPG uses and what screens show.
32-bit = 24-bit colour + 8 bits of 'alpha' (transparency): each pixel can be anywhere from fully see-through to solid.
The images on the slide are the same photo: 24-bit, then GIF with 256 colours (look at the sky: banding), then only 16 colours. In File Explorer → Properties → Details this is called 'Bit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Uncompressed size = width × height × bytes per pixel. 24-bit colour = 3 bytes per pixel.
Our sample: 1118 × 640 × 3 = about 2 MB uncompressed, but the JPG file is only about 134 KB. Compression made it ~15× smaller.
A phone photo: 4032 × 3024 × 3 = 36.6 MB uncompressed. The phone's JPG is usually 2–5 MB. Still WAY too big for a web page, which is why we'll resize too.
1 KB = 1024 bytes, 1 MB = 1024 KB. (Windows shows sizes this way; macOS uses 1000. Close enough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Common snags:
- iPhone photos may be .HEIC, not .jpg. Fix: on the phone, Settings → Camera → Formats → Most Compatible, or open the HEIC in Pixlr and save as JPG first. Windows may need the free HEIF extension to show HEIC details.
- Photos sent through some chat apps arrive already shrunk (e.g. 1600 px). That's fine, but the differences will be smaller.
The File Explorer Details view with Dimensions and Bit depth columns is the fastest way to compare files for the rest of the class. Show it on the projector.
Ask a couple of students for their compression ratio. Usually 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how files get smaller. Two kinds of compression, and the difference decides which file type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Lossless: like a ZIP file. The file is packed more cleverly (e.g. 'the next 200 pixels are all this exact blue' instead of listing each one), and when you open it you get back EXACTLY the original pixels. PNG and GIF are lossless. Works great on flat colour; not much help on photos where every pixel is slightly different.
Lossy: throws away detail your eye is unlikely to notice: tiny colour differences, fine texture. You choose how much with the quality slider. You can never get that detail back, which is why you always keep the original and export copies.
Generation loss: open a JPG, save it as JPG, repeat. Each save loses a bit more. Edit from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crops from samples/beach_q90.jpg, beach_q50.jpg and beach_q10.jpg (Example 02).
At normal size, quality 50 looks fine to most people. Zoomed in, you start to see smudging. Quality 10 is obviously blocky even at normal size.
The surprising one: the original file is 134 KB, and re-saving it at quality 90 made it 140 KB. Bigger, not better, because the detail was already gone. Lesson: the quality number isn't a promise of quality; it's how much MORE you're willing to throw away.
Most photos look good at quality 60–80. That's where we'll aim in Lab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formats. Students only really need four day to day: JPG or WebP for photos, PNG for screenshots and graphics with transparency, SVG for logos and icons.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Dates help explain why things are the way they are:
- GIF (1987): only 256 colours. Still around because of animated memes, but a video file is much smaller for animation.
- JPEG (1992): the classic photo format. Every device and program supports it.
- PNG (1996): created as a free replacement for GIF. Lossless, full colour, real transparency.
- SVG (2001): vector graphics written as XML code. Can even be written by hand or styled with CSS.
- WebP (Google, 2010): lossy or lossless, transparency, animation. Works in all current browsers.
- AVIF (2019): newest, usually the smallest for photos. Works in all current major browsers; some older software (and some image editors) can't open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Sizes in the last column are our sample photo (1118 × 640) from Example 01. Same pixels, very different files.
The headline: PNG is lossless, so for a photo it's huge (978 KB). GIF is smaller than PNG only because it threw away colours, and the sky shows it. WebP and AVIF beat JPG at similar visual quality.
Transparency column: JPG can't do it. If you save a logo with a transparent background as JPG, the background turns solid (usually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01_image_formats_example.html with Live Server.
Ask: 'Which one is the PNG?' Most students can't tell by looking. Then show the samples folder in File Explorer, sorted by size. That's the 'aha'.
The GIF is the only one with a visible difference (banding in the sky). Zoom the browser in to make it obvious.
AVIF note: if a student's browser shows a broken image for AVIF, their browser is out of date. All current Chrome, Edge, Firefox and Safari versions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 a grid of pixels (everything we've seen so far). Make it bigger than its pixel size and the browser has to stretch the pixels, so it goes soft or blocky.
Vector = a description of shapes: 'circle at 120,120, radius 112, navy'. The browser redraws it at whatever size you ask for, so it's always sharp. SVG is the web's vector format, and it's actually text (open logo.svg in VS Code!).
Our logo: SVG 0.7 KB vs PNG 21 KB vs JPG 21 KB. The SVG is about 30 times smaller and sharper at every size.
Vector doesn't work for photos. There are no simple shapes to describe, so photos stay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03_svg_vs_png_example.html with Live Server. The page background is light blue-grey so the transparency shows: the SVG and PNG have see-through corners, the JPG has white ones.
Then open samples/logo.svg in VS Code. Point out it's readable code with a &lt;title&gt; (for accessibility). Change a fill colour (e.g. #E97132 to #2E7D32), save, and refresh: the logo changes colour. That's something you can't do with a PNG.
Browser zoom (Ctrl +) to 300% makes the difference between SVG and PNG very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PNG is enormous, often bigger than the original JPG (e.g. a 3 MB JPG becomes a 15–25 MB PNG). JPG at 80 is usually a bit smaller than the phone original. WebP at 80 is usually smaller again.
Pixlr's save dialog lets you pick the file type and quality, and usually shows an estimated file size. Menus in Pixlr change from time to time; check them before class.
If Pixlr has a daily save limit on the free tier when you teach this, switch the class to squoosh.app for the remaining labs. It does format, quality AND resize in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02_jpeg_quality_example.html. At normal size ask: which ones look bad? Usually only quality 10. Then Ctrl + to zoom the browser and look again.
Sizes: q90 140 KB, q75 93 KB, q50 51 KB, q10 12 KB. Going from 75 to 50 roughly halves the file with little visible change on this photo.
Different photos react differently: busy, detailed photos (grass, gravel) hide compression well; smooth areas (sky, skin, gradients) show it first. That's why we test with our own photos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find 60–70 is indistinguishable at normal size. Collect a few numbers in the Teams chat: they'll differ by photo, which is the point. Busy photos survive lower quality; photos with lots of sky or a plain background show problems sooner.
If someone has time: try WebP at 30 vs JPG at 30. WebP usually holds up better at low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win isn't the format or the quality slider. It's not sending pixels nobody will see.
If your page shows an image 800 pixels wide, a 4032-pixel photo sends about 25 times more pixels than needed (4032×3024 vs 800×600). The browser downloads all of it and then shrinks it.
Rule of thumb: export at the largest size it's ever displayed, times 2 for sharp screens (phones, MacBooks and many laptops have 2× 'high-DPI' screens). So an image shown at 600 px wide → export 1200 px.
The width/file size table is a rule of thumb, not a law. Use it as a starting point.
Also halving the width quarters the pixels (width AND height both halve), so file size drops roughly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result from a 4032 px phone photo: 2000 px ≈ 600–900 KB, 1200 px ≈ 200–350 KB, 600 px ≈ 60–100 KB. That's 10–40× smaller than the original, and at normal viewing size it looks the same.
The 'lock proportions' icon (chain link) matters: unlock it and the photo gets squashed.
This is usually the biggest 'aha' of the day: resizing saves far more than switching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logo.svg 0.7 KB, logo.png 21 KB, logo.jpg (quality 80) 21 KB. The JPG is no smaller AND it looks worse AND it lost transparency.
Why: JPG is designed for the gradual changes in photos. Hard edges between flat colours are the worst case for it, so it smudges them. PNG's lossless compression is great at long runs of identical pixels.
The screenshot step makes the same point with text: text in a JPG screenshot gets fuzzy halos.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decision with two or three examples from the class: a menu photo (JPG/WebP), the restaurant's logo (SVG), a screenshot for a how-to page (PNG), a photo of a product with the background removed (PNG or WebP, because it needs transparency).
Animated GIF: mention that a short looping MP4 or WebM video in a &lt;video&gt; tag is usually 5–10× smaller than the same GIF. We'll see video later.
WebP vs JPG: both are fine. WebP is usually 25–35% smaller and works in every current browser. Keep a JPG if the image also needs to open in older software (email, Word,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students know how to make a good image file, a few HTML attributes help the browser load it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layout jump: in DevTools → Network, set throttling to 'Slow 4G', then reload a page with and without width/height. Without them, the text appears first and then gets pushed down when the image arrives. Google calls this Cumulative Layout Shift (CLS) and it's one of its page-speed scores.
Lazy loading demo: DevTools → Network → filter 'Img', reload. Only beach_800.jpg loads. Scroll down: beach_400.jpg appears in the list when you get close.
The inline style on the tall paragraph is just to make room for scrolling. We'll do this properly with CSS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preview; students don't need to memorize the syntax. The idea is what matters: you can give the browser options and let it choose.
Demo srcset: open DevTools, turn on the device toolbar (Ctrl+Shift+M), pick a phone, and reload with the Network tab open. You'll often see beach_400.jpg or beach_800.jpg load instead of the original. (Browsers also consider screen density and what's cached, so results vary. Use a private window to test.)
The sizes attribute is the advanced part of srcset; we skip it today. Without sizes, the browser assumes the image is the full width of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it all together: the same picture, shown at the same size, with very different download costs. On Slow 4G the original phone photo can take many seconds to appear while the 600 px version is almost instant.
The table in image_lab.html uses &lt;caption&gt;, &lt;thead&gt; and scope from the Semantic HTML class. Point that out.
Collect: screenshot of the page + Network tab, uploaded to Brightspace (participation). Students keep their my_images folder: next class we'll style these images with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 answers: size (resizing) is by far the biggest saving, often 10–40×. Format is next (PNG → JPG for a photo is huge; JPG → WebP is a nice extra 25–35%). Quality 80 → 60 is a smaller extra saving.
Same quality, different results: busy photos hide compression; smooth areas (sky, skin, plain walls) show it.
PNG over JPG: transparency, screenshots, text, flat colour. SVG over PNG: logos and icons, anything that needs to be sharp at many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to use on every image from now on, including the assignment. It's also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is CSS. Ask students to keep their my_images folder and image_lab.html: we'll use their optimized photo when we style images with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37744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7:</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Images for the web: file types, colour depth, size and compression.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7: Class Overview</a:t>
            </a:r>
            <a:endParaRPr lang="en-US" sz="2800" dirty="0"/>
          </a:p>
        </p:txBody>
      </p:sp>
      <p:sp>
        <p:nvSpPr>
          <p:cNvPr id="7" name="Text 4"/>
          <p:cNvSpPr txBox="1"/>
          <p:nvPr/>
        </p:nvSpPr>
        <p:spPr>
          <a:xfrm>
            <a:off x="4754880" y="1783080"/>
            <a:ext cx="6903720" cy="438912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Images for the Web</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Pixels, dimensions and colour depth</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Compression: lossless vs lossy</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File formats: JPG, PNG, GIF, WebP, AVIF, SVG</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Six labs: test it yourself in Pixlr and File Explorer</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Images in HTML: width, height, lazy loading, srcset</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Choosing the right format: a checklist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Ready</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folder: 04_Images_for_the_Web (examples 01–05, samples/, image_lab.html, my_images/).</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Get a big photo onto your laptop</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 photo from your phone is best (OneDrive, email, or a cable). No photo? Download a free one at full size from unsplash.com. Save it as my_images/original.jpg.</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Open Pixlr</a:t>
            </a:r>
            <a:endParaRPr lang="en-US" sz="1800" dirty="0"/>
          </a:p>
        </p:txBody>
      </p:sp>
      <p:sp>
        <p:nvSpPr>
          <p:cNvPr id="14" name="Text 11"/>
          <p:cNvSpPr txBox="1"/>
          <p:nvPr/>
        </p:nvSpPr>
        <p:spPr>
          <a:xfrm>
            <a:off x="4754880" y="534924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pixlr.com → Pixlr Editor. Backup if Pixlr won't save: squoosh.app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Why Do Images Matter So Much?</a:t>
            </a:r>
            <a:endParaRPr lang="en-US" sz="2800" dirty="0"/>
          </a:p>
        </p:txBody>
      </p:sp>
      <p:sp>
        <p:nvSpPr>
          <p:cNvPr id="7" name="Shape 4"/>
          <p:cNvSpPr/>
          <p:nvPr/>
        </p:nvSpPr>
        <p:spPr>
          <a:xfrm>
            <a:off x="4754880" y="182880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37760" y="2029968"/>
            <a:ext cx="502920" cy="502920"/>
          </a:xfrm>
          <a:prstGeom prst="ellipse">
            <a:avLst/>
          </a:prstGeom>
          <a:solidFill>
            <a:srgbClr val="E97132"/>
          </a:solidFill>
          <a:ln w="12700">
            <a:solidFill>
              <a:srgbClr val="E97132"/>
            </a:solidFill>
            <a:prstDash val="solid"/>
          </a:ln>
        </p:spPr>
      </p:sp>
      <p:sp>
        <p:nvSpPr>
          <p:cNvPr id="9" name="Text 6"/>
          <p:cNvSpPr txBox="1"/>
          <p:nvPr/>
        </p:nvSpPr>
        <p:spPr>
          <a:xfrm>
            <a:off x="4937760" y="20299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0" name="Text 7"/>
          <p:cNvSpPr txBox="1"/>
          <p:nvPr/>
        </p:nvSpPr>
        <p:spPr>
          <a:xfrm>
            <a:off x="5577840" y="202996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Speed</a:t>
            </a:r>
            <a:endParaRPr lang="en-US" sz="1800" dirty="0"/>
          </a:p>
        </p:txBody>
      </p:sp>
      <p:sp>
        <p:nvSpPr>
          <p:cNvPr id="11" name="Text 8"/>
          <p:cNvSpPr txBox="1"/>
          <p:nvPr/>
        </p:nvSpPr>
        <p:spPr>
          <a:xfrm>
            <a:off x="4983480" y="269748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Images are usually the heaviest part of a page. Smaller images = faster pages.</a:t>
            </a:r>
            <a:endParaRPr lang="en-US" sz="1400" dirty="0"/>
          </a:p>
        </p:txBody>
      </p:sp>
      <p:sp>
        <p:nvSpPr>
          <p:cNvPr id="12" name="Shape 9"/>
          <p:cNvSpPr/>
          <p:nvPr/>
        </p:nvSpPr>
        <p:spPr>
          <a:xfrm>
            <a:off x="8321040" y="182880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8503920" y="2029968"/>
            <a:ext cx="502920" cy="502920"/>
          </a:xfrm>
          <a:prstGeom prst="ellipse">
            <a:avLst/>
          </a:prstGeom>
          <a:solidFill>
            <a:srgbClr val="1B5E82"/>
          </a:solidFill>
          <a:ln w="12700">
            <a:solidFill>
              <a:srgbClr val="1B5E82"/>
            </a:solidFill>
            <a:prstDash val="solid"/>
          </a:ln>
        </p:spPr>
      </p:sp>
      <p:sp>
        <p:nvSpPr>
          <p:cNvPr id="14" name="Text 11"/>
          <p:cNvSpPr txBox="1"/>
          <p:nvPr/>
        </p:nvSpPr>
        <p:spPr>
          <a:xfrm>
            <a:off x="8503920" y="20299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5" name="Text 12"/>
          <p:cNvSpPr txBox="1"/>
          <p:nvPr/>
        </p:nvSpPr>
        <p:spPr>
          <a:xfrm>
            <a:off x="9144000" y="202996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Mobile data</a:t>
            </a:r>
            <a:endParaRPr lang="en-US" sz="1800" dirty="0"/>
          </a:p>
        </p:txBody>
      </p:sp>
      <p:sp>
        <p:nvSpPr>
          <p:cNvPr id="16" name="Text 13"/>
          <p:cNvSpPr txBox="1"/>
          <p:nvPr/>
        </p:nvSpPr>
        <p:spPr>
          <a:xfrm>
            <a:off x="8549640" y="269748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A 5 MB photo on a phone plan costs the visitor real money and time.</a:t>
            </a:r>
            <a:endParaRPr lang="en-US" sz="1400" dirty="0"/>
          </a:p>
        </p:txBody>
      </p:sp>
      <p:sp>
        <p:nvSpPr>
          <p:cNvPr id="17" name="Shape 14"/>
          <p:cNvSpPr/>
          <p:nvPr/>
        </p:nvSpPr>
        <p:spPr>
          <a:xfrm>
            <a:off x="4754880" y="397764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937760" y="4178808"/>
            <a:ext cx="502920" cy="502920"/>
          </a:xfrm>
          <a:prstGeom prst="ellipse">
            <a:avLst/>
          </a:prstGeom>
          <a:solidFill>
            <a:srgbClr val="A02B93"/>
          </a:solidFill>
          <a:ln w="12700">
            <a:solidFill>
              <a:srgbClr val="A02B93"/>
            </a:solidFill>
            <a:prstDash val="solid"/>
          </a:ln>
        </p:spPr>
      </p:sp>
      <p:sp>
        <p:nvSpPr>
          <p:cNvPr id="19" name="Text 16"/>
          <p:cNvSpPr txBox="1"/>
          <p:nvPr/>
        </p:nvSpPr>
        <p:spPr>
          <a:xfrm>
            <a:off x="4937760" y="41788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0" name="Text 17"/>
          <p:cNvSpPr txBox="1"/>
          <p:nvPr/>
        </p:nvSpPr>
        <p:spPr>
          <a:xfrm>
            <a:off x="5577840" y="417880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Search ranking</a:t>
            </a:r>
            <a:endParaRPr lang="en-US" sz="1800" dirty="0"/>
          </a:p>
        </p:txBody>
      </p:sp>
      <p:sp>
        <p:nvSpPr>
          <p:cNvPr id="21" name="Text 18"/>
          <p:cNvSpPr txBox="1"/>
          <p:nvPr/>
        </p:nvSpPr>
        <p:spPr>
          <a:xfrm>
            <a:off x="4983480" y="484632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Google measures how fast the biggest image appears (LCP).</a:t>
            </a:r>
            <a:endParaRPr lang="en-US" sz="1400" dirty="0"/>
          </a:p>
        </p:txBody>
      </p:sp>
      <p:sp>
        <p:nvSpPr>
          <p:cNvPr id="22" name="Shape 19"/>
          <p:cNvSpPr/>
          <p:nvPr/>
        </p:nvSpPr>
        <p:spPr>
          <a:xfrm>
            <a:off x="8321040" y="3977640"/>
            <a:ext cx="3337560" cy="1920240"/>
          </a:xfrm>
          <a:prstGeom prst="roundRect">
            <a:avLst>
              <a:gd name="adj" fmla="val 5714"/>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8503920" y="4178808"/>
            <a:ext cx="502920" cy="502920"/>
          </a:xfrm>
          <a:prstGeom prst="ellipse">
            <a:avLst/>
          </a:prstGeom>
          <a:solidFill>
            <a:srgbClr val="0F9ED5"/>
          </a:solidFill>
          <a:ln w="12700">
            <a:solidFill>
              <a:srgbClr val="0F9ED5"/>
            </a:solidFill>
            <a:prstDash val="solid"/>
          </a:ln>
        </p:spPr>
      </p:sp>
      <p:sp>
        <p:nvSpPr>
          <p:cNvPr id="24" name="Text 21"/>
          <p:cNvSpPr txBox="1"/>
          <p:nvPr/>
        </p:nvSpPr>
        <p:spPr>
          <a:xfrm>
            <a:off x="8503920" y="41788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25" name="Text 22"/>
          <p:cNvSpPr txBox="1"/>
          <p:nvPr/>
        </p:nvSpPr>
        <p:spPr>
          <a:xfrm>
            <a:off x="9144000" y="4178808"/>
            <a:ext cx="2423160" cy="50292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Requirements</a:t>
            </a:r>
            <a:endParaRPr lang="en-US" sz="1800" dirty="0"/>
          </a:p>
        </p:txBody>
      </p:sp>
      <p:sp>
        <p:nvSpPr>
          <p:cNvPr id="26" name="Text 23"/>
          <p:cNvSpPr txBox="1"/>
          <p:nvPr/>
        </p:nvSpPr>
        <p:spPr>
          <a:xfrm>
            <a:off x="8549640" y="4846320"/>
            <a:ext cx="2926080" cy="914400"/>
          </a:xfrm>
          <a:prstGeom prst="rect">
            <a:avLst/>
          </a:prstGeom>
          <a:noFill/>
          <a:ln/>
        </p:spPr>
        <p:txBody>
          <a:bodyPr wrap="square" lIns="0" tIns="0" rIns="0" bIns="0" rtlCol="0" anchor="t"/>
          <a:lstStyle/>
          <a:p>
            <a:pPr indent="0" marL="0">
              <a:buNone/>
            </a:pPr>
            <a:r>
              <a:rPr lang="en-US" sz="1400" dirty="0">
                <a:solidFill>
                  <a:srgbClr val="595959"/>
                </a:solidFill>
                <a:latin typeface="Aptos" pitchFamily="34" charset="0"/>
                <a:ea typeface="Aptos" pitchFamily="34" charset="-122"/>
                <a:cs typeface="Aptos" pitchFamily="34" charset="-120"/>
              </a:rPr>
              <a:t>"Pages load in under 2 seconds" [NF]. Images are how you meet it.</a:t>
            </a:r>
            <a:endParaRPr lang="en-US" sz="1400" dirty="0"/>
          </a:p>
        </p:txBody>
      </p:sp>
      <p:sp>
        <p:nvSpPr>
          <p:cNvPr id="27" name="Shape 24"/>
          <p:cNvSpPr/>
          <p:nvPr/>
        </p:nvSpPr>
        <p:spPr>
          <a:xfrm>
            <a:off x="4754880" y="5943600"/>
            <a:ext cx="6903720" cy="548640"/>
          </a:xfrm>
          <a:prstGeom prst="roundRect">
            <a:avLst>
              <a:gd name="adj" fmla="val 20000"/>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5029200" y="5943600"/>
            <a:ext cx="6355080" cy="548640"/>
          </a:xfrm>
          <a:prstGeom prst="rect">
            <a:avLst/>
          </a:prstGeom>
          <a:noFill/>
          <a:ln/>
        </p:spPr>
        <p:txBody>
          <a:bodyPr wrap="square" lIns="0" tIns="0" rIns="0" bIns="0" rtlCol="0" anchor="ctr"/>
          <a:lstStyle/>
          <a:p>
            <a:pPr indent="0" marL="0">
              <a:buNone/>
            </a:pPr>
            <a:r>
              <a:rPr lang="en-US" sz="1500" b="1" dirty="0">
                <a:solidFill>
                  <a:srgbClr val="FFFFFF"/>
                </a:solidFill>
                <a:latin typeface="Aptos" pitchFamily="34" charset="0"/>
                <a:ea typeface="Aptos" pitchFamily="34" charset="-122"/>
                <a:cs typeface="Aptos" pitchFamily="34" charset="-120"/>
              </a:rPr>
              <a:t>Goal: the smallest file that still looks good at the size it's shown.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Pixels and Dimensions</a:t>
            </a:r>
            <a:endParaRPr lang="en-US" sz="2800" dirty="0"/>
          </a:p>
        </p:txBody>
      </p:sp>
      <p:pic>
        <p:nvPicPr>
          <p:cNvPr id="7" name="Image 0" descr="C:\Repos\2026-2027\WEBD1000\04_Images_for_the_Web\_build\zoom_q90.png">    </p:cNvPr>
          <p:cNvPicPr>
            <a:picLocks noChangeAspect="1"/>
          </p:cNvPicPr>
          <p:nvPr/>
        </p:nvPicPr>
        <p:blipFill>
          <a:blip r:embed="rId1"/>
          <a:stretch>
            <a:fillRect/>
          </a:stretch>
        </p:blipFill>
        <p:spPr>
          <a:xfrm>
            <a:off x="4754880" y="1783080"/>
            <a:ext cx="3108960" cy="2075688"/>
          </a:xfrm>
          <a:prstGeom prst="rect">
            <a:avLst/>
          </a:prstGeom>
        </p:spPr>
      </p:pic>
      <p:sp>
        <p:nvSpPr>
          <p:cNvPr id="8" name="Shape 4"/>
          <p:cNvSpPr/>
          <p:nvPr/>
        </p:nvSpPr>
        <p:spPr>
          <a:xfrm>
            <a:off x="4754880" y="1783080"/>
            <a:ext cx="3108960" cy="2075688"/>
          </a:xfrm>
          <a:prstGeom prst="rect">
            <a:avLst/>
          </a:prstGeom>
          <a:ln w="12700">
            <a:solidFill>
              <a:srgbClr val="7F7F7F"/>
            </a:solidFill>
            <a:prstDash val="solid"/>
          </a:ln>
        </p:spPr>
      </p:sp>
      <p:sp>
        <p:nvSpPr>
          <p:cNvPr id="9" name="Text 5"/>
          <p:cNvSpPr txBox="1"/>
          <p:nvPr/>
        </p:nvSpPr>
        <p:spPr>
          <a:xfrm>
            <a:off x="4754880" y="3931920"/>
            <a:ext cx="3108960" cy="320040"/>
          </a:xfrm>
          <a:prstGeom prst="rect">
            <a:avLst/>
          </a:prstGeom>
          <a:noFill/>
          <a:ln/>
        </p:spPr>
        <p:txBody>
          <a:bodyPr wrap="square" lIns="0" tIns="0" rIns="0" bIns="0" rtlCol="0" anchor="ctr"/>
          <a:lstStyle/>
          <a:p>
            <a:pPr indent="0" marL="0">
              <a:buNone/>
            </a:pPr>
            <a:r>
              <a:rPr lang="en-US" sz="1250" i="1" dirty="0">
                <a:solidFill>
                  <a:srgbClr val="595959"/>
                </a:solidFill>
                <a:latin typeface="Aptos" pitchFamily="34" charset="0"/>
                <a:ea typeface="Aptos" pitchFamily="34" charset="-122"/>
                <a:cs typeface="Aptos" pitchFamily="34" charset="-120"/>
              </a:rPr>
              <a:t>Zoomed in 5×: every square is one pixel.</a:t>
            </a:r>
            <a:endParaRPr lang="en-US" sz="1250" dirty="0"/>
          </a:p>
        </p:txBody>
      </p:sp>
      <p:sp>
        <p:nvSpPr>
          <p:cNvPr id="10" name="Text 6"/>
          <p:cNvSpPr txBox="1"/>
          <p:nvPr/>
        </p:nvSpPr>
        <p:spPr>
          <a:xfrm>
            <a:off x="8138160" y="1783080"/>
            <a:ext cx="3520440" cy="246888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Raster</a:t>
            </a:r>
            <a:pPr indent="0" marL="0">
              <a:buNone/>
            </a:pPr>
            <a:r>
              <a:rPr lang="en-US" sz="1450" dirty="0">
                <a:solidFill>
                  <a:srgbClr val="262626"/>
                </a:solidFill>
                <a:latin typeface="Aptos" pitchFamily="34" charset="0"/>
                <a:ea typeface="Aptos" pitchFamily="34" charset="-122"/>
                <a:cs typeface="Aptos" pitchFamily="34" charset="-120"/>
              </a:rPr>
              <a:t> images are a grid of </a:t>
            </a:r>
            <a:pPr indent="0" marL="0">
              <a:buNone/>
            </a:pPr>
            <a:r>
              <a:rPr lang="en-US" sz="1450" b="1" dirty="0">
                <a:solidFill>
                  <a:srgbClr val="262626"/>
                </a:solidFill>
                <a:latin typeface="Aptos" pitchFamily="34" charset="0"/>
                <a:ea typeface="Aptos" pitchFamily="34" charset="-122"/>
                <a:cs typeface="Aptos" pitchFamily="34" charset="-120"/>
              </a:rPr>
              <a:t>pixels</a:t>
            </a:r>
            <a:pPr indent="0" marL="0">
              <a:buNone/>
            </a:pPr>
            <a:r>
              <a:rPr lang="en-US" sz="1450" dirty="0">
                <a:solidFill>
                  <a:srgbClr val="262626"/>
                </a:solidFill>
                <a:latin typeface="Aptos" pitchFamily="34" charset="0"/>
                <a:ea typeface="Aptos" pitchFamily="34" charset="-122"/>
                <a:cs typeface="Aptos" pitchFamily="34" charset="-120"/>
              </a:rPr>
              <a:t>. Each pixel is one colour.</a:t>
            </a:r>
            <a:endParaRPr lang="en-US" sz="1450" dirty="0"/>
          </a:p>
          <a:p>
            <a:pPr marL="342900" indent="-342900">
              <a:spcBef>
                <a:spcPts val="9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Dimensions</a:t>
            </a:r>
            <a:pPr indent="0" marL="0">
              <a:buNone/>
            </a:pPr>
            <a:r>
              <a:rPr lang="en-US" sz="1450" dirty="0">
                <a:solidFill>
                  <a:srgbClr val="262626"/>
                </a:solidFill>
                <a:latin typeface="Aptos" pitchFamily="34" charset="0"/>
                <a:ea typeface="Aptos" pitchFamily="34" charset="-122"/>
                <a:cs typeface="Aptos" pitchFamily="34" charset="-120"/>
              </a:rPr>
              <a:t> = width × height in pixels, e.g. </a:t>
            </a:r>
            <a:pPr indent="0" marL="0">
              <a:buNone/>
            </a:pPr>
            <a:r>
              <a:rPr lang="en-US" sz="1450" b="1" dirty="0">
                <a:solidFill>
                  <a:srgbClr val="262626"/>
                </a:solidFill>
                <a:latin typeface="Aptos" pitchFamily="34" charset="0"/>
                <a:ea typeface="Aptos" pitchFamily="34" charset="-122"/>
                <a:cs typeface="Aptos" pitchFamily="34" charset="-120"/>
              </a:rPr>
              <a:t>4032 × 3024</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900"/>
              </a:spcBef>
              <a:buSzPct val="100000"/>
              <a:buChar char="•"/>
            </a:pPr>
            <a:r>
              <a:rPr lang="en-US" sz="1450" dirty="0">
                <a:solidFill>
                  <a:srgbClr val="262626"/>
                </a:solidFill>
                <a:latin typeface="Aptos" pitchFamily="34" charset="0"/>
                <a:ea typeface="Aptos" pitchFamily="34" charset="-122"/>
                <a:cs typeface="Aptos" pitchFamily="34" charset="-120"/>
              </a:rPr>
              <a:t>​</a:t>
            </a:r>
            <a:pPr indent="0" marL="0">
              <a:buNone/>
            </a:pPr>
            <a:r>
              <a:rPr lang="en-US" sz="1450" b="1" dirty="0">
                <a:solidFill>
                  <a:srgbClr val="262626"/>
                </a:solidFill>
                <a:latin typeface="Aptos" pitchFamily="34" charset="0"/>
                <a:ea typeface="Aptos" pitchFamily="34" charset="-122"/>
                <a:cs typeface="Aptos" pitchFamily="34" charset="-120"/>
              </a:rPr>
              <a:t>Megapixels</a:t>
            </a:r>
            <a:pPr indent="0" marL="0">
              <a:buNone/>
            </a:pPr>
            <a:r>
              <a:rPr lang="en-US" sz="1450" dirty="0">
                <a:solidFill>
                  <a:srgbClr val="262626"/>
                </a:solidFill>
                <a:latin typeface="Aptos" pitchFamily="34" charset="0"/>
                <a:ea typeface="Aptos" pitchFamily="34" charset="-122"/>
                <a:cs typeface="Aptos" pitchFamily="34" charset="-120"/>
              </a:rPr>
              <a:t> = width × height ÷ 1 million. That one is 12 MP.</a:t>
            </a:r>
            <a:endParaRPr lang="en-US" sz="1450" dirty="0"/>
          </a:p>
        </p:txBody>
      </p:sp>
      <p:sp>
        <p:nvSpPr>
          <p:cNvPr id="11" name="Shape 7"/>
          <p:cNvSpPr/>
          <p:nvPr/>
        </p:nvSpPr>
        <p:spPr>
          <a:xfrm>
            <a:off x="4754880" y="4480560"/>
            <a:ext cx="6903720" cy="1691640"/>
          </a:xfrm>
          <a:prstGeom prst="roundRect">
            <a:avLst>
              <a:gd name="adj" fmla="val 648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4937760" y="4663440"/>
            <a:ext cx="411480" cy="411480"/>
          </a:xfrm>
          <a:prstGeom prst="ellipse">
            <a:avLst/>
          </a:prstGeom>
          <a:solidFill>
            <a:srgbClr val="A02B93"/>
          </a:solidFill>
          <a:ln w="12700">
            <a:solidFill>
              <a:srgbClr val="A02B93"/>
            </a:solidFill>
            <a:prstDash val="solid"/>
          </a:ln>
        </p:spPr>
      </p:sp>
      <p:sp>
        <p:nvSpPr>
          <p:cNvPr id="13" name="Text 9"/>
          <p:cNvSpPr txBox="1"/>
          <p:nvPr/>
        </p:nvSpPr>
        <p:spPr>
          <a:xfrm>
            <a:off x="4937760" y="46634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a:t>
            </a:r>
            <a:endParaRPr lang="en-US" sz="1300" dirty="0"/>
          </a:p>
        </p:txBody>
      </p:sp>
      <p:sp>
        <p:nvSpPr>
          <p:cNvPr id="14" name="Text 10"/>
          <p:cNvSpPr txBox="1"/>
          <p:nvPr/>
        </p:nvSpPr>
        <p:spPr>
          <a:xfrm>
            <a:off x="5486400" y="4663440"/>
            <a:ext cx="5989320" cy="41148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What about DPI?</a:t>
            </a:r>
            <a:endParaRPr lang="en-US" sz="1600" dirty="0"/>
          </a:p>
        </p:txBody>
      </p:sp>
      <p:sp>
        <p:nvSpPr>
          <p:cNvPr id="15" name="Text 11"/>
          <p:cNvSpPr txBox="1"/>
          <p:nvPr/>
        </p:nvSpPr>
        <p:spPr>
          <a:xfrm>
            <a:off x="4983480" y="5166360"/>
            <a:ext cx="6446520" cy="91440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DPI (dots per inch) only matters for </a:t>
            </a:r>
            <a:pPr indent="0" marL="0">
              <a:buNone/>
            </a:pPr>
            <a:r>
              <a:rPr lang="en-US" sz="1400" b="1" dirty="0">
                <a:solidFill>
                  <a:srgbClr val="262626"/>
                </a:solidFill>
                <a:latin typeface="Aptos" pitchFamily="34" charset="0"/>
                <a:ea typeface="Aptos" pitchFamily="34" charset="-122"/>
                <a:cs typeface="Aptos" pitchFamily="34" charset="-120"/>
              </a:rPr>
              <a:t>printing</a:t>
            </a:r>
            <a:pPr indent="0" marL="0">
              <a:buNone/>
            </a:pPr>
            <a:r>
              <a:rPr lang="en-US" sz="1400" dirty="0">
                <a:solidFill>
                  <a:srgbClr val="262626"/>
                </a:solidFill>
                <a:latin typeface="Aptos" pitchFamily="34" charset="0"/>
                <a:ea typeface="Aptos" pitchFamily="34" charset="-122"/>
                <a:cs typeface="Aptos" pitchFamily="34" charset="-120"/>
              </a:rPr>
              <a:t>. Browsers ignore it. A 1200-pixel-wide image is 1200 pixels wide at 72 dpi or 300 dpi. </a:t>
            </a:r>
            <a:pPr indent="0" marL="0">
              <a:buNone/>
            </a:pPr>
            <a:r>
              <a:rPr lang="en-US" sz="1400" b="1" dirty="0">
                <a:solidFill>
                  <a:srgbClr val="262626"/>
                </a:solidFill>
                <a:latin typeface="Aptos" pitchFamily="34" charset="0"/>
                <a:ea typeface="Aptos" pitchFamily="34" charset="-122"/>
                <a:cs typeface="Aptos" pitchFamily="34" charset="-120"/>
              </a:rPr>
              <a:t>On the web, only pixels count.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Colour Depth (Bit Depth)</a:t>
            </a:r>
            <a:endParaRPr lang="en-US" sz="2800" dirty="0"/>
          </a:p>
        </p:txBody>
      </p:sp>
      <p:pic>
        <p:nvPicPr>
          <p:cNvPr id="7" name="Image 0" descr="C:\Repos\2026-2027\WEBD1000\04_Images_for_the_Web\_build\depth_beach_original.png">    </p:cNvPr>
          <p:cNvPicPr>
            <a:picLocks noChangeAspect="1"/>
          </p:cNvPicPr>
          <p:nvPr/>
        </p:nvPicPr>
        <p:blipFill>
          <a:blip r:embed="rId1"/>
          <a:stretch>
            <a:fillRect/>
          </a:stretch>
        </p:blipFill>
        <p:spPr>
          <a:xfrm>
            <a:off x="4754880" y="1783080"/>
            <a:ext cx="2194560" cy="1257953"/>
          </a:xfrm>
          <a:prstGeom prst="rect">
            <a:avLst/>
          </a:prstGeom>
        </p:spPr>
      </p:pic>
      <p:sp>
        <p:nvSpPr>
          <p:cNvPr id="8" name="Text 4"/>
          <p:cNvSpPr txBox="1"/>
          <p:nvPr/>
        </p:nvSpPr>
        <p:spPr>
          <a:xfrm>
            <a:off x="4754880" y="3105041"/>
            <a:ext cx="2194560" cy="274320"/>
          </a:xfrm>
          <a:prstGeom prst="rect">
            <a:avLst/>
          </a:prstGeom>
          <a:noFill/>
          <a:ln/>
        </p:spPr>
        <p:txBody>
          <a:bodyPr wrap="square" lIns="0" tIns="0" rIns="0" bIns="0" rtlCol="0" anchor="ctr"/>
          <a:lstStyle/>
          <a:p>
            <a:pPr algn="ctr" indent="0" marL="0">
              <a:buNone/>
            </a:pPr>
            <a:r>
              <a:rPr lang="en-US" sz="1200" b="1" dirty="0">
                <a:solidFill>
                  <a:srgbClr val="262626"/>
                </a:solidFill>
                <a:latin typeface="Aptos" pitchFamily="34" charset="0"/>
                <a:ea typeface="Aptos" pitchFamily="34" charset="-122"/>
                <a:cs typeface="Aptos" pitchFamily="34" charset="-120"/>
              </a:rPr>
              <a:t>24-bit: 16.7 million colours</a:t>
            </a:r>
            <a:endParaRPr lang="en-US" sz="1200" dirty="0"/>
          </a:p>
        </p:txBody>
      </p:sp>
      <p:pic>
        <p:nvPicPr>
          <p:cNvPr id="9" name="Image 1" descr="C:\Repos\2026-2027\WEBD1000\04_Images_for_the_Web\_build\depth_beach.png">    </p:cNvPr>
          <p:cNvPicPr>
            <a:picLocks noChangeAspect="1"/>
          </p:cNvPicPr>
          <p:nvPr/>
        </p:nvPicPr>
        <p:blipFill>
          <a:blip r:embed="rId2"/>
          <a:stretch>
            <a:fillRect/>
          </a:stretch>
        </p:blipFill>
        <p:spPr>
          <a:xfrm>
            <a:off x="7109460" y="1783080"/>
            <a:ext cx="2194560" cy="1257953"/>
          </a:xfrm>
          <a:prstGeom prst="rect">
            <a:avLst/>
          </a:prstGeom>
        </p:spPr>
      </p:pic>
      <p:sp>
        <p:nvSpPr>
          <p:cNvPr id="10" name="Text 5"/>
          <p:cNvSpPr txBox="1"/>
          <p:nvPr/>
        </p:nvSpPr>
        <p:spPr>
          <a:xfrm>
            <a:off x="7109460" y="3105041"/>
            <a:ext cx="2194560" cy="274320"/>
          </a:xfrm>
          <a:prstGeom prst="rect">
            <a:avLst/>
          </a:prstGeom>
          <a:noFill/>
          <a:ln/>
        </p:spPr>
        <p:txBody>
          <a:bodyPr wrap="square" lIns="0" tIns="0" rIns="0" bIns="0" rtlCol="0" anchor="ctr"/>
          <a:lstStyle/>
          <a:p>
            <a:pPr algn="ctr" indent="0" marL="0">
              <a:buNone/>
            </a:pPr>
            <a:r>
              <a:rPr lang="en-US" sz="1200" b="1" dirty="0">
                <a:solidFill>
                  <a:srgbClr val="262626"/>
                </a:solidFill>
                <a:latin typeface="Aptos" pitchFamily="34" charset="0"/>
                <a:ea typeface="Aptos" pitchFamily="34" charset="-122"/>
                <a:cs typeface="Aptos" pitchFamily="34" charset="-120"/>
              </a:rPr>
              <a:t>8-bit: 256 colours (GIF)</a:t>
            </a:r>
            <a:endParaRPr lang="en-US" sz="1200" dirty="0"/>
          </a:p>
        </p:txBody>
      </p:sp>
      <p:pic>
        <p:nvPicPr>
          <p:cNvPr id="11" name="Image 2" descr="C:\Repos\2026-2027\WEBD1000\04_Images_for_the_Web\_build\depth_beach_16_colours.png">    </p:cNvPr>
          <p:cNvPicPr>
            <a:picLocks noChangeAspect="1"/>
          </p:cNvPicPr>
          <p:nvPr/>
        </p:nvPicPr>
        <p:blipFill>
          <a:blip r:embed="rId3"/>
          <a:stretch>
            <a:fillRect/>
          </a:stretch>
        </p:blipFill>
        <p:spPr>
          <a:xfrm>
            <a:off x="9464040" y="1783080"/>
            <a:ext cx="2194560" cy="1257953"/>
          </a:xfrm>
          <a:prstGeom prst="rect">
            <a:avLst/>
          </a:prstGeom>
        </p:spPr>
      </p:pic>
      <p:sp>
        <p:nvSpPr>
          <p:cNvPr id="12" name="Text 6"/>
          <p:cNvSpPr txBox="1"/>
          <p:nvPr/>
        </p:nvSpPr>
        <p:spPr>
          <a:xfrm>
            <a:off x="9464040" y="3105041"/>
            <a:ext cx="2194560" cy="274320"/>
          </a:xfrm>
          <a:prstGeom prst="rect">
            <a:avLst/>
          </a:prstGeom>
          <a:noFill/>
          <a:ln/>
        </p:spPr>
        <p:txBody>
          <a:bodyPr wrap="square" lIns="0" tIns="0" rIns="0" bIns="0" rtlCol="0" anchor="ctr"/>
          <a:lstStyle/>
          <a:p>
            <a:pPr algn="ctr" indent="0" marL="0">
              <a:buNone/>
            </a:pPr>
            <a:r>
              <a:rPr lang="en-US" sz="1200" b="1" dirty="0">
                <a:solidFill>
                  <a:srgbClr val="262626"/>
                </a:solidFill>
                <a:latin typeface="Aptos" pitchFamily="34" charset="0"/>
                <a:ea typeface="Aptos" pitchFamily="34" charset="-122"/>
                <a:cs typeface="Aptos" pitchFamily="34" charset="-120"/>
              </a:rPr>
              <a:t>4-bit: 16 colours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754880" y="3429000"/>
          <a:ext cx="6903720" cy="914400"/>
        </p:xfrm>
        <a:graphic>
          <a:graphicData uri="http://schemas.openxmlformats.org/drawingml/2006/table">
            <a:tbl>
              <a:tblPr/>
              <a:tblGrid>
                <a:gridCol w="1554480"/>
                <a:gridCol w="2514600"/>
                <a:gridCol w="2834640"/>
              </a:tblGrid>
              <a:tr h="384048">
                <a:tc>
                  <a:txBody>
                    <a:bodyPr/>
                    <a:lstStyle/>
                    <a:p>
                      <a:pPr indent="0" marL="0">
                        <a:buNone/>
                      </a:pPr>
                      <a:r>
                        <a:rPr lang="en-US" sz="1350" b="1" dirty="0">
                          <a:solidFill>
                            <a:srgbClr val="FFFFFF"/>
                          </a:solidFill>
                          <a:latin typeface="Aptos" pitchFamily="34" charset="0"/>
                          <a:ea typeface="Aptos" pitchFamily="34" charset="-122"/>
                          <a:cs typeface="Aptos" pitchFamily="34" charset="-120"/>
                        </a:rPr>
                        <a:t>Bits per pixel</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Colours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Where you see 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384048">
                <a:tc>
                  <a:txBody>
                    <a:bodyPr/>
                    <a:lstStyle/>
                    <a:p>
                      <a:pPr indent="0" marL="0">
                        <a:buNone/>
                      </a:pPr>
                      <a:r>
                        <a:rPr lang="en-US" sz="1350" b="1" dirty="0">
                          <a:solidFill>
                            <a:srgbClr val="000000"/>
                          </a:solidFill>
                          <a:latin typeface="Aptos" pitchFamily="34" charset="0"/>
                          <a:ea typeface="Aptos" pitchFamily="34" charset="-122"/>
                          <a:cs typeface="Aptos" pitchFamily="34" charset="-120"/>
                        </a:rPr>
                        <a:t>1-bit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Black and white only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000000"/>
                          </a:solidFill>
                          <a:latin typeface="Aptos" pitchFamily="34" charset="0"/>
                          <a:ea typeface="Aptos" pitchFamily="34" charset="-122"/>
                          <a:cs typeface="Aptos" pitchFamily="34" charset="-120"/>
                        </a:rPr>
                        <a:t>8-bit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256</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GIF, PNG-8</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384048">
                <a:tc>
                  <a:txBody>
                    <a:bodyPr/>
                    <a:lstStyle/>
                    <a:p>
                      <a:pPr indent="0" marL="0">
                        <a:buNone/>
                      </a:pPr>
                      <a:r>
                        <a:rPr lang="en-US" sz="1350" b="1" dirty="0">
                          <a:solidFill>
                            <a:srgbClr val="000000"/>
                          </a:solidFill>
                          <a:latin typeface="Aptos" pitchFamily="34" charset="0"/>
                          <a:ea typeface="Aptos" pitchFamily="34" charset="-122"/>
                          <a:cs typeface="Aptos" pitchFamily="34" charset="-120"/>
                        </a:rPr>
                        <a:t>24-bit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million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JPG, PNG-24, WebP: photos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384048">
                <a:tc>
                  <a:txBody>
                    <a:bodyPr/>
                    <a:lstStyle/>
                    <a:p>
                      <a:pPr indent="0" marL="0">
                        <a:buNone/>
                      </a:pPr>
                      <a:r>
                        <a:rPr lang="en-US" sz="1350" b="1" dirty="0">
                          <a:solidFill>
                            <a:srgbClr val="000000"/>
                          </a:solidFill>
                          <a:latin typeface="Aptos" pitchFamily="34" charset="0"/>
                          <a:ea typeface="Aptos" pitchFamily="34" charset="-122"/>
                          <a:cs typeface="Aptos" pitchFamily="34" charset="-120"/>
                        </a:rPr>
                        <a:t>32-bit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million + transparency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PNG-32, WebP, AVIF with alpha</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
        <p:nvSpPr>
          <p:cNvPr id="14" name="Text 7"/>
          <p:cNvSpPr txBox="1"/>
          <p:nvPr/>
        </p:nvSpPr>
        <p:spPr>
          <a:xfrm>
            <a:off x="4754880" y="5486400"/>
            <a:ext cx="6903720" cy="365760"/>
          </a:xfrm>
          <a:prstGeom prst="rect">
            <a:avLst/>
          </a:prstGeom>
          <a:noFill/>
          <a:ln/>
        </p:spPr>
        <p:txBody>
          <a:bodyPr wrap="square" lIns="0" tIns="0" rIns="0" bIns="0" rtlCol="0" anchor="ctr"/>
          <a:lstStyle/>
          <a:p>
            <a:pPr indent="0" marL="0">
              <a:buNone/>
            </a:pPr>
            <a:r>
              <a:rPr lang="en-US" sz="1400" i="1" dirty="0">
                <a:solidFill>
                  <a:srgbClr val="595959"/>
                </a:solidFill>
                <a:latin typeface="Aptos" pitchFamily="34" charset="0"/>
                <a:ea typeface="Aptos" pitchFamily="34" charset="-122"/>
                <a:cs typeface="Aptos" pitchFamily="34" charset="-120"/>
              </a:rPr>
              <a:t>Alpha channel = the extra 8 bits that store how see-through each pixel 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Do the Math: Why We Need Compression</a:t>
            </a:r>
            <a:endParaRPr lang="en-US" sz="2800" dirty="0"/>
          </a:p>
        </p:txBody>
      </p:sp>
      <p:sp>
        <p:nvSpPr>
          <p:cNvPr id="7" name="Text 4"/>
          <p:cNvSpPr txBox="1"/>
          <p:nvPr/>
        </p:nvSpPr>
        <p:spPr>
          <a:xfrm>
            <a:off x="4754880" y="1783080"/>
            <a:ext cx="6903720" cy="502920"/>
          </a:xfrm>
          <a:prstGeom prst="rect">
            <a:avLst/>
          </a:prstGeom>
          <a:noFill/>
          <a:ln/>
        </p:spPr>
        <p:txBody>
          <a:bodyPr wrap="square" lIns="0" tIns="0" rIns="0" bIns="0" rtlCol="0" anchor="ctr"/>
          <a:lstStyle/>
          <a:p>
            <a:pPr indent="0" marL="0">
              <a:buNone/>
            </a:pPr>
            <a:r>
              <a:rPr lang="en-US" sz="1900" b="1" dirty="0">
                <a:solidFill>
                  <a:srgbClr val="000000"/>
                </a:solidFill>
                <a:latin typeface="Consolas" pitchFamily="34" charset="0"/>
                <a:ea typeface="Consolas" pitchFamily="34" charset="-122"/>
                <a:cs typeface="Consolas" pitchFamily="34" charset="-120"/>
              </a:rPr>
              <a:t>Uncompressed = width × height × 3 bytes</a:t>
            </a:r>
            <a:endParaRPr lang="en-US" sz="1900" dirty="0"/>
          </a:p>
        </p:txBody>
      </p:sp>
      <p:sp>
        <p:nvSpPr>
          <p:cNvPr id="8" name="Text 5"/>
          <p:cNvSpPr txBox="1"/>
          <p:nvPr/>
        </p:nvSpPr>
        <p:spPr>
          <a:xfrm>
            <a:off x="4754880" y="2286000"/>
            <a:ext cx="6903720" cy="320040"/>
          </a:xfrm>
          <a:prstGeom prst="rect">
            <a:avLst/>
          </a:prstGeom>
          <a:noFill/>
          <a:ln/>
        </p:spPr>
        <p:txBody>
          <a:bodyPr wrap="square" lIns="0" tIns="0" rIns="0" bIns="0" rtlCol="0" anchor="ctr"/>
          <a:lstStyle/>
          <a:p>
            <a:pPr indent="0" marL="0">
              <a:buNone/>
            </a:pPr>
            <a:r>
              <a:rPr lang="en-US" sz="1350" dirty="0">
                <a:solidFill>
                  <a:srgbClr val="595959"/>
                </a:solidFill>
                <a:latin typeface="Aptos" pitchFamily="34" charset="0"/>
                <a:ea typeface="Aptos" pitchFamily="34" charset="-122"/>
                <a:cs typeface="Aptos" pitchFamily="34" charset="-120"/>
              </a:rPr>
              <a:t>(24-bit colour = 3 bytes per pixel: one each for red, green and blue)</a:t>
            </a:r>
            <a:endParaRPr lang="en-US" sz="1350" dirty="0"/>
          </a:p>
        </p:txBody>
      </p:sp>
      <p:sp>
        <p:nvSpPr>
          <p:cNvPr id="9" name="Shape 6"/>
          <p:cNvSpPr/>
          <p:nvPr/>
        </p:nvSpPr>
        <p:spPr>
          <a:xfrm>
            <a:off x="4754880" y="2834640"/>
            <a:ext cx="6903720" cy="1234440"/>
          </a:xfrm>
          <a:prstGeom prst="roundRect">
            <a:avLst>
              <a:gd name="adj" fmla="val 88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754880" y="2944368"/>
            <a:ext cx="91440" cy="1014984"/>
          </a:xfrm>
          <a:prstGeom prst="rect">
            <a:avLst/>
          </a:prstGeom>
          <a:solidFill>
            <a:srgbClr val="1B5E82"/>
          </a:solidFill>
          <a:ln/>
        </p:spPr>
      </p:sp>
      <p:sp>
        <p:nvSpPr>
          <p:cNvPr id="11" name="Text 8"/>
          <p:cNvSpPr txBox="1"/>
          <p:nvPr/>
        </p:nvSpPr>
        <p:spPr>
          <a:xfrm>
            <a:off x="5029200" y="2971800"/>
            <a:ext cx="292608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Our sample beach photo</a:t>
            </a:r>
            <a:endParaRPr lang="en-US" sz="1600" dirty="0"/>
          </a:p>
        </p:txBody>
      </p:sp>
      <p:sp>
        <p:nvSpPr>
          <p:cNvPr id="12" name="Text 9"/>
          <p:cNvSpPr txBox="1"/>
          <p:nvPr/>
        </p:nvSpPr>
        <p:spPr>
          <a:xfrm>
            <a:off x="5029200" y="3383280"/>
            <a:ext cx="2926080" cy="365760"/>
          </a:xfrm>
          <a:prstGeom prst="rect">
            <a:avLst/>
          </a:prstGeom>
          <a:noFill/>
          <a:ln/>
        </p:spPr>
        <p:txBody>
          <a:bodyPr wrap="square" lIns="0" tIns="0" rIns="0" bIns="0" rtlCol="0" anchor="ctr"/>
          <a:lstStyle/>
          <a:p>
            <a:pPr indent="0" marL="0">
              <a:buNone/>
            </a:pPr>
            <a:r>
              <a:rPr lang="en-US" sz="1400" dirty="0">
                <a:solidFill>
                  <a:srgbClr val="262626"/>
                </a:solidFill>
                <a:latin typeface="Consolas" pitchFamily="34" charset="0"/>
                <a:ea typeface="Consolas" pitchFamily="34" charset="-122"/>
                <a:cs typeface="Consolas" pitchFamily="34" charset="-120"/>
              </a:rPr>
              <a:t>1118 × 640 × 3</a:t>
            </a:r>
            <a:endParaRPr lang="en-US" sz="1400" dirty="0"/>
          </a:p>
        </p:txBody>
      </p:sp>
      <p:sp>
        <p:nvSpPr>
          <p:cNvPr id="13" name="Text 10"/>
          <p:cNvSpPr txBox="1"/>
          <p:nvPr/>
        </p:nvSpPr>
        <p:spPr>
          <a:xfrm>
            <a:off x="8046720" y="3017520"/>
            <a:ext cx="1645920" cy="86868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Uncompressed</a:t>
            </a:r>
            <a:endParaRPr lang="en-US" sz="1100" dirty="0"/>
          </a:p>
          <a:p>
            <a:pPr indent="0" marL="0">
              <a:buNone/>
            </a:pPr>
            <a:r>
              <a:rPr lang="en-US" sz="2200" b="1" dirty="0">
                <a:solidFill>
                  <a:srgbClr val="000000"/>
                </a:solidFill>
                <a:latin typeface="Aptos" pitchFamily="34" charset="0"/>
                <a:ea typeface="Aptos" pitchFamily="34" charset="-122"/>
                <a:cs typeface="Aptos" pitchFamily="34" charset="-120"/>
              </a:rPr>
              <a:t>2.0 MB</a:t>
            </a:r>
            <a:endParaRPr lang="en-US" sz="1100" dirty="0"/>
          </a:p>
        </p:txBody>
      </p:sp>
      <p:sp>
        <p:nvSpPr>
          <p:cNvPr id="14" name="Text 11"/>
          <p:cNvSpPr txBox="1"/>
          <p:nvPr/>
        </p:nvSpPr>
        <p:spPr>
          <a:xfrm>
            <a:off x="9555480" y="2834640"/>
            <a:ext cx="36576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5" name="Text 12"/>
          <p:cNvSpPr txBox="1"/>
          <p:nvPr/>
        </p:nvSpPr>
        <p:spPr>
          <a:xfrm>
            <a:off x="10012680" y="3017520"/>
            <a:ext cx="1600200" cy="86868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Actual JPG file</a:t>
            </a:r>
            <a:endParaRPr lang="en-US" sz="1100" dirty="0"/>
          </a:p>
          <a:p>
            <a:pPr indent="0" marL="0">
              <a:buNone/>
            </a:pPr>
            <a:r>
              <a:rPr lang="en-US" sz="2200" b="1" dirty="0">
                <a:solidFill>
                  <a:srgbClr val="1B5E82"/>
                </a:solidFill>
                <a:latin typeface="Aptos" pitchFamily="34" charset="0"/>
                <a:ea typeface="Aptos" pitchFamily="34" charset="-122"/>
                <a:cs typeface="Aptos" pitchFamily="34" charset="-120"/>
              </a:rPr>
              <a:t>134 KB</a:t>
            </a:r>
            <a:endParaRPr lang="en-US" sz="1100" dirty="0"/>
          </a:p>
        </p:txBody>
      </p:sp>
      <p:sp>
        <p:nvSpPr>
          <p:cNvPr id="16" name="Shape 13"/>
          <p:cNvSpPr/>
          <p:nvPr/>
        </p:nvSpPr>
        <p:spPr>
          <a:xfrm>
            <a:off x="4754880" y="4297680"/>
            <a:ext cx="6903720" cy="1234440"/>
          </a:xfrm>
          <a:prstGeom prst="roundRect">
            <a:avLst>
              <a:gd name="adj" fmla="val 8889"/>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754880" y="4407408"/>
            <a:ext cx="91440" cy="1014984"/>
          </a:xfrm>
          <a:prstGeom prst="rect">
            <a:avLst/>
          </a:prstGeom>
          <a:solidFill>
            <a:srgbClr val="E97132"/>
          </a:solidFill>
          <a:ln/>
        </p:spPr>
      </p:sp>
      <p:sp>
        <p:nvSpPr>
          <p:cNvPr id="18" name="Text 15"/>
          <p:cNvSpPr txBox="1"/>
          <p:nvPr/>
        </p:nvSpPr>
        <p:spPr>
          <a:xfrm>
            <a:off x="5029200" y="4434840"/>
            <a:ext cx="2926080" cy="36576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A 12 MP phone photo</a:t>
            </a:r>
            <a:endParaRPr lang="en-US" sz="1600" dirty="0"/>
          </a:p>
        </p:txBody>
      </p:sp>
      <p:sp>
        <p:nvSpPr>
          <p:cNvPr id="19" name="Text 16"/>
          <p:cNvSpPr txBox="1"/>
          <p:nvPr/>
        </p:nvSpPr>
        <p:spPr>
          <a:xfrm>
            <a:off x="5029200" y="4846320"/>
            <a:ext cx="2926080" cy="365760"/>
          </a:xfrm>
          <a:prstGeom prst="rect">
            <a:avLst/>
          </a:prstGeom>
          <a:noFill/>
          <a:ln/>
        </p:spPr>
        <p:txBody>
          <a:bodyPr wrap="square" lIns="0" tIns="0" rIns="0" bIns="0" rtlCol="0" anchor="ctr"/>
          <a:lstStyle/>
          <a:p>
            <a:pPr indent="0" marL="0">
              <a:buNone/>
            </a:pPr>
            <a:r>
              <a:rPr lang="en-US" sz="1400" dirty="0">
                <a:solidFill>
                  <a:srgbClr val="262626"/>
                </a:solidFill>
                <a:latin typeface="Consolas" pitchFamily="34" charset="0"/>
                <a:ea typeface="Consolas" pitchFamily="34" charset="-122"/>
                <a:cs typeface="Consolas" pitchFamily="34" charset="-120"/>
              </a:rPr>
              <a:t>4032 × 3024 × 3</a:t>
            </a:r>
            <a:endParaRPr lang="en-US" sz="1400" dirty="0"/>
          </a:p>
        </p:txBody>
      </p:sp>
      <p:sp>
        <p:nvSpPr>
          <p:cNvPr id="20" name="Text 17"/>
          <p:cNvSpPr txBox="1"/>
          <p:nvPr/>
        </p:nvSpPr>
        <p:spPr>
          <a:xfrm>
            <a:off x="8046720" y="4480560"/>
            <a:ext cx="1645920" cy="86868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Uncompressed</a:t>
            </a:r>
            <a:endParaRPr lang="en-US" sz="1100" dirty="0"/>
          </a:p>
          <a:p>
            <a:pPr indent="0" marL="0">
              <a:buNone/>
            </a:pPr>
            <a:r>
              <a:rPr lang="en-US" sz="2200" b="1" dirty="0">
                <a:solidFill>
                  <a:srgbClr val="000000"/>
                </a:solidFill>
                <a:latin typeface="Aptos" pitchFamily="34" charset="0"/>
                <a:ea typeface="Aptos" pitchFamily="34" charset="-122"/>
                <a:cs typeface="Aptos" pitchFamily="34" charset="-120"/>
              </a:rPr>
              <a:t>36.6 MB</a:t>
            </a:r>
            <a:endParaRPr lang="en-US" sz="1100" dirty="0"/>
          </a:p>
        </p:txBody>
      </p:sp>
      <p:sp>
        <p:nvSpPr>
          <p:cNvPr id="21" name="Text 18"/>
          <p:cNvSpPr txBox="1"/>
          <p:nvPr/>
        </p:nvSpPr>
        <p:spPr>
          <a:xfrm>
            <a:off x="9555480" y="4297680"/>
            <a:ext cx="365760" cy="123444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22" name="Text 19"/>
          <p:cNvSpPr txBox="1"/>
          <p:nvPr/>
        </p:nvSpPr>
        <p:spPr>
          <a:xfrm>
            <a:off x="10012680" y="4480560"/>
            <a:ext cx="1600200" cy="868680"/>
          </a:xfrm>
          <a:prstGeom prst="rect">
            <a:avLst/>
          </a:prstGeom>
          <a:noFill/>
          <a:ln/>
        </p:spPr>
        <p:txBody>
          <a:bodyPr wrap="square" lIns="0" tIns="0" rIns="0" bIns="0" rtlCol="0" anchor="ctr"/>
          <a:lstStyle/>
          <a:p>
            <a:pPr indent="0" marL="0">
              <a:buNone/>
            </a:pPr>
            <a:r>
              <a:rPr lang="en-US" sz="1100" dirty="0">
                <a:solidFill>
                  <a:srgbClr val="595959"/>
                </a:solidFill>
                <a:latin typeface="Aptos" pitchFamily="34" charset="0"/>
                <a:ea typeface="Aptos" pitchFamily="34" charset="-122"/>
                <a:cs typeface="Aptos" pitchFamily="34" charset="-120"/>
              </a:rPr>
              <a:t>Actual JPG file</a:t>
            </a:r>
            <a:endParaRPr lang="en-US" sz="1100" dirty="0"/>
          </a:p>
          <a:p>
            <a:pPr indent="0" marL="0">
              <a:buNone/>
            </a:pPr>
            <a:r>
              <a:rPr lang="en-US" sz="2200" b="1" dirty="0">
                <a:solidFill>
                  <a:srgbClr val="E97132"/>
                </a:solidFill>
                <a:latin typeface="Aptos" pitchFamily="34" charset="0"/>
                <a:ea typeface="Aptos" pitchFamily="34" charset="-122"/>
                <a:cs typeface="Aptos" pitchFamily="34" charset="-120"/>
              </a:rPr>
              <a:t>about 3 MB</a:t>
            </a:r>
            <a:endParaRPr lang="en-US" sz="1100" dirty="0"/>
          </a:p>
        </p:txBody>
      </p:sp>
      <p:sp>
        <p:nvSpPr>
          <p:cNvPr id="23" name="Text 20"/>
          <p:cNvSpPr txBox="1"/>
          <p:nvPr/>
        </p:nvSpPr>
        <p:spPr>
          <a:xfrm>
            <a:off x="4754880" y="5806440"/>
            <a:ext cx="6903720" cy="548640"/>
          </a:xfrm>
          <a:prstGeom prst="rect">
            <a:avLst/>
          </a:prstGeom>
          <a:noFill/>
          <a:ln/>
        </p:spPr>
        <p:txBody>
          <a:bodyPr wrap="square" lIns="0" tIns="0" rIns="0" bIns="0" rtlCol="0" anchor="ctr"/>
          <a:lstStyle/>
          <a:p>
            <a:pPr indent="0" marL="0">
              <a:buNone/>
            </a:pPr>
            <a:r>
              <a:rPr lang="en-US" sz="1500" b="1" dirty="0">
                <a:solidFill>
                  <a:srgbClr val="1B5E82"/>
                </a:solidFill>
                <a:latin typeface="Aptos" pitchFamily="34" charset="0"/>
                <a:ea typeface="Aptos" pitchFamily="34" charset="-122"/>
                <a:cs typeface="Aptos" pitchFamily="34" charset="-120"/>
              </a:rPr>
              <a:t>Compression makes files much smaller. But 3 MB is still far too big for one image on a web page.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1: Get to Know Your Photo (5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your photo as my_images/original.jpg</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Inside the 04_Images_for_the_Web folder.</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Right-click it → Properties → Details tab</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Scroll to Image: find Dimensions and Bit depth. File size is on the General tab.</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Do the math</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width × height × 3</a:t>
            </a:r>
            <a:pPr indent="0" marL="0">
              <a:buNone/>
            </a:pPr>
            <a:r>
              <a:rPr lang="en-US" sz="1350" dirty="0">
                <a:solidFill>
                  <a:srgbClr val="262626"/>
                </a:solidFill>
                <a:latin typeface="Aptos" pitchFamily="34" charset="0"/>
                <a:ea typeface="Aptos" pitchFamily="34" charset="-122"/>
                <a:cs typeface="Aptos" pitchFamily="34" charset="-120"/>
              </a:rPr>
              <a:t> = the uncompressed size in bytes. Divide by 1,048,576 for MB.</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Fill in Lab 1 in image_lab.html</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How many times smaller is the real file than the uncompressed size?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Bonus: set up a better File Explorer view</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b="1" dirty="0">
                <a:solidFill>
                  <a:srgbClr val="262626"/>
                </a:solidFill>
                <a:latin typeface="Aptos" pitchFamily="34" charset="0"/>
                <a:ea typeface="Aptos" pitchFamily="34" charset="-122"/>
                <a:cs typeface="Aptos" pitchFamily="34" charset="-120"/>
              </a:rPr>
              <a:t>View → Details</a:t>
            </a:r>
            <a:pPr indent="0" marL="0">
              <a:buNone/>
            </a:pPr>
            <a:r>
              <a:rPr lang="en-US" sz="1350" dirty="0">
                <a:solidFill>
                  <a:srgbClr val="262626"/>
                </a:solidFill>
                <a:latin typeface="Aptos" pitchFamily="34" charset="0"/>
                <a:ea typeface="Aptos" pitchFamily="34" charset="-122"/>
                <a:cs typeface="Aptos" pitchFamily="34" charset="-120"/>
              </a:rPr>
              <a:t>, then right-click a column heading → More… → tick </a:t>
            </a:r>
            <a:pPr indent="0" marL="0">
              <a:buNone/>
            </a:pPr>
            <a:r>
              <a:rPr lang="en-US" sz="1350" b="1" dirty="0">
                <a:solidFill>
                  <a:srgbClr val="262626"/>
                </a:solidFill>
                <a:latin typeface="Aptos" pitchFamily="34" charset="0"/>
                <a:ea typeface="Aptos" pitchFamily="34" charset="-122"/>
                <a:cs typeface="Aptos" pitchFamily="34" charset="-120"/>
              </a:rPr>
              <a:t>Dimensions</a:t>
            </a:r>
            <a:pPr indent="0" marL="0">
              <a:buNone/>
            </a:pPr>
            <a:r>
              <a:rPr lang="en-US" sz="1350" dirty="0">
                <a:solidFill>
                  <a:srgbClr val="262626"/>
                </a:solidFill>
                <a:latin typeface="Aptos" pitchFamily="34" charset="0"/>
                <a:ea typeface="Aptos" pitchFamily="34" charset="-122"/>
                <a:cs typeface="Aptos" pitchFamily="34" charset="-120"/>
              </a:rPr>
              <a:t> and </a:t>
            </a:r>
            <a:pPr indent="0" marL="0">
              <a:buNone/>
            </a:pPr>
            <a:r>
              <a:rPr lang="en-US" sz="1350" b="1" dirty="0">
                <a:solidFill>
                  <a:srgbClr val="262626"/>
                </a:solidFill>
                <a:latin typeface="Aptos" pitchFamily="34" charset="0"/>
                <a:ea typeface="Aptos" pitchFamily="34" charset="-122"/>
                <a:cs typeface="Aptos" pitchFamily="34" charset="-120"/>
              </a:rPr>
              <a:t>Bit depth</a:t>
            </a:r>
            <a:pPr indent="0" marL="0">
              <a:buNone/>
            </a:pPr>
            <a:r>
              <a:rPr lang="en-US" sz="1350" dirty="0">
                <a:solidFill>
                  <a:srgbClr val="262626"/>
                </a:solidFill>
                <a:latin typeface="Aptos" pitchFamily="34" charset="0"/>
                <a:ea typeface="Aptos" pitchFamily="34" charset="-122"/>
                <a:cs typeface="Aptos" pitchFamily="34" charset="-120"/>
              </a:rPr>
              <a:t>. You'll use this all class.</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Write down</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Dimensions (W × H)</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Bit depth</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File size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Uncompressed size</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Expect roughly</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Phone: 4000 × 3000, 24-bit, 2–5 MB</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Uncompressed: 30–50 MB</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Compression</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Lossless vs lossy   ·   what you lose and what you save</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Lossless vs Lossy</a:t>
            </a:r>
            <a:endParaRPr lang="en-US" sz="2800" dirty="0"/>
          </a:p>
        </p:txBody>
      </p:sp>
      <p:sp>
        <p:nvSpPr>
          <p:cNvPr id="7" name="Shape 4"/>
          <p:cNvSpPr/>
          <p:nvPr/>
        </p:nvSpPr>
        <p:spPr>
          <a:xfrm>
            <a:off x="4754880" y="1783080"/>
            <a:ext cx="3337560" cy="4023360"/>
          </a:xfrm>
          <a:prstGeom prst="roundRect">
            <a:avLst>
              <a:gd name="adj" fmla="val 328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754880" y="1783080"/>
            <a:ext cx="3337560" cy="594360"/>
          </a:xfrm>
          <a:prstGeom prst="rect">
            <a:avLst/>
          </a:prstGeom>
          <a:solidFill>
            <a:srgbClr val="1B5E82"/>
          </a:solidFill>
          <a:ln/>
        </p:spPr>
      </p:sp>
      <p:sp>
        <p:nvSpPr>
          <p:cNvPr id="9" name="Text 6"/>
          <p:cNvSpPr txBox="1"/>
          <p:nvPr/>
        </p:nvSpPr>
        <p:spPr>
          <a:xfrm>
            <a:off x="4983480" y="1783080"/>
            <a:ext cx="2880360" cy="594360"/>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Lossless</a:t>
            </a:r>
            <a:endParaRPr lang="en-US" sz="2000" dirty="0"/>
          </a:p>
        </p:txBody>
      </p:sp>
      <p:sp>
        <p:nvSpPr>
          <p:cNvPr id="10" name="Text 7"/>
          <p:cNvSpPr txBox="1"/>
          <p:nvPr/>
        </p:nvSpPr>
        <p:spPr>
          <a:xfrm>
            <a:off x="4983480" y="2560320"/>
            <a:ext cx="2880360" cy="91440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Packs the data more cleverly. Open it and every pixel is exactly the same as before.</a:t>
            </a:r>
            <a:endParaRPr lang="en-US" sz="1400" dirty="0"/>
          </a:p>
        </p:txBody>
      </p:sp>
      <p:sp>
        <p:nvSpPr>
          <p:cNvPr id="11" name="Text 8"/>
          <p:cNvSpPr txBox="1"/>
          <p:nvPr/>
        </p:nvSpPr>
        <p:spPr>
          <a:xfrm>
            <a:off x="4983480" y="3566160"/>
            <a:ext cx="2880360" cy="21031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Like a ZIP file</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PNG, GIF, lossless WebP</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Great for logos, icons, screenshots, flat colour</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Poor for photos (big files)</a:t>
            </a:r>
            <a:endParaRPr lang="en-US" sz="1350" dirty="0"/>
          </a:p>
        </p:txBody>
      </p:sp>
      <p:sp>
        <p:nvSpPr>
          <p:cNvPr id="12" name="Shape 9"/>
          <p:cNvSpPr/>
          <p:nvPr/>
        </p:nvSpPr>
        <p:spPr>
          <a:xfrm>
            <a:off x="8321040" y="1783080"/>
            <a:ext cx="3337560" cy="4023360"/>
          </a:xfrm>
          <a:prstGeom prst="roundRect">
            <a:avLst>
              <a:gd name="adj" fmla="val 3288"/>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8321040" y="1783080"/>
            <a:ext cx="3337560" cy="594360"/>
          </a:xfrm>
          <a:prstGeom prst="rect">
            <a:avLst/>
          </a:prstGeom>
          <a:solidFill>
            <a:srgbClr val="E97132"/>
          </a:solidFill>
          <a:ln/>
        </p:spPr>
      </p:sp>
      <p:sp>
        <p:nvSpPr>
          <p:cNvPr id="14" name="Text 11"/>
          <p:cNvSpPr txBox="1"/>
          <p:nvPr/>
        </p:nvSpPr>
        <p:spPr>
          <a:xfrm>
            <a:off x="8549640" y="1783080"/>
            <a:ext cx="2880360" cy="594360"/>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Lossy</a:t>
            </a:r>
            <a:endParaRPr lang="en-US" sz="2000" dirty="0"/>
          </a:p>
        </p:txBody>
      </p:sp>
      <p:sp>
        <p:nvSpPr>
          <p:cNvPr id="15" name="Text 12"/>
          <p:cNvSpPr txBox="1"/>
          <p:nvPr/>
        </p:nvSpPr>
        <p:spPr>
          <a:xfrm>
            <a:off x="8549640" y="2560320"/>
            <a:ext cx="2880360" cy="914400"/>
          </a:xfrm>
          <a:prstGeom prst="rect">
            <a:avLst/>
          </a:prstGeom>
          <a:noFill/>
          <a:ln/>
        </p:spPr>
        <p:txBody>
          <a:bodyPr wrap="square" lIns="0" tIns="0" rIns="0" bIns="0" rtlCol="0" anchor="t"/>
          <a:lstStyle/>
          <a:p>
            <a:pPr indent="0" marL="0">
              <a:buNone/>
            </a:pPr>
            <a:r>
              <a:rPr lang="en-US" sz="1400" dirty="0">
                <a:solidFill>
                  <a:srgbClr val="262626"/>
                </a:solidFill>
                <a:latin typeface="Aptos" pitchFamily="34" charset="0"/>
                <a:ea typeface="Aptos" pitchFamily="34" charset="-122"/>
                <a:cs typeface="Aptos" pitchFamily="34" charset="-120"/>
              </a:rPr>
              <a:t>Throws away detail your eye probably won't notice. You choose how much.</a:t>
            </a:r>
            <a:endParaRPr lang="en-US" sz="1400" dirty="0"/>
          </a:p>
        </p:txBody>
      </p:sp>
      <p:sp>
        <p:nvSpPr>
          <p:cNvPr id="16" name="Text 13"/>
          <p:cNvSpPr txBox="1"/>
          <p:nvPr/>
        </p:nvSpPr>
        <p:spPr>
          <a:xfrm>
            <a:off x="8549640" y="3566160"/>
            <a:ext cx="2880360" cy="210312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Like summarizing a book</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JPG, WebP, AVIF</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Great for photos (tiny files)</a:t>
            </a:r>
            <a:endParaRPr lang="en-US" sz="1350" dirty="0"/>
          </a:p>
          <a:p>
            <a:pPr marL="342900" indent="-342900">
              <a:spcBef>
                <a:spcPts val="7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Too much = blurry, blocky pictures. You can't undo it</a:t>
            </a:r>
            <a:endParaRPr lang="en-US" sz="1350" dirty="0"/>
          </a:p>
        </p:txBody>
      </p:sp>
      <p:sp>
        <p:nvSpPr>
          <p:cNvPr id="17" name="Shape 14"/>
          <p:cNvSpPr/>
          <p:nvPr/>
        </p:nvSpPr>
        <p:spPr>
          <a:xfrm>
            <a:off x="4754880" y="5943600"/>
            <a:ext cx="6903720" cy="548640"/>
          </a:xfrm>
          <a:prstGeom prst="roundRect">
            <a:avLst>
              <a:gd name="adj" fmla="val 20000"/>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5029200" y="5943600"/>
            <a:ext cx="6355080" cy="548640"/>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Always keep your original. Export copies. Never edit and re-save the same JPG over and over.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594360"/>
          </a:xfrm>
          <a:prstGeom prst="rect">
            <a:avLst/>
          </a:prstGeom>
          <a:noFill/>
          <a:ln/>
        </p:spPr>
        <p:txBody>
          <a:bodyPr wrap="square" lIns="0" tIns="0" rIns="0" bIns="0" rtlCol="0" anchor="ctr"/>
          <a:lstStyle/>
          <a:p>
            <a:pPr indent="0" marL="0">
              <a:buNone/>
            </a:pPr>
            <a:r>
              <a:rPr lang="en-US" sz="3200" dirty="0">
                <a:solidFill>
                  <a:srgbClr val="000000"/>
                </a:solidFill>
                <a:latin typeface="Aptos" pitchFamily="34" charset="0"/>
                <a:ea typeface="Aptos" pitchFamily="34" charset="-122"/>
                <a:cs typeface="Aptos" pitchFamily="34" charset="-120"/>
              </a:rPr>
              <a:t>What Lossy Compression Looks Like</a:t>
            </a:r>
            <a:endParaRPr lang="en-US" sz="3200" dirty="0"/>
          </a:p>
        </p:txBody>
      </p:sp>
      <p:sp>
        <p:nvSpPr>
          <p:cNvPr id="3" name="Text 1"/>
          <p:cNvSpPr txBox="1"/>
          <p:nvPr/>
        </p:nvSpPr>
        <p:spPr>
          <a:xfrm>
            <a:off x="548640" y="960120"/>
            <a:ext cx="10972800" cy="365760"/>
          </a:xfrm>
          <a:prstGeom prst="rect">
            <a:avLst/>
          </a:prstGeom>
          <a:noFill/>
          <a:ln/>
        </p:spPr>
        <p:txBody>
          <a:bodyPr wrap="square" lIns="0" tIns="0" rIns="0" bIns="0" rtlCol="0" anchor="ctr"/>
          <a:lstStyle/>
          <a:p>
            <a:pPr indent="0" marL="0">
              <a:buNone/>
            </a:pPr>
            <a:r>
              <a:rPr lang="en-US" sz="1600" dirty="0">
                <a:solidFill>
                  <a:srgbClr val="595959"/>
                </a:solidFill>
                <a:latin typeface="Aptos" pitchFamily="34" charset="0"/>
                <a:ea typeface="Aptos" pitchFamily="34" charset="-122"/>
                <a:cs typeface="Aptos" pitchFamily="34" charset="-120"/>
              </a:rPr>
              <a:t>The same JPG at three quality settings, zoomed in 5×.</a:t>
            </a:r>
            <a:endParaRPr lang="en-US" sz="1600" dirty="0"/>
          </a:p>
        </p:txBody>
      </p:sp>
      <p:pic>
        <p:nvPicPr>
          <p:cNvPr id="4" name="Image 0" descr="C:\Repos\2026-2027\WEBD1000\04_Images_for_the_Web\_build\zoom_q90.png">    </p:cNvPr>
          <p:cNvPicPr>
            <a:picLocks noChangeAspect="1"/>
          </p:cNvPicPr>
          <p:nvPr/>
        </p:nvPicPr>
        <p:blipFill>
          <a:blip r:embed="rId1"/>
          <a:stretch>
            <a:fillRect/>
          </a:stretch>
        </p:blipFill>
        <p:spPr>
          <a:xfrm>
            <a:off x="548640" y="1554480"/>
            <a:ext cx="3520440" cy="2346960"/>
          </a:xfrm>
          <a:prstGeom prst="rect">
            <a:avLst/>
          </a:prstGeom>
        </p:spPr>
      </p:pic>
      <p:sp>
        <p:nvSpPr>
          <p:cNvPr id="5" name="Shape 2"/>
          <p:cNvSpPr/>
          <p:nvPr/>
        </p:nvSpPr>
        <p:spPr>
          <a:xfrm>
            <a:off x="548640" y="1554480"/>
            <a:ext cx="3520440" cy="2346960"/>
          </a:xfrm>
          <a:prstGeom prst="rect">
            <a:avLst/>
          </a:prstGeom>
          <a:ln w="12700">
            <a:solidFill>
              <a:srgbClr val="7F7F7F"/>
            </a:solidFill>
            <a:prstDash val="solid"/>
          </a:ln>
        </p:spPr>
      </p:sp>
      <p:sp>
        <p:nvSpPr>
          <p:cNvPr id="6" name="Text 3"/>
          <p:cNvSpPr txBox="1"/>
          <p:nvPr/>
        </p:nvSpPr>
        <p:spPr>
          <a:xfrm>
            <a:off x="548640" y="4038600"/>
            <a:ext cx="2286000" cy="411480"/>
          </a:xfrm>
          <a:prstGeom prst="rect">
            <a:avLst/>
          </a:prstGeom>
          <a:noFill/>
          <a:ln/>
        </p:spPr>
        <p:txBody>
          <a:bodyPr wrap="square" lIns="0" tIns="0" rIns="0" bIns="0" rtlCol="0" anchor="ctr"/>
          <a:lstStyle/>
          <a:p>
            <a:pPr indent="0" marL="0">
              <a:buNone/>
            </a:pPr>
            <a:r>
              <a:rPr lang="en-US" sz="2000" b="1" dirty="0">
                <a:solidFill>
                  <a:srgbClr val="000000"/>
                </a:solidFill>
                <a:latin typeface="Aptos" pitchFamily="34" charset="0"/>
                <a:ea typeface="Aptos" pitchFamily="34" charset="-122"/>
                <a:cs typeface="Aptos" pitchFamily="34" charset="-120"/>
              </a:rPr>
              <a:t>Quality 90</a:t>
            </a:r>
            <a:endParaRPr lang="en-US" sz="2000" dirty="0"/>
          </a:p>
        </p:txBody>
      </p:sp>
      <p:sp>
        <p:nvSpPr>
          <p:cNvPr id="7" name="Text 4"/>
          <p:cNvSpPr txBox="1"/>
          <p:nvPr/>
        </p:nvSpPr>
        <p:spPr>
          <a:xfrm>
            <a:off x="2606040" y="4038600"/>
            <a:ext cx="1463040" cy="411480"/>
          </a:xfrm>
          <a:prstGeom prst="rect">
            <a:avLst/>
          </a:prstGeom>
          <a:noFill/>
          <a:ln/>
        </p:spPr>
        <p:txBody>
          <a:bodyPr wrap="square" lIns="0" tIns="0" rIns="0" bIns="0" rtlCol="0" anchor="ctr"/>
          <a:lstStyle/>
          <a:p>
            <a:pPr algn="r" indent="0" marL="0">
              <a:buNone/>
            </a:pPr>
            <a:r>
              <a:rPr lang="en-US" sz="2000" b="1" dirty="0">
                <a:solidFill>
                  <a:srgbClr val="2E7D32"/>
                </a:solidFill>
                <a:latin typeface="Aptos" pitchFamily="34" charset="0"/>
                <a:ea typeface="Aptos" pitchFamily="34" charset="-122"/>
                <a:cs typeface="Aptos" pitchFamily="34" charset="-120"/>
              </a:rPr>
              <a:t>140 KB</a:t>
            </a:r>
            <a:endParaRPr lang="en-US" sz="2000" dirty="0"/>
          </a:p>
        </p:txBody>
      </p:sp>
      <p:pic>
        <p:nvPicPr>
          <p:cNvPr id="8" name="Image 1" descr="C:\Repos\2026-2027\WEBD1000\04_Images_for_the_Web\_build\zoom_q50.png">    </p:cNvPr>
          <p:cNvPicPr>
            <a:picLocks noChangeAspect="1"/>
          </p:cNvPicPr>
          <p:nvPr/>
        </p:nvPicPr>
        <p:blipFill>
          <a:blip r:embed="rId2"/>
          <a:stretch>
            <a:fillRect/>
          </a:stretch>
        </p:blipFill>
        <p:spPr>
          <a:xfrm>
            <a:off x="4320540" y="1554480"/>
            <a:ext cx="3520440" cy="2346960"/>
          </a:xfrm>
          <a:prstGeom prst="rect">
            <a:avLst/>
          </a:prstGeom>
        </p:spPr>
      </p:pic>
      <p:sp>
        <p:nvSpPr>
          <p:cNvPr id="9" name="Shape 5"/>
          <p:cNvSpPr/>
          <p:nvPr/>
        </p:nvSpPr>
        <p:spPr>
          <a:xfrm>
            <a:off x="4320540" y="1554480"/>
            <a:ext cx="3520440" cy="2346960"/>
          </a:xfrm>
          <a:prstGeom prst="rect">
            <a:avLst/>
          </a:prstGeom>
          <a:ln w="12700">
            <a:solidFill>
              <a:srgbClr val="7F7F7F"/>
            </a:solidFill>
            <a:prstDash val="solid"/>
          </a:ln>
        </p:spPr>
      </p:sp>
      <p:sp>
        <p:nvSpPr>
          <p:cNvPr id="10" name="Text 6"/>
          <p:cNvSpPr txBox="1"/>
          <p:nvPr/>
        </p:nvSpPr>
        <p:spPr>
          <a:xfrm>
            <a:off x="4320540" y="4038600"/>
            <a:ext cx="2286000" cy="411480"/>
          </a:xfrm>
          <a:prstGeom prst="rect">
            <a:avLst/>
          </a:prstGeom>
          <a:noFill/>
          <a:ln/>
        </p:spPr>
        <p:txBody>
          <a:bodyPr wrap="square" lIns="0" tIns="0" rIns="0" bIns="0" rtlCol="0" anchor="ctr"/>
          <a:lstStyle/>
          <a:p>
            <a:pPr indent="0" marL="0">
              <a:buNone/>
            </a:pPr>
            <a:r>
              <a:rPr lang="en-US" sz="2000" b="1" dirty="0">
                <a:solidFill>
                  <a:srgbClr val="000000"/>
                </a:solidFill>
                <a:latin typeface="Aptos" pitchFamily="34" charset="0"/>
                <a:ea typeface="Aptos" pitchFamily="34" charset="-122"/>
                <a:cs typeface="Aptos" pitchFamily="34" charset="-120"/>
              </a:rPr>
              <a:t>Quality 50</a:t>
            </a:r>
            <a:endParaRPr lang="en-US" sz="2000" dirty="0"/>
          </a:p>
        </p:txBody>
      </p:sp>
      <p:sp>
        <p:nvSpPr>
          <p:cNvPr id="11" name="Text 7"/>
          <p:cNvSpPr txBox="1"/>
          <p:nvPr/>
        </p:nvSpPr>
        <p:spPr>
          <a:xfrm>
            <a:off x="6377940" y="4038600"/>
            <a:ext cx="1463040" cy="411480"/>
          </a:xfrm>
          <a:prstGeom prst="rect">
            <a:avLst/>
          </a:prstGeom>
          <a:noFill/>
          <a:ln/>
        </p:spPr>
        <p:txBody>
          <a:bodyPr wrap="square" lIns="0" tIns="0" rIns="0" bIns="0" rtlCol="0" anchor="ctr"/>
          <a:lstStyle/>
          <a:p>
            <a:pPr algn="r" indent="0" marL="0">
              <a:buNone/>
            </a:pPr>
            <a:r>
              <a:rPr lang="en-US" sz="2000" b="1" dirty="0">
                <a:solidFill>
                  <a:srgbClr val="E97132"/>
                </a:solidFill>
                <a:latin typeface="Aptos" pitchFamily="34" charset="0"/>
                <a:ea typeface="Aptos" pitchFamily="34" charset="-122"/>
                <a:cs typeface="Aptos" pitchFamily="34" charset="-120"/>
              </a:rPr>
              <a:t>51 KB</a:t>
            </a:r>
            <a:endParaRPr lang="en-US" sz="2000" dirty="0"/>
          </a:p>
        </p:txBody>
      </p:sp>
      <p:pic>
        <p:nvPicPr>
          <p:cNvPr id="12" name="Image 2" descr="C:\Repos\2026-2027\WEBD1000\04_Images_for_the_Web\_build\zoom_q10.png">    </p:cNvPr>
          <p:cNvPicPr>
            <a:picLocks noChangeAspect="1"/>
          </p:cNvPicPr>
          <p:nvPr/>
        </p:nvPicPr>
        <p:blipFill>
          <a:blip r:embed="rId3"/>
          <a:stretch>
            <a:fillRect/>
          </a:stretch>
        </p:blipFill>
        <p:spPr>
          <a:xfrm>
            <a:off x="8092440" y="1554480"/>
            <a:ext cx="3520440" cy="2346960"/>
          </a:xfrm>
          <a:prstGeom prst="rect">
            <a:avLst/>
          </a:prstGeom>
        </p:spPr>
      </p:pic>
      <p:sp>
        <p:nvSpPr>
          <p:cNvPr id="13" name="Shape 8"/>
          <p:cNvSpPr/>
          <p:nvPr/>
        </p:nvSpPr>
        <p:spPr>
          <a:xfrm>
            <a:off x="8092440" y="1554480"/>
            <a:ext cx="3520440" cy="2346960"/>
          </a:xfrm>
          <a:prstGeom prst="rect">
            <a:avLst/>
          </a:prstGeom>
          <a:ln w="12700">
            <a:solidFill>
              <a:srgbClr val="7F7F7F"/>
            </a:solidFill>
            <a:prstDash val="solid"/>
          </a:ln>
        </p:spPr>
      </p:sp>
      <p:sp>
        <p:nvSpPr>
          <p:cNvPr id="14" name="Text 9"/>
          <p:cNvSpPr txBox="1"/>
          <p:nvPr/>
        </p:nvSpPr>
        <p:spPr>
          <a:xfrm>
            <a:off x="8092440" y="4038600"/>
            <a:ext cx="2286000" cy="411480"/>
          </a:xfrm>
          <a:prstGeom prst="rect">
            <a:avLst/>
          </a:prstGeom>
          <a:noFill/>
          <a:ln/>
        </p:spPr>
        <p:txBody>
          <a:bodyPr wrap="square" lIns="0" tIns="0" rIns="0" bIns="0" rtlCol="0" anchor="ctr"/>
          <a:lstStyle/>
          <a:p>
            <a:pPr indent="0" marL="0">
              <a:buNone/>
            </a:pPr>
            <a:r>
              <a:rPr lang="en-US" sz="2000" b="1" dirty="0">
                <a:solidFill>
                  <a:srgbClr val="000000"/>
                </a:solidFill>
                <a:latin typeface="Aptos" pitchFamily="34" charset="0"/>
                <a:ea typeface="Aptos" pitchFamily="34" charset="-122"/>
                <a:cs typeface="Aptos" pitchFamily="34" charset="-120"/>
              </a:rPr>
              <a:t>Quality 10</a:t>
            </a:r>
            <a:endParaRPr lang="en-US" sz="2000" dirty="0"/>
          </a:p>
        </p:txBody>
      </p:sp>
      <p:sp>
        <p:nvSpPr>
          <p:cNvPr id="15" name="Text 10"/>
          <p:cNvSpPr txBox="1"/>
          <p:nvPr/>
        </p:nvSpPr>
        <p:spPr>
          <a:xfrm>
            <a:off x="10149840" y="4038600"/>
            <a:ext cx="1463040" cy="411480"/>
          </a:xfrm>
          <a:prstGeom prst="rect">
            <a:avLst/>
          </a:prstGeom>
          <a:noFill/>
          <a:ln/>
        </p:spPr>
        <p:txBody>
          <a:bodyPr wrap="square" lIns="0" tIns="0" rIns="0" bIns="0" rtlCol="0" anchor="ctr"/>
          <a:lstStyle/>
          <a:p>
            <a:pPr algn="r" indent="0" marL="0">
              <a:buNone/>
            </a:pPr>
            <a:r>
              <a:rPr lang="en-US" sz="2000" b="1" dirty="0">
                <a:solidFill>
                  <a:srgbClr val="C62828"/>
                </a:solidFill>
                <a:latin typeface="Aptos" pitchFamily="34" charset="0"/>
                <a:ea typeface="Aptos" pitchFamily="34" charset="-122"/>
                <a:cs typeface="Aptos" pitchFamily="34" charset="-120"/>
              </a:rPr>
              <a:t>12 KB</a:t>
            </a:r>
            <a:endParaRPr lang="en-US" sz="2000" dirty="0"/>
          </a:p>
        </p:txBody>
      </p:sp>
      <p:sp>
        <p:nvSpPr>
          <p:cNvPr id="16" name="Text 11"/>
          <p:cNvSpPr txBox="1"/>
          <p:nvPr/>
        </p:nvSpPr>
        <p:spPr>
          <a:xfrm>
            <a:off x="548640" y="4572000"/>
            <a:ext cx="11064240" cy="1920240"/>
          </a:xfrm>
          <a:prstGeom prst="rect">
            <a:avLst/>
          </a:prstGeom>
          <a:noFill/>
          <a:ln/>
        </p:spPr>
        <p:txBody>
          <a:bodyPr wrap="square" lIns="0" tIns="0" rIns="0" bIns="0" rtlCol="0" anchor="t"/>
          <a:lstStyle/>
          <a:p>
            <a:pPr marL="342900" indent="-342900">
              <a:buSzPct val="100000"/>
              <a:buChar char="•"/>
            </a:pPr>
            <a:r>
              <a:rPr lang="en-US" sz="1550" dirty="0">
                <a:solidFill>
                  <a:srgbClr val="262626"/>
                </a:solidFill>
                <a:latin typeface="Aptos" pitchFamily="34" charset="0"/>
                <a:ea typeface="Aptos" pitchFamily="34" charset="-122"/>
                <a:cs typeface="Aptos" pitchFamily="34" charset="-120"/>
              </a:rPr>
              <a:t>​</a:t>
            </a:r>
            <a:pPr indent="0" marL="0">
              <a:buNone/>
            </a:pPr>
            <a:r>
              <a:rPr lang="en-US" sz="1550" b="1" dirty="0">
                <a:solidFill>
                  <a:srgbClr val="262626"/>
                </a:solidFill>
                <a:latin typeface="Aptos" pitchFamily="34" charset="0"/>
                <a:ea typeface="Aptos" pitchFamily="34" charset="-122"/>
                <a:cs typeface="Aptos" pitchFamily="34" charset="-120"/>
              </a:rPr>
              <a:t>Blocks: </a:t>
            </a:r>
            <a:pPr indent="0" marL="0">
              <a:buNone/>
            </a:pPr>
            <a:r>
              <a:rPr lang="en-US" sz="1550" dirty="0">
                <a:solidFill>
                  <a:srgbClr val="262626"/>
                </a:solidFill>
                <a:latin typeface="Aptos" pitchFamily="34" charset="0"/>
                <a:ea typeface="Aptos" pitchFamily="34" charset="-122"/>
                <a:cs typeface="Aptos" pitchFamily="34" charset="-120"/>
              </a:rPr>
              <a:t>JPG works in 8 × 8 pixel squares. Push the quality too low and you can see them.</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a:t>
            </a:r>
            <a:pPr indent="0" marL="0">
              <a:buNone/>
            </a:pPr>
            <a:r>
              <a:rPr lang="en-US" sz="1550" b="1" dirty="0">
                <a:solidFill>
                  <a:srgbClr val="262626"/>
                </a:solidFill>
                <a:latin typeface="Aptos" pitchFamily="34" charset="0"/>
                <a:ea typeface="Aptos" pitchFamily="34" charset="-122"/>
                <a:cs typeface="Aptos" pitchFamily="34" charset="-120"/>
              </a:rPr>
              <a:t>Smudges and noise </a:t>
            </a:r>
            <a:pPr indent="0" marL="0">
              <a:buNone/>
            </a:pPr>
            <a:r>
              <a:rPr lang="en-US" sz="1550" dirty="0">
                <a:solidFill>
                  <a:srgbClr val="262626"/>
                </a:solidFill>
                <a:latin typeface="Aptos" pitchFamily="34" charset="0"/>
                <a:ea typeface="Aptos" pitchFamily="34" charset="-122"/>
                <a:cs typeface="Aptos" pitchFamily="34" charset="-120"/>
              </a:rPr>
              <a:t>appear around sharp edges, and smooth areas like sky turn patchy.</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a:t>
            </a:r>
            <a:pPr indent="0" marL="0">
              <a:buNone/>
            </a:pPr>
            <a:r>
              <a:rPr lang="en-US" sz="1550" b="1" dirty="0">
                <a:solidFill>
                  <a:srgbClr val="262626"/>
                </a:solidFill>
                <a:latin typeface="Aptos" pitchFamily="34" charset="0"/>
                <a:ea typeface="Aptos" pitchFamily="34" charset="-122"/>
                <a:cs typeface="Aptos" pitchFamily="34" charset="-120"/>
              </a:rPr>
              <a:t>Quality 90 is bigger than the original file (</a:t>
            </a:r>
            <a:pPr indent="0" marL="0">
              <a:buNone/>
            </a:pPr>
            <a:r>
              <a:rPr lang="en-US" sz="1550" b="1" dirty="0">
                <a:solidFill>
                  <a:srgbClr val="262626"/>
                </a:solidFill>
                <a:latin typeface="Aptos" pitchFamily="34" charset="0"/>
                <a:ea typeface="Aptos" pitchFamily="34" charset="-122"/>
                <a:cs typeface="Aptos" pitchFamily="34" charset="-120"/>
              </a:rPr>
              <a:t>134 KB</a:t>
            </a:r>
            <a:pPr indent="0" marL="0">
              <a:buNone/>
            </a:pPr>
            <a:r>
              <a:rPr lang="en-US" sz="1550" b="1" dirty="0">
                <a:solidFill>
                  <a:srgbClr val="262626"/>
                </a:solidFill>
                <a:latin typeface="Aptos" pitchFamily="34" charset="0"/>
                <a:ea typeface="Aptos" pitchFamily="34" charset="-122"/>
                <a:cs typeface="Aptos" pitchFamily="34" charset="-120"/>
              </a:rPr>
              <a:t>)! </a:t>
            </a:r>
            <a:pPr indent="0" marL="0">
              <a:buNone/>
            </a:pPr>
            <a:r>
              <a:rPr lang="en-US" sz="1550" dirty="0">
                <a:solidFill>
                  <a:srgbClr val="262626"/>
                </a:solidFill>
                <a:latin typeface="Aptos" pitchFamily="34" charset="0"/>
                <a:ea typeface="Aptos" pitchFamily="34" charset="-122"/>
                <a:cs typeface="Aptos" pitchFamily="34" charset="-120"/>
              </a:rPr>
              <a:t>Re-saving at a higher quality can't bring back detail. It only adds bytes.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File Formats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JPG · PNG · GIF · WebP · AVIF · SVG</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Six Formats You'll Meet</a:t>
            </a:r>
            <a:endParaRPr lang="en-US" sz="2800" dirty="0"/>
          </a:p>
        </p:txBody>
      </p:sp>
      <p:sp>
        <p:nvSpPr>
          <p:cNvPr id="7" name="Shape 4"/>
          <p:cNvSpPr/>
          <p:nvPr/>
        </p:nvSpPr>
        <p:spPr>
          <a:xfrm>
            <a:off x="4754880" y="1783080"/>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37760" y="1984248"/>
            <a:ext cx="868680" cy="384048"/>
          </a:xfrm>
          <a:prstGeom prst="roundRect">
            <a:avLst>
              <a:gd name="adj" fmla="val 19048"/>
            </a:avLst>
          </a:prstGeom>
          <a:solidFill>
            <a:srgbClr val="E97132"/>
          </a:solidFill>
          <a:ln/>
        </p:spPr>
      </p:sp>
      <p:sp>
        <p:nvSpPr>
          <p:cNvPr id="9" name="Text 6"/>
          <p:cNvSpPr txBox="1"/>
          <p:nvPr/>
        </p:nvSpPr>
        <p:spPr>
          <a:xfrm>
            <a:off x="4937760" y="19842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.jpg</a:t>
            </a:r>
            <a:endParaRPr lang="en-US" sz="1300" dirty="0"/>
          </a:p>
        </p:txBody>
      </p:sp>
      <p:sp>
        <p:nvSpPr>
          <p:cNvPr id="10" name="Text 7"/>
          <p:cNvSpPr txBox="1"/>
          <p:nvPr/>
        </p:nvSpPr>
        <p:spPr>
          <a:xfrm>
            <a:off x="5943600" y="1984248"/>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JPEG</a:t>
            </a:r>
            <a:endParaRPr lang="en-US" sz="1700" dirty="0"/>
          </a:p>
        </p:txBody>
      </p:sp>
      <p:sp>
        <p:nvSpPr>
          <p:cNvPr id="11" name="Text 8"/>
          <p:cNvSpPr txBox="1"/>
          <p:nvPr/>
        </p:nvSpPr>
        <p:spPr>
          <a:xfrm>
            <a:off x="4937760" y="2468880"/>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Photos. Lossy, millions of colours, no transparency.</a:t>
            </a:r>
            <a:endParaRPr lang="en-US" sz="1250" dirty="0"/>
          </a:p>
        </p:txBody>
      </p:sp>
      <p:sp>
        <p:nvSpPr>
          <p:cNvPr id="12" name="Shape 9"/>
          <p:cNvSpPr/>
          <p:nvPr/>
        </p:nvSpPr>
        <p:spPr>
          <a:xfrm>
            <a:off x="8321040" y="1783080"/>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8503920" y="1984248"/>
            <a:ext cx="868680" cy="384048"/>
          </a:xfrm>
          <a:prstGeom prst="roundRect">
            <a:avLst>
              <a:gd name="adj" fmla="val 19048"/>
            </a:avLst>
          </a:prstGeom>
          <a:solidFill>
            <a:srgbClr val="1B5E82"/>
          </a:solidFill>
          <a:ln/>
        </p:spPr>
      </p:sp>
      <p:sp>
        <p:nvSpPr>
          <p:cNvPr id="14" name="Text 11"/>
          <p:cNvSpPr txBox="1"/>
          <p:nvPr/>
        </p:nvSpPr>
        <p:spPr>
          <a:xfrm>
            <a:off x="8503920" y="1984248"/>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.png</a:t>
            </a:r>
            <a:endParaRPr lang="en-US" sz="1300" dirty="0"/>
          </a:p>
        </p:txBody>
      </p:sp>
      <p:sp>
        <p:nvSpPr>
          <p:cNvPr id="15" name="Text 12"/>
          <p:cNvSpPr txBox="1"/>
          <p:nvPr/>
        </p:nvSpPr>
        <p:spPr>
          <a:xfrm>
            <a:off x="9509760" y="1984248"/>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PNG</a:t>
            </a:r>
            <a:endParaRPr lang="en-US" sz="1700" dirty="0"/>
          </a:p>
        </p:txBody>
      </p:sp>
      <p:sp>
        <p:nvSpPr>
          <p:cNvPr id="16" name="Text 13"/>
          <p:cNvSpPr txBox="1"/>
          <p:nvPr/>
        </p:nvSpPr>
        <p:spPr>
          <a:xfrm>
            <a:off x="8503920" y="2468880"/>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Screenshots, logos, anything needing transparency. Lossless.</a:t>
            </a:r>
            <a:endParaRPr lang="en-US" sz="1250" dirty="0"/>
          </a:p>
        </p:txBody>
      </p:sp>
      <p:sp>
        <p:nvSpPr>
          <p:cNvPr id="17" name="Shape 14"/>
          <p:cNvSpPr/>
          <p:nvPr/>
        </p:nvSpPr>
        <p:spPr>
          <a:xfrm>
            <a:off x="4754880" y="3273552"/>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937760" y="3474720"/>
            <a:ext cx="868680" cy="384048"/>
          </a:xfrm>
          <a:prstGeom prst="roundRect">
            <a:avLst>
              <a:gd name="adj" fmla="val 19048"/>
            </a:avLst>
          </a:prstGeom>
          <a:solidFill>
            <a:srgbClr val="7F7F7F"/>
          </a:solidFill>
          <a:ln/>
        </p:spPr>
      </p:sp>
      <p:sp>
        <p:nvSpPr>
          <p:cNvPr id="19" name="Text 16"/>
          <p:cNvSpPr txBox="1"/>
          <p:nvPr/>
        </p:nvSpPr>
        <p:spPr>
          <a:xfrm>
            <a:off x="4937760" y="34747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.gif</a:t>
            </a:r>
            <a:endParaRPr lang="en-US" sz="1300" dirty="0"/>
          </a:p>
        </p:txBody>
      </p:sp>
      <p:sp>
        <p:nvSpPr>
          <p:cNvPr id="20" name="Text 17"/>
          <p:cNvSpPr txBox="1"/>
          <p:nvPr/>
        </p:nvSpPr>
        <p:spPr>
          <a:xfrm>
            <a:off x="5943600" y="3474720"/>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GIF</a:t>
            </a:r>
            <a:endParaRPr lang="en-US" sz="1700" dirty="0"/>
          </a:p>
        </p:txBody>
      </p:sp>
      <p:sp>
        <p:nvSpPr>
          <p:cNvPr id="21" name="Text 18"/>
          <p:cNvSpPr txBox="1"/>
          <p:nvPr/>
        </p:nvSpPr>
        <p:spPr>
          <a:xfrm>
            <a:off x="4937760" y="3959352"/>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Simple animations. Only 256 colours. Mostly old-fashioned now.</a:t>
            </a:r>
            <a:endParaRPr lang="en-US" sz="1250" dirty="0"/>
          </a:p>
        </p:txBody>
      </p:sp>
      <p:sp>
        <p:nvSpPr>
          <p:cNvPr id="22" name="Shape 19"/>
          <p:cNvSpPr/>
          <p:nvPr/>
        </p:nvSpPr>
        <p:spPr>
          <a:xfrm>
            <a:off x="8321040" y="3273552"/>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8503920" y="3474720"/>
            <a:ext cx="868680" cy="384048"/>
          </a:xfrm>
          <a:prstGeom prst="roundRect">
            <a:avLst>
              <a:gd name="adj" fmla="val 19048"/>
            </a:avLst>
          </a:prstGeom>
          <a:solidFill>
            <a:srgbClr val="A02B93"/>
          </a:solidFill>
          <a:ln/>
        </p:spPr>
      </p:sp>
      <p:sp>
        <p:nvSpPr>
          <p:cNvPr id="24" name="Text 21"/>
          <p:cNvSpPr txBox="1"/>
          <p:nvPr/>
        </p:nvSpPr>
        <p:spPr>
          <a:xfrm>
            <a:off x="8503920" y="34747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.webp</a:t>
            </a:r>
            <a:endParaRPr lang="en-US" sz="1300" dirty="0"/>
          </a:p>
        </p:txBody>
      </p:sp>
      <p:sp>
        <p:nvSpPr>
          <p:cNvPr id="25" name="Text 22"/>
          <p:cNvSpPr txBox="1"/>
          <p:nvPr/>
        </p:nvSpPr>
        <p:spPr>
          <a:xfrm>
            <a:off x="9509760" y="3474720"/>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WebP</a:t>
            </a:r>
            <a:endParaRPr lang="en-US" sz="1700" dirty="0"/>
          </a:p>
        </p:txBody>
      </p:sp>
      <p:sp>
        <p:nvSpPr>
          <p:cNvPr id="26" name="Text 23"/>
          <p:cNvSpPr txBox="1"/>
          <p:nvPr/>
        </p:nvSpPr>
        <p:spPr>
          <a:xfrm>
            <a:off x="8503920" y="3959352"/>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Modern photos AND graphics. Smaller than JPG/PNG. Transparency too.</a:t>
            </a:r>
            <a:endParaRPr lang="en-US" sz="1250" dirty="0"/>
          </a:p>
        </p:txBody>
      </p:sp>
      <p:sp>
        <p:nvSpPr>
          <p:cNvPr id="27" name="Shape 24"/>
          <p:cNvSpPr/>
          <p:nvPr/>
        </p:nvSpPr>
        <p:spPr>
          <a:xfrm>
            <a:off x="4754880" y="4764024"/>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4937760" y="4965192"/>
            <a:ext cx="868680" cy="384048"/>
          </a:xfrm>
          <a:prstGeom prst="roundRect">
            <a:avLst>
              <a:gd name="adj" fmla="val 19048"/>
            </a:avLst>
          </a:prstGeom>
          <a:solidFill>
            <a:srgbClr val="12304A"/>
          </a:solidFill>
          <a:ln/>
        </p:spPr>
      </p:sp>
      <p:sp>
        <p:nvSpPr>
          <p:cNvPr id="29" name="Text 26"/>
          <p:cNvSpPr txBox="1"/>
          <p:nvPr/>
        </p:nvSpPr>
        <p:spPr>
          <a:xfrm>
            <a:off x="4937760" y="4965192"/>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.avif</a:t>
            </a:r>
            <a:endParaRPr lang="en-US" sz="1300" dirty="0"/>
          </a:p>
        </p:txBody>
      </p:sp>
      <p:sp>
        <p:nvSpPr>
          <p:cNvPr id="30" name="Text 27"/>
          <p:cNvSpPr txBox="1"/>
          <p:nvPr/>
        </p:nvSpPr>
        <p:spPr>
          <a:xfrm>
            <a:off x="5943600" y="4965192"/>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AVIF</a:t>
            </a:r>
            <a:endParaRPr lang="en-US" sz="1700" dirty="0"/>
          </a:p>
        </p:txBody>
      </p:sp>
      <p:sp>
        <p:nvSpPr>
          <p:cNvPr id="31" name="Text 28"/>
          <p:cNvSpPr txBox="1"/>
          <p:nvPr/>
        </p:nvSpPr>
        <p:spPr>
          <a:xfrm>
            <a:off x="4937760" y="5449824"/>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Newest. Usually the smallest photos. Some older apps can't open it.</a:t>
            </a:r>
            <a:endParaRPr lang="en-US" sz="1250" dirty="0"/>
          </a:p>
        </p:txBody>
      </p:sp>
      <p:sp>
        <p:nvSpPr>
          <p:cNvPr id="32" name="Shape 29"/>
          <p:cNvSpPr/>
          <p:nvPr/>
        </p:nvSpPr>
        <p:spPr>
          <a:xfrm>
            <a:off x="8321040" y="4764024"/>
            <a:ext cx="3337560" cy="1325880"/>
          </a:xfrm>
          <a:prstGeom prst="roundRect">
            <a:avLst>
              <a:gd name="adj" fmla="val 8276"/>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33" name="Shape 30"/>
          <p:cNvSpPr/>
          <p:nvPr/>
        </p:nvSpPr>
        <p:spPr>
          <a:xfrm>
            <a:off x="8503920" y="4965192"/>
            <a:ext cx="868680" cy="384048"/>
          </a:xfrm>
          <a:prstGeom prst="roundRect">
            <a:avLst>
              <a:gd name="adj" fmla="val 19048"/>
            </a:avLst>
          </a:prstGeom>
          <a:solidFill>
            <a:srgbClr val="0F9ED5"/>
          </a:solidFill>
          <a:ln/>
        </p:spPr>
      </p:sp>
      <p:sp>
        <p:nvSpPr>
          <p:cNvPr id="34" name="Text 31"/>
          <p:cNvSpPr txBox="1"/>
          <p:nvPr/>
        </p:nvSpPr>
        <p:spPr>
          <a:xfrm>
            <a:off x="8503920" y="4965192"/>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.svg</a:t>
            </a:r>
            <a:endParaRPr lang="en-US" sz="1300" dirty="0"/>
          </a:p>
        </p:txBody>
      </p:sp>
      <p:sp>
        <p:nvSpPr>
          <p:cNvPr id="35" name="Text 32"/>
          <p:cNvSpPr txBox="1"/>
          <p:nvPr/>
        </p:nvSpPr>
        <p:spPr>
          <a:xfrm>
            <a:off x="9509760" y="4965192"/>
            <a:ext cx="1965960" cy="384048"/>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SVG</a:t>
            </a:r>
            <a:endParaRPr lang="en-US" sz="1700" dirty="0"/>
          </a:p>
        </p:txBody>
      </p:sp>
      <p:sp>
        <p:nvSpPr>
          <p:cNvPr id="36" name="Text 33"/>
          <p:cNvSpPr txBox="1"/>
          <p:nvPr/>
        </p:nvSpPr>
        <p:spPr>
          <a:xfrm>
            <a:off x="8503920" y="5449824"/>
            <a:ext cx="2971800" cy="59436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Logos, icons. Vector: shapes in code, sharp at any size.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Formats Side by Side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1783080"/>
          <a:ext cx="6903720" cy="914400"/>
        </p:xfrm>
        <a:graphic>
          <a:graphicData uri="http://schemas.openxmlformats.org/drawingml/2006/table">
            <a:tbl>
              <a:tblPr/>
              <a:tblGrid>
                <a:gridCol w="868680"/>
                <a:gridCol w="1280160"/>
                <a:gridCol w="960120"/>
                <a:gridCol w="1417320"/>
                <a:gridCol w="1097280"/>
                <a:gridCol w="1280160"/>
              </a:tblGrid>
              <a:tr h="457200">
                <a:tc>
                  <a:txBody>
                    <a:bodyPr/>
                    <a:lstStyle/>
                    <a:p>
                      <a:pPr indent="0" marL="0">
                        <a:buNone/>
                      </a:pPr>
                      <a:r>
                        <a:rPr lang="en-US" sz="1350" b="1" dirty="0">
                          <a:solidFill>
                            <a:srgbClr val="FFFFFF"/>
                          </a:solidFill>
                          <a:latin typeface="Aptos" pitchFamily="34" charset="0"/>
                          <a:ea typeface="Aptos" pitchFamily="34" charset="-122"/>
                          <a:cs typeface="Aptos" pitchFamily="34" charset="-120"/>
                        </a:rPr>
                        <a:t>Format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Compression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Colours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Transparency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Animation</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350" b="1" dirty="0">
                          <a:solidFill>
                            <a:srgbClr val="FFFFFF"/>
                          </a:solidFill>
                          <a:latin typeface="Aptos" pitchFamily="34" charset="0"/>
                          <a:ea typeface="Aptos" pitchFamily="34" charset="-122"/>
                          <a:cs typeface="Aptos" pitchFamily="34" charset="-120"/>
                        </a:rPr>
                        <a:t>Our photo</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JPG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Lossy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93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PNG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Lossless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978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GIF</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Lossless</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256</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On / off only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407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WebP</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Both</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91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AVIF</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Both</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16.7 M+</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69 KB</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00000"/>
                          </a:solidFill>
                          <a:latin typeface="Aptos" pitchFamily="34" charset="0"/>
                          <a:ea typeface="Aptos" pitchFamily="34" charset="-122"/>
                          <a:cs typeface="Aptos" pitchFamily="34" charset="-120"/>
                        </a:rPr>
                        <a:t>SVG</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Vector (code)</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Any</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350" dirty="0">
                          <a:solidFill>
                            <a:srgbClr val="000000"/>
                          </a:solidFill>
                          <a:latin typeface="Aptos" pitchFamily="34" charset="0"/>
                          <a:ea typeface="Aptos" pitchFamily="34" charset="-122"/>
                          <a:cs typeface="Aptos" pitchFamily="34" charset="-120"/>
                        </a:rPr>
                        <a:t>n/a</a:t>
                      </a:r>
                      <a:endParaRPr lang="en-US" sz="13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
        <p:nvSpPr>
          <p:cNvPr id="8" name="Text 4"/>
          <p:cNvSpPr txBox="1"/>
          <p:nvPr/>
        </p:nvSpPr>
        <p:spPr>
          <a:xfrm>
            <a:off x="4754880" y="5166360"/>
            <a:ext cx="6903720" cy="128016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Photo? </a:t>
            </a:r>
            <a:pPr indent="0" marL="0">
              <a:buNone/>
            </a:pPr>
            <a:r>
              <a:rPr lang="en-US" sz="1500" dirty="0">
                <a:solidFill>
                  <a:srgbClr val="262626"/>
                </a:solidFill>
                <a:latin typeface="Aptos" pitchFamily="34" charset="0"/>
                <a:ea typeface="Aptos" pitchFamily="34" charset="-122"/>
                <a:cs typeface="Aptos" pitchFamily="34" charset="-120"/>
              </a:rPr>
              <a:t>JPG, or WebP / AVIF for smaller files.</a:t>
            </a:r>
            <a:endParaRPr lang="en-US" sz="1500" dirty="0"/>
          </a:p>
          <a:p>
            <a:pPr marL="342900" indent="-342900">
              <a:spcBef>
                <a:spcPts val="5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Needs transparency? </a:t>
            </a:r>
            <a:pPr indent="0" marL="0">
              <a:buNone/>
            </a:pPr>
            <a:r>
              <a:rPr lang="en-US" sz="1500" dirty="0">
                <a:solidFill>
                  <a:srgbClr val="262626"/>
                </a:solidFill>
                <a:latin typeface="Aptos" pitchFamily="34" charset="0"/>
                <a:ea typeface="Aptos" pitchFamily="34" charset="-122"/>
                <a:cs typeface="Aptos" pitchFamily="34" charset="-120"/>
              </a:rPr>
              <a:t>PNG or WebP. Never JPG.</a:t>
            </a:r>
            <a:endParaRPr lang="en-US" sz="1500" dirty="0"/>
          </a:p>
          <a:p>
            <a:pPr marL="342900" indent="-342900">
              <a:spcBef>
                <a:spcPts val="5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Logo or icon? </a:t>
            </a:r>
            <a:pPr indent="0" marL="0">
              <a:buNone/>
            </a:pPr>
            <a:r>
              <a:rPr lang="en-US" sz="1500" dirty="0">
                <a:solidFill>
                  <a:srgbClr val="262626"/>
                </a:solidFill>
                <a:latin typeface="Aptos" pitchFamily="34" charset="0"/>
                <a:ea typeface="Aptos" pitchFamily="34" charset="-122"/>
                <a:cs typeface="Aptos" pitchFamily="34" charset="-120"/>
              </a:rPr>
              <a:t>SVG if you have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Repos\2026-2027\WEBD1000\04_Images_for_the_Web\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48640"/>
            <a:ext cx="5852160" cy="576072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77240"/>
            <a:ext cx="5394960" cy="5303520"/>
          </a:xfrm>
          <a:prstGeom prst="rect">
            <a:avLst/>
          </a:prstGeom>
          <a:noFill/>
          <a:ln/>
        </p:spPr>
        <p:txBody>
          <a:bodyPr wrap="square" lIns="0" tIns="0" rIns="0" bIns="0" rtlCol="0" anchor="t"/>
          <a:lstStyle/>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One Photo, Six Files</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Same photo (1118 </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&amp;times;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640 pixels), saved as different file types.</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Can you see a difference? Check the file sizes in File Explorer.</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&lt;!-- JPEG: lossy, millions of colours. The usual choice for photos --&gt;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"samples/beach_q75.jpg"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"320"</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JPG, quality 75: about 92 KB</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&lt;!-- PNG: lossless. Keeps every pixel, so photos get BIG --&gt;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"samples/beach.png"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"320"</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PNG: about 978 KB (10</a:t>
            </a:r>
            <a:pPr indent="0" marL="0">
              <a:lnSpc>
                <a:spcPct val="100000"/>
              </a:lnSpc>
              <a:buNone/>
            </a:pPr>
            <a:r>
              <a:rPr lang="en-US" sz="900" dirty="0">
                <a:solidFill>
                  <a:srgbClr val="D7BA7D"/>
                </a:solidFill>
                <a:latin typeface="Consolas" pitchFamily="34" charset="0"/>
                <a:ea typeface="Consolas" pitchFamily="34" charset="-122"/>
                <a:cs typeface="Consolas" pitchFamily="34" charset="-120"/>
              </a:rPr>
              <a:t>&amp;times;</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bigger, and it looks the same)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&lt;!-- GIF: only 256 colours. Look at the sky for colour bands --&gt;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"samples/beach.gif"</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"320"</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GIF, 256 colours: about 407 KB (look at the sky)</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&lt;!-- WebP: modern. Works in every current browser --&gt;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"samples/beach.webp"</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"320"</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WebP, quality 75: about 91 KB</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6A9955"/>
                </a:solidFill>
                <a:latin typeface="Consolas" pitchFamily="34" charset="0"/>
                <a:ea typeface="Consolas" pitchFamily="34" charset="-122"/>
                <a:cs typeface="Consolas" pitchFamily="34" charset="-120"/>
              </a:rPr>
              <a:t>&lt;!-- AVIF: newest. Usually the smallest file for photos --&gt;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"samples/beach.avif"</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"320"</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9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900" dirty="0">
                <a:solidFill>
                  <a:srgbClr val="D4D4D4"/>
                </a:solidFill>
                <a:latin typeface="Consolas" pitchFamily="34" charset="0"/>
                <a:ea typeface="Consolas" pitchFamily="34" charset="-122"/>
                <a:cs typeface="Consolas" pitchFamily="34" charset="-120"/>
              </a:rPr>
              <a:t>AVIF, quality 50: about 69 KB</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a:p>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90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900" dirty="0">
                <a:solidFill>
                  <a:srgbClr val="808080"/>
                </a:solidFill>
                <a:latin typeface="Consolas" pitchFamily="34" charset="0"/>
                <a:ea typeface="Consolas" pitchFamily="34" charset="-122"/>
                <a:cs typeface="Consolas" pitchFamily="34" charset="-120"/>
              </a:rPr>
              <a:t>&gt;</a:t>
            </a:r>
            <a:endParaRPr lang="en-US" sz="9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One Photo, Six Files</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same photo in five raster formats. Open it with Live Server and compare. Most look identical.</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Now open the </a:t>
            </a:r>
            <a:pPr indent="0" marL="0">
              <a:buNone/>
            </a:pPr>
            <a:r>
              <a:rPr lang="en-US" sz="1400" dirty="0">
                <a:solidFill>
                  <a:srgbClr val="8A2B0B"/>
                </a:solidFill>
                <a:latin typeface="Consolas" pitchFamily="34" charset="0"/>
                <a:ea typeface="Consolas" pitchFamily="34" charset="-122"/>
                <a:cs typeface="Consolas" pitchFamily="34" charset="-120"/>
              </a:rPr>
              <a:t>samples</a:t>
            </a:r>
            <a:pPr indent="0" marL="0">
              <a:buNone/>
            </a:pPr>
            <a:r>
              <a:rPr lang="en-US" sz="1400" dirty="0">
                <a:solidFill>
                  <a:srgbClr val="262626"/>
                </a:solidFill>
                <a:latin typeface="Aptos" pitchFamily="34" charset="0"/>
                <a:ea typeface="Aptos" pitchFamily="34" charset="-122"/>
                <a:cs typeface="Aptos" pitchFamily="34" charset="-120"/>
              </a:rPr>
              <a:t> folder in File Explorer (Details view) and compare the sizes: </a:t>
            </a:r>
            <a:pPr indent="0" marL="0">
              <a:buNone/>
            </a:pPr>
            <a:r>
              <a:rPr lang="en-US" sz="1400" b="1" dirty="0">
                <a:solidFill>
                  <a:srgbClr val="262626"/>
                </a:solidFill>
                <a:latin typeface="Aptos" pitchFamily="34" charset="0"/>
                <a:ea typeface="Aptos" pitchFamily="34" charset="-122"/>
                <a:cs typeface="Aptos" pitchFamily="34" charset="-120"/>
              </a:rPr>
              <a:t>69 KB → 978 KB</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Look closely at the </a:t>
            </a:r>
            <a:pPr indent="0" marL="0">
              <a:buNone/>
            </a:pPr>
            <a:r>
              <a:rPr lang="en-US" sz="1400" b="1" dirty="0">
                <a:solidFill>
                  <a:srgbClr val="262626"/>
                </a:solidFill>
                <a:latin typeface="Aptos" pitchFamily="34" charset="0"/>
                <a:ea typeface="Aptos" pitchFamily="34" charset="-122"/>
                <a:cs typeface="Aptos" pitchFamily="34" charset="-120"/>
              </a:rPr>
              <a:t>GIF</a:t>
            </a:r>
            <a:pPr indent="0" marL="0">
              <a:buNone/>
            </a:pPr>
            <a:r>
              <a:rPr lang="en-US" sz="1400" dirty="0">
                <a:solidFill>
                  <a:srgbClr val="262626"/>
                </a:solidFill>
                <a:latin typeface="Aptos" pitchFamily="34" charset="0"/>
                <a:ea typeface="Aptos" pitchFamily="34" charset="-122"/>
                <a:cs typeface="Aptos" pitchFamily="34" charset="-120"/>
              </a:rPr>
              <a:t>'s sky. Only 256 colours means smooth gradients turn into bands.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width</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height</a:t>
            </a:r>
            <a:pPr indent="0" marL="0">
              <a:buNone/>
            </a:pPr>
            <a:r>
              <a:rPr lang="en-US" sz="1400" dirty="0">
                <a:solidFill>
                  <a:srgbClr val="262626"/>
                </a:solidFill>
                <a:latin typeface="Aptos" pitchFamily="34" charset="0"/>
                <a:ea typeface="Aptos" pitchFamily="34" charset="-122"/>
                <a:cs typeface="Aptos" pitchFamily="34" charset="-120"/>
              </a:rPr>
              <a:t> match the shape of the photo. More on why later.</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01_image_formats_example.html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Raster vs Vector</a:t>
            </a:r>
            <a:endParaRPr lang="en-US" sz="2800" dirty="0"/>
          </a:p>
        </p:txBody>
      </p:sp>
      <p:pic>
        <p:nvPicPr>
          <p:cNvPr id="7" name="Image 0" descr="C:\Repos\2026-2027\WEBD1000\04_Images_for_the_Web\_build\zoom_logo_png.png">    </p:cNvPr>
          <p:cNvPicPr>
            <a:picLocks noChangeAspect="1"/>
          </p:cNvPicPr>
          <p:nvPr/>
        </p:nvPicPr>
        <p:blipFill>
          <a:blip r:embed="rId1"/>
          <a:stretch>
            <a:fillRect/>
          </a:stretch>
        </p:blipFill>
        <p:spPr>
          <a:xfrm>
            <a:off x="4754880" y="1783080"/>
            <a:ext cx="3291840" cy="2263140"/>
          </a:xfrm>
          <a:prstGeom prst="rect">
            <a:avLst/>
          </a:prstGeom>
        </p:spPr>
      </p:pic>
      <p:sp>
        <p:nvSpPr>
          <p:cNvPr id="8" name="Shape 4"/>
          <p:cNvSpPr/>
          <p:nvPr/>
        </p:nvSpPr>
        <p:spPr>
          <a:xfrm>
            <a:off x="4754880" y="1783080"/>
            <a:ext cx="3291840" cy="2263140"/>
          </a:xfrm>
          <a:prstGeom prst="rect">
            <a:avLst/>
          </a:prstGeom>
          <a:ln w="12700">
            <a:solidFill>
              <a:srgbClr val="7F7F7F"/>
            </a:solidFill>
            <a:prstDash val="solid"/>
          </a:ln>
        </p:spPr>
      </p:sp>
      <p:sp>
        <p:nvSpPr>
          <p:cNvPr id="9" name="Text 5"/>
          <p:cNvSpPr txBox="1"/>
          <p:nvPr/>
        </p:nvSpPr>
        <p:spPr>
          <a:xfrm>
            <a:off x="4754880" y="4110228"/>
            <a:ext cx="3291840" cy="274320"/>
          </a:xfrm>
          <a:prstGeom prst="rect">
            <a:avLst/>
          </a:prstGeom>
          <a:noFill/>
          <a:ln/>
        </p:spPr>
        <p:txBody>
          <a:bodyPr wrap="square" lIns="0" tIns="0" rIns="0" bIns="0" rtlCol="0" anchor="ctr"/>
          <a:lstStyle/>
          <a:p>
            <a:pPr indent="0" marL="0">
              <a:buNone/>
            </a:pPr>
            <a:r>
              <a:rPr lang="en-US" sz="1250" b="1" dirty="0">
                <a:solidFill>
                  <a:srgbClr val="1B5E82"/>
                </a:solidFill>
                <a:latin typeface="Aptos" pitchFamily="34" charset="0"/>
                <a:ea typeface="Aptos" pitchFamily="34" charset="-122"/>
                <a:cs typeface="Aptos" pitchFamily="34" charset="-120"/>
              </a:rPr>
              <a:t>PNG, zoomed: clean edges</a:t>
            </a:r>
            <a:endParaRPr lang="en-US" sz="1250" dirty="0"/>
          </a:p>
        </p:txBody>
      </p:sp>
      <p:pic>
        <p:nvPicPr>
          <p:cNvPr id="10" name="Image 1" descr="C:\Repos\2026-2027\WEBD1000\04_Images_for_the_Web\_build\zoom_logo_jpg.png">    </p:cNvPr>
          <p:cNvPicPr>
            <a:picLocks noChangeAspect="1"/>
          </p:cNvPicPr>
          <p:nvPr/>
        </p:nvPicPr>
        <p:blipFill>
          <a:blip r:embed="rId2"/>
          <a:stretch>
            <a:fillRect/>
          </a:stretch>
        </p:blipFill>
        <p:spPr>
          <a:xfrm>
            <a:off x="8366760" y="1783080"/>
            <a:ext cx="3291840" cy="2263140"/>
          </a:xfrm>
          <a:prstGeom prst="rect">
            <a:avLst/>
          </a:prstGeom>
        </p:spPr>
      </p:pic>
      <p:sp>
        <p:nvSpPr>
          <p:cNvPr id="11" name="Shape 6"/>
          <p:cNvSpPr/>
          <p:nvPr/>
        </p:nvSpPr>
        <p:spPr>
          <a:xfrm>
            <a:off x="8366760" y="1783080"/>
            <a:ext cx="3291840" cy="2263140"/>
          </a:xfrm>
          <a:prstGeom prst="rect">
            <a:avLst/>
          </a:prstGeom>
          <a:ln w="12700">
            <a:solidFill>
              <a:srgbClr val="7F7F7F"/>
            </a:solidFill>
            <a:prstDash val="solid"/>
          </a:ln>
        </p:spPr>
      </p:sp>
      <p:sp>
        <p:nvSpPr>
          <p:cNvPr id="12" name="Text 7"/>
          <p:cNvSpPr txBox="1"/>
          <p:nvPr/>
        </p:nvSpPr>
        <p:spPr>
          <a:xfrm>
            <a:off x="8366760" y="4110228"/>
            <a:ext cx="3291840" cy="274320"/>
          </a:xfrm>
          <a:prstGeom prst="rect">
            <a:avLst/>
          </a:prstGeom>
          <a:noFill/>
          <a:ln/>
        </p:spPr>
        <p:txBody>
          <a:bodyPr wrap="square" lIns="0" tIns="0" rIns="0" bIns="0" rtlCol="0" anchor="ctr"/>
          <a:lstStyle/>
          <a:p>
            <a:pPr indent="0" marL="0">
              <a:buNone/>
            </a:pPr>
            <a:r>
              <a:rPr lang="en-US" sz="1250" b="1" dirty="0">
                <a:solidFill>
                  <a:srgbClr val="E97132"/>
                </a:solidFill>
                <a:latin typeface="Aptos" pitchFamily="34" charset="0"/>
                <a:ea typeface="Aptos" pitchFamily="34" charset="-122"/>
                <a:cs typeface="Aptos" pitchFamily="34" charset="-120"/>
              </a:rPr>
              <a:t>JPG, zoomed: smudges around edges</a:t>
            </a:r>
            <a:endParaRPr lang="en-US" sz="1250" dirty="0"/>
          </a:p>
        </p:txBody>
      </p:sp>
      <p:sp>
        <p:nvSpPr>
          <p:cNvPr id="13" name="Text 8"/>
          <p:cNvSpPr txBox="1"/>
          <p:nvPr/>
        </p:nvSpPr>
        <p:spPr>
          <a:xfrm>
            <a:off x="4754880" y="4572000"/>
            <a:ext cx="6903720" cy="1920240"/>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Raster</a:t>
            </a:r>
            <a:pPr indent="0" marL="0">
              <a:buNone/>
            </a:pPr>
            <a:r>
              <a:rPr lang="en-US" sz="1500" dirty="0">
                <a:solidFill>
                  <a:srgbClr val="262626"/>
                </a:solidFill>
                <a:latin typeface="Aptos" pitchFamily="34" charset="0"/>
                <a:ea typeface="Aptos" pitchFamily="34" charset="-122"/>
                <a:cs typeface="Aptos" pitchFamily="34" charset="-120"/>
              </a:rPr>
              <a:t> (JPG, PNG, GIF, WebP, AVIF): a grid of pixels. Stretch it bigger and it goes </a:t>
            </a:r>
            <a:pPr indent="0" marL="0">
              <a:buNone/>
            </a:pPr>
            <a:r>
              <a:rPr lang="en-US" sz="1500" b="1" dirty="0">
                <a:solidFill>
                  <a:srgbClr val="262626"/>
                </a:solidFill>
                <a:latin typeface="Aptos" pitchFamily="34" charset="0"/>
                <a:ea typeface="Aptos" pitchFamily="34" charset="-122"/>
                <a:cs typeface="Aptos" pitchFamily="34" charset="-120"/>
              </a:rPr>
              <a:t>soft or blocky</a:t>
            </a:r>
            <a:pPr indent="0" marL="0">
              <a:buNone/>
            </a:pPr>
            <a:r>
              <a:rPr lang="en-US" sz="1500" dirty="0">
                <a:solidFill>
                  <a:srgbClr val="262626"/>
                </a:solidFill>
                <a:latin typeface="Aptos" pitchFamily="34" charset="0"/>
                <a:ea typeface="Aptos" pitchFamily="34" charset="-122"/>
                <a:cs typeface="Aptos" pitchFamily="34" charset="-120"/>
              </a:rPr>
              <a:t>. Best for photos.</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b="1" dirty="0">
                <a:solidFill>
                  <a:srgbClr val="262626"/>
                </a:solidFill>
                <a:latin typeface="Aptos" pitchFamily="34" charset="0"/>
                <a:ea typeface="Aptos" pitchFamily="34" charset="-122"/>
                <a:cs typeface="Aptos" pitchFamily="34" charset="-120"/>
              </a:rPr>
              <a:t>Vector</a:t>
            </a:r>
            <a:pPr indent="0" marL="0">
              <a:buNone/>
            </a:pPr>
            <a:r>
              <a:rPr lang="en-US" sz="1500" dirty="0">
                <a:solidFill>
                  <a:srgbClr val="262626"/>
                </a:solidFill>
                <a:latin typeface="Aptos" pitchFamily="34" charset="0"/>
                <a:ea typeface="Aptos" pitchFamily="34" charset="-122"/>
                <a:cs typeface="Aptos" pitchFamily="34" charset="-120"/>
              </a:rPr>
              <a:t> (SVG): shapes described in code. </a:t>
            </a:r>
            <a:pPr indent="0" marL="0">
              <a:buNone/>
            </a:pPr>
            <a:r>
              <a:rPr lang="en-US" sz="1500" b="1" dirty="0">
                <a:solidFill>
                  <a:srgbClr val="262626"/>
                </a:solidFill>
                <a:latin typeface="Aptos" pitchFamily="34" charset="0"/>
                <a:ea typeface="Aptos" pitchFamily="34" charset="-122"/>
                <a:cs typeface="Aptos" pitchFamily="34" charset="-120"/>
              </a:rPr>
              <a:t>Sharp at any size</a:t>
            </a:r>
            <a:pPr indent="0" marL="0">
              <a:buNone/>
            </a:pPr>
            <a:r>
              <a:rPr lang="en-US" sz="1500" dirty="0">
                <a:solidFill>
                  <a:srgbClr val="262626"/>
                </a:solidFill>
                <a:latin typeface="Aptos" pitchFamily="34" charset="0"/>
                <a:ea typeface="Aptos" pitchFamily="34" charset="-122"/>
                <a:cs typeface="Aptos" pitchFamily="34" charset="-120"/>
              </a:rPr>
              <a:t>, and tiny. Best for logos, icons and simple drawings.</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Our logo: </a:t>
            </a:r>
            <a:pPr indent="0" marL="0">
              <a:buNone/>
            </a:pPr>
            <a:r>
              <a:rPr lang="en-US" sz="1500" b="1" dirty="0">
                <a:solidFill>
                  <a:srgbClr val="262626"/>
                </a:solidFill>
                <a:latin typeface="Aptos" pitchFamily="34" charset="0"/>
                <a:ea typeface="Aptos" pitchFamily="34" charset="-122"/>
                <a:cs typeface="Aptos" pitchFamily="34" charset="-120"/>
              </a:rPr>
              <a:t>SVG 0.7 KB</a:t>
            </a:r>
            <a:pPr indent="0" marL="0">
              <a:buNone/>
            </a:pPr>
            <a:r>
              <a:rPr lang="en-US" sz="1500" dirty="0">
                <a:solidFill>
                  <a:srgbClr val="262626"/>
                </a:solidFill>
                <a:latin typeface="Aptos" pitchFamily="34" charset="0"/>
                <a:ea typeface="Aptos" pitchFamily="34" charset="-122"/>
                <a:cs typeface="Aptos" pitchFamily="34" charset="-120"/>
              </a:rPr>
              <a:t> · PNG 21 KB · JPG 21 KB (and the JPG lost its transparency).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Repos\2026-2027\WEBD1000\04_Images_for_the_Web\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043609"/>
            <a:ext cx="5852160" cy="4770783"/>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272209"/>
            <a:ext cx="5394960" cy="4313583"/>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Logos: Vector vs Raster</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Small (100 pixels wide)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All three look about the same when they're small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"samples/logo.svg"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"samples/logo.png"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"100"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Big (900 pixels wide)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SVG: shapes described in code. Sharp at ANY size. 0.7 KB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SVG (0.7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"samples/logo.svg"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PNG: 600 x 600 pixels, stretched to 900. Soft edges. 21 KB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PNG (21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"samples/logo.png"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JPG: no transparency (white corners) and smudgy edges. 21 KB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JPG (21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h3</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"samples/logo.jpg"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"900"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"Harbourside Fish and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Logos: SVG vs PNG vs JPG</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At 100 pixels wide, all three look about the same.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At 900 pixels wide: the </a:t>
            </a:r>
            <a:pPr indent="0" marL="0">
              <a:buNone/>
            </a:pPr>
            <a:r>
              <a:rPr lang="en-US" sz="1400" b="1" dirty="0">
                <a:solidFill>
                  <a:srgbClr val="262626"/>
                </a:solidFill>
                <a:latin typeface="Aptos" pitchFamily="34" charset="0"/>
                <a:ea typeface="Aptos" pitchFamily="34" charset="-122"/>
                <a:cs typeface="Aptos" pitchFamily="34" charset="-120"/>
              </a:rPr>
              <a:t>SVG</a:t>
            </a:r>
            <a:pPr indent="0" marL="0">
              <a:buNone/>
            </a:pPr>
            <a:r>
              <a:rPr lang="en-US" sz="1400" dirty="0">
                <a:solidFill>
                  <a:srgbClr val="262626"/>
                </a:solidFill>
                <a:latin typeface="Aptos" pitchFamily="34" charset="0"/>
                <a:ea typeface="Aptos" pitchFamily="34" charset="-122"/>
                <a:cs typeface="Aptos" pitchFamily="34" charset="-120"/>
              </a:rPr>
              <a:t> is still sharp, the </a:t>
            </a:r>
            <a:pPr indent="0" marL="0">
              <a:buNone/>
            </a:pPr>
            <a:r>
              <a:rPr lang="en-US" sz="1400" b="1" dirty="0">
                <a:solidFill>
                  <a:srgbClr val="262626"/>
                </a:solidFill>
                <a:latin typeface="Aptos" pitchFamily="34" charset="0"/>
                <a:ea typeface="Aptos" pitchFamily="34" charset="-122"/>
                <a:cs typeface="Aptos" pitchFamily="34" charset="-120"/>
              </a:rPr>
              <a:t>PNG</a:t>
            </a:r>
            <a:pPr indent="0" marL="0">
              <a:buNone/>
            </a:pPr>
            <a:r>
              <a:rPr lang="en-US" sz="1400" dirty="0">
                <a:solidFill>
                  <a:srgbClr val="262626"/>
                </a:solidFill>
                <a:latin typeface="Aptos" pitchFamily="34" charset="0"/>
                <a:ea typeface="Aptos" pitchFamily="34" charset="-122"/>
                <a:cs typeface="Aptos" pitchFamily="34" charset="-120"/>
              </a:rPr>
              <a:t> (600 px) is stretched and soft, and the </a:t>
            </a:r>
            <a:pPr indent="0" marL="0">
              <a:buNone/>
            </a:pPr>
            <a:r>
              <a:rPr lang="en-US" sz="1400" b="1" dirty="0">
                <a:solidFill>
                  <a:srgbClr val="262626"/>
                </a:solidFill>
                <a:latin typeface="Aptos" pitchFamily="34" charset="0"/>
                <a:ea typeface="Aptos" pitchFamily="34" charset="-122"/>
                <a:cs typeface="Aptos" pitchFamily="34" charset="-120"/>
              </a:rPr>
              <a:t>JPG</a:t>
            </a:r>
            <a:pPr indent="0" marL="0">
              <a:buNone/>
            </a:pPr>
            <a:r>
              <a:rPr lang="en-US" sz="1400" dirty="0">
                <a:solidFill>
                  <a:srgbClr val="262626"/>
                </a:solidFill>
                <a:latin typeface="Aptos" pitchFamily="34" charset="0"/>
                <a:ea typeface="Aptos" pitchFamily="34" charset="-122"/>
                <a:cs typeface="Aptos" pitchFamily="34" charset="-120"/>
              </a:rPr>
              <a:t> has smudgy edges and </a:t>
            </a:r>
            <a:pPr indent="0" marL="0">
              <a:buNone/>
            </a:pPr>
            <a:r>
              <a:rPr lang="en-US" sz="1400" b="1" dirty="0">
                <a:solidFill>
                  <a:srgbClr val="262626"/>
                </a:solidFill>
                <a:latin typeface="Aptos" pitchFamily="34" charset="0"/>
                <a:ea typeface="Aptos" pitchFamily="34" charset="-122"/>
                <a:cs typeface="Aptos" pitchFamily="34" charset="-120"/>
              </a:rPr>
              <a:t>white corners</a:t>
            </a:r>
            <a:pPr indent="0" marL="0">
              <a:buNone/>
            </a:pPr>
            <a:r>
              <a:rPr lang="en-US" sz="1400" dirty="0">
                <a:solidFill>
                  <a:srgbClr val="262626"/>
                </a:solidFill>
                <a:latin typeface="Aptos" pitchFamily="34" charset="0"/>
                <a:ea typeface="Aptos" pitchFamily="34" charset="-122"/>
                <a:cs typeface="Aptos" pitchFamily="34" charset="-120"/>
              </a:rPr>
              <a:t> (no transparency).</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An SVG is just text. Open </a:t>
            </a:r>
            <a:pPr indent="0" marL="0">
              <a:buNone/>
            </a:pPr>
            <a:r>
              <a:rPr lang="en-US" sz="1400" dirty="0">
                <a:solidFill>
                  <a:srgbClr val="8A2B0B"/>
                </a:solidFill>
                <a:latin typeface="Consolas" pitchFamily="34" charset="0"/>
                <a:ea typeface="Consolas" pitchFamily="34" charset="-122"/>
                <a:cs typeface="Consolas" pitchFamily="34" charset="-120"/>
              </a:rPr>
              <a:t>samples/logo.svg</a:t>
            </a:r>
            <a:pPr indent="0" marL="0">
              <a:buNone/>
            </a:pPr>
            <a:r>
              <a:rPr lang="en-US" sz="1400" dirty="0">
                <a:solidFill>
                  <a:srgbClr val="262626"/>
                </a:solidFill>
                <a:latin typeface="Aptos" pitchFamily="34" charset="0"/>
                <a:ea typeface="Aptos" pitchFamily="34" charset="-122"/>
                <a:cs typeface="Aptos" pitchFamily="34" charset="-120"/>
              </a:rPr>
              <a:t> in VS Code: it's a circle, an ellipse and a few paths.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a:t>
            </a:r>
            <a:pPr indent="0" marL="0">
              <a:buNone/>
            </a:pPr>
            <a:r>
              <a:rPr lang="en-US" sz="1400" dirty="0">
                <a:solidFill>
                  <a:srgbClr val="8A2B0B"/>
                </a:solidFill>
                <a:latin typeface="Consolas" pitchFamily="34" charset="0"/>
                <a:ea typeface="Consolas" pitchFamily="34" charset="-122"/>
                <a:cs typeface="Consolas" pitchFamily="34" charset="-120"/>
              </a:rPr>
              <a:t>&lt;style&gt;</a:t>
            </a:r>
            <a:pPr indent="0" marL="0">
              <a:buNone/>
            </a:pPr>
            <a:r>
              <a:rPr lang="en-US" sz="1400" dirty="0">
                <a:solidFill>
                  <a:srgbClr val="262626"/>
                </a:solidFill>
                <a:latin typeface="Aptos" pitchFamily="34" charset="0"/>
                <a:ea typeface="Aptos" pitchFamily="34" charset="-122"/>
                <a:cs typeface="Aptos" pitchFamily="34" charset="-120"/>
              </a:rPr>
              <a:t> line is a sneak peek at next class: CSS.</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03_svg_vs_png_example.html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2: Format Shootout in Pixlr (15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your photo in Pixlr Editor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pixlr.com → Pixlr Editor → Open image → my_images/original.jpg.</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as PNG</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b="1" dirty="0">
                <a:solidFill>
                  <a:srgbClr val="262626"/>
                </a:solidFill>
                <a:latin typeface="Aptos" pitchFamily="34" charset="0"/>
                <a:ea typeface="Aptos" pitchFamily="34" charset="-122"/>
                <a:cs typeface="Aptos" pitchFamily="34" charset="-120"/>
              </a:rPr>
              <a:t>File → Save</a:t>
            </a:r>
            <a:pPr indent="0" marL="0">
              <a:buNone/>
            </a:pPr>
            <a:r>
              <a:rPr lang="en-US" sz="1350" dirty="0">
                <a:solidFill>
                  <a:srgbClr val="262626"/>
                </a:solidFill>
                <a:latin typeface="Aptos" pitchFamily="34" charset="0"/>
                <a:ea typeface="Aptos" pitchFamily="34" charset="-122"/>
                <a:cs typeface="Aptos" pitchFamily="34" charset="-120"/>
              </a:rPr>
              <a:t> (Ctrl + S). Pick </a:t>
            </a:r>
            <a:pPr indent="0" marL="0">
              <a:buNone/>
            </a:pPr>
            <a:r>
              <a:rPr lang="en-US" sz="1350" b="1" dirty="0">
                <a:solidFill>
                  <a:srgbClr val="262626"/>
                </a:solidFill>
                <a:latin typeface="Aptos" pitchFamily="34" charset="0"/>
                <a:ea typeface="Aptos" pitchFamily="34" charset="-122"/>
                <a:cs typeface="Aptos" pitchFamily="34" charset="-120"/>
              </a:rPr>
              <a:t>PNG</a:t>
            </a:r>
            <a:pPr indent="0" marL="0">
              <a:buNone/>
            </a:pPr>
            <a:r>
              <a:rPr lang="en-US" sz="1350" dirty="0">
                <a:solidFill>
                  <a:srgbClr val="262626"/>
                </a:solidFill>
                <a:latin typeface="Aptos" pitchFamily="34" charset="0"/>
                <a:ea typeface="Aptos" pitchFamily="34" charset="-122"/>
                <a:cs typeface="Aptos" pitchFamily="34" charset="-120"/>
              </a:rPr>
              <a:t>. Name it </a:t>
            </a:r>
            <a:pPr indent="0" marL="0">
              <a:buNone/>
            </a:pPr>
            <a:r>
              <a:rPr lang="en-US" sz="1350" dirty="0">
                <a:solidFill>
                  <a:srgbClr val="8A2B0B"/>
                </a:solidFill>
                <a:latin typeface="Consolas" pitchFamily="34" charset="0"/>
                <a:ea typeface="Consolas" pitchFamily="34" charset="-122"/>
                <a:cs typeface="Consolas" pitchFamily="34" charset="-120"/>
              </a:rPr>
              <a:t>photo.png</a:t>
            </a:r>
            <a:pPr indent="0" marL="0">
              <a:buNone/>
            </a:pPr>
            <a:r>
              <a:rPr lang="en-US" sz="1350" dirty="0">
                <a:solidFill>
                  <a:srgbClr val="262626"/>
                </a:solidFill>
                <a:latin typeface="Aptos" pitchFamily="34" charset="0"/>
                <a:ea typeface="Aptos" pitchFamily="34" charset="-122"/>
                <a:cs typeface="Aptos" pitchFamily="34" charset="-120"/>
              </a:rPr>
              <a:t> in my_images.</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as JPG, quality 80</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Same again: </a:t>
            </a:r>
            <a:pPr indent="0" marL="0">
              <a:buNone/>
            </a:pPr>
            <a:r>
              <a:rPr lang="en-US" sz="1350" b="1" dirty="0">
                <a:solidFill>
                  <a:srgbClr val="262626"/>
                </a:solidFill>
                <a:latin typeface="Aptos" pitchFamily="34" charset="0"/>
                <a:ea typeface="Aptos" pitchFamily="34" charset="-122"/>
                <a:cs typeface="Aptos" pitchFamily="34" charset="-120"/>
              </a:rPr>
              <a:t>JPG</a:t>
            </a:r>
            <a:pPr indent="0" marL="0">
              <a:buNone/>
            </a:pPr>
            <a:r>
              <a:rPr lang="en-US" sz="1350" dirty="0">
                <a:solidFill>
                  <a:srgbClr val="262626"/>
                </a:solidFill>
                <a:latin typeface="Aptos" pitchFamily="34" charset="0"/>
                <a:ea typeface="Aptos" pitchFamily="34" charset="-122"/>
                <a:cs typeface="Aptos" pitchFamily="34" charset="-120"/>
              </a:rPr>
              <a:t>, slide quality to </a:t>
            </a:r>
            <a:pPr indent="0" marL="0">
              <a:buNone/>
            </a:pPr>
            <a:r>
              <a:rPr lang="en-US" sz="1350" b="1" dirty="0">
                <a:solidFill>
                  <a:srgbClr val="262626"/>
                </a:solidFill>
                <a:latin typeface="Aptos" pitchFamily="34" charset="0"/>
                <a:ea typeface="Aptos" pitchFamily="34" charset="-122"/>
                <a:cs typeface="Aptos" pitchFamily="34" charset="-120"/>
              </a:rPr>
              <a:t>80</a:t>
            </a:r>
            <a:pPr indent="0" marL="0">
              <a:buNone/>
            </a:pPr>
            <a:r>
              <a:rPr lang="en-US" sz="1350" dirty="0">
                <a:solidFill>
                  <a:srgbClr val="262626"/>
                </a:solidFill>
                <a:latin typeface="Aptos" pitchFamily="34" charset="0"/>
                <a:ea typeface="Aptos" pitchFamily="34" charset="-122"/>
                <a:cs typeface="Aptos" pitchFamily="34" charset="-120"/>
              </a:rPr>
              <a:t>. Name it </a:t>
            </a:r>
            <a:pPr indent="0" marL="0">
              <a:buNone/>
            </a:pPr>
            <a:r>
              <a:rPr lang="en-US" sz="1350" dirty="0">
                <a:solidFill>
                  <a:srgbClr val="8A2B0B"/>
                </a:solidFill>
                <a:latin typeface="Consolas" pitchFamily="34" charset="0"/>
                <a:ea typeface="Consolas" pitchFamily="34" charset="-122"/>
                <a:cs typeface="Consolas" pitchFamily="34" charset="-120"/>
              </a:rPr>
              <a:t>photo_q80.jpg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as WebP, quality 80</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Name it </a:t>
            </a:r>
            <a:pPr indent="0" marL="0">
              <a:buNone/>
            </a:pPr>
            <a:r>
              <a:rPr lang="en-US" sz="1350" dirty="0">
                <a:solidFill>
                  <a:srgbClr val="8A2B0B"/>
                </a:solidFill>
                <a:latin typeface="Consolas" pitchFamily="34" charset="0"/>
                <a:ea typeface="Consolas" pitchFamily="34" charset="-122"/>
                <a:cs typeface="Consolas" pitchFamily="34" charset="-120"/>
              </a:rPr>
              <a:t>photo.webp</a:t>
            </a:r>
            <a:pPr indent="0" marL="0">
              <a:buNone/>
            </a:pPr>
            <a:r>
              <a:rPr lang="en-US" sz="1350" dirty="0">
                <a:solidFill>
                  <a:srgbClr val="262626"/>
                </a:solidFill>
                <a:latin typeface="Aptos" pitchFamily="34" charset="0"/>
                <a:ea typeface="Aptos" pitchFamily="34" charset="-122"/>
                <a:cs typeface="Aptos" pitchFamily="34" charset="-120"/>
              </a:rPr>
              <a:t>. Keep the full size for all three.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Compare in File Explorer</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Details view, sorted by Size. Fill in the table in image_lab.html.</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Questions</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Which file is biggest? How many times bigger than the JPG?</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Open all three. Can you see a difference?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would you put on a website?</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Pixlr won't save?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Use squoosh.app: drop in your photo, pick a format on the right, and it shows the new size live.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Repos\2026-2027\WEBD1000\04_Images_for_the_Web\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809045"/>
            <a:ext cx="5852160" cy="523991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037645"/>
            <a:ext cx="5394960" cy="4782710"/>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How Low Can You Go?</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The same JPG saved at four quality settings.</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Zoom in (Ctrl and +) and look at the rocks and the water.</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"samples/beach_q90.jpg"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"320"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"Beach photo saved at JPG quality 90"</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Bigger than the original! Re-saving can't add back detail --&gt;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Quality 90: about 140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"samples/beach_q75.jpg"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"320"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"Beach photo saved at JPG quality 75"</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The sweet spot for most photos: 60 to 80 --&gt;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Quality 75: about 92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"samples/beach_q50.jpg"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"320"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"Beach photo saved at JPG quality 50"</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Quality 50: about 51 KB</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"samples/beach_q10.jpg"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"560"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"320"</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"Beach photo saved at JPG quality 10, very blocky"</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Lossy compression gone too far: 8 x 8 pixel blocks --&gt;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Quality 10: about 12 KB (see the blocks?)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figcaption</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figure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02</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How Low Can You Go?</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quality slider (0–100) decides </a:t>
            </a:r>
            <a:pPr indent="0" marL="0">
              <a:buNone/>
            </a:pPr>
            <a:r>
              <a:rPr lang="en-US" sz="1400" b="1" dirty="0">
                <a:solidFill>
                  <a:srgbClr val="262626"/>
                </a:solidFill>
                <a:latin typeface="Aptos" pitchFamily="34" charset="0"/>
                <a:ea typeface="Aptos" pitchFamily="34" charset="-122"/>
                <a:cs typeface="Aptos" pitchFamily="34" charset="-120"/>
              </a:rPr>
              <a:t>how much detail lossy compression throws away</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b="1" dirty="0">
                <a:solidFill>
                  <a:srgbClr val="262626"/>
                </a:solidFill>
                <a:latin typeface="Aptos" pitchFamily="34" charset="0"/>
                <a:ea typeface="Aptos" pitchFamily="34" charset="-122"/>
                <a:cs typeface="Aptos" pitchFamily="34" charset="-120"/>
              </a:rPr>
              <a:t>60–80</a:t>
            </a:r>
            <a:pPr indent="0" marL="0">
              <a:buNone/>
            </a:pPr>
            <a:r>
              <a:rPr lang="en-US" sz="1400" dirty="0">
                <a:solidFill>
                  <a:srgbClr val="262626"/>
                </a:solidFill>
                <a:latin typeface="Aptos" pitchFamily="34" charset="0"/>
                <a:ea typeface="Aptos" pitchFamily="34" charset="-122"/>
                <a:cs typeface="Aptos" pitchFamily="34" charset="-120"/>
              </a:rPr>
              <a:t> is the sweet spot for most photos: much smaller, and you can't see the difference at normal size.</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Below about 40, problems start to show: blocks, smudges and patchy sky.</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Quality 90 here is </a:t>
            </a:r>
            <a:pPr indent="0" marL="0">
              <a:buNone/>
            </a:pPr>
            <a:r>
              <a:rPr lang="en-US" sz="1400" b="1" dirty="0">
                <a:solidFill>
                  <a:srgbClr val="262626"/>
                </a:solidFill>
                <a:latin typeface="Aptos" pitchFamily="34" charset="0"/>
                <a:ea typeface="Aptos" pitchFamily="34" charset="-122"/>
                <a:cs typeface="Aptos" pitchFamily="34" charset="-120"/>
              </a:rPr>
              <a:t>bigger</a:t>
            </a:r>
            <a:pPr indent="0" marL="0">
              <a:buNone/>
            </a:pPr>
            <a:r>
              <a:rPr lang="en-US" sz="1400" dirty="0">
                <a:solidFill>
                  <a:srgbClr val="262626"/>
                </a:solidFill>
                <a:latin typeface="Aptos" pitchFamily="34" charset="0"/>
                <a:ea typeface="Aptos" pitchFamily="34" charset="-122"/>
                <a:cs typeface="Aptos" pitchFamily="34" charset="-120"/>
              </a:rPr>
              <a:t> than the original. Always start from the original, never a copy you already compressed.</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02_jpeg_quality_example.html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3: Find the Sweet Spot (10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Start from original.jpg again</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Never from a file you already compressed.</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as JPG at quality 30</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Name it </a:t>
            </a:r>
            <a:pPr indent="0" marL="0">
              <a:buNone/>
            </a:pPr>
            <a:r>
              <a:rPr lang="en-US" sz="1350" dirty="0">
                <a:solidFill>
                  <a:srgbClr val="8A2B0B"/>
                </a:solidFill>
                <a:latin typeface="Consolas" pitchFamily="34" charset="0"/>
                <a:ea typeface="Consolas" pitchFamily="34" charset="-122"/>
                <a:cs typeface="Consolas" pitchFamily="34" charset="-120"/>
              </a:rPr>
              <a:t>photo_q30.jpg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as JPG at quality 10</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Name it </a:t>
            </a:r>
            <a:pPr indent="0" marL="0">
              <a:buNone/>
            </a:pPr>
            <a:r>
              <a:rPr lang="en-US" sz="1350" dirty="0">
                <a:solidFill>
                  <a:srgbClr val="8A2B0B"/>
                </a:solidFill>
                <a:latin typeface="Consolas" pitchFamily="34" charset="0"/>
                <a:ea typeface="Consolas" pitchFamily="34" charset="-122"/>
                <a:cs typeface="Consolas" pitchFamily="34" charset="-120"/>
              </a:rPr>
              <a:t>photo_q10.jpg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Zoom in on all of them</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Open each one and zoom to 200–400%. Look at sky, skin, edges and text.</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Record sizes and "Looks OK?"</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In image_lab.html. You already have q80 from Lab 2.</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Look for</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Blocky squares in smooth areas (sky, walls)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Smudges or halos around edges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Colour bands instead of smooth gradients</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Challenge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Find the lowest quality where you honestly can't see a difference at normal size. Share your number in the class chat.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Size It Right: Dimensions Matter Most</a:t>
            </a:r>
            <a:endParaRPr lang="en-US" sz="2800" dirty="0"/>
          </a:p>
        </p:txBody>
      </p:sp>
      <p:sp>
        <p:nvSpPr>
          <p:cNvPr id="7" name="Text 4"/>
          <p:cNvSpPr txBox="1"/>
          <p:nvPr/>
        </p:nvSpPr>
        <p:spPr>
          <a:xfrm>
            <a:off x="4754880" y="1737360"/>
            <a:ext cx="6903720" cy="1234440"/>
          </a:xfrm>
          <a:prstGeom prst="rect">
            <a:avLst/>
          </a:prstGeom>
          <a:noFill/>
          <a:ln/>
        </p:spPr>
        <p:txBody>
          <a:bodyPr wrap="square" lIns="0" tIns="0" rIns="0" bIns="0" rtlCol="0" anchor="t"/>
          <a:lstStyle/>
          <a:p>
            <a:pPr marL="342900" indent="-342900">
              <a:buSzPct val="100000"/>
              <a:buChar char="•"/>
            </a:pPr>
            <a:r>
              <a:rPr lang="en-US" sz="1550" dirty="0">
                <a:solidFill>
                  <a:srgbClr val="262626"/>
                </a:solidFill>
                <a:latin typeface="Aptos" pitchFamily="34" charset="0"/>
                <a:ea typeface="Aptos" pitchFamily="34" charset="-122"/>
                <a:cs typeface="Aptos" pitchFamily="34" charset="-120"/>
              </a:rPr>
              <a:t>​</a:t>
            </a:r>
            <a:pPr indent="0" marL="0">
              <a:buNone/>
            </a:pPr>
            <a:r>
              <a:rPr lang="en-US" sz="1550" b="1" dirty="0">
                <a:solidFill>
                  <a:srgbClr val="262626"/>
                </a:solidFill>
                <a:latin typeface="Aptos" pitchFamily="34" charset="0"/>
                <a:ea typeface="Aptos" pitchFamily="34" charset="-122"/>
                <a:cs typeface="Aptos" pitchFamily="34" charset="-120"/>
              </a:rPr>
              <a:t>Export at the size it's shown, × 2</a:t>
            </a:r>
            <a:pPr indent="0" marL="0">
              <a:buNone/>
            </a:pPr>
            <a:r>
              <a:rPr lang="en-US" sz="1550" dirty="0">
                <a:solidFill>
                  <a:srgbClr val="262626"/>
                </a:solidFill>
                <a:latin typeface="Aptos" pitchFamily="34" charset="0"/>
                <a:ea typeface="Aptos" pitchFamily="34" charset="-122"/>
                <a:cs typeface="Aptos" pitchFamily="34" charset="-120"/>
              </a:rPr>
              <a:t> for sharp phone and laptop screens. Shown at 600 px wide → export about 1200 px.</a:t>
            </a:r>
            <a:endParaRPr lang="en-US" sz="1550" dirty="0"/>
          </a:p>
          <a:p>
            <a:pPr marL="342900" indent="-342900">
              <a:spcBef>
                <a:spcPts val="900"/>
              </a:spcBef>
              <a:buSzPct val="100000"/>
              <a:buChar char="•"/>
            </a:pPr>
            <a:r>
              <a:rPr lang="en-US" sz="1550" dirty="0">
                <a:solidFill>
                  <a:srgbClr val="262626"/>
                </a:solidFill>
                <a:latin typeface="Aptos" pitchFamily="34" charset="0"/>
                <a:ea typeface="Aptos" pitchFamily="34" charset="-122"/>
                <a:cs typeface="Aptos" pitchFamily="34" charset="-120"/>
              </a:rPr>
              <a:t>​</a:t>
            </a:r>
            <a:pPr indent="0" marL="0">
              <a:buNone/>
            </a:pPr>
            <a:r>
              <a:rPr lang="en-US" sz="1550" dirty="0">
                <a:solidFill>
                  <a:srgbClr val="262626"/>
                </a:solidFill>
                <a:latin typeface="Aptos" pitchFamily="34" charset="0"/>
                <a:ea typeface="Aptos" pitchFamily="34" charset="-122"/>
                <a:cs typeface="Aptos" pitchFamily="34" charset="-120"/>
              </a:rPr>
              <a:t>Halve the width → </a:t>
            </a:r>
            <a:pPr indent="0" marL="0">
              <a:buNone/>
            </a:pPr>
            <a:r>
              <a:rPr lang="en-US" sz="1550" b="1" dirty="0">
                <a:solidFill>
                  <a:srgbClr val="262626"/>
                </a:solidFill>
                <a:latin typeface="Aptos" pitchFamily="34" charset="0"/>
                <a:ea typeface="Aptos" pitchFamily="34" charset="-122"/>
                <a:cs typeface="Aptos" pitchFamily="34" charset="-120"/>
              </a:rPr>
              <a:t>¼ of the pixels</a:t>
            </a:r>
            <a:pPr indent="0" marL="0">
              <a:buNone/>
            </a:pPr>
            <a:r>
              <a:rPr lang="en-US" sz="1550" dirty="0">
                <a:solidFill>
                  <a:srgbClr val="262626"/>
                </a:solidFill>
                <a:latin typeface="Aptos" pitchFamily="34" charset="0"/>
                <a:ea typeface="Aptos" pitchFamily="34" charset="-122"/>
                <a:cs typeface="Aptos" pitchFamily="34" charset="-120"/>
              </a:rPr>
              <a:t> (the height halves too) → roughly ¼ of the file size.</a:t>
            </a:r>
            <a:endParaRPr lang="en-US" sz="15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754880" y="3063240"/>
          <a:ext cx="6903720" cy="914400"/>
        </p:xfrm>
        <a:graphic>
          <a:graphicData uri="http://schemas.openxmlformats.org/drawingml/2006/table">
            <a:tbl>
              <a:tblPr/>
              <a:tblGrid>
                <a:gridCol w="2743200"/>
                <a:gridCol w="2103120"/>
                <a:gridCol w="2057400"/>
              </a:tblGrid>
              <a:tr h="438912">
                <a:tc>
                  <a:txBody>
                    <a:bodyPr/>
                    <a:lstStyle/>
                    <a:p>
                      <a:pPr indent="0" marL="0">
                        <a:buNone/>
                      </a:pPr>
                      <a:r>
                        <a:rPr lang="en-US" sz="1450" b="1" dirty="0">
                          <a:solidFill>
                            <a:srgbClr val="FFFFFF"/>
                          </a:solidFill>
                          <a:latin typeface="Aptos" pitchFamily="34" charset="0"/>
                          <a:ea typeface="Aptos" pitchFamily="34" charset="-122"/>
                          <a:cs typeface="Aptos" pitchFamily="34" charset="-120"/>
                        </a:rPr>
                        <a:t>Image type</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450" b="1" dirty="0">
                          <a:solidFill>
                            <a:srgbClr val="FFFFFF"/>
                          </a:solidFill>
                          <a:latin typeface="Aptos" pitchFamily="34" charset="0"/>
                          <a:ea typeface="Aptos" pitchFamily="34" charset="-122"/>
                          <a:cs typeface="Aptos" pitchFamily="34" charset="-120"/>
                        </a:rPr>
                        <a:t>Export width</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450" b="1" dirty="0">
                          <a:solidFill>
                            <a:srgbClr val="FFFFFF"/>
                          </a:solidFill>
                          <a:latin typeface="Aptos" pitchFamily="34" charset="0"/>
                          <a:ea typeface="Aptos" pitchFamily="34" charset="-122"/>
                          <a:cs typeface="Aptos" pitchFamily="34" charset="-120"/>
                        </a:rPr>
                        <a:t>Aim for</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438912">
                <a:tc>
                  <a:txBody>
                    <a:bodyPr/>
                    <a:lstStyle/>
                    <a:p>
                      <a:pPr indent="0" marL="0">
                        <a:buNone/>
                      </a:pPr>
                      <a:r>
                        <a:rPr lang="en-US" sz="1450" b="1" dirty="0">
                          <a:solidFill>
                            <a:srgbClr val="000000"/>
                          </a:solidFill>
                          <a:latin typeface="Aptos" pitchFamily="34" charset="0"/>
                          <a:ea typeface="Aptos" pitchFamily="34" charset="-122"/>
                          <a:cs typeface="Aptos" pitchFamily="34" charset="-120"/>
                        </a:rPr>
                        <a:t>Full-width banner (hero)</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1600–2000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under 300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38912">
                <a:tc>
                  <a:txBody>
                    <a:bodyPr/>
                    <a:lstStyle/>
                    <a:p>
                      <a:pPr indent="0" marL="0">
                        <a:buNone/>
                      </a:pPr>
                      <a:r>
                        <a:rPr lang="en-US" sz="1450" b="1" dirty="0">
                          <a:solidFill>
                            <a:srgbClr val="000000"/>
                          </a:solidFill>
                          <a:latin typeface="Aptos" pitchFamily="34" charset="0"/>
                          <a:ea typeface="Aptos" pitchFamily="34" charset="-122"/>
                          <a:cs typeface="Aptos" pitchFamily="34" charset="-120"/>
                        </a:rPr>
                        <a:t>Content photo</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1000–1200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under 150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38912">
                <a:tc>
                  <a:txBody>
                    <a:bodyPr/>
                    <a:lstStyle/>
                    <a:p>
                      <a:pPr indent="0" marL="0">
                        <a:buNone/>
                      </a:pPr>
                      <a:r>
                        <a:rPr lang="en-US" sz="1450" b="1" dirty="0">
                          <a:solidFill>
                            <a:srgbClr val="000000"/>
                          </a:solidFill>
                          <a:latin typeface="Aptos" pitchFamily="34" charset="0"/>
                          <a:ea typeface="Aptos" pitchFamily="34" charset="-122"/>
                          <a:cs typeface="Aptos" pitchFamily="34" charset="-120"/>
                        </a:rPr>
                        <a:t>Card / thumbnail</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400–600 px</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under 50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38912">
                <a:tc>
                  <a:txBody>
                    <a:bodyPr/>
                    <a:lstStyle/>
                    <a:p>
                      <a:pPr indent="0" marL="0">
                        <a:buNone/>
                      </a:pPr>
                      <a:r>
                        <a:rPr lang="en-US" sz="1450" b="1" dirty="0">
                          <a:solidFill>
                            <a:srgbClr val="000000"/>
                          </a:solidFill>
                          <a:latin typeface="Aptos" pitchFamily="34" charset="0"/>
                          <a:ea typeface="Aptos" pitchFamily="34" charset="-122"/>
                          <a:cs typeface="Aptos" pitchFamily="34" charset="-120"/>
                        </a:rPr>
                        <a:t>Logo / icon</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SVG (any size)</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450" dirty="0">
                          <a:solidFill>
                            <a:srgbClr val="000000"/>
                          </a:solidFill>
                          <a:latin typeface="Aptos" pitchFamily="34" charset="0"/>
                          <a:ea typeface="Aptos" pitchFamily="34" charset="-122"/>
                          <a:cs typeface="Aptos" pitchFamily="34" charset="-120"/>
                        </a:rPr>
                        <a:t>a few KB</a:t>
                      </a:r>
                      <a:endParaRPr lang="en-US" sz="14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
        <p:nvSpPr>
          <p:cNvPr id="9" name="Shape 5"/>
          <p:cNvSpPr/>
          <p:nvPr/>
        </p:nvSpPr>
        <p:spPr>
          <a:xfrm>
            <a:off x="4754880" y="5440680"/>
            <a:ext cx="6903720"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5029200" y="5440680"/>
            <a:ext cx="6355080" cy="868680"/>
          </a:xfrm>
          <a:prstGeom prst="rect">
            <a:avLst/>
          </a:prstGeom>
          <a:noFill/>
          <a:ln/>
        </p:spPr>
        <p:txBody>
          <a:bodyPr wrap="square" lIns="0" tIns="0" rIns="0" bIns="0" rtlCol="0" anchor="ctr"/>
          <a:lstStyle/>
          <a:p>
            <a:pPr indent="0" marL="0">
              <a:buNone/>
            </a:pPr>
            <a:r>
              <a:rPr lang="en-US" sz="1450" b="1" dirty="0">
                <a:solidFill>
                  <a:srgbClr val="262626"/>
                </a:solidFill>
                <a:latin typeface="Aptos" pitchFamily="34" charset="0"/>
                <a:ea typeface="Aptos" pitchFamily="34" charset="-122"/>
                <a:cs typeface="Aptos" pitchFamily="34" charset="-120"/>
              </a:rPr>
              <a:t>Our sample: </a:t>
            </a:r>
            <a:pPr indent="0" marL="0">
              <a:buNone/>
            </a:pPr>
            <a:r>
              <a:rPr lang="en-US" sz="1450" dirty="0">
                <a:solidFill>
                  <a:srgbClr val="262626"/>
                </a:solidFill>
                <a:latin typeface="Aptos" pitchFamily="34" charset="0"/>
                <a:ea typeface="Aptos" pitchFamily="34" charset="-122"/>
                <a:cs typeface="Aptos" pitchFamily="34" charset="-120"/>
              </a:rPr>
              <a:t>1118 px wide = 134 KB. Resized to 800 px = 45 KB. Resized to 400 px = 13 KB.</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4: Resize and Compare (10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original.jpg in Pixlr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Start from the original again.</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Resize to 2000 px wide</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Find </a:t>
            </a:r>
            <a:pPr indent="0" marL="0">
              <a:buNone/>
            </a:pPr>
            <a:r>
              <a:rPr lang="en-US" sz="1350" b="1" dirty="0">
                <a:solidFill>
                  <a:srgbClr val="262626"/>
                </a:solidFill>
                <a:latin typeface="Aptos" pitchFamily="34" charset="0"/>
                <a:ea typeface="Aptos" pitchFamily="34" charset="-122"/>
                <a:cs typeface="Aptos" pitchFamily="34" charset="-120"/>
              </a:rPr>
              <a:t>Resize</a:t>
            </a:r>
            <a:pPr indent="0" marL="0">
              <a:buNone/>
            </a:pPr>
            <a:r>
              <a:rPr lang="en-US" sz="1350" dirty="0">
                <a:solidFill>
                  <a:srgbClr val="262626"/>
                </a:solidFill>
                <a:latin typeface="Aptos" pitchFamily="34" charset="0"/>
                <a:ea typeface="Aptos" pitchFamily="34" charset="-122"/>
                <a:cs typeface="Aptos" pitchFamily="34" charset="-120"/>
              </a:rPr>
              <a:t> (Pixlr Editor: the Page menu, or set the size in the Save dialog). Keep </a:t>
            </a:r>
            <a:pPr indent="0" marL="0">
              <a:buNone/>
            </a:pPr>
            <a:r>
              <a:rPr lang="en-US" sz="1350" b="1" dirty="0">
                <a:solidFill>
                  <a:srgbClr val="262626"/>
                </a:solidFill>
                <a:latin typeface="Aptos" pitchFamily="34" charset="0"/>
                <a:ea typeface="Aptos" pitchFamily="34" charset="-122"/>
                <a:cs typeface="Aptos" pitchFamily="34" charset="-120"/>
              </a:rPr>
              <a:t>proportions locked</a:t>
            </a:r>
            <a:pPr indent="0" marL="0">
              <a:buNone/>
            </a:pPr>
            <a:r>
              <a:rPr lang="en-US" sz="1350" dirty="0">
                <a:solidFill>
                  <a:srgbClr val="262626"/>
                </a:solidFill>
                <a:latin typeface="Aptos" pitchFamily="34" charset="0"/>
                <a:ea typeface="Aptos" pitchFamily="34" charset="-122"/>
                <a:cs typeface="Aptos" pitchFamily="34" charset="-120"/>
              </a:rPr>
              <a:t>. Save as JPG q80: </a:t>
            </a:r>
            <a:pPr indent="0" marL="0">
              <a:buNone/>
            </a:pPr>
            <a:r>
              <a:rPr lang="en-US" sz="1350" dirty="0">
                <a:solidFill>
                  <a:srgbClr val="8A2B0B"/>
                </a:solidFill>
                <a:latin typeface="Consolas" pitchFamily="34" charset="0"/>
                <a:ea typeface="Consolas" pitchFamily="34" charset="-122"/>
                <a:cs typeface="Consolas" pitchFamily="34" charset="-120"/>
              </a:rPr>
              <a:t>photo_2000.jpg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Repeat at 1200 px and 600 px</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Start from the original each time: </a:t>
            </a:r>
            <a:pPr indent="0" marL="0">
              <a:buNone/>
            </a:pPr>
            <a:r>
              <a:rPr lang="en-US" sz="1350" dirty="0">
                <a:solidFill>
                  <a:srgbClr val="8A2B0B"/>
                </a:solidFill>
                <a:latin typeface="Consolas" pitchFamily="34" charset="0"/>
                <a:ea typeface="Consolas" pitchFamily="34" charset="-122"/>
                <a:cs typeface="Consolas" pitchFamily="34" charset="-120"/>
              </a:rPr>
              <a:t>photo_1200.jpg</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photo_600.jpg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Compare in File Explorer</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Check the Dimensions and Size columns. Fill in the table.</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original.jpg and photo_1200.jpg</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Fit both to your screen. Can you tell them apart?</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Questions</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How much smaller is photo_1200 than the original?</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Halving the width: did the size drop by about ½ or ¼?</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size would you use for a content photo on a page?</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Watch out</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Never make a small image bigger. You can't add pixels that aren't there. It just goes blurry.</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5: Graphics vs Photos (5–10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samples/logo.png in Pixlr</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A flat-colour logo with a transparent background.</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Save it as JPG, quality 80</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Name it </a:t>
            </a:r>
            <a:pPr indent="0" marL="0">
              <a:buNone/>
            </a:pPr>
            <a:r>
              <a:rPr lang="en-US" sz="1350" dirty="0">
                <a:solidFill>
                  <a:srgbClr val="8A2B0B"/>
                </a:solidFill>
                <a:latin typeface="Consolas" pitchFamily="34" charset="0"/>
                <a:ea typeface="Consolas" pitchFamily="34" charset="-122"/>
                <a:cs typeface="Consolas" pitchFamily="34" charset="-120"/>
              </a:rPr>
              <a:t>my_images/logo_test.jpg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Compare logo.png, logo_test.jpg and logo.svg</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Sizes in File Explorer. Then open 03_svg_vs_png_example.html.</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Zoom in on the edges</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Where the orange fish meets the navy circle. And look at the corners.</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Take a screenshot (Win + Shift + S)</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Paste it into Pixlr. Save it as PNG and as JPG q80. Which is smaller? Which is sharper?</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What you'll find</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The JPG lost the transparent corners (now white)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Smudges along every edge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The JPG isn't even smaller</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SVG: smallest and sharpest</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The rule</a:t>
            </a:r>
            <a:endParaRPr lang="en-US" sz="1350" dirty="0"/>
          </a:p>
          <a:p>
            <a:pPr marL="342900" indent="-342900">
              <a:spcBef>
                <a:spcPts val="700"/>
              </a:spcBef>
              <a:buSzPct val="100000"/>
              <a:buChar char="•"/>
            </a:pPr>
            <a:r>
              <a:rPr lang="en-US" sz="1350" b="1" dirty="0">
                <a:solidFill>
                  <a:srgbClr val="D9D9D9"/>
                </a:solidFill>
                <a:latin typeface="Aptos" pitchFamily="34" charset="0"/>
                <a:ea typeface="Aptos" pitchFamily="34" charset="-122"/>
                <a:cs typeface="Aptos" pitchFamily="34" charset="-120"/>
              </a:rPr>
              <a:t>Photos → JPG / WebP. Flat colour, text, screenshots → PNG. Logos and icons → SVG.</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Which Format Should I Use?</a:t>
            </a:r>
            <a:endParaRPr lang="en-US" sz="2800" dirty="0"/>
          </a:p>
        </p:txBody>
      </p:sp>
      <p:sp>
        <p:nvSpPr>
          <p:cNvPr id="7" name="Shape 4"/>
          <p:cNvSpPr/>
          <p:nvPr/>
        </p:nvSpPr>
        <p:spPr>
          <a:xfrm>
            <a:off x="4754880" y="1783080"/>
            <a:ext cx="3749040" cy="731520"/>
          </a:xfrm>
          <a:prstGeom prst="roundRect">
            <a:avLst>
              <a:gd name="adj" fmla="val 1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83480" y="1783080"/>
            <a:ext cx="3383280" cy="73152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Is it a logo, icon or simple drawing?</a:t>
            </a:r>
            <a:endParaRPr lang="en-US" sz="1450" dirty="0"/>
          </a:p>
        </p:txBody>
      </p:sp>
      <p:sp>
        <p:nvSpPr>
          <p:cNvPr id="9" name="Text 6"/>
          <p:cNvSpPr txBox="1"/>
          <p:nvPr/>
        </p:nvSpPr>
        <p:spPr>
          <a:xfrm>
            <a:off x="8503920" y="1783080"/>
            <a:ext cx="411480" cy="731520"/>
          </a:xfrm>
          <a:prstGeom prst="rect">
            <a:avLst/>
          </a:prstGeom>
          <a:noFill/>
          <a:ln/>
        </p:spPr>
        <p:txBody>
          <a:bodyPr wrap="square" lIns="0" tIns="0" rIns="0" bIns="0" rtlCol="0" anchor="ctr"/>
          <a:lstStyle/>
          <a:p>
            <a:pPr algn="ctr" indent="0" marL="0">
              <a:buNone/>
            </a:pPr>
            <a:r>
              <a:rPr lang="en-US" sz="2200" b="1" dirty="0">
                <a:solidFill>
                  <a:srgbClr val="0F9ED5"/>
                </a:solidFill>
                <a:latin typeface="Aptos" pitchFamily="34" charset="0"/>
                <a:ea typeface="Aptos" pitchFamily="34" charset="-122"/>
                <a:cs typeface="Aptos" pitchFamily="34" charset="-120"/>
              </a:rPr>
              <a:t>→</a:t>
            </a:r>
            <a:endParaRPr lang="en-US" sz="2200" dirty="0"/>
          </a:p>
        </p:txBody>
      </p:sp>
      <p:sp>
        <p:nvSpPr>
          <p:cNvPr id="10" name="Shape 7"/>
          <p:cNvSpPr/>
          <p:nvPr/>
        </p:nvSpPr>
        <p:spPr>
          <a:xfrm>
            <a:off x="8915400" y="1783080"/>
            <a:ext cx="2743200" cy="731520"/>
          </a:xfrm>
          <a:prstGeom prst="roundRect">
            <a:avLst>
              <a:gd name="adj" fmla="val 15000"/>
            </a:avLst>
          </a:prstGeom>
          <a:solidFill>
            <a:srgbClr val="0F9ED5"/>
          </a:solidFill>
          <a:ln w="9525">
            <a:solidFill>
              <a:srgbClr val="0F9ED5"/>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9098280" y="1783080"/>
            <a:ext cx="2377440" cy="73152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SVG</a:t>
            </a:r>
            <a:endParaRPr lang="en-US" sz="1600" dirty="0"/>
          </a:p>
          <a:p>
            <a:pPr indent="0" marL="0">
              <a:buNone/>
            </a:pPr>
            <a:r>
              <a:rPr lang="en-US" sz="1150" dirty="0">
                <a:solidFill>
                  <a:srgbClr val="FFFFFF"/>
                </a:solidFill>
                <a:latin typeface="Aptos" pitchFamily="34" charset="0"/>
                <a:ea typeface="Aptos" pitchFamily="34" charset="-122"/>
                <a:cs typeface="Aptos" pitchFamily="34" charset="-120"/>
              </a:rPr>
              <a:t>(PNG if you only have a raster version)</a:t>
            </a:r>
            <a:endParaRPr lang="en-US" sz="1600" dirty="0"/>
          </a:p>
        </p:txBody>
      </p:sp>
      <p:sp>
        <p:nvSpPr>
          <p:cNvPr id="12" name="Shape 9"/>
          <p:cNvSpPr/>
          <p:nvPr/>
        </p:nvSpPr>
        <p:spPr>
          <a:xfrm>
            <a:off x="4754880" y="2670048"/>
            <a:ext cx="3749040" cy="731520"/>
          </a:xfrm>
          <a:prstGeom prst="roundRect">
            <a:avLst>
              <a:gd name="adj" fmla="val 1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4983480" y="2670048"/>
            <a:ext cx="3383280" cy="73152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Is it a photo?</a:t>
            </a:r>
            <a:endParaRPr lang="en-US" sz="1450" dirty="0"/>
          </a:p>
        </p:txBody>
      </p:sp>
      <p:sp>
        <p:nvSpPr>
          <p:cNvPr id="14" name="Text 11"/>
          <p:cNvSpPr txBox="1"/>
          <p:nvPr/>
        </p:nvSpPr>
        <p:spPr>
          <a:xfrm>
            <a:off x="8503920" y="2670048"/>
            <a:ext cx="411480" cy="73152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5" name="Shape 12"/>
          <p:cNvSpPr/>
          <p:nvPr/>
        </p:nvSpPr>
        <p:spPr>
          <a:xfrm>
            <a:off x="8915400" y="2670048"/>
            <a:ext cx="2743200" cy="731520"/>
          </a:xfrm>
          <a:prstGeom prst="roundRect">
            <a:avLst>
              <a:gd name="adj" fmla="val 15000"/>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9098280" y="2670048"/>
            <a:ext cx="2377440" cy="73152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JPG or WebP</a:t>
            </a:r>
            <a:endParaRPr lang="en-US" sz="1600" dirty="0"/>
          </a:p>
          <a:p>
            <a:pPr indent="0" marL="0">
              <a:buNone/>
            </a:pPr>
            <a:r>
              <a:rPr lang="en-US" sz="1150" dirty="0">
                <a:solidFill>
                  <a:srgbClr val="FFFFFF"/>
                </a:solidFill>
                <a:latin typeface="Aptos" pitchFamily="34" charset="0"/>
                <a:ea typeface="Aptos" pitchFamily="34" charset="-122"/>
                <a:cs typeface="Aptos" pitchFamily="34" charset="-120"/>
              </a:rPr>
              <a:t>quality 60–80 · AVIF for even smaller</a:t>
            </a:r>
            <a:endParaRPr lang="en-US" sz="1600" dirty="0"/>
          </a:p>
        </p:txBody>
      </p:sp>
      <p:sp>
        <p:nvSpPr>
          <p:cNvPr id="17" name="Shape 14"/>
          <p:cNvSpPr/>
          <p:nvPr/>
        </p:nvSpPr>
        <p:spPr>
          <a:xfrm>
            <a:off x="4754880" y="3557016"/>
            <a:ext cx="3749040" cy="731520"/>
          </a:xfrm>
          <a:prstGeom prst="roundRect">
            <a:avLst>
              <a:gd name="adj" fmla="val 1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4983480" y="3557016"/>
            <a:ext cx="3383280" cy="73152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Does it need a see-through background?</a:t>
            </a:r>
            <a:endParaRPr lang="en-US" sz="1450" dirty="0"/>
          </a:p>
        </p:txBody>
      </p:sp>
      <p:sp>
        <p:nvSpPr>
          <p:cNvPr id="19" name="Text 16"/>
          <p:cNvSpPr txBox="1"/>
          <p:nvPr/>
        </p:nvSpPr>
        <p:spPr>
          <a:xfrm>
            <a:off x="8503920" y="3557016"/>
            <a:ext cx="411480" cy="731520"/>
          </a:xfrm>
          <a:prstGeom prst="rect">
            <a:avLst/>
          </a:prstGeom>
          <a:noFill/>
          <a:ln/>
        </p:spPr>
        <p:txBody>
          <a:bodyPr wrap="square" lIns="0" tIns="0" rIns="0" bIns="0" rtlCol="0" anchor="ctr"/>
          <a:lstStyle/>
          <a:p>
            <a:pPr algn="ctr" indent="0" marL="0">
              <a:buNone/>
            </a:pPr>
            <a:r>
              <a:rPr lang="en-US" sz="2200" b="1" dirty="0">
                <a:solidFill>
                  <a:srgbClr val="1B5E82"/>
                </a:solidFill>
                <a:latin typeface="Aptos" pitchFamily="34" charset="0"/>
                <a:ea typeface="Aptos" pitchFamily="34" charset="-122"/>
                <a:cs typeface="Aptos" pitchFamily="34" charset="-120"/>
              </a:rPr>
              <a:t>→</a:t>
            </a:r>
            <a:endParaRPr lang="en-US" sz="2200" dirty="0"/>
          </a:p>
        </p:txBody>
      </p:sp>
      <p:sp>
        <p:nvSpPr>
          <p:cNvPr id="20" name="Shape 17"/>
          <p:cNvSpPr/>
          <p:nvPr/>
        </p:nvSpPr>
        <p:spPr>
          <a:xfrm>
            <a:off x="8915400" y="3557016"/>
            <a:ext cx="2743200" cy="731520"/>
          </a:xfrm>
          <a:prstGeom prst="roundRect">
            <a:avLst>
              <a:gd name="adj" fmla="val 15000"/>
            </a:avLst>
          </a:prstGeom>
          <a:solidFill>
            <a:srgbClr val="1B5E82"/>
          </a:solidFill>
          <a:ln w="9525">
            <a:solidFill>
              <a:srgbClr val="1B5E82"/>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9098280" y="3557016"/>
            <a:ext cx="2377440" cy="73152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PNG or WebP</a:t>
            </a:r>
            <a:endParaRPr lang="en-US" sz="1600" dirty="0"/>
          </a:p>
          <a:p>
            <a:pPr indent="0" marL="0">
              <a:buNone/>
            </a:pPr>
            <a:r>
              <a:rPr lang="en-US" sz="1150" dirty="0">
                <a:solidFill>
                  <a:srgbClr val="FFFFFF"/>
                </a:solidFill>
                <a:latin typeface="Aptos" pitchFamily="34" charset="0"/>
                <a:ea typeface="Aptos" pitchFamily="34" charset="-122"/>
                <a:cs typeface="Aptos" pitchFamily="34" charset="-120"/>
              </a:rPr>
              <a:t>never JPG</a:t>
            </a:r>
            <a:endParaRPr lang="en-US" sz="1600" dirty="0"/>
          </a:p>
        </p:txBody>
      </p:sp>
      <p:sp>
        <p:nvSpPr>
          <p:cNvPr id="22" name="Shape 19"/>
          <p:cNvSpPr/>
          <p:nvPr/>
        </p:nvSpPr>
        <p:spPr>
          <a:xfrm>
            <a:off x="4754880" y="4443984"/>
            <a:ext cx="3749040" cy="731520"/>
          </a:xfrm>
          <a:prstGeom prst="roundRect">
            <a:avLst>
              <a:gd name="adj" fmla="val 1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3" name="Text 20"/>
          <p:cNvSpPr txBox="1"/>
          <p:nvPr/>
        </p:nvSpPr>
        <p:spPr>
          <a:xfrm>
            <a:off x="4983480" y="4443984"/>
            <a:ext cx="3383280" cy="73152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Screenshot, text or flat colours?</a:t>
            </a:r>
            <a:endParaRPr lang="en-US" sz="1450" dirty="0"/>
          </a:p>
        </p:txBody>
      </p:sp>
      <p:sp>
        <p:nvSpPr>
          <p:cNvPr id="24" name="Text 21"/>
          <p:cNvSpPr txBox="1"/>
          <p:nvPr/>
        </p:nvSpPr>
        <p:spPr>
          <a:xfrm>
            <a:off x="8503920" y="4443984"/>
            <a:ext cx="411480" cy="731520"/>
          </a:xfrm>
          <a:prstGeom prst="rect">
            <a:avLst/>
          </a:prstGeom>
          <a:noFill/>
          <a:ln/>
        </p:spPr>
        <p:txBody>
          <a:bodyPr wrap="square" lIns="0" tIns="0" rIns="0" bIns="0" rtlCol="0" anchor="ctr"/>
          <a:lstStyle/>
          <a:p>
            <a:pPr algn="ctr" indent="0" marL="0">
              <a:buNone/>
            </a:pPr>
            <a:r>
              <a:rPr lang="en-US" sz="2200" b="1" dirty="0">
                <a:solidFill>
                  <a:srgbClr val="A02B93"/>
                </a:solidFill>
                <a:latin typeface="Aptos" pitchFamily="34" charset="0"/>
                <a:ea typeface="Aptos" pitchFamily="34" charset="-122"/>
                <a:cs typeface="Aptos" pitchFamily="34" charset="-120"/>
              </a:rPr>
              <a:t>→</a:t>
            </a:r>
            <a:endParaRPr lang="en-US" sz="2200" dirty="0"/>
          </a:p>
        </p:txBody>
      </p:sp>
      <p:sp>
        <p:nvSpPr>
          <p:cNvPr id="25" name="Shape 22"/>
          <p:cNvSpPr/>
          <p:nvPr/>
        </p:nvSpPr>
        <p:spPr>
          <a:xfrm>
            <a:off x="8915400" y="4443984"/>
            <a:ext cx="2743200" cy="731520"/>
          </a:xfrm>
          <a:prstGeom prst="roundRect">
            <a:avLst>
              <a:gd name="adj" fmla="val 15000"/>
            </a:avLst>
          </a:prstGeom>
          <a:solidFill>
            <a:srgbClr val="A02B93"/>
          </a:solidFill>
          <a:ln w="9525">
            <a:solidFill>
              <a:srgbClr val="A02B93"/>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9098280" y="4443984"/>
            <a:ext cx="2377440" cy="73152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PNG</a:t>
            </a:r>
            <a:endParaRPr lang="en-US" sz="1600" dirty="0"/>
          </a:p>
          <a:p>
            <a:pPr indent="0" marL="0">
              <a:buNone/>
            </a:pPr>
            <a:r>
              <a:rPr lang="en-US" sz="1150" dirty="0">
                <a:solidFill>
                  <a:srgbClr val="FFFFFF"/>
                </a:solidFill>
                <a:latin typeface="Aptos" pitchFamily="34" charset="0"/>
                <a:ea typeface="Aptos" pitchFamily="34" charset="-122"/>
                <a:cs typeface="Aptos" pitchFamily="34" charset="-120"/>
              </a:rPr>
              <a:t>lossless keeps edges sharp</a:t>
            </a:r>
            <a:endParaRPr lang="en-US" sz="1600" dirty="0"/>
          </a:p>
        </p:txBody>
      </p:sp>
      <p:sp>
        <p:nvSpPr>
          <p:cNvPr id="27" name="Shape 24"/>
          <p:cNvSpPr/>
          <p:nvPr/>
        </p:nvSpPr>
        <p:spPr>
          <a:xfrm>
            <a:off x="4754880" y="5330952"/>
            <a:ext cx="3749040" cy="731520"/>
          </a:xfrm>
          <a:prstGeom prst="roundRect">
            <a:avLst>
              <a:gd name="adj" fmla="val 1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4983480" y="5330952"/>
            <a:ext cx="3383280" cy="731520"/>
          </a:xfrm>
          <a:prstGeom prst="rect">
            <a:avLst/>
          </a:prstGeom>
          <a:noFill/>
          <a:ln/>
        </p:spPr>
        <p:txBody>
          <a:bodyPr wrap="square" lIns="0" tIns="0" rIns="0" bIns="0" rtlCol="0" anchor="ctr"/>
          <a:lstStyle/>
          <a:p>
            <a:pPr indent="0" marL="0">
              <a:buNone/>
            </a:pPr>
            <a:r>
              <a:rPr lang="en-US" sz="1450" b="1" dirty="0">
                <a:solidFill>
                  <a:srgbClr val="000000"/>
                </a:solidFill>
                <a:latin typeface="Aptos" pitchFamily="34" charset="0"/>
                <a:ea typeface="Aptos" pitchFamily="34" charset="-122"/>
                <a:cs typeface="Aptos" pitchFamily="34" charset="-120"/>
              </a:rPr>
              <a:t>Is it animated?</a:t>
            </a:r>
            <a:endParaRPr lang="en-US" sz="1450" dirty="0"/>
          </a:p>
        </p:txBody>
      </p:sp>
      <p:sp>
        <p:nvSpPr>
          <p:cNvPr id="29" name="Text 26"/>
          <p:cNvSpPr txBox="1"/>
          <p:nvPr/>
        </p:nvSpPr>
        <p:spPr>
          <a:xfrm>
            <a:off x="8503920" y="5330952"/>
            <a:ext cx="411480" cy="731520"/>
          </a:xfrm>
          <a:prstGeom prst="rect">
            <a:avLst/>
          </a:prstGeom>
          <a:noFill/>
          <a:ln/>
        </p:spPr>
        <p:txBody>
          <a:bodyPr wrap="square" lIns="0" tIns="0" rIns="0" bIns="0" rtlCol="0" anchor="ctr"/>
          <a:lstStyle/>
          <a:p>
            <a:pPr algn="ctr" indent="0" marL="0">
              <a:buNone/>
            </a:pPr>
            <a:r>
              <a:rPr lang="en-US" sz="2200" b="1" dirty="0">
                <a:solidFill>
                  <a:srgbClr val="7F7F7F"/>
                </a:solidFill>
                <a:latin typeface="Aptos" pitchFamily="34" charset="0"/>
                <a:ea typeface="Aptos" pitchFamily="34" charset="-122"/>
                <a:cs typeface="Aptos" pitchFamily="34" charset="-120"/>
              </a:rPr>
              <a:t>→</a:t>
            </a:r>
            <a:endParaRPr lang="en-US" sz="2200" dirty="0"/>
          </a:p>
        </p:txBody>
      </p:sp>
      <p:sp>
        <p:nvSpPr>
          <p:cNvPr id="30" name="Shape 27"/>
          <p:cNvSpPr/>
          <p:nvPr/>
        </p:nvSpPr>
        <p:spPr>
          <a:xfrm>
            <a:off x="8915400" y="5330952"/>
            <a:ext cx="2743200" cy="731520"/>
          </a:xfrm>
          <a:prstGeom prst="roundRect">
            <a:avLst>
              <a:gd name="adj" fmla="val 15000"/>
            </a:avLst>
          </a:prstGeom>
          <a:solidFill>
            <a:srgbClr val="7F7F7F"/>
          </a:solidFill>
          <a:ln w="9525">
            <a:solidFill>
              <a:srgbClr val="7F7F7F"/>
            </a:solidFill>
            <a:prstDash val="solid"/>
          </a:ln>
          <a:effectLst>
            <a:outerShdw sx="100000" sy="100000" kx="0" ky="0" algn="bl" rotWithShape="0" blurRad="76200" dist="25400" dir="5400000">
              <a:srgbClr val="000000">
                <a:alpha val="12000"/>
              </a:srgbClr>
            </a:outerShdw>
          </a:effectLst>
        </p:spPr>
      </p:sp>
      <p:sp>
        <p:nvSpPr>
          <p:cNvPr id="31" name="Text 28"/>
          <p:cNvSpPr txBox="1"/>
          <p:nvPr/>
        </p:nvSpPr>
        <p:spPr>
          <a:xfrm>
            <a:off x="9098280" y="5330952"/>
            <a:ext cx="2377440" cy="731520"/>
          </a:xfrm>
          <a:prstGeom prst="rect">
            <a:avLst/>
          </a:prstGeom>
          <a:noFill/>
          <a:ln/>
        </p:spPr>
        <p:txBody>
          <a:bodyPr wrap="square" lIns="0" tIns="0" rIns="0" bIns="0" rtlCol="0" anchor="ctr"/>
          <a:lstStyle/>
          <a:p>
            <a:pPr indent="0" marL="0">
              <a:buNone/>
            </a:pPr>
            <a:r>
              <a:rPr lang="en-US" sz="1600" b="1" dirty="0">
                <a:solidFill>
                  <a:srgbClr val="FFFFFF"/>
                </a:solidFill>
                <a:latin typeface="Aptos" pitchFamily="34" charset="0"/>
                <a:ea typeface="Aptos" pitchFamily="34" charset="-122"/>
                <a:cs typeface="Aptos" pitchFamily="34" charset="-120"/>
              </a:rPr>
              <a:t>Video (MP4)</a:t>
            </a:r>
            <a:endParaRPr lang="en-US" sz="1600" dirty="0"/>
          </a:p>
          <a:p>
            <a:pPr indent="0" marL="0">
              <a:buNone/>
            </a:pPr>
            <a:r>
              <a:rPr lang="en-US" sz="1150" dirty="0">
                <a:solidFill>
                  <a:srgbClr val="FFFFFF"/>
                </a:solidFill>
                <a:latin typeface="Aptos" pitchFamily="34" charset="0"/>
                <a:ea typeface="Aptos" pitchFamily="34" charset="-122"/>
                <a:cs typeface="Aptos" pitchFamily="34" charset="-120"/>
              </a:rPr>
              <a:t>or animated WebP · GIF is the old way</a:t>
            </a:r>
            <a:endParaRPr lang="en-US" sz="1600" dirty="0"/>
          </a:p>
        </p:txBody>
      </p:sp>
      <p:sp>
        <p:nvSpPr>
          <p:cNvPr id="32" name="Text 29"/>
          <p:cNvSpPr txBox="1"/>
          <p:nvPr/>
        </p:nvSpPr>
        <p:spPr>
          <a:xfrm>
            <a:off x="4754880" y="6263640"/>
            <a:ext cx="6903720" cy="365760"/>
          </a:xfrm>
          <a:prstGeom prst="rect">
            <a:avLst/>
          </a:prstGeom>
          <a:noFill/>
          <a:ln/>
        </p:spPr>
        <p:txBody>
          <a:bodyPr wrap="square" lIns="0" tIns="0" rIns="0" bIns="0" rtlCol="0" anchor="ctr"/>
          <a:lstStyle/>
          <a:p>
            <a:pPr indent="0" marL="0">
              <a:buNone/>
            </a:pPr>
            <a:r>
              <a:rPr lang="en-US" sz="1450" b="1" dirty="0">
                <a:solidFill>
                  <a:srgbClr val="1B5E82"/>
                </a:solidFill>
                <a:latin typeface="Aptos" pitchFamily="34" charset="0"/>
                <a:ea typeface="Aptos" pitchFamily="34" charset="-122"/>
                <a:cs typeface="Aptos" pitchFamily="34" charset="-120"/>
              </a:rPr>
              <a:t>Then: resize to the size it's shown (× 2), and check the file size.</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Images in HTML</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width and height · lazy loading · srcset · picture</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C:\Repos\2026-2027\WEBD1000\04_Images_for_the_Web\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656080"/>
            <a:ext cx="5852160" cy="35458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884680"/>
            <a:ext cx="5394960" cy="3088640"/>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Harbourside Fish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Chips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&lt;!-- width and height: the browser saves the right amount of</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space BEFORE the image downloads, so the page doesn't jump --&gt;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"samples/beach_800.jpg"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"800"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"458"</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Fresh haddock, hand-cut fries, and a view of the water.</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Scroll down to see our location.</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&lt;!-- Lots of space so the next image starts off screen --&gt;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style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"height: 1500px;"</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&amp;darr;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Keep scrolling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&amp;darr;</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&lt;!-- loading="lazy": don't download this until the user scrolls near it.</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Never lazy-load the first big image at the top of the page --&gt;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"samples/beach_400.jpg"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"400"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"229"</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loading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"lazy"</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"The beach a short walk from the restaurant"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Open DevTools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&amp;rarr;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Network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&amp;rarr;</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Img, reload, then scroll.</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Watch beach_400.jpg download only when you get near it.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04</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indent="0" marL="0">
              <a:buNone/>
            </a:pPr>
            <a:r>
              <a:rPr lang="en-US" sz="2600" dirty="0">
                <a:solidFill>
                  <a:srgbClr val="000000"/>
                </a:solidFill>
                <a:latin typeface="Aptos" pitchFamily="34" charset="0"/>
                <a:ea typeface="Aptos" pitchFamily="34" charset="-122"/>
                <a:cs typeface="Aptos" pitchFamily="34" charset="-120"/>
              </a:rPr>
              <a:t>width, height and loading="lazy"</a:t>
            </a:r>
            <a:endParaRPr lang="en-US" sz="2600" dirty="0"/>
          </a:p>
        </p:txBody>
      </p:sp>
      <p:sp>
        <p:nvSpPr>
          <p:cNvPr id="7" name="Text 4"/>
          <p:cNvSpPr txBox="1"/>
          <p:nvPr/>
        </p:nvSpPr>
        <p:spPr>
          <a:xfrm>
            <a:off x="6812280" y="1810512"/>
            <a:ext cx="4967935" cy="4453128"/>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width</a:t>
            </a:r>
            <a:pPr indent="0" marL="0">
              <a:buNone/>
            </a:pPr>
            <a:r>
              <a:rPr lang="en-US" sz="1400" dirty="0">
                <a:solidFill>
                  <a:srgbClr val="262626"/>
                </a:solidFill>
                <a:latin typeface="Aptos" pitchFamily="34" charset="0"/>
                <a:ea typeface="Aptos" pitchFamily="34" charset="-122"/>
                <a:cs typeface="Aptos" pitchFamily="34" charset="-120"/>
              </a:rPr>
              <a:t> and </a:t>
            </a:r>
            <a:pPr indent="0" marL="0">
              <a:buNone/>
            </a:pPr>
            <a:r>
              <a:rPr lang="en-US" sz="1400" dirty="0">
                <a:solidFill>
                  <a:srgbClr val="8A2B0B"/>
                </a:solidFill>
                <a:latin typeface="Consolas" pitchFamily="34" charset="0"/>
                <a:ea typeface="Consolas" pitchFamily="34" charset="-122"/>
                <a:cs typeface="Consolas" pitchFamily="34" charset="-120"/>
              </a:rPr>
              <a:t>height</a:t>
            </a:r>
            <a:pPr indent="0" marL="0">
              <a:buNone/>
            </a:pPr>
            <a:r>
              <a:rPr lang="en-US" sz="1400" dirty="0">
                <a:solidFill>
                  <a:srgbClr val="262626"/>
                </a:solidFill>
                <a:latin typeface="Aptos" pitchFamily="34" charset="0"/>
                <a:ea typeface="Aptos" pitchFamily="34" charset="-122"/>
                <a:cs typeface="Aptos" pitchFamily="34" charset="-120"/>
              </a:rPr>
              <a:t> tell the browser the image's shape </a:t>
            </a:r>
            <a:pPr indent="0" marL="0">
              <a:buNone/>
            </a:pPr>
            <a:r>
              <a:rPr lang="en-US" sz="1400" b="1" dirty="0">
                <a:solidFill>
                  <a:srgbClr val="262626"/>
                </a:solidFill>
                <a:latin typeface="Aptos" pitchFamily="34" charset="0"/>
                <a:ea typeface="Aptos" pitchFamily="34" charset="-122"/>
                <a:cs typeface="Aptos" pitchFamily="34" charset="-120"/>
              </a:rPr>
              <a:t>before</a:t>
            </a:r>
            <a:pPr indent="0" marL="0">
              <a:buNone/>
            </a:pPr>
            <a:r>
              <a:rPr lang="en-US" sz="1400" dirty="0">
                <a:solidFill>
                  <a:srgbClr val="262626"/>
                </a:solidFill>
                <a:latin typeface="Aptos" pitchFamily="34" charset="0"/>
                <a:ea typeface="Aptos" pitchFamily="34" charset="-122"/>
                <a:cs typeface="Aptos" pitchFamily="34" charset="-120"/>
              </a:rPr>
              <a:t> it downloads, so it saves the space and the text below doesn't jump around.</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They don't resize the file. A 4000 px photo with </a:t>
            </a:r>
            <a:pPr indent="0" marL="0">
              <a:buNone/>
            </a:pPr>
            <a:r>
              <a:rPr lang="en-US" sz="1400" dirty="0">
                <a:solidFill>
                  <a:srgbClr val="8A2B0B"/>
                </a:solidFill>
                <a:latin typeface="Consolas" pitchFamily="34" charset="0"/>
                <a:ea typeface="Consolas" pitchFamily="34" charset="-122"/>
                <a:cs typeface="Consolas" pitchFamily="34" charset="-120"/>
              </a:rPr>
              <a:t>width="800"</a:t>
            </a:r>
            <a:pPr indent="0" marL="0">
              <a:buNone/>
            </a:pPr>
            <a:r>
              <a:rPr lang="en-US" sz="1400" dirty="0">
                <a:solidFill>
                  <a:srgbClr val="262626"/>
                </a:solidFill>
                <a:latin typeface="Aptos" pitchFamily="34" charset="0"/>
                <a:ea typeface="Aptos" pitchFamily="34" charset="-122"/>
                <a:cs typeface="Aptos" pitchFamily="34" charset="-120"/>
              </a:rPr>
              <a:t> still downloads all 4000 px. Resize the file itself.</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loading="lazy"</a:t>
            </a:r>
            <a:pPr indent="0" marL="0">
              <a:buNone/>
            </a:pPr>
            <a:r>
              <a:rPr lang="en-US" sz="1400" dirty="0">
                <a:solidFill>
                  <a:srgbClr val="262626"/>
                </a:solidFill>
                <a:latin typeface="Aptos" pitchFamily="34" charset="0"/>
                <a:ea typeface="Aptos" pitchFamily="34" charset="-122"/>
                <a:cs typeface="Aptos" pitchFamily="34" charset="-120"/>
              </a:rPr>
              <a:t> waits until the user scrolls near the image before downloading it.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Don't lazy-load the first big image at the top. The user needs that one right away.</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04_width_height_lazy_example.html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C:\Repos\2026-2027\WEBD1000\04_Images_for_the_Web\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192876"/>
            <a:ext cx="5852160" cy="4472247"/>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421476"/>
            <a:ext cx="5394960" cy="4015047"/>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Let the Browser Choose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srcset: same image, different sizes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The browser picks the smallest file that still looks sharp</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on this screen. A phone downloads 13 KB instead of 134 KB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"samples/beach_800.jpg"</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srcset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"samples/beach_400.jpg 400w,</a:t>
            </a:r>
            <a:endParaRPr lang="en-US" sz="1050" dirty="0"/>
          </a:p>
          <a:p>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      samples/beach_800.jpg 800w,</a:t>
            </a:r>
            <a:endParaRPr lang="en-US" sz="1050" dirty="0"/>
          </a:p>
          <a:p>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      samples/beach_original.jpg 1118w"</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"800"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"458"</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picture: same image, different formats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h2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&lt;!-- The browser uses the FIRST source it understands.</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Old browsers skip them all and use the img --&gt;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picture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source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srcset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"samples/beach.avif"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type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"image/avif"</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source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srcset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"samples/beach.webp"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type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"image/webp"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img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src</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"samples/beach_q75.jpg"</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"800"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height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"458"</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alt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"Rocky beach with calm water and a tree-lined point"</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picture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Which file did your browser pick? Right-click each image </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&amp;rarr;</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Open image in new tab, and look at the address bar.</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p</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srcset and picture</a:t>
            </a:r>
            <a:endParaRPr lang="en-US" sz="3200" dirty="0"/>
          </a:p>
        </p:txBody>
      </p:sp>
      <p:sp>
        <p:nvSpPr>
          <p:cNvPr id="7" name="Text 4"/>
          <p:cNvSpPr txBox="1"/>
          <p:nvPr/>
        </p:nvSpPr>
        <p:spPr>
          <a:xfrm>
            <a:off x="6812280" y="1508760"/>
            <a:ext cx="4967935" cy="4754880"/>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srcset</a:t>
            </a:r>
            <a:pPr indent="0" marL="0">
              <a:buNone/>
            </a:pPr>
            <a:r>
              <a:rPr lang="en-US" sz="1400" dirty="0">
                <a:solidFill>
                  <a:srgbClr val="262626"/>
                </a:solidFill>
                <a:latin typeface="Aptos" pitchFamily="34" charset="0"/>
                <a:ea typeface="Aptos" pitchFamily="34" charset="-122"/>
                <a:cs typeface="Aptos" pitchFamily="34" charset="-120"/>
              </a:rPr>
              <a:t>: offer the </a:t>
            </a:r>
            <a:pPr indent="0" marL="0">
              <a:buNone/>
            </a:pPr>
            <a:r>
              <a:rPr lang="en-US" sz="1400" b="1" dirty="0">
                <a:solidFill>
                  <a:srgbClr val="262626"/>
                </a:solidFill>
                <a:latin typeface="Aptos" pitchFamily="34" charset="0"/>
                <a:ea typeface="Aptos" pitchFamily="34" charset="-122"/>
                <a:cs typeface="Aptos" pitchFamily="34" charset="-120"/>
              </a:rPr>
              <a:t>same image at several widths</a:t>
            </a:r>
            <a:pPr indent="0" marL="0">
              <a:buNone/>
            </a:pPr>
            <a:r>
              <a:rPr lang="en-US" sz="1400" dirty="0">
                <a:solidFill>
                  <a:srgbClr val="262626"/>
                </a:solidFill>
                <a:latin typeface="Aptos" pitchFamily="34" charset="0"/>
                <a:ea typeface="Aptos" pitchFamily="34" charset="-122"/>
                <a:cs typeface="Aptos" pitchFamily="34" charset="-120"/>
              </a:rPr>
              <a:t>. The browser picks the smallest one that will still look sharp on that screen.</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a:t>
            </a:r>
            <a:pPr indent="0" marL="0">
              <a:buNone/>
            </a:pPr>
            <a:r>
              <a:rPr lang="en-US" sz="1400" dirty="0">
                <a:solidFill>
                  <a:srgbClr val="8A2B0B"/>
                </a:solidFill>
                <a:latin typeface="Consolas" pitchFamily="34" charset="0"/>
                <a:ea typeface="Consolas" pitchFamily="34" charset="-122"/>
                <a:cs typeface="Consolas" pitchFamily="34" charset="-120"/>
              </a:rPr>
              <a:t>400w</a:t>
            </a:r>
            <a:pPr indent="0" marL="0">
              <a:buNone/>
            </a:pPr>
            <a:r>
              <a:rPr lang="en-US" sz="1400" dirty="0">
                <a:solidFill>
                  <a:srgbClr val="262626"/>
                </a:solidFill>
                <a:latin typeface="Aptos" pitchFamily="34" charset="0"/>
                <a:ea typeface="Aptos" pitchFamily="34" charset="-122"/>
                <a:cs typeface="Aptos" pitchFamily="34" charset="-120"/>
              </a:rPr>
              <a:t> / </a:t>
            </a:r>
            <a:pPr indent="0" marL="0">
              <a:buNone/>
            </a:pPr>
            <a:r>
              <a:rPr lang="en-US" sz="1400" dirty="0">
                <a:solidFill>
                  <a:srgbClr val="8A2B0B"/>
                </a:solidFill>
                <a:latin typeface="Consolas" pitchFamily="34" charset="0"/>
                <a:ea typeface="Consolas" pitchFamily="34" charset="-122"/>
                <a:cs typeface="Consolas" pitchFamily="34" charset="-120"/>
              </a:rPr>
              <a:t>800w</a:t>
            </a:r>
            <a:pPr indent="0" marL="0">
              <a:buNone/>
            </a:pPr>
            <a:r>
              <a:rPr lang="en-US" sz="1400" dirty="0">
                <a:solidFill>
                  <a:srgbClr val="262626"/>
                </a:solidFill>
                <a:latin typeface="Aptos" pitchFamily="34" charset="0"/>
                <a:ea typeface="Aptos" pitchFamily="34" charset="-122"/>
                <a:cs typeface="Aptos" pitchFamily="34" charset="-120"/>
              </a:rPr>
              <a:t> tell the browser how wide each file really is.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&lt;picture&gt;</a:t>
            </a:r>
            <a:pPr indent="0" marL="0">
              <a:buNone/>
            </a:pPr>
            <a:r>
              <a:rPr lang="en-US" sz="1400" dirty="0">
                <a:solidFill>
                  <a:srgbClr val="262626"/>
                </a:solidFill>
                <a:latin typeface="Aptos" pitchFamily="34" charset="0"/>
                <a:ea typeface="Aptos" pitchFamily="34" charset="-122"/>
                <a:cs typeface="Aptos" pitchFamily="34" charset="-120"/>
              </a:rPr>
              <a:t>: offer </a:t>
            </a:r>
            <a:pPr indent="0" marL="0">
              <a:buNone/>
            </a:pPr>
            <a:r>
              <a:rPr lang="en-US" sz="1400" b="1" dirty="0">
                <a:solidFill>
                  <a:srgbClr val="262626"/>
                </a:solidFill>
                <a:latin typeface="Aptos" pitchFamily="34" charset="0"/>
                <a:ea typeface="Aptos" pitchFamily="34" charset="-122"/>
                <a:cs typeface="Aptos" pitchFamily="34" charset="-120"/>
              </a:rPr>
              <a:t>different formats</a:t>
            </a:r>
            <a:pPr indent="0" marL="0">
              <a:buNone/>
            </a:pPr>
            <a:r>
              <a:rPr lang="en-US" sz="1400" dirty="0">
                <a:solidFill>
                  <a:srgbClr val="262626"/>
                </a:solidFill>
                <a:latin typeface="Aptos" pitchFamily="34" charset="0"/>
                <a:ea typeface="Aptos" pitchFamily="34" charset="-122"/>
                <a:cs typeface="Aptos" pitchFamily="34" charset="-120"/>
              </a:rPr>
              <a:t>. The browser uses the first one it supports; older browsers use the </a:t>
            </a:r>
            <a:pPr indent="0" marL="0">
              <a:buNone/>
            </a:pPr>
            <a:r>
              <a:rPr lang="en-US" sz="1400" dirty="0">
                <a:solidFill>
                  <a:srgbClr val="8A2B0B"/>
                </a:solidFill>
                <a:latin typeface="Consolas" pitchFamily="34" charset="0"/>
                <a:ea typeface="Consolas" pitchFamily="34" charset="-122"/>
                <a:cs typeface="Consolas" pitchFamily="34" charset="-120"/>
              </a:rPr>
              <a:t>&lt;img&gt;</a:t>
            </a:r>
            <a:pPr indent="0" marL="0">
              <a:buNone/>
            </a:pP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Alt goes on the </a:t>
            </a:r>
            <a:pPr indent="0" marL="0">
              <a:buNone/>
            </a:pPr>
            <a:r>
              <a:rPr lang="en-US" sz="1400" dirty="0">
                <a:solidFill>
                  <a:srgbClr val="8A2B0B"/>
                </a:solidFill>
                <a:latin typeface="Consolas" pitchFamily="34" charset="0"/>
                <a:ea typeface="Consolas" pitchFamily="34" charset="-122"/>
                <a:cs typeface="Consolas" pitchFamily="34" charset="-120"/>
              </a:rPr>
              <a:t>&lt;img&gt;</a:t>
            </a:r>
            <a:pPr indent="0" marL="0">
              <a:buNone/>
            </a:pPr>
            <a:r>
              <a:rPr lang="en-US" sz="1400" dirty="0">
                <a:solidFill>
                  <a:srgbClr val="262626"/>
                </a:solidFill>
                <a:latin typeface="Aptos" pitchFamily="34" charset="0"/>
                <a:ea typeface="Aptos" pitchFamily="34" charset="-122"/>
                <a:cs typeface="Aptos" pitchFamily="34" charset="-120"/>
              </a:rPr>
              <a:t>, once. It covers every version.</a:t>
            </a:r>
            <a:endParaRPr lang="en-US" sz="1400" dirty="0"/>
          </a:p>
        </p:txBody>
      </p:sp>
      <p:sp>
        <p:nvSpPr>
          <p:cNvPr id="8" name="Text 5"/>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05_srcset_picture_example.html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Lab 6: Put It on a Page (15 min)</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60120" y="1600200"/>
            <a:ext cx="420624" cy="420624"/>
          </a:xfrm>
          <a:prstGeom prst="ellipse">
            <a:avLst/>
          </a:prstGeom>
          <a:solidFill>
            <a:srgbClr val="E97132"/>
          </a:solidFill>
          <a:ln w="12700">
            <a:solidFill>
              <a:srgbClr val="E97132"/>
            </a:solidFill>
            <a:prstDash val="solid"/>
          </a:ln>
        </p:spPr>
      </p:sp>
      <p:sp>
        <p:nvSpPr>
          <p:cNvPr id="6" name="Text 3"/>
          <p:cNvSpPr txBox="1"/>
          <p:nvPr/>
        </p:nvSpPr>
        <p:spPr>
          <a:xfrm>
            <a:off x="960120" y="16002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7" name="Text 4"/>
          <p:cNvSpPr txBox="1"/>
          <p:nvPr/>
        </p:nvSpPr>
        <p:spPr>
          <a:xfrm>
            <a:off x="1554480" y="1581912"/>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image_lab.html in VS Code</a:t>
            </a:r>
            <a:endParaRPr lang="en-US" sz="1600" dirty="0"/>
          </a:p>
        </p:txBody>
      </p:sp>
      <p:sp>
        <p:nvSpPr>
          <p:cNvPr id="8" name="Text 5"/>
          <p:cNvSpPr txBox="1"/>
          <p:nvPr/>
        </p:nvSpPr>
        <p:spPr>
          <a:xfrm>
            <a:off x="1554480" y="1901952"/>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Your name in the &lt;title&gt; and &lt;h1&gt;. Finish the Lab 1 list and the table.</a:t>
            </a:r>
            <a:endParaRPr lang="en-US" sz="1350" dirty="0"/>
          </a:p>
        </p:txBody>
      </p:sp>
      <p:sp>
        <p:nvSpPr>
          <p:cNvPr id="9" name="Shape 6"/>
          <p:cNvSpPr/>
          <p:nvPr/>
        </p:nvSpPr>
        <p:spPr>
          <a:xfrm>
            <a:off x="960120" y="2496312"/>
            <a:ext cx="420624" cy="420624"/>
          </a:xfrm>
          <a:prstGeom prst="ellipse">
            <a:avLst/>
          </a:prstGeom>
          <a:solidFill>
            <a:srgbClr val="E97132"/>
          </a:solidFill>
          <a:ln w="12700">
            <a:solidFill>
              <a:srgbClr val="E97132"/>
            </a:solidFill>
            <a:prstDash val="solid"/>
          </a:ln>
        </p:spPr>
      </p:sp>
      <p:sp>
        <p:nvSpPr>
          <p:cNvPr id="10" name="Text 7"/>
          <p:cNvSpPr txBox="1"/>
          <p:nvPr/>
        </p:nvSpPr>
        <p:spPr>
          <a:xfrm>
            <a:off x="960120" y="2496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1" name="Text 8"/>
          <p:cNvSpPr txBox="1"/>
          <p:nvPr/>
        </p:nvSpPr>
        <p:spPr>
          <a:xfrm>
            <a:off x="1554480" y="2478024"/>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Fix the alt text</a:t>
            </a:r>
            <a:endParaRPr lang="en-US" sz="1600" dirty="0"/>
          </a:p>
        </p:txBody>
      </p:sp>
      <p:sp>
        <p:nvSpPr>
          <p:cNvPr id="12" name="Text 9"/>
          <p:cNvSpPr txBox="1"/>
          <p:nvPr/>
        </p:nvSpPr>
        <p:spPr>
          <a:xfrm>
            <a:off x="1554480" y="2798064"/>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Replace each </a:t>
            </a:r>
            <a:pPr indent="0" marL="0">
              <a:buNone/>
            </a:pPr>
            <a:r>
              <a:rPr lang="en-US" sz="1350" dirty="0">
                <a:solidFill>
                  <a:srgbClr val="8A2B0B"/>
                </a:solidFill>
                <a:latin typeface="Consolas" pitchFamily="34" charset="0"/>
                <a:ea typeface="Consolas" pitchFamily="34" charset="-122"/>
                <a:cs typeface="Consolas" pitchFamily="34" charset="-120"/>
              </a:rPr>
              <a:t>TODO</a:t>
            </a:r>
            <a:pPr indent="0" marL="0">
              <a:buNone/>
            </a:pPr>
            <a:r>
              <a:rPr lang="en-US" sz="1350" dirty="0">
                <a:solidFill>
                  <a:srgbClr val="262626"/>
                </a:solidFill>
                <a:latin typeface="Aptos" pitchFamily="34" charset="0"/>
                <a:ea typeface="Aptos" pitchFamily="34" charset="-122"/>
                <a:cs typeface="Aptos" pitchFamily="34" charset="-120"/>
              </a:rPr>
              <a:t> with a real description of your photo.</a:t>
            </a:r>
            <a:endParaRPr lang="en-US" sz="1350" dirty="0"/>
          </a:p>
        </p:txBody>
      </p:sp>
      <p:sp>
        <p:nvSpPr>
          <p:cNvPr id="13" name="Shape 10"/>
          <p:cNvSpPr/>
          <p:nvPr/>
        </p:nvSpPr>
        <p:spPr>
          <a:xfrm>
            <a:off x="960120" y="3392424"/>
            <a:ext cx="420624" cy="420624"/>
          </a:xfrm>
          <a:prstGeom prst="ellipse">
            <a:avLst/>
          </a:prstGeom>
          <a:solidFill>
            <a:srgbClr val="E97132"/>
          </a:solidFill>
          <a:ln w="12700">
            <a:solidFill>
              <a:srgbClr val="E97132"/>
            </a:solidFill>
            <a:prstDash val="solid"/>
          </a:ln>
        </p:spPr>
      </p:sp>
      <p:sp>
        <p:nvSpPr>
          <p:cNvPr id="14" name="Text 11"/>
          <p:cNvSpPr txBox="1"/>
          <p:nvPr/>
        </p:nvSpPr>
        <p:spPr>
          <a:xfrm>
            <a:off x="960120" y="339242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15" name="Text 12"/>
          <p:cNvSpPr txBox="1"/>
          <p:nvPr/>
        </p:nvSpPr>
        <p:spPr>
          <a:xfrm>
            <a:off x="1554480" y="3374136"/>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Open it with Live Server</a:t>
            </a:r>
            <a:endParaRPr lang="en-US" sz="1600" dirty="0"/>
          </a:p>
        </p:txBody>
      </p:sp>
      <p:sp>
        <p:nvSpPr>
          <p:cNvPr id="16" name="Text 13"/>
          <p:cNvSpPr txBox="1"/>
          <p:nvPr/>
        </p:nvSpPr>
        <p:spPr>
          <a:xfrm>
            <a:off x="1554480" y="3694176"/>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Right-click → Open with Live Server. All four images are shown 600 px wide.</a:t>
            </a:r>
            <a:endParaRPr lang="en-US" sz="1350" dirty="0"/>
          </a:p>
        </p:txBody>
      </p:sp>
      <p:sp>
        <p:nvSpPr>
          <p:cNvPr id="17" name="Shape 14"/>
          <p:cNvSpPr/>
          <p:nvPr/>
        </p:nvSpPr>
        <p:spPr>
          <a:xfrm>
            <a:off x="960120" y="4288536"/>
            <a:ext cx="420624" cy="420624"/>
          </a:xfrm>
          <a:prstGeom prst="ellipse">
            <a:avLst/>
          </a:prstGeom>
          <a:solidFill>
            <a:srgbClr val="E97132"/>
          </a:solidFill>
          <a:ln w="12700">
            <a:solidFill>
              <a:srgbClr val="E97132"/>
            </a:solidFill>
            <a:prstDash val="solid"/>
          </a:ln>
        </p:spPr>
      </p:sp>
      <p:sp>
        <p:nvSpPr>
          <p:cNvPr id="18" name="Text 15"/>
          <p:cNvSpPr txBox="1"/>
          <p:nvPr/>
        </p:nvSpPr>
        <p:spPr>
          <a:xfrm>
            <a:off x="960120" y="42885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4</a:t>
            </a:r>
            <a:endParaRPr lang="en-US" sz="1800" dirty="0"/>
          </a:p>
        </p:txBody>
      </p:sp>
      <p:sp>
        <p:nvSpPr>
          <p:cNvPr id="19" name="Text 16"/>
          <p:cNvSpPr txBox="1"/>
          <p:nvPr/>
        </p:nvSpPr>
        <p:spPr>
          <a:xfrm>
            <a:off x="1554480" y="4270248"/>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DevTools → Network → Img → reload</a:t>
            </a:r>
            <a:endParaRPr lang="en-US" sz="1600" dirty="0"/>
          </a:p>
        </p:txBody>
      </p:sp>
      <p:sp>
        <p:nvSpPr>
          <p:cNvPr id="20" name="Text 17"/>
          <p:cNvSpPr txBox="1"/>
          <p:nvPr/>
        </p:nvSpPr>
        <p:spPr>
          <a:xfrm>
            <a:off x="1554480" y="4590288"/>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Ctrl + Shift + I. Compare the </a:t>
            </a:r>
            <a:pPr indent="0" marL="0">
              <a:buNone/>
            </a:pPr>
            <a:r>
              <a:rPr lang="en-US" sz="1350" b="1" dirty="0">
                <a:solidFill>
                  <a:srgbClr val="262626"/>
                </a:solidFill>
                <a:latin typeface="Aptos" pitchFamily="34" charset="0"/>
                <a:ea typeface="Aptos" pitchFamily="34" charset="-122"/>
                <a:cs typeface="Aptos" pitchFamily="34" charset="-120"/>
              </a:rPr>
              <a:t>Size</a:t>
            </a:r>
            <a:pPr indent="0" marL="0">
              <a:buNone/>
            </a:pPr>
            <a:r>
              <a:rPr lang="en-US" sz="1350" dirty="0">
                <a:solidFill>
                  <a:srgbClr val="262626"/>
                </a:solidFill>
                <a:latin typeface="Aptos" pitchFamily="34" charset="0"/>
                <a:ea typeface="Aptos" pitchFamily="34" charset="-122"/>
                <a:cs typeface="Aptos" pitchFamily="34" charset="-120"/>
              </a:rPr>
              <a:t> column for each image. Try throttling to </a:t>
            </a:r>
            <a:pPr indent="0" marL="0">
              <a:buNone/>
            </a:pPr>
            <a:r>
              <a:rPr lang="en-US" sz="1350" b="1" dirty="0">
                <a:solidFill>
                  <a:srgbClr val="262626"/>
                </a:solidFill>
                <a:latin typeface="Aptos" pitchFamily="34" charset="0"/>
                <a:ea typeface="Aptos" pitchFamily="34" charset="-122"/>
                <a:cs typeface="Aptos" pitchFamily="34" charset="-120"/>
              </a:rPr>
              <a:t>Slow 4G</a:t>
            </a:r>
            <a:pPr indent="0" marL="0">
              <a:buNone/>
            </a:pP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21" name="Shape 18"/>
          <p:cNvSpPr/>
          <p:nvPr/>
        </p:nvSpPr>
        <p:spPr>
          <a:xfrm>
            <a:off x="960120" y="5184648"/>
            <a:ext cx="420624" cy="420624"/>
          </a:xfrm>
          <a:prstGeom prst="ellipse">
            <a:avLst/>
          </a:prstGeom>
          <a:solidFill>
            <a:srgbClr val="E97132"/>
          </a:solidFill>
          <a:ln w="12700">
            <a:solidFill>
              <a:srgbClr val="E97132"/>
            </a:solidFill>
            <a:prstDash val="solid"/>
          </a:ln>
        </p:spPr>
      </p:sp>
      <p:sp>
        <p:nvSpPr>
          <p:cNvPr id="22" name="Text 19"/>
          <p:cNvSpPr txBox="1"/>
          <p:nvPr/>
        </p:nvSpPr>
        <p:spPr>
          <a:xfrm>
            <a:off x="960120" y="51846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Aptos" pitchFamily="34" charset="0"/>
                <a:ea typeface="Aptos" pitchFamily="34" charset="-122"/>
                <a:cs typeface="Aptos" pitchFamily="34" charset="-120"/>
              </a:rPr>
              <a:t>5</a:t>
            </a:r>
            <a:endParaRPr lang="en-US" sz="1800" dirty="0"/>
          </a:p>
        </p:txBody>
      </p:sp>
      <p:sp>
        <p:nvSpPr>
          <p:cNvPr id="23" name="Text 20"/>
          <p:cNvSpPr txBox="1"/>
          <p:nvPr/>
        </p:nvSpPr>
        <p:spPr>
          <a:xfrm>
            <a:off x="1554480" y="5166360"/>
            <a:ext cx="5852160" cy="320040"/>
          </a:xfrm>
          <a:prstGeom prst="rect">
            <a:avLst/>
          </a:prstGeom>
          <a:noFill/>
          <a:ln/>
        </p:spPr>
        <p:txBody>
          <a:bodyPr wrap="square" lIns="0" tIns="0" rIns="0" bIns="0" rtlCol="0" anchor="ctr"/>
          <a:lstStyle/>
          <a:p>
            <a:pPr indent="0" marL="0">
              <a:buNone/>
            </a:pPr>
            <a:r>
              <a:rPr lang="en-US" sz="1600" b="1" dirty="0">
                <a:solidFill>
                  <a:srgbClr val="000000"/>
                </a:solidFill>
                <a:latin typeface="Aptos" pitchFamily="34" charset="0"/>
                <a:ea typeface="Aptos" pitchFamily="34" charset="-122"/>
                <a:cs typeface="Aptos" pitchFamily="34" charset="-120"/>
              </a:rPr>
              <a:t>Fill in "What I Noticed" and submit</a:t>
            </a:r>
            <a:endParaRPr lang="en-US" sz="1600" dirty="0"/>
          </a:p>
        </p:txBody>
      </p:sp>
      <p:sp>
        <p:nvSpPr>
          <p:cNvPr id="24" name="Text 21"/>
          <p:cNvSpPr txBox="1"/>
          <p:nvPr/>
        </p:nvSpPr>
        <p:spPr>
          <a:xfrm>
            <a:off x="1554480" y="5486400"/>
            <a:ext cx="5852160" cy="548640"/>
          </a:xfrm>
          <a:prstGeom prst="rect">
            <a:avLst/>
          </a:prstGeom>
          <a:noFill/>
          <a:ln/>
        </p:spPr>
        <p:txBody>
          <a:bodyPr wrap="square" lIns="0" tIns="0" rIns="0" bIns="0" rtlCol="0" anchor="t"/>
          <a:lstStyle/>
          <a:p>
            <a:pPr indent="0" marL="0">
              <a:buNone/>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Screenshot the page (and the Network tab), then upload to Brightspace for participation.</a:t>
            </a:r>
            <a:endParaRPr lang="en-US" sz="1350" dirty="0"/>
          </a:p>
        </p:txBody>
      </p:sp>
      <p:sp>
        <p:nvSpPr>
          <p:cNvPr id="25" name="Shape 22"/>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8229600" y="155448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Aptos" pitchFamily="34" charset="0"/>
                <a:ea typeface="Aptos" pitchFamily="34" charset="-122"/>
                <a:cs typeface="Aptos" pitchFamily="34" charset="-120"/>
              </a:rPr>
              <a:t>Look for</a:t>
            </a:r>
            <a:endParaRPr lang="en-US" sz="1800" dirty="0"/>
          </a:p>
        </p:txBody>
      </p:sp>
      <p:sp>
        <p:nvSpPr>
          <p:cNvPr id="27" name="Text 24"/>
          <p:cNvSpPr txBox="1"/>
          <p:nvPr/>
        </p:nvSpPr>
        <p:spPr>
          <a:xfrm>
            <a:off x="8229600" y="2057400"/>
            <a:ext cx="3108960" cy="4114800"/>
          </a:xfrm>
          <a:prstGeom prst="rect">
            <a:avLst/>
          </a:prstGeom>
          <a:noFill/>
          <a:ln/>
        </p:spPr>
        <p:txBody>
          <a:bodyPr wrap="square" lIns="0" tIns="0" rIns="0" bIns="0" rtlCol="0" anchor="t"/>
          <a:lstStyle/>
          <a:p>
            <a:pPr marL="342900" indent="-342900">
              <a:buSzPct val="100000"/>
              <a:buChar char="•"/>
            </a:pPr>
            <a:r>
              <a:rPr lang="en-US" sz="1350" dirty="0">
                <a:solidFill>
                  <a:srgbClr val="D9D9D9"/>
                </a:solidFill>
                <a:latin typeface="Aptos" pitchFamily="34" charset="0"/>
                <a:ea typeface="Aptos" pitchFamily="34" charset="-122"/>
                <a:cs typeface="Aptos" pitchFamily="34" charset="-120"/>
              </a:rPr>
              <a:t>All four look the same size on screen. Are they the same download size?</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On Slow 4G, which image appears last?</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Which one would you actually use?</a:t>
            </a:r>
            <a:endParaRPr lang="en-US" sz="1350" dirty="0"/>
          </a:p>
          <a:p>
            <a:pPr indent="0" marL="0">
              <a:spcBef>
                <a:spcPts val="700"/>
              </a:spcBef>
              <a:buNone/>
            </a:pPr>
            <a:endParaRPr lang="en-US" sz="1350" dirty="0"/>
          </a:p>
          <a:p>
            <a:pPr indent="0" marL="0">
              <a:spcBef>
                <a:spcPts val="700"/>
              </a:spcBef>
              <a:buNone/>
            </a:pPr>
            <a:r>
              <a:rPr lang="en-US" sz="1350" b="1" dirty="0">
                <a:solidFill>
                  <a:srgbClr val="F2C6AC"/>
                </a:solidFill>
                <a:latin typeface="Aptos" pitchFamily="34" charset="0"/>
                <a:ea typeface="Aptos" pitchFamily="34" charset="-122"/>
                <a:cs typeface="Aptos" pitchFamily="34" charset="-120"/>
              </a:rPr>
              <a:t>Bonus</a:t>
            </a:r>
            <a:endParaRPr lang="en-US" sz="1350" dirty="0"/>
          </a:p>
          <a:p>
            <a:pPr marL="342900" indent="-342900">
              <a:spcBef>
                <a:spcPts val="700"/>
              </a:spcBef>
              <a:buSzPct val="100000"/>
              <a:buChar char="•"/>
            </a:pPr>
            <a:r>
              <a:rPr lang="en-US" sz="1350" dirty="0">
                <a:solidFill>
                  <a:srgbClr val="D9D9D9"/>
                </a:solidFill>
                <a:latin typeface="Aptos" pitchFamily="34" charset="0"/>
                <a:ea typeface="Aptos" pitchFamily="34" charset="-122"/>
                <a:cs typeface="Aptos" pitchFamily="34" charset="-120"/>
              </a:rPr>
              <a:t>Add loading="lazy" to the last two images, and width/height to all of them. Reload and watch the Network tab.</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949440" y="822960"/>
            <a:ext cx="4937760" cy="4937760"/>
          </a:xfrm>
          <a:prstGeom prst="ellipse">
            <a:avLst/>
          </a:prstGeom>
          <a:ln w="355600">
            <a:solidFill>
              <a:srgbClr val="B7CFC6"/>
            </a:solidFill>
            <a:prstDash val="solid"/>
          </a:ln>
        </p:spPr>
      </p:sp>
      <p:sp>
        <p:nvSpPr>
          <p:cNvPr id="3" name="Text 1"/>
          <p:cNvSpPr txBox="1"/>
          <p:nvPr/>
        </p:nvSpPr>
        <p:spPr>
          <a:xfrm>
            <a:off x="731520" y="731520"/>
            <a:ext cx="6400800" cy="822960"/>
          </a:xfrm>
          <a:prstGeom prst="rect">
            <a:avLst/>
          </a:prstGeom>
          <a:noFill/>
          <a:ln/>
        </p:spPr>
        <p:txBody>
          <a:bodyPr wrap="square" lIns="0" tIns="0" rIns="0" bIns="0" rtlCol="0" anchor="ctr"/>
          <a:lstStyle/>
          <a:p>
            <a:pPr indent="0" marL="0">
              <a:buNone/>
            </a:pPr>
            <a:r>
              <a:rPr lang="en-US" sz="4000" dirty="0">
                <a:solidFill>
                  <a:srgbClr val="000000"/>
                </a:solidFill>
                <a:latin typeface="Aptos" pitchFamily="34" charset="0"/>
                <a:ea typeface="Aptos" pitchFamily="34" charset="-122"/>
                <a:cs typeface="Aptos" pitchFamily="34" charset="-120"/>
              </a:rPr>
              <a:t>How did you make out?</a:t>
            </a:r>
            <a:endParaRPr lang="en-US" sz="4000" dirty="0"/>
          </a:p>
        </p:txBody>
      </p:sp>
      <p:sp>
        <p:nvSpPr>
          <p:cNvPr id="4" name="Text 2"/>
          <p:cNvSpPr txBox="1"/>
          <p:nvPr/>
        </p:nvSpPr>
        <p:spPr>
          <a:xfrm>
            <a:off x="731520" y="1828800"/>
            <a:ext cx="5943600" cy="4114800"/>
          </a:xfrm>
          <a:prstGeom prst="rect">
            <a:avLst/>
          </a:prstGeom>
          <a:noFill/>
          <a:ln/>
        </p:spPr>
        <p:txBody>
          <a:bodyPr wrap="square" lIns="0" tIns="0" rIns="0" bIns="0" rtlCol="0" anchor="t"/>
          <a:lstStyle/>
          <a:p>
            <a:pPr marL="342900" indent="-342900">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What was the </a:t>
            </a:r>
            <a:pPr indent="0" marL="0">
              <a:buNone/>
            </a:pPr>
            <a:r>
              <a:rPr lang="en-US" sz="2000" b="1" dirty="0">
                <a:solidFill>
                  <a:srgbClr val="262626"/>
                </a:solidFill>
                <a:latin typeface="Aptos" pitchFamily="34" charset="0"/>
                <a:ea typeface="Aptos" pitchFamily="34" charset="-122"/>
                <a:cs typeface="Aptos" pitchFamily="34" charset="-120"/>
              </a:rPr>
              <a:t>biggest saving</a:t>
            </a:r>
            <a:pPr indent="0" marL="0">
              <a:buNone/>
            </a:pPr>
            <a:r>
              <a:rPr lang="en-US" sz="2000" dirty="0">
                <a:solidFill>
                  <a:srgbClr val="262626"/>
                </a:solidFill>
                <a:latin typeface="Aptos" pitchFamily="34" charset="0"/>
                <a:ea typeface="Aptos" pitchFamily="34" charset="-122"/>
                <a:cs typeface="Aptos" pitchFamily="34" charset="-120"/>
              </a:rPr>
              <a:t>: format, quality, or size?</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What was the lowest JPG quality that still looked OK on </a:t>
            </a:r>
            <a:pPr indent="0" marL="0">
              <a:buNone/>
            </a:pPr>
            <a:r>
              <a:rPr lang="en-US" sz="2000" i="1" dirty="0">
                <a:solidFill>
                  <a:srgbClr val="262626"/>
                </a:solidFill>
                <a:latin typeface="Aptos" pitchFamily="34" charset="0"/>
                <a:ea typeface="Aptos" pitchFamily="34" charset="-122"/>
                <a:cs typeface="Aptos" pitchFamily="34" charset="-120"/>
              </a:rPr>
              <a:t>your</a:t>
            </a:r>
            <a:pPr indent="0" marL="0">
              <a:buNone/>
            </a:pPr>
            <a:r>
              <a:rPr lang="en-US" sz="2000" dirty="0">
                <a:solidFill>
                  <a:srgbClr val="262626"/>
                </a:solidFill>
                <a:latin typeface="Aptos" pitchFamily="34" charset="0"/>
                <a:ea typeface="Aptos" pitchFamily="34" charset="-122"/>
                <a:cs typeface="Aptos" pitchFamily="34" charset="-120"/>
              </a:rPr>
              <a:t> photo?</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Why might the same quality number look fine on one photo and bad on another?</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a:t>
            </a:r>
            <a:pPr indent="0" marL="0">
              <a:buNone/>
            </a:pPr>
            <a:r>
              <a:rPr lang="en-US" sz="2000" dirty="0">
                <a:solidFill>
                  <a:srgbClr val="262626"/>
                </a:solidFill>
                <a:latin typeface="Aptos" pitchFamily="34" charset="0"/>
                <a:ea typeface="Aptos" pitchFamily="34" charset="-122"/>
                <a:cs typeface="Aptos" pitchFamily="34" charset="-120"/>
              </a:rPr>
              <a:t>When would you choose PNG over JPG? SVG over PNG?</a:t>
            </a:r>
            <a:endParaRPr lang="en-US" sz="2000" dirty="0"/>
          </a:p>
        </p:txBody>
      </p:sp>
      <p:sp>
        <p:nvSpPr>
          <p:cNvPr id="5" name="Text 3"/>
          <p:cNvSpPr txBox="1"/>
          <p:nvPr/>
        </p:nvSpPr>
        <p:spPr>
          <a:xfrm>
            <a:off x="7680960" y="2651760"/>
            <a:ext cx="3474720" cy="1280160"/>
          </a:xfrm>
          <a:prstGeom prst="rect">
            <a:avLst/>
          </a:prstGeom>
          <a:noFill/>
          <a:ln/>
        </p:spPr>
        <p:txBody>
          <a:bodyPr wrap="square" lIns="0" tIns="0" rIns="0" bIns="0" rtlCol="0" anchor="ctr"/>
          <a:lstStyle/>
          <a:p>
            <a:pPr algn="ctr" indent="0" marL="0">
              <a:buNone/>
            </a:pPr>
            <a:r>
              <a:rPr lang="en-US" sz="2200" b="1" dirty="0">
                <a:solidFill>
                  <a:srgbClr val="1B5E82"/>
                </a:solidFill>
                <a:latin typeface="Aptos" pitchFamily="34" charset="0"/>
                <a:ea typeface="Aptos" pitchFamily="34" charset="-122"/>
                <a:cs typeface="Aptos" pitchFamily="34" charset="-120"/>
              </a:rPr>
              <a:t>Smallest file that still looks good</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Web Image Checklist</a:t>
            </a:r>
            <a:endParaRPr lang="en-US" sz="2800" dirty="0"/>
          </a:p>
        </p:txBody>
      </p:sp>
      <p:sp>
        <p:nvSpPr>
          <p:cNvPr id="7" name="Shape 4"/>
          <p:cNvSpPr/>
          <p:nvPr/>
        </p:nvSpPr>
        <p:spPr>
          <a:xfrm>
            <a:off x="4754880" y="1828800"/>
            <a:ext cx="292608" cy="292608"/>
          </a:xfrm>
          <a:prstGeom prst="roundRect">
            <a:avLst>
              <a:gd name="adj" fmla="val 15625"/>
            </a:avLst>
          </a:prstGeom>
          <a:solidFill>
            <a:srgbClr val="FFFFFF"/>
          </a:solidFill>
          <a:ln w="19050">
            <a:solidFill>
              <a:srgbClr val="1B5E82"/>
            </a:solidFill>
            <a:prstDash val="solid"/>
          </a:ln>
        </p:spPr>
      </p:sp>
      <p:sp>
        <p:nvSpPr>
          <p:cNvPr id="8" name="Text 5"/>
          <p:cNvSpPr txBox="1"/>
          <p:nvPr/>
        </p:nvSpPr>
        <p:spPr>
          <a:xfrm>
            <a:off x="4754880" y="182880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9" name="Text 6"/>
          <p:cNvSpPr txBox="1"/>
          <p:nvPr/>
        </p:nvSpPr>
        <p:spPr>
          <a:xfrm>
            <a:off x="5212080" y="178308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Keep the original. Always export </a:t>
            </a:r>
            <a:pPr indent="0" marL="0">
              <a:buNone/>
            </a:pPr>
            <a:r>
              <a:rPr lang="en-US" sz="1500" b="1" dirty="0">
                <a:solidFill>
                  <a:srgbClr val="262626"/>
                </a:solidFill>
                <a:latin typeface="Aptos" pitchFamily="34" charset="0"/>
                <a:ea typeface="Aptos" pitchFamily="34" charset="-122"/>
                <a:cs typeface="Aptos" pitchFamily="34" charset="-120"/>
              </a:rPr>
              <a:t>copies</a:t>
            </a:r>
            <a:pPr indent="0" marL="0">
              <a:buNone/>
            </a:pPr>
            <a:r>
              <a:rPr lang="en-US" sz="1500" dirty="0">
                <a:solidFill>
                  <a:srgbClr val="262626"/>
                </a:solidFill>
                <a:latin typeface="Aptos" pitchFamily="34" charset="0"/>
                <a:ea typeface="Aptos" pitchFamily="34" charset="-122"/>
                <a:cs typeface="Aptos" pitchFamily="34" charset="-120"/>
              </a:rPr>
              <a:t>.</a:t>
            </a:r>
            <a:endParaRPr lang="en-US" sz="1500" dirty="0"/>
          </a:p>
        </p:txBody>
      </p:sp>
      <p:sp>
        <p:nvSpPr>
          <p:cNvPr id="10" name="Shape 7"/>
          <p:cNvSpPr/>
          <p:nvPr/>
        </p:nvSpPr>
        <p:spPr>
          <a:xfrm>
            <a:off x="4754880" y="2468880"/>
            <a:ext cx="292608" cy="292608"/>
          </a:xfrm>
          <a:prstGeom prst="roundRect">
            <a:avLst>
              <a:gd name="adj" fmla="val 15625"/>
            </a:avLst>
          </a:prstGeom>
          <a:solidFill>
            <a:srgbClr val="FFFFFF"/>
          </a:solidFill>
          <a:ln w="19050">
            <a:solidFill>
              <a:srgbClr val="1B5E82"/>
            </a:solidFill>
            <a:prstDash val="solid"/>
          </a:ln>
        </p:spPr>
      </p:sp>
      <p:sp>
        <p:nvSpPr>
          <p:cNvPr id="11" name="Text 8"/>
          <p:cNvSpPr txBox="1"/>
          <p:nvPr/>
        </p:nvSpPr>
        <p:spPr>
          <a:xfrm>
            <a:off x="4754880" y="246888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2" name="Text 9"/>
          <p:cNvSpPr txBox="1"/>
          <p:nvPr/>
        </p:nvSpPr>
        <p:spPr>
          <a:xfrm>
            <a:off x="5212080" y="242316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Right </a:t>
            </a:r>
            <a:pPr indent="0" marL="0">
              <a:buNone/>
            </a:pPr>
            <a:r>
              <a:rPr lang="en-US" sz="1500" b="1" dirty="0">
                <a:solidFill>
                  <a:srgbClr val="262626"/>
                </a:solidFill>
                <a:latin typeface="Aptos" pitchFamily="34" charset="0"/>
                <a:ea typeface="Aptos" pitchFamily="34" charset="-122"/>
                <a:cs typeface="Aptos" pitchFamily="34" charset="-120"/>
              </a:rPr>
              <a:t>format</a:t>
            </a:r>
            <a:pPr indent="0" marL="0">
              <a:buNone/>
            </a:pPr>
            <a:r>
              <a:rPr lang="en-US" sz="1500" dirty="0">
                <a:solidFill>
                  <a:srgbClr val="262626"/>
                </a:solidFill>
                <a:latin typeface="Aptos" pitchFamily="34" charset="0"/>
                <a:ea typeface="Aptos" pitchFamily="34" charset="-122"/>
                <a:cs typeface="Aptos" pitchFamily="34" charset="-120"/>
              </a:rPr>
              <a:t>: photo → JPG / WebP · transparency → PNG / WebP · logo → SVG.</a:t>
            </a:r>
            <a:endParaRPr lang="en-US" sz="1500" dirty="0"/>
          </a:p>
        </p:txBody>
      </p:sp>
      <p:sp>
        <p:nvSpPr>
          <p:cNvPr id="13" name="Shape 10"/>
          <p:cNvSpPr/>
          <p:nvPr/>
        </p:nvSpPr>
        <p:spPr>
          <a:xfrm>
            <a:off x="4754880" y="3108960"/>
            <a:ext cx="292608" cy="292608"/>
          </a:xfrm>
          <a:prstGeom prst="roundRect">
            <a:avLst>
              <a:gd name="adj" fmla="val 15625"/>
            </a:avLst>
          </a:prstGeom>
          <a:solidFill>
            <a:srgbClr val="FFFFFF"/>
          </a:solidFill>
          <a:ln w="19050">
            <a:solidFill>
              <a:srgbClr val="1B5E82"/>
            </a:solidFill>
            <a:prstDash val="solid"/>
          </a:ln>
        </p:spPr>
      </p:sp>
      <p:sp>
        <p:nvSpPr>
          <p:cNvPr id="14" name="Text 11"/>
          <p:cNvSpPr txBox="1"/>
          <p:nvPr/>
        </p:nvSpPr>
        <p:spPr>
          <a:xfrm>
            <a:off x="4754880" y="310896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5" name="Text 12"/>
          <p:cNvSpPr txBox="1"/>
          <p:nvPr/>
        </p:nvSpPr>
        <p:spPr>
          <a:xfrm>
            <a:off x="5212080" y="306324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Right </a:t>
            </a:r>
            <a:pPr indent="0" marL="0">
              <a:buNone/>
            </a:pPr>
            <a:r>
              <a:rPr lang="en-US" sz="1500" b="1" dirty="0">
                <a:solidFill>
                  <a:srgbClr val="262626"/>
                </a:solidFill>
                <a:latin typeface="Aptos" pitchFamily="34" charset="0"/>
                <a:ea typeface="Aptos" pitchFamily="34" charset="-122"/>
                <a:cs typeface="Aptos" pitchFamily="34" charset="-120"/>
              </a:rPr>
              <a:t>size</a:t>
            </a:r>
            <a:pPr indent="0" marL="0">
              <a:buNone/>
            </a:pPr>
            <a:r>
              <a:rPr lang="en-US" sz="1500" dirty="0">
                <a:solidFill>
                  <a:srgbClr val="262626"/>
                </a:solidFill>
                <a:latin typeface="Aptos" pitchFamily="34" charset="0"/>
                <a:ea typeface="Aptos" pitchFamily="34" charset="-122"/>
                <a:cs typeface="Aptos" pitchFamily="34" charset="-120"/>
              </a:rPr>
              <a:t>: the width it's shown at × 2, no bigger.</a:t>
            </a:r>
            <a:endParaRPr lang="en-US" sz="1500" dirty="0"/>
          </a:p>
        </p:txBody>
      </p:sp>
      <p:sp>
        <p:nvSpPr>
          <p:cNvPr id="16" name="Shape 13"/>
          <p:cNvSpPr/>
          <p:nvPr/>
        </p:nvSpPr>
        <p:spPr>
          <a:xfrm>
            <a:off x="4754880" y="3749040"/>
            <a:ext cx="292608" cy="292608"/>
          </a:xfrm>
          <a:prstGeom prst="roundRect">
            <a:avLst>
              <a:gd name="adj" fmla="val 15625"/>
            </a:avLst>
          </a:prstGeom>
          <a:solidFill>
            <a:srgbClr val="FFFFFF"/>
          </a:solidFill>
          <a:ln w="19050">
            <a:solidFill>
              <a:srgbClr val="1B5E82"/>
            </a:solidFill>
            <a:prstDash val="solid"/>
          </a:ln>
        </p:spPr>
      </p:sp>
      <p:sp>
        <p:nvSpPr>
          <p:cNvPr id="17" name="Text 14"/>
          <p:cNvSpPr txBox="1"/>
          <p:nvPr/>
        </p:nvSpPr>
        <p:spPr>
          <a:xfrm>
            <a:off x="4754880" y="374904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18" name="Text 15"/>
          <p:cNvSpPr txBox="1"/>
          <p:nvPr/>
        </p:nvSpPr>
        <p:spPr>
          <a:xfrm>
            <a:off x="5212080" y="370332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Right </a:t>
            </a:r>
            <a:pPr indent="0" marL="0">
              <a:buNone/>
            </a:pPr>
            <a:r>
              <a:rPr lang="en-US" sz="1500" b="1" dirty="0">
                <a:solidFill>
                  <a:srgbClr val="262626"/>
                </a:solidFill>
                <a:latin typeface="Aptos" pitchFamily="34" charset="0"/>
                <a:ea typeface="Aptos" pitchFamily="34" charset="-122"/>
                <a:cs typeface="Aptos" pitchFamily="34" charset="-120"/>
              </a:rPr>
              <a:t>quality</a:t>
            </a:r>
            <a:pPr indent="0" marL="0">
              <a:buNone/>
            </a:pPr>
            <a:r>
              <a:rPr lang="en-US" sz="1500" dirty="0">
                <a:solidFill>
                  <a:srgbClr val="262626"/>
                </a:solidFill>
                <a:latin typeface="Aptos" pitchFamily="34" charset="0"/>
                <a:ea typeface="Aptos" pitchFamily="34" charset="-122"/>
                <a:cs typeface="Aptos" pitchFamily="34" charset="-120"/>
              </a:rPr>
              <a:t>: 60–80 for photos. Zoom in and check.</a:t>
            </a:r>
            <a:endParaRPr lang="en-US" sz="1500" dirty="0"/>
          </a:p>
        </p:txBody>
      </p:sp>
      <p:sp>
        <p:nvSpPr>
          <p:cNvPr id="19" name="Shape 16"/>
          <p:cNvSpPr/>
          <p:nvPr/>
        </p:nvSpPr>
        <p:spPr>
          <a:xfrm>
            <a:off x="4754880" y="4389120"/>
            <a:ext cx="292608" cy="292608"/>
          </a:xfrm>
          <a:prstGeom prst="roundRect">
            <a:avLst>
              <a:gd name="adj" fmla="val 15625"/>
            </a:avLst>
          </a:prstGeom>
          <a:solidFill>
            <a:srgbClr val="FFFFFF"/>
          </a:solidFill>
          <a:ln w="19050">
            <a:solidFill>
              <a:srgbClr val="1B5E82"/>
            </a:solidFill>
            <a:prstDash val="solid"/>
          </a:ln>
        </p:spPr>
      </p:sp>
      <p:sp>
        <p:nvSpPr>
          <p:cNvPr id="20" name="Text 17"/>
          <p:cNvSpPr txBox="1"/>
          <p:nvPr/>
        </p:nvSpPr>
        <p:spPr>
          <a:xfrm>
            <a:off x="4754880" y="438912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1" name="Text 18"/>
          <p:cNvSpPr txBox="1"/>
          <p:nvPr/>
        </p:nvSpPr>
        <p:spPr>
          <a:xfrm>
            <a:off x="5212080" y="434340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Check the </a:t>
            </a:r>
            <a:pPr indent="0" marL="0">
              <a:buNone/>
            </a:pPr>
            <a:r>
              <a:rPr lang="en-US" sz="1500" b="1" dirty="0">
                <a:solidFill>
                  <a:srgbClr val="262626"/>
                </a:solidFill>
                <a:latin typeface="Aptos" pitchFamily="34" charset="0"/>
                <a:ea typeface="Aptos" pitchFamily="34" charset="-122"/>
                <a:cs typeface="Aptos" pitchFamily="34" charset="-120"/>
              </a:rPr>
              <a:t>file size</a:t>
            </a:r>
            <a:pPr indent="0" marL="0">
              <a:buNone/>
            </a:pPr>
            <a:r>
              <a:rPr lang="en-US" sz="1500" dirty="0">
                <a:solidFill>
                  <a:srgbClr val="262626"/>
                </a:solidFill>
                <a:latin typeface="Aptos" pitchFamily="34" charset="0"/>
                <a:ea typeface="Aptos" pitchFamily="34" charset="-122"/>
                <a:cs typeface="Aptos" pitchFamily="34" charset="-120"/>
              </a:rPr>
              <a:t>: content photos under ~150 KB, banners under ~300 KB.</a:t>
            </a:r>
            <a:endParaRPr lang="en-US" sz="1500" dirty="0"/>
          </a:p>
        </p:txBody>
      </p:sp>
      <p:sp>
        <p:nvSpPr>
          <p:cNvPr id="22" name="Shape 19"/>
          <p:cNvSpPr/>
          <p:nvPr/>
        </p:nvSpPr>
        <p:spPr>
          <a:xfrm>
            <a:off x="4754880" y="5029200"/>
            <a:ext cx="292608" cy="292608"/>
          </a:xfrm>
          <a:prstGeom prst="roundRect">
            <a:avLst>
              <a:gd name="adj" fmla="val 15625"/>
            </a:avLst>
          </a:prstGeom>
          <a:solidFill>
            <a:srgbClr val="FFFFFF"/>
          </a:solidFill>
          <a:ln w="19050">
            <a:solidFill>
              <a:srgbClr val="1B5E82"/>
            </a:solidFill>
            <a:prstDash val="solid"/>
          </a:ln>
        </p:spPr>
      </p:sp>
      <p:sp>
        <p:nvSpPr>
          <p:cNvPr id="23" name="Text 20"/>
          <p:cNvSpPr txBox="1"/>
          <p:nvPr/>
        </p:nvSpPr>
        <p:spPr>
          <a:xfrm>
            <a:off x="4754880" y="502920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4" name="Text 21"/>
          <p:cNvSpPr txBox="1"/>
          <p:nvPr/>
        </p:nvSpPr>
        <p:spPr>
          <a:xfrm>
            <a:off x="5212080" y="498348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In HTML: </a:t>
            </a:r>
            <a:pPr indent="0" marL="0">
              <a:buNone/>
            </a:pPr>
            <a:r>
              <a:rPr lang="en-US" sz="1500" dirty="0">
                <a:solidFill>
                  <a:srgbClr val="8A2B0B"/>
                </a:solidFill>
                <a:latin typeface="Consolas" pitchFamily="34" charset="0"/>
                <a:ea typeface="Consolas" pitchFamily="34" charset="-122"/>
                <a:cs typeface="Consolas" pitchFamily="34" charset="-120"/>
              </a:rPr>
              <a:t>alt</a:t>
            </a:r>
            <a:pPr indent="0" marL="0">
              <a:buNone/>
            </a:pPr>
            <a:r>
              <a:rPr lang="en-US" sz="1500" dirty="0">
                <a:solidFill>
                  <a:srgbClr val="262626"/>
                </a:solidFill>
                <a:latin typeface="Aptos" pitchFamily="34" charset="0"/>
                <a:ea typeface="Aptos" pitchFamily="34" charset="-122"/>
                <a:cs typeface="Aptos" pitchFamily="34" charset="-120"/>
              </a:rPr>
              <a:t> text, </a:t>
            </a:r>
            <a:pPr indent="0" marL="0">
              <a:buNone/>
            </a:pPr>
            <a:r>
              <a:rPr lang="en-US" sz="1500" dirty="0">
                <a:solidFill>
                  <a:srgbClr val="8A2B0B"/>
                </a:solidFill>
                <a:latin typeface="Consolas" pitchFamily="34" charset="0"/>
                <a:ea typeface="Consolas" pitchFamily="34" charset="-122"/>
                <a:cs typeface="Consolas" pitchFamily="34" charset="-120"/>
              </a:rPr>
              <a:t>width</a:t>
            </a:r>
            <a:pPr indent="0" marL="0">
              <a:buNone/>
            </a:pPr>
            <a:r>
              <a:rPr lang="en-US" sz="1500" dirty="0">
                <a:solidFill>
                  <a:srgbClr val="262626"/>
                </a:solidFill>
                <a:latin typeface="Aptos" pitchFamily="34" charset="0"/>
                <a:ea typeface="Aptos" pitchFamily="34" charset="-122"/>
                <a:cs typeface="Aptos" pitchFamily="34" charset="-120"/>
              </a:rPr>
              <a:t> and </a:t>
            </a:r>
            <a:pPr indent="0" marL="0">
              <a:buNone/>
            </a:pPr>
            <a:r>
              <a:rPr lang="en-US" sz="1500" dirty="0">
                <a:solidFill>
                  <a:srgbClr val="8A2B0B"/>
                </a:solidFill>
                <a:latin typeface="Consolas" pitchFamily="34" charset="0"/>
                <a:ea typeface="Consolas" pitchFamily="34" charset="-122"/>
                <a:cs typeface="Consolas" pitchFamily="34" charset="-120"/>
              </a:rPr>
              <a:t>height</a:t>
            </a:r>
            <a:pPr indent="0" marL="0">
              <a:buNone/>
            </a:pPr>
            <a:r>
              <a:rPr lang="en-US" sz="1500" dirty="0">
                <a:solidFill>
                  <a:srgbClr val="262626"/>
                </a:solidFill>
                <a:latin typeface="Aptos" pitchFamily="34" charset="0"/>
                <a:ea typeface="Aptos" pitchFamily="34" charset="-122"/>
                <a:cs typeface="Aptos" pitchFamily="34" charset="-120"/>
              </a:rPr>
              <a:t>, and </a:t>
            </a:r>
            <a:pPr indent="0" marL="0">
              <a:buNone/>
            </a:pPr>
            <a:r>
              <a:rPr lang="en-US" sz="1500" dirty="0">
                <a:solidFill>
                  <a:srgbClr val="8A2B0B"/>
                </a:solidFill>
                <a:latin typeface="Consolas" pitchFamily="34" charset="0"/>
                <a:ea typeface="Consolas" pitchFamily="34" charset="-122"/>
                <a:cs typeface="Consolas" pitchFamily="34" charset="-120"/>
              </a:rPr>
              <a:t>loading="lazy"</a:t>
            </a:r>
            <a:pPr indent="0" marL="0">
              <a:buNone/>
            </a:pPr>
            <a:r>
              <a:rPr lang="en-US" sz="1500" dirty="0">
                <a:solidFill>
                  <a:srgbClr val="262626"/>
                </a:solidFill>
                <a:latin typeface="Aptos" pitchFamily="34" charset="0"/>
                <a:ea typeface="Aptos" pitchFamily="34" charset="-122"/>
                <a:cs typeface="Aptos" pitchFamily="34" charset="-120"/>
              </a:rPr>
              <a:t> below the fold.</a:t>
            </a:r>
            <a:endParaRPr lang="en-US" sz="1500" dirty="0"/>
          </a:p>
        </p:txBody>
      </p:sp>
      <p:sp>
        <p:nvSpPr>
          <p:cNvPr id="25" name="Shape 22"/>
          <p:cNvSpPr/>
          <p:nvPr/>
        </p:nvSpPr>
        <p:spPr>
          <a:xfrm>
            <a:off x="4754880" y="5669280"/>
            <a:ext cx="292608" cy="292608"/>
          </a:xfrm>
          <a:prstGeom prst="roundRect">
            <a:avLst>
              <a:gd name="adj" fmla="val 15625"/>
            </a:avLst>
          </a:prstGeom>
          <a:solidFill>
            <a:srgbClr val="FFFFFF"/>
          </a:solidFill>
          <a:ln w="19050">
            <a:solidFill>
              <a:srgbClr val="1B5E82"/>
            </a:solidFill>
            <a:prstDash val="solid"/>
          </a:ln>
        </p:spPr>
      </p:sp>
      <p:sp>
        <p:nvSpPr>
          <p:cNvPr id="26" name="Text 23"/>
          <p:cNvSpPr txBox="1"/>
          <p:nvPr/>
        </p:nvSpPr>
        <p:spPr>
          <a:xfrm>
            <a:off x="4754880" y="5669280"/>
            <a:ext cx="292608" cy="292608"/>
          </a:xfrm>
          <a:prstGeom prst="rect">
            <a:avLst/>
          </a:prstGeom>
          <a:noFill/>
          <a:ln/>
        </p:spPr>
        <p:txBody>
          <a:bodyPr wrap="square" lIns="0" tIns="0" rIns="0" bIns="0" rtlCol="0" anchor="ctr"/>
          <a:lstStyle/>
          <a:p>
            <a:pPr algn="ctr" indent="0" marL="0">
              <a:buNone/>
            </a:pPr>
            <a:r>
              <a:rPr lang="en-US" sz="1400" b="1" dirty="0">
                <a:solidFill>
                  <a:srgbClr val="1B5E82"/>
                </a:solidFill>
                <a:latin typeface="Aptos" pitchFamily="34" charset="0"/>
                <a:ea typeface="Aptos" pitchFamily="34" charset="-122"/>
                <a:cs typeface="Aptos" pitchFamily="34" charset="-120"/>
              </a:rPr>
              <a:t>✓</a:t>
            </a:r>
            <a:endParaRPr lang="en-US" sz="1400" dirty="0"/>
          </a:p>
        </p:txBody>
      </p:sp>
      <p:sp>
        <p:nvSpPr>
          <p:cNvPr id="27" name="Text 24"/>
          <p:cNvSpPr txBox="1"/>
          <p:nvPr/>
        </p:nvSpPr>
        <p:spPr>
          <a:xfrm>
            <a:off x="5212080" y="5623560"/>
            <a:ext cx="6446520" cy="548640"/>
          </a:xfrm>
          <a:prstGeom prst="rect">
            <a:avLst/>
          </a:prstGeom>
          <a:noFill/>
          <a:ln/>
        </p:spPr>
        <p:txBody>
          <a:bodyPr wrap="square" lIns="0" tIns="0" rIns="0" bIns="0" rtlCol="0" anchor="t"/>
          <a:lstStyle/>
          <a:p>
            <a:pPr indent="0" marL="0">
              <a:buNone/>
            </a:pPr>
            <a:r>
              <a:rPr lang="en-US" sz="1500" dirty="0">
                <a:solidFill>
                  <a:srgbClr val="262626"/>
                </a:solidFill>
                <a:latin typeface="Aptos" pitchFamily="34" charset="0"/>
                <a:ea typeface="Aptos" pitchFamily="34" charset="-122"/>
                <a:cs typeface="Aptos" pitchFamily="34" charset="-120"/>
              </a:rPr>
              <a:t>​</a:t>
            </a:r>
            <a:pPr indent="0" marL="0">
              <a:buNone/>
            </a:pPr>
            <a:r>
              <a:rPr lang="en-US" sz="1500" dirty="0">
                <a:solidFill>
                  <a:srgbClr val="262626"/>
                </a:solidFill>
                <a:latin typeface="Aptos" pitchFamily="34" charset="0"/>
                <a:ea typeface="Aptos" pitchFamily="34" charset="-122"/>
                <a:cs typeface="Aptos" pitchFamily="34" charset="-120"/>
              </a:rPr>
              <a:t>Use sensible lower-case file names: </a:t>
            </a:r>
            <a:pPr indent="0" marL="0">
              <a:buNone/>
            </a:pPr>
            <a:r>
              <a:rPr lang="en-US" sz="1500" dirty="0">
                <a:solidFill>
                  <a:srgbClr val="8A2B0B"/>
                </a:solidFill>
                <a:latin typeface="Consolas" pitchFamily="34" charset="0"/>
                <a:ea typeface="Consolas" pitchFamily="34" charset="-122"/>
                <a:cs typeface="Consolas" pitchFamily="34" charset="-120"/>
              </a:rPr>
              <a:t>harbour-view.jpg</a:t>
            </a:r>
            <a:pPr indent="0" marL="0">
              <a:buNone/>
            </a:pPr>
            <a:r>
              <a:rPr lang="en-US" sz="1500" dirty="0">
                <a:solidFill>
                  <a:srgbClr val="262626"/>
                </a:solidFill>
                <a:latin typeface="Aptos" pitchFamily="34" charset="0"/>
                <a:ea typeface="Aptos" pitchFamily="34" charset="-122"/>
                <a:cs typeface="Aptos" pitchFamily="34" charset="-120"/>
              </a:rPr>
              <a:t>, not </a:t>
            </a:r>
            <a:pPr indent="0" marL="0">
              <a:buNone/>
            </a:pPr>
            <a:r>
              <a:rPr lang="en-US" sz="1500" dirty="0">
                <a:solidFill>
                  <a:srgbClr val="8A2B0B"/>
                </a:solidFill>
                <a:latin typeface="Consolas" pitchFamily="34" charset="0"/>
                <a:ea typeface="Consolas" pitchFamily="34" charset="-122"/>
                <a:cs typeface="Consolas" pitchFamily="34" charset="-120"/>
              </a:rPr>
              <a:t>IMG_4032.JPG</a:t>
            </a:r>
            <a:pPr indent="0" marL="0">
              <a:buNone/>
            </a:pPr>
            <a:r>
              <a:rPr lang="en-US" sz="1500" dirty="0">
                <a:solidFill>
                  <a:srgbClr val="262626"/>
                </a:solidFill>
                <a:latin typeface="Aptos" pitchFamily="34" charset="0"/>
                <a:ea typeface="Aptos" pitchFamily="34" charset="-122"/>
                <a:cs typeface="Aptos" pitchFamily="34" charset="-120"/>
              </a:rPr>
              <a: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Raster images are grids of pixels. Dimensions and colour depth set the raw size.</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Lossless keeps every pixel (PNG, GIF). Lossy throws away detail you won't miss (JPG, WebP, AVIF).</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Photos → JPG/WebP. Transparency → PNG/WebP. Logos → SVG.</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The biggest saving is usually resizing to the size the image is shown at.</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 Intro to CSS</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Selectors, colour, text, the box model, and styling images.</a:t>
            </a:r>
            <a:endParaRPr lang="en-US" sz="2000" dirty="0"/>
          </a:p>
          <a:p>
            <a:pPr lvl="1" marL="685800" indent="-342900">
              <a:spcBef>
                <a:spcPts val="300"/>
              </a:spcBef>
              <a:buSzPct val="100000"/>
              <a:buChar char="•"/>
            </a:pPr>
            <a:r>
              <a:rPr lang="en-US" sz="1600" dirty="0">
                <a:solidFill>
                  <a:srgbClr val="000000"/>
                </a:solidFill>
                <a:latin typeface="Aptos" pitchFamily="34" charset="0"/>
                <a:ea typeface="Aptos" pitchFamily="34" charset="-122"/>
                <a:cs typeface="Aptos" pitchFamily="34" charset="-120"/>
              </a:rPr>
              <a:t>Bring your my_images folder. We'll style your photo.</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7: Images for the Web</dc:title>
  <dc:subject>PptxGenJS Presentation</dc:subject>
  <dc:creator>Jamie Symonds</dc:creator>
  <cp:lastModifiedBy>Jamie Symonds</cp:lastModifiedBy>
  <cp:revision>1</cp:revision>
  <dcterms:created xsi:type="dcterms:W3CDTF">2026-10-04T23:08:05Z</dcterms:created>
  <dcterms:modified xsi:type="dcterms:W3CDTF">2026-10-04T23:08:05Z</dcterms:modified>
</cp:coreProperties>
</file>