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424994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Last class we planned a page with a wireframe, and every wireframe was full of X boxes: images. Today we learn how to make those images fast.
Today is mostly hands-on. There are six short labs. Students need a large photo (from their phone is best) and a browser for pixlr.com.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attendance. While you do, ask everyone to get a photo from their phone onto their laptop (OneDrive, email it to yourself, or a USB cable). They'll need it for Lab 1.</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Roughly: 10 min pixels and colour depth + Lab 1, 15 min compression and formats, then Labs 2–5 in Pixlr (about 45 min, with a short concept slide before each), 15 min putting images on a page (Lab 6), 5 min wrap-up.
Everything students make today gets used next class, when we style images with CSS.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best test photo is a straight-off-the-phone photo: 3,000–4,000+ pixels wide and 2–5 MB. That's what makes the size differences dramatic.
If a student has no photo: unsplash.com or pexels.com have free photos. Download the largest ('Original') size.
Pixlr: pixlr.com, then Pixlr Editor (the full editor). No account needed to start, but CHECK BEFORE CLASS: Pixlr's free tier has at times limited how many saves you get per day. If students hit a limit, use squoosh.app instead (free, no account, made by Google, shows the file size live).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Images are usually the heaviest part of a web page. The HTML for a whole page might be 20–50 KB. One unoptimized phone photo can be 3–5 MB, about 100 times more.
Google measures 'Largest Contentful Paint' (LCP): how long until the biggest thing on screen appears. On most pages the biggest thing is an image. Slow LCP hurts the user and can hurt search ranking.
Connect to non-functional requirements from earlier: 'Pages load in under 2 seconds on a typical connection.' Image choices are how you meet that requirement.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Zoom into any photo far enough and you see it's a grid of coloured squares: pixels. A 'raster' image (JPG, PNG, GIF, WebP, AVIF) is exactly that grid, stored as numbers.
Dimensions = width × height in pixels. A 12-megapixel phone photo is about 4032 × 3024 = 12.2 million pixels.
DPI / PPI: you'll see '72 dpi' or '300 dpi' in Properties. That number matters for PRINTING. On the web it's ignored: a 1200-pixel-wide image is 1200 pixels wide whether it says 72 or 300 dpi. Only the pixel dimensions matter.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Colour depth = how many bits are used to store the colour of ONE pixel. More bits = more possible colours = bigger files (before compression).
8 bits per channel × 3 channels (red, green, blue) = 24-bit colour: 256 × 256 × 256 = about 16.7 million colours. That's what JPG uses and what screens show.
32-bit = 24-bit colour + 8 bits of 'alpha' (transparency): each pixel can be anywhere from fully see-through to solid.
The images on the slide are the same photo: 24-bit, then GIF with 256 colours (look at the sky: banding), then only 16 colours. In File Explorer → Properties → Details this is called 'Bit depth'.</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Uncompressed size = width × height × bytes per pixel. 24-bit colour = 3 bytes per pixel.
Our sample: 1118 × 640 × 3 = about 2 MB uncompressed, but the JPG file is only about 134 KB. Compression made it ~15× smaller.
A phone photo: 4032 × 3024 × 3 = 36.6 MB uncompressed. The phone's JPG is usually 2–5 MB. Still WAY too big for a web page, which is why we'll resize too.
1 KB = 1024 bytes, 1 MB = 1024 KB. (Windows shows sizes this way; macOS uses 1000. Close enough for us.)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around. Common snags:
- iPhone photos may be .HEIC, not .jpg. Fix: on the phone, Settings → Camera → Formats → Most Compatible, or open the HEIC in Pixlr and save as JPG first. Windows may need the free HEIF extension to show HEIC details.
- Photos sent through some chat apps arrive already shrunk (e.g. 1600 px). That's fine, but the differences will be smaller.
The File Explorer Details view with Dimensions and Bit depth columns is the fastest way to compare files for the rest of the class. Show it on the projector.
Ask a couple of students for their compression ratio. Usually 10–20×.</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how files get smaller. Two kinds of compression, and the difference decides which file type to use.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Lossless: like a ZIP file. The file is packed more cleverly (e.g. 'the next 200 pixels are all this exact blue' instead of listing each one), and when you open it you get back EXACTLY the original pixels. PNG and GIF are lossless. Works great on flat colour; not much help on photos where every pixel is slightly different.
Lossy: throws away detail your eye is unlikely to notice: tiny colour differences, fine texture. You choose how much with the quality slider. You can never get that detail back, which is why you always keep the original and export copies.
Generation loss: open a JPG, save it as JPG, repeat. Each save loses a bit more. Edit from the original.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crops from samples/beach_q90.jpg, beach_q50.jpg and beach_q10.jpg (Example 02).
At normal size, quality 50 looks fine to most people. Zoomed in, you start to see smudging. Quality 10 is obviously blocky even at normal size.
The surprising one: the original file is 134 KB, and re-saving it at quality 90 made it 140 KB. Bigger, not better, because the detail was already gone. Lesson: the quality number isn't a promise of quality; it's how much MORE you're willing to throw away.
Most photos look good at quality 60–80. That's where we'll aim in Lab 3.</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formats. Students only really need four day to day: JPG or WebP for photos, PNG for screenshots and graphics with transparency, SVG for logos and icons.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tour. Dates help explain why things are the way they are:
- GIF (1987): only 256 colours. Still around because of animated memes, but a video file is much smaller for animation.
- JPEG (1992): the classic photo format. Every device and program supports it.
- PNG (1996): created as a free replacement for GIF. Lossless, full colour, real transparency.
- SVG (2001): vector graphics written as XML code. Can even be written by hand or styled with CSS.
- WebP (Google, 2010): lossy or lossless, transparency, animation. Works in all current browsers.
- AVIF (2019): newest, usually the smallest for photos. Works in all current major browsers; some older software (and some image editors) can't open it yet.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Sizes in the last column are our sample photo (1118 × 640) from Example 01. Same pixels, very different files.
The headline: PNG is lossless, so for a photo it's huge (978 KB). GIF is smaller than PNG only because it threw away colours, and the sky shows it. WebP and AVIF beat JPG at similar visual quality.
Transparency column: JPG can't do it. If you save a logo with a transparent background as JPG, the background turns solid (usually white).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01_image_formats_example.html with Live Server.
Ask: 'Which one is the PNG?' Most students can't tell by looking. Then show the samples folder in File Explorer, sorted by size. That's the 'aha'.
The GIF is the only one with a visible difference (banding in the sky). Zoom the browser in to make it obvious.
AVIF note: if a student's browser shows a broken image for AVIF, their browser is out of date. All current Chrome, Edge, Firefox and Safari versions support it.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Raster = a grid of pixels (everything we've seen so far). Make it bigger than its pixel size and the browser has to stretch the pixels, so it goes soft or blocky.
Vector = a description of shapes: 'circle at 120,120, radius 112, navy'. The browser redraws it at whatever size you ask for, so it's always sharp. SVG is the web's vector format, and it's actually text (open logo.svg in VS Code!).
Our logo: SVG 0.7 KB vs PNG 21 KB vs JPG 21 KB. The SVG is about 30 times smaller and sharper at every size.
Vector doesn't work for photos. There are no simple shapes to describe, so photos stay raster.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03_svg_vs_png_example.html with Live Server. The page background is light blue-grey so the transparency shows: the SVG and PNG have see-through corners, the JPG has white ones.
Then open samples/logo.svg in VS Code. Point out it's readable code with a &lt;title&gt; (for accessibility). Change a fill colour (e.g. #E97132 to #2E7D32), save, and refresh: the logo changes colour. That's something you can't do with a PNG.
Browser zoom (Ctrl +) to 300% makes the difference between SVG and PNG very obvious.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 PNG is enormous, often bigger than the original JPG (e.g. a 3 MB JPG becomes a 15–25 MB PNG). JPG at 80 is usually a bit smaller than the phone original. WebP at 80 is usually smaller again.
Pixlr's save dialog lets you pick the file type and quality, and usually shows an estimated file size. Menus in Pixlr change from time to time; check them before class.
If Pixlr has a daily save limit on the free tier when you teach this, switch the class to squoosh.app for the remaining labs. It does format, quality AND resize in one screen.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02_jpeg_quality_example.html. At normal size ask: which ones look bad? Usually only quality 10. Then Ctrl + to zoom the browser and look again.
Sizes: q90 140 KB, q75 93 KB, q50 51 KB, q10 12 KB. Going from 75 to 50 roughly halves the file with little visible change on this photo.
Different photos react differently: busy, detailed photos (grass, gravel) hide compression well; smooth areas (sky, skin, gradients) show it first. That's why we test with our own photos next.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often find 60–70 is indistinguishable at normal size. Collect a few numbers in the Teams chat: they'll differ by photo, which is the point. Busy photos survive lower quality; photos with lots of sky or a plain background show problems sooner.
If someone has time: try WebP at 30 vs JPG at 30. WebP usually holds up better at low quality.</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biggest win isn't the format or the quality slider. It's not sending pixels nobody will see.
If your page shows an image 800 pixels wide, a 4032-pixel photo sends about 25 times more pixels than needed (4032×3024 vs 800×600). The browser downloads all of it and then shrinks it.
Rule of thumb: export at the largest size it's ever displayed, times 2 for sharp screens (phones, MacBooks and many laptops have 2× 'high-DPI' screens). So an image shown at 600 px wide → export 1200 px.
The width/file size table is a rule of thumb, not a law. Use it as a starting point.
Also halving the width quarters the pixels (width AND height both halve), so file size drops roughly 4×.</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Typical result from a 4032 px phone photo: 2000 px ≈ 600–900 KB, 1200 px ≈ 200–350 KB, 600 px ≈ 60–100 KB. That's 10–40× smaller than the original, and at normal viewing size it looks the same.
The 'lock proportions' icon (chain link) matters: unlock it and the photo gets squashed.
This is usually the biggest 'aha' of the day: resizing saves far more than switching formats.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results: logo.svg 0.7 KB, logo.png 21 KB, logo.jpg (quality 80) 21 KB. The JPG is no smaller AND it looks worse AND it lost transparency.
Why: JPG is designed for the gradual changes in photos. Hard edges between flat colours are the worst case for it, so it smudges them. PNG's lossless compression is great at long runs of identical pixels.
The screenshot step makes the same point with text: text in a JPG screenshot gets fuzzy halos.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decision with two or three examples from the class: a menu photo (JPG/WebP), the restaurant's logo (SVG), a screenshot for a how-to page (PNG), a photo of a product with the background removed (PNG or WebP, because it needs transparency).
Animated GIF: mention that a short looping MP4 or WebM video in a &lt;video&gt; tag is usually 5–10× smaller than the same GIF. We'll see video later.
WebP vs JPG: both are fine. WebP is usually 25–35% smaller and works in every current browser. Keep a JPG if the image also needs to open in older software (email, Word, etc.).</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students know how to make a good image file, a few HTML attributes help the browser load it well.</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the layout jump: in DevTools → Network, set throttling to 'Slow 4G', then reload a page with and without width/height. Without them, the text appears first and then gets pushed down when the image arrives. Google calls this Cumulative Layout Shift (CLS) and it's one of its page-speed scores.
Lazy loading demo: DevTools → Network → filter 'Img', reload. Only beach_800.jpg loads. Scroll down: beach_400.jpg appears in the list when you get close.
The inline style on the tall paragraph is just to make room for scrolling. We'll do this properly with CSS next class.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preview; students don't need to memorize the syntax. The idea is what matters: you can give the browser options and let it choose.
Demo srcset: open DevTools, turn on the device toolbar (Ctrl+Shift+M), pick a phone, and reload with the Network tab open. You'll often see beach_400.jpg or beach_800.jpg load instead of the original. (Browsers also consider screen density and what's cached, so results vary. Use a private window to test.)
The sizes attribute is the advanced part of srcset; we skip it today. Without sizes, the browser assumes the image is the full width of the screen.</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brings it all together: the same picture, shown at the same size, with very different download costs. On Slow 4G the original phone photo can take many seconds to appear while the 600 px version is almost instant.
The table in image_lab.html uses &lt;caption&gt;, &lt;thead&gt; and scope from the Semantic HTML class. Point that out.
Collect: screenshot of the page + Network tab, uploaded to Brightspace (participation). Students keep their my_images folder: next class we'll style these images with CSS.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Usual answers: size (resizing) is by far the biggest saving, often 10–40×. Format is next (PNG → JPG for a photo is huge; JPG → WebP is a nice extra 25–35%). Quality 80 → 60 is a smaller extra saving.
Same quality, different results: busy photos hide compression; smooth areas (sky, skin, plain walls) show it.
PNG over JPG: transparency, screenshots, text, flat colour. SVG over PNG: logos and icons, anything that needs to be sharp at many sizes.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checklist to use on every image from now on, including the assignment. It's also in the README.</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class is CSS. Ask students to keep their my_images folder and image_lab.html: we'll use their optimized photo when we style images with CSS.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274320" y="274320"/>
            <a:ext cx="2743200" cy="365760"/>
          </a:xfrm>
          <a:prstGeom prst="rect">
            <a:avLst/>
          </a:prstGeom>
          <a:noFill/>
          <a:ln/>
        </p:spPr>
        <p:txBody>
          <a:bodyPr wrap="square" lIns="0" tIns="0" rIns="0" bIns="0" rtlCol="0" anchor="ctr"/>
          <a:lstStyle/>
          <a:p>
            <a:pPr marL="0" indent="0">
              <a:buNone/>
            </a:pPr>
            <a:r>
              <a:rPr lang="en-US" sz="1600" dirty="0">
                <a:solidFill>
                  <a:srgbClr val="000000"/>
                </a:solidFill>
                <a:latin typeface="Aptos" pitchFamily="34" charset="0"/>
                <a:ea typeface="Aptos" pitchFamily="34" charset="-122"/>
                <a:cs typeface="Aptos" pitchFamily="34" charset="-120"/>
              </a:rPr>
              <a:t>WEBD 1000</a:t>
            </a:r>
            <a:endParaRPr lang="en-US" sz="1600" dirty="0"/>
          </a:p>
        </p:txBody>
      </p:sp>
      <p:sp>
        <p:nvSpPr>
          <p:cNvPr id="3" name="Shape 1"/>
          <p:cNvSpPr/>
          <p:nvPr/>
        </p:nvSpPr>
        <p:spPr>
          <a:xfrm>
            <a:off x="502920" y="1005840"/>
            <a:ext cx="5120640" cy="5120640"/>
          </a:xfrm>
          <a:prstGeom prst="ellipse">
            <a:avLst/>
          </a:prstGeom>
          <a:solidFill>
            <a:srgbClr val="E97132"/>
          </a:solidFill>
          <a:ln w="12700">
            <a:solidFill>
              <a:srgbClr val="E97132"/>
            </a:solidFill>
            <a:prstDash val="solid"/>
          </a:ln>
        </p:spPr>
        <p:txBody>
          <a:bodyPr/>
          <a:lstStyle/>
          <a:p>
            <a:endParaRPr lang="en-US"/>
          </a:p>
        </p:txBody>
      </p:sp>
      <p:sp>
        <p:nvSpPr>
          <p:cNvPr id="4" name="Text 2"/>
          <p:cNvSpPr txBox="1"/>
          <p:nvPr/>
        </p:nvSpPr>
        <p:spPr>
          <a:xfrm>
            <a:off x="1325880" y="2194560"/>
            <a:ext cx="3840480" cy="2651760"/>
          </a:xfrm>
          <a:prstGeom prst="rect">
            <a:avLst/>
          </a:prstGeom>
          <a:noFill/>
          <a:ln/>
        </p:spPr>
        <p:txBody>
          <a:bodyPr wrap="square" lIns="0" tIns="0" rIns="0" bIns="0" rtlCol="0" anchor="ctr"/>
          <a:lstStyle/>
          <a:p>
            <a:pPr marL="0" indent="0">
              <a:buNone/>
            </a:pPr>
            <a:r>
              <a:rPr lang="en-US" sz="4600" dirty="0">
                <a:solidFill>
                  <a:srgbClr val="FFFFFF"/>
                </a:solidFill>
                <a:latin typeface="Aptos" pitchFamily="34" charset="0"/>
                <a:ea typeface="Aptos" pitchFamily="34" charset="-122"/>
                <a:cs typeface="Aptos" pitchFamily="34" charset="-120"/>
              </a:rPr>
              <a:t>HTML/CSS Techniques</a:t>
            </a:r>
            <a:endParaRPr lang="en-US" sz="4600" dirty="0"/>
          </a:p>
        </p:txBody>
      </p:sp>
      <p:sp>
        <p:nvSpPr>
          <p:cNvPr id="5" name="Shape 3"/>
          <p:cNvSpPr/>
          <p:nvPr/>
        </p:nvSpPr>
        <p:spPr>
          <a:xfrm>
            <a:off x="914400" y="5257800"/>
            <a:ext cx="566928" cy="566928"/>
          </a:xfrm>
          <a:prstGeom prst="ellipse">
            <a:avLst/>
          </a:prstGeom>
          <a:solidFill>
            <a:srgbClr val="A02B93"/>
          </a:solidFill>
          <a:ln w="12700">
            <a:solidFill>
              <a:srgbClr val="A02B93"/>
            </a:solidFill>
            <a:prstDash val="solid"/>
          </a:ln>
        </p:spPr>
        <p:txBody>
          <a:bodyPr/>
          <a:lstStyle/>
          <a:p>
            <a:endParaRPr lang="en-US"/>
          </a:p>
        </p:txBody>
      </p:sp>
      <p:sp>
        <p:nvSpPr>
          <p:cNvPr id="6" name="Shape 4"/>
          <p:cNvSpPr/>
          <p:nvPr/>
        </p:nvSpPr>
        <p:spPr>
          <a:xfrm>
            <a:off x="8778240" y="685800"/>
            <a:ext cx="3017520" cy="3017520"/>
          </a:xfrm>
          <a:prstGeom prst="arc">
            <a:avLst>
              <a:gd name="adj1" fmla="val 12000000"/>
              <a:gd name="adj2" fmla="val 1200000"/>
            </a:avLst>
          </a:prstGeom>
          <a:noFill/>
          <a:ln w="88900">
            <a:solidFill>
              <a:srgbClr val="0F9ED5"/>
            </a:solidFill>
            <a:prstDash val="dash"/>
          </a:ln>
        </p:spPr>
        <p:txBody>
          <a:bodyPr/>
          <a:lstStyle/>
          <a:p>
            <a:endParaRPr lang="en-US"/>
          </a:p>
        </p:txBody>
      </p:sp>
      <p:sp>
        <p:nvSpPr>
          <p:cNvPr id="7" name="Text 5"/>
          <p:cNvSpPr txBox="1"/>
          <p:nvPr/>
        </p:nvSpPr>
        <p:spPr>
          <a:xfrm>
            <a:off x="6263640" y="1737360"/>
            <a:ext cx="5120640" cy="2377440"/>
          </a:xfrm>
          <a:prstGeom prst="rect">
            <a:avLst/>
          </a:prstGeom>
          <a:noFill/>
          <a:ln/>
        </p:spPr>
        <p:txBody>
          <a:bodyPr wrap="square" lIns="0" tIns="0" rIns="0" bIns="0" rtlCol="0" anchor="t"/>
          <a:lstStyle/>
          <a:p>
            <a:pPr marL="342900" indent="-342900">
              <a:buSzPct val="100000"/>
              <a:buChar char="•"/>
            </a:pPr>
            <a:r>
              <a:rPr lang="en-US" sz="3000" dirty="0">
                <a:solidFill>
                  <a:srgbClr val="000000"/>
                </a:solidFill>
                <a:latin typeface="Aptos" pitchFamily="34" charset="0"/>
                <a:ea typeface="Aptos" pitchFamily="34" charset="-122"/>
                <a:cs typeface="Aptos" pitchFamily="34" charset="-120"/>
              </a:rPr>
              <a:t>Class:</a:t>
            </a:r>
            <a:endParaRPr lang="en-US" sz="3000" dirty="0"/>
          </a:p>
          <a:p>
            <a:pPr marL="685800" lvl="1" indent="-342900">
              <a:spcBef>
                <a:spcPts val="600"/>
              </a:spcBef>
              <a:buSzPct val="100000"/>
              <a:buChar char="○"/>
            </a:pPr>
            <a:r>
              <a:rPr lang="en-US" sz="2600" dirty="0">
                <a:solidFill>
                  <a:srgbClr val="000000"/>
                </a:solidFill>
                <a:latin typeface="Aptos" pitchFamily="34" charset="0"/>
                <a:ea typeface="Aptos" pitchFamily="34" charset="-122"/>
                <a:cs typeface="Aptos" pitchFamily="34" charset="-120"/>
              </a:rPr>
              <a:t>Images for the web: file types, colour depth, size and compression.</a:t>
            </a:r>
            <a:endParaRPr lang="en-US" sz="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5840" y="685800"/>
            <a:ext cx="7315200" cy="822960"/>
          </a:xfrm>
          <a:prstGeom prst="rect">
            <a:avLst/>
          </a:prstGeom>
          <a:noFill/>
          <a:ln/>
        </p:spPr>
        <p:txBody>
          <a:bodyPr wrap="square" lIns="0" tIns="0" rIns="0" bIns="0" rtlCol="0" anchor="ctr"/>
          <a:lstStyle/>
          <a:p>
            <a:pPr marL="0" indent="0">
              <a:buNone/>
            </a:pPr>
            <a:r>
              <a:rPr lang="en-US" sz="4400" dirty="0">
                <a:solidFill>
                  <a:srgbClr val="000000"/>
                </a:solidFill>
                <a:latin typeface="Aptos" pitchFamily="34" charset="0"/>
                <a:ea typeface="Aptos" pitchFamily="34" charset="-122"/>
                <a:cs typeface="Aptos" pitchFamily="34" charset="-120"/>
              </a:rPr>
              <a:t>Attendance</a:t>
            </a:r>
            <a:endParaRPr lang="en-US" sz="4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2F2"/>
        </a:solidFill>
        <a:effectLst/>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txBody>
          <a:bodyPr/>
          <a:lstStyle/>
          <a:p>
            <a:endParaRPr lang="en-US"/>
          </a:p>
        </p:txBody>
      </p:sp>
      <p:sp>
        <p:nvSpPr>
          <p:cNvPr id="3" name="Text 1"/>
          <p:cNvSpPr txBox="1"/>
          <p:nvPr/>
        </p:nvSpPr>
        <p:spPr>
          <a:xfrm>
            <a:off x="868680" y="548640"/>
            <a:ext cx="2560320" cy="1280160"/>
          </a:xfrm>
          <a:prstGeom prst="rect">
            <a:avLst/>
          </a:prstGeom>
          <a:noFill/>
          <a:ln/>
        </p:spPr>
        <p:txBody>
          <a:bodyPr wrap="square" lIns="0" tIns="0" rIns="0" bIns="0" rtlCol="0" anchor="t"/>
          <a:lstStyle/>
          <a:p>
            <a:pPr marL="0" indent="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txBody>
          <a:bodyPr/>
          <a:lstStyle/>
          <a:p>
            <a:endParaRPr lang="en-US"/>
          </a:p>
        </p:txBody>
      </p:sp>
      <p:sp>
        <p:nvSpPr>
          <p:cNvPr id="5" name="Text 3"/>
          <p:cNvSpPr txBox="1"/>
          <p:nvPr/>
        </p:nvSpPr>
        <p:spPr>
          <a:xfrm>
            <a:off x="4754880" y="822960"/>
            <a:ext cx="6903720" cy="868680"/>
          </a:xfrm>
          <a:prstGeom prst="rect">
            <a:avLst/>
          </a:prstGeom>
          <a:noFill/>
          <a:ln/>
        </p:spPr>
        <p:txBody>
          <a:bodyPr wrap="square" lIns="0" tIns="0" rIns="0" bIns="0" rtlCol="0" anchor="t"/>
          <a:lstStyle/>
          <a:p>
            <a:pPr marL="0" indent="0">
              <a:buNone/>
            </a:pPr>
            <a:r>
              <a:rPr lang="en-US" sz="2800" b="1" dirty="0">
                <a:solidFill>
                  <a:srgbClr val="000000"/>
                </a:solidFill>
                <a:latin typeface="Aptos" pitchFamily="34" charset="0"/>
                <a:ea typeface="Aptos" pitchFamily="34" charset="-122"/>
                <a:cs typeface="Aptos" pitchFamily="34" charset="-120"/>
              </a:rPr>
              <a:t>Class 7: Class Overview</a:t>
            </a:r>
            <a:endParaRPr lang="en-US" sz="2800" dirty="0"/>
          </a:p>
        </p:txBody>
      </p:sp>
      <p:sp>
        <p:nvSpPr>
          <p:cNvPr id="7" name="Text 4"/>
          <p:cNvSpPr txBox="1"/>
          <p:nvPr/>
        </p:nvSpPr>
        <p:spPr>
          <a:xfrm>
            <a:off x="4754880" y="1783080"/>
            <a:ext cx="6903720" cy="4389120"/>
          </a:xfrm>
          <a:prstGeom prst="rect">
            <a:avLst/>
          </a:prstGeom>
          <a:noFill/>
          <a:ln/>
        </p:spPr>
        <p:txBody>
          <a:bodyPr wrap="square" lIns="0" tIns="0" rIns="0" bIns="0" rtlCol="0" anchor="t"/>
          <a:lstStyle/>
          <a:p>
            <a:pPr marL="342900" indent="-342900">
              <a:buSzPct val="100000"/>
              <a:buChar char="•"/>
            </a:pPr>
            <a:r>
              <a:rPr lang="en-US" sz="2200" b="1" dirty="0">
                <a:solidFill>
                  <a:srgbClr val="000000"/>
                </a:solidFill>
                <a:latin typeface="Aptos" pitchFamily="34" charset="0"/>
                <a:ea typeface="Aptos" pitchFamily="34" charset="-122"/>
                <a:cs typeface="Aptos" pitchFamily="34" charset="-120"/>
              </a:rPr>
              <a:t>Title: </a:t>
            </a:r>
            <a:r>
              <a:rPr lang="en-US" sz="2200" dirty="0">
                <a:solidFill>
                  <a:srgbClr val="000000"/>
                </a:solidFill>
                <a:latin typeface="Aptos" pitchFamily="34" charset="0"/>
                <a:ea typeface="Aptos" pitchFamily="34" charset="-122"/>
                <a:cs typeface="Aptos" pitchFamily="34" charset="-120"/>
              </a:rPr>
              <a:t>Images for the Web</a:t>
            </a:r>
            <a:endParaRPr lang="en-US" sz="2200" dirty="0"/>
          </a:p>
          <a:p>
            <a:pPr marL="0" indent="0">
              <a:buNone/>
            </a:pPr>
            <a:r>
              <a:rPr lang="en-US" sz="1000" dirty="0">
                <a:solidFill>
                  <a:srgbClr val="000000"/>
                </a:solidFill>
                <a:latin typeface="Aptos" pitchFamily="34" charset="0"/>
                <a:ea typeface="Aptos" pitchFamily="34" charset="-122"/>
                <a:cs typeface="Aptos" pitchFamily="34" charset="-120"/>
              </a:rPr>
              <a:t> </a:t>
            </a:r>
            <a:endParaRPr lang="en-US" sz="2200" dirty="0"/>
          </a:p>
          <a:p>
            <a:pPr marL="342900" indent="-342900">
              <a:buSzPct val="100000"/>
              <a:buChar char="•"/>
            </a:pPr>
            <a:r>
              <a:rPr lang="en-US" sz="2200" b="1" dirty="0">
                <a:solidFill>
                  <a:srgbClr val="000000"/>
                </a:solidFill>
                <a:latin typeface="Aptos" pitchFamily="34" charset="0"/>
                <a:ea typeface="Aptos" pitchFamily="34" charset="-122"/>
                <a:cs typeface="Aptos" pitchFamily="34" charset="-120"/>
              </a:rPr>
              <a:t>Agenda:</a:t>
            </a:r>
            <a:endParaRPr lang="en-US" sz="2200" dirty="0"/>
          </a:p>
          <a:p>
            <a:pPr marL="685800" lvl="1" indent="-342900">
              <a:spcBef>
                <a:spcPts val="400"/>
              </a:spcBef>
              <a:buSzPct val="100000"/>
              <a:buChar char="•"/>
            </a:pPr>
            <a:r>
              <a:rPr lang="en-US" sz="1800" dirty="0">
                <a:solidFill>
                  <a:srgbClr val="000000"/>
                </a:solidFill>
                <a:latin typeface="Aptos" pitchFamily="34" charset="0"/>
                <a:ea typeface="Aptos" pitchFamily="34" charset="-122"/>
                <a:cs typeface="Aptos" pitchFamily="34" charset="-120"/>
              </a:rPr>
              <a:t>Pixels, dimensions and colour depth</a:t>
            </a:r>
            <a:endParaRPr lang="en-US" sz="2200" dirty="0"/>
          </a:p>
          <a:p>
            <a:pPr marL="685800" lvl="1" indent="-342900">
              <a:spcBef>
                <a:spcPts val="400"/>
              </a:spcBef>
              <a:buSzPct val="100000"/>
              <a:buChar char="•"/>
            </a:pPr>
            <a:r>
              <a:rPr lang="en-US" sz="1800" dirty="0">
                <a:solidFill>
                  <a:srgbClr val="000000"/>
                </a:solidFill>
                <a:latin typeface="Aptos" pitchFamily="34" charset="0"/>
                <a:ea typeface="Aptos" pitchFamily="34" charset="-122"/>
                <a:cs typeface="Aptos" pitchFamily="34" charset="-120"/>
              </a:rPr>
              <a:t>Compression: lossless vs lossy</a:t>
            </a:r>
            <a:endParaRPr lang="en-US" sz="2200" dirty="0"/>
          </a:p>
          <a:p>
            <a:pPr marL="685800" lvl="1" indent="-342900">
              <a:spcBef>
                <a:spcPts val="400"/>
              </a:spcBef>
              <a:buSzPct val="100000"/>
              <a:buChar char="•"/>
            </a:pPr>
            <a:r>
              <a:rPr lang="en-US" sz="1800" dirty="0">
                <a:solidFill>
                  <a:srgbClr val="000000"/>
                </a:solidFill>
                <a:latin typeface="Aptos" pitchFamily="34" charset="0"/>
                <a:ea typeface="Aptos" pitchFamily="34" charset="-122"/>
                <a:cs typeface="Aptos" pitchFamily="34" charset="-120"/>
              </a:rPr>
              <a:t>File formats: JPG, PNG, GIF, WebP, AVIF, SVG</a:t>
            </a:r>
            <a:endParaRPr lang="en-US" sz="2200" dirty="0"/>
          </a:p>
          <a:p>
            <a:pPr marL="685800" lvl="1" indent="-342900">
              <a:spcBef>
                <a:spcPts val="400"/>
              </a:spcBef>
              <a:buSzPct val="100000"/>
              <a:buChar char="•"/>
            </a:pPr>
            <a:r>
              <a:rPr lang="en-US" sz="1800" dirty="0">
                <a:solidFill>
                  <a:srgbClr val="000000"/>
                </a:solidFill>
                <a:latin typeface="Aptos" pitchFamily="34" charset="0"/>
                <a:ea typeface="Aptos" pitchFamily="34" charset="-122"/>
                <a:cs typeface="Aptos" pitchFamily="34" charset="-120"/>
              </a:rPr>
              <a:t>Six labs: test it yourself in Pixlr and File Explorer</a:t>
            </a:r>
            <a:endParaRPr lang="en-US" sz="2200" dirty="0"/>
          </a:p>
          <a:p>
            <a:pPr marL="685800" lvl="1" indent="-342900">
              <a:spcBef>
                <a:spcPts val="400"/>
              </a:spcBef>
              <a:buSzPct val="100000"/>
              <a:buChar char="•"/>
            </a:pPr>
            <a:r>
              <a:rPr lang="en-US" sz="1800" dirty="0">
                <a:solidFill>
                  <a:srgbClr val="000000"/>
                </a:solidFill>
                <a:latin typeface="Aptos" pitchFamily="34" charset="0"/>
                <a:ea typeface="Aptos" pitchFamily="34" charset="-122"/>
                <a:cs typeface="Aptos" pitchFamily="34" charset="-120"/>
              </a:rPr>
              <a:t>Images in HTML: width, height, lazy loading, srcset</a:t>
            </a:r>
            <a:endParaRPr lang="en-US" sz="2200" dirty="0"/>
          </a:p>
          <a:p>
            <a:pPr marL="685800" lvl="1" indent="-342900">
              <a:spcBef>
                <a:spcPts val="400"/>
              </a:spcBef>
              <a:buSzPct val="100000"/>
              <a:buChar char="•"/>
            </a:pPr>
            <a:r>
              <a:rPr lang="en-US" sz="1800" dirty="0">
                <a:solidFill>
                  <a:srgbClr val="000000"/>
                </a:solidFill>
                <a:latin typeface="Aptos" pitchFamily="34" charset="0"/>
                <a:ea typeface="Aptos" pitchFamily="34" charset="-122"/>
                <a:cs typeface="Aptos" pitchFamily="34" charset="-120"/>
              </a:rPr>
              <a:t>Choosing the right format: a checklist</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2F2"/>
        </a:solidFill>
        <a:effectLst/>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txBody>
          <a:bodyPr/>
          <a:lstStyle/>
          <a:p>
            <a:endParaRPr lang="en-US"/>
          </a:p>
        </p:txBody>
      </p:sp>
      <p:sp>
        <p:nvSpPr>
          <p:cNvPr id="3" name="Text 1"/>
          <p:cNvSpPr txBox="1"/>
          <p:nvPr/>
        </p:nvSpPr>
        <p:spPr>
          <a:xfrm>
            <a:off x="868680" y="548640"/>
            <a:ext cx="2560320" cy="1280160"/>
          </a:xfrm>
          <a:prstGeom prst="rect">
            <a:avLst/>
          </a:prstGeom>
          <a:noFill/>
          <a:ln/>
        </p:spPr>
        <p:txBody>
          <a:bodyPr wrap="square" lIns="0" tIns="0" rIns="0" bIns="0" rtlCol="0" anchor="t"/>
          <a:lstStyle/>
          <a:p>
            <a:pPr marL="0" indent="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txBody>
          <a:bodyPr/>
          <a:lstStyle/>
          <a:p>
            <a:endParaRPr lang="en-US"/>
          </a:p>
        </p:txBody>
      </p:sp>
      <p:sp>
        <p:nvSpPr>
          <p:cNvPr id="5" name="Text 3"/>
          <p:cNvSpPr txBox="1"/>
          <p:nvPr/>
        </p:nvSpPr>
        <p:spPr>
          <a:xfrm>
            <a:off x="4754880" y="822960"/>
            <a:ext cx="6903720" cy="868680"/>
          </a:xfrm>
          <a:prstGeom prst="rect">
            <a:avLst/>
          </a:prstGeom>
          <a:noFill/>
          <a:ln/>
        </p:spPr>
        <p:txBody>
          <a:bodyPr wrap="square" lIns="0" tIns="0" rIns="0" bIns="0" rtlCol="0" anchor="t"/>
          <a:lstStyle/>
          <a:p>
            <a:pPr marL="0" indent="0">
              <a:buNone/>
            </a:pPr>
            <a:r>
              <a:rPr lang="en-US" sz="2800" b="1" dirty="0">
                <a:solidFill>
                  <a:srgbClr val="000000"/>
                </a:solidFill>
                <a:latin typeface="Aptos" pitchFamily="34" charset="0"/>
                <a:ea typeface="Aptos" pitchFamily="34" charset="-122"/>
                <a:cs typeface="Aptos" pitchFamily="34" charset="-120"/>
              </a:rPr>
              <a:t>Before We Start: Get Ready</a:t>
            </a:r>
            <a:endParaRPr lang="en-US" sz="2800" dirty="0"/>
          </a:p>
        </p:txBody>
      </p:sp>
      <p:sp>
        <p:nvSpPr>
          <p:cNvPr id="7" name="Text 4"/>
          <p:cNvSpPr txBox="1"/>
          <p:nvPr/>
        </p:nvSpPr>
        <p:spPr>
          <a:xfrm>
            <a:off x="4754880" y="1783080"/>
            <a:ext cx="6903720" cy="365760"/>
          </a:xfrm>
          <a:prstGeom prst="rect">
            <a:avLst/>
          </a:prstGeom>
          <a:noFill/>
          <a:ln/>
        </p:spPr>
        <p:txBody>
          <a:bodyPr wrap="square" lIns="0" tIns="0" rIns="0" bIns="0" rtlCol="0" anchor="ctr"/>
          <a:lstStyle/>
          <a:p>
            <a:pPr marL="0" indent="0">
              <a:buNone/>
            </a:pPr>
            <a:r>
              <a:rPr lang="en-US" sz="1800" b="1" dirty="0">
                <a:solidFill>
                  <a:srgbClr val="000000"/>
                </a:solidFill>
                <a:latin typeface="Aptos" pitchFamily="34" charset="0"/>
                <a:ea typeface="Aptos" pitchFamily="34" charset="-122"/>
                <a:cs typeface="Aptos" pitchFamily="34" charset="-120"/>
              </a:rPr>
              <a:t>1.  Pull this week's examples</a:t>
            </a:r>
            <a:endParaRPr lang="en-US" sz="1800" dirty="0"/>
          </a:p>
        </p:txBody>
      </p:sp>
      <p:sp>
        <p:nvSpPr>
          <p:cNvPr id="8" name="Shape 5"/>
          <p:cNvSpPr/>
          <p:nvPr/>
        </p:nvSpPr>
        <p:spPr>
          <a:xfrm>
            <a:off x="4754880" y="2240280"/>
            <a:ext cx="4754880" cy="640080"/>
          </a:xfrm>
          <a:prstGeom prst="rect">
            <a:avLst/>
          </a:prstGeom>
          <a:solidFill>
            <a:srgbClr val="1E1E1E"/>
          </a:solidFill>
          <a:ln w="12700">
            <a:solidFill>
              <a:srgbClr val="1E1E1E"/>
            </a:solidFill>
            <a:prstDash val="solid"/>
          </a:ln>
          <a:effectLst>
            <a:outerShdw blurRad="101600" dist="38100" dir="5400000" algn="bl" rotWithShape="0">
              <a:srgbClr val="000000">
                <a:alpha val="35000"/>
              </a:srgbClr>
            </a:outerShdw>
          </a:effectLst>
        </p:spPr>
        <p:txBody>
          <a:bodyPr/>
          <a:lstStyle/>
          <a:p>
            <a:endParaRPr lang="en-US"/>
          </a:p>
        </p:txBody>
      </p:sp>
      <p:sp>
        <p:nvSpPr>
          <p:cNvPr id="9" name="Text 6"/>
          <p:cNvSpPr txBox="1"/>
          <p:nvPr/>
        </p:nvSpPr>
        <p:spPr>
          <a:xfrm>
            <a:off x="4870094" y="2355494"/>
            <a:ext cx="4524451" cy="409651"/>
          </a:xfrm>
          <a:prstGeom prst="rect">
            <a:avLst/>
          </a:prstGeom>
          <a:noFill/>
          <a:ln/>
        </p:spPr>
        <p:txBody>
          <a:bodyPr wrap="square" lIns="0" tIns="0" rIns="0" bIns="0" rtlCol="0" anchor="t"/>
          <a:lstStyle/>
          <a:p>
            <a:pPr marL="0" indent="0">
              <a:lnSpc>
                <a:spcPct val="100000"/>
              </a:lnSpc>
              <a:buNone/>
            </a:pPr>
            <a:r>
              <a:rPr lang="en-US" sz="1600" dirty="0">
                <a:solidFill>
                  <a:srgbClr val="D4D4D4"/>
                </a:solidFill>
                <a:latin typeface="Consolas" pitchFamily="34" charset="0"/>
                <a:ea typeface="Consolas" pitchFamily="34" charset="-122"/>
                <a:cs typeface="Consolas" pitchFamily="34" charset="-120"/>
              </a:rPr>
              <a:t>git pull</a:t>
            </a:r>
            <a:endParaRPr lang="en-US" sz="1600" dirty="0"/>
          </a:p>
        </p:txBody>
      </p:sp>
      <p:sp>
        <p:nvSpPr>
          <p:cNvPr id="10" name="Text 7"/>
          <p:cNvSpPr txBox="1"/>
          <p:nvPr/>
        </p:nvSpPr>
        <p:spPr>
          <a:xfrm>
            <a:off x="4754880" y="2971800"/>
            <a:ext cx="6903720" cy="457200"/>
          </a:xfrm>
          <a:prstGeom prst="rect">
            <a:avLst/>
          </a:prstGeom>
          <a:noFill/>
          <a:ln/>
        </p:spPr>
        <p:txBody>
          <a:bodyPr wrap="square" lIns="0" tIns="0" rIns="0" bIns="0" rtlCol="0" anchor="ctr"/>
          <a:lstStyle/>
          <a:p>
            <a:pPr marL="0" indent="0">
              <a:buNone/>
            </a:pPr>
            <a:r>
              <a:rPr lang="en-US" sz="1500" dirty="0">
                <a:solidFill>
                  <a:srgbClr val="262626"/>
                </a:solidFill>
                <a:latin typeface="Aptos" pitchFamily="34" charset="0"/>
                <a:ea typeface="Aptos" pitchFamily="34" charset="-122"/>
                <a:cs typeface="Aptos" pitchFamily="34" charset="-120"/>
              </a:rPr>
              <a:t>New folder: 04_Images_for_the_Web (examples 01–05, samples/, image_lab.html, my_images/).</a:t>
            </a:r>
            <a:endParaRPr lang="en-US" sz="1500" dirty="0"/>
          </a:p>
        </p:txBody>
      </p:sp>
      <p:sp>
        <p:nvSpPr>
          <p:cNvPr id="11" name="Text 8"/>
          <p:cNvSpPr txBox="1"/>
          <p:nvPr/>
        </p:nvSpPr>
        <p:spPr>
          <a:xfrm>
            <a:off x="4754880" y="3611880"/>
            <a:ext cx="6903720" cy="365760"/>
          </a:xfrm>
          <a:prstGeom prst="rect">
            <a:avLst/>
          </a:prstGeom>
          <a:noFill/>
          <a:ln/>
        </p:spPr>
        <p:txBody>
          <a:bodyPr wrap="square" lIns="0" tIns="0" rIns="0" bIns="0" rtlCol="0" anchor="ctr"/>
          <a:lstStyle/>
          <a:p>
            <a:pPr marL="0" indent="0">
              <a:buNone/>
            </a:pPr>
            <a:r>
              <a:rPr lang="en-US" sz="1800" b="1" dirty="0">
                <a:solidFill>
                  <a:srgbClr val="000000"/>
                </a:solidFill>
                <a:latin typeface="Aptos" pitchFamily="34" charset="0"/>
                <a:ea typeface="Aptos" pitchFamily="34" charset="-122"/>
                <a:cs typeface="Aptos" pitchFamily="34" charset="-120"/>
              </a:rPr>
              <a:t>2.  Get a big photo onto your laptop</a:t>
            </a:r>
            <a:endParaRPr lang="en-US" sz="1800" dirty="0"/>
          </a:p>
        </p:txBody>
      </p:sp>
      <p:sp>
        <p:nvSpPr>
          <p:cNvPr id="12" name="Text 9"/>
          <p:cNvSpPr txBox="1"/>
          <p:nvPr/>
        </p:nvSpPr>
        <p:spPr>
          <a:xfrm>
            <a:off x="4754880" y="4023360"/>
            <a:ext cx="6903720" cy="731520"/>
          </a:xfrm>
          <a:prstGeom prst="rect">
            <a:avLst/>
          </a:prstGeom>
          <a:noFill/>
          <a:ln/>
        </p:spPr>
        <p:txBody>
          <a:bodyPr wrap="square" lIns="0" tIns="0" rIns="0" bIns="0" rtlCol="0" anchor="ctr"/>
          <a:lstStyle/>
          <a:p>
            <a:pPr marL="0" indent="0">
              <a:buNone/>
            </a:pPr>
            <a:r>
              <a:rPr lang="en-US" sz="1500" dirty="0">
                <a:solidFill>
                  <a:srgbClr val="262626"/>
                </a:solidFill>
                <a:latin typeface="Aptos" pitchFamily="34" charset="0"/>
                <a:ea typeface="Aptos" pitchFamily="34" charset="-122"/>
                <a:cs typeface="Aptos" pitchFamily="34" charset="-120"/>
              </a:rPr>
              <a:t>A photo from your phone is best (OneDrive, email, or a cable). No photo? Download a free one at full size from unsplash.com. Save it as my_images/original.jpg.</a:t>
            </a:r>
            <a:endParaRPr lang="en-US" sz="1500" dirty="0"/>
          </a:p>
        </p:txBody>
      </p:sp>
      <p:sp>
        <p:nvSpPr>
          <p:cNvPr id="13" name="Text 10"/>
          <p:cNvSpPr txBox="1"/>
          <p:nvPr/>
        </p:nvSpPr>
        <p:spPr>
          <a:xfrm>
            <a:off x="4754880" y="4937760"/>
            <a:ext cx="6903720" cy="365760"/>
          </a:xfrm>
          <a:prstGeom prst="rect">
            <a:avLst/>
          </a:prstGeom>
          <a:noFill/>
          <a:ln/>
        </p:spPr>
        <p:txBody>
          <a:bodyPr wrap="square" lIns="0" tIns="0" rIns="0" bIns="0" rtlCol="0" anchor="ctr"/>
          <a:lstStyle/>
          <a:p>
            <a:pPr marL="0" indent="0">
              <a:buNone/>
            </a:pPr>
            <a:r>
              <a:rPr lang="en-US" sz="1800" b="1" dirty="0">
                <a:solidFill>
                  <a:srgbClr val="000000"/>
                </a:solidFill>
                <a:latin typeface="Aptos" pitchFamily="34" charset="0"/>
                <a:ea typeface="Aptos" pitchFamily="34" charset="-122"/>
                <a:cs typeface="Aptos" pitchFamily="34" charset="-120"/>
              </a:rPr>
              <a:t>3.  Open Pixlr</a:t>
            </a:r>
            <a:endParaRPr lang="en-US" sz="1800" dirty="0"/>
          </a:p>
        </p:txBody>
      </p:sp>
      <p:sp>
        <p:nvSpPr>
          <p:cNvPr id="14" name="Text 11"/>
          <p:cNvSpPr txBox="1"/>
          <p:nvPr/>
        </p:nvSpPr>
        <p:spPr>
          <a:xfrm>
            <a:off x="4754880" y="5349240"/>
            <a:ext cx="6903720" cy="457200"/>
          </a:xfrm>
          <a:prstGeom prst="rect">
            <a:avLst/>
          </a:prstGeom>
          <a:noFill/>
          <a:ln/>
        </p:spPr>
        <p:txBody>
          <a:bodyPr wrap="square" lIns="0" tIns="0" rIns="0" bIns="0" rtlCol="0" anchor="ctr"/>
          <a:lstStyle/>
          <a:p>
            <a:pPr marL="0" indent="0">
              <a:buNone/>
            </a:pPr>
            <a:r>
              <a:rPr lang="en-US" sz="1500" dirty="0">
                <a:solidFill>
                  <a:srgbClr val="262626"/>
                </a:solidFill>
                <a:latin typeface="Aptos" pitchFamily="34" charset="0"/>
                <a:ea typeface="Aptos" pitchFamily="34" charset="-122"/>
                <a:cs typeface="Aptos" pitchFamily="34" charset="-120"/>
              </a:rPr>
              <a:t>pixlr.com → Pixlr Editor. Backup if Pixlr won't save: squoosh.app</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2F2"/>
        </a:solidFill>
        <a:effectLst/>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txBody>
          <a:bodyPr/>
          <a:lstStyle/>
          <a:p>
            <a:endParaRPr lang="en-US"/>
          </a:p>
        </p:txBody>
      </p:sp>
      <p:sp>
        <p:nvSpPr>
          <p:cNvPr id="3" name="Text 1"/>
          <p:cNvSpPr txBox="1"/>
          <p:nvPr/>
        </p:nvSpPr>
        <p:spPr>
          <a:xfrm>
            <a:off x="868680" y="548640"/>
            <a:ext cx="2560320" cy="1280160"/>
          </a:xfrm>
          <a:prstGeom prst="rect">
            <a:avLst/>
          </a:prstGeom>
          <a:noFill/>
          <a:ln/>
        </p:spPr>
        <p:txBody>
          <a:bodyPr wrap="square" lIns="0" tIns="0" rIns="0" bIns="0" rtlCol="0" anchor="t"/>
          <a:lstStyle/>
          <a:p>
            <a:pPr marL="0" indent="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txBody>
          <a:bodyPr/>
          <a:lstStyle/>
          <a:p>
            <a:endParaRPr lang="en-US"/>
          </a:p>
        </p:txBody>
      </p:sp>
      <p:sp>
        <p:nvSpPr>
          <p:cNvPr id="5" name="Text 3"/>
          <p:cNvSpPr txBox="1"/>
          <p:nvPr/>
        </p:nvSpPr>
        <p:spPr>
          <a:xfrm>
            <a:off x="4754880" y="822960"/>
            <a:ext cx="6903720" cy="868680"/>
          </a:xfrm>
          <a:prstGeom prst="rect">
            <a:avLst/>
          </a:prstGeom>
          <a:noFill/>
          <a:ln/>
        </p:spPr>
        <p:txBody>
          <a:bodyPr wrap="square" lIns="0" tIns="0" rIns="0" bIns="0" rtlCol="0" anchor="t"/>
          <a:lstStyle/>
          <a:p>
            <a:pPr marL="0" indent="0">
              <a:buNone/>
            </a:pPr>
            <a:r>
              <a:rPr lang="en-US" sz="2800" b="1" dirty="0">
                <a:solidFill>
                  <a:srgbClr val="000000"/>
                </a:solidFill>
                <a:latin typeface="Aptos" pitchFamily="34" charset="0"/>
                <a:ea typeface="Aptos" pitchFamily="34" charset="-122"/>
                <a:cs typeface="Aptos" pitchFamily="34" charset="-120"/>
              </a:rPr>
              <a:t>Why Do Images Matter So Much?</a:t>
            </a:r>
            <a:endParaRPr lang="en-US" sz="2800" dirty="0"/>
          </a:p>
        </p:txBody>
      </p:sp>
      <p:sp>
        <p:nvSpPr>
          <p:cNvPr id="7" name="Shape 4"/>
          <p:cNvSpPr/>
          <p:nvPr/>
        </p:nvSpPr>
        <p:spPr>
          <a:xfrm>
            <a:off x="4754880" y="1828800"/>
            <a:ext cx="3337560" cy="1920240"/>
          </a:xfrm>
          <a:prstGeom prst="roundRect">
            <a:avLst>
              <a:gd name="adj" fmla="val 5714"/>
            </a:avLst>
          </a:prstGeom>
          <a:solidFill>
            <a:srgbClr val="FFFFFF"/>
          </a:solidFill>
          <a:ln w="9525">
            <a:solidFill>
              <a:srgbClr val="D0D7DB"/>
            </a:solidFill>
            <a:prstDash val="solid"/>
          </a:ln>
          <a:effectLst>
            <a:outerShdw blurRad="76200" dist="25400" dir="5400000" algn="bl" rotWithShape="0">
              <a:srgbClr val="000000">
                <a:alpha val="12000"/>
              </a:srgbClr>
            </a:outerShdw>
          </a:effectLst>
        </p:spPr>
        <p:txBody>
          <a:bodyPr/>
          <a:lstStyle/>
          <a:p>
            <a:endParaRPr lang="en-US"/>
          </a:p>
        </p:txBody>
      </p:sp>
      <p:sp>
        <p:nvSpPr>
          <p:cNvPr id="8" name="Shape 5"/>
          <p:cNvSpPr/>
          <p:nvPr/>
        </p:nvSpPr>
        <p:spPr>
          <a:xfrm>
            <a:off x="4937760" y="2029968"/>
            <a:ext cx="502920" cy="502920"/>
          </a:xfrm>
          <a:prstGeom prst="ellipse">
            <a:avLst/>
          </a:prstGeom>
          <a:solidFill>
            <a:srgbClr val="E97132"/>
          </a:solidFill>
          <a:ln w="12700">
            <a:solidFill>
              <a:srgbClr val="E97132"/>
            </a:solidFill>
            <a:prstDash val="solid"/>
          </a:ln>
        </p:spPr>
        <p:txBody>
          <a:bodyPr/>
          <a:lstStyle/>
          <a:p>
            <a:endParaRPr lang="en-US"/>
          </a:p>
        </p:txBody>
      </p:sp>
      <p:sp>
        <p:nvSpPr>
          <p:cNvPr id="9" name="Text 6"/>
          <p:cNvSpPr txBox="1"/>
          <p:nvPr/>
        </p:nvSpPr>
        <p:spPr>
          <a:xfrm>
            <a:off x="4937760" y="2029968"/>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Aptos" pitchFamily="34" charset="0"/>
                <a:ea typeface="Aptos" pitchFamily="34" charset="-122"/>
                <a:cs typeface="Aptos" pitchFamily="34" charset="-120"/>
              </a:rPr>
              <a:t>1</a:t>
            </a:r>
            <a:endParaRPr lang="en-US" sz="1800" dirty="0"/>
          </a:p>
        </p:txBody>
      </p:sp>
      <p:sp>
        <p:nvSpPr>
          <p:cNvPr id="10" name="Text 7"/>
          <p:cNvSpPr txBox="1"/>
          <p:nvPr/>
        </p:nvSpPr>
        <p:spPr>
          <a:xfrm>
            <a:off x="5577840" y="2029968"/>
            <a:ext cx="2423160" cy="502920"/>
          </a:xfrm>
          <a:prstGeom prst="rect">
            <a:avLst/>
          </a:prstGeom>
          <a:noFill/>
          <a:ln/>
        </p:spPr>
        <p:txBody>
          <a:bodyPr wrap="square" lIns="0" tIns="0" rIns="0" bIns="0" rtlCol="0" anchor="ctr"/>
          <a:lstStyle/>
          <a:p>
            <a:pPr marL="0" indent="0">
              <a:buNone/>
            </a:pPr>
            <a:r>
              <a:rPr lang="en-US" sz="1800" b="1" dirty="0">
                <a:solidFill>
                  <a:srgbClr val="000000"/>
                </a:solidFill>
                <a:latin typeface="Aptos" pitchFamily="34" charset="0"/>
                <a:ea typeface="Aptos" pitchFamily="34" charset="-122"/>
                <a:cs typeface="Aptos" pitchFamily="34" charset="-120"/>
              </a:rPr>
              <a:t>Speed</a:t>
            </a:r>
            <a:endParaRPr lang="en-US" sz="1800" dirty="0"/>
          </a:p>
        </p:txBody>
      </p:sp>
      <p:sp>
        <p:nvSpPr>
          <p:cNvPr id="11" name="Text 8"/>
          <p:cNvSpPr txBox="1"/>
          <p:nvPr/>
        </p:nvSpPr>
        <p:spPr>
          <a:xfrm>
            <a:off x="4983480" y="2697480"/>
            <a:ext cx="2926080" cy="914400"/>
          </a:xfrm>
          <a:prstGeom prst="rect">
            <a:avLst/>
          </a:prstGeom>
          <a:noFill/>
          <a:ln/>
        </p:spPr>
        <p:txBody>
          <a:bodyPr wrap="square" lIns="0" tIns="0" rIns="0" bIns="0" rtlCol="0" anchor="t"/>
          <a:lstStyle/>
          <a:p>
            <a:pPr marL="0" indent="0">
              <a:buNone/>
            </a:pPr>
            <a:r>
              <a:rPr lang="en-US" sz="1400" dirty="0">
                <a:solidFill>
                  <a:srgbClr val="595959"/>
                </a:solidFill>
                <a:latin typeface="Aptos" pitchFamily="34" charset="0"/>
                <a:ea typeface="Aptos" pitchFamily="34" charset="-122"/>
                <a:cs typeface="Aptos" pitchFamily="34" charset="-120"/>
              </a:rPr>
              <a:t>Images are usually the heaviest part of a page. Smaller images = faster pages.</a:t>
            </a:r>
            <a:endParaRPr lang="en-US" sz="1400" dirty="0"/>
          </a:p>
        </p:txBody>
      </p:sp>
      <p:sp>
        <p:nvSpPr>
          <p:cNvPr id="12" name="Shape 9"/>
          <p:cNvSpPr/>
          <p:nvPr/>
        </p:nvSpPr>
        <p:spPr>
          <a:xfrm>
            <a:off x="8321040" y="1828800"/>
            <a:ext cx="3337560" cy="1920240"/>
          </a:xfrm>
          <a:prstGeom prst="roundRect">
            <a:avLst>
              <a:gd name="adj" fmla="val 5714"/>
            </a:avLst>
          </a:prstGeom>
          <a:solidFill>
            <a:srgbClr val="FFFFFF"/>
          </a:solidFill>
          <a:ln w="9525">
            <a:solidFill>
              <a:srgbClr val="D0D7DB"/>
            </a:solidFill>
            <a:prstDash val="solid"/>
          </a:ln>
          <a:effectLst>
            <a:outerShdw blurRad="76200" dist="25400" dir="5400000" algn="bl" rotWithShape="0">
              <a:srgbClr val="000000">
                <a:alpha val="12000"/>
              </a:srgbClr>
            </a:outerShdw>
          </a:effectLst>
        </p:spPr>
        <p:txBody>
          <a:bodyPr/>
          <a:lstStyle/>
          <a:p>
            <a:endParaRPr lang="en-US"/>
          </a:p>
        </p:txBody>
      </p:sp>
      <p:sp>
        <p:nvSpPr>
          <p:cNvPr id="13" name="Shape 10"/>
          <p:cNvSpPr/>
          <p:nvPr/>
        </p:nvSpPr>
        <p:spPr>
          <a:xfrm>
            <a:off x="8503920" y="2029968"/>
            <a:ext cx="502920" cy="502920"/>
          </a:xfrm>
          <a:prstGeom prst="ellipse">
            <a:avLst/>
          </a:prstGeom>
          <a:solidFill>
            <a:srgbClr val="1B5E82"/>
          </a:solidFill>
          <a:ln w="12700">
            <a:solidFill>
              <a:srgbClr val="1B5E82"/>
            </a:solidFill>
            <a:prstDash val="solid"/>
          </a:ln>
        </p:spPr>
        <p:txBody>
          <a:bodyPr/>
          <a:lstStyle/>
          <a:p>
            <a:endParaRPr lang="en-US"/>
          </a:p>
        </p:txBody>
      </p:sp>
      <p:sp>
        <p:nvSpPr>
          <p:cNvPr id="14" name="Text 11"/>
          <p:cNvSpPr txBox="1"/>
          <p:nvPr/>
        </p:nvSpPr>
        <p:spPr>
          <a:xfrm>
            <a:off x="8503920" y="2029968"/>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Aptos" pitchFamily="34" charset="0"/>
                <a:ea typeface="Aptos" pitchFamily="34" charset="-122"/>
                <a:cs typeface="Aptos" pitchFamily="34" charset="-120"/>
              </a:rPr>
              <a:t>2</a:t>
            </a:r>
            <a:endParaRPr lang="en-US" sz="1800" dirty="0"/>
          </a:p>
        </p:txBody>
      </p:sp>
      <p:sp>
        <p:nvSpPr>
          <p:cNvPr id="15" name="Text 12"/>
          <p:cNvSpPr txBox="1"/>
          <p:nvPr/>
        </p:nvSpPr>
        <p:spPr>
          <a:xfrm>
            <a:off x="9144000" y="2029968"/>
            <a:ext cx="2423160" cy="502920"/>
          </a:xfrm>
          <a:prstGeom prst="rect">
            <a:avLst/>
          </a:prstGeom>
          <a:noFill/>
          <a:ln/>
        </p:spPr>
        <p:txBody>
          <a:bodyPr wrap="square" lIns="0" tIns="0" rIns="0" bIns="0" rtlCol="0" anchor="ctr"/>
          <a:lstStyle/>
          <a:p>
            <a:pPr marL="0" indent="0">
              <a:buNone/>
            </a:pPr>
            <a:r>
              <a:rPr lang="en-US" sz="1800" b="1" dirty="0">
                <a:solidFill>
                  <a:srgbClr val="000000"/>
                </a:solidFill>
                <a:latin typeface="Aptos" pitchFamily="34" charset="0"/>
                <a:ea typeface="Aptos" pitchFamily="34" charset="-122"/>
                <a:cs typeface="Aptos" pitchFamily="34" charset="-120"/>
              </a:rPr>
              <a:t>Mobile data</a:t>
            </a:r>
            <a:endParaRPr lang="en-US" sz="1800" dirty="0"/>
          </a:p>
        </p:txBody>
      </p:sp>
      <p:sp>
        <p:nvSpPr>
          <p:cNvPr id="16" name="Text 13"/>
          <p:cNvSpPr txBox="1"/>
          <p:nvPr/>
        </p:nvSpPr>
        <p:spPr>
          <a:xfrm>
            <a:off x="8549640" y="2697480"/>
            <a:ext cx="2926080" cy="914400"/>
          </a:xfrm>
          <a:prstGeom prst="rect">
            <a:avLst/>
          </a:prstGeom>
          <a:noFill/>
          <a:ln/>
        </p:spPr>
        <p:txBody>
          <a:bodyPr wrap="square" lIns="0" tIns="0" rIns="0" bIns="0" rtlCol="0" anchor="t"/>
          <a:lstStyle/>
          <a:p>
            <a:pPr marL="0" indent="0">
              <a:buNone/>
            </a:pPr>
            <a:r>
              <a:rPr lang="en-US" sz="1400" dirty="0">
                <a:solidFill>
                  <a:srgbClr val="595959"/>
                </a:solidFill>
                <a:latin typeface="Aptos" pitchFamily="34" charset="0"/>
                <a:ea typeface="Aptos" pitchFamily="34" charset="-122"/>
                <a:cs typeface="Aptos" pitchFamily="34" charset="-120"/>
              </a:rPr>
              <a:t>A 5 MB photo on a phone plan costs the visitor real money and time.</a:t>
            </a:r>
            <a:endParaRPr lang="en-US" sz="1400" dirty="0"/>
          </a:p>
        </p:txBody>
      </p:sp>
      <p:sp>
        <p:nvSpPr>
          <p:cNvPr id="17" name="Shape 14"/>
          <p:cNvSpPr/>
          <p:nvPr/>
        </p:nvSpPr>
        <p:spPr>
          <a:xfrm>
            <a:off x="4754880" y="3977640"/>
            <a:ext cx="3337560" cy="1920240"/>
          </a:xfrm>
          <a:prstGeom prst="roundRect">
            <a:avLst>
              <a:gd name="adj" fmla="val 5714"/>
            </a:avLst>
          </a:prstGeom>
          <a:solidFill>
            <a:srgbClr val="FFFFFF"/>
          </a:solidFill>
          <a:ln w="9525">
            <a:solidFill>
              <a:srgbClr val="D0D7DB"/>
            </a:solidFill>
            <a:prstDash val="solid"/>
          </a:ln>
          <a:effectLst>
            <a:outerShdw blurRad="76200" dist="25400" dir="5400000" algn="bl" rotWithShape="0">
              <a:srgbClr val="000000">
                <a:alpha val="12000"/>
              </a:srgbClr>
            </a:outerShdw>
          </a:effectLst>
        </p:spPr>
        <p:txBody>
          <a:bodyPr/>
          <a:lstStyle/>
          <a:p>
            <a:endParaRPr lang="en-US"/>
          </a:p>
        </p:txBody>
      </p:sp>
      <p:sp>
        <p:nvSpPr>
          <p:cNvPr id="18" name="Shape 15"/>
          <p:cNvSpPr/>
          <p:nvPr/>
        </p:nvSpPr>
        <p:spPr>
          <a:xfrm>
            <a:off x="4937760" y="4178808"/>
            <a:ext cx="502920" cy="502920"/>
          </a:xfrm>
          <a:prstGeom prst="ellipse">
            <a:avLst/>
          </a:prstGeom>
          <a:solidFill>
            <a:srgbClr val="A02B93"/>
          </a:solidFill>
          <a:ln w="12700">
            <a:solidFill>
              <a:srgbClr val="A02B93"/>
            </a:solidFill>
            <a:prstDash val="solid"/>
          </a:ln>
        </p:spPr>
        <p:txBody>
          <a:bodyPr/>
          <a:lstStyle/>
          <a:p>
            <a:endParaRPr lang="en-US"/>
          </a:p>
        </p:txBody>
      </p:sp>
      <p:sp>
        <p:nvSpPr>
          <p:cNvPr id="19" name="Text 16"/>
          <p:cNvSpPr txBox="1"/>
          <p:nvPr/>
        </p:nvSpPr>
        <p:spPr>
          <a:xfrm>
            <a:off x="4937760" y="4178808"/>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Aptos" pitchFamily="34" charset="0"/>
                <a:ea typeface="Aptos" pitchFamily="34" charset="-122"/>
                <a:cs typeface="Aptos" pitchFamily="34" charset="-120"/>
              </a:rPr>
              <a:t>3</a:t>
            </a:r>
            <a:endParaRPr lang="en-US" sz="1800" dirty="0"/>
          </a:p>
        </p:txBody>
      </p:sp>
      <p:sp>
        <p:nvSpPr>
          <p:cNvPr id="20" name="Text 17"/>
          <p:cNvSpPr txBox="1"/>
          <p:nvPr/>
        </p:nvSpPr>
        <p:spPr>
          <a:xfrm>
            <a:off x="5577840" y="4178808"/>
            <a:ext cx="2423160" cy="502920"/>
          </a:xfrm>
          <a:prstGeom prst="rect">
            <a:avLst/>
          </a:prstGeom>
          <a:noFill/>
          <a:ln/>
        </p:spPr>
        <p:txBody>
          <a:bodyPr wrap="square" lIns="0" tIns="0" rIns="0" bIns="0" rtlCol="0" anchor="ctr"/>
          <a:lstStyle/>
          <a:p>
            <a:pPr marL="0" indent="0">
              <a:buNone/>
            </a:pPr>
            <a:r>
              <a:rPr lang="en-US" sz="1800" b="1" dirty="0">
                <a:solidFill>
                  <a:srgbClr val="000000"/>
                </a:solidFill>
                <a:latin typeface="Aptos" pitchFamily="34" charset="0"/>
                <a:ea typeface="Aptos" pitchFamily="34" charset="-122"/>
                <a:cs typeface="Aptos" pitchFamily="34" charset="-120"/>
              </a:rPr>
              <a:t>Search ranking</a:t>
            </a:r>
            <a:endParaRPr lang="en-US" sz="1800" dirty="0"/>
          </a:p>
        </p:txBody>
      </p:sp>
      <p:sp>
        <p:nvSpPr>
          <p:cNvPr id="21" name="Text 18"/>
          <p:cNvSpPr txBox="1"/>
          <p:nvPr/>
        </p:nvSpPr>
        <p:spPr>
          <a:xfrm>
            <a:off x="4983480" y="4846320"/>
            <a:ext cx="2926080" cy="914400"/>
          </a:xfrm>
          <a:prstGeom prst="rect">
            <a:avLst/>
          </a:prstGeom>
          <a:noFill/>
          <a:ln/>
        </p:spPr>
        <p:txBody>
          <a:bodyPr wrap="square" lIns="0" tIns="0" rIns="0" bIns="0" rtlCol="0" anchor="t"/>
          <a:lstStyle/>
          <a:p>
            <a:pPr marL="0" indent="0">
              <a:buNone/>
            </a:pPr>
            <a:r>
              <a:rPr lang="en-US" sz="1400" dirty="0">
                <a:solidFill>
                  <a:srgbClr val="595959"/>
                </a:solidFill>
                <a:latin typeface="Aptos" pitchFamily="34" charset="0"/>
                <a:ea typeface="Aptos" pitchFamily="34" charset="-122"/>
                <a:cs typeface="Aptos" pitchFamily="34" charset="-120"/>
              </a:rPr>
              <a:t>Google measures how fast the biggest image appears (LCP).</a:t>
            </a:r>
            <a:endParaRPr lang="en-US" sz="1400" dirty="0"/>
          </a:p>
        </p:txBody>
      </p:sp>
      <p:sp>
        <p:nvSpPr>
          <p:cNvPr id="22" name="Shape 19"/>
          <p:cNvSpPr/>
          <p:nvPr/>
        </p:nvSpPr>
        <p:spPr>
          <a:xfrm>
            <a:off x="8321040" y="3977640"/>
            <a:ext cx="3337560" cy="1920240"/>
          </a:xfrm>
          <a:prstGeom prst="roundRect">
            <a:avLst>
              <a:gd name="adj" fmla="val 5714"/>
            </a:avLst>
          </a:prstGeom>
          <a:solidFill>
            <a:srgbClr val="FFFFFF"/>
          </a:solidFill>
          <a:ln w="9525">
            <a:solidFill>
              <a:srgbClr val="D0D7DB"/>
            </a:solidFill>
            <a:prstDash val="solid"/>
          </a:ln>
          <a:effectLst>
            <a:outerShdw blurRad="76200" dist="25400" dir="5400000" algn="bl" rotWithShape="0">
              <a:srgbClr val="000000">
                <a:alpha val="12000"/>
              </a:srgbClr>
            </a:outerShdw>
          </a:effectLst>
        </p:spPr>
        <p:txBody>
          <a:bodyPr/>
          <a:lstStyle/>
          <a:p>
            <a:endParaRPr lang="en-US"/>
          </a:p>
        </p:txBody>
      </p:sp>
      <p:sp>
        <p:nvSpPr>
          <p:cNvPr id="23" name="Shape 20"/>
          <p:cNvSpPr/>
          <p:nvPr/>
        </p:nvSpPr>
        <p:spPr>
          <a:xfrm>
            <a:off x="8503920" y="4178808"/>
            <a:ext cx="502920" cy="502920"/>
          </a:xfrm>
          <a:prstGeom prst="ellipse">
            <a:avLst/>
          </a:prstGeom>
          <a:solidFill>
            <a:srgbClr val="0F9ED5"/>
          </a:solidFill>
          <a:ln w="12700">
            <a:solidFill>
              <a:srgbClr val="0F9ED5"/>
            </a:solidFill>
            <a:prstDash val="solid"/>
          </a:ln>
        </p:spPr>
        <p:txBody>
          <a:bodyPr/>
          <a:lstStyle/>
          <a:p>
            <a:endParaRPr lang="en-US"/>
          </a:p>
        </p:txBody>
      </p:sp>
      <p:sp>
        <p:nvSpPr>
          <p:cNvPr id="24" name="Text 21"/>
          <p:cNvSpPr txBox="1"/>
          <p:nvPr/>
        </p:nvSpPr>
        <p:spPr>
          <a:xfrm>
            <a:off x="8503920" y="4178808"/>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Aptos" pitchFamily="34" charset="0"/>
                <a:ea typeface="Aptos" pitchFamily="34" charset="-122"/>
                <a:cs typeface="Aptos" pitchFamily="34" charset="-120"/>
              </a:rPr>
              <a:t>4</a:t>
            </a:r>
            <a:endParaRPr lang="en-US" sz="1800" dirty="0"/>
          </a:p>
        </p:txBody>
      </p:sp>
      <p:sp>
        <p:nvSpPr>
          <p:cNvPr id="25" name="Text 22"/>
          <p:cNvSpPr txBox="1"/>
          <p:nvPr/>
        </p:nvSpPr>
        <p:spPr>
          <a:xfrm>
            <a:off x="9144000" y="4178808"/>
            <a:ext cx="2423160" cy="502920"/>
          </a:xfrm>
          <a:prstGeom prst="rect">
            <a:avLst/>
          </a:prstGeom>
          <a:noFill/>
          <a:ln/>
        </p:spPr>
        <p:txBody>
          <a:bodyPr wrap="square" lIns="0" tIns="0" rIns="0" bIns="0" rtlCol="0" anchor="ctr"/>
          <a:lstStyle/>
          <a:p>
            <a:pPr marL="0" indent="0">
              <a:buNone/>
            </a:pPr>
            <a:r>
              <a:rPr lang="en-US" sz="1800" b="1" dirty="0">
                <a:solidFill>
                  <a:srgbClr val="000000"/>
                </a:solidFill>
                <a:latin typeface="Aptos" pitchFamily="34" charset="0"/>
                <a:ea typeface="Aptos" pitchFamily="34" charset="-122"/>
                <a:cs typeface="Aptos" pitchFamily="34" charset="-120"/>
              </a:rPr>
              <a:t>Requirements</a:t>
            </a:r>
            <a:endParaRPr lang="en-US" sz="1800" dirty="0"/>
          </a:p>
        </p:txBody>
      </p:sp>
      <p:sp>
        <p:nvSpPr>
          <p:cNvPr id="26" name="Text 23"/>
          <p:cNvSpPr txBox="1"/>
          <p:nvPr/>
        </p:nvSpPr>
        <p:spPr>
          <a:xfrm>
            <a:off x="8549640" y="4846320"/>
            <a:ext cx="2926080" cy="914400"/>
          </a:xfrm>
          <a:prstGeom prst="rect">
            <a:avLst/>
          </a:prstGeom>
          <a:noFill/>
          <a:ln/>
        </p:spPr>
        <p:txBody>
          <a:bodyPr wrap="square" lIns="0" tIns="0" rIns="0" bIns="0" rtlCol="0" anchor="t"/>
          <a:lstStyle/>
          <a:p>
            <a:pPr marL="0" indent="0">
              <a:buNone/>
            </a:pPr>
            <a:r>
              <a:rPr lang="en-US" sz="1400" dirty="0">
                <a:solidFill>
                  <a:srgbClr val="595959"/>
                </a:solidFill>
                <a:latin typeface="Aptos" pitchFamily="34" charset="0"/>
                <a:ea typeface="Aptos" pitchFamily="34" charset="-122"/>
                <a:cs typeface="Aptos" pitchFamily="34" charset="-120"/>
              </a:rPr>
              <a:t>"Pages load in under 2 seconds" [NF]. Images are how you meet it.</a:t>
            </a:r>
            <a:endParaRPr lang="en-US" sz="1400" dirty="0"/>
          </a:p>
        </p:txBody>
      </p:sp>
      <p:sp>
        <p:nvSpPr>
          <p:cNvPr id="27" name="Shape 24"/>
          <p:cNvSpPr/>
          <p:nvPr/>
        </p:nvSpPr>
        <p:spPr>
          <a:xfrm>
            <a:off x="4754880" y="5943600"/>
            <a:ext cx="6903720" cy="548640"/>
          </a:xfrm>
          <a:prstGeom prst="roundRect">
            <a:avLst>
              <a:gd name="adj" fmla="val 20000"/>
            </a:avLst>
          </a:prstGeom>
          <a:solidFill>
            <a:srgbClr val="262626"/>
          </a:solidFill>
          <a:ln w="9525">
            <a:solidFill>
              <a:srgbClr val="262626"/>
            </a:solidFill>
            <a:prstDash val="solid"/>
          </a:ln>
          <a:effectLst>
            <a:outerShdw blurRad="76200" dist="25400" dir="5400000" algn="bl" rotWithShape="0">
              <a:srgbClr val="000000">
                <a:alpha val="12000"/>
              </a:srgbClr>
            </a:outerShdw>
          </a:effectLst>
        </p:spPr>
        <p:txBody>
          <a:bodyPr/>
          <a:lstStyle/>
          <a:p>
            <a:endParaRPr lang="en-US"/>
          </a:p>
        </p:txBody>
      </p:sp>
      <p:sp>
        <p:nvSpPr>
          <p:cNvPr id="28" name="Text 25"/>
          <p:cNvSpPr txBox="1"/>
          <p:nvPr/>
        </p:nvSpPr>
        <p:spPr>
          <a:xfrm>
            <a:off x="5029200" y="5943600"/>
            <a:ext cx="6355080" cy="548640"/>
          </a:xfrm>
          <a:prstGeom prst="rect">
            <a:avLst/>
          </a:prstGeom>
          <a:noFill/>
          <a:ln/>
        </p:spPr>
        <p:txBody>
          <a:bodyPr wrap="square" lIns="0" tIns="0" rIns="0" bIns="0" rtlCol="0" anchor="ctr"/>
          <a:lstStyle/>
          <a:p>
            <a:pPr marL="0" indent="0">
              <a:buNone/>
            </a:pPr>
            <a:r>
              <a:rPr lang="en-US" sz="1500" b="1" dirty="0">
                <a:solidFill>
                  <a:srgbClr val="FFFFFF"/>
                </a:solidFill>
                <a:latin typeface="Aptos" pitchFamily="34" charset="0"/>
                <a:ea typeface="Aptos" pitchFamily="34" charset="-122"/>
                <a:cs typeface="Aptos" pitchFamily="34" charset="-120"/>
              </a:rPr>
              <a:t>Goal: the smallest file that still looks good at the size it's shown.</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2F2"/>
        </a:solidFill>
        <a:effectLst/>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txBody>
          <a:bodyPr/>
          <a:lstStyle/>
          <a:p>
            <a:endParaRPr lang="en-US"/>
          </a:p>
        </p:txBody>
      </p:sp>
      <p:sp>
        <p:nvSpPr>
          <p:cNvPr id="3" name="Text 1"/>
          <p:cNvSpPr txBox="1"/>
          <p:nvPr/>
        </p:nvSpPr>
        <p:spPr>
          <a:xfrm>
            <a:off x="868680" y="548640"/>
            <a:ext cx="2560320" cy="1280160"/>
          </a:xfrm>
          <a:prstGeom prst="rect">
            <a:avLst/>
          </a:prstGeom>
          <a:noFill/>
          <a:ln/>
        </p:spPr>
        <p:txBody>
          <a:bodyPr wrap="square" lIns="0" tIns="0" rIns="0" bIns="0" rtlCol="0" anchor="t"/>
          <a:lstStyle/>
          <a:p>
            <a:pPr marL="0" indent="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txBody>
          <a:bodyPr/>
          <a:lstStyle/>
          <a:p>
            <a:endParaRPr lang="en-US"/>
          </a:p>
        </p:txBody>
      </p:sp>
      <p:sp>
        <p:nvSpPr>
          <p:cNvPr id="5" name="Text 3"/>
          <p:cNvSpPr txBox="1"/>
          <p:nvPr/>
        </p:nvSpPr>
        <p:spPr>
          <a:xfrm>
            <a:off x="4754880" y="822960"/>
            <a:ext cx="6903720" cy="868680"/>
          </a:xfrm>
          <a:prstGeom prst="rect">
            <a:avLst/>
          </a:prstGeom>
          <a:noFill/>
          <a:ln/>
        </p:spPr>
        <p:txBody>
          <a:bodyPr wrap="square" lIns="0" tIns="0" rIns="0" bIns="0" rtlCol="0" anchor="t"/>
          <a:lstStyle/>
          <a:p>
            <a:pPr marL="0" indent="0">
              <a:buNone/>
            </a:pPr>
            <a:r>
              <a:rPr lang="en-US" sz="2800" b="1" dirty="0">
                <a:solidFill>
                  <a:srgbClr val="000000"/>
                </a:solidFill>
                <a:latin typeface="Aptos" pitchFamily="34" charset="0"/>
                <a:ea typeface="Aptos" pitchFamily="34" charset="-122"/>
                <a:cs typeface="Aptos" pitchFamily="34" charset="-120"/>
              </a:rPr>
              <a:t>Pixels and Dimensions</a:t>
            </a:r>
            <a:endParaRPr lang="en-US" sz="2800" dirty="0"/>
          </a:p>
        </p:txBody>
      </p:sp>
      <p:pic>
        <p:nvPicPr>
          <p:cNvPr id="7" name="Image 0" descr="C:\Repos\2026-2027\WEBD1000\04_Images_for_the_Web\_build\zoom_q90.png"/>
          <p:cNvPicPr>
            <a:picLocks noChangeAspect="1"/>
          </p:cNvPicPr>
          <p:nvPr/>
        </p:nvPicPr>
        <p:blipFill>
          <a:blip r:embed="rId3"/>
          <a:stretch>
            <a:fillRect/>
          </a:stretch>
        </p:blipFill>
        <p:spPr>
          <a:xfrm>
            <a:off x="4754880" y="1783080"/>
            <a:ext cx="3108960" cy="2075688"/>
          </a:xfrm>
          <a:prstGeom prst="rect">
            <a:avLst/>
          </a:prstGeom>
        </p:spPr>
      </p:pic>
      <p:sp>
        <p:nvSpPr>
          <p:cNvPr id="8" name="Shape 4"/>
          <p:cNvSpPr/>
          <p:nvPr/>
        </p:nvSpPr>
        <p:spPr>
          <a:xfrm>
            <a:off x="4754880" y="1783080"/>
            <a:ext cx="3108960" cy="2075688"/>
          </a:xfrm>
          <a:prstGeom prst="rect">
            <a:avLst/>
          </a:prstGeom>
          <a:ln w="12700">
            <a:solidFill>
              <a:srgbClr val="7F7F7F"/>
            </a:solidFill>
            <a:prstDash val="solid"/>
          </a:ln>
        </p:spPr>
        <p:txBody>
          <a:bodyPr/>
          <a:lstStyle/>
          <a:p>
            <a:endParaRPr lang="en-US"/>
          </a:p>
        </p:txBody>
      </p:sp>
      <p:sp>
        <p:nvSpPr>
          <p:cNvPr id="9" name="Text 5"/>
          <p:cNvSpPr txBox="1"/>
          <p:nvPr/>
        </p:nvSpPr>
        <p:spPr>
          <a:xfrm>
            <a:off x="4754880" y="3931920"/>
            <a:ext cx="3108960" cy="320040"/>
          </a:xfrm>
          <a:prstGeom prst="rect">
            <a:avLst/>
          </a:prstGeom>
          <a:noFill/>
          <a:ln/>
        </p:spPr>
        <p:txBody>
          <a:bodyPr wrap="square" lIns="0" tIns="0" rIns="0" bIns="0" rtlCol="0" anchor="ctr"/>
          <a:lstStyle/>
          <a:p>
            <a:pPr marL="0" indent="0">
              <a:buNone/>
            </a:pPr>
            <a:r>
              <a:rPr lang="en-US" sz="1250" i="1" dirty="0">
                <a:solidFill>
                  <a:srgbClr val="595959"/>
                </a:solidFill>
                <a:latin typeface="Aptos" pitchFamily="34" charset="0"/>
                <a:ea typeface="Aptos" pitchFamily="34" charset="-122"/>
                <a:cs typeface="Aptos" pitchFamily="34" charset="-120"/>
              </a:rPr>
              <a:t>Zoomed in 5×: every square is one pixel.</a:t>
            </a:r>
            <a:endParaRPr lang="en-US" sz="1250" dirty="0"/>
          </a:p>
        </p:txBody>
      </p:sp>
      <p:sp>
        <p:nvSpPr>
          <p:cNvPr id="10" name="Text 6"/>
          <p:cNvSpPr txBox="1"/>
          <p:nvPr/>
        </p:nvSpPr>
        <p:spPr>
          <a:xfrm>
            <a:off x="8138160" y="1783080"/>
            <a:ext cx="3520440" cy="2468880"/>
          </a:xfrm>
          <a:prstGeom prst="rect">
            <a:avLst/>
          </a:prstGeom>
          <a:noFill/>
          <a:ln/>
        </p:spPr>
        <p:txBody>
          <a:bodyPr wrap="square" lIns="0" tIns="0" rIns="0" bIns="0" rtlCol="0" anchor="t"/>
          <a:lstStyle/>
          <a:p>
            <a:pPr marL="342900" indent="-342900">
              <a:buSzPct val="100000"/>
              <a:buChar char="•"/>
            </a:pPr>
            <a:r>
              <a:rPr lang="en-US" sz="1450" dirty="0">
                <a:solidFill>
                  <a:srgbClr val="262626"/>
                </a:solidFill>
                <a:latin typeface="Aptos" pitchFamily="34" charset="0"/>
                <a:ea typeface="Aptos" pitchFamily="34" charset="-122"/>
                <a:cs typeface="Aptos" pitchFamily="34" charset="-120"/>
              </a:rPr>
              <a:t>​</a:t>
            </a:r>
            <a:r>
              <a:rPr lang="en-US" sz="1450" b="1" dirty="0">
                <a:solidFill>
                  <a:srgbClr val="262626"/>
                </a:solidFill>
                <a:latin typeface="Aptos" pitchFamily="34" charset="0"/>
                <a:ea typeface="Aptos" pitchFamily="34" charset="-122"/>
                <a:cs typeface="Aptos" pitchFamily="34" charset="-120"/>
              </a:rPr>
              <a:t>Raster</a:t>
            </a:r>
            <a:r>
              <a:rPr lang="en-US" sz="1450" dirty="0">
                <a:solidFill>
                  <a:srgbClr val="262626"/>
                </a:solidFill>
                <a:latin typeface="Aptos" pitchFamily="34" charset="0"/>
                <a:ea typeface="Aptos" pitchFamily="34" charset="-122"/>
                <a:cs typeface="Aptos" pitchFamily="34" charset="-120"/>
              </a:rPr>
              <a:t> images are a grid of </a:t>
            </a:r>
            <a:r>
              <a:rPr lang="en-US" sz="1450" b="1" dirty="0">
                <a:solidFill>
                  <a:srgbClr val="262626"/>
                </a:solidFill>
                <a:latin typeface="Aptos" pitchFamily="34" charset="0"/>
                <a:ea typeface="Aptos" pitchFamily="34" charset="-122"/>
                <a:cs typeface="Aptos" pitchFamily="34" charset="-120"/>
              </a:rPr>
              <a:t>pixels</a:t>
            </a:r>
            <a:r>
              <a:rPr lang="en-US" sz="1450" dirty="0">
                <a:solidFill>
                  <a:srgbClr val="262626"/>
                </a:solidFill>
                <a:latin typeface="Aptos" pitchFamily="34" charset="0"/>
                <a:ea typeface="Aptos" pitchFamily="34" charset="-122"/>
                <a:cs typeface="Aptos" pitchFamily="34" charset="-120"/>
              </a:rPr>
              <a:t>. Each pixel is one colour.</a:t>
            </a:r>
            <a:endParaRPr lang="en-US" sz="1450" dirty="0"/>
          </a:p>
          <a:p>
            <a:pPr marL="342900" indent="-342900">
              <a:spcBef>
                <a:spcPts val="900"/>
              </a:spcBef>
              <a:buSzPct val="100000"/>
              <a:buChar char="•"/>
            </a:pPr>
            <a:r>
              <a:rPr lang="en-US" sz="1450" dirty="0">
                <a:solidFill>
                  <a:srgbClr val="262626"/>
                </a:solidFill>
                <a:latin typeface="Aptos" pitchFamily="34" charset="0"/>
                <a:ea typeface="Aptos" pitchFamily="34" charset="-122"/>
                <a:cs typeface="Aptos" pitchFamily="34" charset="-120"/>
              </a:rPr>
              <a:t>​</a:t>
            </a:r>
            <a:r>
              <a:rPr lang="en-US" sz="1450" b="1" dirty="0">
                <a:solidFill>
                  <a:srgbClr val="262626"/>
                </a:solidFill>
                <a:latin typeface="Aptos" pitchFamily="34" charset="0"/>
                <a:ea typeface="Aptos" pitchFamily="34" charset="-122"/>
                <a:cs typeface="Aptos" pitchFamily="34" charset="-120"/>
              </a:rPr>
              <a:t>Dimensions</a:t>
            </a:r>
            <a:r>
              <a:rPr lang="en-US" sz="1450" dirty="0">
                <a:solidFill>
                  <a:srgbClr val="262626"/>
                </a:solidFill>
                <a:latin typeface="Aptos" pitchFamily="34" charset="0"/>
                <a:ea typeface="Aptos" pitchFamily="34" charset="-122"/>
                <a:cs typeface="Aptos" pitchFamily="34" charset="-120"/>
              </a:rPr>
              <a:t> = width × height in pixels, e.g. </a:t>
            </a:r>
            <a:r>
              <a:rPr lang="en-US" sz="1450" b="1" dirty="0">
                <a:solidFill>
                  <a:srgbClr val="262626"/>
                </a:solidFill>
                <a:latin typeface="Aptos" pitchFamily="34" charset="0"/>
                <a:ea typeface="Aptos" pitchFamily="34" charset="-122"/>
                <a:cs typeface="Aptos" pitchFamily="34" charset="-120"/>
              </a:rPr>
              <a:t>4032 × 3024</a:t>
            </a:r>
            <a:r>
              <a:rPr lang="en-US" sz="1450" dirty="0">
                <a:solidFill>
                  <a:srgbClr val="262626"/>
                </a:solidFill>
                <a:latin typeface="Aptos" pitchFamily="34" charset="0"/>
                <a:ea typeface="Aptos" pitchFamily="34" charset="-122"/>
                <a:cs typeface="Aptos" pitchFamily="34" charset="-120"/>
              </a:rPr>
              <a:t>.</a:t>
            </a:r>
            <a:endParaRPr lang="en-US" sz="1450" dirty="0"/>
          </a:p>
          <a:p>
            <a:pPr marL="342900" indent="-342900">
              <a:spcBef>
                <a:spcPts val="900"/>
              </a:spcBef>
              <a:buSzPct val="100000"/>
              <a:buChar char="•"/>
            </a:pPr>
            <a:r>
              <a:rPr lang="en-US" sz="1450" dirty="0">
                <a:solidFill>
                  <a:srgbClr val="262626"/>
                </a:solidFill>
                <a:latin typeface="Aptos" pitchFamily="34" charset="0"/>
                <a:ea typeface="Aptos" pitchFamily="34" charset="-122"/>
                <a:cs typeface="Aptos" pitchFamily="34" charset="-120"/>
              </a:rPr>
              <a:t>​</a:t>
            </a:r>
            <a:r>
              <a:rPr lang="en-US" sz="1450" b="1" dirty="0">
                <a:solidFill>
                  <a:srgbClr val="262626"/>
                </a:solidFill>
                <a:latin typeface="Aptos" pitchFamily="34" charset="0"/>
                <a:ea typeface="Aptos" pitchFamily="34" charset="-122"/>
                <a:cs typeface="Aptos" pitchFamily="34" charset="-120"/>
              </a:rPr>
              <a:t>Megapixels</a:t>
            </a:r>
            <a:r>
              <a:rPr lang="en-US" sz="1450" dirty="0">
                <a:solidFill>
                  <a:srgbClr val="262626"/>
                </a:solidFill>
                <a:latin typeface="Aptos" pitchFamily="34" charset="0"/>
                <a:ea typeface="Aptos" pitchFamily="34" charset="-122"/>
                <a:cs typeface="Aptos" pitchFamily="34" charset="-120"/>
              </a:rPr>
              <a:t> = width × height ÷ 1 million. That one is 12 MP.</a:t>
            </a:r>
            <a:endParaRPr lang="en-US" sz="1450" dirty="0"/>
          </a:p>
        </p:txBody>
      </p:sp>
      <p:sp>
        <p:nvSpPr>
          <p:cNvPr id="11" name="Shape 7"/>
          <p:cNvSpPr/>
          <p:nvPr/>
        </p:nvSpPr>
        <p:spPr>
          <a:xfrm>
            <a:off x="4754880" y="4480560"/>
            <a:ext cx="6903720" cy="1691640"/>
          </a:xfrm>
          <a:prstGeom prst="roundRect">
            <a:avLst>
              <a:gd name="adj" fmla="val 6486"/>
            </a:avLst>
          </a:prstGeom>
          <a:solidFill>
            <a:srgbClr val="FFFFFF"/>
          </a:solidFill>
          <a:ln w="9525">
            <a:solidFill>
              <a:srgbClr val="D0D7DB"/>
            </a:solidFill>
            <a:prstDash val="solid"/>
          </a:ln>
          <a:effectLst>
            <a:outerShdw blurRad="76200" dist="25400" dir="5400000" algn="bl" rotWithShape="0">
              <a:srgbClr val="000000">
                <a:alpha val="12000"/>
              </a:srgbClr>
            </a:outerShdw>
          </a:effectLst>
        </p:spPr>
        <p:txBody>
          <a:bodyPr/>
          <a:lstStyle/>
          <a:p>
            <a:endParaRPr lang="en-US"/>
          </a:p>
        </p:txBody>
      </p:sp>
      <p:sp>
        <p:nvSpPr>
          <p:cNvPr id="12" name="Shape 8"/>
          <p:cNvSpPr/>
          <p:nvPr/>
        </p:nvSpPr>
        <p:spPr>
          <a:xfrm>
            <a:off x="4937760" y="4663440"/>
            <a:ext cx="411480" cy="411480"/>
          </a:xfrm>
          <a:prstGeom prst="ellipse">
            <a:avLst/>
          </a:prstGeom>
          <a:solidFill>
            <a:srgbClr val="A02B93"/>
          </a:solidFill>
          <a:ln w="12700">
            <a:solidFill>
              <a:srgbClr val="A02B93"/>
            </a:solidFill>
            <a:prstDash val="solid"/>
          </a:ln>
        </p:spPr>
        <p:txBody>
          <a:bodyPr/>
          <a:lstStyle/>
          <a:p>
            <a:endParaRPr lang="en-US"/>
          </a:p>
        </p:txBody>
      </p:sp>
      <p:sp>
        <p:nvSpPr>
          <p:cNvPr id="13" name="Text 9"/>
          <p:cNvSpPr txBox="1"/>
          <p:nvPr/>
        </p:nvSpPr>
        <p:spPr>
          <a:xfrm>
            <a:off x="4937760" y="4663440"/>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Aptos" pitchFamily="34" charset="0"/>
                <a:ea typeface="Aptos" pitchFamily="34" charset="-122"/>
                <a:cs typeface="Aptos" pitchFamily="34" charset="-120"/>
              </a:rPr>
              <a:t>!</a:t>
            </a:r>
            <a:endParaRPr lang="en-US" sz="1300" dirty="0"/>
          </a:p>
        </p:txBody>
      </p:sp>
      <p:sp>
        <p:nvSpPr>
          <p:cNvPr id="14" name="Text 10"/>
          <p:cNvSpPr txBox="1"/>
          <p:nvPr/>
        </p:nvSpPr>
        <p:spPr>
          <a:xfrm>
            <a:off x="5486400" y="4663440"/>
            <a:ext cx="5989320" cy="411480"/>
          </a:xfrm>
          <a:prstGeom prst="rect">
            <a:avLst/>
          </a:prstGeom>
          <a:noFill/>
          <a:ln/>
        </p:spPr>
        <p:txBody>
          <a:bodyPr wrap="square" lIns="0" tIns="0" rIns="0" bIns="0" rtlCol="0" anchor="ctr"/>
          <a:lstStyle/>
          <a:p>
            <a:pPr marL="0" indent="0">
              <a:buNone/>
            </a:pPr>
            <a:r>
              <a:rPr lang="en-US" sz="1600" b="1" dirty="0">
                <a:solidFill>
                  <a:srgbClr val="000000"/>
                </a:solidFill>
                <a:latin typeface="Aptos" pitchFamily="34" charset="0"/>
                <a:ea typeface="Aptos" pitchFamily="34" charset="-122"/>
                <a:cs typeface="Aptos" pitchFamily="34" charset="-120"/>
              </a:rPr>
              <a:t>What about DPI?</a:t>
            </a:r>
            <a:endParaRPr lang="en-US" sz="1600" dirty="0"/>
          </a:p>
        </p:txBody>
      </p:sp>
      <p:sp>
        <p:nvSpPr>
          <p:cNvPr id="15" name="Text 11"/>
          <p:cNvSpPr txBox="1"/>
          <p:nvPr/>
        </p:nvSpPr>
        <p:spPr>
          <a:xfrm>
            <a:off x="4983480" y="5166360"/>
            <a:ext cx="6446520" cy="914400"/>
          </a:xfrm>
          <a:prstGeom prst="rect">
            <a:avLst/>
          </a:prstGeom>
          <a:noFill/>
          <a:ln/>
        </p:spPr>
        <p:txBody>
          <a:bodyPr wrap="square" lIns="0" tIns="0" rIns="0" bIns="0" rtlCol="0" anchor="t"/>
          <a:lstStyle/>
          <a:p>
            <a:pPr marL="0" indent="0">
              <a:buNone/>
            </a:pPr>
            <a:r>
              <a:rPr lang="en-US" sz="1400" dirty="0">
                <a:solidFill>
                  <a:srgbClr val="262626"/>
                </a:solidFill>
                <a:latin typeface="Aptos" pitchFamily="34" charset="0"/>
                <a:ea typeface="Aptos" pitchFamily="34" charset="-122"/>
                <a:cs typeface="Aptos" pitchFamily="34" charset="-120"/>
              </a:rPr>
              <a:t>​DPI (dots per inch) only matters for </a:t>
            </a:r>
            <a:r>
              <a:rPr lang="en-US" sz="1400" b="1" dirty="0">
                <a:solidFill>
                  <a:srgbClr val="262626"/>
                </a:solidFill>
                <a:latin typeface="Aptos" pitchFamily="34" charset="0"/>
                <a:ea typeface="Aptos" pitchFamily="34" charset="-122"/>
                <a:cs typeface="Aptos" pitchFamily="34" charset="-120"/>
              </a:rPr>
              <a:t>printing</a:t>
            </a:r>
            <a:r>
              <a:rPr lang="en-US" sz="1400" dirty="0">
                <a:solidFill>
                  <a:srgbClr val="262626"/>
                </a:solidFill>
                <a:latin typeface="Aptos" pitchFamily="34" charset="0"/>
                <a:ea typeface="Aptos" pitchFamily="34" charset="-122"/>
                <a:cs typeface="Aptos" pitchFamily="34" charset="-120"/>
              </a:rPr>
              <a:t>. Browsers ignore it. A 1200-pixel-wide image is 1200 pixels wide at 72 dpi or 300 dpi. </a:t>
            </a:r>
            <a:r>
              <a:rPr lang="en-US" sz="1400" b="1" dirty="0">
                <a:solidFill>
                  <a:srgbClr val="262626"/>
                </a:solidFill>
                <a:latin typeface="Aptos" pitchFamily="34" charset="0"/>
                <a:ea typeface="Aptos" pitchFamily="34" charset="-122"/>
                <a:cs typeface="Aptos" pitchFamily="34" charset="-120"/>
              </a:rPr>
              <a:t>On the web, only pixels count.</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2F2"/>
        </a:solidFill>
        <a:effectLst/>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txBody>
          <a:bodyPr/>
          <a:lstStyle/>
          <a:p>
            <a:endParaRPr lang="en-US"/>
          </a:p>
        </p:txBody>
      </p:sp>
      <p:sp>
        <p:nvSpPr>
          <p:cNvPr id="3" name="Text 1"/>
          <p:cNvSpPr txBox="1"/>
          <p:nvPr/>
        </p:nvSpPr>
        <p:spPr>
          <a:xfrm>
            <a:off x="868680" y="548640"/>
            <a:ext cx="2560320" cy="1280160"/>
          </a:xfrm>
          <a:prstGeom prst="rect">
            <a:avLst/>
          </a:prstGeom>
          <a:noFill/>
          <a:ln/>
        </p:spPr>
        <p:txBody>
          <a:bodyPr wrap="square" lIns="0" tIns="0" rIns="0" bIns="0" rtlCol="0" anchor="t"/>
          <a:lstStyle/>
          <a:p>
            <a:pPr marL="0" indent="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txBody>
          <a:bodyPr/>
          <a:lstStyle/>
          <a:p>
            <a:endParaRPr lang="en-US"/>
          </a:p>
        </p:txBody>
      </p:sp>
      <p:sp>
        <p:nvSpPr>
          <p:cNvPr id="5" name="Text 3"/>
          <p:cNvSpPr txBox="1"/>
          <p:nvPr/>
        </p:nvSpPr>
        <p:spPr>
          <a:xfrm>
            <a:off x="4754880" y="822960"/>
            <a:ext cx="6903720" cy="868680"/>
          </a:xfrm>
          <a:prstGeom prst="rect">
            <a:avLst/>
          </a:prstGeom>
          <a:noFill/>
          <a:ln/>
        </p:spPr>
        <p:txBody>
          <a:bodyPr wrap="square" lIns="0" tIns="0" rIns="0" bIns="0" rtlCol="0" anchor="t"/>
          <a:lstStyle/>
          <a:p>
            <a:pPr marL="0" indent="0">
              <a:buNone/>
            </a:pPr>
            <a:r>
              <a:rPr lang="en-US" sz="2800" b="1" dirty="0">
                <a:solidFill>
                  <a:srgbClr val="000000"/>
                </a:solidFill>
                <a:latin typeface="Aptos" pitchFamily="34" charset="0"/>
                <a:ea typeface="Aptos" pitchFamily="34" charset="-122"/>
                <a:cs typeface="Aptos" pitchFamily="34" charset="-120"/>
              </a:rPr>
              <a:t>Colour Depth (Bit Depth)</a:t>
            </a:r>
            <a:endParaRPr lang="en-US" sz="2800" dirty="0"/>
          </a:p>
        </p:txBody>
      </p:sp>
      <p:pic>
        <p:nvPicPr>
          <p:cNvPr id="7" name="Image 0" descr="C:\Repos\2026-2027\WEBD1000\04_Images_for_the_Web\_build\depth_beach_original.png"/>
          <p:cNvPicPr>
            <a:picLocks noChangeAspect="1"/>
          </p:cNvPicPr>
          <p:nvPr/>
        </p:nvPicPr>
        <p:blipFill>
          <a:blip r:embed="rId3"/>
          <a:stretch>
            <a:fillRect/>
          </a:stretch>
        </p:blipFill>
        <p:spPr>
          <a:xfrm>
            <a:off x="4754880" y="1783080"/>
            <a:ext cx="2194560" cy="1257953"/>
          </a:xfrm>
          <a:prstGeom prst="rect">
            <a:avLst/>
          </a:prstGeom>
        </p:spPr>
      </p:pic>
      <p:sp>
        <p:nvSpPr>
          <p:cNvPr id="8" name="Text 4"/>
          <p:cNvSpPr txBox="1"/>
          <p:nvPr/>
        </p:nvSpPr>
        <p:spPr>
          <a:xfrm>
            <a:off x="4754880" y="3105041"/>
            <a:ext cx="2194560" cy="274320"/>
          </a:xfrm>
          <a:prstGeom prst="rect">
            <a:avLst/>
          </a:prstGeom>
          <a:noFill/>
          <a:ln/>
        </p:spPr>
        <p:txBody>
          <a:bodyPr wrap="square" lIns="0" tIns="0" rIns="0" bIns="0" rtlCol="0" anchor="ctr"/>
          <a:lstStyle/>
          <a:p>
            <a:pPr marL="0" indent="0" algn="ctr">
              <a:buNone/>
            </a:pPr>
            <a:r>
              <a:rPr lang="en-US" sz="1200" b="1" dirty="0">
                <a:solidFill>
                  <a:srgbClr val="262626"/>
                </a:solidFill>
                <a:latin typeface="Aptos" pitchFamily="34" charset="0"/>
                <a:ea typeface="Aptos" pitchFamily="34" charset="-122"/>
                <a:cs typeface="Aptos" pitchFamily="34" charset="-120"/>
              </a:rPr>
              <a:t>24-bit: 16.7 million colours</a:t>
            </a:r>
            <a:endParaRPr lang="en-US" sz="1200" dirty="0"/>
          </a:p>
        </p:txBody>
      </p:sp>
      <p:pic>
        <p:nvPicPr>
          <p:cNvPr id="9" name="Image 1" descr="C:\Repos\2026-2027\WEBD1000\04_Images_for_the_Web\_build\depth_beach.png"/>
          <p:cNvPicPr>
            <a:picLocks noChangeAspect="1"/>
          </p:cNvPicPr>
          <p:nvPr/>
        </p:nvPicPr>
        <p:blipFill>
          <a:blip r:embed="rId4"/>
          <a:stretch>
            <a:fillRect/>
          </a:stretch>
        </p:blipFill>
        <p:spPr>
          <a:xfrm>
            <a:off x="7109460" y="1783080"/>
            <a:ext cx="2194560" cy="1257953"/>
          </a:xfrm>
          <a:prstGeom prst="rect">
            <a:avLst/>
          </a:prstGeom>
        </p:spPr>
      </p:pic>
      <p:sp>
        <p:nvSpPr>
          <p:cNvPr id="10" name="Text 5"/>
          <p:cNvSpPr txBox="1"/>
          <p:nvPr/>
        </p:nvSpPr>
        <p:spPr>
          <a:xfrm>
            <a:off x="7109460" y="3105041"/>
            <a:ext cx="2194560" cy="274320"/>
          </a:xfrm>
          <a:prstGeom prst="rect">
            <a:avLst/>
          </a:prstGeom>
          <a:noFill/>
          <a:ln/>
        </p:spPr>
        <p:txBody>
          <a:bodyPr wrap="square" lIns="0" tIns="0" rIns="0" bIns="0" rtlCol="0" anchor="ctr"/>
          <a:lstStyle/>
          <a:p>
            <a:pPr marL="0" indent="0" algn="ctr">
              <a:buNone/>
            </a:pPr>
            <a:r>
              <a:rPr lang="en-US" sz="1200" b="1" dirty="0">
                <a:solidFill>
                  <a:srgbClr val="262626"/>
                </a:solidFill>
                <a:latin typeface="Aptos" pitchFamily="34" charset="0"/>
                <a:ea typeface="Aptos" pitchFamily="34" charset="-122"/>
                <a:cs typeface="Aptos" pitchFamily="34" charset="-120"/>
              </a:rPr>
              <a:t>8-bit: 256 colours (GIF)</a:t>
            </a:r>
            <a:endParaRPr lang="en-US" sz="1200" dirty="0"/>
          </a:p>
        </p:txBody>
      </p:sp>
      <p:pic>
        <p:nvPicPr>
          <p:cNvPr id="11" name="Image 2" descr="C:\Repos\2026-2027\WEBD1000\04_Images_for_the_Web\_build\depth_beach_16_colours.png"/>
          <p:cNvPicPr>
            <a:picLocks noChangeAspect="1"/>
          </p:cNvPicPr>
          <p:nvPr/>
        </p:nvPicPr>
        <p:blipFill>
          <a:blip r:embed="rId5"/>
          <a:stretch>
            <a:fillRect/>
          </a:stretch>
        </p:blipFill>
        <p:spPr>
          <a:xfrm>
            <a:off x="9464040" y="1783080"/>
            <a:ext cx="2194560" cy="1257953"/>
          </a:xfrm>
          <a:prstGeom prst="rect">
            <a:avLst/>
          </a:prstGeom>
        </p:spPr>
      </p:pic>
      <p:sp>
        <p:nvSpPr>
          <p:cNvPr id="12" name="Text 6"/>
          <p:cNvSpPr txBox="1"/>
          <p:nvPr/>
        </p:nvSpPr>
        <p:spPr>
          <a:xfrm>
            <a:off x="9464040" y="3105041"/>
            <a:ext cx="2194560" cy="274320"/>
          </a:xfrm>
          <a:prstGeom prst="rect">
            <a:avLst/>
          </a:prstGeom>
          <a:noFill/>
          <a:ln/>
        </p:spPr>
        <p:txBody>
          <a:bodyPr wrap="square" lIns="0" tIns="0" rIns="0" bIns="0" rtlCol="0" anchor="ctr"/>
          <a:lstStyle/>
          <a:p>
            <a:pPr marL="0" indent="0" algn="ctr">
              <a:buNone/>
            </a:pPr>
            <a:r>
              <a:rPr lang="en-US" sz="1200" b="1" dirty="0">
                <a:solidFill>
                  <a:srgbClr val="262626"/>
                </a:solidFill>
                <a:latin typeface="Aptos" pitchFamily="34" charset="0"/>
                <a:ea typeface="Aptos" pitchFamily="34" charset="-122"/>
                <a:cs typeface="Aptos" pitchFamily="34" charset="-120"/>
              </a:rPr>
              <a:t>4-bit: 16 colours</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754880" y="3429000"/>
          <a:ext cx="6903720" cy="914400"/>
        </p:xfrm>
        <a:graphic>
          <a:graphicData uri="http://schemas.openxmlformats.org/drawingml/2006/table">
            <a:tbl>
              <a:tblPr/>
              <a:tblGrid>
                <a:gridCol w="155448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tblGrid>
              <a:tr h="384048">
                <a:tc>
                  <a:txBody>
                    <a:bodyPr/>
                    <a:lstStyle/>
                    <a:p>
                      <a:pPr marL="0" indent="0">
                        <a:buNone/>
                      </a:pPr>
                      <a:r>
                        <a:rPr lang="en-US" sz="1350" b="1" dirty="0">
                          <a:solidFill>
                            <a:srgbClr val="FFFFFF"/>
                          </a:solidFill>
                          <a:latin typeface="Aptos" pitchFamily="34" charset="0"/>
                          <a:ea typeface="Aptos" pitchFamily="34" charset="-122"/>
                          <a:cs typeface="Aptos" pitchFamily="34" charset="-120"/>
                        </a:rPr>
                        <a:t>Bits per pixel</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262626"/>
                    </a:solidFill>
                  </a:tcPr>
                </a:tc>
                <a:tc>
                  <a:txBody>
                    <a:bodyPr/>
                    <a:lstStyle/>
                    <a:p>
                      <a:pPr marL="0" indent="0">
                        <a:buNone/>
                      </a:pPr>
                      <a:r>
                        <a:rPr lang="en-US" sz="1350" b="1" dirty="0">
                          <a:solidFill>
                            <a:srgbClr val="FFFFFF"/>
                          </a:solidFill>
                          <a:latin typeface="Aptos" pitchFamily="34" charset="0"/>
                          <a:ea typeface="Aptos" pitchFamily="34" charset="-122"/>
                          <a:cs typeface="Aptos" pitchFamily="34" charset="-120"/>
                        </a:rPr>
                        <a:t>Colours</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262626"/>
                    </a:solidFill>
                  </a:tcPr>
                </a:tc>
                <a:tc>
                  <a:txBody>
                    <a:bodyPr/>
                    <a:lstStyle/>
                    <a:p>
                      <a:pPr marL="0" indent="0">
                        <a:buNone/>
                      </a:pPr>
                      <a:r>
                        <a:rPr lang="en-US" sz="1350" b="1" dirty="0">
                          <a:solidFill>
                            <a:srgbClr val="FFFFFF"/>
                          </a:solidFill>
                          <a:latin typeface="Aptos" pitchFamily="34" charset="0"/>
                          <a:ea typeface="Aptos" pitchFamily="34" charset="-122"/>
                          <a:cs typeface="Aptos" pitchFamily="34" charset="-120"/>
                        </a:rPr>
                        <a:t>Where you see it</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262626"/>
                    </a:solidFill>
                  </a:tcPr>
                </a:tc>
                <a:extLst>
                  <a:ext uri="{0D108BD9-81ED-4DB2-BD59-A6C34878D82A}">
                    <a16:rowId xmlns:a16="http://schemas.microsoft.com/office/drawing/2014/main" val="10000"/>
                  </a:ext>
                </a:extLst>
              </a:tr>
              <a:tr h="384048">
                <a:tc>
                  <a:txBody>
                    <a:bodyPr/>
                    <a:lstStyle/>
                    <a:p>
                      <a:pPr marL="0" indent="0">
                        <a:buNone/>
                      </a:pPr>
                      <a:r>
                        <a:rPr lang="en-US" sz="1350" b="1" dirty="0">
                          <a:solidFill>
                            <a:srgbClr val="000000"/>
                          </a:solidFill>
                          <a:latin typeface="Aptos" pitchFamily="34" charset="0"/>
                          <a:ea typeface="Aptos" pitchFamily="34" charset="-122"/>
                          <a:cs typeface="Aptos" pitchFamily="34" charset="-120"/>
                        </a:rPr>
                        <a:t>1-bit</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marL="0" indent="0">
                        <a:buNone/>
                      </a:pPr>
                      <a:r>
                        <a:rPr lang="en-US" sz="1350" dirty="0">
                          <a:solidFill>
                            <a:srgbClr val="000000"/>
                          </a:solidFill>
                          <a:latin typeface="Aptos" pitchFamily="34" charset="0"/>
                          <a:ea typeface="Aptos" pitchFamily="34" charset="-122"/>
                          <a:cs typeface="Aptos" pitchFamily="34" charset="-120"/>
                        </a:rPr>
                        <a:t>2</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marL="0" indent="0">
                        <a:buNone/>
                      </a:pPr>
                      <a:r>
                        <a:rPr lang="en-US" sz="1350" dirty="0">
                          <a:solidFill>
                            <a:srgbClr val="000000"/>
                          </a:solidFill>
                          <a:latin typeface="Aptos" pitchFamily="34" charset="0"/>
                          <a:ea typeface="Aptos" pitchFamily="34" charset="-122"/>
                          <a:cs typeface="Aptos" pitchFamily="34" charset="-120"/>
                        </a:rPr>
                        <a:t>Black and white only</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350" b="1" dirty="0">
                          <a:solidFill>
                            <a:srgbClr val="000000"/>
                          </a:solidFill>
                          <a:latin typeface="Aptos" pitchFamily="34" charset="0"/>
                          <a:ea typeface="Aptos" pitchFamily="34" charset="-122"/>
                          <a:cs typeface="Aptos" pitchFamily="34" charset="-120"/>
                        </a:rPr>
                        <a:t>8-bit</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marL="0" indent="0">
                        <a:buNone/>
                      </a:pPr>
                      <a:r>
                        <a:rPr lang="en-US" sz="1350" dirty="0">
                          <a:solidFill>
                            <a:srgbClr val="000000"/>
                          </a:solidFill>
                          <a:latin typeface="Aptos" pitchFamily="34" charset="0"/>
                          <a:ea typeface="Aptos" pitchFamily="34" charset="-122"/>
                          <a:cs typeface="Aptos" pitchFamily="34" charset="-120"/>
                        </a:rPr>
                        <a:t>256</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marL="0" indent="0">
                        <a:buNone/>
                      </a:pPr>
                      <a:r>
                        <a:rPr lang="en-US" sz="1350" dirty="0">
                          <a:solidFill>
                            <a:srgbClr val="000000"/>
                          </a:solidFill>
                          <a:latin typeface="Aptos" pitchFamily="34" charset="0"/>
                          <a:ea typeface="Aptos" pitchFamily="34" charset="-122"/>
                          <a:cs typeface="Aptos" pitchFamily="34" charset="-120"/>
                        </a:rPr>
                        <a:t>GIF, PNG-8</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extLst>
                  <a:ext uri="{0D108BD9-81ED-4DB2-BD59-A6C34878D82A}">
                    <a16:rowId xmlns:a16="http://schemas.microsoft.com/office/drawing/2014/main" val="10002"/>
                  </a:ext>
                </a:extLst>
              </a:tr>
              <a:tr h="384048">
                <a:tc>
                  <a:txBody>
                    <a:bodyPr/>
                    <a:lstStyle/>
                    <a:p>
                      <a:pPr marL="0" indent="0">
                        <a:buNone/>
                      </a:pPr>
                      <a:r>
                        <a:rPr lang="en-US" sz="1350" b="1" dirty="0">
                          <a:solidFill>
                            <a:srgbClr val="000000"/>
                          </a:solidFill>
                          <a:latin typeface="Aptos" pitchFamily="34" charset="0"/>
                          <a:ea typeface="Aptos" pitchFamily="34" charset="-122"/>
                          <a:cs typeface="Aptos" pitchFamily="34" charset="-120"/>
                        </a:rPr>
                        <a:t>24-bit</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marL="0" indent="0">
                        <a:buNone/>
                      </a:pPr>
                      <a:r>
                        <a:rPr lang="en-US" sz="1350" dirty="0">
                          <a:solidFill>
                            <a:srgbClr val="000000"/>
                          </a:solidFill>
                          <a:latin typeface="Aptos" pitchFamily="34" charset="0"/>
                          <a:ea typeface="Aptos" pitchFamily="34" charset="-122"/>
                          <a:cs typeface="Aptos" pitchFamily="34" charset="-120"/>
                        </a:rPr>
                        <a:t>16.7 million</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marL="0" indent="0">
                        <a:buNone/>
                      </a:pPr>
                      <a:r>
                        <a:rPr lang="en-US" sz="1350" dirty="0">
                          <a:solidFill>
                            <a:srgbClr val="000000"/>
                          </a:solidFill>
                          <a:latin typeface="Aptos" pitchFamily="34" charset="0"/>
                          <a:ea typeface="Aptos" pitchFamily="34" charset="-122"/>
                          <a:cs typeface="Aptos" pitchFamily="34" charset="-120"/>
                        </a:rPr>
                        <a:t>JPG, PNG-24, WebP: photos</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buNone/>
                      </a:pPr>
                      <a:r>
                        <a:rPr lang="en-US" sz="1350" b="1" dirty="0">
                          <a:solidFill>
                            <a:srgbClr val="000000"/>
                          </a:solidFill>
                          <a:latin typeface="Aptos" pitchFamily="34" charset="0"/>
                          <a:ea typeface="Aptos" pitchFamily="34" charset="-122"/>
                          <a:cs typeface="Aptos" pitchFamily="34" charset="-120"/>
                        </a:rPr>
                        <a:t>32-bit</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marL="0" indent="0">
                        <a:buNone/>
                      </a:pPr>
                      <a:r>
                        <a:rPr lang="en-US" sz="1350" dirty="0">
                          <a:solidFill>
                            <a:srgbClr val="000000"/>
                          </a:solidFill>
                          <a:latin typeface="Aptos" pitchFamily="34" charset="0"/>
                          <a:ea typeface="Aptos" pitchFamily="34" charset="-122"/>
                          <a:cs typeface="Aptos" pitchFamily="34" charset="-120"/>
                        </a:rPr>
                        <a:t>16.7 million + transparency</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marL="0" indent="0">
                        <a:buNone/>
                      </a:pPr>
                      <a:r>
                        <a:rPr lang="en-US" sz="1350" dirty="0">
                          <a:solidFill>
                            <a:srgbClr val="000000"/>
                          </a:solidFill>
                          <a:latin typeface="Aptos" pitchFamily="34" charset="0"/>
                          <a:ea typeface="Aptos" pitchFamily="34" charset="-122"/>
                          <a:cs typeface="Aptos" pitchFamily="34" charset="-120"/>
                        </a:rPr>
                        <a:t>PNG-32, WebP, AVIF with alpha</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extLst>
                  <a:ext uri="{0D108BD9-81ED-4DB2-BD59-A6C34878D82A}">
                    <a16:rowId xmlns:a16="http://schemas.microsoft.com/office/drawing/2014/main" val="10004"/>
                  </a:ext>
                </a:extLst>
              </a:tr>
            </a:tbl>
          </a:graphicData>
        </a:graphic>
      </p:graphicFrame>
      <p:sp>
        <p:nvSpPr>
          <p:cNvPr id="14" name="Text 7"/>
          <p:cNvSpPr txBox="1"/>
          <p:nvPr/>
        </p:nvSpPr>
        <p:spPr>
          <a:xfrm>
            <a:off x="4754880" y="5486400"/>
            <a:ext cx="6903720" cy="365760"/>
          </a:xfrm>
          <a:prstGeom prst="rect">
            <a:avLst/>
          </a:prstGeom>
          <a:noFill/>
          <a:ln/>
        </p:spPr>
        <p:txBody>
          <a:bodyPr wrap="square" lIns="0" tIns="0" rIns="0" bIns="0" rtlCol="0" anchor="ctr"/>
          <a:lstStyle/>
          <a:p>
            <a:pPr marL="0" indent="0">
              <a:buNone/>
            </a:pPr>
            <a:r>
              <a:rPr lang="en-US" sz="1400" i="1" dirty="0">
                <a:solidFill>
                  <a:srgbClr val="595959"/>
                </a:solidFill>
                <a:latin typeface="Aptos" pitchFamily="34" charset="0"/>
                <a:ea typeface="Aptos" pitchFamily="34" charset="-122"/>
                <a:cs typeface="Aptos" pitchFamily="34" charset="-120"/>
              </a:rPr>
              <a:t>Alpha channel = the extra 8 bits that store how see-through each pixel is.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2F2"/>
        </a:solidFill>
        <a:effectLst/>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txBody>
          <a:bodyPr/>
          <a:lstStyle/>
          <a:p>
            <a:endParaRPr lang="en-US"/>
          </a:p>
        </p:txBody>
      </p:sp>
      <p:sp>
        <p:nvSpPr>
          <p:cNvPr id="3" name="Text 1"/>
          <p:cNvSpPr txBox="1"/>
          <p:nvPr/>
        </p:nvSpPr>
        <p:spPr>
          <a:xfrm>
            <a:off x="868680" y="548640"/>
            <a:ext cx="2560320" cy="1280160"/>
          </a:xfrm>
          <a:prstGeom prst="rect">
            <a:avLst/>
          </a:prstGeom>
          <a:noFill/>
          <a:ln/>
        </p:spPr>
        <p:txBody>
          <a:bodyPr wrap="square" lIns="0" tIns="0" rIns="0" bIns="0" rtlCol="0" anchor="t"/>
          <a:lstStyle/>
          <a:p>
            <a:pPr marL="0" indent="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txBody>
          <a:bodyPr/>
          <a:lstStyle/>
          <a:p>
            <a:endParaRPr lang="en-US"/>
          </a:p>
        </p:txBody>
      </p:sp>
      <p:sp>
        <p:nvSpPr>
          <p:cNvPr id="5" name="Text 3"/>
          <p:cNvSpPr txBox="1"/>
          <p:nvPr/>
        </p:nvSpPr>
        <p:spPr>
          <a:xfrm>
            <a:off x="4754880" y="822960"/>
            <a:ext cx="6903720" cy="868680"/>
          </a:xfrm>
          <a:prstGeom prst="rect">
            <a:avLst/>
          </a:prstGeom>
          <a:noFill/>
          <a:ln/>
        </p:spPr>
        <p:txBody>
          <a:bodyPr wrap="square" lIns="0" tIns="0" rIns="0" bIns="0" rtlCol="0" anchor="t"/>
          <a:lstStyle/>
          <a:p>
            <a:pPr marL="0" indent="0">
              <a:buNone/>
            </a:pPr>
            <a:r>
              <a:rPr lang="en-US" sz="2800" b="1" dirty="0">
                <a:solidFill>
                  <a:srgbClr val="000000"/>
                </a:solidFill>
                <a:latin typeface="Aptos" pitchFamily="34" charset="0"/>
                <a:ea typeface="Aptos" pitchFamily="34" charset="-122"/>
                <a:cs typeface="Aptos" pitchFamily="34" charset="-120"/>
              </a:rPr>
              <a:t>Do the Math: Why We Need Compression</a:t>
            </a:r>
            <a:endParaRPr lang="en-US" sz="2800" dirty="0"/>
          </a:p>
        </p:txBody>
      </p:sp>
      <p:sp>
        <p:nvSpPr>
          <p:cNvPr id="7" name="Text 4"/>
          <p:cNvSpPr txBox="1"/>
          <p:nvPr/>
        </p:nvSpPr>
        <p:spPr>
          <a:xfrm>
            <a:off x="4754880" y="1783080"/>
            <a:ext cx="6903720" cy="502920"/>
          </a:xfrm>
          <a:prstGeom prst="rect">
            <a:avLst/>
          </a:prstGeom>
          <a:noFill/>
          <a:ln/>
        </p:spPr>
        <p:txBody>
          <a:bodyPr wrap="square" lIns="0" tIns="0" rIns="0" bIns="0" rtlCol="0" anchor="ctr"/>
          <a:lstStyle/>
          <a:p>
            <a:pPr marL="0" indent="0">
              <a:buNone/>
            </a:pPr>
            <a:r>
              <a:rPr lang="en-US" sz="1900" b="1" dirty="0">
                <a:solidFill>
                  <a:srgbClr val="000000"/>
                </a:solidFill>
                <a:latin typeface="Consolas" pitchFamily="34" charset="0"/>
                <a:ea typeface="Consolas" pitchFamily="34" charset="-122"/>
                <a:cs typeface="Consolas" pitchFamily="34" charset="-120"/>
              </a:rPr>
              <a:t>Uncompressed = width × height × 3 bytes</a:t>
            </a:r>
            <a:endParaRPr lang="en-US" sz="1900" dirty="0"/>
          </a:p>
        </p:txBody>
      </p:sp>
      <p:sp>
        <p:nvSpPr>
          <p:cNvPr id="8" name="Text 5"/>
          <p:cNvSpPr txBox="1"/>
          <p:nvPr/>
        </p:nvSpPr>
        <p:spPr>
          <a:xfrm>
            <a:off x="4754880" y="2286000"/>
            <a:ext cx="6903720" cy="320040"/>
          </a:xfrm>
          <a:prstGeom prst="rect">
            <a:avLst/>
          </a:prstGeom>
          <a:noFill/>
          <a:ln/>
        </p:spPr>
        <p:txBody>
          <a:bodyPr wrap="square" lIns="0" tIns="0" rIns="0" bIns="0" rtlCol="0" anchor="ctr"/>
          <a:lstStyle/>
          <a:p>
            <a:pPr marL="0" indent="0">
              <a:buNone/>
            </a:pPr>
            <a:r>
              <a:rPr lang="en-US" sz="1350" dirty="0">
                <a:solidFill>
                  <a:srgbClr val="595959"/>
                </a:solidFill>
                <a:latin typeface="Aptos" pitchFamily="34" charset="0"/>
                <a:ea typeface="Aptos" pitchFamily="34" charset="-122"/>
                <a:cs typeface="Aptos" pitchFamily="34" charset="-120"/>
              </a:rPr>
              <a:t>(24-bit colour = 3 bytes per pixel: one each for red, green and blue)</a:t>
            </a:r>
            <a:endParaRPr lang="en-US" sz="1350" dirty="0"/>
          </a:p>
        </p:txBody>
      </p:sp>
      <p:sp>
        <p:nvSpPr>
          <p:cNvPr id="9" name="Shape 6"/>
          <p:cNvSpPr/>
          <p:nvPr/>
        </p:nvSpPr>
        <p:spPr>
          <a:xfrm>
            <a:off x="4754880" y="2834640"/>
            <a:ext cx="6903720" cy="1234440"/>
          </a:xfrm>
          <a:prstGeom prst="roundRect">
            <a:avLst>
              <a:gd name="adj" fmla="val 8889"/>
            </a:avLst>
          </a:prstGeom>
          <a:solidFill>
            <a:srgbClr val="FFFFFF"/>
          </a:solidFill>
          <a:ln w="9525">
            <a:solidFill>
              <a:srgbClr val="D0D7DB"/>
            </a:solidFill>
            <a:prstDash val="solid"/>
          </a:ln>
          <a:effectLst>
            <a:outerShdw blurRad="76200" dist="25400" dir="5400000" algn="bl" rotWithShape="0">
              <a:srgbClr val="000000">
                <a:alpha val="12000"/>
              </a:srgbClr>
            </a:outerShdw>
          </a:effectLst>
        </p:spPr>
        <p:txBody>
          <a:bodyPr/>
          <a:lstStyle/>
          <a:p>
            <a:endParaRPr lang="en-US"/>
          </a:p>
        </p:txBody>
      </p:sp>
      <p:sp>
        <p:nvSpPr>
          <p:cNvPr id="10" name="Shape 7"/>
          <p:cNvSpPr/>
          <p:nvPr/>
        </p:nvSpPr>
        <p:spPr>
          <a:xfrm>
            <a:off x="4754880" y="2944368"/>
            <a:ext cx="91440" cy="1014984"/>
          </a:xfrm>
          <a:prstGeom prst="rect">
            <a:avLst/>
          </a:prstGeom>
          <a:solidFill>
            <a:srgbClr val="1B5E82"/>
          </a:solidFill>
          <a:ln/>
        </p:spPr>
        <p:txBody>
          <a:bodyPr/>
          <a:lstStyle/>
          <a:p>
            <a:endParaRPr lang="en-US"/>
          </a:p>
        </p:txBody>
      </p:sp>
      <p:sp>
        <p:nvSpPr>
          <p:cNvPr id="11" name="Text 8"/>
          <p:cNvSpPr txBox="1"/>
          <p:nvPr/>
        </p:nvSpPr>
        <p:spPr>
          <a:xfrm>
            <a:off x="5029200" y="2971800"/>
            <a:ext cx="2926080" cy="365760"/>
          </a:xfrm>
          <a:prstGeom prst="rect">
            <a:avLst/>
          </a:prstGeom>
          <a:noFill/>
          <a:ln/>
        </p:spPr>
        <p:txBody>
          <a:bodyPr wrap="square" lIns="0" tIns="0" rIns="0" bIns="0" rtlCol="0" anchor="ctr"/>
          <a:lstStyle/>
          <a:p>
            <a:pPr marL="0" indent="0">
              <a:buNone/>
            </a:pPr>
            <a:r>
              <a:rPr lang="en-US" sz="1600" b="1" dirty="0">
                <a:solidFill>
                  <a:srgbClr val="000000"/>
                </a:solidFill>
                <a:latin typeface="Aptos" pitchFamily="34" charset="0"/>
                <a:ea typeface="Aptos" pitchFamily="34" charset="-122"/>
                <a:cs typeface="Aptos" pitchFamily="34" charset="-120"/>
              </a:rPr>
              <a:t>Our sample beach photo</a:t>
            </a:r>
            <a:endParaRPr lang="en-US" sz="1600" dirty="0"/>
          </a:p>
        </p:txBody>
      </p:sp>
      <p:sp>
        <p:nvSpPr>
          <p:cNvPr id="12" name="Text 9"/>
          <p:cNvSpPr txBox="1"/>
          <p:nvPr/>
        </p:nvSpPr>
        <p:spPr>
          <a:xfrm>
            <a:off x="5029200" y="3383280"/>
            <a:ext cx="2926080" cy="365760"/>
          </a:xfrm>
          <a:prstGeom prst="rect">
            <a:avLst/>
          </a:prstGeom>
          <a:noFill/>
          <a:ln/>
        </p:spPr>
        <p:txBody>
          <a:bodyPr wrap="square" lIns="0" tIns="0" rIns="0" bIns="0" rtlCol="0" anchor="ctr"/>
          <a:lstStyle/>
          <a:p>
            <a:pPr marL="0" indent="0">
              <a:buNone/>
            </a:pPr>
            <a:r>
              <a:rPr lang="en-US" sz="1400" dirty="0">
                <a:solidFill>
                  <a:srgbClr val="262626"/>
                </a:solidFill>
                <a:latin typeface="Consolas" pitchFamily="34" charset="0"/>
                <a:ea typeface="Consolas" pitchFamily="34" charset="-122"/>
                <a:cs typeface="Consolas" pitchFamily="34" charset="-120"/>
              </a:rPr>
              <a:t>1118 × 640 × 3</a:t>
            </a:r>
            <a:endParaRPr lang="en-US" sz="1400" dirty="0"/>
          </a:p>
        </p:txBody>
      </p:sp>
      <p:sp>
        <p:nvSpPr>
          <p:cNvPr id="13" name="Text 10"/>
          <p:cNvSpPr txBox="1"/>
          <p:nvPr/>
        </p:nvSpPr>
        <p:spPr>
          <a:xfrm>
            <a:off x="8046720" y="3017520"/>
            <a:ext cx="1645920" cy="868680"/>
          </a:xfrm>
          <a:prstGeom prst="rect">
            <a:avLst/>
          </a:prstGeom>
          <a:noFill/>
          <a:ln/>
        </p:spPr>
        <p:txBody>
          <a:bodyPr wrap="square" lIns="0" tIns="0" rIns="0" bIns="0" rtlCol="0" anchor="ctr"/>
          <a:lstStyle/>
          <a:p>
            <a:pPr marL="0" indent="0">
              <a:buNone/>
            </a:pPr>
            <a:r>
              <a:rPr lang="en-US" sz="1100" dirty="0">
                <a:solidFill>
                  <a:srgbClr val="595959"/>
                </a:solidFill>
                <a:latin typeface="Aptos" pitchFamily="34" charset="0"/>
                <a:ea typeface="Aptos" pitchFamily="34" charset="-122"/>
                <a:cs typeface="Aptos" pitchFamily="34" charset="-120"/>
              </a:rPr>
              <a:t>Uncompressed</a:t>
            </a:r>
            <a:endParaRPr lang="en-US" sz="1100" dirty="0"/>
          </a:p>
          <a:p>
            <a:pPr marL="0" indent="0">
              <a:buNone/>
            </a:pPr>
            <a:r>
              <a:rPr lang="en-US" sz="2200" b="1" dirty="0">
                <a:solidFill>
                  <a:srgbClr val="000000"/>
                </a:solidFill>
                <a:latin typeface="Aptos" pitchFamily="34" charset="0"/>
                <a:ea typeface="Aptos" pitchFamily="34" charset="-122"/>
                <a:cs typeface="Aptos" pitchFamily="34" charset="-120"/>
              </a:rPr>
              <a:t>2.0 MB</a:t>
            </a:r>
            <a:endParaRPr lang="en-US" sz="1100" dirty="0"/>
          </a:p>
        </p:txBody>
      </p:sp>
      <p:sp>
        <p:nvSpPr>
          <p:cNvPr id="14" name="Text 11"/>
          <p:cNvSpPr txBox="1"/>
          <p:nvPr/>
        </p:nvSpPr>
        <p:spPr>
          <a:xfrm>
            <a:off x="9555480" y="2834640"/>
            <a:ext cx="365760" cy="1234440"/>
          </a:xfrm>
          <a:prstGeom prst="rect">
            <a:avLst/>
          </a:prstGeom>
          <a:noFill/>
          <a:ln/>
        </p:spPr>
        <p:txBody>
          <a:bodyPr wrap="square" lIns="0" tIns="0" rIns="0" bIns="0" rtlCol="0" anchor="ctr"/>
          <a:lstStyle/>
          <a:p>
            <a:pPr marL="0" indent="0" algn="ctr">
              <a:buNone/>
            </a:pPr>
            <a:r>
              <a:rPr lang="en-US" sz="2200" b="1" dirty="0">
                <a:solidFill>
                  <a:srgbClr val="E97132"/>
                </a:solidFill>
                <a:latin typeface="Aptos" pitchFamily="34" charset="0"/>
                <a:ea typeface="Aptos" pitchFamily="34" charset="-122"/>
                <a:cs typeface="Aptos" pitchFamily="34" charset="-120"/>
              </a:rPr>
              <a:t>→</a:t>
            </a:r>
            <a:endParaRPr lang="en-US" sz="2200" dirty="0"/>
          </a:p>
        </p:txBody>
      </p:sp>
      <p:sp>
        <p:nvSpPr>
          <p:cNvPr id="15" name="Text 12"/>
          <p:cNvSpPr txBox="1"/>
          <p:nvPr/>
        </p:nvSpPr>
        <p:spPr>
          <a:xfrm>
            <a:off x="10012680" y="3017520"/>
            <a:ext cx="1600200" cy="868680"/>
          </a:xfrm>
          <a:prstGeom prst="rect">
            <a:avLst/>
          </a:prstGeom>
          <a:noFill/>
          <a:ln/>
        </p:spPr>
        <p:txBody>
          <a:bodyPr wrap="square" lIns="0" tIns="0" rIns="0" bIns="0" rtlCol="0" anchor="ctr"/>
          <a:lstStyle/>
          <a:p>
            <a:pPr marL="0" indent="0">
              <a:buNone/>
            </a:pPr>
            <a:r>
              <a:rPr lang="en-US" sz="1100" dirty="0">
                <a:solidFill>
                  <a:srgbClr val="595959"/>
                </a:solidFill>
                <a:latin typeface="Aptos" pitchFamily="34" charset="0"/>
                <a:ea typeface="Aptos" pitchFamily="34" charset="-122"/>
                <a:cs typeface="Aptos" pitchFamily="34" charset="-120"/>
              </a:rPr>
              <a:t>Actual JPG file</a:t>
            </a:r>
            <a:endParaRPr lang="en-US" sz="1100" dirty="0"/>
          </a:p>
          <a:p>
            <a:pPr marL="0" indent="0">
              <a:buNone/>
            </a:pPr>
            <a:r>
              <a:rPr lang="en-US" sz="2200" b="1" dirty="0">
                <a:solidFill>
                  <a:srgbClr val="1B5E82"/>
                </a:solidFill>
                <a:latin typeface="Aptos" pitchFamily="34" charset="0"/>
                <a:ea typeface="Aptos" pitchFamily="34" charset="-122"/>
                <a:cs typeface="Aptos" pitchFamily="34" charset="-120"/>
              </a:rPr>
              <a:t>134 KB</a:t>
            </a:r>
            <a:endParaRPr lang="en-US" sz="1100" dirty="0"/>
          </a:p>
        </p:txBody>
      </p:sp>
      <p:sp>
        <p:nvSpPr>
          <p:cNvPr id="16" name="Shape 13"/>
          <p:cNvSpPr/>
          <p:nvPr/>
        </p:nvSpPr>
        <p:spPr>
          <a:xfrm>
            <a:off x="4754880" y="4297680"/>
            <a:ext cx="6903720" cy="1234440"/>
          </a:xfrm>
          <a:prstGeom prst="roundRect">
            <a:avLst>
              <a:gd name="adj" fmla="val 8889"/>
            </a:avLst>
          </a:prstGeom>
          <a:solidFill>
            <a:srgbClr val="FFFFFF"/>
          </a:solidFill>
          <a:ln w="9525">
            <a:solidFill>
              <a:srgbClr val="D0D7DB"/>
            </a:solidFill>
            <a:prstDash val="solid"/>
          </a:ln>
          <a:effectLst>
            <a:outerShdw blurRad="76200" dist="25400" dir="5400000" algn="bl" rotWithShape="0">
              <a:srgbClr val="000000">
                <a:alpha val="12000"/>
              </a:srgbClr>
            </a:outerShdw>
          </a:effectLst>
        </p:spPr>
        <p:txBody>
          <a:bodyPr/>
          <a:lstStyle/>
          <a:p>
            <a:endParaRPr lang="en-US"/>
          </a:p>
        </p:txBody>
      </p:sp>
      <p:sp>
        <p:nvSpPr>
          <p:cNvPr id="17" name="Shape 14"/>
          <p:cNvSpPr/>
          <p:nvPr/>
        </p:nvSpPr>
        <p:spPr>
          <a:xfrm>
            <a:off x="4754880" y="4407408"/>
            <a:ext cx="91440" cy="1014984"/>
          </a:xfrm>
          <a:prstGeom prst="rect">
            <a:avLst/>
          </a:prstGeom>
          <a:solidFill>
            <a:srgbClr val="E97132"/>
          </a:solidFill>
          <a:ln/>
        </p:spPr>
        <p:txBody>
          <a:bodyPr/>
          <a:lstStyle/>
          <a:p>
            <a:endParaRPr lang="en-US"/>
          </a:p>
        </p:txBody>
      </p:sp>
      <p:sp>
        <p:nvSpPr>
          <p:cNvPr id="18" name="Text 15"/>
          <p:cNvSpPr txBox="1"/>
          <p:nvPr/>
        </p:nvSpPr>
        <p:spPr>
          <a:xfrm>
            <a:off x="5029200" y="4434840"/>
            <a:ext cx="2926080" cy="365760"/>
          </a:xfrm>
          <a:prstGeom prst="rect">
            <a:avLst/>
          </a:prstGeom>
          <a:noFill/>
          <a:ln/>
        </p:spPr>
        <p:txBody>
          <a:bodyPr wrap="square" lIns="0" tIns="0" rIns="0" bIns="0" rtlCol="0" anchor="ctr"/>
          <a:lstStyle/>
          <a:p>
            <a:pPr marL="0" indent="0">
              <a:buNone/>
            </a:pPr>
            <a:r>
              <a:rPr lang="en-US" sz="1600" b="1" dirty="0">
                <a:solidFill>
                  <a:srgbClr val="000000"/>
                </a:solidFill>
                <a:latin typeface="Aptos" pitchFamily="34" charset="0"/>
                <a:ea typeface="Aptos" pitchFamily="34" charset="-122"/>
                <a:cs typeface="Aptos" pitchFamily="34" charset="-120"/>
              </a:rPr>
              <a:t>A 12 MP phone photo</a:t>
            </a:r>
            <a:endParaRPr lang="en-US" sz="1600" dirty="0"/>
          </a:p>
        </p:txBody>
      </p:sp>
      <p:sp>
        <p:nvSpPr>
          <p:cNvPr id="19" name="Text 16"/>
          <p:cNvSpPr txBox="1"/>
          <p:nvPr/>
        </p:nvSpPr>
        <p:spPr>
          <a:xfrm>
            <a:off x="5029200" y="4846320"/>
            <a:ext cx="2926080" cy="365760"/>
          </a:xfrm>
          <a:prstGeom prst="rect">
            <a:avLst/>
          </a:prstGeom>
          <a:noFill/>
          <a:ln/>
        </p:spPr>
        <p:txBody>
          <a:bodyPr wrap="square" lIns="0" tIns="0" rIns="0" bIns="0" rtlCol="0" anchor="ctr"/>
          <a:lstStyle/>
          <a:p>
            <a:pPr marL="0" indent="0">
              <a:buNone/>
            </a:pPr>
            <a:r>
              <a:rPr lang="en-US" sz="1400" dirty="0">
                <a:solidFill>
                  <a:srgbClr val="262626"/>
                </a:solidFill>
                <a:latin typeface="Consolas" pitchFamily="34" charset="0"/>
                <a:ea typeface="Consolas" pitchFamily="34" charset="-122"/>
                <a:cs typeface="Consolas" pitchFamily="34" charset="-120"/>
              </a:rPr>
              <a:t>4032 × 3024 × 3</a:t>
            </a:r>
            <a:endParaRPr lang="en-US" sz="1400" dirty="0"/>
          </a:p>
        </p:txBody>
      </p:sp>
      <p:sp>
        <p:nvSpPr>
          <p:cNvPr id="20" name="Text 17"/>
          <p:cNvSpPr txBox="1"/>
          <p:nvPr/>
        </p:nvSpPr>
        <p:spPr>
          <a:xfrm>
            <a:off x="8046720" y="4480560"/>
            <a:ext cx="1645920" cy="868680"/>
          </a:xfrm>
          <a:prstGeom prst="rect">
            <a:avLst/>
          </a:prstGeom>
          <a:noFill/>
          <a:ln/>
        </p:spPr>
        <p:txBody>
          <a:bodyPr wrap="square" lIns="0" tIns="0" rIns="0" bIns="0" rtlCol="0" anchor="ctr"/>
          <a:lstStyle/>
          <a:p>
            <a:pPr marL="0" indent="0">
              <a:buNone/>
            </a:pPr>
            <a:r>
              <a:rPr lang="en-US" sz="1100" dirty="0">
                <a:solidFill>
                  <a:srgbClr val="595959"/>
                </a:solidFill>
                <a:latin typeface="Aptos" pitchFamily="34" charset="0"/>
                <a:ea typeface="Aptos" pitchFamily="34" charset="-122"/>
                <a:cs typeface="Aptos" pitchFamily="34" charset="-120"/>
              </a:rPr>
              <a:t>Uncompressed</a:t>
            </a:r>
            <a:endParaRPr lang="en-US" sz="1100" dirty="0"/>
          </a:p>
          <a:p>
            <a:pPr marL="0" indent="0">
              <a:buNone/>
            </a:pPr>
            <a:r>
              <a:rPr lang="en-US" sz="2200" b="1" dirty="0">
                <a:solidFill>
                  <a:srgbClr val="000000"/>
                </a:solidFill>
                <a:latin typeface="Aptos" pitchFamily="34" charset="0"/>
                <a:ea typeface="Aptos" pitchFamily="34" charset="-122"/>
                <a:cs typeface="Aptos" pitchFamily="34" charset="-120"/>
              </a:rPr>
              <a:t>36.6 MB</a:t>
            </a:r>
            <a:endParaRPr lang="en-US" sz="1100" dirty="0"/>
          </a:p>
        </p:txBody>
      </p:sp>
      <p:sp>
        <p:nvSpPr>
          <p:cNvPr id="21" name="Text 18"/>
          <p:cNvSpPr txBox="1"/>
          <p:nvPr/>
        </p:nvSpPr>
        <p:spPr>
          <a:xfrm>
            <a:off x="9555480" y="4297680"/>
            <a:ext cx="365760" cy="1234440"/>
          </a:xfrm>
          <a:prstGeom prst="rect">
            <a:avLst/>
          </a:prstGeom>
          <a:noFill/>
          <a:ln/>
        </p:spPr>
        <p:txBody>
          <a:bodyPr wrap="square" lIns="0" tIns="0" rIns="0" bIns="0" rtlCol="0" anchor="ctr"/>
          <a:lstStyle/>
          <a:p>
            <a:pPr marL="0" indent="0" algn="ctr">
              <a:buNone/>
            </a:pPr>
            <a:r>
              <a:rPr lang="en-US" sz="2200" b="1" dirty="0">
                <a:solidFill>
                  <a:srgbClr val="E97132"/>
                </a:solidFill>
                <a:latin typeface="Aptos" pitchFamily="34" charset="0"/>
                <a:ea typeface="Aptos" pitchFamily="34" charset="-122"/>
                <a:cs typeface="Aptos" pitchFamily="34" charset="-120"/>
              </a:rPr>
              <a:t>→</a:t>
            </a:r>
            <a:endParaRPr lang="en-US" sz="2200" dirty="0"/>
          </a:p>
        </p:txBody>
      </p:sp>
      <p:sp>
        <p:nvSpPr>
          <p:cNvPr id="22" name="Text 19"/>
          <p:cNvSpPr txBox="1"/>
          <p:nvPr/>
        </p:nvSpPr>
        <p:spPr>
          <a:xfrm>
            <a:off x="10012680" y="4480560"/>
            <a:ext cx="1600200" cy="868680"/>
          </a:xfrm>
          <a:prstGeom prst="rect">
            <a:avLst/>
          </a:prstGeom>
          <a:noFill/>
          <a:ln/>
        </p:spPr>
        <p:txBody>
          <a:bodyPr wrap="square" lIns="0" tIns="0" rIns="0" bIns="0" rtlCol="0" anchor="ctr"/>
          <a:lstStyle/>
          <a:p>
            <a:pPr marL="0" indent="0">
              <a:buNone/>
            </a:pPr>
            <a:r>
              <a:rPr lang="en-US" sz="1100" dirty="0">
                <a:solidFill>
                  <a:srgbClr val="595959"/>
                </a:solidFill>
                <a:latin typeface="Aptos" pitchFamily="34" charset="0"/>
                <a:ea typeface="Aptos" pitchFamily="34" charset="-122"/>
                <a:cs typeface="Aptos" pitchFamily="34" charset="-120"/>
              </a:rPr>
              <a:t>Actual JPG file</a:t>
            </a:r>
            <a:endParaRPr lang="en-US" sz="1100" dirty="0"/>
          </a:p>
          <a:p>
            <a:pPr marL="0" indent="0">
              <a:buNone/>
            </a:pPr>
            <a:r>
              <a:rPr lang="en-US" sz="2200" b="1" dirty="0">
                <a:solidFill>
                  <a:srgbClr val="E97132"/>
                </a:solidFill>
                <a:latin typeface="Aptos" pitchFamily="34" charset="0"/>
                <a:ea typeface="Aptos" pitchFamily="34" charset="-122"/>
                <a:cs typeface="Aptos" pitchFamily="34" charset="-120"/>
              </a:rPr>
              <a:t>about 3 MB</a:t>
            </a:r>
            <a:endParaRPr lang="en-US" sz="1100" dirty="0"/>
          </a:p>
        </p:txBody>
      </p:sp>
      <p:sp>
        <p:nvSpPr>
          <p:cNvPr id="23" name="Text 20"/>
          <p:cNvSpPr txBox="1"/>
          <p:nvPr/>
        </p:nvSpPr>
        <p:spPr>
          <a:xfrm>
            <a:off x="4754880" y="5806440"/>
            <a:ext cx="6903720" cy="548640"/>
          </a:xfrm>
          <a:prstGeom prst="rect">
            <a:avLst/>
          </a:prstGeom>
          <a:noFill/>
          <a:ln/>
        </p:spPr>
        <p:txBody>
          <a:bodyPr wrap="square" lIns="0" tIns="0" rIns="0" bIns="0" rtlCol="0" anchor="ctr"/>
          <a:lstStyle/>
          <a:p>
            <a:pPr marL="0" indent="0">
              <a:buNone/>
            </a:pPr>
            <a:r>
              <a:rPr lang="en-US" sz="1500" b="1" dirty="0">
                <a:solidFill>
                  <a:srgbClr val="1B5E82"/>
                </a:solidFill>
                <a:latin typeface="Aptos" pitchFamily="34" charset="0"/>
                <a:ea typeface="Aptos" pitchFamily="34" charset="-122"/>
                <a:cs typeface="Aptos" pitchFamily="34" charset="-120"/>
              </a:rPr>
              <a:t>Compression makes files much smaller. But 3 MB is still far too big for one image on a web page.</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1E8EB"/>
        </a:solidFill>
        <a:effectLst/>
      </p:bgPr>
    </p:bg>
    <p:spTree>
      <p:nvGrpSpPr>
        <p:cNvPr id="1" name=""/>
        <p:cNvGrpSpPr/>
        <p:nvPr/>
      </p:nvGrpSpPr>
      <p:grpSpPr>
        <a:xfrm>
          <a:off x="0" y="0"/>
          <a:ext cx="0" cy="0"/>
          <a:chOff x="0" y="0"/>
          <a:chExt cx="0" cy="0"/>
        </a:xfrm>
      </p:grpSpPr>
      <p:sp>
        <p:nvSpPr>
          <p:cNvPr id="2" name="Text 0"/>
          <p:cNvSpPr txBox="1"/>
          <p:nvPr/>
        </p:nvSpPr>
        <p:spPr>
          <a:xfrm>
            <a:off x="685800" y="457200"/>
            <a:ext cx="10789920" cy="640080"/>
          </a:xfrm>
          <a:prstGeom prst="rect">
            <a:avLst/>
          </a:prstGeom>
          <a:noFill/>
          <a:ln/>
        </p:spPr>
        <p:txBody>
          <a:bodyPr wrap="square" lIns="0" tIns="0" rIns="0" bIns="0" rtlCol="0" anchor="ctr"/>
          <a:lstStyle/>
          <a:p>
            <a:pPr marL="0" indent="0">
              <a:buNone/>
            </a:pPr>
            <a:r>
              <a:rPr lang="en-US" sz="2800" dirty="0">
                <a:solidFill>
                  <a:srgbClr val="000000"/>
                </a:solidFill>
                <a:latin typeface="Aptos" pitchFamily="34" charset="0"/>
                <a:ea typeface="Aptos" pitchFamily="34" charset="-122"/>
                <a:cs typeface="Aptos" pitchFamily="34" charset="-120"/>
              </a:rPr>
              <a:t>Lab 1: Get to Know Your Photo (5 min)</a:t>
            </a:r>
            <a:endParaRPr lang="en-US" sz="2800" dirty="0"/>
          </a:p>
        </p:txBody>
      </p:sp>
      <p:sp>
        <p:nvSpPr>
          <p:cNvPr id="4" name="Shape 1"/>
          <p:cNvSpPr/>
          <p:nvPr/>
        </p:nvSpPr>
        <p:spPr>
          <a:xfrm>
            <a:off x="685800" y="1325880"/>
            <a:ext cx="6949440" cy="5029200"/>
          </a:xfrm>
          <a:prstGeom prst="roundRect">
            <a:avLst>
              <a:gd name="adj" fmla="val 2182"/>
            </a:avLst>
          </a:prstGeom>
          <a:solidFill>
            <a:srgbClr val="FFFFFF"/>
          </a:solidFill>
          <a:ln w="9525">
            <a:solidFill>
              <a:srgbClr val="D0D7DB"/>
            </a:solidFill>
            <a:prstDash val="solid"/>
          </a:ln>
          <a:effectLst>
            <a:outerShdw blurRad="76200" dist="25400" dir="5400000" algn="bl" rotWithShape="0">
              <a:srgbClr val="000000">
                <a:alpha val="12000"/>
              </a:srgbClr>
            </a:outerShdw>
          </a:effectLst>
        </p:spPr>
        <p:txBody>
          <a:bodyPr/>
          <a:lstStyle/>
          <a:p>
            <a:endParaRPr lang="en-US"/>
          </a:p>
        </p:txBody>
      </p:sp>
      <p:sp>
        <p:nvSpPr>
          <p:cNvPr id="5" name="Shape 2"/>
          <p:cNvSpPr/>
          <p:nvPr/>
        </p:nvSpPr>
        <p:spPr>
          <a:xfrm>
            <a:off x="960120" y="1600200"/>
            <a:ext cx="420624" cy="420624"/>
          </a:xfrm>
          <a:prstGeom prst="ellipse">
            <a:avLst/>
          </a:prstGeom>
          <a:solidFill>
            <a:srgbClr val="E97132"/>
          </a:solidFill>
          <a:ln w="12700">
            <a:solidFill>
              <a:srgbClr val="E97132"/>
            </a:solidFill>
            <a:prstDash val="solid"/>
          </a:ln>
        </p:spPr>
        <p:txBody>
          <a:bodyPr/>
          <a:lstStyle/>
          <a:p>
            <a:endParaRPr lang="en-US"/>
          </a:p>
        </p:txBody>
      </p:sp>
      <p:sp>
        <p:nvSpPr>
          <p:cNvPr id="6" name="Text 3"/>
          <p:cNvSpPr txBox="1"/>
          <p:nvPr/>
        </p:nvSpPr>
        <p:spPr>
          <a:xfrm>
            <a:off x="960120" y="1600200"/>
            <a:ext cx="420624" cy="420624"/>
          </a:xfrm>
          <a:prstGeom prst="rect">
            <a:avLst/>
          </a:prstGeom>
          <a:noFill/>
          <a:ln/>
        </p:spPr>
        <p:txBody>
          <a:bodyPr wrap="square" lIns="0" tIns="0" rIns="0" bIns="0" rtlCol="0" anchor="ctr"/>
          <a:lstStyle/>
          <a:p>
            <a:pPr marL="0" indent="0" algn="ctr">
              <a:buNone/>
            </a:pPr>
            <a:r>
              <a:rPr lang="en-US" sz="1800" b="1" dirty="0">
                <a:solidFill>
                  <a:srgbClr val="FFFFFF"/>
                </a:solidFill>
                <a:latin typeface="Aptos" pitchFamily="34" charset="0"/>
                <a:ea typeface="Aptos" pitchFamily="34" charset="-122"/>
                <a:cs typeface="Aptos" pitchFamily="34" charset="-120"/>
              </a:rPr>
              <a:t>1</a:t>
            </a:r>
            <a:endParaRPr lang="en-US" sz="1800" dirty="0"/>
          </a:p>
        </p:txBody>
      </p:sp>
      <p:sp>
        <p:nvSpPr>
          <p:cNvPr id="7" name="Text 4"/>
          <p:cNvSpPr txBox="1"/>
          <p:nvPr/>
        </p:nvSpPr>
        <p:spPr>
          <a:xfrm>
            <a:off x="1554480" y="1581912"/>
            <a:ext cx="5852160" cy="320040"/>
          </a:xfrm>
          <a:prstGeom prst="rect">
            <a:avLst/>
          </a:prstGeom>
          <a:noFill/>
          <a:ln/>
        </p:spPr>
        <p:txBody>
          <a:bodyPr wrap="square" lIns="0" tIns="0" rIns="0" bIns="0" rtlCol="0" anchor="ctr"/>
          <a:lstStyle/>
          <a:p>
            <a:pPr marL="0" indent="0">
              <a:buNone/>
            </a:pPr>
            <a:r>
              <a:rPr lang="en-US" sz="1600" b="1" dirty="0">
                <a:solidFill>
                  <a:srgbClr val="000000"/>
                </a:solidFill>
                <a:latin typeface="Aptos" pitchFamily="34" charset="0"/>
                <a:ea typeface="Aptos" pitchFamily="34" charset="-122"/>
                <a:cs typeface="Aptos" pitchFamily="34" charset="-120"/>
              </a:rPr>
              <a:t>Save your photo as my_images/original.jpg</a:t>
            </a:r>
            <a:endParaRPr lang="en-US" sz="1600" dirty="0"/>
          </a:p>
        </p:txBody>
      </p:sp>
      <p:sp>
        <p:nvSpPr>
          <p:cNvPr id="8" name="Text 5"/>
          <p:cNvSpPr txBox="1"/>
          <p:nvPr/>
        </p:nvSpPr>
        <p:spPr>
          <a:xfrm>
            <a:off x="1554480" y="1901952"/>
            <a:ext cx="5852160" cy="548640"/>
          </a:xfrm>
          <a:prstGeom prst="rect">
            <a:avLst/>
          </a:prstGeom>
          <a:noFill/>
          <a:ln/>
        </p:spPr>
        <p:txBody>
          <a:bodyPr wrap="square" lIns="0" tIns="0" rIns="0" bIns="0" rtlCol="0" anchor="t"/>
          <a:lstStyle/>
          <a:p>
            <a:pPr marL="0" indent="0">
              <a:buNone/>
            </a:pPr>
            <a:r>
              <a:rPr lang="en-US" sz="1350" dirty="0">
                <a:solidFill>
                  <a:srgbClr val="262626"/>
                </a:solidFill>
                <a:latin typeface="Aptos" pitchFamily="34" charset="0"/>
                <a:ea typeface="Aptos" pitchFamily="34" charset="-122"/>
                <a:cs typeface="Aptos" pitchFamily="34" charset="-120"/>
              </a:rPr>
              <a:t>​Inside the 04_Images_for_the_Web folder.</a:t>
            </a:r>
            <a:endParaRPr lang="en-US" sz="1350" dirty="0"/>
          </a:p>
        </p:txBody>
      </p:sp>
      <p:sp>
        <p:nvSpPr>
          <p:cNvPr id="9" name="Shape 6"/>
          <p:cNvSpPr/>
          <p:nvPr/>
        </p:nvSpPr>
        <p:spPr>
          <a:xfrm>
            <a:off x="960120" y="2496312"/>
            <a:ext cx="420624" cy="420624"/>
          </a:xfrm>
          <a:prstGeom prst="ellipse">
            <a:avLst/>
          </a:prstGeom>
          <a:solidFill>
            <a:srgbClr val="E97132"/>
          </a:solidFill>
          <a:ln w="12700">
            <a:solidFill>
              <a:srgbClr val="E97132"/>
            </a:solidFill>
            <a:prstDash val="solid"/>
          </a:ln>
        </p:spPr>
        <p:txBody>
          <a:bodyPr/>
          <a:lstStyle/>
          <a:p>
            <a:endParaRPr lang="en-US"/>
          </a:p>
        </p:txBody>
      </p:sp>
      <p:sp>
        <p:nvSpPr>
          <p:cNvPr id="10" name="Text 7"/>
          <p:cNvSpPr txBox="1"/>
          <p:nvPr/>
        </p:nvSpPr>
        <p:spPr>
          <a:xfrm>
            <a:off x="960120" y="2496312"/>
            <a:ext cx="420624" cy="420624"/>
          </a:xfrm>
          <a:prstGeom prst="rect">
            <a:avLst/>
          </a:prstGeom>
          <a:noFill/>
          <a:ln/>
        </p:spPr>
        <p:txBody>
          <a:bodyPr wrap="square" lIns="0" tIns="0" rIns="0" bIns="0" rtlCol="0" anchor="ctr"/>
          <a:lstStyle/>
          <a:p>
            <a:pPr marL="0" indent="0" algn="ctr">
              <a:buNone/>
            </a:pPr>
            <a:r>
              <a:rPr lang="en-US" sz="1800" b="1" dirty="0">
                <a:solidFill>
                  <a:srgbClr val="FFFFFF"/>
                </a:solidFill>
                <a:latin typeface="Aptos" pitchFamily="34" charset="0"/>
                <a:ea typeface="Aptos" pitchFamily="34" charset="-122"/>
                <a:cs typeface="Aptos" pitchFamily="34" charset="-120"/>
              </a:rPr>
              <a:t>2</a:t>
            </a:r>
            <a:endParaRPr lang="en-US" sz="1800" dirty="0"/>
          </a:p>
        </p:txBody>
      </p:sp>
      <p:sp>
        <p:nvSpPr>
          <p:cNvPr id="11" name="Text 8"/>
          <p:cNvSpPr txBox="1"/>
          <p:nvPr/>
        </p:nvSpPr>
        <p:spPr>
          <a:xfrm>
            <a:off x="1554480" y="2478024"/>
            <a:ext cx="5852160" cy="320040"/>
          </a:xfrm>
          <a:prstGeom prst="rect">
            <a:avLst/>
          </a:prstGeom>
          <a:noFill/>
          <a:ln/>
        </p:spPr>
        <p:txBody>
          <a:bodyPr wrap="square" lIns="0" tIns="0" rIns="0" bIns="0" rtlCol="0" anchor="ctr"/>
          <a:lstStyle/>
          <a:p>
            <a:pPr marL="0" indent="0">
              <a:buNone/>
            </a:pPr>
            <a:r>
              <a:rPr lang="en-US" sz="1600" b="1" dirty="0">
                <a:solidFill>
                  <a:srgbClr val="000000"/>
                </a:solidFill>
                <a:latin typeface="Aptos" pitchFamily="34" charset="0"/>
                <a:ea typeface="Aptos" pitchFamily="34" charset="-122"/>
                <a:cs typeface="Aptos" pitchFamily="34" charset="-120"/>
              </a:rPr>
              <a:t>Right-click it → Properties → Details tab</a:t>
            </a:r>
            <a:endParaRPr lang="en-US" sz="1600" dirty="0"/>
          </a:p>
        </p:txBody>
      </p:sp>
      <p:sp>
        <p:nvSpPr>
          <p:cNvPr id="12" name="Text 9"/>
          <p:cNvSpPr txBox="1"/>
          <p:nvPr/>
        </p:nvSpPr>
        <p:spPr>
          <a:xfrm>
            <a:off x="1554480" y="2798064"/>
            <a:ext cx="5852160" cy="548640"/>
          </a:xfrm>
          <a:prstGeom prst="rect">
            <a:avLst/>
          </a:prstGeom>
          <a:noFill/>
          <a:ln/>
        </p:spPr>
        <p:txBody>
          <a:bodyPr wrap="square" lIns="0" tIns="0" rIns="0" bIns="0" rtlCol="0" anchor="t"/>
          <a:lstStyle/>
          <a:p>
            <a:pPr marL="0" indent="0">
              <a:buNone/>
            </a:pPr>
            <a:r>
              <a:rPr lang="en-US" sz="1350" dirty="0">
                <a:solidFill>
                  <a:srgbClr val="262626"/>
                </a:solidFill>
                <a:latin typeface="Aptos" pitchFamily="34" charset="0"/>
                <a:ea typeface="Aptos" pitchFamily="34" charset="-122"/>
                <a:cs typeface="Aptos" pitchFamily="34" charset="-120"/>
              </a:rPr>
              <a:t>​Scroll to Image: find Dimensions and Bit depth. File size is on the General tab.</a:t>
            </a:r>
            <a:endParaRPr lang="en-US" sz="1350" dirty="0"/>
          </a:p>
        </p:txBody>
      </p:sp>
      <p:sp>
        <p:nvSpPr>
          <p:cNvPr id="13" name="Shape 10"/>
          <p:cNvSpPr/>
          <p:nvPr/>
        </p:nvSpPr>
        <p:spPr>
          <a:xfrm>
            <a:off x="960120" y="3392424"/>
            <a:ext cx="420624" cy="420624"/>
          </a:xfrm>
          <a:prstGeom prst="ellipse">
            <a:avLst/>
          </a:prstGeom>
          <a:solidFill>
            <a:srgbClr val="E97132"/>
          </a:solidFill>
          <a:ln w="12700">
            <a:solidFill>
              <a:srgbClr val="E97132"/>
            </a:solidFill>
            <a:prstDash val="solid"/>
          </a:ln>
        </p:spPr>
        <p:txBody>
          <a:bodyPr/>
          <a:lstStyle/>
          <a:p>
            <a:endParaRPr lang="en-US"/>
          </a:p>
        </p:txBody>
      </p:sp>
      <p:sp>
        <p:nvSpPr>
          <p:cNvPr id="14" name="Text 11"/>
          <p:cNvSpPr txBox="1"/>
          <p:nvPr/>
        </p:nvSpPr>
        <p:spPr>
          <a:xfrm>
            <a:off x="960120" y="3392424"/>
            <a:ext cx="420624" cy="420624"/>
          </a:xfrm>
          <a:prstGeom prst="rect">
            <a:avLst/>
          </a:prstGeom>
          <a:noFill/>
          <a:ln/>
        </p:spPr>
        <p:txBody>
          <a:bodyPr wrap="square" lIns="0" tIns="0" rIns="0" bIns="0" rtlCol="0" anchor="ctr"/>
          <a:lstStyle/>
          <a:p>
            <a:pPr marL="0" indent="0" algn="ctr">
              <a:buNone/>
            </a:pPr>
            <a:r>
              <a:rPr lang="en-US" sz="1800" b="1" dirty="0">
                <a:solidFill>
                  <a:srgbClr val="FFFFFF"/>
                </a:solidFill>
                <a:latin typeface="Aptos" pitchFamily="34" charset="0"/>
                <a:ea typeface="Aptos" pitchFamily="34" charset="-122"/>
                <a:cs typeface="Aptos" pitchFamily="34" charset="-120"/>
              </a:rPr>
              <a:t>3</a:t>
            </a:r>
            <a:endParaRPr lang="en-US" sz="1800" dirty="0"/>
          </a:p>
        </p:txBody>
      </p:sp>
      <p:sp>
        <p:nvSpPr>
          <p:cNvPr id="15" name="Text 12"/>
          <p:cNvSpPr txBox="1"/>
          <p:nvPr/>
        </p:nvSpPr>
        <p:spPr>
          <a:xfrm>
            <a:off x="1554480" y="3374136"/>
            <a:ext cx="5852160" cy="320040"/>
          </a:xfrm>
          <a:prstGeom prst="rect">
            <a:avLst/>
          </a:prstGeom>
          <a:noFill/>
          <a:ln/>
        </p:spPr>
        <p:txBody>
          <a:bodyPr wrap="square" lIns="0" tIns="0" rIns="0" bIns="0" rtlCol="0" anchor="ctr"/>
          <a:lstStyle/>
          <a:p>
            <a:pPr marL="0" indent="0">
              <a:buNone/>
            </a:pPr>
            <a:r>
              <a:rPr lang="en-US" sz="1600" b="1" dirty="0">
                <a:solidFill>
                  <a:srgbClr val="000000"/>
                </a:solidFill>
                <a:latin typeface="Aptos" pitchFamily="34" charset="0"/>
                <a:ea typeface="Aptos" pitchFamily="34" charset="-122"/>
                <a:cs typeface="Aptos" pitchFamily="34" charset="-120"/>
              </a:rPr>
              <a:t>Do the math</a:t>
            </a:r>
            <a:endParaRPr lang="en-US" sz="1600" dirty="0"/>
          </a:p>
        </p:txBody>
      </p:sp>
      <p:sp>
        <p:nvSpPr>
          <p:cNvPr id="16" name="Text 13"/>
          <p:cNvSpPr txBox="1"/>
          <p:nvPr/>
        </p:nvSpPr>
        <p:spPr>
          <a:xfrm>
            <a:off x="1554480" y="3694176"/>
            <a:ext cx="5852160" cy="548640"/>
          </a:xfrm>
          <a:prstGeom prst="rect">
            <a:avLst/>
          </a:prstGeom>
          <a:noFill/>
          <a:ln/>
        </p:spPr>
        <p:txBody>
          <a:bodyPr wrap="square" lIns="0" tIns="0" rIns="0" bIns="0" rtlCol="0" anchor="t"/>
          <a:lstStyle/>
          <a:p>
            <a:pPr marL="0" indent="0">
              <a:buNone/>
            </a:pPr>
            <a:r>
              <a:rPr lang="en-US" sz="1350" dirty="0">
                <a:solidFill>
                  <a:srgbClr val="262626"/>
                </a:solidFill>
                <a:latin typeface="Aptos" pitchFamily="34" charset="0"/>
                <a:ea typeface="Aptos" pitchFamily="34" charset="-122"/>
                <a:cs typeface="Aptos" pitchFamily="34" charset="-120"/>
              </a:rPr>
              <a:t>​</a:t>
            </a:r>
            <a:r>
              <a:rPr lang="en-US" sz="1350" dirty="0">
                <a:solidFill>
                  <a:srgbClr val="8A2B0B"/>
                </a:solidFill>
                <a:latin typeface="Consolas" pitchFamily="34" charset="0"/>
                <a:ea typeface="Consolas" pitchFamily="34" charset="-122"/>
                <a:cs typeface="Consolas" pitchFamily="34" charset="-120"/>
              </a:rPr>
              <a:t>width × height × 3</a:t>
            </a:r>
            <a:r>
              <a:rPr lang="en-US" sz="1350" dirty="0">
                <a:solidFill>
                  <a:srgbClr val="262626"/>
                </a:solidFill>
                <a:latin typeface="Aptos" pitchFamily="34" charset="0"/>
                <a:ea typeface="Aptos" pitchFamily="34" charset="-122"/>
                <a:cs typeface="Aptos" pitchFamily="34" charset="-120"/>
              </a:rPr>
              <a:t> = the uncompressed size in bytes. Divide by 1,048,576 for MB.</a:t>
            </a:r>
            <a:endParaRPr lang="en-US" sz="1350" dirty="0"/>
          </a:p>
        </p:txBody>
      </p:sp>
      <p:sp>
        <p:nvSpPr>
          <p:cNvPr id="17" name="Shape 14"/>
          <p:cNvSpPr/>
          <p:nvPr/>
        </p:nvSpPr>
        <p:spPr>
          <a:xfrm>
            <a:off x="960120" y="4288536"/>
            <a:ext cx="420624" cy="420624"/>
          </a:xfrm>
          <a:prstGeom prst="ellipse">
            <a:avLst/>
          </a:prstGeom>
          <a:solidFill>
            <a:srgbClr val="E97132"/>
          </a:solidFill>
          <a:ln w="12700">
            <a:solidFill>
              <a:srgbClr val="E97132"/>
            </a:solidFill>
            <a:prstDash val="solid"/>
          </a:ln>
        </p:spPr>
        <p:txBody>
          <a:bodyPr/>
          <a:lstStyle/>
          <a:p>
            <a:endParaRPr lang="en-US"/>
          </a:p>
        </p:txBody>
      </p:sp>
      <p:sp>
        <p:nvSpPr>
          <p:cNvPr id="18" name="Text 15"/>
          <p:cNvSpPr txBox="1"/>
          <p:nvPr/>
        </p:nvSpPr>
        <p:spPr>
          <a:xfrm>
            <a:off x="960120" y="4288536"/>
            <a:ext cx="420624" cy="420624"/>
          </a:xfrm>
          <a:prstGeom prst="rect">
            <a:avLst/>
          </a:prstGeom>
          <a:noFill/>
          <a:ln/>
        </p:spPr>
        <p:txBody>
          <a:bodyPr wrap="square" lIns="0" tIns="0" rIns="0" bIns="0" rtlCol="0" anchor="ctr"/>
          <a:lstStyle/>
          <a:p>
            <a:pPr marL="0" indent="0" algn="ctr">
              <a:buNone/>
            </a:pPr>
            <a:r>
              <a:rPr lang="en-US" sz="1800" b="1" dirty="0">
                <a:solidFill>
                  <a:srgbClr val="FFFFFF"/>
                </a:solidFill>
                <a:latin typeface="Aptos" pitchFamily="34" charset="0"/>
                <a:ea typeface="Aptos" pitchFamily="34" charset="-122"/>
                <a:cs typeface="Aptos" pitchFamily="34" charset="-120"/>
              </a:rPr>
              <a:t>4</a:t>
            </a:r>
            <a:endParaRPr lang="en-US" sz="1800" dirty="0"/>
          </a:p>
        </p:txBody>
      </p:sp>
      <p:sp>
        <p:nvSpPr>
          <p:cNvPr id="19" name="Text 16"/>
          <p:cNvSpPr txBox="1"/>
          <p:nvPr/>
        </p:nvSpPr>
        <p:spPr>
          <a:xfrm>
            <a:off x="1554480" y="4270248"/>
            <a:ext cx="5852160" cy="320040"/>
          </a:xfrm>
          <a:prstGeom prst="rect">
            <a:avLst/>
          </a:prstGeom>
          <a:noFill/>
          <a:ln/>
        </p:spPr>
        <p:txBody>
          <a:bodyPr wrap="square" lIns="0" tIns="0" rIns="0" bIns="0" rtlCol="0" anchor="ctr"/>
          <a:lstStyle/>
          <a:p>
            <a:pPr marL="0" indent="0">
              <a:buNone/>
            </a:pPr>
            <a:r>
              <a:rPr lang="en-US" sz="1600" b="1" dirty="0">
                <a:solidFill>
                  <a:srgbClr val="000000"/>
                </a:solidFill>
                <a:latin typeface="Aptos" pitchFamily="34" charset="0"/>
                <a:ea typeface="Aptos" pitchFamily="34" charset="-122"/>
                <a:cs typeface="Aptos" pitchFamily="34" charset="-120"/>
              </a:rPr>
              <a:t>Fill in Lab 1 in image_lab.html</a:t>
            </a:r>
            <a:endParaRPr lang="en-US" sz="1600" dirty="0"/>
          </a:p>
        </p:txBody>
      </p:sp>
      <p:sp>
        <p:nvSpPr>
          <p:cNvPr id="20" name="Text 17"/>
          <p:cNvSpPr txBox="1"/>
          <p:nvPr/>
        </p:nvSpPr>
        <p:spPr>
          <a:xfrm>
            <a:off x="1554480" y="4590288"/>
            <a:ext cx="5852160" cy="548640"/>
          </a:xfrm>
          <a:prstGeom prst="rect">
            <a:avLst/>
          </a:prstGeom>
          <a:noFill/>
          <a:ln/>
        </p:spPr>
        <p:txBody>
          <a:bodyPr wrap="square" lIns="0" tIns="0" rIns="0" bIns="0" rtlCol="0" anchor="t"/>
          <a:lstStyle/>
          <a:p>
            <a:pPr marL="0" indent="0">
              <a:buNone/>
            </a:pPr>
            <a:r>
              <a:rPr lang="en-US" sz="1350" dirty="0">
                <a:solidFill>
                  <a:srgbClr val="262626"/>
                </a:solidFill>
                <a:latin typeface="Aptos" pitchFamily="34" charset="0"/>
                <a:ea typeface="Aptos" pitchFamily="34" charset="-122"/>
                <a:cs typeface="Aptos" pitchFamily="34" charset="-120"/>
              </a:rPr>
              <a:t>​How many times smaller is the real file than the uncompressed size?</a:t>
            </a:r>
            <a:endParaRPr lang="en-US" sz="1350" dirty="0"/>
          </a:p>
        </p:txBody>
      </p:sp>
      <p:sp>
        <p:nvSpPr>
          <p:cNvPr id="21" name="Shape 18"/>
          <p:cNvSpPr/>
          <p:nvPr/>
        </p:nvSpPr>
        <p:spPr>
          <a:xfrm>
            <a:off x="960120" y="5184648"/>
            <a:ext cx="420624" cy="420624"/>
          </a:xfrm>
          <a:prstGeom prst="ellipse">
            <a:avLst/>
          </a:prstGeom>
          <a:solidFill>
            <a:srgbClr val="E97132"/>
          </a:solidFill>
          <a:ln w="12700">
            <a:solidFill>
              <a:srgbClr val="E97132"/>
            </a:solidFill>
            <a:prstDash val="solid"/>
          </a:ln>
        </p:spPr>
        <p:txBody>
          <a:bodyPr/>
          <a:lstStyle/>
          <a:p>
            <a:endParaRPr lang="en-US"/>
          </a:p>
        </p:txBody>
      </p:sp>
      <p:sp>
        <p:nvSpPr>
          <p:cNvPr id="22" name="Text 19"/>
          <p:cNvSpPr txBox="1"/>
          <p:nvPr/>
        </p:nvSpPr>
        <p:spPr>
          <a:xfrm>
            <a:off x="960120" y="5184648"/>
            <a:ext cx="420624" cy="420624"/>
          </a:xfrm>
          <a:prstGeom prst="rect">
            <a:avLst/>
          </a:prstGeom>
          <a:noFill/>
          <a:ln/>
        </p:spPr>
        <p:txBody>
          <a:bodyPr wrap="square" lIns="0" tIns="0" rIns="0" bIns="0" rtlCol="0" anchor="ctr"/>
          <a:lstStyle/>
          <a:p>
            <a:pPr marL="0" indent="0" algn="ctr">
              <a:buNone/>
            </a:pPr>
            <a:r>
              <a:rPr lang="en-US" sz="1800" b="1" dirty="0">
                <a:solidFill>
                  <a:srgbClr val="FFFFFF"/>
                </a:solidFill>
                <a:latin typeface="Aptos" pitchFamily="34" charset="0"/>
                <a:ea typeface="Aptos" pitchFamily="34" charset="-122"/>
                <a:cs typeface="Aptos" pitchFamily="34" charset="-120"/>
              </a:rPr>
              <a:t>5</a:t>
            </a:r>
            <a:endParaRPr lang="en-US" sz="1800" dirty="0"/>
          </a:p>
        </p:txBody>
      </p:sp>
      <p:sp>
        <p:nvSpPr>
          <p:cNvPr id="23" name="Text 20"/>
          <p:cNvSpPr txBox="1"/>
          <p:nvPr/>
        </p:nvSpPr>
        <p:spPr>
          <a:xfrm>
            <a:off x="1554480" y="5166360"/>
            <a:ext cx="5852160" cy="320040"/>
          </a:xfrm>
          <a:prstGeom prst="rect">
            <a:avLst/>
          </a:prstGeom>
          <a:noFill/>
          <a:ln/>
        </p:spPr>
        <p:txBody>
          <a:bodyPr wrap="square" lIns="0" tIns="0" rIns="0" bIns="0" rtlCol="0" anchor="ctr"/>
          <a:lstStyle/>
          <a:p>
            <a:pPr marL="0" indent="0">
              <a:buNone/>
            </a:pPr>
            <a:r>
              <a:rPr lang="en-US" sz="1600" b="1" dirty="0">
                <a:solidFill>
                  <a:srgbClr val="000000"/>
                </a:solidFill>
                <a:latin typeface="Aptos" pitchFamily="34" charset="0"/>
                <a:ea typeface="Aptos" pitchFamily="34" charset="-122"/>
                <a:cs typeface="Aptos" pitchFamily="34" charset="-120"/>
              </a:rPr>
              <a:t>Bonus: set up a better File Explorer view</a:t>
            </a:r>
            <a:endParaRPr lang="en-US" sz="1600" dirty="0"/>
          </a:p>
        </p:txBody>
      </p:sp>
      <p:sp>
        <p:nvSpPr>
          <p:cNvPr id="24" name="Text 21"/>
          <p:cNvSpPr txBox="1"/>
          <p:nvPr/>
        </p:nvSpPr>
        <p:spPr>
          <a:xfrm>
            <a:off x="1554480" y="5486400"/>
            <a:ext cx="5852160" cy="548640"/>
          </a:xfrm>
          <a:prstGeom prst="rect">
            <a:avLst/>
          </a:prstGeom>
          <a:noFill/>
          <a:ln/>
        </p:spPr>
        <p:txBody>
          <a:bodyPr wrap="square" lIns="0" tIns="0" rIns="0" bIns="0" rtlCol="0" anchor="t"/>
          <a:lstStyle/>
          <a:p>
            <a:pPr marL="0" indent="0">
              <a:buNone/>
            </a:pPr>
            <a:r>
              <a:rPr lang="en-US" sz="1350" dirty="0">
                <a:solidFill>
                  <a:srgbClr val="262626"/>
                </a:solidFill>
                <a:latin typeface="Aptos" pitchFamily="34" charset="0"/>
                <a:ea typeface="Aptos" pitchFamily="34" charset="-122"/>
                <a:cs typeface="Aptos" pitchFamily="34" charset="-120"/>
              </a:rPr>
              <a:t>​</a:t>
            </a:r>
            <a:r>
              <a:rPr lang="en-US" sz="1350" b="1" dirty="0">
                <a:solidFill>
                  <a:srgbClr val="262626"/>
                </a:solidFill>
                <a:latin typeface="Aptos" pitchFamily="34" charset="0"/>
                <a:ea typeface="Aptos" pitchFamily="34" charset="-122"/>
                <a:cs typeface="Aptos" pitchFamily="34" charset="-120"/>
              </a:rPr>
              <a:t>View → Details</a:t>
            </a:r>
            <a:r>
              <a:rPr lang="en-US" sz="1350" dirty="0">
                <a:solidFill>
                  <a:srgbClr val="262626"/>
                </a:solidFill>
                <a:latin typeface="Aptos" pitchFamily="34" charset="0"/>
                <a:ea typeface="Aptos" pitchFamily="34" charset="-122"/>
                <a:cs typeface="Aptos" pitchFamily="34" charset="-120"/>
              </a:rPr>
              <a:t>, then right-click a column heading → More… → tick </a:t>
            </a:r>
            <a:r>
              <a:rPr lang="en-US" sz="1350" b="1" dirty="0">
                <a:solidFill>
                  <a:srgbClr val="262626"/>
                </a:solidFill>
                <a:latin typeface="Aptos" pitchFamily="34" charset="0"/>
                <a:ea typeface="Aptos" pitchFamily="34" charset="-122"/>
                <a:cs typeface="Aptos" pitchFamily="34" charset="-120"/>
              </a:rPr>
              <a:t>Dimensions</a:t>
            </a:r>
            <a:r>
              <a:rPr lang="en-US" sz="1350" dirty="0">
                <a:solidFill>
                  <a:srgbClr val="262626"/>
                </a:solidFill>
                <a:latin typeface="Aptos" pitchFamily="34" charset="0"/>
                <a:ea typeface="Aptos" pitchFamily="34" charset="-122"/>
                <a:cs typeface="Aptos" pitchFamily="34" charset="-120"/>
              </a:rPr>
              <a:t> and </a:t>
            </a:r>
            <a:r>
              <a:rPr lang="en-US" sz="1350" b="1" dirty="0">
                <a:solidFill>
                  <a:srgbClr val="262626"/>
                </a:solidFill>
                <a:latin typeface="Aptos" pitchFamily="34" charset="0"/>
                <a:ea typeface="Aptos" pitchFamily="34" charset="-122"/>
                <a:cs typeface="Aptos" pitchFamily="34" charset="-120"/>
              </a:rPr>
              <a:t>Bit depth</a:t>
            </a:r>
            <a:r>
              <a:rPr lang="en-US" sz="1350" dirty="0">
                <a:solidFill>
                  <a:srgbClr val="262626"/>
                </a:solidFill>
                <a:latin typeface="Aptos" pitchFamily="34" charset="0"/>
                <a:ea typeface="Aptos" pitchFamily="34" charset="-122"/>
                <a:cs typeface="Aptos" pitchFamily="34" charset="-120"/>
              </a:rPr>
              <a:t>. You'll use this all class.</a:t>
            </a:r>
            <a:endParaRPr lang="en-US" sz="1350" dirty="0"/>
          </a:p>
        </p:txBody>
      </p:sp>
      <p:sp>
        <p:nvSpPr>
          <p:cNvPr id="25" name="Shape 22"/>
          <p:cNvSpPr/>
          <p:nvPr/>
        </p:nvSpPr>
        <p:spPr>
          <a:xfrm>
            <a:off x="8001000" y="1325880"/>
            <a:ext cx="3520440" cy="5029200"/>
          </a:xfrm>
          <a:prstGeom prst="roundRect">
            <a:avLst>
              <a:gd name="adj" fmla="val 3117"/>
            </a:avLst>
          </a:prstGeom>
          <a:solidFill>
            <a:srgbClr val="262626"/>
          </a:solidFill>
          <a:ln w="9525">
            <a:solidFill>
              <a:srgbClr val="262626"/>
            </a:solidFill>
            <a:prstDash val="solid"/>
          </a:ln>
          <a:effectLst>
            <a:outerShdw blurRad="76200" dist="25400" dir="5400000" algn="bl" rotWithShape="0">
              <a:srgbClr val="000000">
                <a:alpha val="12000"/>
              </a:srgbClr>
            </a:outerShdw>
          </a:effectLst>
        </p:spPr>
        <p:txBody>
          <a:bodyPr/>
          <a:lstStyle/>
          <a:p>
            <a:endParaRPr lang="en-US"/>
          </a:p>
        </p:txBody>
      </p:sp>
      <p:sp>
        <p:nvSpPr>
          <p:cNvPr id="26" name="Text 23"/>
          <p:cNvSpPr txBox="1"/>
          <p:nvPr/>
        </p:nvSpPr>
        <p:spPr>
          <a:xfrm>
            <a:off x="8229600" y="1554480"/>
            <a:ext cx="3108960" cy="411480"/>
          </a:xfrm>
          <a:prstGeom prst="rect">
            <a:avLst/>
          </a:prstGeom>
          <a:noFill/>
          <a:ln/>
        </p:spPr>
        <p:txBody>
          <a:bodyPr wrap="square" lIns="0" tIns="0" rIns="0" bIns="0" rtlCol="0" anchor="ctr"/>
          <a:lstStyle/>
          <a:p>
            <a:pPr marL="0" indent="0">
              <a:buNone/>
            </a:pPr>
            <a:r>
              <a:rPr lang="en-US" sz="1800" b="1" dirty="0">
                <a:solidFill>
                  <a:srgbClr val="FFFFFF"/>
                </a:solidFill>
                <a:latin typeface="Aptos" pitchFamily="34" charset="0"/>
                <a:ea typeface="Aptos" pitchFamily="34" charset="-122"/>
                <a:cs typeface="Aptos" pitchFamily="34" charset="-120"/>
              </a:rPr>
              <a:t>Write down</a:t>
            </a:r>
            <a:endParaRPr lang="en-US" sz="1800" dirty="0"/>
          </a:p>
        </p:txBody>
      </p:sp>
      <p:sp>
        <p:nvSpPr>
          <p:cNvPr id="27" name="Text 24"/>
          <p:cNvSpPr txBox="1"/>
          <p:nvPr/>
        </p:nvSpPr>
        <p:spPr>
          <a:xfrm>
            <a:off x="8229600" y="2057400"/>
            <a:ext cx="3108960" cy="4114800"/>
          </a:xfrm>
          <a:prstGeom prst="rect">
            <a:avLst/>
          </a:prstGeom>
          <a:noFill/>
          <a:ln/>
        </p:spPr>
        <p:txBody>
          <a:bodyPr wrap="square" lIns="0" tIns="0" rIns="0" bIns="0" rtlCol="0" anchor="t"/>
          <a:lstStyle/>
          <a:p>
            <a:pPr marL="342900" indent="-342900">
              <a:buSzPct val="100000"/>
              <a:buChar char="•"/>
            </a:pPr>
            <a:r>
              <a:rPr lang="en-US" sz="1350" dirty="0">
                <a:solidFill>
                  <a:srgbClr val="D9D9D9"/>
                </a:solidFill>
                <a:latin typeface="Aptos" pitchFamily="34" charset="0"/>
                <a:ea typeface="Aptos" pitchFamily="34" charset="-122"/>
                <a:cs typeface="Aptos" pitchFamily="34" charset="-120"/>
              </a:rPr>
              <a:t>Dimensions (W × H)</a:t>
            </a:r>
            <a:endParaRPr lang="en-US" sz="1350" dirty="0"/>
          </a:p>
          <a:p>
            <a:pPr marL="342900" indent="-342900">
              <a:spcBef>
                <a:spcPts val="700"/>
              </a:spcBef>
              <a:buSzPct val="100000"/>
              <a:buChar char="•"/>
            </a:pPr>
            <a:r>
              <a:rPr lang="en-US" sz="1350" dirty="0">
                <a:solidFill>
                  <a:srgbClr val="D9D9D9"/>
                </a:solidFill>
                <a:latin typeface="Aptos" pitchFamily="34" charset="0"/>
                <a:ea typeface="Aptos" pitchFamily="34" charset="-122"/>
                <a:cs typeface="Aptos" pitchFamily="34" charset="-120"/>
              </a:rPr>
              <a:t>Bit depth</a:t>
            </a:r>
            <a:endParaRPr lang="en-US" sz="1350" dirty="0"/>
          </a:p>
          <a:p>
            <a:pPr marL="342900" indent="-342900">
              <a:spcBef>
                <a:spcPts val="700"/>
              </a:spcBef>
              <a:buSzPct val="100000"/>
              <a:buChar char="•"/>
            </a:pPr>
            <a:r>
              <a:rPr lang="en-US" sz="1350" dirty="0">
                <a:solidFill>
                  <a:srgbClr val="D9D9D9"/>
                </a:solidFill>
                <a:latin typeface="Aptos" pitchFamily="34" charset="0"/>
                <a:ea typeface="Aptos" pitchFamily="34" charset="-122"/>
                <a:cs typeface="Aptos" pitchFamily="34" charset="-120"/>
              </a:rPr>
              <a:t>File size</a:t>
            </a:r>
            <a:endParaRPr lang="en-US" sz="1350" dirty="0"/>
          </a:p>
          <a:p>
            <a:pPr marL="342900" indent="-342900">
              <a:spcBef>
                <a:spcPts val="700"/>
              </a:spcBef>
              <a:buSzPct val="100000"/>
              <a:buChar char="•"/>
            </a:pPr>
            <a:r>
              <a:rPr lang="en-US" sz="1350" dirty="0">
                <a:solidFill>
                  <a:srgbClr val="D9D9D9"/>
                </a:solidFill>
                <a:latin typeface="Aptos" pitchFamily="34" charset="0"/>
                <a:ea typeface="Aptos" pitchFamily="34" charset="-122"/>
                <a:cs typeface="Aptos" pitchFamily="34" charset="-120"/>
              </a:rPr>
              <a:t>Uncompressed size</a:t>
            </a:r>
            <a:endParaRPr lang="en-US" sz="1350" dirty="0"/>
          </a:p>
          <a:p>
            <a:pPr marL="0" indent="0">
              <a:spcBef>
                <a:spcPts val="700"/>
              </a:spcBef>
              <a:buNone/>
            </a:pPr>
            <a:endParaRPr lang="en-US" sz="1350" dirty="0"/>
          </a:p>
          <a:p>
            <a:pPr marL="0" indent="0">
              <a:spcBef>
                <a:spcPts val="700"/>
              </a:spcBef>
              <a:buNone/>
            </a:pPr>
            <a:r>
              <a:rPr lang="en-US" sz="1350" b="1" dirty="0">
                <a:solidFill>
                  <a:srgbClr val="F2C6AC"/>
                </a:solidFill>
                <a:latin typeface="Aptos" pitchFamily="34" charset="0"/>
                <a:ea typeface="Aptos" pitchFamily="34" charset="-122"/>
                <a:cs typeface="Aptos" pitchFamily="34" charset="-120"/>
              </a:rPr>
              <a:t>Expect roughly</a:t>
            </a:r>
            <a:endParaRPr lang="en-US" sz="1350" dirty="0"/>
          </a:p>
          <a:p>
            <a:pPr marL="342900" indent="-342900">
              <a:spcBef>
                <a:spcPts val="700"/>
              </a:spcBef>
              <a:buSzPct val="100000"/>
              <a:buChar char="•"/>
            </a:pPr>
            <a:r>
              <a:rPr lang="en-US" sz="1350" dirty="0">
                <a:solidFill>
                  <a:srgbClr val="D9D9D9"/>
                </a:solidFill>
                <a:latin typeface="Aptos" pitchFamily="34" charset="0"/>
                <a:ea typeface="Aptos" pitchFamily="34" charset="-122"/>
                <a:cs typeface="Aptos" pitchFamily="34" charset="-120"/>
              </a:rPr>
              <a:t>Phone: 4000 × 3000, 24-bit, 2–5 MB</a:t>
            </a:r>
            <a:endParaRPr lang="en-US" sz="1350" dirty="0"/>
          </a:p>
          <a:p>
            <a:pPr marL="342900" indent="-342900">
              <a:spcBef>
                <a:spcPts val="700"/>
              </a:spcBef>
              <a:buSzPct val="100000"/>
              <a:buChar char="•"/>
            </a:pPr>
            <a:r>
              <a:rPr lang="en-US" sz="1350" dirty="0">
                <a:solidFill>
                  <a:srgbClr val="D9D9D9"/>
                </a:solidFill>
                <a:latin typeface="Aptos" pitchFamily="34" charset="0"/>
                <a:ea typeface="Aptos" pitchFamily="34" charset="-122"/>
                <a:cs typeface="Aptos" pitchFamily="34" charset="-120"/>
              </a:rPr>
              <a:t>Uncompressed: 30–50 MB</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2926080" y="640080"/>
            <a:ext cx="8412480" cy="4206240"/>
          </a:xfrm>
          <a:prstGeom prst="rect">
            <a:avLst/>
          </a:prstGeom>
          <a:noFill/>
          <a:ln/>
        </p:spPr>
        <p:txBody>
          <a:bodyPr wrap="square" lIns="0" tIns="0" rIns="0" bIns="0" rtlCol="0" anchor="ctr"/>
          <a:lstStyle/>
          <a:p>
            <a:pPr marL="0" indent="0" algn="r">
              <a:buNone/>
            </a:pPr>
            <a:r>
              <a:rPr lang="en-US" sz="6000" dirty="0">
                <a:solidFill>
                  <a:srgbClr val="FFFFFF"/>
                </a:solidFill>
                <a:latin typeface="Aptos" pitchFamily="34" charset="0"/>
                <a:ea typeface="Aptos" pitchFamily="34" charset="-122"/>
                <a:cs typeface="Aptos" pitchFamily="34" charset="-120"/>
              </a:rPr>
              <a:t>Compression</a:t>
            </a:r>
            <a:endParaRPr lang="en-US" sz="6000" dirty="0"/>
          </a:p>
        </p:txBody>
      </p:sp>
      <p:sp>
        <p:nvSpPr>
          <p:cNvPr id="3" name="Text 1"/>
          <p:cNvSpPr txBox="1"/>
          <p:nvPr/>
        </p:nvSpPr>
        <p:spPr>
          <a:xfrm>
            <a:off x="1417320" y="5989320"/>
            <a:ext cx="10058400" cy="411480"/>
          </a:xfrm>
          <a:prstGeom prst="rect">
            <a:avLst/>
          </a:prstGeom>
          <a:noFill/>
          <a:ln/>
        </p:spPr>
        <p:txBody>
          <a:bodyPr wrap="square" lIns="0" tIns="0" rIns="0" bIns="0" rtlCol="0" anchor="ctr"/>
          <a:lstStyle/>
          <a:p>
            <a:pPr marL="0" indent="0">
              <a:buNone/>
            </a:pPr>
            <a:r>
              <a:rPr lang="en-US" sz="1800" dirty="0">
                <a:solidFill>
                  <a:srgbClr val="FFFFFF"/>
                </a:solidFill>
                <a:latin typeface="Aptos" pitchFamily="34" charset="0"/>
                <a:ea typeface="Aptos" pitchFamily="34" charset="-122"/>
                <a:cs typeface="Aptos" pitchFamily="34" charset="-120"/>
              </a:rPr>
              <a:t>Lossless vs lossy   ·   what you lose and what you save</a:t>
            </a:r>
            <a:endParaRPr lang="en-US" sz="1800" dirty="0"/>
          </a:p>
        </p:txBody>
      </p:sp>
      <p:sp>
        <p:nvSpPr>
          <p:cNvPr id="4" name="Shape 2"/>
          <p:cNvSpPr/>
          <p:nvPr/>
        </p:nvSpPr>
        <p:spPr>
          <a:xfrm>
            <a:off x="914400" y="3840480"/>
            <a:ext cx="0" cy="3017520"/>
          </a:xfrm>
          <a:prstGeom prst="line">
            <a:avLst/>
          </a:prstGeom>
          <a:noFill/>
          <a:ln w="25400">
            <a:solidFill>
              <a:srgbClr val="FFFFFF"/>
            </a:solidFill>
            <a:prstDash val="solid"/>
          </a:ln>
        </p:spPr>
        <p:txBody>
          <a:bodyPr/>
          <a:lstStyle/>
          <a:p>
            <a:endParaRPr lang="en-US"/>
          </a:p>
        </p:txBody>
      </p:sp>
      <p:sp>
        <p:nvSpPr>
          <p:cNvPr id="5" name="Text 3"/>
          <p:cNvSpPr txBox="1"/>
          <p:nvPr/>
        </p:nvSpPr>
        <p:spPr>
          <a:xfrm>
            <a:off x="3794760" y="502920"/>
            <a:ext cx="365760" cy="365760"/>
          </a:xfrm>
          <a:prstGeom prst="rect">
            <a:avLst/>
          </a:prstGeom>
          <a:noFill/>
          <a:ln/>
        </p:spPr>
        <p:txBody>
          <a:bodyPr wrap="square" lIns="0" tIns="0" rIns="0" bIns="0" rtlCol="0" anchor="ctr"/>
          <a:lstStyle/>
          <a:p>
            <a:pPr marL="0" indent="0" algn="ctr">
              <a:buNone/>
            </a:pPr>
            <a:r>
              <a:rPr lang="en-US" sz="2000" dirty="0">
                <a:solidFill>
                  <a:srgbClr val="FFFFFF"/>
                </a:solidFill>
                <a:latin typeface="Aptos" pitchFamily="34" charset="0"/>
                <a:ea typeface="Aptos" pitchFamily="34" charset="-122"/>
                <a:cs typeface="Aptos" pitchFamily="34" charset="-120"/>
              </a:rPr>
              <a:t>+</a:t>
            </a:r>
            <a:endParaRPr lang="en-US" sz="2000" dirty="0"/>
          </a:p>
        </p:txBody>
      </p:sp>
      <p:sp>
        <p:nvSpPr>
          <p:cNvPr id="6" name="Text 4"/>
          <p:cNvSpPr txBox="1"/>
          <p:nvPr/>
        </p:nvSpPr>
        <p:spPr>
          <a:xfrm>
            <a:off x="4160520" y="731520"/>
            <a:ext cx="365760" cy="365760"/>
          </a:xfrm>
          <a:prstGeom prst="rect">
            <a:avLst/>
          </a:prstGeom>
          <a:noFill/>
          <a:ln/>
        </p:spPr>
        <p:txBody>
          <a:bodyPr wrap="square" lIns="0" tIns="0" rIns="0" bIns="0" rtlCol="0" anchor="ctr"/>
          <a:lstStyle/>
          <a:p>
            <a:pPr marL="0" indent="0" algn="ctr">
              <a:buNone/>
            </a:pPr>
            <a:r>
              <a:rPr lang="en-US" sz="2000" dirty="0">
                <a:solidFill>
                  <a:srgbClr val="FFFFFF"/>
                </a:solidFill>
                <a:latin typeface="Aptos" pitchFamily="34" charset="0"/>
                <a:ea typeface="Aptos" pitchFamily="34" charset="-122"/>
                <a:cs typeface="Aptos" pitchFamily="34" charset="-120"/>
              </a:rPr>
              <a:t>•</a:t>
            </a:r>
            <a:endParaRPr lang="en-US" sz="2000" dirty="0"/>
          </a:p>
        </p:txBody>
      </p:sp>
      <p:sp>
        <p:nvSpPr>
          <p:cNvPr id="7" name="Text 5"/>
          <p:cNvSpPr txBox="1"/>
          <p:nvPr/>
        </p:nvSpPr>
        <p:spPr>
          <a:xfrm>
            <a:off x="3749040" y="914400"/>
            <a:ext cx="365760" cy="365760"/>
          </a:xfrm>
          <a:prstGeom prst="rect">
            <a:avLst/>
          </a:prstGeom>
          <a:noFill/>
          <a:ln/>
        </p:spPr>
        <p:txBody>
          <a:bodyPr wrap="square" lIns="0" tIns="0" rIns="0" bIns="0" rtlCol="0" anchor="ctr"/>
          <a:lstStyle/>
          <a:p>
            <a:pPr marL="0" indent="0" algn="ctr">
              <a:buNone/>
            </a:pPr>
            <a:r>
              <a:rPr lang="en-US" sz="1600" dirty="0">
                <a:solidFill>
                  <a:srgbClr val="FFFFFF"/>
                </a:solidFill>
                <a:latin typeface="Aptos" pitchFamily="34" charset="0"/>
                <a:ea typeface="Aptos" pitchFamily="34" charset="-122"/>
                <a:cs typeface="Aptos" pitchFamily="34" charset="-120"/>
              </a:rPr>
              <a:t>○</a:t>
            </a:r>
            <a:endParaRPr lang="en-US" sz="1600" dirty="0"/>
          </a:p>
        </p:txBody>
      </p:sp>
      <p:sp>
        <p:nvSpPr>
          <p:cNvPr id="8" name="Text 6"/>
          <p:cNvSpPr txBox="1"/>
          <p:nvPr/>
        </p:nvSpPr>
        <p:spPr>
          <a:xfrm>
            <a:off x="11521440" y="5760720"/>
            <a:ext cx="365760" cy="365760"/>
          </a:xfrm>
          <a:prstGeom prst="rect">
            <a:avLst/>
          </a:prstGeom>
          <a:noFill/>
          <a:ln/>
        </p:spPr>
        <p:txBody>
          <a:bodyPr wrap="square" lIns="0" tIns="0" rIns="0" bIns="0" rtlCol="0" anchor="ctr"/>
          <a:lstStyle/>
          <a:p>
            <a:pPr marL="0" indent="0" algn="ctr">
              <a:buNone/>
            </a:pPr>
            <a:r>
              <a:rPr lang="en-US" sz="2000" dirty="0">
                <a:solidFill>
                  <a:srgbClr val="FFFFFF"/>
                </a:solidFill>
                <a:latin typeface="Aptos" pitchFamily="34" charset="0"/>
                <a:ea typeface="Aptos" pitchFamily="34" charset="-122"/>
                <a:cs typeface="Aptos" pitchFamily="34" charset="-120"/>
              </a:rPr>
              <a:t>+</a:t>
            </a:r>
            <a:endParaRPr lang="en-US" sz="2000" dirty="0"/>
          </a:p>
        </p:txBody>
      </p:sp>
      <p:sp>
        <p:nvSpPr>
          <p:cNvPr id="9" name="Text 7"/>
          <p:cNvSpPr txBox="1"/>
          <p:nvPr/>
        </p:nvSpPr>
        <p:spPr>
          <a:xfrm>
            <a:off x="11292840" y="6263640"/>
            <a:ext cx="365760" cy="365760"/>
          </a:xfrm>
          <a:prstGeom prst="rect">
            <a:avLst/>
          </a:prstGeom>
          <a:noFill/>
          <a:ln/>
        </p:spPr>
        <p:txBody>
          <a:bodyPr wrap="square" lIns="0" tIns="0" rIns="0" bIns="0" rtlCol="0" anchor="ctr"/>
          <a:lstStyle/>
          <a:p>
            <a:pPr marL="0" indent="0" algn="ctr">
              <a:buNone/>
            </a:pPr>
            <a:r>
              <a:rPr lang="en-US" sz="2000" dirty="0">
                <a:solidFill>
                  <a:srgbClr val="FFFFFF"/>
                </a:solidFill>
                <a:latin typeface="Aptos" pitchFamily="34" charset="0"/>
                <a:ea typeface="Aptos" pitchFamily="34" charset="-122"/>
                <a:cs typeface="Aptos" pitchFamily="34" charset="-120"/>
              </a:rPr>
              <a:t>•</a:t>
            </a:r>
            <a:endParaRPr lang="en-US" sz="2000" dirty="0"/>
          </a:p>
        </p:txBody>
      </p:sp>
      <p:sp>
        <p:nvSpPr>
          <p:cNvPr id="10" name="Text 8"/>
          <p:cNvSpPr txBox="1"/>
          <p:nvPr/>
        </p:nvSpPr>
        <p:spPr>
          <a:xfrm>
            <a:off x="11887200" y="6263640"/>
            <a:ext cx="365760" cy="365760"/>
          </a:xfrm>
          <a:prstGeom prst="rect">
            <a:avLst/>
          </a:prstGeom>
          <a:noFill/>
          <a:ln/>
        </p:spPr>
        <p:txBody>
          <a:bodyPr wrap="square" lIns="0" tIns="0" rIns="0" bIns="0" rtlCol="0" anchor="ctr"/>
          <a:lstStyle/>
          <a:p>
            <a:pPr marL="0" indent="0" algn="ctr">
              <a:buNone/>
            </a:pPr>
            <a:r>
              <a:rPr lang="en-US" sz="1400" dirty="0">
                <a:solidFill>
                  <a:srgbClr val="FFFFFF"/>
                </a:solidFill>
                <a:latin typeface="Aptos" pitchFamily="34" charset="0"/>
                <a:ea typeface="Aptos" pitchFamily="34" charset="-122"/>
                <a:cs typeface="Aptos" pitchFamily="34" charset="-120"/>
              </a:rPr>
              <a:t>○</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F2F2"/>
        </a:solidFill>
        <a:effectLst/>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txBody>
          <a:bodyPr/>
          <a:lstStyle/>
          <a:p>
            <a:endParaRPr lang="en-US"/>
          </a:p>
        </p:txBody>
      </p:sp>
      <p:sp>
        <p:nvSpPr>
          <p:cNvPr id="3" name="Text 1"/>
          <p:cNvSpPr txBox="1"/>
          <p:nvPr/>
        </p:nvSpPr>
        <p:spPr>
          <a:xfrm>
            <a:off x="868680" y="548640"/>
            <a:ext cx="2560320" cy="1280160"/>
          </a:xfrm>
          <a:prstGeom prst="rect">
            <a:avLst/>
          </a:prstGeom>
          <a:noFill/>
          <a:ln/>
        </p:spPr>
        <p:txBody>
          <a:bodyPr wrap="square" lIns="0" tIns="0" rIns="0" bIns="0" rtlCol="0" anchor="t"/>
          <a:lstStyle/>
          <a:p>
            <a:pPr marL="0" indent="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txBody>
          <a:bodyPr/>
          <a:lstStyle/>
          <a:p>
            <a:endParaRPr lang="en-US"/>
          </a:p>
        </p:txBody>
      </p:sp>
      <p:sp>
        <p:nvSpPr>
          <p:cNvPr id="5" name="Text 3"/>
          <p:cNvSpPr txBox="1"/>
          <p:nvPr/>
        </p:nvSpPr>
        <p:spPr>
          <a:xfrm>
            <a:off x="4754880" y="822960"/>
            <a:ext cx="6903720" cy="868680"/>
          </a:xfrm>
          <a:prstGeom prst="rect">
            <a:avLst/>
          </a:prstGeom>
          <a:noFill/>
          <a:ln/>
        </p:spPr>
        <p:txBody>
          <a:bodyPr wrap="square" lIns="0" tIns="0" rIns="0" bIns="0" rtlCol="0" anchor="t"/>
          <a:lstStyle/>
          <a:p>
            <a:pPr marL="0" indent="0">
              <a:buNone/>
            </a:pPr>
            <a:r>
              <a:rPr lang="en-US" sz="2800" b="1" dirty="0">
                <a:solidFill>
                  <a:srgbClr val="000000"/>
                </a:solidFill>
                <a:latin typeface="Aptos" pitchFamily="34" charset="0"/>
                <a:ea typeface="Aptos" pitchFamily="34" charset="-122"/>
                <a:cs typeface="Aptos" pitchFamily="34" charset="-120"/>
              </a:rPr>
              <a:t>Lossless vs Lossy</a:t>
            </a:r>
            <a:endParaRPr lang="en-US" sz="2800" dirty="0"/>
          </a:p>
        </p:txBody>
      </p:sp>
      <p:sp>
        <p:nvSpPr>
          <p:cNvPr id="7" name="Shape 4"/>
          <p:cNvSpPr/>
          <p:nvPr/>
        </p:nvSpPr>
        <p:spPr>
          <a:xfrm>
            <a:off x="4754880" y="1783080"/>
            <a:ext cx="3337560" cy="4023360"/>
          </a:xfrm>
          <a:prstGeom prst="roundRect">
            <a:avLst>
              <a:gd name="adj" fmla="val 3288"/>
            </a:avLst>
          </a:prstGeom>
          <a:solidFill>
            <a:srgbClr val="FFFFFF"/>
          </a:solidFill>
          <a:ln w="9525">
            <a:solidFill>
              <a:srgbClr val="D0D7DB"/>
            </a:solidFill>
            <a:prstDash val="solid"/>
          </a:ln>
          <a:effectLst>
            <a:outerShdw blurRad="76200" dist="25400" dir="5400000" algn="bl" rotWithShape="0">
              <a:srgbClr val="000000">
                <a:alpha val="12000"/>
              </a:srgbClr>
            </a:outerShdw>
          </a:effectLst>
        </p:spPr>
        <p:txBody>
          <a:bodyPr/>
          <a:lstStyle/>
          <a:p>
            <a:endParaRPr lang="en-US"/>
          </a:p>
        </p:txBody>
      </p:sp>
      <p:sp>
        <p:nvSpPr>
          <p:cNvPr id="8" name="Shape 5"/>
          <p:cNvSpPr/>
          <p:nvPr/>
        </p:nvSpPr>
        <p:spPr>
          <a:xfrm>
            <a:off x="4754880" y="1783080"/>
            <a:ext cx="3337560" cy="594360"/>
          </a:xfrm>
          <a:prstGeom prst="rect">
            <a:avLst/>
          </a:prstGeom>
          <a:solidFill>
            <a:srgbClr val="1B5E82"/>
          </a:solidFill>
          <a:ln/>
        </p:spPr>
        <p:txBody>
          <a:bodyPr/>
          <a:lstStyle/>
          <a:p>
            <a:endParaRPr lang="en-US"/>
          </a:p>
        </p:txBody>
      </p:sp>
      <p:sp>
        <p:nvSpPr>
          <p:cNvPr id="9" name="Text 6"/>
          <p:cNvSpPr txBox="1"/>
          <p:nvPr/>
        </p:nvSpPr>
        <p:spPr>
          <a:xfrm>
            <a:off x="4983480" y="1783080"/>
            <a:ext cx="2880360" cy="594360"/>
          </a:xfrm>
          <a:prstGeom prst="rect">
            <a:avLst/>
          </a:prstGeom>
          <a:noFill/>
          <a:ln/>
        </p:spPr>
        <p:txBody>
          <a:bodyPr wrap="square" lIns="0" tIns="0" rIns="0" bIns="0" rtlCol="0" anchor="ctr"/>
          <a:lstStyle/>
          <a:p>
            <a:pPr marL="0" indent="0">
              <a:buNone/>
            </a:pPr>
            <a:r>
              <a:rPr lang="en-US" sz="2000" b="1" dirty="0">
                <a:solidFill>
                  <a:srgbClr val="FFFFFF"/>
                </a:solidFill>
                <a:latin typeface="Aptos" pitchFamily="34" charset="0"/>
                <a:ea typeface="Aptos" pitchFamily="34" charset="-122"/>
                <a:cs typeface="Aptos" pitchFamily="34" charset="-120"/>
              </a:rPr>
              <a:t>Lossless</a:t>
            </a:r>
            <a:endParaRPr lang="en-US" sz="2000" dirty="0"/>
          </a:p>
        </p:txBody>
      </p:sp>
      <p:sp>
        <p:nvSpPr>
          <p:cNvPr id="10" name="Text 7"/>
          <p:cNvSpPr txBox="1"/>
          <p:nvPr/>
        </p:nvSpPr>
        <p:spPr>
          <a:xfrm>
            <a:off x="4983480" y="2560320"/>
            <a:ext cx="2880360" cy="914400"/>
          </a:xfrm>
          <a:prstGeom prst="rect">
            <a:avLst/>
          </a:prstGeom>
          <a:noFill/>
          <a:ln/>
        </p:spPr>
        <p:txBody>
          <a:bodyPr wrap="square" lIns="0" tIns="0" rIns="0" bIns="0" rtlCol="0" anchor="t"/>
          <a:lstStyle/>
          <a:p>
            <a:pPr marL="0" indent="0">
              <a:buNone/>
            </a:pPr>
            <a:r>
              <a:rPr lang="en-US" sz="1400" dirty="0">
                <a:solidFill>
                  <a:srgbClr val="262626"/>
                </a:solidFill>
                <a:latin typeface="Aptos" pitchFamily="34" charset="0"/>
                <a:ea typeface="Aptos" pitchFamily="34" charset="-122"/>
                <a:cs typeface="Aptos" pitchFamily="34" charset="-120"/>
              </a:rPr>
              <a:t>Packs the data more cleverly. Open it and every pixel is exactly the same as before.</a:t>
            </a:r>
            <a:endParaRPr lang="en-US" sz="1400" dirty="0"/>
          </a:p>
        </p:txBody>
      </p:sp>
      <p:sp>
        <p:nvSpPr>
          <p:cNvPr id="11" name="Text 8"/>
          <p:cNvSpPr txBox="1"/>
          <p:nvPr/>
        </p:nvSpPr>
        <p:spPr>
          <a:xfrm>
            <a:off x="4983480" y="3566160"/>
            <a:ext cx="2880360" cy="2103120"/>
          </a:xfrm>
          <a:prstGeom prst="rect">
            <a:avLst/>
          </a:prstGeom>
          <a:noFill/>
          <a:ln/>
        </p:spPr>
        <p:txBody>
          <a:bodyPr wrap="square" lIns="0" tIns="0" rIns="0" bIns="0" rtlCol="0" anchor="t"/>
          <a:lstStyle/>
          <a:p>
            <a:pPr marL="342900" indent="-342900">
              <a:buSzPct val="100000"/>
              <a:buChar char="•"/>
            </a:pPr>
            <a:r>
              <a:rPr lang="en-US" sz="1350" dirty="0">
                <a:solidFill>
                  <a:srgbClr val="262626"/>
                </a:solidFill>
                <a:latin typeface="Aptos" pitchFamily="34" charset="0"/>
                <a:ea typeface="Aptos" pitchFamily="34" charset="-122"/>
                <a:cs typeface="Aptos" pitchFamily="34" charset="-120"/>
              </a:rPr>
              <a:t>​Like a ZIP file</a:t>
            </a:r>
            <a:endParaRPr lang="en-US" sz="1350" dirty="0"/>
          </a:p>
          <a:p>
            <a:pPr marL="342900" indent="-342900">
              <a:spcBef>
                <a:spcPts val="700"/>
              </a:spcBef>
              <a:buSzPct val="100000"/>
              <a:buChar char="•"/>
            </a:pPr>
            <a:r>
              <a:rPr lang="en-US" sz="1350" dirty="0">
                <a:solidFill>
                  <a:srgbClr val="262626"/>
                </a:solidFill>
                <a:latin typeface="Aptos" pitchFamily="34" charset="0"/>
                <a:ea typeface="Aptos" pitchFamily="34" charset="-122"/>
                <a:cs typeface="Aptos" pitchFamily="34" charset="-120"/>
              </a:rPr>
              <a:t>​PNG, GIF, lossless WebP</a:t>
            </a:r>
            <a:endParaRPr lang="en-US" sz="1350" dirty="0"/>
          </a:p>
          <a:p>
            <a:pPr marL="342900" indent="-342900">
              <a:spcBef>
                <a:spcPts val="700"/>
              </a:spcBef>
              <a:buSzPct val="100000"/>
              <a:buChar char="•"/>
            </a:pPr>
            <a:r>
              <a:rPr lang="en-US" sz="1350" dirty="0">
                <a:solidFill>
                  <a:srgbClr val="262626"/>
                </a:solidFill>
                <a:latin typeface="Aptos" pitchFamily="34" charset="0"/>
                <a:ea typeface="Aptos" pitchFamily="34" charset="-122"/>
                <a:cs typeface="Aptos" pitchFamily="34" charset="-120"/>
              </a:rPr>
              <a:t>​Great for logos, icons, screenshots, flat colour</a:t>
            </a:r>
            <a:endParaRPr lang="en-US" sz="1350" dirty="0"/>
          </a:p>
          <a:p>
            <a:pPr marL="342900" indent="-342900">
              <a:spcBef>
                <a:spcPts val="700"/>
              </a:spcBef>
              <a:buSzPct val="100000"/>
              <a:buChar char="•"/>
            </a:pPr>
            <a:r>
              <a:rPr lang="en-US" sz="1350" dirty="0">
                <a:solidFill>
                  <a:srgbClr val="262626"/>
                </a:solidFill>
                <a:latin typeface="Aptos" pitchFamily="34" charset="0"/>
                <a:ea typeface="Aptos" pitchFamily="34" charset="-122"/>
                <a:cs typeface="Aptos" pitchFamily="34" charset="-120"/>
              </a:rPr>
              <a:t>​Poor for photos (big files)</a:t>
            </a:r>
            <a:endParaRPr lang="en-US" sz="1350" dirty="0"/>
          </a:p>
        </p:txBody>
      </p:sp>
      <p:sp>
        <p:nvSpPr>
          <p:cNvPr id="12" name="Shape 9"/>
          <p:cNvSpPr/>
          <p:nvPr/>
        </p:nvSpPr>
        <p:spPr>
          <a:xfrm>
            <a:off x="8321040" y="1783080"/>
            <a:ext cx="3337560" cy="4023360"/>
          </a:xfrm>
          <a:prstGeom prst="roundRect">
            <a:avLst>
              <a:gd name="adj" fmla="val 3288"/>
            </a:avLst>
          </a:prstGeom>
          <a:solidFill>
            <a:srgbClr val="FFFFFF"/>
          </a:solidFill>
          <a:ln w="9525">
            <a:solidFill>
              <a:srgbClr val="D0D7DB"/>
            </a:solidFill>
            <a:prstDash val="solid"/>
          </a:ln>
          <a:effectLst>
            <a:outerShdw blurRad="76200" dist="25400" dir="5400000" algn="bl" rotWithShape="0">
              <a:srgbClr val="000000">
                <a:alpha val="12000"/>
              </a:srgbClr>
            </a:outerShdw>
          </a:effectLst>
        </p:spPr>
        <p:txBody>
          <a:bodyPr/>
          <a:lstStyle/>
          <a:p>
            <a:endParaRPr lang="en-US"/>
          </a:p>
        </p:txBody>
      </p:sp>
      <p:sp>
        <p:nvSpPr>
          <p:cNvPr id="13" name="Shape 10"/>
          <p:cNvSpPr/>
          <p:nvPr/>
        </p:nvSpPr>
        <p:spPr>
          <a:xfrm>
            <a:off x="8321040" y="1783080"/>
            <a:ext cx="3337560" cy="594360"/>
          </a:xfrm>
          <a:prstGeom prst="rect">
            <a:avLst/>
          </a:prstGeom>
          <a:solidFill>
            <a:srgbClr val="E97132"/>
          </a:solidFill>
          <a:ln/>
        </p:spPr>
        <p:txBody>
          <a:bodyPr/>
          <a:lstStyle/>
          <a:p>
            <a:endParaRPr lang="en-US"/>
          </a:p>
        </p:txBody>
      </p:sp>
      <p:sp>
        <p:nvSpPr>
          <p:cNvPr id="14" name="Text 11"/>
          <p:cNvSpPr txBox="1"/>
          <p:nvPr/>
        </p:nvSpPr>
        <p:spPr>
          <a:xfrm>
            <a:off x="8549640" y="1783080"/>
            <a:ext cx="2880360" cy="594360"/>
          </a:xfrm>
          <a:prstGeom prst="rect">
            <a:avLst/>
          </a:prstGeom>
          <a:noFill/>
          <a:ln/>
        </p:spPr>
        <p:txBody>
          <a:bodyPr wrap="square" lIns="0" tIns="0" rIns="0" bIns="0" rtlCol="0" anchor="ctr"/>
          <a:lstStyle/>
          <a:p>
            <a:pPr marL="0" indent="0">
              <a:buNone/>
            </a:pPr>
            <a:r>
              <a:rPr lang="en-US" sz="2000" b="1" dirty="0">
                <a:solidFill>
                  <a:srgbClr val="FFFFFF"/>
                </a:solidFill>
                <a:latin typeface="Aptos" pitchFamily="34" charset="0"/>
                <a:ea typeface="Aptos" pitchFamily="34" charset="-122"/>
                <a:cs typeface="Aptos" pitchFamily="34" charset="-120"/>
              </a:rPr>
              <a:t>Lossy</a:t>
            </a:r>
            <a:endParaRPr lang="en-US" sz="2000" dirty="0"/>
          </a:p>
        </p:txBody>
      </p:sp>
      <p:sp>
        <p:nvSpPr>
          <p:cNvPr id="15" name="Text 12"/>
          <p:cNvSpPr txBox="1"/>
          <p:nvPr/>
        </p:nvSpPr>
        <p:spPr>
          <a:xfrm>
            <a:off x="8549640" y="2560320"/>
            <a:ext cx="2880360" cy="914400"/>
          </a:xfrm>
          <a:prstGeom prst="rect">
            <a:avLst/>
          </a:prstGeom>
          <a:noFill/>
          <a:ln/>
        </p:spPr>
        <p:txBody>
          <a:bodyPr wrap="square" lIns="0" tIns="0" rIns="0" bIns="0" rtlCol="0" anchor="t"/>
          <a:lstStyle/>
          <a:p>
            <a:pPr marL="0" indent="0">
              <a:buNone/>
            </a:pPr>
            <a:r>
              <a:rPr lang="en-US" sz="1400" dirty="0">
                <a:solidFill>
                  <a:srgbClr val="262626"/>
                </a:solidFill>
                <a:latin typeface="Aptos" pitchFamily="34" charset="0"/>
                <a:ea typeface="Aptos" pitchFamily="34" charset="-122"/>
                <a:cs typeface="Aptos" pitchFamily="34" charset="-120"/>
              </a:rPr>
              <a:t>Throws away detail your eye probably won't notice. You choose how much.</a:t>
            </a:r>
            <a:endParaRPr lang="en-US" sz="1400" dirty="0"/>
          </a:p>
        </p:txBody>
      </p:sp>
      <p:sp>
        <p:nvSpPr>
          <p:cNvPr id="16" name="Text 13"/>
          <p:cNvSpPr txBox="1"/>
          <p:nvPr/>
        </p:nvSpPr>
        <p:spPr>
          <a:xfrm>
            <a:off x="8549640" y="3566160"/>
            <a:ext cx="2880360" cy="2103120"/>
          </a:xfrm>
          <a:prstGeom prst="rect">
            <a:avLst/>
          </a:prstGeom>
          <a:noFill/>
          <a:ln/>
        </p:spPr>
        <p:txBody>
          <a:bodyPr wrap="square" lIns="0" tIns="0" rIns="0" bIns="0" rtlCol="0" anchor="t"/>
          <a:lstStyle/>
          <a:p>
            <a:pPr marL="342900" indent="-342900">
              <a:buSzPct val="100000"/>
              <a:buChar char="•"/>
            </a:pPr>
            <a:r>
              <a:rPr lang="en-US" sz="1350" dirty="0">
                <a:solidFill>
                  <a:srgbClr val="262626"/>
                </a:solidFill>
                <a:latin typeface="Aptos" pitchFamily="34" charset="0"/>
                <a:ea typeface="Aptos" pitchFamily="34" charset="-122"/>
                <a:cs typeface="Aptos" pitchFamily="34" charset="-120"/>
              </a:rPr>
              <a:t>​Like summarizing a book</a:t>
            </a:r>
            <a:endParaRPr lang="en-US" sz="1350" dirty="0"/>
          </a:p>
          <a:p>
            <a:pPr marL="342900" indent="-342900">
              <a:spcBef>
                <a:spcPts val="700"/>
              </a:spcBef>
              <a:buSzPct val="100000"/>
              <a:buChar char="•"/>
            </a:pPr>
            <a:r>
              <a:rPr lang="en-US" sz="1350" dirty="0">
                <a:solidFill>
                  <a:srgbClr val="262626"/>
                </a:solidFill>
                <a:latin typeface="Aptos" pitchFamily="34" charset="0"/>
                <a:ea typeface="Aptos" pitchFamily="34" charset="-122"/>
                <a:cs typeface="Aptos" pitchFamily="34" charset="-120"/>
              </a:rPr>
              <a:t>​JPG, WebP, AVIF</a:t>
            </a:r>
            <a:endParaRPr lang="en-US" sz="1350" dirty="0"/>
          </a:p>
          <a:p>
            <a:pPr marL="342900" indent="-342900">
              <a:spcBef>
                <a:spcPts val="700"/>
              </a:spcBef>
              <a:buSzPct val="100000"/>
              <a:buChar char="•"/>
            </a:pPr>
            <a:r>
              <a:rPr lang="en-US" sz="1350" dirty="0">
                <a:solidFill>
                  <a:srgbClr val="262626"/>
                </a:solidFill>
                <a:latin typeface="Aptos" pitchFamily="34" charset="0"/>
                <a:ea typeface="Aptos" pitchFamily="34" charset="-122"/>
                <a:cs typeface="Aptos" pitchFamily="34" charset="-120"/>
              </a:rPr>
              <a:t>​Great for photos (tiny files)</a:t>
            </a:r>
            <a:endParaRPr lang="en-US" sz="1350" dirty="0"/>
          </a:p>
          <a:p>
            <a:pPr marL="342900" indent="-342900">
              <a:spcBef>
                <a:spcPts val="700"/>
              </a:spcBef>
              <a:buSzPct val="100000"/>
              <a:buChar char="•"/>
            </a:pPr>
            <a:r>
              <a:rPr lang="en-US" sz="1350" dirty="0">
                <a:solidFill>
                  <a:srgbClr val="262626"/>
                </a:solidFill>
                <a:latin typeface="Aptos" pitchFamily="34" charset="0"/>
                <a:ea typeface="Aptos" pitchFamily="34" charset="-122"/>
                <a:cs typeface="Aptos" pitchFamily="34" charset="-120"/>
              </a:rPr>
              <a:t>​Too much = blurry, blocky pictures. You can't undo it</a:t>
            </a:r>
            <a:endParaRPr lang="en-US" sz="1350" dirty="0"/>
          </a:p>
        </p:txBody>
      </p:sp>
      <p:sp>
        <p:nvSpPr>
          <p:cNvPr id="17" name="Shape 14"/>
          <p:cNvSpPr/>
          <p:nvPr/>
        </p:nvSpPr>
        <p:spPr>
          <a:xfrm>
            <a:off x="4754880" y="5943600"/>
            <a:ext cx="6903720" cy="548640"/>
          </a:xfrm>
          <a:prstGeom prst="roundRect">
            <a:avLst>
              <a:gd name="adj" fmla="val 20000"/>
            </a:avLst>
          </a:prstGeom>
          <a:solidFill>
            <a:srgbClr val="262626"/>
          </a:solidFill>
          <a:ln w="9525">
            <a:solidFill>
              <a:srgbClr val="262626"/>
            </a:solidFill>
            <a:prstDash val="solid"/>
          </a:ln>
          <a:effectLst>
            <a:outerShdw blurRad="76200" dist="25400" dir="5400000" algn="bl" rotWithShape="0">
              <a:srgbClr val="000000">
                <a:alpha val="12000"/>
              </a:srgbClr>
            </a:outerShdw>
          </a:effectLst>
        </p:spPr>
        <p:txBody>
          <a:bodyPr/>
          <a:lstStyle/>
          <a:p>
            <a:endParaRPr lang="en-US"/>
          </a:p>
        </p:txBody>
      </p:sp>
      <p:sp>
        <p:nvSpPr>
          <p:cNvPr id="18" name="Text 15"/>
          <p:cNvSpPr txBox="1"/>
          <p:nvPr/>
        </p:nvSpPr>
        <p:spPr>
          <a:xfrm>
            <a:off x="5029200" y="5943600"/>
            <a:ext cx="6355080" cy="548640"/>
          </a:xfrm>
          <a:prstGeom prst="rect">
            <a:avLst/>
          </a:prstGeom>
          <a:noFill/>
          <a:ln/>
        </p:spPr>
        <p:txBody>
          <a:bodyPr wrap="square" lIns="0" tIns="0" rIns="0" bIns="0" rtlCol="0" anchor="ctr"/>
          <a:lstStyle/>
          <a:p>
            <a:pPr marL="0" indent="0">
              <a:buNone/>
            </a:pPr>
            <a:r>
              <a:rPr lang="en-US" sz="1400" b="1" dirty="0">
                <a:solidFill>
                  <a:srgbClr val="FFFFFF"/>
                </a:solidFill>
                <a:latin typeface="Aptos" pitchFamily="34" charset="0"/>
                <a:ea typeface="Aptos" pitchFamily="34" charset="-122"/>
                <a:cs typeface="Aptos" pitchFamily="34" charset="-120"/>
              </a:rPr>
              <a:t>Always keep your original. Export copies. Never edit and re-save the same JPG over and over.</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972800" cy="594360"/>
          </a:xfrm>
          <a:prstGeom prst="rect">
            <a:avLst/>
          </a:prstGeom>
          <a:noFill/>
          <a:ln/>
        </p:spPr>
        <p:txBody>
          <a:bodyPr wrap="square" lIns="0" tIns="0" rIns="0" bIns="0" rtlCol="0" anchor="ctr"/>
          <a:lstStyle/>
          <a:p>
            <a:pPr marL="0" indent="0">
              <a:buNone/>
            </a:pPr>
            <a:r>
              <a:rPr lang="en-US" sz="3200" dirty="0">
                <a:solidFill>
                  <a:srgbClr val="000000"/>
                </a:solidFill>
                <a:latin typeface="Aptos" pitchFamily="34" charset="0"/>
                <a:ea typeface="Aptos" pitchFamily="34" charset="-122"/>
                <a:cs typeface="Aptos" pitchFamily="34" charset="-120"/>
              </a:rPr>
              <a:t>What Lossy Compression Looks Like</a:t>
            </a:r>
            <a:endParaRPr lang="en-US" sz="3200" dirty="0"/>
          </a:p>
        </p:txBody>
      </p:sp>
      <p:sp>
        <p:nvSpPr>
          <p:cNvPr id="3" name="Text 1"/>
          <p:cNvSpPr txBox="1"/>
          <p:nvPr/>
        </p:nvSpPr>
        <p:spPr>
          <a:xfrm>
            <a:off x="548640" y="960120"/>
            <a:ext cx="10972800" cy="365760"/>
          </a:xfrm>
          <a:prstGeom prst="rect">
            <a:avLst/>
          </a:prstGeom>
          <a:noFill/>
          <a:ln/>
        </p:spPr>
        <p:txBody>
          <a:bodyPr wrap="square" lIns="0" tIns="0" rIns="0" bIns="0" rtlCol="0" anchor="ctr"/>
          <a:lstStyle/>
          <a:p>
            <a:pPr marL="0" indent="0">
              <a:buNone/>
            </a:pPr>
            <a:r>
              <a:rPr lang="en-US" sz="1600" dirty="0">
                <a:solidFill>
                  <a:srgbClr val="595959"/>
                </a:solidFill>
                <a:latin typeface="Aptos" pitchFamily="34" charset="0"/>
                <a:ea typeface="Aptos" pitchFamily="34" charset="-122"/>
                <a:cs typeface="Aptos" pitchFamily="34" charset="-120"/>
              </a:rPr>
              <a:t>The same JPG at three quality settings, zoomed in 5×.</a:t>
            </a:r>
            <a:endParaRPr lang="en-US" sz="1600" dirty="0"/>
          </a:p>
        </p:txBody>
      </p:sp>
      <p:pic>
        <p:nvPicPr>
          <p:cNvPr id="4" name="Image 0" descr="C:\Repos\2026-2027\WEBD1000\04_Images_for_the_Web\_build\zoom_q90.png"/>
          <p:cNvPicPr>
            <a:picLocks noChangeAspect="1"/>
          </p:cNvPicPr>
          <p:nvPr/>
        </p:nvPicPr>
        <p:blipFill>
          <a:blip r:embed="rId3"/>
          <a:stretch>
            <a:fillRect/>
          </a:stretch>
        </p:blipFill>
        <p:spPr>
          <a:xfrm>
            <a:off x="548640" y="1554480"/>
            <a:ext cx="3520440" cy="2346960"/>
          </a:xfrm>
          <a:prstGeom prst="rect">
            <a:avLst/>
          </a:prstGeom>
        </p:spPr>
      </p:pic>
      <p:sp>
        <p:nvSpPr>
          <p:cNvPr id="5" name="Shape 2"/>
          <p:cNvSpPr/>
          <p:nvPr/>
        </p:nvSpPr>
        <p:spPr>
          <a:xfrm>
            <a:off x="548640" y="1554480"/>
            <a:ext cx="3520440" cy="2346960"/>
          </a:xfrm>
          <a:prstGeom prst="rect">
            <a:avLst/>
          </a:prstGeom>
          <a:ln w="12700">
            <a:solidFill>
              <a:srgbClr val="7F7F7F"/>
            </a:solidFill>
            <a:prstDash val="solid"/>
          </a:ln>
        </p:spPr>
        <p:txBody>
          <a:bodyPr/>
          <a:lstStyle/>
          <a:p>
            <a:endParaRPr lang="en-US"/>
          </a:p>
        </p:txBody>
      </p:sp>
      <p:sp>
        <p:nvSpPr>
          <p:cNvPr id="6" name="Text 3"/>
          <p:cNvSpPr txBox="1"/>
          <p:nvPr/>
        </p:nvSpPr>
        <p:spPr>
          <a:xfrm>
            <a:off x="548640" y="4038600"/>
            <a:ext cx="2286000" cy="411480"/>
          </a:xfrm>
          <a:prstGeom prst="rect">
            <a:avLst/>
          </a:prstGeom>
          <a:noFill/>
          <a:ln/>
        </p:spPr>
        <p:txBody>
          <a:bodyPr wrap="square" lIns="0" tIns="0" rIns="0" bIns="0" rtlCol="0" anchor="ctr"/>
          <a:lstStyle/>
          <a:p>
            <a:pPr marL="0" indent="0">
              <a:buNone/>
            </a:pPr>
            <a:r>
              <a:rPr lang="en-US" sz="2000" b="1" dirty="0">
                <a:solidFill>
                  <a:srgbClr val="000000"/>
                </a:solidFill>
                <a:latin typeface="Aptos" pitchFamily="34" charset="0"/>
                <a:ea typeface="Aptos" pitchFamily="34" charset="-122"/>
                <a:cs typeface="Aptos" pitchFamily="34" charset="-120"/>
              </a:rPr>
              <a:t>Quality 90</a:t>
            </a:r>
            <a:endParaRPr lang="en-US" sz="2000" dirty="0"/>
          </a:p>
        </p:txBody>
      </p:sp>
      <p:sp>
        <p:nvSpPr>
          <p:cNvPr id="7" name="Text 4"/>
          <p:cNvSpPr txBox="1"/>
          <p:nvPr/>
        </p:nvSpPr>
        <p:spPr>
          <a:xfrm>
            <a:off x="2606040" y="4038600"/>
            <a:ext cx="1463040" cy="411480"/>
          </a:xfrm>
          <a:prstGeom prst="rect">
            <a:avLst/>
          </a:prstGeom>
          <a:noFill/>
          <a:ln/>
        </p:spPr>
        <p:txBody>
          <a:bodyPr wrap="square" lIns="0" tIns="0" rIns="0" bIns="0" rtlCol="0" anchor="ctr"/>
          <a:lstStyle/>
          <a:p>
            <a:pPr marL="0" indent="0" algn="r">
              <a:buNone/>
            </a:pPr>
            <a:r>
              <a:rPr lang="en-US" sz="2000" b="1" dirty="0">
                <a:solidFill>
                  <a:srgbClr val="2E7D32"/>
                </a:solidFill>
                <a:latin typeface="Aptos" pitchFamily="34" charset="0"/>
                <a:ea typeface="Aptos" pitchFamily="34" charset="-122"/>
                <a:cs typeface="Aptos" pitchFamily="34" charset="-120"/>
              </a:rPr>
              <a:t>140 KB</a:t>
            </a:r>
            <a:endParaRPr lang="en-US" sz="2000" dirty="0"/>
          </a:p>
        </p:txBody>
      </p:sp>
      <p:pic>
        <p:nvPicPr>
          <p:cNvPr id="8" name="Image 1" descr="C:\Repos\2026-2027\WEBD1000\04_Images_for_the_Web\_build\zoom_q50.png"/>
          <p:cNvPicPr>
            <a:picLocks noChangeAspect="1"/>
          </p:cNvPicPr>
          <p:nvPr/>
        </p:nvPicPr>
        <p:blipFill>
          <a:blip r:embed="rId4"/>
          <a:stretch>
            <a:fillRect/>
          </a:stretch>
        </p:blipFill>
        <p:spPr>
          <a:xfrm>
            <a:off x="4320540" y="1554480"/>
            <a:ext cx="3520440" cy="2346960"/>
          </a:xfrm>
          <a:prstGeom prst="rect">
            <a:avLst/>
          </a:prstGeom>
        </p:spPr>
      </p:pic>
      <p:sp>
        <p:nvSpPr>
          <p:cNvPr id="9" name="Shape 5"/>
          <p:cNvSpPr/>
          <p:nvPr/>
        </p:nvSpPr>
        <p:spPr>
          <a:xfrm>
            <a:off x="4320540" y="1554480"/>
            <a:ext cx="3520440" cy="2346960"/>
          </a:xfrm>
          <a:prstGeom prst="rect">
            <a:avLst/>
          </a:prstGeom>
          <a:ln w="12700">
            <a:solidFill>
              <a:srgbClr val="7F7F7F"/>
            </a:solidFill>
            <a:prstDash val="solid"/>
          </a:ln>
        </p:spPr>
        <p:txBody>
          <a:bodyPr/>
          <a:lstStyle/>
          <a:p>
            <a:endParaRPr lang="en-US"/>
          </a:p>
        </p:txBody>
      </p:sp>
      <p:sp>
        <p:nvSpPr>
          <p:cNvPr id="10" name="Text 6"/>
          <p:cNvSpPr txBox="1"/>
          <p:nvPr/>
        </p:nvSpPr>
        <p:spPr>
          <a:xfrm>
            <a:off x="4320540" y="4038600"/>
            <a:ext cx="2286000" cy="411480"/>
          </a:xfrm>
          <a:prstGeom prst="rect">
            <a:avLst/>
          </a:prstGeom>
          <a:noFill/>
          <a:ln/>
        </p:spPr>
        <p:txBody>
          <a:bodyPr wrap="square" lIns="0" tIns="0" rIns="0" bIns="0" rtlCol="0" anchor="ctr"/>
          <a:lstStyle/>
          <a:p>
            <a:pPr marL="0" indent="0">
              <a:buNone/>
            </a:pPr>
            <a:r>
              <a:rPr lang="en-US" sz="2000" b="1" dirty="0">
                <a:solidFill>
                  <a:srgbClr val="000000"/>
                </a:solidFill>
                <a:latin typeface="Aptos" pitchFamily="34" charset="0"/>
                <a:ea typeface="Aptos" pitchFamily="34" charset="-122"/>
                <a:cs typeface="Aptos" pitchFamily="34" charset="-120"/>
              </a:rPr>
              <a:t>Quality 50</a:t>
            </a:r>
            <a:endParaRPr lang="en-US" sz="2000" dirty="0"/>
          </a:p>
        </p:txBody>
      </p:sp>
      <p:sp>
        <p:nvSpPr>
          <p:cNvPr id="11" name="Text 7"/>
          <p:cNvSpPr txBox="1"/>
          <p:nvPr/>
        </p:nvSpPr>
        <p:spPr>
          <a:xfrm>
            <a:off x="6377940" y="4038600"/>
            <a:ext cx="1463040" cy="411480"/>
          </a:xfrm>
          <a:prstGeom prst="rect">
            <a:avLst/>
          </a:prstGeom>
          <a:noFill/>
          <a:ln/>
        </p:spPr>
        <p:txBody>
          <a:bodyPr wrap="square" lIns="0" tIns="0" rIns="0" bIns="0" rtlCol="0" anchor="ctr"/>
          <a:lstStyle/>
          <a:p>
            <a:pPr marL="0" indent="0" algn="r">
              <a:buNone/>
            </a:pPr>
            <a:r>
              <a:rPr lang="en-US" sz="2000" b="1" dirty="0">
                <a:solidFill>
                  <a:srgbClr val="E97132"/>
                </a:solidFill>
                <a:latin typeface="Aptos" pitchFamily="34" charset="0"/>
                <a:ea typeface="Aptos" pitchFamily="34" charset="-122"/>
                <a:cs typeface="Aptos" pitchFamily="34" charset="-120"/>
              </a:rPr>
              <a:t>51 KB</a:t>
            </a:r>
            <a:endParaRPr lang="en-US" sz="2000" dirty="0"/>
          </a:p>
        </p:txBody>
      </p:sp>
      <p:pic>
        <p:nvPicPr>
          <p:cNvPr id="12" name="Image 2" descr="C:\Repos\2026-2027\WEBD1000\04_Images_for_the_Web\_build\zoom_q10.png"/>
          <p:cNvPicPr>
            <a:picLocks noChangeAspect="1"/>
          </p:cNvPicPr>
          <p:nvPr/>
        </p:nvPicPr>
        <p:blipFill>
          <a:blip r:embed="rId5"/>
          <a:stretch>
            <a:fillRect/>
          </a:stretch>
        </p:blipFill>
        <p:spPr>
          <a:xfrm>
            <a:off x="8092440" y="1554480"/>
            <a:ext cx="3520440" cy="2346960"/>
          </a:xfrm>
          <a:prstGeom prst="rect">
            <a:avLst/>
          </a:prstGeom>
        </p:spPr>
      </p:pic>
      <p:sp>
        <p:nvSpPr>
          <p:cNvPr id="13" name="Shape 8"/>
          <p:cNvSpPr/>
          <p:nvPr/>
        </p:nvSpPr>
        <p:spPr>
          <a:xfrm>
            <a:off x="8092440" y="1554480"/>
            <a:ext cx="3520440" cy="2346960"/>
          </a:xfrm>
          <a:prstGeom prst="rect">
            <a:avLst/>
          </a:prstGeom>
          <a:ln w="12700">
            <a:solidFill>
              <a:srgbClr val="7F7F7F"/>
            </a:solidFill>
            <a:prstDash val="solid"/>
          </a:ln>
        </p:spPr>
        <p:txBody>
          <a:bodyPr/>
          <a:lstStyle/>
          <a:p>
            <a:endParaRPr lang="en-US"/>
          </a:p>
        </p:txBody>
      </p:sp>
      <p:sp>
        <p:nvSpPr>
          <p:cNvPr id="14" name="Text 9"/>
          <p:cNvSpPr txBox="1"/>
          <p:nvPr/>
        </p:nvSpPr>
        <p:spPr>
          <a:xfrm>
            <a:off x="8092440" y="4038600"/>
            <a:ext cx="2286000" cy="411480"/>
          </a:xfrm>
          <a:prstGeom prst="rect">
            <a:avLst/>
          </a:prstGeom>
          <a:noFill/>
          <a:ln/>
        </p:spPr>
        <p:txBody>
          <a:bodyPr wrap="square" lIns="0" tIns="0" rIns="0" bIns="0" rtlCol="0" anchor="ctr"/>
          <a:lstStyle/>
          <a:p>
            <a:pPr marL="0" indent="0">
              <a:buNone/>
            </a:pPr>
            <a:r>
              <a:rPr lang="en-US" sz="2000" b="1" dirty="0">
                <a:solidFill>
                  <a:srgbClr val="000000"/>
                </a:solidFill>
                <a:latin typeface="Aptos" pitchFamily="34" charset="0"/>
                <a:ea typeface="Aptos" pitchFamily="34" charset="-122"/>
                <a:cs typeface="Aptos" pitchFamily="34" charset="-120"/>
              </a:rPr>
              <a:t>Quality 10</a:t>
            </a:r>
            <a:endParaRPr lang="en-US" sz="2000" dirty="0"/>
          </a:p>
        </p:txBody>
      </p:sp>
      <p:sp>
        <p:nvSpPr>
          <p:cNvPr id="15" name="Text 10"/>
          <p:cNvSpPr txBox="1"/>
          <p:nvPr/>
        </p:nvSpPr>
        <p:spPr>
          <a:xfrm>
            <a:off x="10149840" y="4038600"/>
            <a:ext cx="1463040" cy="411480"/>
          </a:xfrm>
          <a:prstGeom prst="rect">
            <a:avLst/>
          </a:prstGeom>
          <a:noFill/>
          <a:ln/>
        </p:spPr>
        <p:txBody>
          <a:bodyPr wrap="square" lIns="0" tIns="0" rIns="0" bIns="0" rtlCol="0" anchor="ctr"/>
          <a:lstStyle/>
          <a:p>
            <a:pPr marL="0" indent="0" algn="r">
              <a:buNone/>
            </a:pPr>
            <a:r>
              <a:rPr lang="en-US" sz="2000" b="1" dirty="0">
                <a:solidFill>
                  <a:srgbClr val="C62828"/>
                </a:solidFill>
                <a:latin typeface="Aptos" pitchFamily="34" charset="0"/>
                <a:ea typeface="Aptos" pitchFamily="34" charset="-122"/>
                <a:cs typeface="Aptos" pitchFamily="34" charset="-120"/>
              </a:rPr>
              <a:t>12 KB</a:t>
            </a:r>
            <a:endParaRPr lang="en-US" sz="2000" dirty="0"/>
          </a:p>
        </p:txBody>
      </p:sp>
      <p:sp>
        <p:nvSpPr>
          <p:cNvPr id="16" name="Text 11"/>
          <p:cNvSpPr txBox="1"/>
          <p:nvPr/>
        </p:nvSpPr>
        <p:spPr>
          <a:xfrm>
            <a:off x="548640" y="4572000"/>
            <a:ext cx="11064240" cy="1920240"/>
          </a:xfrm>
          <a:prstGeom prst="rect">
            <a:avLst/>
          </a:prstGeom>
          <a:noFill/>
          <a:ln/>
        </p:spPr>
        <p:txBody>
          <a:bodyPr wrap="square" lIns="0" tIns="0" rIns="0" bIns="0" rtlCol="0" anchor="t"/>
          <a:lstStyle/>
          <a:p>
            <a:pPr marL="342900" indent="-342900">
              <a:buSzPct val="100000"/>
              <a:buChar char="•"/>
            </a:pPr>
            <a:r>
              <a:rPr lang="en-US" sz="1550" dirty="0">
                <a:solidFill>
                  <a:srgbClr val="262626"/>
                </a:solidFill>
                <a:latin typeface="Aptos" pitchFamily="34" charset="0"/>
                <a:ea typeface="Aptos" pitchFamily="34" charset="-122"/>
                <a:cs typeface="Aptos" pitchFamily="34" charset="-120"/>
              </a:rPr>
              <a:t>​</a:t>
            </a:r>
            <a:r>
              <a:rPr lang="en-US" sz="1550" b="1" dirty="0">
                <a:solidFill>
                  <a:srgbClr val="262626"/>
                </a:solidFill>
                <a:latin typeface="Aptos" pitchFamily="34" charset="0"/>
                <a:ea typeface="Aptos" pitchFamily="34" charset="-122"/>
                <a:cs typeface="Aptos" pitchFamily="34" charset="-120"/>
              </a:rPr>
              <a:t>Blocks: </a:t>
            </a:r>
            <a:r>
              <a:rPr lang="en-US" sz="1550" dirty="0">
                <a:solidFill>
                  <a:srgbClr val="262626"/>
                </a:solidFill>
                <a:latin typeface="Aptos" pitchFamily="34" charset="0"/>
                <a:ea typeface="Aptos" pitchFamily="34" charset="-122"/>
                <a:cs typeface="Aptos" pitchFamily="34" charset="-120"/>
              </a:rPr>
              <a:t>JPG works in 8 × 8 pixel squares. Push the quality too low and you can see them.</a:t>
            </a:r>
            <a:endParaRPr lang="en-US" sz="1550" dirty="0"/>
          </a:p>
          <a:p>
            <a:pPr marL="342900" indent="-342900">
              <a:spcBef>
                <a:spcPts val="900"/>
              </a:spcBef>
              <a:buSzPct val="100000"/>
              <a:buChar char="•"/>
            </a:pPr>
            <a:r>
              <a:rPr lang="en-US" sz="1550" dirty="0">
                <a:solidFill>
                  <a:srgbClr val="262626"/>
                </a:solidFill>
                <a:latin typeface="Aptos" pitchFamily="34" charset="0"/>
                <a:ea typeface="Aptos" pitchFamily="34" charset="-122"/>
                <a:cs typeface="Aptos" pitchFamily="34" charset="-120"/>
              </a:rPr>
              <a:t>​</a:t>
            </a:r>
            <a:r>
              <a:rPr lang="en-US" sz="1550" b="1" dirty="0">
                <a:solidFill>
                  <a:srgbClr val="262626"/>
                </a:solidFill>
                <a:latin typeface="Aptos" pitchFamily="34" charset="0"/>
                <a:ea typeface="Aptos" pitchFamily="34" charset="-122"/>
                <a:cs typeface="Aptos" pitchFamily="34" charset="-120"/>
              </a:rPr>
              <a:t>Smudges and noise </a:t>
            </a:r>
            <a:r>
              <a:rPr lang="en-US" sz="1550" dirty="0">
                <a:solidFill>
                  <a:srgbClr val="262626"/>
                </a:solidFill>
                <a:latin typeface="Aptos" pitchFamily="34" charset="0"/>
                <a:ea typeface="Aptos" pitchFamily="34" charset="-122"/>
                <a:cs typeface="Aptos" pitchFamily="34" charset="-120"/>
              </a:rPr>
              <a:t>appear around sharp edges, and smooth areas like sky turn patchy.</a:t>
            </a:r>
            <a:endParaRPr lang="en-US" sz="1550" dirty="0"/>
          </a:p>
          <a:p>
            <a:pPr marL="342900" indent="-342900">
              <a:spcBef>
                <a:spcPts val="900"/>
              </a:spcBef>
              <a:buSzPct val="100000"/>
              <a:buChar char="•"/>
            </a:pPr>
            <a:r>
              <a:rPr lang="en-US" sz="1550" dirty="0">
                <a:solidFill>
                  <a:srgbClr val="262626"/>
                </a:solidFill>
                <a:latin typeface="Aptos" pitchFamily="34" charset="0"/>
                <a:ea typeface="Aptos" pitchFamily="34" charset="-122"/>
                <a:cs typeface="Aptos" pitchFamily="34" charset="-120"/>
              </a:rPr>
              <a:t>​</a:t>
            </a:r>
            <a:r>
              <a:rPr lang="en-US" sz="1550" b="1" dirty="0">
                <a:solidFill>
                  <a:srgbClr val="262626"/>
                </a:solidFill>
                <a:latin typeface="Aptos" pitchFamily="34" charset="0"/>
                <a:ea typeface="Aptos" pitchFamily="34" charset="-122"/>
                <a:cs typeface="Aptos" pitchFamily="34" charset="-120"/>
              </a:rPr>
              <a:t>Quality 90 is bigger than the original file (134 KB)! </a:t>
            </a:r>
            <a:r>
              <a:rPr lang="en-US" sz="1550" dirty="0">
                <a:solidFill>
                  <a:srgbClr val="262626"/>
                </a:solidFill>
                <a:latin typeface="Aptos" pitchFamily="34" charset="0"/>
                <a:ea typeface="Aptos" pitchFamily="34" charset="-122"/>
                <a:cs typeface="Aptos" pitchFamily="34" charset="-120"/>
              </a:rPr>
              <a:t>Re-saving at a higher quality can't bring back detail. It only adds bytes.</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2926080" y="640080"/>
            <a:ext cx="8412480" cy="4206240"/>
          </a:xfrm>
          <a:prstGeom prst="rect">
            <a:avLst/>
          </a:prstGeom>
          <a:noFill/>
          <a:ln/>
        </p:spPr>
        <p:txBody>
          <a:bodyPr wrap="square" lIns="0" tIns="0" rIns="0" bIns="0" rtlCol="0" anchor="ctr"/>
          <a:lstStyle/>
          <a:p>
            <a:pPr marL="0" indent="0" algn="r">
              <a:buNone/>
            </a:pPr>
            <a:r>
              <a:rPr lang="en-US" sz="6000" dirty="0">
                <a:solidFill>
                  <a:srgbClr val="FFFFFF"/>
                </a:solidFill>
                <a:latin typeface="Aptos" pitchFamily="34" charset="0"/>
                <a:ea typeface="Aptos" pitchFamily="34" charset="-122"/>
                <a:cs typeface="Aptos" pitchFamily="34" charset="-120"/>
              </a:rPr>
              <a:t>File Formats</a:t>
            </a:r>
            <a:endParaRPr lang="en-US" sz="6000" dirty="0"/>
          </a:p>
        </p:txBody>
      </p:sp>
      <p:sp>
        <p:nvSpPr>
          <p:cNvPr id="3" name="Text 1"/>
          <p:cNvSpPr txBox="1"/>
          <p:nvPr/>
        </p:nvSpPr>
        <p:spPr>
          <a:xfrm>
            <a:off x="1417320" y="5989320"/>
            <a:ext cx="10058400" cy="411480"/>
          </a:xfrm>
          <a:prstGeom prst="rect">
            <a:avLst/>
          </a:prstGeom>
          <a:noFill/>
          <a:ln/>
        </p:spPr>
        <p:txBody>
          <a:bodyPr wrap="square" lIns="0" tIns="0" rIns="0" bIns="0" rtlCol="0" anchor="ctr"/>
          <a:lstStyle/>
          <a:p>
            <a:pPr marL="0" indent="0">
              <a:buNone/>
            </a:pPr>
            <a:r>
              <a:rPr lang="en-US" sz="1800" dirty="0">
                <a:solidFill>
                  <a:srgbClr val="FFFFFF"/>
                </a:solidFill>
                <a:latin typeface="Aptos" pitchFamily="34" charset="0"/>
                <a:ea typeface="Aptos" pitchFamily="34" charset="-122"/>
                <a:cs typeface="Aptos" pitchFamily="34" charset="-120"/>
              </a:rPr>
              <a:t>JPG · PNG · GIF · WebP · AVIF · SVG</a:t>
            </a:r>
            <a:endParaRPr lang="en-US" sz="1800" dirty="0"/>
          </a:p>
        </p:txBody>
      </p:sp>
      <p:sp>
        <p:nvSpPr>
          <p:cNvPr id="4" name="Shape 2"/>
          <p:cNvSpPr/>
          <p:nvPr/>
        </p:nvSpPr>
        <p:spPr>
          <a:xfrm>
            <a:off x="914400" y="3840480"/>
            <a:ext cx="0" cy="3017520"/>
          </a:xfrm>
          <a:prstGeom prst="line">
            <a:avLst/>
          </a:prstGeom>
          <a:noFill/>
          <a:ln w="25400">
            <a:solidFill>
              <a:srgbClr val="FFFFFF"/>
            </a:solidFill>
            <a:prstDash val="solid"/>
          </a:ln>
        </p:spPr>
        <p:txBody>
          <a:bodyPr/>
          <a:lstStyle/>
          <a:p>
            <a:endParaRPr lang="en-US"/>
          </a:p>
        </p:txBody>
      </p:sp>
      <p:sp>
        <p:nvSpPr>
          <p:cNvPr id="5" name="Text 3"/>
          <p:cNvSpPr txBox="1"/>
          <p:nvPr/>
        </p:nvSpPr>
        <p:spPr>
          <a:xfrm>
            <a:off x="3794760" y="502920"/>
            <a:ext cx="365760" cy="365760"/>
          </a:xfrm>
          <a:prstGeom prst="rect">
            <a:avLst/>
          </a:prstGeom>
          <a:noFill/>
          <a:ln/>
        </p:spPr>
        <p:txBody>
          <a:bodyPr wrap="square" lIns="0" tIns="0" rIns="0" bIns="0" rtlCol="0" anchor="ctr"/>
          <a:lstStyle/>
          <a:p>
            <a:pPr marL="0" indent="0" algn="ctr">
              <a:buNone/>
            </a:pPr>
            <a:r>
              <a:rPr lang="en-US" sz="2000" dirty="0">
                <a:solidFill>
                  <a:srgbClr val="FFFFFF"/>
                </a:solidFill>
                <a:latin typeface="Aptos" pitchFamily="34" charset="0"/>
                <a:ea typeface="Aptos" pitchFamily="34" charset="-122"/>
                <a:cs typeface="Aptos" pitchFamily="34" charset="-120"/>
              </a:rPr>
              <a:t>+</a:t>
            </a:r>
            <a:endParaRPr lang="en-US" sz="2000" dirty="0"/>
          </a:p>
        </p:txBody>
      </p:sp>
      <p:sp>
        <p:nvSpPr>
          <p:cNvPr id="6" name="Text 4"/>
          <p:cNvSpPr txBox="1"/>
          <p:nvPr/>
        </p:nvSpPr>
        <p:spPr>
          <a:xfrm>
            <a:off x="4160520" y="731520"/>
            <a:ext cx="365760" cy="365760"/>
          </a:xfrm>
          <a:prstGeom prst="rect">
            <a:avLst/>
          </a:prstGeom>
          <a:noFill/>
          <a:ln/>
        </p:spPr>
        <p:txBody>
          <a:bodyPr wrap="square" lIns="0" tIns="0" rIns="0" bIns="0" rtlCol="0" anchor="ctr"/>
          <a:lstStyle/>
          <a:p>
            <a:pPr marL="0" indent="0" algn="ctr">
              <a:buNone/>
            </a:pPr>
            <a:r>
              <a:rPr lang="en-US" sz="2000" dirty="0">
                <a:solidFill>
                  <a:srgbClr val="FFFFFF"/>
                </a:solidFill>
                <a:latin typeface="Aptos" pitchFamily="34" charset="0"/>
                <a:ea typeface="Aptos" pitchFamily="34" charset="-122"/>
                <a:cs typeface="Aptos" pitchFamily="34" charset="-120"/>
              </a:rPr>
              <a:t>•</a:t>
            </a:r>
            <a:endParaRPr lang="en-US" sz="2000" dirty="0"/>
          </a:p>
        </p:txBody>
      </p:sp>
      <p:sp>
        <p:nvSpPr>
          <p:cNvPr id="7" name="Text 5"/>
          <p:cNvSpPr txBox="1"/>
          <p:nvPr/>
        </p:nvSpPr>
        <p:spPr>
          <a:xfrm>
            <a:off x="3749040" y="914400"/>
            <a:ext cx="365760" cy="365760"/>
          </a:xfrm>
          <a:prstGeom prst="rect">
            <a:avLst/>
          </a:prstGeom>
          <a:noFill/>
          <a:ln/>
        </p:spPr>
        <p:txBody>
          <a:bodyPr wrap="square" lIns="0" tIns="0" rIns="0" bIns="0" rtlCol="0" anchor="ctr"/>
          <a:lstStyle/>
          <a:p>
            <a:pPr marL="0" indent="0" algn="ctr">
              <a:buNone/>
            </a:pPr>
            <a:r>
              <a:rPr lang="en-US" sz="1600" dirty="0">
                <a:solidFill>
                  <a:srgbClr val="FFFFFF"/>
                </a:solidFill>
                <a:latin typeface="Aptos" pitchFamily="34" charset="0"/>
                <a:ea typeface="Aptos" pitchFamily="34" charset="-122"/>
                <a:cs typeface="Aptos" pitchFamily="34" charset="-120"/>
              </a:rPr>
              <a:t>○</a:t>
            </a:r>
            <a:endParaRPr lang="en-US" sz="1600" dirty="0"/>
          </a:p>
        </p:txBody>
      </p:sp>
      <p:sp>
        <p:nvSpPr>
          <p:cNvPr id="8" name="Text 6"/>
          <p:cNvSpPr txBox="1"/>
          <p:nvPr/>
        </p:nvSpPr>
        <p:spPr>
          <a:xfrm>
            <a:off x="11521440" y="5760720"/>
            <a:ext cx="365760" cy="365760"/>
          </a:xfrm>
          <a:prstGeom prst="rect">
            <a:avLst/>
          </a:prstGeom>
          <a:noFill/>
          <a:ln/>
        </p:spPr>
        <p:txBody>
          <a:bodyPr wrap="square" lIns="0" tIns="0" rIns="0" bIns="0" rtlCol="0" anchor="ctr"/>
          <a:lstStyle/>
          <a:p>
            <a:pPr marL="0" indent="0" algn="ctr">
              <a:buNone/>
            </a:pPr>
            <a:r>
              <a:rPr lang="en-US" sz="2000" dirty="0">
                <a:solidFill>
                  <a:srgbClr val="FFFFFF"/>
                </a:solidFill>
                <a:latin typeface="Aptos" pitchFamily="34" charset="0"/>
                <a:ea typeface="Aptos" pitchFamily="34" charset="-122"/>
                <a:cs typeface="Aptos" pitchFamily="34" charset="-120"/>
              </a:rPr>
              <a:t>+</a:t>
            </a:r>
            <a:endParaRPr lang="en-US" sz="2000" dirty="0"/>
          </a:p>
        </p:txBody>
      </p:sp>
      <p:sp>
        <p:nvSpPr>
          <p:cNvPr id="9" name="Text 7"/>
          <p:cNvSpPr txBox="1"/>
          <p:nvPr/>
        </p:nvSpPr>
        <p:spPr>
          <a:xfrm>
            <a:off x="11292840" y="6263640"/>
            <a:ext cx="365760" cy="365760"/>
          </a:xfrm>
          <a:prstGeom prst="rect">
            <a:avLst/>
          </a:prstGeom>
          <a:noFill/>
          <a:ln/>
        </p:spPr>
        <p:txBody>
          <a:bodyPr wrap="square" lIns="0" tIns="0" rIns="0" bIns="0" rtlCol="0" anchor="ctr"/>
          <a:lstStyle/>
          <a:p>
            <a:pPr marL="0" indent="0" algn="ctr">
              <a:buNone/>
            </a:pPr>
            <a:r>
              <a:rPr lang="en-US" sz="2000" dirty="0">
                <a:solidFill>
                  <a:srgbClr val="FFFFFF"/>
                </a:solidFill>
                <a:latin typeface="Aptos" pitchFamily="34" charset="0"/>
                <a:ea typeface="Aptos" pitchFamily="34" charset="-122"/>
                <a:cs typeface="Aptos" pitchFamily="34" charset="-120"/>
              </a:rPr>
              <a:t>•</a:t>
            </a:r>
            <a:endParaRPr lang="en-US" sz="2000" dirty="0"/>
          </a:p>
        </p:txBody>
      </p:sp>
      <p:sp>
        <p:nvSpPr>
          <p:cNvPr id="10" name="Text 8"/>
          <p:cNvSpPr txBox="1"/>
          <p:nvPr/>
        </p:nvSpPr>
        <p:spPr>
          <a:xfrm>
            <a:off x="11887200" y="6263640"/>
            <a:ext cx="365760" cy="365760"/>
          </a:xfrm>
          <a:prstGeom prst="rect">
            <a:avLst/>
          </a:prstGeom>
          <a:noFill/>
          <a:ln/>
        </p:spPr>
        <p:txBody>
          <a:bodyPr wrap="square" lIns="0" tIns="0" rIns="0" bIns="0" rtlCol="0" anchor="ctr"/>
          <a:lstStyle/>
          <a:p>
            <a:pPr marL="0" indent="0" algn="ctr">
              <a:buNone/>
            </a:pPr>
            <a:r>
              <a:rPr lang="en-US" sz="1400" dirty="0">
                <a:solidFill>
                  <a:srgbClr val="FFFFFF"/>
                </a:solidFill>
                <a:latin typeface="Aptos" pitchFamily="34" charset="0"/>
                <a:ea typeface="Aptos" pitchFamily="34" charset="-122"/>
                <a:cs typeface="Aptos" pitchFamily="34" charset="-120"/>
              </a:rPr>
              <a:t>○</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2F2F2"/>
        </a:solidFill>
        <a:effectLst/>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txBody>
          <a:bodyPr/>
          <a:lstStyle/>
          <a:p>
            <a:endParaRPr lang="en-US"/>
          </a:p>
        </p:txBody>
      </p:sp>
      <p:sp>
        <p:nvSpPr>
          <p:cNvPr id="3" name="Text 1"/>
          <p:cNvSpPr txBox="1"/>
          <p:nvPr/>
        </p:nvSpPr>
        <p:spPr>
          <a:xfrm>
            <a:off x="868680" y="548640"/>
            <a:ext cx="2560320" cy="1280160"/>
          </a:xfrm>
          <a:prstGeom prst="rect">
            <a:avLst/>
          </a:prstGeom>
          <a:noFill/>
          <a:ln/>
        </p:spPr>
        <p:txBody>
          <a:bodyPr wrap="square" lIns="0" tIns="0" rIns="0" bIns="0" rtlCol="0" anchor="t"/>
          <a:lstStyle/>
          <a:p>
            <a:pPr marL="0" indent="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txBody>
          <a:bodyPr/>
          <a:lstStyle/>
          <a:p>
            <a:endParaRPr lang="en-US"/>
          </a:p>
        </p:txBody>
      </p:sp>
      <p:sp>
        <p:nvSpPr>
          <p:cNvPr id="5" name="Text 3"/>
          <p:cNvSpPr txBox="1"/>
          <p:nvPr/>
        </p:nvSpPr>
        <p:spPr>
          <a:xfrm>
            <a:off x="4754880" y="822960"/>
            <a:ext cx="6903720" cy="868680"/>
          </a:xfrm>
          <a:prstGeom prst="rect">
            <a:avLst/>
          </a:prstGeom>
          <a:noFill/>
          <a:ln/>
        </p:spPr>
        <p:txBody>
          <a:bodyPr wrap="square" lIns="0" tIns="0" rIns="0" bIns="0" rtlCol="0" anchor="t"/>
          <a:lstStyle/>
          <a:p>
            <a:pPr marL="0" indent="0">
              <a:buNone/>
            </a:pPr>
            <a:r>
              <a:rPr lang="en-US" sz="2800" b="1" dirty="0">
                <a:solidFill>
                  <a:srgbClr val="000000"/>
                </a:solidFill>
                <a:latin typeface="Aptos" pitchFamily="34" charset="0"/>
                <a:ea typeface="Aptos" pitchFamily="34" charset="-122"/>
                <a:cs typeface="Aptos" pitchFamily="34" charset="-120"/>
              </a:rPr>
              <a:t>The Six Formats You'll Meet</a:t>
            </a:r>
            <a:endParaRPr lang="en-US" sz="2800" dirty="0"/>
          </a:p>
        </p:txBody>
      </p:sp>
      <p:sp>
        <p:nvSpPr>
          <p:cNvPr id="7" name="Shape 4"/>
          <p:cNvSpPr/>
          <p:nvPr/>
        </p:nvSpPr>
        <p:spPr>
          <a:xfrm>
            <a:off x="4754880" y="1783080"/>
            <a:ext cx="3337560" cy="1325880"/>
          </a:xfrm>
          <a:prstGeom prst="roundRect">
            <a:avLst>
              <a:gd name="adj" fmla="val 8276"/>
            </a:avLst>
          </a:prstGeom>
          <a:solidFill>
            <a:srgbClr val="FFFFFF"/>
          </a:solidFill>
          <a:ln w="9525">
            <a:solidFill>
              <a:srgbClr val="D0D7DB"/>
            </a:solidFill>
            <a:prstDash val="solid"/>
          </a:ln>
          <a:effectLst>
            <a:outerShdw blurRad="76200" dist="25400" dir="5400000" algn="bl" rotWithShape="0">
              <a:srgbClr val="000000">
                <a:alpha val="12000"/>
              </a:srgbClr>
            </a:outerShdw>
          </a:effectLst>
        </p:spPr>
        <p:txBody>
          <a:bodyPr/>
          <a:lstStyle/>
          <a:p>
            <a:endParaRPr lang="en-US"/>
          </a:p>
        </p:txBody>
      </p:sp>
      <p:sp>
        <p:nvSpPr>
          <p:cNvPr id="8" name="Shape 5"/>
          <p:cNvSpPr/>
          <p:nvPr/>
        </p:nvSpPr>
        <p:spPr>
          <a:xfrm>
            <a:off x="4937760" y="1984248"/>
            <a:ext cx="868680" cy="384048"/>
          </a:xfrm>
          <a:prstGeom prst="roundRect">
            <a:avLst>
              <a:gd name="adj" fmla="val 19048"/>
            </a:avLst>
          </a:prstGeom>
          <a:solidFill>
            <a:srgbClr val="E97132"/>
          </a:solidFill>
          <a:ln/>
        </p:spPr>
        <p:txBody>
          <a:bodyPr/>
          <a:lstStyle/>
          <a:p>
            <a:endParaRPr lang="en-US"/>
          </a:p>
        </p:txBody>
      </p:sp>
      <p:sp>
        <p:nvSpPr>
          <p:cNvPr id="9" name="Text 6"/>
          <p:cNvSpPr txBox="1"/>
          <p:nvPr/>
        </p:nvSpPr>
        <p:spPr>
          <a:xfrm>
            <a:off x="4937760" y="1984248"/>
            <a:ext cx="86868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.jpg</a:t>
            </a:r>
            <a:endParaRPr lang="en-US" sz="1300" dirty="0"/>
          </a:p>
        </p:txBody>
      </p:sp>
      <p:sp>
        <p:nvSpPr>
          <p:cNvPr id="10" name="Text 7"/>
          <p:cNvSpPr txBox="1"/>
          <p:nvPr/>
        </p:nvSpPr>
        <p:spPr>
          <a:xfrm>
            <a:off x="5943600" y="1984248"/>
            <a:ext cx="1965960" cy="384048"/>
          </a:xfrm>
          <a:prstGeom prst="rect">
            <a:avLst/>
          </a:prstGeom>
          <a:noFill/>
          <a:ln/>
        </p:spPr>
        <p:txBody>
          <a:bodyPr wrap="square" lIns="0" tIns="0" rIns="0" bIns="0" rtlCol="0" anchor="ctr"/>
          <a:lstStyle/>
          <a:p>
            <a:pPr marL="0" indent="0">
              <a:buNone/>
            </a:pPr>
            <a:r>
              <a:rPr lang="en-US" sz="1700" b="1" dirty="0">
                <a:solidFill>
                  <a:srgbClr val="000000"/>
                </a:solidFill>
                <a:latin typeface="Aptos" pitchFamily="34" charset="0"/>
                <a:ea typeface="Aptos" pitchFamily="34" charset="-122"/>
                <a:cs typeface="Aptos" pitchFamily="34" charset="-120"/>
              </a:rPr>
              <a:t>JPEG</a:t>
            </a:r>
            <a:endParaRPr lang="en-US" sz="1700" dirty="0"/>
          </a:p>
        </p:txBody>
      </p:sp>
      <p:sp>
        <p:nvSpPr>
          <p:cNvPr id="11" name="Text 8"/>
          <p:cNvSpPr txBox="1"/>
          <p:nvPr/>
        </p:nvSpPr>
        <p:spPr>
          <a:xfrm>
            <a:off x="4937760" y="2468880"/>
            <a:ext cx="2971800" cy="594360"/>
          </a:xfrm>
          <a:prstGeom prst="rect">
            <a:avLst/>
          </a:prstGeom>
          <a:noFill/>
          <a:ln/>
        </p:spPr>
        <p:txBody>
          <a:bodyPr wrap="square" lIns="0" tIns="0" rIns="0" bIns="0" rtlCol="0" anchor="t"/>
          <a:lstStyle/>
          <a:p>
            <a:pPr marL="0" indent="0">
              <a:buNone/>
            </a:pPr>
            <a:r>
              <a:rPr lang="en-US" sz="1250" dirty="0">
                <a:solidFill>
                  <a:srgbClr val="595959"/>
                </a:solidFill>
                <a:latin typeface="Aptos" pitchFamily="34" charset="0"/>
                <a:ea typeface="Aptos" pitchFamily="34" charset="-122"/>
                <a:cs typeface="Aptos" pitchFamily="34" charset="-120"/>
              </a:rPr>
              <a:t>Photos. Lossy, millions of colours, no transparency.</a:t>
            </a:r>
            <a:endParaRPr lang="en-US" sz="1250" dirty="0"/>
          </a:p>
        </p:txBody>
      </p:sp>
      <p:sp>
        <p:nvSpPr>
          <p:cNvPr id="12" name="Shape 9"/>
          <p:cNvSpPr/>
          <p:nvPr/>
        </p:nvSpPr>
        <p:spPr>
          <a:xfrm>
            <a:off x="8321040" y="1783080"/>
            <a:ext cx="3337560" cy="1325880"/>
          </a:xfrm>
          <a:prstGeom prst="roundRect">
            <a:avLst>
              <a:gd name="adj" fmla="val 8276"/>
            </a:avLst>
          </a:prstGeom>
          <a:solidFill>
            <a:srgbClr val="FFFFFF"/>
          </a:solidFill>
          <a:ln w="9525">
            <a:solidFill>
              <a:srgbClr val="D0D7DB"/>
            </a:solidFill>
            <a:prstDash val="solid"/>
          </a:ln>
          <a:effectLst>
            <a:outerShdw blurRad="76200" dist="25400" dir="5400000" algn="bl" rotWithShape="0">
              <a:srgbClr val="000000">
                <a:alpha val="12000"/>
              </a:srgbClr>
            </a:outerShdw>
          </a:effectLst>
        </p:spPr>
        <p:txBody>
          <a:bodyPr/>
          <a:lstStyle/>
          <a:p>
            <a:endParaRPr lang="en-US"/>
          </a:p>
        </p:txBody>
      </p:sp>
      <p:sp>
        <p:nvSpPr>
          <p:cNvPr id="13" name="Shape 10"/>
          <p:cNvSpPr/>
          <p:nvPr/>
        </p:nvSpPr>
        <p:spPr>
          <a:xfrm>
            <a:off x="8503920" y="1984248"/>
            <a:ext cx="868680" cy="384048"/>
          </a:xfrm>
          <a:prstGeom prst="roundRect">
            <a:avLst>
              <a:gd name="adj" fmla="val 19048"/>
            </a:avLst>
          </a:prstGeom>
          <a:solidFill>
            <a:srgbClr val="1B5E82"/>
          </a:solidFill>
          <a:ln/>
        </p:spPr>
        <p:txBody>
          <a:bodyPr/>
          <a:lstStyle/>
          <a:p>
            <a:endParaRPr lang="en-US"/>
          </a:p>
        </p:txBody>
      </p:sp>
      <p:sp>
        <p:nvSpPr>
          <p:cNvPr id="14" name="Text 11"/>
          <p:cNvSpPr txBox="1"/>
          <p:nvPr/>
        </p:nvSpPr>
        <p:spPr>
          <a:xfrm>
            <a:off x="8503920" y="1984248"/>
            <a:ext cx="86868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.png</a:t>
            </a:r>
            <a:endParaRPr lang="en-US" sz="1300" dirty="0"/>
          </a:p>
        </p:txBody>
      </p:sp>
      <p:sp>
        <p:nvSpPr>
          <p:cNvPr id="15" name="Text 12"/>
          <p:cNvSpPr txBox="1"/>
          <p:nvPr/>
        </p:nvSpPr>
        <p:spPr>
          <a:xfrm>
            <a:off x="9509760" y="1984248"/>
            <a:ext cx="1965960" cy="384048"/>
          </a:xfrm>
          <a:prstGeom prst="rect">
            <a:avLst/>
          </a:prstGeom>
          <a:noFill/>
          <a:ln/>
        </p:spPr>
        <p:txBody>
          <a:bodyPr wrap="square" lIns="0" tIns="0" rIns="0" bIns="0" rtlCol="0" anchor="ctr"/>
          <a:lstStyle/>
          <a:p>
            <a:pPr marL="0" indent="0">
              <a:buNone/>
            </a:pPr>
            <a:r>
              <a:rPr lang="en-US" sz="1700" b="1" dirty="0">
                <a:solidFill>
                  <a:srgbClr val="000000"/>
                </a:solidFill>
                <a:latin typeface="Aptos" pitchFamily="34" charset="0"/>
                <a:ea typeface="Aptos" pitchFamily="34" charset="-122"/>
                <a:cs typeface="Aptos" pitchFamily="34" charset="-120"/>
              </a:rPr>
              <a:t>PNG</a:t>
            </a:r>
            <a:endParaRPr lang="en-US" sz="1700" dirty="0"/>
          </a:p>
        </p:txBody>
      </p:sp>
      <p:sp>
        <p:nvSpPr>
          <p:cNvPr id="16" name="Text 13"/>
          <p:cNvSpPr txBox="1"/>
          <p:nvPr/>
        </p:nvSpPr>
        <p:spPr>
          <a:xfrm>
            <a:off x="8503920" y="2468880"/>
            <a:ext cx="2971800" cy="594360"/>
          </a:xfrm>
          <a:prstGeom prst="rect">
            <a:avLst/>
          </a:prstGeom>
          <a:noFill/>
          <a:ln/>
        </p:spPr>
        <p:txBody>
          <a:bodyPr wrap="square" lIns="0" tIns="0" rIns="0" bIns="0" rtlCol="0" anchor="t"/>
          <a:lstStyle/>
          <a:p>
            <a:pPr marL="0" indent="0">
              <a:buNone/>
            </a:pPr>
            <a:r>
              <a:rPr lang="en-US" sz="1250" dirty="0">
                <a:solidFill>
                  <a:srgbClr val="595959"/>
                </a:solidFill>
                <a:latin typeface="Aptos" pitchFamily="34" charset="0"/>
                <a:ea typeface="Aptos" pitchFamily="34" charset="-122"/>
                <a:cs typeface="Aptos" pitchFamily="34" charset="-120"/>
              </a:rPr>
              <a:t>Screenshots, logos, anything needing transparency. Lossless.</a:t>
            </a:r>
            <a:endParaRPr lang="en-US" sz="1250" dirty="0"/>
          </a:p>
        </p:txBody>
      </p:sp>
      <p:sp>
        <p:nvSpPr>
          <p:cNvPr id="17" name="Shape 14"/>
          <p:cNvSpPr/>
          <p:nvPr/>
        </p:nvSpPr>
        <p:spPr>
          <a:xfrm>
            <a:off x="4754880" y="3273552"/>
            <a:ext cx="3337560" cy="1325880"/>
          </a:xfrm>
          <a:prstGeom prst="roundRect">
            <a:avLst>
              <a:gd name="adj" fmla="val 8276"/>
            </a:avLst>
          </a:prstGeom>
          <a:solidFill>
            <a:srgbClr val="FFFFFF"/>
          </a:solidFill>
          <a:ln w="9525">
            <a:solidFill>
              <a:srgbClr val="D0D7DB"/>
            </a:solidFill>
            <a:prstDash val="solid"/>
          </a:ln>
          <a:effectLst>
            <a:outerShdw blurRad="76200" dist="25400" dir="5400000" algn="bl" rotWithShape="0">
              <a:srgbClr val="000000">
                <a:alpha val="12000"/>
              </a:srgbClr>
            </a:outerShdw>
          </a:effectLst>
        </p:spPr>
        <p:txBody>
          <a:bodyPr/>
          <a:lstStyle/>
          <a:p>
            <a:endParaRPr lang="en-US"/>
          </a:p>
        </p:txBody>
      </p:sp>
      <p:sp>
        <p:nvSpPr>
          <p:cNvPr id="18" name="Shape 15"/>
          <p:cNvSpPr/>
          <p:nvPr/>
        </p:nvSpPr>
        <p:spPr>
          <a:xfrm>
            <a:off x="4937760" y="3474720"/>
            <a:ext cx="868680" cy="384048"/>
          </a:xfrm>
          <a:prstGeom prst="roundRect">
            <a:avLst>
              <a:gd name="adj" fmla="val 19048"/>
            </a:avLst>
          </a:prstGeom>
          <a:solidFill>
            <a:srgbClr val="7F7F7F"/>
          </a:solidFill>
          <a:ln/>
        </p:spPr>
        <p:txBody>
          <a:bodyPr/>
          <a:lstStyle/>
          <a:p>
            <a:endParaRPr lang="en-US"/>
          </a:p>
        </p:txBody>
      </p:sp>
      <p:sp>
        <p:nvSpPr>
          <p:cNvPr id="19" name="Text 16"/>
          <p:cNvSpPr txBox="1"/>
          <p:nvPr/>
        </p:nvSpPr>
        <p:spPr>
          <a:xfrm>
            <a:off x="4937760" y="3474720"/>
            <a:ext cx="86868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.gif</a:t>
            </a:r>
            <a:endParaRPr lang="en-US" sz="1300" dirty="0"/>
          </a:p>
        </p:txBody>
      </p:sp>
      <p:sp>
        <p:nvSpPr>
          <p:cNvPr id="20" name="Text 17"/>
          <p:cNvSpPr txBox="1"/>
          <p:nvPr/>
        </p:nvSpPr>
        <p:spPr>
          <a:xfrm>
            <a:off x="5943600" y="3474720"/>
            <a:ext cx="1965960" cy="384048"/>
          </a:xfrm>
          <a:prstGeom prst="rect">
            <a:avLst/>
          </a:prstGeom>
          <a:noFill/>
          <a:ln/>
        </p:spPr>
        <p:txBody>
          <a:bodyPr wrap="square" lIns="0" tIns="0" rIns="0" bIns="0" rtlCol="0" anchor="ctr"/>
          <a:lstStyle/>
          <a:p>
            <a:pPr marL="0" indent="0">
              <a:buNone/>
            </a:pPr>
            <a:r>
              <a:rPr lang="en-US" sz="1700" b="1" dirty="0">
                <a:solidFill>
                  <a:srgbClr val="000000"/>
                </a:solidFill>
                <a:latin typeface="Aptos" pitchFamily="34" charset="0"/>
                <a:ea typeface="Aptos" pitchFamily="34" charset="-122"/>
                <a:cs typeface="Aptos" pitchFamily="34" charset="-120"/>
              </a:rPr>
              <a:t>GIF</a:t>
            </a:r>
            <a:endParaRPr lang="en-US" sz="1700" dirty="0"/>
          </a:p>
        </p:txBody>
      </p:sp>
      <p:sp>
        <p:nvSpPr>
          <p:cNvPr id="21" name="Text 18"/>
          <p:cNvSpPr txBox="1"/>
          <p:nvPr/>
        </p:nvSpPr>
        <p:spPr>
          <a:xfrm>
            <a:off x="4937760" y="3959352"/>
            <a:ext cx="2971800" cy="594360"/>
          </a:xfrm>
          <a:prstGeom prst="rect">
            <a:avLst/>
          </a:prstGeom>
          <a:noFill/>
          <a:ln/>
        </p:spPr>
        <p:txBody>
          <a:bodyPr wrap="square" lIns="0" tIns="0" rIns="0" bIns="0" rtlCol="0" anchor="t"/>
          <a:lstStyle/>
          <a:p>
            <a:pPr marL="0" indent="0">
              <a:buNone/>
            </a:pPr>
            <a:r>
              <a:rPr lang="en-US" sz="1250" dirty="0">
                <a:solidFill>
                  <a:srgbClr val="595959"/>
                </a:solidFill>
                <a:latin typeface="Aptos" pitchFamily="34" charset="0"/>
                <a:ea typeface="Aptos" pitchFamily="34" charset="-122"/>
                <a:cs typeface="Aptos" pitchFamily="34" charset="-120"/>
              </a:rPr>
              <a:t>Simple animations. Only 256 colours. Mostly old-fashioned now.</a:t>
            </a:r>
            <a:endParaRPr lang="en-US" sz="1250" dirty="0"/>
          </a:p>
        </p:txBody>
      </p:sp>
      <p:sp>
        <p:nvSpPr>
          <p:cNvPr id="22" name="Shape 19"/>
          <p:cNvSpPr/>
          <p:nvPr/>
        </p:nvSpPr>
        <p:spPr>
          <a:xfrm>
            <a:off x="8321040" y="3273552"/>
            <a:ext cx="3337560" cy="1325880"/>
          </a:xfrm>
          <a:prstGeom prst="roundRect">
            <a:avLst>
              <a:gd name="adj" fmla="val 8276"/>
            </a:avLst>
          </a:prstGeom>
          <a:solidFill>
            <a:srgbClr val="FFFFFF"/>
          </a:solidFill>
          <a:ln w="9525">
            <a:solidFill>
              <a:srgbClr val="D0D7DB"/>
            </a:solidFill>
            <a:prstDash val="solid"/>
          </a:ln>
          <a:effectLst>
            <a:outerShdw blurRad="76200" dist="25400" dir="5400000" algn="bl" rotWithShape="0">
              <a:srgbClr val="000000">
                <a:alpha val="12000"/>
              </a:srgbClr>
            </a:outerShdw>
          </a:effectLst>
        </p:spPr>
        <p:txBody>
          <a:bodyPr/>
          <a:lstStyle/>
          <a:p>
            <a:endParaRPr lang="en-US"/>
          </a:p>
        </p:txBody>
      </p:sp>
      <p:sp>
        <p:nvSpPr>
          <p:cNvPr id="23" name="Shape 20"/>
          <p:cNvSpPr/>
          <p:nvPr/>
        </p:nvSpPr>
        <p:spPr>
          <a:xfrm>
            <a:off x="8503920" y="3474720"/>
            <a:ext cx="868680" cy="384048"/>
          </a:xfrm>
          <a:prstGeom prst="roundRect">
            <a:avLst>
              <a:gd name="adj" fmla="val 19048"/>
            </a:avLst>
          </a:prstGeom>
          <a:solidFill>
            <a:srgbClr val="A02B93"/>
          </a:solidFill>
          <a:ln/>
        </p:spPr>
        <p:txBody>
          <a:bodyPr/>
          <a:lstStyle/>
          <a:p>
            <a:endParaRPr lang="en-US"/>
          </a:p>
        </p:txBody>
      </p:sp>
      <p:sp>
        <p:nvSpPr>
          <p:cNvPr id="24" name="Text 21"/>
          <p:cNvSpPr txBox="1"/>
          <p:nvPr/>
        </p:nvSpPr>
        <p:spPr>
          <a:xfrm>
            <a:off x="8503920" y="3474720"/>
            <a:ext cx="86868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.webp</a:t>
            </a:r>
            <a:endParaRPr lang="en-US" sz="1300" dirty="0"/>
          </a:p>
        </p:txBody>
      </p:sp>
      <p:sp>
        <p:nvSpPr>
          <p:cNvPr id="25" name="Text 22"/>
          <p:cNvSpPr txBox="1"/>
          <p:nvPr/>
        </p:nvSpPr>
        <p:spPr>
          <a:xfrm>
            <a:off x="9509760" y="3474720"/>
            <a:ext cx="1965960" cy="384048"/>
          </a:xfrm>
          <a:prstGeom prst="rect">
            <a:avLst/>
          </a:prstGeom>
          <a:noFill/>
          <a:ln/>
        </p:spPr>
        <p:txBody>
          <a:bodyPr wrap="square" lIns="0" tIns="0" rIns="0" bIns="0" rtlCol="0" anchor="ctr"/>
          <a:lstStyle/>
          <a:p>
            <a:pPr marL="0" indent="0">
              <a:buNone/>
            </a:pPr>
            <a:r>
              <a:rPr lang="en-US" sz="1700" b="1" dirty="0">
                <a:solidFill>
                  <a:srgbClr val="000000"/>
                </a:solidFill>
                <a:latin typeface="Aptos" pitchFamily="34" charset="0"/>
                <a:ea typeface="Aptos" pitchFamily="34" charset="-122"/>
                <a:cs typeface="Aptos" pitchFamily="34" charset="-120"/>
              </a:rPr>
              <a:t>WebP</a:t>
            </a:r>
            <a:endParaRPr lang="en-US" sz="1700" dirty="0"/>
          </a:p>
        </p:txBody>
      </p:sp>
      <p:sp>
        <p:nvSpPr>
          <p:cNvPr id="26" name="Text 23"/>
          <p:cNvSpPr txBox="1"/>
          <p:nvPr/>
        </p:nvSpPr>
        <p:spPr>
          <a:xfrm>
            <a:off x="8503920" y="3959352"/>
            <a:ext cx="2971800" cy="594360"/>
          </a:xfrm>
          <a:prstGeom prst="rect">
            <a:avLst/>
          </a:prstGeom>
          <a:noFill/>
          <a:ln/>
        </p:spPr>
        <p:txBody>
          <a:bodyPr wrap="square" lIns="0" tIns="0" rIns="0" bIns="0" rtlCol="0" anchor="t"/>
          <a:lstStyle/>
          <a:p>
            <a:pPr marL="0" indent="0">
              <a:buNone/>
            </a:pPr>
            <a:r>
              <a:rPr lang="en-US" sz="1250" dirty="0">
                <a:solidFill>
                  <a:srgbClr val="595959"/>
                </a:solidFill>
                <a:latin typeface="Aptos" pitchFamily="34" charset="0"/>
                <a:ea typeface="Aptos" pitchFamily="34" charset="-122"/>
                <a:cs typeface="Aptos" pitchFamily="34" charset="-120"/>
              </a:rPr>
              <a:t>Modern photos AND graphics. Smaller than JPG/PNG. Transparency too.</a:t>
            </a:r>
            <a:endParaRPr lang="en-US" sz="1250" dirty="0"/>
          </a:p>
        </p:txBody>
      </p:sp>
      <p:sp>
        <p:nvSpPr>
          <p:cNvPr id="27" name="Shape 24"/>
          <p:cNvSpPr/>
          <p:nvPr/>
        </p:nvSpPr>
        <p:spPr>
          <a:xfrm>
            <a:off x="4754880" y="4764024"/>
            <a:ext cx="3337560" cy="1325880"/>
          </a:xfrm>
          <a:prstGeom prst="roundRect">
            <a:avLst>
              <a:gd name="adj" fmla="val 8276"/>
            </a:avLst>
          </a:prstGeom>
          <a:solidFill>
            <a:srgbClr val="FFFFFF"/>
          </a:solidFill>
          <a:ln w="9525">
            <a:solidFill>
              <a:srgbClr val="D0D7DB"/>
            </a:solidFill>
            <a:prstDash val="solid"/>
          </a:ln>
          <a:effectLst>
            <a:outerShdw blurRad="76200" dist="25400" dir="5400000" algn="bl" rotWithShape="0">
              <a:srgbClr val="000000">
                <a:alpha val="12000"/>
              </a:srgbClr>
            </a:outerShdw>
          </a:effectLst>
        </p:spPr>
        <p:txBody>
          <a:bodyPr/>
          <a:lstStyle/>
          <a:p>
            <a:endParaRPr lang="en-US"/>
          </a:p>
        </p:txBody>
      </p:sp>
      <p:sp>
        <p:nvSpPr>
          <p:cNvPr id="28" name="Shape 25"/>
          <p:cNvSpPr/>
          <p:nvPr/>
        </p:nvSpPr>
        <p:spPr>
          <a:xfrm>
            <a:off x="4937760" y="4965192"/>
            <a:ext cx="868680" cy="384048"/>
          </a:xfrm>
          <a:prstGeom prst="roundRect">
            <a:avLst>
              <a:gd name="adj" fmla="val 19048"/>
            </a:avLst>
          </a:prstGeom>
          <a:solidFill>
            <a:srgbClr val="12304A"/>
          </a:solidFill>
          <a:ln/>
        </p:spPr>
        <p:txBody>
          <a:bodyPr/>
          <a:lstStyle/>
          <a:p>
            <a:endParaRPr lang="en-US"/>
          </a:p>
        </p:txBody>
      </p:sp>
      <p:sp>
        <p:nvSpPr>
          <p:cNvPr id="29" name="Text 26"/>
          <p:cNvSpPr txBox="1"/>
          <p:nvPr/>
        </p:nvSpPr>
        <p:spPr>
          <a:xfrm>
            <a:off x="4937760" y="4965192"/>
            <a:ext cx="86868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.avif</a:t>
            </a:r>
            <a:endParaRPr lang="en-US" sz="1300" dirty="0"/>
          </a:p>
        </p:txBody>
      </p:sp>
      <p:sp>
        <p:nvSpPr>
          <p:cNvPr id="30" name="Text 27"/>
          <p:cNvSpPr txBox="1"/>
          <p:nvPr/>
        </p:nvSpPr>
        <p:spPr>
          <a:xfrm>
            <a:off x="5943600" y="4965192"/>
            <a:ext cx="1965960" cy="384048"/>
          </a:xfrm>
          <a:prstGeom prst="rect">
            <a:avLst/>
          </a:prstGeom>
          <a:noFill/>
          <a:ln/>
        </p:spPr>
        <p:txBody>
          <a:bodyPr wrap="square" lIns="0" tIns="0" rIns="0" bIns="0" rtlCol="0" anchor="ctr"/>
          <a:lstStyle/>
          <a:p>
            <a:pPr marL="0" indent="0">
              <a:buNone/>
            </a:pPr>
            <a:r>
              <a:rPr lang="en-US" sz="1700" b="1" dirty="0">
                <a:solidFill>
                  <a:srgbClr val="000000"/>
                </a:solidFill>
                <a:latin typeface="Aptos" pitchFamily="34" charset="0"/>
                <a:ea typeface="Aptos" pitchFamily="34" charset="-122"/>
                <a:cs typeface="Aptos" pitchFamily="34" charset="-120"/>
              </a:rPr>
              <a:t>AVIF</a:t>
            </a:r>
            <a:endParaRPr lang="en-US" sz="1700" dirty="0"/>
          </a:p>
        </p:txBody>
      </p:sp>
      <p:sp>
        <p:nvSpPr>
          <p:cNvPr id="31" name="Text 28"/>
          <p:cNvSpPr txBox="1"/>
          <p:nvPr/>
        </p:nvSpPr>
        <p:spPr>
          <a:xfrm>
            <a:off x="4937760" y="5449824"/>
            <a:ext cx="2971800" cy="594360"/>
          </a:xfrm>
          <a:prstGeom prst="rect">
            <a:avLst/>
          </a:prstGeom>
          <a:noFill/>
          <a:ln/>
        </p:spPr>
        <p:txBody>
          <a:bodyPr wrap="square" lIns="0" tIns="0" rIns="0" bIns="0" rtlCol="0" anchor="t"/>
          <a:lstStyle/>
          <a:p>
            <a:pPr marL="0" indent="0">
              <a:buNone/>
            </a:pPr>
            <a:r>
              <a:rPr lang="en-US" sz="1250" dirty="0">
                <a:solidFill>
                  <a:srgbClr val="595959"/>
                </a:solidFill>
                <a:latin typeface="Aptos" pitchFamily="34" charset="0"/>
                <a:ea typeface="Aptos" pitchFamily="34" charset="-122"/>
                <a:cs typeface="Aptos" pitchFamily="34" charset="-120"/>
              </a:rPr>
              <a:t>Newest. Usually the smallest photos. Some older apps can't open it.</a:t>
            </a:r>
            <a:endParaRPr lang="en-US" sz="1250" dirty="0"/>
          </a:p>
        </p:txBody>
      </p:sp>
      <p:sp>
        <p:nvSpPr>
          <p:cNvPr id="32" name="Shape 29"/>
          <p:cNvSpPr/>
          <p:nvPr/>
        </p:nvSpPr>
        <p:spPr>
          <a:xfrm>
            <a:off x="8321040" y="4764024"/>
            <a:ext cx="3337560" cy="1325880"/>
          </a:xfrm>
          <a:prstGeom prst="roundRect">
            <a:avLst>
              <a:gd name="adj" fmla="val 8276"/>
            </a:avLst>
          </a:prstGeom>
          <a:solidFill>
            <a:srgbClr val="FFFFFF"/>
          </a:solidFill>
          <a:ln w="9525">
            <a:solidFill>
              <a:srgbClr val="D0D7DB"/>
            </a:solidFill>
            <a:prstDash val="solid"/>
          </a:ln>
          <a:effectLst>
            <a:outerShdw blurRad="76200" dist="25400" dir="5400000" algn="bl" rotWithShape="0">
              <a:srgbClr val="000000">
                <a:alpha val="12000"/>
              </a:srgbClr>
            </a:outerShdw>
          </a:effectLst>
        </p:spPr>
        <p:txBody>
          <a:bodyPr/>
          <a:lstStyle/>
          <a:p>
            <a:endParaRPr lang="en-US"/>
          </a:p>
        </p:txBody>
      </p:sp>
      <p:sp>
        <p:nvSpPr>
          <p:cNvPr id="33" name="Shape 30"/>
          <p:cNvSpPr/>
          <p:nvPr/>
        </p:nvSpPr>
        <p:spPr>
          <a:xfrm>
            <a:off x="8503920" y="4965192"/>
            <a:ext cx="868680" cy="384048"/>
          </a:xfrm>
          <a:prstGeom prst="roundRect">
            <a:avLst>
              <a:gd name="adj" fmla="val 19048"/>
            </a:avLst>
          </a:prstGeom>
          <a:solidFill>
            <a:srgbClr val="0F9ED5"/>
          </a:solidFill>
          <a:ln/>
        </p:spPr>
        <p:txBody>
          <a:bodyPr/>
          <a:lstStyle/>
          <a:p>
            <a:endParaRPr lang="en-US"/>
          </a:p>
        </p:txBody>
      </p:sp>
      <p:sp>
        <p:nvSpPr>
          <p:cNvPr id="34" name="Text 31"/>
          <p:cNvSpPr txBox="1"/>
          <p:nvPr/>
        </p:nvSpPr>
        <p:spPr>
          <a:xfrm>
            <a:off x="8503920" y="4965192"/>
            <a:ext cx="86868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.svg</a:t>
            </a:r>
            <a:endParaRPr lang="en-US" sz="1300" dirty="0"/>
          </a:p>
        </p:txBody>
      </p:sp>
      <p:sp>
        <p:nvSpPr>
          <p:cNvPr id="35" name="Text 32"/>
          <p:cNvSpPr txBox="1"/>
          <p:nvPr/>
        </p:nvSpPr>
        <p:spPr>
          <a:xfrm>
            <a:off x="9509760" y="4965192"/>
            <a:ext cx="1965960" cy="384048"/>
          </a:xfrm>
          <a:prstGeom prst="rect">
            <a:avLst/>
          </a:prstGeom>
          <a:noFill/>
          <a:ln/>
        </p:spPr>
        <p:txBody>
          <a:bodyPr wrap="square" lIns="0" tIns="0" rIns="0" bIns="0" rtlCol="0" anchor="ctr"/>
          <a:lstStyle/>
          <a:p>
            <a:pPr marL="0" indent="0">
              <a:buNone/>
            </a:pPr>
            <a:r>
              <a:rPr lang="en-US" sz="1700" b="1" dirty="0">
                <a:solidFill>
                  <a:srgbClr val="000000"/>
                </a:solidFill>
                <a:latin typeface="Aptos" pitchFamily="34" charset="0"/>
                <a:ea typeface="Aptos" pitchFamily="34" charset="-122"/>
                <a:cs typeface="Aptos" pitchFamily="34" charset="-120"/>
              </a:rPr>
              <a:t>SVG</a:t>
            </a:r>
            <a:endParaRPr lang="en-US" sz="1700" dirty="0"/>
          </a:p>
        </p:txBody>
      </p:sp>
      <p:sp>
        <p:nvSpPr>
          <p:cNvPr id="36" name="Text 33"/>
          <p:cNvSpPr txBox="1"/>
          <p:nvPr/>
        </p:nvSpPr>
        <p:spPr>
          <a:xfrm>
            <a:off x="8503920" y="5449824"/>
            <a:ext cx="2971800" cy="594360"/>
          </a:xfrm>
          <a:prstGeom prst="rect">
            <a:avLst/>
          </a:prstGeom>
          <a:noFill/>
          <a:ln/>
        </p:spPr>
        <p:txBody>
          <a:bodyPr wrap="square" lIns="0" tIns="0" rIns="0" bIns="0" rtlCol="0" anchor="t"/>
          <a:lstStyle/>
          <a:p>
            <a:pPr marL="0" indent="0">
              <a:buNone/>
            </a:pPr>
            <a:r>
              <a:rPr lang="en-US" sz="1250" dirty="0">
                <a:solidFill>
                  <a:srgbClr val="595959"/>
                </a:solidFill>
                <a:latin typeface="Aptos" pitchFamily="34" charset="0"/>
                <a:ea typeface="Aptos" pitchFamily="34" charset="-122"/>
                <a:cs typeface="Aptos" pitchFamily="34" charset="-120"/>
              </a:rPr>
              <a:t>Logos, icons. Vector: shapes in code, sharp at any size.</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2F2F2"/>
        </a:solidFill>
        <a:effectLst/>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txBody>
          <a:bodyPr/>
          <a:lstStyle/>
          <a:p>
            <a:endParaRPr lang="en-US"/>
          </a:p>
        </p:txBody>
      </p:sp>
      <p:sp>
        <p:nvSpPr>
          <p:cNvPr id="3" name="Text 1"/>
          <p:cNvSpPr txBox="1"/>
          <p:nvPr/>
        </p:nvSpPr>
        <p:spPr>
          <a:xfrm>
            <a:off x="868680" y="548640"/>
            <a:ext cx="2560320" cy="1280160"/>
          </a:xfrm>
          <a:prstGeom prst="rect">
            <a:avLst/>
          </a:prstGeom>
          <a:noFill/>
          <a:ln/>
        </p:spPr>
        <p:txBody>
          <a:bodyPr wrap="square" lIns="0" tIns="0" rIns="0" bIns="0" rtlCol="0" anchor="t"/>
          <a:lstStyle/>
          <a:p>
            <a:pPr marL="0" indent="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txBody>
          <a:bodyPr/>
          <a:lstStyle/>
          <a:p>
            <a:endParaRPr lang="en-US"/>
          </a:p>
        </p:txBody>
      </p:sp>
      <p:sp>
        <p:nvSpPr>
          <p:cNvPr id="5" name="Text 3"/>
          <p:cNvSpPr txBox="1"/>
          <p:nvPr/>
        </p:nvSpPr>
        <p:spPr>
          <a:xfrm>
            <a:off x="4754880" y="822960"/>
            <a:ext cx="6903720" cy="868680"/>
          </a:xfrm>
          <a:prstGeom prst="rect">
            <a:avLst/>
          </a:prstGeom>
          <a:noFill/>
          <a:ln/>
        </p:spPr>
        <p:txBody>
          <a:bodyPr wrap="square" lIns="0" tIns="0" rIns="0" bIns="0" rtlCol="0" anchor="t"/>
          <a:lstStyle/>
          <a:p>
            <a:pPr marL="0" indent="0">
              <a:buNone/>
            </a:pPr>
            <a:r>
              <a:rPr lang="en-US" sz="2800" b="1" dirty="0">
                <a:solidFill>
                  <a:srgbClr val="000000"/>
                </a:solidFill>
                <a:latin typeface="Aptos" pitchFamily="34" charset="0"/>
                <a:ea typeface="Aptos" pitchFamily="34" charset="-122"/>
                <a:cs typeface="Aptos" pitchFamily="34" charset="-120"/>
              </a:rPr>
              <a:t>Formats Side by Side</a:t>
            </a:r>
            <a:endParaRPr lang="en-US" sz="28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754880" y="1783080"/>
          <a:ext cx="6903720" cy="914400"/>
        </p:xfrm>
        <a:graphic>
          <a:graphicData uri="http://schemas.openxmlformats.org/drawingml/2006/table">
            <a:tbl>
              <a:tblPr/>
              <a:tblGrid>
                <a:gridCol w="86868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141732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280160">
                  <a:extLst>
                    <a:ext uri="{9D8B030D-6E8A-4147-A177-3AD203B41FA5}">
                      <a16:colId xmlns:a16="http://schemas.microsoft.com/office/drawing/2014/main" val="20005"/>
                    </a:ext>
                  </a:extLst>
                </a:gridCol>
              </a:tblGrid>
              <a:tr h="457200">
                <a:tc>
                  <a:txBody>
                    <a:bodyPr/>
                    <a:lstStyle/>
                    <a:p>
                      <a:pPr marL="0" indent="0">
                        <a:buNone/>
                      </a:pPr>
                      <a:r>
                        <a:rPr lang="en-US" sz="1350" b="1" dirty="0">
                          <a:solidFill>
                            <a:srgbClr val="FFFFFF"/>
                          </a:solidFill>
                          <a:latin typeface="Aptos" pitchFamily="34" charset="0"/>
                          <a:ea typeface="Aptos" pitchFamily="34" charset="-122"/>
                          <a:cs typeface="Aptos" pitchFamily="34" charset="-120"/>
                        </a:rPr>
                        <a:t>Format</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262626"/>
                    </a:solidFill>
                  </a:tcPr>
                </a:tc>
                <a:tc>
                  <a:txBody>
                    <a:bodyPr/>
                    <a:lstStyle/>
                    <a:p>
                      <a:pPr marL="0" indent="0">
                        <a:buNone/>
                      </a:pPr>
                      <a:r>
                        <a:rPr lang="en-US" sz="1350" b="1" dirty="0">
                          <a:solidFill>
                            <a:srgbClr val="FFFFFF"/>
                          </a:solidFill>
                          <a:latin typeface="Aptos" pitchFamily="34" charset="0"/>
                          <a:ea typeface="Aptos" pitchFamily="34" charset="-122"/>
                          <a:cs typeface="Aptos" pitchFamily="34" charset="-120"/>
                        </a:rPr>
                        <a:t>Compression</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262626"/>
                    </a:solidFill>
                  </a:tcPr>
                </a:tc>
                <a:tc>
                  <a:txBody>
                    <a:bodyPr/>
                    <a:lstStyle/>
                    <a:p>
                      <a:pPr marL="0" indent="0">
                        <a:buNone/>
                      </a:pPr>
                      <a:r>
                        <a:rPr lang="en-US" sz="1350" b="1" dirty="0">
                          <a:solidFill>
                            <a:srgbClr val="FFFFFF"/>
                          </a:solidFill>
                          <a:latin typeface="Aptos" pitchFamily="34" charset="0"/>
                          <a:ea typeface="Aptos" pitchFamily="34" charset="-122"/>
                          <a:cs typeface="Aptos" pitchFamily="34" charset="-120"/>
                        </a:rPr>
                        <a:t>Colours</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262626"/>
                    </a:solidFill>
                  </a:tcPr>
                </a:tc>
                <a:tc>
                  <a:txBody>
                    <a:bodyPr/>
                    <a:lstStyle/>
                    <a:p>
                      <a:pPr marL="0" indent="0">
                        <a:buNone/>
                      </a:pPr>
                      <a:r>
                        <a:rPr lang="en-US" sz="1350" b="1" dirty="0">
                          <a:solidFill>
                            <a:srgbClr val="FFFFFF"/>
                          </a:solidFill>
                          <a:latin typeface="Aptos" pitchFamily="34" charset="0"/>
                          <a:ea typeface="Aptos" pitchFamily="34" charset="-122"/>
                          <a:cs typeface="Aptos" pitchFamily="34" charset="-120"/>
                        </a:rPr>
                        <a:t>Transparency</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262626"/>
                    </a:solidFill>
                  </a:tcPr>
                </a:tc>
                <a:tc>
                  <a:txBody>
                    <a:bodyPr/>
                    <a:lstStyle/>
                    <a:p>
                      <a:pPr marL="0" indent="0">
                        <a:buNone/>
                      </a:pPr>
                      <a:r>
                        <a:rPr lang="en-US" sz="1350" b="1" dirty="0">
                          <a:solidFill>
                            <a:srgbClr val="FFFFFF"/>
                          </a:solidFill>
                          <a:latin typeface="Aptos" pitchFamily="34" charset="0"/>
                          <a:ea typeface="Aptos" pitchFamily="34" charset="-122"/>
                          <a:cs typeface="Aptos" pitchFamily="34" charset="-120"/>
                        </a:rPr>
                        <a:t>Animation</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262626"/>
                    </a:solidFill>
                  </a:tcPr>
                </a:tc>
                <a:tc>
                  <a:txBody>
                    <a:bodyPr/>
                    <a:lstStyle/>
                    <a:p>
                      <a:pPr marL="0" indent="0">
                        <a:buNone/>
                      </a:pPr>
                      <a:r>
                        <a:rPr lang="en-US" sz="1350" b="1" dirty="0">
                          <a:solidFill>
                            <a:srgbClr val="FFFFFF"/>
                          </a:solidFill>
                          <a:latin typeface="Aptos" pitchFamily="34" charset="0"/>
                          <a:ea typeface="Aptos" pitchFamily="34" charset="-122"/>
                          <a:cs typeface="Aptos" pitchFamily="34" charset="-120"/>
                        </a:rPr>
                        <a:t>Our photo</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262626"/>
                    </a:solidFill>
                  </a:tcPr>
                </a:tc>
                <a:extLst>
                  <a:ext uri="{0D108BD9-81ED-4DB2-BD59-A6C34878D82A}">
                    <a16:rowId xmlns:a16="http://schemas.microsoft.com/office/drawing/2014/main" val="10000"/>
                  </a:ext>
                </a:extLst>
              </a:tr>
              <a:tr h="457200">
                <a:tc>
                  <a:txBody>
                    <a:bodyPr/>
                    <a:lstStyle/>
                    <a:p>
                      <a:pPr marL="0" indent="0">
                        <a:buNone/>
                      </a:pPr>
                      <a:r>
                        <a:rPr lang="en-US" sz="1350" b="1" dirty="0">
                          <a:solidFill>
                            <a:srgbClr val="000000"/>
                          </a:solidFill>
                          <a:latin typeface="Aptos" pitchFamily="34" charset="0"/>
                          <a:ea typeface="Aptos" pitchFamily="34" charset="-122"/>
                          <a:cs typeface="Aptos" pitchFamily="34" charset="-120"/>
                        </a:rPr>
                        <a:t>JPG</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marL="0" indent="0">
                        <a:buNone/>
                      </a:pPr>
                      <a:r>
                        <a:rPr lang="en-US" sz="1350" dirty="0">
                          <a:solidFill>
                            <a:srgbClr val="000000"/>
                          </a:solidFill>
                          <a:latin typeface="Aptos" pitchFamily="34" charset="0"/>
                          <a:ea typeface="Aptos" pitchFamily="34" charset="-122"/>
                          <a:cs typeface="Aptos" pitchFamily="34" charset="-120"/>
                        </a:rPr>
                        <a:t>Lossy</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marL="0" indent="0">
                        <a:buNone/>
                      </a:pPr>
                      <a:r>
                        <a:rPr lang="en-US" sz="1350" dirty="0">
                          <a:solidFill>
                            <a:srgbClr val="000000"/>
                          </a:solidFill>
                          <a:latin typeface="Aptos" pitchFamily="34" charset="0"/>
                          <a:ea typeface="Aptos" pitchFamily="34" charset="-122"/>
                          <a:cs typeface="Aptos" pitchFamily="34" charset="-120"/>
                        </a:rPr>
                        <a:t>16.7 M</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marL="0" indent="0">
                        <a:buNone/>
                      </a:pPr>
                      <a:r>
                        <a:rPr lang="en-US" sz="1350" dirty="0">
                          <a:solidFill>
                            <a:srgbClr val="000000"/>
                          </a:solidFill>
                          <a:latin typeface="Aptos" pitchFamily="34" charset="0"/>
                          <a:ea typeface="Aptos" pitchFamily="34" charset="-122"/>
                          <a:cs typeface="Aptos" pitchFamily="34" charset="-120"/>
                        </a:rPr>
                        <a:t>✗</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marL="0" indent="0">
                        <a:buNone/>
                      </a:pPr>
                      <a:r>
                        <a:rPr lang="en-US" sz="1350" dirty="0">
                          <a:solidFill>
                            <a:srgbClr val="000000"/>
                          </a:solidFill>
                          <a:latin typeface="Aptos" pitchFamily="34" charset="0"/>
                          <a:ea typeface="Aptos" pitchFamily="34" charset="-122"/>
                          <a:cs typeface="Aptos" pitchFamily="34" charset="-120"/>
                        </a:rPr>
                        <a:t>✗</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marL="0" indent="0">
                        <a:buNone/>
                      </a:pPr>
                      <a:r>
                        <a:rPr lang="en-US" sz="1350" dirty="0">
                          <a:solidFill>
                            <a:srgbClr val="000000"/>
                          </a:solidFill>
                          <a:latin typeface="Aptos" pitchFamily="34" charset="0"/>
                          <a:ea typeface="Aptos" pitchFamily="34" charset="-122"/>
                          <a:cs typeface="Aptos" pitchFamily="34" charset="-120"/>
                        </a:rPr>
                        <a:t>93 KB</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350" b="1" dirty="0">
                          <a:solidFill>
                            <a:srgbClr val="000000"/>
                          </a:solidFill>
                          <a:latin typeface="Aptos" pitchFamily="34" charset="0"/>
                          <a:ea typeface="Aptos" pitchFamily="34" charset="-122"/>
                          <a:cs typeface="Aptos" pitchFamily="34" charset="-120"/>
                        </a:rPr>
                        <a:t>PNG</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marL="0" indent="0">
                        <a:buNone/>
                      </a:pPr>
                      <a:r>
                        <a:rPr lang="en-US" sz="1350" dirty="0">
                          <a:solidFill>
                            <a:srgbClr val="000000"/>
                          </a:solidFill>
                          <a:latin typeface="Aptos" pitchFamily="34" charset="0"/>
                          <a:ea typeface="Aptos" pitchFamily="34" charset="-122"/>
                          <a:cs typeface="Aptos" pitchFamily="34" charset="-120"/>
                        </a:rPr>
                        <a:t>Lossless</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marL="0" indent="0">
                        <a:buNone/>
                      </a:pPr>
                      <a:r>
                        <a:rPr lang="en-US" sz="1350" dirty="0">
                          <a:solidFill>
                            <a:srgbClr val="000000"/>
                          </a:solidFill>
                          <a:latin typeface="Aptos" pitchFamily="34" charset="0"/>
                          <a:ea typeface="Aptos" pitchFamily="34" charset="-122"/>
                          <a:cs typeface="Aptos" pitchFamily="34" charset="-120"/>
                        </a:rPr>
                        <a:t>16.7 M</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marL="0" indent="0">
                        <a:buNone/>
                      </a:pPr>
                      <a:r>
                        <a:rPr lang="en-US" sz="1350" dirty="0">
                          <a:solidFill>
                            <a:srgbClr val="000000"/>
                          </a:solidFill>
                          <a:latin typeface="Aptos" pitchFamily="34" charset="0"/>
                          <a:ea typeface="Aptos" pitchFamily="34" charset="-122"/>
                          <a:cs typeface="Aptos" pitchFamily="34" charset="-120"/>
                        </a:rPr>
                        <a:t>✓</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marL="0" indent="0">
                        <a:buNone/>
                      </a:pPr>
                      <a:r>
                        <a:rPr lang="en-US" sz="1350" dirty="0">
                          <a:solidFill>
                            <a:srgbClr val="000000"/>
                          </a:solidFill>
                          <a:latin typeface="Aptos" pitchFamily="34" charset="0"/>
                          <a:ea typeface="Aptos" pitchFamily="34" charset="-122"/>
                          <a:cs typeface="Aptos" pitchFamily="34" charset="-120"/>
                        </a:rPr>
                        <a:t>✗</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marL="0" indent="0">
                        <a:buNone/>
                      </a:pPr>
                      <a:r>
                        <a:rPr lang="en-US" sz="1350" dirty="0">
                          <a:solidFill>
                            <a:srgbClr val="000000"/>
                          </a:solidFill>
                          <a:latin typeface="Aptos" pitchFamily="34" charset="0"/>
                          <a:ea typeface="Aptos" pitchFamily="34" charset="-122"/>
                          <a:cs typeface="Aptos" pitchFamily="34" charset="-120"/>
                        </a:rPr>
                        <a:t>978 KB</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extLst>
                  <a:ext uri="{0D108BD9-81ED-4DB2-BD59-A6C34878D82A}">
                    <a16:rowId xmlns:a16="http://schemas.microsoft.com/office/drawing/2014/main" val="10002"/>
                  </a:ext>
                </a:extLst>
              </a:tr>
              <a:tr h="457200">
                <a:tc>
                  <a:txBody>
                    <a:bodyPr/>
                    <a:lstStyle/>
                    <a:p>
                      <a:pPr marL="0" indent="0">
                        <a:buNone/>
                      </a:pPr>
                      <a:r>
                        <a:rPr lang="en-US" sz="1350" b="1" dirty="0">
                          <a:solidFill>
                            <a:srgbClr val="000000"/>
                          </a:solidFill>
                          <a:latin typeface="Aptos" pitchFamily="34" charset="0"/>
                          <a:ea typeface="Aptos" pitchFamily="34" charset="-122"/>
                          <a:cs typeface="Aptos" pitchFamily="34" charset="-120"/>
                        </a:rPr>
                        <a:t>GIF</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marL="0" indent="0">
                        <a:buNone/>
                      </a:pPr>
                      <a:r>
                        <a:rPr lang="en-US" sz="1350" dirty="0">
                          <a:solidFill>
                            <a:srgbClr val="000000"/>
                          </a:solidFill>
                          <a:latin typeface="Aptos" pitchFamily="34" charset="0"/>
                          <a:ea typeface="Aptos" pitchFamily="34" charset="-122"/>
                          <a:cs typeface="Aptos" pitchFamily="34" charset="-120"/>
                        </a:rPr>
                        <a:t>Lossless</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marL="0" indent="0">
                        <a:buNone/>
                      </a:pPr>
                      <a:r>
                        <a:rPr lang="en-US" sz="1350" dirty="0">
                          <a:solidFill>
                            <a:srgbClr val="000000"/>
                          </a:solidFill>
                          <a:latin typeface="Aptos" pitchFamily="34" charset="0"/>
                          <a:ea typeface="Aptos" pitchFamily="34" charset="-122"/>
                          <a:cs typeface="Aptos" pitchFamily="34" charset="-120"/>
                        </a:rPr>
                        <a:t>256</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marL="0" indent="0">
                        <a:buNone/>
                      </a:pPr>
                      <a:r>
                        <a:rPr lang="en-US" sz="1350" dirty="0">
                          <a:solidFill>
                            <a:srgbClr val="000000"/>
                          </a:solidFill>
                          <a:latin typeface="Aptos" pitchFamily="34" charset="0"/>
                          <a:ea typeface="Aptos" pitchFamily="34" charset="-122"/>
                          <a:cs typeface="Aptos" pitchFamily="34" charset="-120"/>
                        </a:rPr>
                        <a:t>On / off only</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marL="0" indent="0">
                        <a:buNone/>
                      </a:pPr>
                      <a:r>
                        <a:rPr lang="en-US" sz="1350" dirty="0">
                          <a:solidFill>
                            <a:srgbClr val="000000"/>
                          </a:solidFill>
                          <a:latin typeface="Aptos" pitchFamily="34" charset="0"/>
                          <a:ea typeface="Aptos" pitchFamily="34" charset="-122"/>
                          <a:cs typeface="Aptos" pitchFamily="34" charset="-120"/>
                        </a:rPr>
                        <a:t>✓</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marL="0" indent="0">
                        <a:buNone/>
                      </a:pPr>
                      <a:r>
                        <a:rPr lang="en-US" sz="1350" dirty="0">
                          <a:solidFill>
                            <a:srgbClr val="000000"/>
                          </a:solidFill>
                          <a:latin typeface="Aptos" pitchFamily="34" charset="0"/>
                          <a:ea typeface="Aptos" pitchFamily="34" charset="-122"/>
                          <a:cs typeface="Aptos" pitchFamily="34" charset="-120"/>
                        </a:rPr>
                        <a:t>407 KB</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350" b="1" dirty="0">
                          <a:solidFill>
                            <a:srgbClr val="000000"/>
                          </a:solidFill>
                          <a:latin typeface="Aptos" pitchFamily="34" charset="0"/>
                          <a:ea typeface="Aptos" pitchFamily="34" charset="-122"/>
                          <a:cs typeface="Aptos" pitchFamily="34" charset="-120"/>
                        </a:rPr>
                        <a:t>WebP</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marL="0" indent="0">
                        <a:buNone/>
                      </a:pPr>
                      <a:r>
                        <a:rPr lang="en-US" sz="1350" dirty="0">
                          <a:solidFill>
                            <a:srgbClr val="000000"/>
                          </a:solidFill>
                          <a:latin typeface="Aptos" pitchFamily="34" charset="0"/>
                          <a:ea typeface="Aptos" pitchFamily="34" charset="-122"/>
                          <a:cs typeface="Aptos" pitchFamily="34" charset="-120"/>
                        </a:rPr>
                        <a:t>Both</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marL="0" indent="0">
                        <a:buNone/>
                      </a:pPr>
                      <a:r>
                        <a:rPr lang="en-US" sz="1350" dirty="0">
                          <a:solidFill>
                            <a:srgbClr val="000000"/>
                          </a:solidFill>
                          <a:latin typeface="Aptos" pitchFamily="34" charset="0"/>
                          <a:ea typeface="Aptos" pitchFamily="34" charset="-122"/>
                          <a:cs typeface="Aptos" pitchFamily="34" charset="-120"/>
                        </a:rPr>
                        <a:t>16.7 M</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marL="0" indent="0">
                        <a:buNone/>
                      </a:pPr>
                      <a:r>
                        <a:rPr lang="en-US" sz="1350" dirty="0">
                          <a:solidFill>
                            <a:srgbClr val="000000"/>
                          </a:solidFill>
                          <a:latin typeface="Aptos" pitchFamily="34" charset="0"/>
                          <a:ea typeface="Aptos" pitchFamily="34" charset="-122"/>
                          <a:cs typeface="Aptos" pitchFamily="34" charset="-120"/>
                        </a:rPr>
                        <a:t>✓</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marL="0" indent="0">
                        <a:buNone/>
                      </a:pPr>
                      <a:r>
                        <a:rPr lang="en-US" sz="1350" dirty="0">
                          <a:solidFill>
                            <a:srgbClr val="000000"/>
                          </a:solidFill>
                          <a:latin typeface="Aptos" pitchFamily="34" charset="0"/>
                          <a:ea typeface="Aptos" pitchFamily="34" charset="-122"/>
                          <a:cs typeface="Aptos" pitchFamily="34" charset="-120"/>
                        </a:rPr>
                        <a:t>✓</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marL="0" indent="0">
                        <a:buNone/>
                      </a:pPr>
                      <a:r>
                        <a:rPr lang="en-US" sz="1350" dirty="0">
                          <a:solidFill>
                            <a:srgbClr val="000000"/>
                          </a:solidFill>
                          <a:latin typeface="Aptos" pitchFamily="34" charset="0"/>
                          <a:ea typeface="Aptos" pitchFamily="34" charset="-122"/>
                          <a:cs typeface="Aptos" pitchFamily="34" charset="-120"/>
                        </a:rPr>
                        <a:t>91 KB</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extLst>
                  <a:ext uri="{0D108BD9-81ED-4DB2-BD59-A6C34878D82A}">
                    <a16:rowId xmlns:a16="http://schemas.microsoft.com/office/drawing/2014/main" val="10004"/>
                  </a:ext>
                </a:extLst>
              </a:tr>
              <a:tr h="457200">
                <a:tc>
                  <a:txBody>
                    <a:bodyPr/>
                    <a:lstStyle/>
                    <a:p>
                      <a:pPr marL="0" indent="0">
                        <a:buNone/>
                      </a:pPr>
                      <a:r>
                        <a:rPr lang="en-US" sz="1350" b="1" dirty="0">
                          <a:solidFill>
                            <a:srgbClr val="000000"/>
                          </a:solidFill>
                          <a:latin typeface="Aptos" pitchFamily="34" charset="0"/>
                          <a:ea typeface="Aptos" pitchFamily="34" charset="-122"/>
                          <a:cs typeface="Aptos" pitchFamily="34" charset="-120"/>
                        </a:rPr>
                        <a:t>AVIF</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marL="0" indent="0">
                        <a:buNone/>
                      </a:pPr>
                      <a:r>
                        <a:rPr lang="en-US" sz="1350" dirty="0">
                          <a:solidFill>
                            <a:srgbClr val="000000"/>
                          </a:solidFill>
                          <a:latin typeface="Aptos" pitchFamily="34" charset="0"/>
                          <a:ea typeface="Aptos" pitchFamily="34" charset="-122"/>
                          <a:cs typeface="Aptos" pitchFamily="34" charset="-120"/>
                        </a:rPr>
                        <a:t>Both</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marL="0" indent="0">
                        <a:buNone/>
                      </a:pPr>
                      <a:r>
                        <a:rPr lang="en-US" sz="1350" dirty="0">
                          <a:solidFill>
                            <a:srgbClr val="000000"/>
                          </a:solidFill>
                          <a:latin typeface="Aptos" pitchFamily="34" charset="0"/>
                          <a:ea typeface="Aptos" pitchFamily="34" charset="-122"/>
                          <a:cs typeface="Aptos" pitchFamily="34" charset="-120"/>
                        </a:rPr>
                        <a:t>16.7 M+</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marL="0" indent="0">
                        <a:buNone/>
                      </a:pPr>
                      <a:r>
                        <a:rPr lang="en-US" sz="1350" dirty="0">
                          <a:solidFill>
                            <a:srgbClr val="000000"/>
                          </a:solidFill>
                          <a:latin typeface="Aptos" pitchFamily="34" charset="0"/>
                          <a:ea typeface="Aptos" pitchFamily="34" charset="-122"/>
                          <a:cs typeface="Aptos" pitchFamily="34" charset="-120"/>
                        </a:rPr>
                        <a:t>✓</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marL="0" indent="0">
                        <a:buNone/>
                      </a:pPr>
                      <a:r>
                        <a:rPr lang="en-US" sz="1350" dirty="0">
                          <a:solidFill>
                            <a:srgbClr val="000000"/>
                          </a:solidFill>
                          <a:latin typeface="Aptos" pitchFamily="34" charset="0"/>
                          <a:ea typeface="Aptos" pitchFamily="34" charset="-122"/>
                          <a:cs typeface="Aptos" pitchFamily="34" charset="-120"/>
                        </a:rPr>
                        <a:t>✓</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marL="0" indent="0">
                        <a:buNone/>
                      </a:pPr>
                      <a:r>
                        <a:rPr lang="en-US" sz="1350" dirty="0">
                          <a:solidFill>
                            <a:srgbClr val="000000"/>
                          </a:solidFill>
                          <a:latin typeface="Aptos" pitchFamily="34" charset="0"/>
                          <a:ea typeface="Aptos" pitchFamily="34" charset="-122"/>
                          <a:cs typeface="Aptos" pitchFamily="34" charset="-120"/>
                        </a:rPr>
                        <a:t>69 KB</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buNone/>
                      </a:pPr>
                      <a:r>
                        <a:rPr lang="en-US" sz="1350" b="1" dirty="0">
                          <a:solidFill>
                            <a:srgbClr val="000000"/>
                          </a:solidFill>
                          <a:latin typeface="Aptos" pitchFamily="34" charset="0"/>
                          <a:ea typeface="Aptos" pitchFamily="34" charset="-122"/>
                          <a:cs typeface="Aptos" pitchFamily="34" charset="-120"/>
                        </a:rPr>
                        <a:t>SVG</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marL="0" indent="0">
                        <a:buNone/>
                      </a:pPr>
                      <a:r>
                        <a:rPr lang="en-US" sz="1350" dirty="0">
                          <a:solidFill>
                            <a:srgbClr val="000000"/>
                          </a:solidFill>
                          <a:latin typeface="Aptos" pitchFamily="34" charset="0"/>
                          <a:ea typeface="Aptos" pitchFamily="34" charset="-122"/>
                          <a:cs typeface="Aptos" pitchFamily="34" charset="-120"/>
                        </a:rPr>
                        <a:t>Vector (code)</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marL="0" indent="0">
                        <a:buNone/>
                      </a:pPr>
                      <a:r>
                        <a:rPr lang="en-US" sz="1350" dirty="0">
                          <a:solidFill>
                            <a:srgbClr val="000000"/>
                          </a:solidFill>
                          <a:latin typeface="Aptos" pitchFamily="34" charset="0"/>
                          <a:ea typeface="Aptos" pitchFamily="34" charset="-122"/>
                          <a:cs typeface="Aptos" pitchFamily="34" charset="-120"/>
                        </a:rPr>
                        <a:t>Any</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marL="0" indent="0">
                        <a:buNone/>
                      </a:pPr>
                      <a:r>
                        <a:rPr lang="en-US" sz="1350" dirty="0">
                          <a:solidFill>
                            <a:srgbClr val="000000"/>
                          </a:solidFill>
                          <a:latin typeface="Aptos" pitchFamily="34" charset="0"/>
                          <a:ea typeface="Aptos" pitchFamily="34" charset="-122"/>
                          <a:cs typeface="Aptos" pitchFamily="34" charset="-120"/>
                        </a:rPr>
                        <a:t>✓</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marL="0" indent="0">
                        <a:buNone/>
                      </a:pPr>
                      <a:r>
                        <a:rPr lang="en-US" sz="1350" dirty="0">
                          <a:solidFill>
                            <a:srgbClr val="000000"/>
                          </a:solidFill>
                          <a:latin typeface="Aptos" pitchFamily="34" charset="0"/>
                          <a:ea typeface="Aptos" pitchFamily="34" charset="-122"/>
                          <a:cs typeface="Aptos" pitchFamily="34" charset="-120"/>
                        </a:rPr>
                        <a:t>✓</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marL="0" indent="0">
                        <a:buNone/>
                      </a:pPr>
                      <a:r>
                        <a:rPr lang="en-US" sz="1350" dirty="0">
                          <a:solidFill>
                            <a:srgbClr val="000000"/>
                          </a:solidFill>
                          <a:latin typeface="Aptos" pitchFamily="34" charset="0"/>
                          <a:ea typeface="Aptos" pitchFamily="34" charset="-122"/>
                          <a:cs typeface="Aptos" pitchFamily="34" charset="-120"/>
                        </a:rPr>
                        <a:t>n/a</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extLst>
                  <a:ext uri="{0D108BD9-81ED-4DB2-BD59-A6C34878D82A}">
                    <a16:rowId xmlns:a16="http://schemas.microsoft.com/office/drawing/2014/main" val="10006"/>
                  </a:ext>
                </a:extLst>
              </a:tr>
            </a:tbl>
          </a:graphicData>
        </a:graphic>
      </p:graphicFrame>
      <p:sp>
        <p:nvSpPr>
          <p:cNvPr id="8" name="Text 4"/>
          <p:cNvSpPr txBox="1"/>
          <p:nvPr/>
        </p:nvSpPr>
        <p:spPr>
          <a:xfrm>
            <a:off x="4754880" y="5166360"/>
            <a:ext cx="6903720" cy="1280160"/>
          </a:xfrm>
          <a:prstGeom prst="rect">
            <a:avLst/>
          </a:prstGeom>
          <a:noFill/>
          <a:ln/>
        </p:spPr>
        <p:txBody>
          <a:bodyPr wrap="square" lIns="0" tIns="0" rIns="0" bIns="0" rtlCol="0" anchor="t"/>
          <a:lstStyle/>
          <a:p>
            <a:pPr marL="342900" indent="-342900">
              <a:buSzPct val="100000"/>
              <a:buChar char="•"/>
            </a:pPr>
            <a:r>
              <a:rPr lang="en-US" sz="1500" dirty="0">
                <a:solidFill>
                  <a:srgbClr val="262626"/>
                </a:solidFill>
                <a:latin typeface="Aptos" pitchFamily="34" charset="0"/>
                <a:ea typeface="Aptos" pitchFamily="34" charset="-122"/>
                <a:cs typeface="Aptos" pitchFamily="34" charset="-120"/>
              </a:rPr>
              <a:t>​</a:t>
            </a:r>
            <a:r>
              <a:rPr lang="en-US" sz="1500" b="1" dirty="0">
                <a:solidFill>
                  <a:srgbClr val="262626"/>
                </a:solidFill>
                <a:latin typeface="Aptos" pitchFamily="34" charset="0"/>
                <a:ea typeface="Aptos" pitchFamily="34" charset="-122"/>
                <a:cs typeface="Aptos" pitchFamily="34" charset="-120"/>
              </a:rPr>
              <a:t>Photo? </a:t>
            </a:r>
            <a:r>
              <a:rPr lang="en-US" sz="1500" dirty="0">
                <a:solidFill>
                  <a:srgbClr val="262626"/>
                </a:solidFill>
                <a:latin typeface="Aptos" pitchFamily="34" charset="0"/>
                <a:ea typeface="Aptos" pitchFamily="34" charset="-122"/>
                <a:cs typeface="Aptos" pitchFamily="34" charset="-120"/>
              </a:rPr>
              <a:t>JPG, or WebP / AVIF for smaller files.</a:t>
            </a:r>
            <a:endParaRPr lang="en-US" sz="1500" dirty="0"/>
          </a:p>
          <a:p>
            <a:pPr marL="342900" indent="-342900">
              <a:spcBef>
                <a:spcPts val="500"/>
              </a:spcBef>
              <a:buSzPct val="100000"/>
              <a:buChar char="•"/>
            </a:pPr>
            <a:r>
              <a:rPr lang="en-US" sz="1500" dirty="0">
                <a:solidFill>
                  <a:srgbClr val="262626"/>
                </a:solidFill>
                <a:latin typeface="Aptos" pitchFamily="34" charset="0"/>
                <a:ea typeface="Aptos" pitchFamily="34" charset="-122"/>
                <a:cs typeface="Aptos" pitchFamily="34" charset="-120"/>
              </a:rPr>
              <a:t>​</a:t>
            </a:r>
            <a:r>
              <a:rPr lang="en-US" sz="1500" b="1" dirty="0">
                <a:solidFill>
                  <a:srgbClr val="262626"/>
                </a:solidFill>
                <a:latin typeface="Aptos" pitchFamily="34" charset="0"/>
                <a:ea typeface="Aptos" pitchFamily="34" charset="-122"/>
                <a:cs typeface="Aptos" pitchFamily="34" charset="-120"/>
              </a:rPr>
              <a:t>Needs transparency? </a:t>
            </a:r>
            <a:r>
              <a:rPr lang="en-US" sz="1500" dirty="0">
                <a:solidFill>
                  <a:srgbClr val="262626"/>
                </a:solidFill>
                <a:latin typeface="Aptos" pitchFamily="34" charset="0"/>
                <a:ea typeface="Aptos" pitchFamily="34" charset="-122"/>
                <a:cs typeface="Aptos" pitchFamily="34" charset="-120"/>
              </a:rPr>
              <a:t>PNG or WebP. Never JPG.</a:t>
            </a:r>
            <a:endParaRPr lang="en-US" sz="1500" dirty="0"/>
          </a:p>
          <a:p>
            <a:pPr marL="342900" indent="-342900">
              <a:spcBef>
                <a:spcPts val="500"/>
              </a:spcBef>
              <a:buSzPct val="100000"/>
              <a:buChar char="•"/>
            </a:pPr>
            <a:r>
              <a:rPr lang="en-US" sz="1500" dirty="0">
                <a:solidFill>
                  <a:srgbClr val="262626"/>
                </a:solidFill>
                <a:latin typeface="Aptos" pitchFamily="34" charset="0"/>
                <a:ea typeface="Aptos" pitchFamily="34" charset="-122"/>
                <a:cs typeface="Aptos" pitchFamily="34" charset="-120"/>
              </a:rPr>
              <a:t>​</a:t>
            </a:r>
            <a:r>
              <a:rPr lang="en-US" sz="1500" b="1" dirty="0">
                <a:solidFill>
                  <a:srgbClr val="262626"/>
                </a:solidFill>
                <a:latin typeface="Aptos" pitchFamily="34" charset="0"/>
                <a:ea typeface="Aptos" pitchFamily="34" charset="-122"/>
                <a:cs typeface="Aptos" pitchFamily="34" charset="-120"/>
              </a:rPr>
              <a:t>Logo or icon? </a:t>
            </a:r>
            <a:r>
              <a:rPr lang="en-US" sz="1500" dirty="0">
                <a:solidFill>
                  <a:srgbClr val="262626"/>
                </a:solidFill>
                <a:latin typeface="Aptos" pitchFamily="34" charset="0"/>
                <a:ea typeface="Aptos" pitchFamily="34" charset="-122"/>
                <a:cs typeface="Aptos" pitchFamily="34" charset="-120"/>
              </a:rPr>
              <a:t>SVG if you have it.</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pic>
        <p:nvPicPr>
          <p:cNvPr id="2" name="Image 0" descr="C:\Repos\2026-2027\WEBD1000\04_Images_for_the_Web\_build\grad_left.png"/>
          <p:cNvPicPr>
            <a:picLocks noChangeAspect="1"/>
          </p:cNvPicPr>
          <p:nvPr/>
        </p:nvPicPr>
        <p:blipFill>
          <a:blip r:embed="rId3"/>
          <a:stretch>
            <a:fillRect/>
          </a:stretch>
        </p:blipFill>
        <p:spPr>
          <a:xfrm>
            <a:off x="0" y="0"/>
            <a:ext cx="6400800" cy="6858000"/>
          </a:xfrm>
          <a:prstGeom prst="rect">
            <a:avLst/>
          </a:prstGeom>
        </p:spPr>
      </p:pic>
      <p:sp>
        <p:nvSpPr>
          <p:cNvPr id="3" name="Shape 0"/>
          <p:cNvSpPr/>
          <p:nvPr/>
        </p:nvSpPr>
        <p:spPr>
          <a:xfrm>
            <a:off x="274320" y="548640"/>
            <a:ext cx="5852160" cy="5760720"/>
          </a:xfrm>
          <a:prstGeom prst="rect">
            <a:avLst/>
          </a:prstGeom>
          <a:solidFill>
            <a:srgbClr val="1E1E1E"/>
          </a:solidFill>
          <a:ln w="12700">
            <a:solidFill>
              <a:srgbClr val="1E1E1E"/>
            </a:solidFill>
            <a:prstDash val="solid"/>
          </a:ln>
          <a:effectLst>
            <a:outerShdw blurRad="101600" dist="38100" dir="5400000" algn="bl" rotWithShape="0">
              <a:srgbClr val="000000">
                <a:alpha val="35000"/>
              </a:srgbClr>
            </a:outerShdw>
          </a:effectLst>
        </p:spPr>
        <p:txBody>
          <a:bodyPr/>
          <a:lstStyle/>
          <a:p>
            <a:endParaRPr lang="en-US"/>
          </a:p>
        </p:txBody>
      </p:sp>
      <p:sp>
        <p:nvSpPr>
          <p:cNvPr id="4" name="Text 1"/>
          <p:cNvSpPr txBox="1"/>
          <p:nvPr/>
        </p:nvSpPr>
        <p:spPr>
          <a:xfrm>
            <a:off x="502920" y="777240"/>
            <a:ext cx="5394960" cy="5303520"/>
          </a:xfrm>
          <a:prstGeom prst="rect">
            <a:avLst/>
          </a:prstGeom>
          <a:noFill/>
          <a:ln/>
        </p:spPr>
        <p:txBody>
          <a:bodyPr wrap="square" lIns="0" tIns="0" rIns="0" bIns="0" rtlCol="0" anchor="t"/>
          <a:lstStyle/>
          <a:p>
            <a:pPr marL="0" indent="0">
              <a:lnSpc>
                <a:spcPct val="100000"/>
              </a:lnSpc>
              <a:buNone/>
            </a:pPr>
            <a:r>
              <a:rPr lang="en-US" sz="900" dirty="0">
                <a:solidFill>
                  <a:srgbClr val="808080"/>
                </a:solidFill>
                <a:latin typeface="Consolas" pitchFamily="34" charset="0"/>
                <a:ea typeface="Consolas" pitchFamily="34" charset="-122"/>
                <a:cs typeface="Consolas" pitchFamily="34" charset="-120"/>
              </a:rPr>
              <a:t>&lt;</a:t>
            </a:r>
            <a:r>
              <a:rPr lang="en-US" sz="900" dirty="0">
                <a:solidFill>
                  <a:srgbClr val="569CD6"/>
                </a:solidFill>
                <a:latin typeface="Consolas" pitchFamily="34" charset="0"/>
                <a:ea typeface="Consolas" pitchFamily="34" charset="-122"/>
                <a:cs typeface="Consolas" pitchFamily="34" charset="-120"/>
              </a:rPr>
              <a:t>h1</a:t>
            </a:r>
            <a:r>
              <a:rPr lang="en-US" sz="900" dirty="0">
                <a:solidFill>
                  <a:srgbClr val="808080"/>
                </a:solidFill>
                <a:latin typeface="Consolas" pitchFamily="34" charset="0"/>
                <a:ea typeface="Consolas" pitchFamily="34" charset="-122"/>
                <a:cs typeface="Consolas" pitchFamily="34" charset="-120"/>
              </a:rPr>
              <a:t>&gt;</a:t>
            </a:r>
            <a:r>
              <a:rPr lang="en-US" sz="900" dirty="0">
                <a:solidFill>
                  <a:srgbClr val="D4D4D4"/>
                </a:solidFill>
                <a:latin typeface="Consolas" pitchFamily="34" charset="0"/>
                <a:ea typeface="Consolas" pitchFamily="34" charset="-122"/>
                <a:cs typeface="Consolas" pitchFamily="34" charset="-120"/>
              </a:rPr>
              <a:t>One Photo, Six Files</a:t>
            </a:r>
            <a:r>
              <a:rPr lang="en-US" sz="900" dirty="0">
                <a:solidFill>
                  <a:srgbClr val="808080"/>
                </a:solidFill>
                <a:latin typeface="Consolas" pitchFamily="34" charset="0"/>
                <a:ea typeface="Consolas" pitchFamily="34" charset="-122"/>
                <a:cs typeface="Consolas" pitchFamily="34" charset="-120"/>
              </a:rPr>
              <a:t>&lt;/</a:t>
            </a:r>
            <a:r>
              <a:rPr lang="en-US" sz="900" dirty="0">
                <a:solidFill>
                  <a:srgbClr val="569CD6"/>
                </a:solidFill>
                <a:latin typeface="Consolas" pitchFamily="34" charset="0"/>
                <a:ea typeface="Consolas" pitchFamily="34" charset="-122"/>
                <a:cs typeface="Consolas" pitchFamily="34" charset="-120"/>
              </a:rPr>
              <a:t>h1</a:t>
            </a:r>
            <a:r>
              <a:rPr lang="en-US" sz="900" dirty="0">
                <a:solidFill>
                  <a:srgbClr val="808080"/>
                </a:solidFill>
                <a:latin typeface="Consolas" pitchFamily="34" charset="0"/>
                <a:ea typeface="Consolas" pitchFamily="34" charset="-122"/>
                <a:cs typeface="Consolas" pitchFamily="34" charset="-120"/>
              </a:rPr>
              <a:t>&gt;</a:t>
            </a:r>
            <a:endParaRPr lang="en-US" sz="900" dirty="0"/>
          </a:p>
          <a:p>
            <a:pPr marL="0" indent="0">
              <a:lnSpc>
                <a:spcPct val="100000"/>
              </a:lnSpc>
              <a:buNone/>
            </a:pPr>
            <a:r>
              <a:rPr lang="en-US" sz="900" dirty="0">
                <a:solidFill>
                  <a:srgbClr val="808080"/>
                </a:solidFill>
                <a:latin typeface="Consolas" pitchFamily="34" charset="0"/>
                <a:ea typeface="Consolas" pitchFamily="34" charset="-122"/>
                <a:cs typeface="Consolas" pitchFamily="34" charset="-120"/>
              </a:rPr>
              <a:t>&lt;</a:t>
            </a:r>
            <a:r>
              <a:rPr lang="en-US" sz="900" dirty="0">
                <a:solidFill>
                  <a:srgbClr val="569CD6"/>
                </a:solidFill>
                <a:latin typeface="Consolas" pitchFamily="34" charset="0"/>
                <a:ea typeface="Consolas" pitchFamily="34" charset="-122"/>
                <a:cs typeface="Consolas" pitchFamily="34" charset="-120"/>
              </a:rPr>
              <a:t>p</a:t>
            </a:r>
            <a:r>
              <a:rPr lang="en-US" sz="900" dirty="0">
                <a:solidFill>
                  <a:srgbClr val="808080"/>
                </a:solidFill>
                <a:latin typeface="Consolas" pitchFamily="34" charset="0"/>
                <a:ea typeface="Consolas" pitchFamily="34" charset="-122"/>
                <a:cs typeface="Consolas" pitchFamily="34" charset="-120"/>
              </a:rPr>
              <a:t>&gt;</a:t>
            </a:r>
            <a:r>
              <a:rPr lang="en-US" sz="900" dirty="0">
                <a:solidFill>
                  <a:srgbClr val="D4D4D4"/>
                </a:solidFill>
                <a:latin typeface="Consolas" pitchFamily="34" charset="0"/>
                <a:ea typeface="Consolas" pitchFamily="34" charset="-122"/>
                <a:cs typeface="Consolas" pitchFamily="34" charset="-120"/>
              </a:rPr>
              <a:t>Same photo (1118 </a:t>
            </a:r>
            <a:r>
              <a:rPr lang="en-US" sz="900" dirty="0">
                <a:solidFill>
                  <a:srgbClr val="D7BA7D"/>
                </a:solidFill>
                <a:latin typeface="Consolas" pitchFamily="34" charset="0"/>
                <a:ea typeface="Consolas" pitchFamily="34" charset="-122"/>
                <a:cs typeface="Consolas" pitchFamily="34" charset="-120"/>
              </a:rPr>
              <a:t>&amp;times;</a:t>
            </a:r>
            <a:r>
              <a:rPr lang="en-US" sz="900" dirty="0">
                <a:solidFill>
                  <a:srgbClr val="D4D4D4"/>
                </a:solidFill>
                <a:latin typeface="Consolas" pitchFamily="34" charset="0"/>
                <a:ea typeface="Consolas" pitchFamily="34" charset="-122"/>
                <a:cs typeface="Consolas" pitchFamily="34" charset="-120"/>
              </a:rPr>
              <a:t> 640 pixels), saved as different file types.</a:t>
            </a:r>
            <a:endParaRPr lang="en-US" sz="900" dirty="0"/>
          </a:p>
          <a:p>
            <a:pPr marL="0" indent="0">
              <a:lnSpc>
                <a:spcPct val="100000"/>
              </a:lnSpc>
              <a:buNone/>
            </a:pPr>
            <a:r>
              <a:rPr lang="en-US" sz="900" dirty="0">
                <a:solidFill>
                  <a:srgbClr val="D4D4D4"/>
                </a:solidFill>
                <a:latin typeface="Consolas" pitchFamily="34" charset="0"/>
                <a:ea typeface="Consolas" pitchFamily="34" charset="-122"/>
                <a:cs typeface="Consolas" pitchFamily="34" charset="-120"/>
              </a:rPr>
              <a:t>   Can you see a difference? Check the file sizes in File Explorer.</a:t>
            </a:r>
            <a:r>
              <a:rPr lang="en-US" sz="900" dirty="0">
                <a:solidFill>
                  <a:srgbClr val="808080"/>
                </a:solidFill>
                <a:latin typeface="Consolas" pitchFamily="34" charset="0"/>
                <a:ea typeface="Consolas" pitchFamily="34" charset="-122"/>
                <a:cs typeface="Consolas" pitchFamily="34" charset="-120"/>
              </a:rPr>
              <a:t>&lt;/</a:t>
            </a:r>
            <a:r>
              <a:rPr lang="en-US" sz="900" dirty="0">
                <a:solidFill>
                  <a:srgbClr val="569CD6"/>
                </a:solidFill>
                <a:latin typeface="Consolas" pitchFamily="34" charset="0"/>
                <a:ea typeface="Consolas" pitchFamily="34" charset="-122"/>
                <a:cs typeface="Consolas" pitchFamily="34" charset="-120"/>
              </a:rPr>
              <a:t>p</a:t>
            </a:r>
            <a:r>
              <a:rPr lang="en-US" sz="900" dirty="0">
                <a:solidFill>
                  <a:srgbClr val="808080"/>
                </a:solidFill>
                <a:latin typeface="Consolas" pitchFamily="34" charset="0"/>
                <a:ea typeface="Consolas" pitchFamily="34" charset="-122"/>
                <a:cs typeface="Consolas" pitchFamily="34" charset="-120"/>
              </a:rPr>
              <a:t>&gt;</a:t>
            </a:r>
            <a:endParaRPr lang="en-US" sz="900" dirty="0"/>
          </a:p>
          <a:p>
            <a:pPr marL="0" indent="0">
              <a:lnSpc>
                <a:spcPct val="100000"/>
              </a:lnSpc>
              <a:buNone/>
            </a:pPr>
            <a:r>
              <a:rPr lang="en-US" sz="900" dirty="0">
                <a:solidFill>
                  <a:srgbClr val="D4D4D4"/>
                </a:solidFill>
                <a:latin typeface="Consolas" pitchFamily="34" charset="0"/>
                <a:ea typeface="Consolas" pitchFamily="34" charset="-122"/>
                <a:cs typeface="Consolas" pitchFamily="34" charset="-120"/>
              </a:rPr>
              <a:t> </a:t>
            </a:r>
            <a:endParaRPr lang="en-US" sz="900" dirty="0"/>
          </a:p>
          <a:p>
            <a:pPr marL="0" indent="0">
              <a:lnSpc>
                <a:spcPct val="100000"/>
              </a:lnSpc>
              <a:buNone/>
            </a:pPr>
            <a:r>
              <a:rPr lang="en-US" sz="900" dirty="0">
                <a:solidFill>
                  <a:srgbClr val="6A9955"/>
                </a:solidFill>
                <a:latin typeface="Consolas" pitchFamily="34" charset="0"/>
                <a:ea typeface="Consolas" pitchFamily="34" charset="-122"/>
                <a:cs typeface="Consolas" pitchFamily="34" charset="-120"/>
              </a:rPr>
              <a:t>&lt;!-- JPEG: lossy, millions of colours. The usual choice for photos --&gt;</a:t>
            </a:r>
            <a:endParaRPr lang="en-US" sz="900" dirty="0"/>
          </a:p>
          <a:p>
            <a:pPr marL="0" indent="0">
              <a:lnSpc>
                <a:spcPct val="100000"/>
              </a:lnSpc>
              <a:buNone/>
            </a:pPr>
            <a:r>
              <a:rPr lang="en-US" sz="900" dirty="0">
                <a:solidFill>
                  <a:srgbClr val="808080"/>
                </a:solidFill>
                <a:latin typeface="Consolas" pitchFamily="34" charset="0"/>
                <a:ea typeface="Consolas" pitchFamily="34" charset="-122"/>
                <a:cs typeface="Consolas" pitchFamily="34" charset="-120"/>
              </a:rPr>
              <a:t>&lt;</a:t>
            </a:r>
            <a:r>
              <a:rPr lang="en-US" sz="900" dirty="0">
                <a:solidFill>
                  <a:srgbClr val="569CD6"/>
                </a:solidFill>
                <a:latin typeface="Consolas" pitchFamily="34" charset="0"/>
                <a:ea typeface="Consolas" pitchFamily="34" charset="-122"/>
                <a:cs typeface="Consolas" pitchFamily="34" charset="-120"/>
              </a:rPr>
              <a:t>figure</a:t>
            </a:r>
            <a:r>
              <a:rPr lang="en-US" sz="900" dirty="0">
                <a:solidFill>
                  <a:srgbClr val="808080"/>
                </a:solidFill>
                <a:latin typeface="Consolas" pitchFamily="34" charset="0"/>
                <a:ea typeface="Consolas" pitchFamily="34" charset="-122"/>
                <a:cs typeface="Consolas" pitchFamily="34" charset="-120"/>
              </a:rPr>
              <a:t>&gt;</a:t>
            </a:r>
            <a:endParaRPr lang="en-US" sz="900" dirty="0"/>
          </a:p>
          <a:p>
            <a:pPr marL="0" indent="0">
              <a:lnSpc>
                <a:spcPct val="100000"/>
              </a:lnSpc>
              <a:buNone/>
            </a:pPr>
            <a:r>
              <a:rPr lang="en-US" sz="900" dirty="0">
                <a:solidFill>
                  <a:srgbClr val="D4D4D4"/>
                </a:solidFill>
                <a:latin typeface="Consolas" pitchFamily="34" charset="0"/>
                <a:ea typeface="Consolas" pitchFamily="34" charset="-122"/>
                <a:cs typeface="Consolas" pitchFamily="34" charset="-120"/>
              </a:rPr>
              <a:t>   </a:t>
            </a:r>
            <a:r>
              <a:rPr lang="en-US" sz="900" dirty="0">
                <a:solidFill>
                  <a:srgbClr val="808080"/>
                </a:solidFill>
                <a:latin typeface="Consolas" pitchFamily="34" charset="0"/>
                <a:ea typeface="Consolas" pitchFamily="34" charset="-122"/>
                <a:cs typeface="Consolas" pitchFamily="34" charset="-120"/>
              </a:rPr>
              <a:t>&lt;</a:t>
            </a:r>
            <a:r>
              <a:rPr lang="en-US" sz="900" dirty="0">
                <a:solidFill>
                  <a:srgbClr val="569CD6"/>
                </a:solidFill>
                <a:latin typeface="Consolas" pitchFamily="34" charset="0"/>
                <a:ea typeface="Consolas" pitchFamily="34" charset="-122"/>
                <a:cs typeface="Consolas" pitchFamily="34" charset="-120"/>
              </a:rPr>
              <a:t>img</a:t>
            </a:r>
            <a:r>
              <a:rPr lang="en-US" sz="900" dirty="0">
                <a:solidFill>
                  <a:srgbClr val="D4D4D4"/>
                </a:solidFill>
                <a:latin typeface="Consolas" pitchFamily="34" charset="0"/>
                <a:ea typeface="Consolas" pitchFamily="34" charset="-122"/>
                <a:cs typeface="Consolas" pitchFamily="34" charset="-120"/>
              </a:rPr>
              <a:t> </a:t>
            </a:r>
            <a:r>
              <a:rPr lang="en-US" sz="900" dirty="0">
                <a:solidFill>
                  <a:srgbClr val="9CDCFE"/>
                </a:solidFill>
                <a:latin typeface="Consolas" pitchFamily="34" charset="0"/>
                <a:ea typeface="Consolas" pitchFamily="34" charset="-122"/>
                <a:cs typeface="Consolas" pitchFamily="34" charset="-120"/>
              </a:rPr>
              <a:t>src</a:t>
            </a:r>
            <a:r>
              <a:rPr lang="en-US" sz="900" dirty="0">
                <a:solidFill>
                  <a:srgbClr val="D4D4D4"/>
                </a:solidFill>
                <a:latin typeface="Consolas" pitchFamily="34" charset="0"/>
                <a:ea typeface="Consolas" pitchFamily="34" charset="-122"/>
                <a:cs typeface="Consolas" pitchFamily="34" charset="-120"/>
              </a:rPr>
              <a:t>=</a:t>
            </a:r>
            <a:r>
              <a:rPr lang="en-US" sz="900" dirty="0">
                <a:solidFill>
                  <a:srgbClr val="CE9178"/>
                </a:solidFill>
                <a:latin typeface="Consolas" pitchFamily="34" charset="0"/>
                <a:ea typeface="Consolas" pitchFamily="34" charset="-122"/>
                <a:cs typeface="Consolas" pitchFamily="34" charset="-120"/>
              </a:rPr>
              <a:t>"samples/beach_q75.jpg"</a:t>
            </a:r>
            <a:r>
              <a:rPr lang="en-US" sz="900" dirty="0">
                <a:solidFill>
                  <a:srgbClr val="D4D4D4"/>
                </a:solidFill>
                <a:latin typeface="Consolas" pitchFamily="34" charset="0"/>
                <a:ea typeface="Consolas" pitchFamily="34" charset="-122"/>
                <a:cs typeface="Consolas" pitchFamily="34" charset="-120"/>
              </a:rPr>
              <a:t> </a:t>
            </a:r>
            <a:r>
              <a:rPr lang="en-US" sz="900" dirty="0">
                <a:solidFill>
                  <a:srgbClr val="9CDCFE"/>
                </a:solidFill>
                <a:latin typeface="Consolas" pitchFamily="34" charset="0"/>
                <a:ea typeface="Consolas" pitchFamily="34" charset="-122"/>
                <a:cs typeface="Consolas" pitchFamily="34" charset="-120"/>
              </a:rPr>
              <a:t>width</a:t>
            </a:r>
            <a:r>
              <a:rPr lang="en-US" sz="900" dirty="0">
                <a:solidFill>
                  <a:srgbClr val="D4D4D4"/>
                </a:solidFill>
                <a:latin typeface="Consolas" pitchFamily="34" charset="0"/>
                <a:ea typeface="Consolas" pitchFamily="34" charset="-122"/>
                <a:cs typeface="Consolas" pitchFamily="34" charset="-120"/>
              </a:rPr>
              <a:t>=</a:t>
            </a:r>
            <a:r>
              <a:rPr lang="en-US" sz="900" dirty="0">
                <a:solidFill>
                  <a:srgbClr val="CE9178"/>
                </a:solidFill>
                <a:latin typeface="Consolas" pitchFamily="34" charset="0"/>
                <a:ea typeface="Consolas" pitchFamily="34" charset="-122"/>
                <a:cs typeface="Consolas" pitchFamily="34" charset="-120"/>
              </a:rPr>
              <a:t>"560"</a:t>
            </a:r>
            <a:r>
              <a:rPr lang="en-US" sz="900" dirty="0">
                <a:solidFill>
                  <a:srgbClr val="D4D4D4"/>
                </a:solidFill>
                <a:latin typeface="Consolas" pitchFamily="34" charset="0"/>
                <a:ea typeface="Consolas" pitchFamily="34" charset="-122"/>
                <a:cs typeface="Consolas" pitchFamily="34" charset="-120"/>
              </a:rPr>
              <a:t> </a:t>
            </a:r>
            <a:r>
              <a:rPr lang="en-US" sz="900" dirty="0">
                <a:solidFill>
                  <a:srgbClr val="9CDCFE"/>
                </a:solidFill>
                <a:latin typeface="Consolas" pitchFamily="34" charset="0"/>
                <a:ea typeface="Consolas" pitchFamily="34" charset="-122"/>
                <a:cs typeface="Consolas" pitchFamily="34" charset="-120"/>
              </a:rPr>
              <a:t>height</a:t>
            </a:r>
            <a:r>
              <a:rPr lang="en-US" sz="900" dirty="0">
                <a:solidFill>
                  <a:srgbClr val="D4D4D4"/>
                </a:solidFill>
                <a:latin typeface="Consolas" pitchFamily="34" charset="0"/>
                <a:ea typeface="Consolas" pitchFamily="34" charset="-122"/>
                <a:cs typeface="Consolas" pitchFamily="34" charset="-120"/>
              </a:rPr>
              <a:t>=</a:t>
            </a:r>
            <a:r>
              <a:rPr lang="en-US" sz="900" dirty="0">
                <a:solidFill>
                  <a:srgbClr val="CE9178"/>
                </a:solidFill>
                <a:latin typeface="Consolas" pitchFamily="34" charset="0"/>
                <a:ea typeface="Consolas" pitchFamily="34" charset="-122"/>
                <a:cs typeface="Consolas" pitchFamily="34" charset="-120"/>
              </a:rPr>
              <a:t>"320"</a:t>
            </a:r>
            <a:endParaRPr lang="en-US" sz="900" dirty="0"/>
          </a:p>
          <a:p>
            <a:pPr marL="0" indent="0">
              <a:lnSpc>
                <a:spcPct val="100000"/>
              </a:lnSpc>
              <a:buNone/>
            </a:pPr>
            <a:r>
              <a:rPr lang="en-US" sz="900" dirty="0">
                <a:solidFill>
                  <a:srgbClr val="D4D4D4"/>
                </a:solidFill>
                <a:latin typeface="Consolas" pitchFamily="34" charset="0"/>
                <a:ea typeface="Consolas" pitchFamily="34" charset="-122"/>
                <a:cs typeface="Consolas" pitchFamily="34" charset="-120"/>
              </a:rPr>
              <a:t>      </a:t>
            </a:r>
            <a:r>
              <a:rPr lang="en-US" sz="900" dirty="0">
                <a:solidFill>
                  <a:srgbClr val="9CDCFE"/>
                </a:solidFill>
                <a:latin typeface="Consolas" pitchFamily="34" charset="0"/>
                <a:ea typeface="Consolas" pitchFamily="34" charset="-122"/>
                <a:cs typeface="Consolas" pitchFamily="34" charset="-120"/>
              </a:rPr>
              <a:t>alt</a:t>
            </a:r>
            <a:r>
              <a:rPr lang="en-US" sz="900" dirty="0">
                <a:solidFill>
                  <a:srgbClr val="D4D4D4"/>
                </a:solidFill>
                <a:latin typeface="Consolas" pitchFamily="34" charset="0"/>
                <a:ea typeface="Consolas" pitchFamily="34" charset="-122"/>
                <a:cs typeface="Consolas" pitchFamily="34" charset="-120"/>
              </a:rPr>
              <a:t>=</a:t>
            </a:r>
            <a:r>
              <a:rPr lang="en-US" sz="900" dirty="0">
                <a:solidFill>
                  <a:srgbClr val="CE9178"/>
                </a:solidFill>
                <a:latin typeface="Consolas" pitchFamily="34" charset="0"/>
                <a:ea typeface="Consolas" pitchFamily="34" charset="-122"/>
                <a:cs typeface="Consolas" pitchFamily="34" charset="-120"/>
              </a:rPr>
              <a:t>"Rocky beach with calm water and a tree-lined point"</a:t>
            </a:r>
            <a:r>
              <a:rPr lang="en-US" sz="900" dirty="0">
                <a:solidFill>
                  <a:srgbClr val="808080"/>
                </a:solidFill>
                <a:latin typeface="Consolas" pitchFamily="34" charset="0"/>
                <a:ea typeface="Consolas" pitchFamily="34" charset="-122"/>
                <a:cs typeface="Consolas" pitchFamily="34" charset="-120"/>
              </a:rPr>
              <a:t>&gt;</a:t>
            </a:r>
            <a:endParaRPr lang="en-US" sz="900" dirty="0"/>
          </a:p>
          <a:p>
            <a:pPr marL="0" indent="0">
              <a:lnSpc>
                <a:spcPct val="100000"/>
              </a:lnSpc>
              <a:buNone/>
            </a:pPr>
            <a:r>
              <a:rPr lang="en-US" sz="900" dirty="0">
                <a:solidFill>
                  <a:srgbClr val="D4D4D4"/>
                </a:solidFill>
                <a:latin typeface="Consolas" pitchFamily="34" charset="0"/>
                <a:ea typeface="Consolas" pitchFamily="34" charset="-122"/>
                <a:cs typeface="Consolas" pitchFamily="34" charset="-120"/>
              </a:rPr>
              <a:t>   </a:t>
            </a:r>
            <a:r>
              <a:rPr lang="en-US" sz="900" dirty="0">
                <a:solidFill>
                  <a:srgbClr val="808080"/>
                </a:solidFill>
                <a:latin typeface="Consolas" pitchFamily="34" charset="0"/>
                <a:ea typeface="Consolas" pitchFamily="34" charset="-122"/>
                <a:cs typeface="Consolas" pitchFamily="34" charset="-120"/>
              </a:rPr>
              <a:t>&lt;</a:t>
            </a:r>
            <a:r>
              <a:rPr lang="en-US" sz="900" dirty="0">
                <a:solidFill>
                  <a:srgbClr val="569CD6"/>
                </a:solidFill>
                <a:latin typeface="Consolas" pitchFamily="34" charset="0"/>
                <a:ea typeface="Consolas" pitchFamily="34" charset="-122"/>
                <a:cs typeface="Consolas" pitchFamily="34" charset="-120"/>
              </a:rPr>
              <a:t>figcaption</a:t>
            </a:r>
            <a:r>
              <a:rPr lang="en-US" sz="900" dirty="0">
                <a:solidFill>
                  <a:srgbClr val="808080"/>
                </a:solidFill>
                <a:latin typeface="Consolas" pitchFamily="34" charset="0"/>
                <a:ea typeface="Consolas" pitchFamily="34" charset="-122"/>
                <a:cs typeface="Consolas" pitchFamily="34" charset="-120"/>
              </a:rPr>
              <a:t>&gt;</a:t>
            </a:r>
            <a:r>
              <a:rPr lang="en-US" sz="900" dirty="0">
                <a:solidFill>
                  <a:srgbClr val="D4D4D4"/>
                </a:solidFill>
                <a:latin typeface="Consolas" pitchFamily="34" charset="0"/>
                <a:ea typeface="Consolas" pitchFamily="34" charset="-122"/>
                <a:cs typeface="Consolas" pitchFamily="34" charset="-120"/>
              </a:rPr>
              <a:t>JPG, quality 75: about 92 KB</a:t>
            </a:r>
            <a:r>
              <a:rPr lang="en-US" sz="900" dirty="0">
                <a:solidFill>
                  <a:srgbClr val="808080"/>
                </a:solidFill>
                <a:latin typeface="Consolas" pitchFamily="34" charset="0"/>
                <a:ea typeface="Consolas" pitchFamily="34" charset="-122"/>
                <a:cs typeface="Consolas" pitchFamily="34" charset="-120"/>
              </a:rPr>
              <a:t>&lt;/</a:t>
            </a:r>
            <a:r>
              <a:rPr lang="en-US" sz="900" dirty="0">
                <a:solidFill>
                  <a:srgbClr val="569CD6"/>
                </a:solidFill>
                <a:latin typeface="Consolas" pitchFamily="34" charset="0"/>
                <a:ea typeface="Consolas" pitchFamily="34" charset="-122"/>
                <a:cs typeface="Consolas" pitchFamily="34" charset="-120"/>
              </a:rPr>
              <a:t>figcaption</a:t>
            </a:r>
            <a:r>
              <a:rPr lang="en-US" sz="900" dirty="0">
                <a:solidFill>
                  <a:srgbClr val="808080"/>
                </a:solidFill>
                <a:latin typeface="Consolas" pitchFamily="34" charset="0"/>
                <a:ea typeface="Consolas" pitchFamily="34" charset="-122"/>
                <a:cs typeface="Consolas" pitchFamily="34" charset="-120"/>
              </a:rPr>
              <a:t>&gt;</a:t>
            </a:r>
            <a:endParaRPr lang="en-US" sz="900" dirty="0"/>
          </a:p>
          <a:p>
            <a:pPr marL="0" indent="0">
              <a:lnSpc>
                <a:spcPct val="100000"/>
              </a:lnSpc>
              <a:buNone/>
            </a:pPr>
            <a:r>
              <a:rPr lang="en-US" sz="900" dirty="0">
                <a:solidFill>
                  <a:srgbClr val="808080"/>
                </a:solidFill>
                <a:latin typeface="Consolas" pitchFamily="34" charset="0"/>
                <a:ea typeface="Consolas" pitchFamily="34" charset="-122"/>
                <a:cs typeface="Consolas" pitchFamily="34" charset="-120"/>
              </a:rPr>
              <a:t>&lt;/</a:t>
            </a:r>
            <a:r>
              <a:rPr lang="en-US" sz="900" dirty="0">
                <a:solidFill>
                  <a:srgbClr val="569CD6"/>
                </a:solidFill>
                <a:latin typeface="Consolas" pitchFamily="34" charset="0"/>
                <a:ea typeface="Consolas" pitchFamily="34" charset="-122"/>
                <a:cs typeface="Consolas" pitchFamily="34" charset="-120"/>
              </a:rPr>
              <a:t>figure</a:t>
            </a:r>
            <a:r>
              <a:rPr lang="en-US" sz="900" dirty="0">
                <a:solidFill>
                  <a:srgbClr val="808080"/>
                </a:solidFill>
                <a:latin typeface="Consolas" pitchFamily="34" charset="0"/>
                <a:ea typeface="Consolas" pitchFamily="34" charset="-122"/>
                <a:cs typeface="Consolas" pitchFamily="34" charset="-120"/>
              </a:rPr>
              <a:t>&gt;</a:t>
            </a:r>
            <a:endParaRPr lang="en-US" sz="900" dirty="0"/>
          </a:p>
          <a:p>
            <a:pPr marL="0" indent="0">
              <a:lnSpc>
                <a:spcPct val="100000"/>
              </a:lnSpc>
              <a:buNone/>
            </a:pPr>
            <a:r>
              <a:rPr lang="en-US" sz="900" dirty="0">
                <a:solidFill>
                  <a:srgbClr val="D4D4D4"/>
                </a:solidFill>
                <a:latin typeface="Consolas" pitchFamily="34" charset="0"/>
                <a:ea typeface="Consolas" pitchFamily="34" charset="-122"/>
                <a:cs typeface="Consolas" pitchFamily="34" charset="-120"/>
              </a:rPr>
              <a:t> </a:t>
            </a:r>
            <a:endParaRPr lang="en-US" sz="900" dirty="0"/>
          </a:p>
          <a:p>
            <a:pPr marL="0" indent="0">
              <a:lnSpc>
                <a:spcPct val="100000"/>
              </a:lnSpc>
              <a:buNone/>
            </a:pPr>
            <a:r>
              <a:rPr lang="en-US" sz="900" dirty="0">
                <a:solidFill>
                  <a:srgbClr val="6A9955"/>
                </a:solidFill>
                <a:latin typeface="Consolas" pitchFamily="34" charset="0"/>
                <a:ea typeface="Consolas" pitchFamily="34" charset="-122"/>
                <a:cs typeface="Consolas" pitchFamily="34" charset="-120"/>
              </a:rPr>
              <a:t>&lt;!-- PNG: lossless. Keeps every pixel, so photos get BIG --&gt;</a:t>
            </a:r>
            <a:endParaRPr lang="en-US" sz="900" dirty="0"/>
          </a:p>
          <a:p>
            <a:pPr marL="0" indent="0">
              <a:lnSpc>
                <a:spcPct val="100000"/>
              </a:lnSpc>
              <a:buNone/>
            </a:pPr>
            <a:r>
              <a:rPr lang="en-US" sz="900" dirty="0">
                <a:solidFill>
                  <a:srgbClr val="808080"/>
                </a:solidFill>
                <a:latin typeface="Consolas" pitchFamily="34" charset="0"/>
                <a:ea typeface="Consolas" pitchFamily="34" charset="-122"/>
                <a:cs typeface="Consolas" pitchFamily="34" charset="-120"/>
              </a:rPr>
              <a:t>&lt;</a:t>
            </a:r>
            <a:r>
              <a:rPr lang="en-US" sz="900" dirty="0">
                <a:solidFill>
                  <a:srgbClr val="569CD6"/>
                </a:solidFill>
                <a:latin typeface="Consolas" pitchFamily="34" charset="0"/>
                <a:ea typeface="Consolas" pitchFamily="34" charset="-122"/>
                <a:cs typeface="Consolas" pitchFamily="34" charset="-120"/>
              </a:rPr>
              <a:t>figure</a:t>
            </a:r>
            <a:r>
              <a:rPr lang="en-US" sz="900" dirty="0">
                <a:solidFill>
                  <a:srgbClr val="808080"/>
                </a:solidFill>
                <a:latin typeface="Consolas" pitchFamily="34" charset="0"/>
                <a:ea typeface="Consolas" pitchFamily="34" charset="-122"/>
                <a:cs typeface="Consolas" pitchFamily="34" charset="-120"/>
              </a:rPr>
              <a:t>&gt;</a:t>
            </a:r>
            <a:endParaRPr lang="en-US" sz="900" dirty="0"/>
          </a:p>
          <a:p>
            <a:pPr marL="0" indent="0">
              <a:lnSpc>
                <a:spcPct val="100000"/>
              </a:lnSpc>
              <a:buNone/>
            </a:pPr>
            <a:r>
              <a:rPr lang="en-US" sz="900" dirty="0">
                <a:solidFill>
                  <a:srgbClr val="D4D4D4"/>
                </a:solidFill>
                <a:latin typeface="Consolas" pitchFamily="34" charset="0"/>
                <a:ea typeface="Consolas" pitchFamily="34" charset="-122"/>
                <a:cs typeface="Consolas" pitchFamily="34" charset="-120"/>
              </a:rPr>
              <a:t>   </a:t>
            </a:r>
            <a:r>
              <a:rPr lang="en-US" sz="900" dirty="0">
                <a:solidFill>
                  <a:srgbClr val="808080"/>
                </a:solidFill>
                <a:latin typeface="Consolas" pitchFamily="34" charset="0"/>
                <a:ea typeface="Consolas" pitchFamily="34" charset="-122"/>
                <a:cs typeface="Consolas" pitchFamily="34" charset="-120"/>
              </a:rPr>
              <a:t>&lt;</a:t>
            </a:r>
            <a:r>
              <a:rPr lang="en-US" sz="900" dirty="0">
                <a:solidFill>
                  <a:srgbClr val="569CD6"/>
                </a:solidFill>
                <a:latin typeface="Consolas" pitchFamily="34" charset="0"/>
                <a:ea typeface="Consolas" pitchFamily="34" charset="-122"/>
                <a:cs typeface="Consolas" pitchFamily="34" charset="-120"/>
              </a:rPr>
              <a:t>img</a:t>
            </a:r>
            <a:r>
              <a:rPr lang="en-US" sz="900" dirty="0">
                <a:solidFill>
                  <a:srgbClr val="D4D4D4"/>
                </a:solidFill>
                <a:latin typeface="Consolas" pitchFamily="34" charset="0"/>
                <a:ea typeface="Consolas" pitchFamily="34" charset="-122"/>
                <a:cs typeface="Consolas" pitchFamily="34" charset="-120"/>
              </a:rPr>
              <a:t> </a:t>
            </a:r>
            <a:r>
              <a:rPr lang="en-US" sz="900" dirty="0">
                <a:solidFill>
                  <a:srgbClr val="9CDCFE"/>
                </a:solidFill>
                <a:latin typeface="Consolas" pitchFamily="34" charset="0"/>
                <a:ea typeface="Consolas" pitchFamily="34" charset="-122"/>
                <a:cs typeface="Consolas" pitchFamily="34" charset="-120"/>
              </a:rPr>
              <a:t>src</a:t>
            </a:r>
            <a:r>
              <a:rPr lang="en-US" sz="900" dirty="0">
                <a:solidFill>
                  <a:srgbClr val="D4D4D4"/>
                </a:solidFill>
                <a:latin typeface="Consolas" pitchFamily="34" charset="0"/>
                <a:ea typeface="Consolas" pitchFamily="34" charset="-122"/>
                <a:cs typeface="Consolas" pitchFamily="34" charset="-120"/>
              </a:rPr>
              <a:t>=</a:t>
            </a:r>
            <a:r>
              <a:rPr lang="en-US" sz="900" dirty="0">
                <a:solidFill>
                  <a:srgbClr val="CE9178"/>
                </a:solidFill>
                <a:latin typeface="Consolas" pitchFamily="34" charset="0"/>
                <a:ea typeface="Consolas" pitchFamily="34" charset="-122"/>
                <a:cs typeface="Consolas" pitchFamily="34" charset="-120"/>
              </a:rPr>
              <a:t>"samples/beach.png"</a:t>
            </a:r>
            <a:r>
              <a:rPr lang="en-US" sz="900" dirty="0">
                <a:solidFill>
                  <a:srgbClr val="D4D4D4"/>
                </a:solidFill>
                <a:latin typeface="Consolas" pitchFamily="34" charset="0"/>
                <a:ea typeface="Consolas" pitchFamily="34" charset="-122"/>
                <a:cs typeface="Consolas" pitchFamily="34" charset="-120"/>
              </a:rPr>
              <a:t> </a:t>
            </a:r>
            <a:r>
              <a:rPr lang="en-US" sz="900" dirty="0">
                <a:solidFill>
                  <a:srgbClr val="9CDCFE"/>
                </a:solidFill>
                <a:latin typeface="Consolas" pitchFamily="34" charset="0"/>
                <a:ea typeface="Consolas" pitchFamily="34" charset="-122"/>
                <a:cs typeface="Consolas" pitchFamily="34" charset="-120"/>
              </a:rPr>
              <a:t>width</a:t>
            </a:r>
            <a:r>
              <a:rPr lang="en-US" sz="900" dirty="0">
                <a:solidFill>
                  <a:srgbClr val="D4D4D4"/>
                </a:solidFill>
                <a:latin typeface="Consolas" pitchFamily="34" charset="0"/>
                <a:ea typeface="Consolas" pitchFamily="34" charset="-122"/>
                <a:cs typeface="Consolas" pitchFamily="34" charset="-120"/>
              </a:rPr>
              <a:t>=</a:t>
            </a:r>
            <a:r>
              <a:rPr lang="en-US" sz="900" dirty="0">
                <a:solidFill>
                  <a:srgbClr val="CE9178"/>
                </a:solidFill>
                <a:latin typeface="Consolas" pitchFamily="34" charset="0"/>
                <a:ea typeface="Consolas" pitchFamily="34" charset="-122"/>
                <a:cs typeface="Consolas" pitchFamily="34" charset="-120"/>
              </a:rPr>
              <a:t>"560"</a:t>
            </a:r>
            <a:r>
              <a:rPr lang="en-US" sz="900" dirty="0">
                <a:solidFill>
                  <a:srgbClr val="D4D4D4"/>
                </a:solidFill>
                <a:latin typeface="Consolas" pitchFamily="34" charset="0"/>
                <a:ea typeface="Consolas" pitchFamily="34" charset="-122"/>
                <a:cs typeface="Consolas" pitchFamily="34" charset="-120"/>
              </a:rPr>
              <a:t> </a:t>
            </a:r>
            <a:r>
              <a:rPr lang="en-US" sz="900" dirty="0">
                <a:solidFill>
                  <a:srgbClr val="9CDCFE"/>
                </a:solidFill>
                <a:latin typeface="Consolas" pitchFamily="34" charset="0"/>
                <a:ea typeface="Consolas" pitchFamily="34" charset="-122"/>
                <a:cs typeface="Consolas" pitchFamily="34" charset="-120"/>
              </a:rPr>
              <a:t>height</a:t>
            </a:r>
            <a:r>
              <a:rPr lang="en-US" sz="900" dirty="0">
                <a:solidFill>
                  <a:srgbClr val="D4D4D4"/>
                </a:solidFill>
                <a:latin typeface="Consolas" pitchFamily="34" charset="0"/>
                <a:ea typeface="Consolas" pitchFamily="34" charset="-122"/>
                <a:cs typeface="Consolas" pitchFamily="34" charset="-120"/>
              </a:rPr>
              <a:t>=</a:t>
            </a:r>
            <a:r>
              <a:rPr lang="en-US" sz="900" dirty="0">
                <a:solidFill>
                  <a:srgbClr val="CE9178"/>
                </a:solidFill>
                <a:latin typeface="Consolas" pitchFamily="34" charset="0"/>
                <a:ea typeface="Consolas" pitchFamily="34" charset="-122"/>
                <a:cs typeface="Consolas" pitchFamily="34" charset="-120"/>
              </a:rPr>
              <a:t>"320"</a:t>
            </a:r>
            <a:endParaRPr lang="en-US" sz="900" dirty="0"/>
          </a:p>
          <a:p>
            <a:pPr marL="0" indent="0">
              <a:lnSpc>
                <a:spcPct val="100000"/>
              </a:lnSpc>
              <a:buNone/>
            </a:pPr>
            <a:r>
              <a:rPr lang="en-US" sz="900" dirty="0">
                <a:solidFill>
                  <a:srgbClr val="D4D4D4"/>
                </a:solidFill>
                <a:latin typeface="Consolas" pitchFamily="34" charset="0"/>
                <a:ea typeface="Consolas" pitchFamily="34" charset="-122"/>
                <a:cs typeface="Consolas" pitchFamily="34" charset="-120"/>
              </a:rPr>
              <a:t>      </a:t>
            </a:r>
            <a:r>
              <a:rPr lang="en-US" sz="900" dirty="0">
                <a:solidFill>
                  <a:srgbClr val="9CDCFE"/>
                </a:solidFill>
                <a:latin typeface="Consolas" pitchFamily="34" charset="0"/>
                <a:ea typeface="Consolas" pitchFamily="34" charset="-122"/>
                <a:cs typeface="Consolas" pitchFamily="34" charset="-120"/>
              </a:rPr>
              <a:t>alt</a:t>
            </a:r>
            <a:r>
              <a:rPr lang="en-US" sz="900" dirty="0">
                <a:solidFill>
                  <a:srgbClr val="D4D4D4"/>
                </a:solidFill>
                <a:latin typeface="Consolas" pitchFamily="34" charset="0"/>
                <a:ea typeface="Consolas" pitchFamily="34" charset="-122"/>
                <a:cs typeface="Consolas" pitchFamily="34" charset="-120"/>
              </a:rPr>
              <a:t>=</a:t>
            </a:r>
            <a:r>
              <a:rPr lang="en-US" sz="900" dirty="0">
                <a:solidFill>
                  <a:srgbClr val="CE9178"/>
                </a:solidFill>
                <a:latin typeface="Consolas" pitchFamily="34" charset="0"/>
                <a:ea typeface="Consolas" pitchFamily="34" charset="-122"/>
                <a:cs typeface="Consolas" pitchFamily="34" charset="-120"/>
              </a:rPr>
              <a:t>"Rocky beach with calm water and a tree-lined point"</a:t>
            </a:r>
            <a:r>
              <a:rPr lang="en-US" sz="900" dirty="0">
                <a:solidFill>
                  <a:srgbClr val="808080"/>
                </a:solidFill>
                <a:latin typeface="Consolas" pitchFamily="34" charset="0"/>
                <a:ea typeface="Consolas" pitchFamily="34" charset="-122"/>
                <a:cs typeface="Consolas" pitchFamily="34" charset="-120"/>
              </a:rPr>
              <a:t>&gt;</a:t>
            </a:r>
            <a:endParaRPr lang="en-US" sz="900" dirty="0"/>
          </a:p>
          <a:p>
            <a:pPr marL="0" indent="0">
              <a:lnSpc>
                <a:spcPct val="100000"/>
              </a:lnSpc>
              <a:buNone/>
            </a:pPr>
            <a:r>
              <a:rPr lang="en-US" sz="900" dirty="0">
                <a:solidFill>
                  <a:srgbClr val="D4D4D4"/>
                </a:solidFill>
                <a:latin typeface="Consolas" pitchFamily="34" charset="0"/>
                <a:ea typeface="Consolas" pitchFamily="34" charset="-122"/>
                <a:cs typeface="Consolas" pitchFamily="34" charset="-120"/>
              </a:rPr>
              <a:t>   </a:t>
            </a:r>
            <a:r>
              <a:rPr lang="en-US" sz="900" dirty="0">
                <a:solidFill>
                  <a:srgbClr val="808080"/>
                </a:solidFill>
                <a:latin typeface="Consolas" pitchFamily="34" charset="0"/>
                <a:ea typeface="Consolas" pitchFamily="34" charset="-122"/>
                <a:cs typeface="Consolas" pitchFamily="34" charset="-120"/>
              </a:rPr>
              <a:t>&lt;</a:t>
            </a:r>
            <a:r>
              <a:rPr lang="en-US" sz="900" dirty="0">
                <a:solidFill>
                  <a:srgbClr val="569CD6"/>
                </a:solidFill>
                <a:latin typeface="Consolas" pitchFamily="34" charset="0"/>
                <a:ea typeface="Consolas" pitchFamily="34" charset="-122"/>
                <a:cs typeface="Consolas" pitchFamily="34" charset="-120"/>
              </a:rPr>
              <a:t>figcaption</a:t>
            </a:r>
            <a:r>
              <a:rPr lang="en-US" sz="900" dirty="0">
                <a:solidFill>
                  <a:srgbClr val="808080"/>
                </a:solidFill>
                <a:latin typeface="Consolas" pitchFamily="34" charset="0"/>
                <a:ea typeface="Consolas" pitchFamily="34" charset="-122"/>
                <a:cs typeface="Consolas" pitchFamily="34" charset="-120"/>
              </a:rPr>
              <a:t>&gt;</a:t>
            </a:r>
            <a:r>
              <a:rPr lang="en-US" sz="900" dirty="0">
                <a:solidFill>
                  <a:srgbClr val="D4D4D4"/>
                </a:solidFill>
                <a:latin typeface="Consolas" pitchFamily="34" charset="0"/>
                <a:ea typeface="Consolas" pitchFamily="34" charset="-122"/>
                <a:cs typeface="Consolas" pitchFamily="34" charset="-120"/>
              </a:rPr>
              <a:t>PNG: about 978 KB (10</a:t>
            </a:r>
            <a:r>
              <a:rPr lang="en-US" sz="900" dirty="0">
                <a:solidFill>
                  <a:srgbClr val="D7BA7D"/>
                </a:solidFill>
                <a:latin typeface="Consolas" pitchFamily="34" charset="0"/>
                <a:ea typeface="Consolas" pitchFamily="34" charset="-122"/>
                <a:cs typeface="Consolas" pitchFamily="34" charset="-120"/>
              </a:rPr>
              <a:t>&amp;times;</a:t>
            </a:r>
            <a:r>
              <a:rPr lang="en-US" sz="900" dirty="0">
                <a:solidFill>
                  <a:srgbClr val="D4D4D4"/>
                </a:solidFill>
                <a:latin typeface="Consolas" pitchFamily="34" charset="0"/>
                <a:ea typeface="Consolas" pitchFamily="34" charset="-122"/>
                <a:cs typeface="Consolas" pitchFamily="34" charset="-120"/>
              </a:rPr>
              <a:t> bigger, and it looks the same)</a:t>
            </a:r>
            <a:r>
              <a:rPr lang="en-US" sz="900" dirty="0">
                <a:solidFill>
                  <a:srgbClr val="808080"/>
                </a:solidFill>
                <a:latin typeface="Consolas" pitchFamily="34" charset="0"/>
                <a:ea typeface="Consolas" pitchFamily="34" charset="-122"/>
                <a:cs typeface="Consolas" pitchFamily="34" charset="-120"/>
              </a:rPr>
              <a:t>&lt;/</a:t>
            </a:r>
            <a:r>
              <a:rPr lang="en-US" sz="900" dirty="0">
                <a:solidFill>
                  <a:srgbClr val="569CD6"/>
                </a:solidFill>
                <a:latin typeface="Consolas" pitchFamily="34" charset="0"/>
                <a:ea typeface="Consolas" pitchFamily="34" charset="-122"/>
                <a:cs typeface="Consolas" pitchFamily="34" charset="-120"/>
              </a:rPr>
              <a:t>figcaption</a:t>
            </a:r>
            <a:r>
              <a:rPr lang="en-US" sz="900" dirty="0">
                <a:solidFill>
                  <a:srgbClr val="808080"/>
                </a:solidFill>
                <a:latin typeface="Consolas" pitchFamily="34" charset="0"/>
                <a:ea typeface="Consolas" pitchFamily="34" charset="-122"/>
                <a:cs typeface="Consolas" pitchFamily="34" charset="-120"/>
              </a:rPr>
              <a:t>&gt;</a:t>
            </a:r>
            <a:endParaRPr lang="en-US" sz="900" dirty="0"/>
          </a:p>
          <a:p>
            <a:pPr marL="0" indent="0">
              <a:lnSpc>
                <a:spcPct val="100000"/>
              </a:lnSpc>
              <a:buNone/>
            </a:pPr>
            <a:r>
              <a:rPr lang="en-US" sz="900" dirty="0">
                <a:solidFill>
                  <a:srgbClr val="808080"/>
                </a:solidFill>
                <a:latin typeface="Consolas" pitchFamily="34" charset="0"/>
                <a:ea typeface="Consolas" pitchFamily="34" charset="-122"/>
                <a:cs typeface="Consolas" pitchFamily="34" charset="-120"/>
              </a:rPr>
              <a:t>&lt;/</a:t>
            </a:r>
            <a:r>
              <a:rPr lang="en-US" sz="900" dirty="0">
                <a:solidFill>
                  <a:srgbClr val="569CD6"/>
                </a:solidFill>
                <a:latin typeface="Consolas" pitchFamily="34" charset="0"/>
                <a:ea typeface="Consolas" pitchFamily="34" charset="-122"/>
                <a:cs typeface="Consolas" pitchFamily="34" charset="-120"/>
              </a:rPr>
              <a:t>figure</a:t>
            </a:r>
            <a:r>
              <a:rPr lang="en-US" sz="900" dirty="0">
                <a:solidFill>
                  <a:srgbClr val="808080"/>
                </a:solidFill>
                <a:latin typeface="Consolas" pitchFamily="34" charset="0"/>
                <a:ea typeface="Consolas" pitchFamily="34" charset="-122"/>
                <a:cs typeface="Consolas" pitchFamily="34" charset="-120"/>
              </a:rPr>
              <a:t>&gt;</a:t>
            </a:r>
            <a:endParaRPr lang="en-US" sz="900" dirty="0"/>
          </a:p>
          <a:p>
            <a:pPr marL="0" indent="0">
              <a:lnSpc>
                <a:spcPct val="100000"/>
              </a:lnSpc>
              <a:buNone/>
            </a:pPr>
            <a:r>
              <a:rPr lang="en-US" sz="900" dirty="0">
                <a:solidFill>
                  <a:srgbClr val="D4D4D4"/>
                </a:solidFill>
                <a:latin typeface="Consolas" pitchFamily="34" charset="0"/>
                <a:ea typeface="Consolas" pitchFamily="34" charset="-122"/>
                <a:cs typeface="Consolas" pitchFamily="34" charset="-120"/>
              </a:rPr>
              <a:t> </a:t>
            </a:r>
            <a:endParaRPr lang="en-US" sz="900" dirty="0"/>
          </a:p>
          <a:p>
            <a:pPr marL="0" indent="0">
              <a:lnSpc>
                <a:spcPct val="100000"/>
              </a:lnSpc>
              <a:buNone/>
            </a:pPr>
            <a:r>
              <a:rPr lang="en-US" sz="900" dirty="0">
                <a:solidFill>
                  <a:srgbClr val="6A9955"/>
                </a:solidFill>
                <a:latin typeface="Consolas" pitchFamily="34" charset="0"/>
                <a:ea typeface="Consolas" pitchFamily="34" charset="-122"/>
                <a:cs typeface="Consolas" pitchFamily="34" charset="-120"/>
              </a:rPr>
              <a:t>&lt;!-- GIF: only 256 colours. Look at the sky for colour bands --&gt;</a:t>
            </a:r>
            <a:endParaRPr lang="en-US" sz="900" dirty="0"/>
          </a:p>
          <a:p>
            <a:pPr marL="0" indent="0">
              <a:lnSpc>
                <a:spcPct val="100000"/>
              </a:lnSpc>
              <a:buNone/>
            </a:pPr>
            <a:r>
              <a:rPr lang="en-US" sz="900" dirty="0">
                <a:solidFill>
                  <a:srgbClr val="808080"/>
                </a:solidFill>
                <a:latin typeface="Consolas" pitchFamily="34" charset="0"/>
                <a:ea typeface="Consolas" pitchFamily="34" charset="-122"/>
                <a:cs typeface="Consolas" pitchFamily="34" charset="-120"/>
              </a:rPr>
              <a:t>&lt;</a:t>
            </a:r>
            <a:r>
              <a:rPr lang="en-US" sz="900" dirty="0">
                <a:solidFill>
                  <a:srgbClr val="569CD6"/>
                </a:solidFill>
                <a:latin typeface="Consolas" pitchFamily="34" charset="0"/>
                <a:ea typeface="Consolas" pitchFamily="34" charset="-122"/>
                <a:cs typeface="Consolas" pitchFamily="34" charset="-120"/>
              </a:rPr>
              <a:t>figure</a:t>
            </a:r>
            <a:r>
              <a:rPr lang="en-US" sz="900" dirty="0">
                <a:solidFill>
                  <a:srgbClr val="808080"/>
                </a:solidFill>
                <a:latin typeface="Consolas" pitchFamily="34" charset="0"/>
                <a:ea typeface="Consolas" pitchFamily="34" charset="-122"/>
                <a:cs typeface="Consolas" pitchFamily="34" charset="-120"/>
              </a:rPr>
              <a:t>&gt;</a:t>
            </a:r>
            <a:endParaRPr lang="en-US" sz="900" dirty="0"/>
          </a:p>
          <a:p>
            <a:pPr marL="0" indent="0">
              <a:lnSpc>
                <a:spcPct val="100000"/>
              </a:lnSpc>
              <a:buNone/>
            </a:pPr>
            <a:r>
              <a:rPr lang="en-US" sz="900" dirty="0">
                <a:solidFill>
                  <a:srgbClr val="D4D4D4"/>
                </a:solidFill>
                <a:latin typeface="Consolas" pitchFamily="34" charset="0"/>
                <a:ea typeface="Consolas" pitchFamily="34" charset="-122"/>
                <a:cs typeface="Consolas" pitchFamily="34" charset="-120"/>
              </a:rPr>
              <a:t>   </a:t>
            </a:r>
            <a:r>
              <a:rPr lang="en-US" sz="900" dirty="0">
                <a:solidFill>
                  <a:srgbClr val="808080"/>
                </a:solidFill>
                <a:latin typeface="Consolas" pitchFamily="34" charset="0"/>
                <a:ea typeface="Consolas" pitchFamily="34" charset="-122"/>
                <a:cs typeface="Consolas" pitchFamily="34" charset="-120"/>
              </a:rPr>
              <a:t>&lt;</a:t>
            </a:r>
            <a:r>
              <a:rPr lang="en-US" sz="900" dirty="0">
                <a:solidFill>
                  <a:srgbClr val="569CD6"/>
                </a:solidFill>
                <a:latin typeface="Consolas" pitchFamily="34" charset="0"/>
                <a:ea typeface="Consolas" pitchFamily="34" charset="-122"/>
                <a:cs typeface="Consolas" pitchFamily="34" charset="-120"/>
              </a:rPr>
              <a:t>img</a:t>
            </a:r>
            <a:r>
              <a:rPr lang="en-US" sz="900" dirty="0">
                <a:solidFill>
                  <a:srgbClr val="D4D4D4"/>
                </a:solidFill>
                <a:latin typeface="Consolas" pitchFamily="34" charset="0"/>
                <a:ea typeface="Consolas" pitchFamily="34" charset="-122"/>
                <a:cs typeface="Consolas" pitchFamily="34" charset="-120"/>
              </a:rPr>
              <a:t> </a:t>
            </a:r>
            <a:r>
              <a:rPr lang="en-US" sz="900" dirty="0">
                <a:solidFill>
                  <a:srgbClr val="9CDCFE"/>
                </a:solidFill>
                <a:latin typeface="Consolas" pitchFamily="34" charset="0"/>
                <a:ea typeface="Consolas" pitchFamily="34" charset="-122"/>
                <a:cs typeface="Consolas" pitchFamily="34" charset="-120"/>
              </a:rPr>
              <a:t>src</a:t>
            </a:r>
            <a:r>
              <a:rPr lang="en-US" sz="900" dirty="0">
                <a:solidFill>
                  <a:srgbClr val="D4D4D4"/>
                </a:solidFill>
                <a:latin typeface="Consolas" pitchFamily="34" charset="0"/>
                <a:ea typeface="Consolas" pitchFamily="34" charset="-122"/>
                <a:cs typeface="Consolas" pitchFamily="34" charset="-120"/>
              </a:rPr>
              <a:t>=</a:t>
            </a:r>
            <a:r>
              <a:rPr lang="en-US" sz="900" dirty="0">
                <a:solidFill>
                  <a:srgbClr val="CE9178"/>
                </a:solidFill>
                <a:latin typeface="Consolas" pitchFamily="34" charset="0"/>
                <a:ea typeface="Consolas" pitchFamily="34" charset="-122"/>
                <a:cs typeface="Consolas" pitchFamily="34" charset="-120"/>
              </a:rPr>
              <a:t>"samples/beach.gif"</a:t>
            </a:r>
            <a:r>
              <a:rPr lang="en-US" sz="900" dirty="0">
                <a:solidFill>
                  <a:srgbClr val="D4D4D4"/>
                </a:solidFill>
                <a:latin typeface="Consolas" pitchFamily="34" charset="0"/>
                <a:ea typeface="Consolas" pitchFamily="34" charset="-122"/>
                <a:cs typeface="Consolas" pitchFamily="34" charset="-120"/>
              </a:rPr>
              <a:t> </a:t>
            </a:r>
            <a:r>
              <a:rPr lang="en-US" sz="900" dirty="0">
                <a:solidFill>
                  <a:srgbClr val="9CDCFE"/>
                </a:solidFill>
                <a:latin typeface="Consolas" pitchFamily="34" charset="0"/>
                <a:ea typeface="Consolas" pitchFamily="34" charset="-122"/>
                <a:cs typeface="Consolas" pitchFamily="34" charset="-120"/>
              </a:rPr>
              <a:t>width</a:t>
            </a:r>
            <a:r>
              <a:rPr lang="en-US" sz="900" dirty="0">
                <a:solidFill>
                  <a:srgbClr val="D4D4D4"/>
                </a:solidFill>
                <a:latin typeface="Consolas" pitchFamily="34" charset="0"/>
                <a:ea typeface="Consolas" pitchFamily="34" charset="-122"/>
                <a:cs typeface="Consolas" pitchFamily="34" charset="-120"/>
              </a:rPr>
              <a:t>=</a:t>
            </a:r>
            <a:r>
              <a:rPr lang="en-US" sz="900" dirty="0">
                <a:solidFill>
                  <a:srgbClr val="CE9178"/>
                </a:solidFill>
                <a:latin typeface="Consolas" pitchFamily="34" charset="0"/>
                <a:ea typeface="Consolas" pitchFamily="34" charset="-122"/>
                <a:cs typeface="Consolas" pitchFamily="34" charset="-120"/>
              </a:rPr>
              <a:t>"560"</a:t>
            </a:r>
            <a:r>
              <a:rPr lang="en-US" sz="900" dirty="0">
                <a:solidFill>
                  <a:srgbClr val="D4D4D4"/>
                </a:solidFill>
                <a:latin typeface="Consolas" pitchFamily="34" charset="0"/>
                <a:ea typeface="Consolas" pitchFamily="34" charset="-122"/>
                <a:cs typeface="Consolas" pitchFamily="34" charset="-120"/>
              </a:rPr>
              <a:t> </a:t>
            </a:r>
            <a:r>
              <a:rPr lang="en-US" sz="900" dirty="0">
                <a:solidFill>
                  <a:srgbClr val="9CDCFE"/>
                </a:solidFill>
                <a:latin typeface="Consolas" pitchFamily="34" charset="0"/>
                <a:ea typeface="Consolas" pitchFamily="34" charset="-122"/>
                <a:cs typeface="Consolas" pitchFamily="34" charset="-120"/>
              </a:rPr>
              <a:t>height</a:t>
            </a:r>
            <a:r>
              <a:rPr lang="en-US" sz="900" dirty="0">
                <a:solidFill>
                  <a:srgbClr val="D4D4D4"/>
                </a:solidFill>
                <a:latin typeface="Consolas" pitchFamily="34" charset="0"/>
                <a:ea typeface="Consolas" pitchFamily="34" charset="-122"/>
                <a:cs typeface="Consolas" pitchFamily="34" charset="-120"/>
              </a:rPr>
              <a:t>=</a:t>
            </a:r>
            <a:r>
              <a:rPr lang="en-US" sz="900" dirty="0">
                <a:solidFill>
                  <a:srgbClr val="CE9178"/>
                </a:solidFill>
                <a:latin typeface="Consolas" pitchFamily="34" charset="0"/>
                <a:ea typeface="Consolas" pitchFamily="34" charset="-122"/>
                <a:cs typeface="Consolas" pitchFamily="34" charset="-120"/>
              </a:rPr>
              <a:t>"320"</a:t>
            </a:r>
            <a:endParaRPr lang="en-US" sz="900" dirty="0"/>
          </a:p>
          <a:p>
            <a:pPr marL="0" indent="0">
              <a:lnSpc>
                <a:spcPct val="100000"/>
              </a:lnSpc>
              <a:buNone/>
            </a:pPr>
            <a:r>
              <a:rPr lang="en-US" sz="900" dirty="0">
                <a:solidFill>
                  <a:srgbClr val="D4D4D4"/>
                </a:solidFill>
                <a:latin typeface="Consolas" pitchFamily="34" charset="0"/>
                <a:ea typeface="Consolas" pitchFamily="34" charset="-122"/>
                <a:cs typeface="Consolas" pitchFamily="34" charset="-120"/>
              </a:rPr>
              <a:t>      </a:t>
            </a:r>
            <a:r>
              <a:rPr lang="en-US" sz="900" dirty="0">
                <a:solidFill>
                  <a:srgbClr val="9CDCFE"/>
                </a:solidFill>
                <a:latin typeface="Consolas" pitchFamily="34" charset="0"/>
                <a:ea typeface="Consolas" pitchFamily="34" charset="-122"/>
                <a:cs typeface="Consolas" pitchFamily="34" charset="-120"/>
              </a:rPr>
              <a:t>alt</a:t>
            </a:r>
            <a:r>
              <a:rPr lang="en-US" sz="900" dirty="0">
                <a:solidFill>
                  <a:srgbClr val="D4D4D4"/>
                </a:solidFill>
                <a:latin typeface="Consolas" pitchFamily="34" charset="0"/>
                <a:ea typeface="Consolas" pitchFamily="34" charset="-122"/>
                <a:cs typeface="Consolas" pitchFamily="34" charset="-120"/>
              </a:rPr>
              <a:t>=</a:t>
            </a:r>
            <a:r>
              <a:rPr lang="en-US" sz="900" dirty="0">
                <a:solidFill>
                  <a:srgbClr val="CE9178"/>
                </a:solidFill>
                <a:latin typeface="Consolas" pitchFamily="34" charset="0"/>
                <a:ea typeface="Consolas" pitchFamily="34" charset="-122"/>
                <a:cs typeface="Consolas" pitchFamily="34" charset="-120"/>
              </a:rPr>
              <a:t>"Rocky beach with calm water and a tree-lined point"</a:t>
            </a:r>
            <a:r>
              <a:rPr lang="en-US" sz="900" dirty="0">
                <a:solidFill>
                  <a:srgbClr val="808080"/>
                </a:solidFill>
                <a:latin typeface="Consolas" pitchFamily="34" charset="0"/>
                <a:ea typeface="Consolas" pitchFamily="34" charset="-122"/>
                <a:cs typeface="Consolas" pitchFamily="34" charset="-120"/>
              </a:rPr>
              <a:t>&gt;</a:t>
            </a:r>
            <a:endParaRPr lang="en-US" sz="900" dirty="0"/>
          </a:p>
          <a:p>
            <a:pPr marL="0" indent="0">
              <a:lnSpc>
                <a:spcPct val="100000"/>
              </a:lnSpc>
              <a:buNone/>
            </a:pPr>
            <a:r>
              <a:rPr lang="en-US" sz="900" dirty="0">
                <a:solidFill>
                  <a:srgbClr val="D4D4D4"/>
                </a:solidFill>
                <a:latin typeface="Consolas" pitchFamily="34" charset="0"/>
                <a:ea typeface="Consolas" pitchFamily="34" charset="-122"/>
                <a:cs typeface="Consolas" pitchFamily="34" charset="-120"/>
              </a:rPr>
              <a:t>   </a:t>
            </a:r>
            <a:r>
              <a:rPr lang="en-US" sz="900" dirty="0">
                <a:solidFill>
                  <a:srgbClr val="808080"/>
                </a:solidFill>
                <a:latin typeface="Consolas" pitchFamily="34" charset="0"/>
                <a:ea typeface="Consolas" pitchFamily="34" charset="-122"/>
                <a:cs typeface="Consolas" pitchFamily="34" charset="-120"/>
              </a:rPr>
              <a:t>&lt;</a:t>
            </a:r>
            <a:r>
              <a:rPr lang="en-US" sz="900" dirty="0">
                <a:solidFill>
                  <a:srgbClr val="569CD6"/>
                </a:solidFill>
                <a:latin typeface="Consolas" pitchFamily="34" charset="0"/>
                <a:ea typeface="Consolas" pitchFamily="34" charset="-122"/>
                <a:cs typeface="Consolas" pitchFamily="34" charset="-120"/>
              </a:rPr>
              <a:t>figcaption</a:t>
            </a:r>
            <a:r>
              <a:rPr lang="en-US" sz="900" dirty="0">
                <a:solidFill>
                  <a:srgbClr val="808080"/>
                </a:solidFill>
                <a:latin typeface="Consolas" pitchFamily="34" charset="0"/>
                <a:ea typeface="Consolas" pitchFamily="34" charset="-122"/>
                <a:cs typeface="Consolas" pitchFamily="34" charset="-120"/>
              </a:rPr>
              <a:t>&gt;</a:t>
            </a:r>
            <a:r>
              <a:rPr lang="en-US" sz="900" dirty="0">
                <a:solidFill>
                  <a:srgbClr val="D4D4D4"/>
                </a:solidFill>
                <a:latin typeface="Consolas" pitchFamily="34" charset="0"/>
                <a:ea typeface="Consolas" pitchFamily="34" charset="-122"/>
                <a:cs typeface="Consolas" pitchFamily="34" charset="-120"/>
              </a:rPr>
              <a:t>GIF, 256 colours: about 407 KB (look at the sky)</a:t>
            </a:r>
            <a:r>
              <a:rPr lang="en-US" sz="900" dirty="0">
                <a:solidFill>
                  <a:srgbClr val="808080"/>
                </a:solidFill>
                <a:latin typeface="Consolas" pitchFamily="34" charset="0"/>
                <a:ea typeface="Consolas" pitchFamily="34" charset="-122"/>
                <a:cs typeface="Consolas" pitchFamily="34" charset="-120"/>
              </a:rPr>
              <a:t>&lt;/</a:t>
            </a:r>
            <a:r>
              <a:rPr lang="en-US" sz="900" dirty="0">
                <a:solidFill>
                  <a:srgbClr val="569CD6"/>
                </a:solidFill>
                <a:latin typeface="Consolas" pitchFamily="34" charset="0"/>
                <a:ea typeface="Consolas" pitchFamily="34" charset="-122"/>
                <a:cs typeface="Consolas" pitchFamily="34" charset="-120"/>
              </a:rPr>
              <a:t>figcaption</a:t>
            </a:r>
            <a:r>
              <a:rPr lang="en-US" sz="900" dirty="0">
                <a:solidFill>
                  <a:srgbClr val="808080"/>
                </a:solidFill>
                <a:latin typeface="Consolas" pitchFamily="34" charset="0"/>
                <a:ea typeface="Consolas" pitchFamily="34" charset="-122"/>
                <a:cs typeface="Consolas" pitchFamily="34" charset="-120"/>
              </a:rPr>
              <a:t>&gt;</a:t>
            </a:r>
            <a:endParaRPr lang="en-US" sz="900" dirty="0"/>
          </a:p>
          <a:p>
            <a:pPr marL="0" indent="0">
              <a:lnSpc>
                <a:spcPct val="100000"/>
              </a:lnSpc>
              <a:buNone/>
            </a:pPr>
            <a:r>
              <a:rPr lang="en-US" sz="900" dirty="0">
                <a:solidFill>
                  <a:srgbClr val="808080"/>
                </a:solidFill>
                <a:latin typeface="Consolas" pitchFamily="34" charset="0"/>
                <a:ea typeface="Consolas" pitchFamily="34" charset="-122"/>
                <a:cs typeface="Consolas" pitchFamily="34" charset="-120"/>
              </a:rPr>
              <a:t>&lt;/</a:t>
            </a:r>
            <a:r>
              <a:rPr lang="en-US" sz="900" dirty="0">
                <a:solidFill>
                  <a:srgbClr val="569CD6"/>
                </a:solidFill>
                <a:latin typeface="Consolas" pitchFamily="34" charset="0"/>
                <a:ea typeface="Consolas" pitchFamily="34" charset="-122"/>
                <a:cs typeface="Consolas" pitchFamily="34" charset="-120"/>
              </a:rPr>
              <a:t>figure</a:t>
            </a:r>
            <a:r>
              <a:rPr lang="en-US" sz="900" dirty="0">
                <a:solidFill>
                  <a:srgbClr val="808080"/>
                </a:solidFill>
                <a:latin typeface="Consolas" pitchFamily="34" charset="0"/>
                <a:ea typeface="Consolas" pitchFamily="34" charset="-122"/>
                <a:cs typeface="Consolas" pitchFamily="34" charset="-120"/>
              </a:rPr>
              <a:t>&gt;</a:t>
            </a:r>
            <a:endParaRPr lang="en-US" sz="900" dirty="0"/>
          </a:p>
          <a:p>
            <a:pPr marL="0" indent="0">
              <a:lnSpc>
                <a:spcPct val="100000"/>
              </a:lnSpc>
              <a:buNone/>
            </a:pPr>
            <a:r>
              <a:rPr lang="en-US" sz="900" dirty="0">
                <a:solidFill>
                  <a:srgbClr val="D4D4D4"/>
                </a:solidFill>
                <a:latin typeface="Consolas" pitchFamily="34" charset="0"/>
                <a:ea typeface="Consolas" pitchFamily="34" charset="-122"/>
                <a:cs typeface="Consolas" pitchFamily="34" charset="-120"/>
              </a:rPr>
              <a:t> </a:t>
            </a:r>
            <a:endParaRPr lang="en-US" sz="900" dirty="0"/>
          </a:p>
          <a:p>
            <a:pPr marL="0" indent="0">
              <a:lnSpc>
                <a:spcPct val="100000"/>
              </a:lnSpc>
              <a:buNone/>
            </a:pPr>
            <a:r>
              <a:rPr lang="en-US" sz="900" dirty="0">
                <a:solidFill>
                  <a:srgbClr val="6A9955"/>
                </a:solidFill>
                <a:latin typeface="Consolas" pitchFamily="34" charset="0"/>
                <a:ea typeface="Consolas" pitchFamily="34" charset="-122"/>
                <a:cs typeface="Consolas" pitchFamily="34" charset="-120"/>
              </a:rPr>
              <a:t>&lt;!-- WebP: modern. Works in every current browser --&gt;</a:t>
            </a:r>
            <a:endParaRPr lang="en-US" sz="900" dirty="0"/>
          </a:p>
          <a:p>
            <a:pPr marL="0" indent="0">
              <a:lnSpc>
                <a:spcPct val="100000"/>
              </a:lnSpc>
              <a:buNone/>
            </a:pPr>
            <a:r>
              <a:rPr lang="en-US" sz="900" dirty="0">
                <a:solidFill>
                  <a:srgbClr val="808080"/>
                </a:solidFill>
                <a:latin typeface="Consolas" pitchFamily="34" charset="0"/>
                <a:ea typeface="Consolas" pitchFamily="34" charset="-122"/>
                <a:cs typeface="Consolas" pitchFamily="34" charset="-120"/>
              </a:rPr>
              <a:t>&lt;</a:t>
            </a:r>
            <a:r>
              <a:rPr lang="en-US" sz="900" dirty="0">
                <a:solidFill>
                  <a:srgbClr val="569CD6"/>
                </a:solidFill>
                <a:latin typeface="Consolas" pitchFamily="34" charset="0"/>
                <a:ea typeface="Consolas" pitchFamily="34" charset="-122"/>
                <a:cs typeface="Consolas" pitchFamily="34" charset="-120"/>
              </a:rPr>
              <a:t>figure</a:t>
            </a:r>
            <a:r>
              <a:rPr lang="en-US" sz="900" dirty="0">
                <a:solidFill>
                  <a:srgbClr val="808080"/>
                </a:solidFill>
                <a:latin typeface="Consolas" pitchFamily="34" charset="0"/>
                <a:ea typeface="Consolas" pitchFamily="34" charset="-122"/>
                <a:cs typeface="Consolas" pitchFamily="34" charset="-120"/>
              </a:rPr>
              <a:t>&gt;</a:t>
            </a:r>
            <a:endParaRPr lang="en-US" sz="900" dirty="0"/>
          </a:p>
          <a:p>
            <a:pPr marL="0" indent="0">
              <a:lnSpc>
                <a:spcPct val="100000"/>
              </a:lnSpc>
              <a:buNone/>
            </a:pPr>
            <a:r>
              <a:rPr lang="en-US" sz="900" dirty="0">
                <a:solidFill>
                  <a:srgbClr val="D4D4D4"/>
                </a:solidFill>
                <a:latin typeface="Consolas" pitchFamily="34" charset="0"/>
                <a:ea typeface="Consolas" pitchFamily="34" charset="-122"/>
                <a:cs typeface="Consolas" pitchFamily="34" charset="-120"/>
              </a:rPr>
              <a:t>   </a:t>
            </a:r>
            <a:r>
              <a:rPr lang="en-US" sz="900" dirty="0">
                <a:solidFill>
                  <a:srgbClr val="808080"/>
                </a:solidFill>
                <a:latin typeface="Consolas" pitchFamily="34" charset="0"/>
                <a:ea typeface="Consolas" pitchFamily="34" charset="-122"/>
                <a:cs typeface="Consolas" pitchFamily="34" charset="-120"/>
              </a:rPr>
              <a:t>&lt;</a:t>
            </a:r>
            <a:r>
              <a:rPr lang="en-US" sz="900" dirty="0">
                <a:solidFill>
                  <a:srgbClr val="569CD6"/>
                </a:solidFill>
                <a:latin typeface="Consolas" pitchFamily="34" charset="0"/>
                <a:ea typeface="Consolas" pitchFamily="34" charset="-122"/>
                <a:cs typeface="Consolas" pitchFamily="34" charset="-120"/>
              </a:rPr>
              <a:t>img</a:t>
            </a:r>
            <a:r>
              <a:rPr lang="en-US" sz="900" dirty="0">
                <a:solidFill>
                  <a:srgbClr val="D4D4D4"/>
                </a:solidFill>
                <a:latin typeface="Consolas" pitchFamily="34" charset="0"/>
                <a:ea typeface="Consolas" pitchFamily="34" charset="-122"/>
                <a:cs typeface="Consolas" pitchFamily="34" charset="-120"/>
              </a:rPr>
              <a:t> </a:t>
            </a:r>
            <a:r>
              <a:rPr lang="en-US" sz="900" dirty="0">
                <a:solidFill>
                  <a:srgbClr val="9CDCFE"/>
                </a:solidFill>
                <a:latin typeface="Consolas" pitchFamily="34" charset="0"/>
                <a:ea typeface="Consolas" pitchFamily="34" charset="-122"/>
                <a:cs typeface="Consolas" pitchFamily="34" charset="-120"/>
              </a:rPr>
              <a:t>src</a:t>
            </a:r>
            <a:r>
              <a:rPr lang="en-US" sz="900" dirty="0">
                <a:solidFill>
                  <a:srgbClr val="D4D4D4"/>
                </a:solidFill>
                <a:latin typeface="Consolas" pitchFamily="34" charset="0"/>
                <a:ea typeface="Consolas" pitchFamily="34" charset="-122"/>
                <a:cs typeface="Consolas" pitchFamily="34" charset="-120"/>
              </a:rPr>
              <a:t>=</a:t>
            </a:r>
            <a:r>
              <a:rPr lang="en-US" sz="900" dirty="0">
                <a:solidFill>
                  <a:srgbClr val="CE9178"/>
                </a:solidFill>
                <a:latin typeface="Consolas" pitchFamily="34" charset="0"/>
                <a:ea typeface="Consolas" pitchFamily="34" charset="-122"/>
                <a:cs typeface="Consolas" pitchFamily="34" charset="-120"/>
              </a:rPr>
              <a:t>"samples/beach.webp"</a:t>
            </a:r>
            <a:r>
              <a:rPr lang="en-US" sz="900" dirty="0">
                <a:solidFill>
                  <a:srgbClr val="D4D4D4"/>
                </a:solidFill>
                <a:latin typeface="Consolas" pitchFamily="34" charset="0"/>
                <a:ea typeface="Consolas" pitchFamily="34" charset="-122"/>
                <a:cs typeface="Consolas" pitchFamily="34" charset="-120"/>
              </a:rPr>
              <a:t> </a:t>
            </a:r>
            <a:r>
              <a:rPr lang="en-US" sz="900" dirty="0">
                <a:solidFill>
                  <a:srgbClr val="9CDCFE"/>
                </a:solidFill>
                <a:latin typeface="Consolas" pitchFamily="34" charset="0"/>
                <a:ea typeface="Consolas" pitchFamily="34" charset="-122"/>
                <a:cs typeface="Consolas" pitchFamily="34" charset="-120"/>
              </a:rPr>
              <a:t>width</a:t>
            </a:r>
            <a:r>
              <a:rPr lang="en-US" sz="900" dirty="0">
                <a:solidFill>
                  <a:srgbClr val="D4D4D4"/>
                </a:solidFill>
                <a:latin typeface="Consolas" pitchFamily="34" charset="0"/>
                <a:ea typeface="Consolas" pitchFamily="34" charset="-122"/>
                <a:cs typeface="Consolas" pitchFamily="34" charset="-120"/>
              </a:rPr>
              <a:t>=</a:t>
            </a:r>
            <a:r>
              <a:rPr lang="en-US" sz="900" dirty="0">
                <a:solidFill>
                  <a:srgbClr val="CE9178"/>
                </a:solidFill>
                <a:latin typeface="Consolas" pitchFamily="34" charset="0"/>
                <a:ea typeface="Consolas" pitchFamily="34" charset="-122"/>
                <a:cs typeface="Consolas" pitchFamily="34" charset="-120"/>
              </a:rPr>
              <a:t>"560"</a:t>
            </a:r>
            <a:r>
              <a:rPr lang="en-US" sz="900" dirty="0">
                <a:solidFill>
                  <a:srgbClr val="D4D4D4"/>
                </a:solidFill>
                <a:latin typeface="Consolas" pitchFamily="34" charset="0"/>
                <a:ea typeface="Consolas" pitchFamily="34" charset="-122"/>
                <a:cs typeface="Consolas" pitchFamily="34" charset="-120"/>
              </a:rPr>
              <a:t> </a:t>
            </a:r>
            <a:r>
              <a:rPr lang="en-US" sz="900" dirty="0">
                <a:solidFill>
                  <a:srgbClr val="9CDCFE"/>
                </a:solidFill>
                <a:latin typeface="Consolas" pitchFamily="34" charset="0"/>
                <a:ea typeface="Consolas" pitchFamily="34" charset="-122"/>
                <a:cs typeface="Consolas" pitchFamily="34" charset="-120"/>
              </a:rPr>
              <a:t>height</a:t>
            </a:r>
            <a:r>
              <a:rPr lang="en-US" sz="900" dirty="0">
                <a:solidFill>
                  <a:srgbClr val="D4D4D4"/>
                </a:solidFill>
                <a:latin typeface="Consolas" pitchFamily="34" charset="0"/>
                <a:ea typeface="Consolas" pitchFamily="34" charset="-122"/>
                <a:cs typeface="Consolas" pitchFamily="34" charset="-120"/>
              </a:rPr>
              <a:t>=</a:t>
            </a:r>
            <a:r>
              <a:rPr lang="en-US" sz="900" dirty="0">
                <a:solidFill>
                  <a:srgbClr val="CE9178"/>
                </a:solidFill>
                <a:latin typeface="Consolas" pitchFamily="34" charset="0"/>
                <a:ea typeface="Consolas" pitchFamily="34" charset="-122"/>
                <a:cs typeface="Consolas" pitchFamily="34" charset="-120"/>
              </a:rPr>
              <a:t>"320"</a:t>
            </a:r>
            <a:endParaRPr lang="en-US" sz="900" dirty="0"/>
          </a:p>
          <a:p>
            <a:pPr marL="0" indent="0">
              <a:lnSpc>
                <a:spcPct val="100000"/>
              </a:lnSpc>
              <a:buNone/>
            </a:pPr>
            <a:r>
              <a:rPr lang="en-US" sz="900" dirty="0">
                <a:solidFill>
                  <a:srgbClr val="D4D4D4"/>
                </a:solidFill>
                <a:latin typeface="Consolas" pitchFamily="34" charset="0"/>
                <a:ea typeface="Consolas" pitchFamily="34" charset="-122"/>
                <a:cs typeface="Consolas" pitchFamily="34" charset="-120"/>
              </a:rPr>
              <a:t>      </a:t>
            </a:r>
            <a:r>
              <a:rPr lang="en-US" sz="900" dirty="0">
                <a:solidFill>
                  <a:srgbClr val="9CDCFE"/>
                </a:solidFill>
                <a:latin typeface="Consolas" pitchFamily="34" charset="0"/>
                <a:ea typeface="Consolas" pitchFamily="34" charset="-122"/>
                <a:cs typeface="Consolas" pitchFamily="34" charset="-120"/>
              </a:rPr>
              <a:t>alt</a:t>
            </a:r>
            <a:r>
              <a:rPr lang="en-US" sz="900" dirty="0">
                <a:solidFill>
                  <a:srgbClr val="D4D4D4"/>
                </a:solidFill>
                <a:latin typeface="Consolas" pitchFamily="34" charset="0"/>
                <a:ea typeface="Consolas" pitchFamily="34" charset="-122"/>
                <a:cs typeface="Consolas" pitchFamily="34" charset="-120"/>
              </a:rPr>
              <a:t>=</a:t>
            </a:r>
            <a:r>
              <a:rPr lang="en-US" sz="900" dirty="0">
                <a:solidFill>
                  <a:srgbClr val="CE9178"/>
                </a:solidFill>
                <a:latin typeface="Consolas" pitchFamily="34" charset="0"/>
                <a:ea typeface="Consolas" pitchFamily="34" charset="-122"/>
                <a:cs typeface="Consolas" pitchFamily="34" charset="-120"/>
              </a:rPr>
              <a:t>"Rocky beach with calm water and a tree-lined point"</a:t>
            </a:r>
            <a:r>
              <a:rPr lang="en-US" sz="900" dirty="0">
                <a:solidFill>
                  <a:srgbClr val="808080"/>
                </a:solidFill>
                <a:latin typeface="Consolas" pitchFamily="34" charset="0"/>
                <a:ea typeface="Consolas" pitchFamily="34" charset="-122"/>
                <a:cs typeface="Consolas" pitchFamily="34" charset="-120"/>
              </a:rPr>
              <a:t>&gt;</a:t>
            </a:r>
            <a:endParaRPr lang="en-US" sz="900" dirty="0"/>
          </a:p>
          <a:p>
            <a:pPr marL="0" indent="0">
              <a:lnSpc>
                <a:spcPct val="100000"/>
              </a:lnSpc>
              <a:buNone/>
            </a:pPr>
            <a:r>
              <a:rPr lang="en-US" sz="900" dirty="0">
                <a:solidFill>
                  <a:srgbClr val="D4D4D4"/>
                </a:solidFill>
                <a:latin typeface="Consolas" pitchFamily="34" charset="0"/>
                <a:ea typeface="Consolas" pitchFamily="34" charset="-122"/>
                <a:cs typeface="Consolas" pitchFamily="34" charset="-120"/>
              </a:rPr>
              <a:t>   </a:t>
            </a:r>
            <a:r>
              <a:rPr lang="en-US" sz="900" dirty="0">
                <a:solidFill>
                  <a:srgbClr val="808080"/>
                </a:solidFill>
                <a:latin typeface="Consolas" pitchFamily="34" charset="0"/>
                <a:ea typeface="Consolas" pitchFamily="34" charset="-122"/>
                <a:cs typeface="Consolas" pitchFamily="34" charset="-120"/>
              </a:rPr>
              <a:t>&lt;</a:t>
            </a:r>
            <a:r>
              <a:rPr lang="en-US" sz="900" dirty="0">
                <a:solidFill>
                  <a:srgbClr val="569CD6"/>
                </a:solidFill>
                <a:latin typeface="Consolas" pitchFamily="34" charset="0"/>
                <a:ea typeface="Consolas" pitchFamily="34" charset="-122"/>
                <a:cs typeface="Consolas" pitchFamily="34" charset="-120"/>
              </a:rPr>
              <a:t>figcaption</a:t>
            </a:r>
            <a:r>
              <a:rPr lang="en-US" sz="900" dirty="0">
                <a:solidFill>
                  <a:srgbClr val="808080"/>
                </a:solidFill>
                <a:latin typeface="Consolas" pitchFamily="34" charset="0"/>
                <a:ea typeface="Consolas" pitchFamily="34" charset="-122"/>
                <a:cs typeface="Consolas" pitchFamily="34" charset="-120"/>
              </a:rPr>
              <a:t>&gt;</a:t>
            </a:r>
            <a:r>
              <a:rPr lang="en-US" sz="900" dirty="0">
                <a:solidFill>
                  <a:srgbClr val="D4D4D4"/>
                </a:solidFill>
                <a:latin typeface="Consolas" pitchFamily="34" charset="0"/>
                <a:ea typeface="Consolas" pitchFamily="34" charset="-122"/>
                <a:cs typeface="Consolas" pitchFamily="34" charset="-120"/>
              </a:rPr>
              <a:t>WebP, quality 75: about 91 KB</a:t>
            </a:r>
            <a:r>
              <a:rPr lang="en-US" sz="900" dirty="0">
                <a:solidFill>
                  <a:srgbClr val="808080"/>
                </a:solidFill>
                <a:latin typeface="Consolas" pitchFamily="34" charset="0"/>
                <a:ea typeface="Consolas" pitchFamily="34" charset="-122"/>
                <a:cs typeface="Consolas" pitchFamily="34" charset="-120"/>
              </a:rPr>
              <a:t>&lt;/</a:t>
            </a:r>
            <a:r>
              <a:rPr lang="en-US" sz="900" dirty="0">
                <a:solidFill>
                  <a:srgbClr val="569CD6"/>
                </a:solidFill>
                <a:latin typeface="Consolas" pitchFamily="34" charset="0"/>
                <a:ea typeface="Consolas" pitchFamily="34" charset="-122"/>
                <a:cs typeface="Consolas" pitchFamily="34" charset="-120"/>
              </a:rPr>
              <a:t>figcaption</a:t>
            </a:r>
            <a:r>
              <a:rPr lang="en-US" sz="900" dirty="0">
                <a:solidFill>
                  <a:srgbClr val="808080"/>
                </a:solidFill>
                <a:latin typeface="Consolas" pitchFamily="34" charset="0"/>
                <a:ea typeface="Consolas" pitchFamily="34" charset="-122"/>
                <a:cs typeface="Consolas" pitchFamily="34" charset="-120"/>
              </a:rPr>
              <a:t>&gt;</a:t>
            </a:r>
            <a:endParaRPr lang="en-US" sz="900" dirty="0"/>
          </a:p>
          <a:p>
            <a:pPr marL="0" indent="0">
              <a:lnSpc>
                <a:spcPct val="100000"/>
              </a:lnSpc>
              <a:buNone/>
            </a:pPr>
            <a:r>
              <a:rPr lang="en-US" sz="900" dirty="0">
                <a:solidFill>
                  <a:srgbClr val="808080"/>
                </a:solidFill>
                <a:latin typeface="Consolas" pitchFamily="34" charset="0"/>
                <a:ea typeface="Consolas" pitchFamily="34" charset="-122"/>
                <a:cs typeface="Consolas" pitchFamily="34" charset="-120"/>
              </a:rPr>
              <a:t>&lt;/</a:t>
            </a:r>
            <a:r>
              <a:rPr lang="en-US" sz="900" dirty="0">
                <a:solidFill>
                  <a:srgbClr val="569CD6"/>
                </a:solidFill>
                <a:latin typeface="Consolas" pitchFamily="34" charset="0"/>
                <a:ea typeface="Consolas" pitchFamily="34" charset="-122"/>
                <a:cs typeface="Consolas" pitchFamily="34" charset="-120"/>
              </a:rPr>
              <a:t>figure</a:t>
            </a:r>
            <a:r>
              <a:rPr lang="en-US" sz="900" dirty="0">
                <a:solidFill>
                  <a:srgbClr val="808080"/>
                </a:solidFill>
                <a:latin typeface="Consolas" pitchFamily="34" charset="0"/>
                <a:ea typeface="Consolas" pitchFamily="34" charset="-122"/>
                <a:cs typeface="Consolas" pitchFamily="34" charset="-120"/>
              </a:rPr>
              <a:t>&gt;</a:t>
            </a:r>
            <a:endParaRPr lang="en-US" sz="900" dirty="0"/>
          </a:p>
          <a:p>
            <a:pPr marL="0" indent="0">
              <a:lnSpc>
                <a:spcPct val="100000"/>
              </a:lnSpc>
              <a:buNone/>
            </a:pPr>
            <a:r>
              <a:rPr lang="en-US" sz="900" dirty="0">
                <a:solidFill>
                  <a:srgbClr val="D4D4D4"/>
                </a:solidFill>
                <a:latin typeface="Consolas" pitchFamily="34" charset="0"/>
                <a:ea typeface="Consolas" pitchFamily="34" charset="-122"/>
                <a:cs typeface="Consolas" pitchFamily="34" charset="-120"/>
              </a:rPr>
              <a:t> </a:t>
            </a:r>
            <a:endParaRPr lang="en-US" sz="900" dirty="0"/>
          </a:p>
          <a:p>
            <a:pPr marL="0" indent="0">
              <a:lnSpc>
                <a:spcPct val="100000"/>
              </a:lnSpc>
              <a:buNone/>
            </a:pPr>
            <a:r>
              <a:rPr lang="en-US" sz="900" dirty="0">
                <a:solidFill>
                  <a:srgbClr val="6A9955"/>
                </a:solidFill>
                <a:latin typeface="Consolas" pitchFamily="34" charset="0"/>
                <a:ea typeface="Consolas" pitchFamily="34" charset="-122"/>
                <a:cs typeface="Consolas" pitchFamily="34" charset="-120"/>
              </a:rPr>
              <a:t>&lt;!-- AVIF: newest. Usually the smallest file for photos --&gt;</a:t>
            </a:r>
            <a:endParaRPr lang="en-US" sz="900" dirty="0"/>
          </a:p>
          <a:p>
            <a:pPr marL="0" indent="0">
              <a:lnSpc>
                <a:spcPct val="100000"/>
              </a:lnSpc>
              <a:buNone/>
            </a:pPr>
            <a:r>
              <a:rPr lang="en-US" sz="900" dirty="0">
                <a:solidFill>
                  <a:srgbClr val="808080"/>
                </a:solidFill>
                <a:latin typeface="Consolas" pitchFamily="34" charset="0"/>
                <a:ea typeface="Consolas" pitchFamily="34" charset="-122"/>
                <a:cs typeface="Consolas" pitchFamily="34" charset="-120"/>
              </a:rPr>
              <a:t>&lt;</a:t>
            </a:r>
            <a:r>
              <a:rPr lang="en-US" sz="900" dirty="0">
                <a:solidFill>
                  <a:srgbClr val="569CD6"/>
                </a:solidFill>
                <a:latin typeface="Consolas" pitchFamily="34" charset="0"/>
                <a:ea typeface="Consolas" pitchFamily="34" charset="-122"/>
                <a:cs typeface="Consolas" pitchFamily="34" charset="-120"/>
              </a:rPr>
              <a:t>figure</a:t>
            </a:r>
            <a:r>
              <a:rPr lang="en-US" sz="900" dirty="0">
                <a:solidFill>
                  <a:srgbClr val="808080"/>
                </a:solidFill>
                <a:latin typeface="Consolas" pitchFamily="34" charset="0"/>
                <a:ea typeface="Consolas" pitchFamily="34" charset="-122"/>
                <a:cs typeface="Consolas" pitchFamily="34" charset="-120"/>
              </a:rPr>
              <a:t>&gt;</a:t>
            </a:r>
            <a:endParaRPr lang="en-US" sz="900" dirty="0"/>
          </a:p>
          <a:p>
            <a:pPr marL="0" indent="0">
              <a:lnSpc>
                <a:spcPct val="100000"/>
              </a:lnSpc>
              <a:buNone/>
            </a:pPr>
            <a:r>
              <a:rPr lang="en-US" sz="900" dirty="0">
                <a:solidFill>
                  <a:srgbClr val="D4D4D4"/>
                </a:solidFill>
                <a:latin typeface="Consolas" pitchFamily="34" charset="0"/>
                <a:ea typeface="Consolas" pitchFamily="34" charset="-122"/>
                <a:cs typeface="Consolas" pitchFamily="34" charset="-120"/>
              </a:rPr>
              <a:t>   </a:t>
            </a:r>
            <a:r>
              <a:rPr lang="en-US" sz="900" dirty="0">
                <a:solidFill>
                  <a:srgbClr val="808080"/>
                </a:solidFill>
                <a:latin typeface="Consolas" pitchFamily="34" charset="0"/>
                <a:ea typeface="Consolas" pitchFamily="34" charset="-122"/>
                <a:cs typeface="Consolas" pitchFamily="34" charset="-120"/>
              </a:rPr>
              <a:t>&lt;</a:t>
            </a:r>
            <a:r>
              <a:rPr lang="en-US" sz="900" dirty="0">
                <a:solidFill>
                  <a:srgbClr val="569CD6"/>
                </a:solidFill>
                <a:latin typeface="Consolas" pitchFamily="34" charset="0"/>
                <a:ea typeface="Consolas" pitchFamily="34" charset="-122"/>
                <a:cs typeface="Consolas" pitchFamily="34" charset="-120"/>
              </a:rPr>
              <a:t>img</a:t>
            </a:r>
            <a:r>
              <a:rPr lang="en-US" sz="900" dirty="0">
                <a:solidFill>
                  <a:srgbClr val="D4D4D4"/>
                </a:solidFill>
                <a:latin typeface="Consolas" pitchFamily="34" charset="0"/>
                <a:ea typeface="Consolas" pitchFamily="34" charset="-122"/>
                <a:cs typeface="Consolas" pitchFamily="34" charset="-120"/>
              </a:rPr>
              <a:t> </a:t>
            </a:r>
            <a:r>
              <a:rPr lang="en-US" sz="900" dirty="0">
                <a:solidFill>
                  <a:srgbClr val="9CDCFE"/>
                </a:solidFill>
                <a:latin typeface="Consolas" pitchFamily="34" charset="0"/>
                <a:ea typeface="Consolas" pitchFamily="34" charset="-122"/>
                <a:cs typeface="Consolas" pitchFamily="34" charset="-120"/>
              </a:rPr>
              <a:t>src</a:t>
            </a:r>
            <a:r>
              <a:rPr lang="en-US" sz="900" dirty="0">
                <a:solidFill>
                  <a:srgbClr val="D4D4D4"/>
                </a:solidFill>
                <a:latin typeface="Consolas" pitchFamily="34" charset="0"/>
                <a:ea typeface="Consolas" pitchFamily="34" charset="-122"/>
                <a:cs typeface="Consolas" pitchFamily="34" charset="-120"/>
              </a:rPr>
              <a:t>=</a:t>
            </a:r>
            <a:r>
              <a:rPr lang="en-US" sz="900" dirty="0">
                <a:solidFill>
                  <a:srgbClr val="CE9178"/>
                </a:solidFill>
                <a:latin typeface="Consolas" pitchFamily="34" charset="0"/>
                <a:ea typeface="Consolas" pitchFamily="34" charset="-122"/>
                <a:cs typeface="Consolas" pitchFamily="34" charset="-120"/>
              </a:rPr>
              <a:t>"samples/beach.avif"</a:t>
            </a:r>
            <a:r>
              <a:rPr lang="en-US" sz="900" dirty="0">
                <a:solidFill>
                  <a:srgbClr val="D4D4D4"/>
                </a:solidFill>
                <a:latin typeface="Consolas" pitchFamily="34" charset="0"/>
                <a:ea typeface="Consolas" pitchFamily="34" charset="-122"/>
                <a:cs typeface="Consolas" pitchFamily="34" charset="-120"/>
              </a:rPr>
              <a:t> </a:t>
            </a:r>
            <a:r>
              <a:rPr lang="en-US" sz="900" dirty="0">
                <a:solidFill>
                  <a:srgbClr val="9CDCFE"/>
                </a:solidFill>
                <a:latin typeface="Consolas" pitchFamily="34" charset="0"/>
                <a:ea typeface="Consolas" pitchFamily="34" charset="-122"/>
                <a:cs typeface="Consolas" pitchFamily="34" charset="-120"/>
              </a:rPr>
              <a:t>width</a:t>
            </a:r>
            <a:r>
              <a:rPr lang="en-US" sz="900" dirty="0">
                <a:solidFill>
                  <a:srgbClr val="D4D4D4"/>
                </a:solidFill>
                <a:latin typeface="Consolas" pitchFamily="34" charset="0"/>
                <a:ea typeface="Consolas" pitchFamily="34" charset="-122"/>
                <a:cs typeface="Consolas" pitchFamily="34" charset="-120"/>
              </a:rPr>
              <a:t>=</a:t>
            </a:r>
            <a:r>
              <a:rPr lang="en-US" sz="900" dirty="0">
                <a:solidFill>
                  <a:srgbClr val="CE9178"/>
                </a:solidFill>
                <a:latin typeface="Consolas" pitchFamily="34" charset="0"/>
                <a:ea typeface="Consolas" pitchFamily="34" charset="-122"/>
                <a:cs typeface="Consolas" pitchFamily="34" charset="-120"/>
              </a:rPr>
              <a:t>"560"</a:t>
            </a:r>
            <a:r>
              <a:rPr lang="en-US" sz="900" dirty="0">
                <a:solidFill>
                  <a:srgbClr val="D4D4D4"/>
                </a:solidFill>
                <a:latin typeface="Consolas" pitchFamily="34" charset="0"/>
                <a:ea typeface="Consolas" pitchFamily="34" charset="-122"/>
                <a:cs typeface="Consolas" pitchFamily="34" charset="-120"/>
              </a:rPr>
              <a:t> </a:t>
            </a:r>
            <a:r>
              <a:rPr lang="en-US" sz="900" dirty="0">
                <a:solidFill>
                  <a:srgbClr val="9CDCFE"/>
                </a:solidFill>
                <a:latin typeface="Consolas" pitchFamily="34" charset="0"/>
                <a:ea typeface="Consolas" pitchFamily="34" charset="-122"/>
                <a:cs typeface="Consolas" pitchFamily="34" charset="-120"/>
              </a:rPr>
              <a:t>height</a:t>
            </a:r>
            <a:r>
              <a:rPr lang="en-US" sz="900" dirty="0">
                <a:solidFill>
                  <a:srgbClr val="D4D4D4"/>
                </a:solidFill>
                <a:latin typeface="Consolas" pitchFamily="34" charset="0"/>
                <a:ea typeface="Consolas" pitchFamily="34" charset="-122"/>
                <a:cs typeface="Consolas" pitchFamily="34" charset="-120"/>
              </a:rPr>
              <a:t>=</a:t>
            </a:r>
            <a:r>
              <a:rPr lang="en-US" sz="900" dirty="0">
                <a:solidFill>
                  <a:srgbClr val="CE9178"/>
                </a:solidFill>
                <a:latin typeface="Consolas" pitchFamily="34" charset="0"/>
                <a:ea typeface="Consolas" pitchFamily="34" charset="-122"/>
                <a:cs typeface="Consolas" pitchFamily="34" charset="-120"/>
              </a:rPr>
              <a:t>"320"</a:t>
            </a:r>
            <a:endParaRPr lang="en-US" sz="900" dirty="0"/>
          </a:p>
          <a:p>
            <a:pPr marL="0" indent="0">
              <a:lnSpc>
                <a:spcPct val="100000"/>
              </a:lnSpc>
              <a:buNone/>
            </a:pPr>
            <a:r>
              <a:rPr lang="en-US" sz="900" dirty="0">
                <a:solidFill>
                  <a:srgbClr val="D4D4D4"/>
                </a:solidFill>
                <a:latin typeface="Consolas" pitchFamily="34" charset="0"/>
                <a:ea typeface="Consolas" pitchFamily="34" charset="-122"/>
                <a:cs typeface="Consolas" pitchFamily="34" charset="-120"/>
              </a:rPr>
              <a:t>      </a:t>
            </a:r>
            <a:r>
              <a:rPr lang="en-US" sz="900" dirty="0">
                <a:solidFill>
                  <a:srgbClr val="9CDCFE"/>
                </a:solidFill>
                <a:latin typeface="Consolas" pitchFamily="34" charset="0"/>
                <a:ea typeface="Consolas" pitchFamily="34" charset="-122"/>
                <a:cs typeface="Consolas" pitchFamily="34" charset="-120"/>
              </a:rPr>
              <a:t>alt</a:t>
            </a:r>
            <a:r>
              <a:rPr lang="en-US" sz="900" dirty="0">
                <a:solidFill>
                  <a:srgbClr val="D4D4D4"/>
                </a:solidFill>
                <a:latin typeface="Consolas" pitchFamily="34" charset="0"/>
                <a:ea typeface="Consolas" pitchFamily="34" charset="-122"/>
                <a:cs typeface="Consolas" pitchFamily="34" charset="-120"/>
              </a:rPr>
              <a:t>=</a:t>
            </a:r>
            <a:r>
              <a:rPr lang="en-US" sz="900" dirty="0">
                <a:solidFill>
                  <a:srgbClr val="CE9178"/>
                </a:solidFill>
                <a:latin typeface="Consolas" pitchFamily="34" charset="0"/>
                <a:ea typeface="Consolas" pitchFamily="34" charset="-122"/>
                <a:cs typeface="Consolas" pitchFamily="34" charset="-120"/>
              </a:rPr>
              <a:t>"Rocky beach with calm water and a tree-lined point"</a:t>
            </a:r>
            <a:r>
              <a:rPr lang="en-US" sz="900" dirty="0">
                <a:solidFill>
                  <a:srgbClr val="808080"/>
                </a:solidFill>
                <a:latin typeface="Consolas" pitchFamily="34" charset="0"/>
                <a:ea typeface="Consolas" pitchFamily="34" charset="-122"/>
                <a:cs typeface="Consolas" pitchFamily="34" charset="-120"/>
              </a:rPr>
              <a:t>&gt;</a:t>
            </a:r>
            <a:endParaRPr lang="en-US" sz="900" dirty="0"/>
          </a:p>
          <a:p>
            <a:pPr marL="0" indent="0">
              <a:lnSpc>
                <a:spcPct val="100000"/>
              </a:lnSpc>
              <a:buNone/>
            </a:pPr>
            <a:r>
              <a:rPr lang="en-US" sz="900" dirty="0">
                <a:solidFill>
                  <a:srgbClr val="D4D4D4"/>
                </a:solidFill>
                <a:latin typeface="Consolas" pitchFamily="34" charset="0"/>
                <a:ea typeface="Consolas" pitchFamily="34" charset="-122"/>
                <a:cs typeface="Consolas" pitchFamily="34" charset="-120"/>
              </a:rPr>
              <a:t>   </a:t>
            </a:r>
            <a:r>
              <a:rPr lang="en-US" sz="900" dirty="0">
                <a:solidFill>
                  <a:srgbClr val="808080"/>
                </a:solidFill>
                <a:latin typeface="Consolas" pitchFamily="34" charset="0"/>
                <a:ea typeface="Consolas" pitchFamily="34" charset="-122"/>
                <a:cs typeface="Consolas" pitchFamily="34" charset="-120"/>
              </a:rPr>
              <a:t>&lt;</a:t>
            </a:r>
            <a:r>
              <a:rPr lang="en-US" sz="900" dirty="0">
                <a:solidFill>
                  <a:srgbClr val="569CD6"/>
                </a:solidFill>
                <a:latin typeface="Consolas" pitchFamily="34" charset="0"/>
                <a:ea typeface="Consolas" pitchFamily="34" charset="-122"/>
                <a:cs typeface="Consolas" pitchFamily="34" charset="-120"/>
              </a:rPr>
              <a:t>figcaption</a:t>
            </a:r>
            <a:r>
              <a:rPr lang="en-US" sz="900" dirty="0">
                <a:solidFill>
                  <a:srgbClr val="808080"/>
                </a:solidFill>
                <a:latin typeface="Consolas" pitchFamily="34" charset="0"/>
                <a:ea typeface="Consolas" pitchFamily="34" charset="-122"/>
                <a:cs typeface="Consolas" pitchFamily="34" charset="-120"/>
              </a:rPr>
              <a:t>&gt;</a:t>
            </a:r>
            <a:r>
              <a:rPr lang="en-US" sz="900" dirty="0">
                <a:solidFill>
                  <a:srgbClr val="D4D4D4"/>
                </a:solidFill>
                <a:latin typeface="Consolas" pitchFamily="34" charset="0"/>
                <a:ea typeface="Consolas" pitchFamily="34" charset="-122"/>
                <a:cs typeface="Consolas" pitchFamily="34" charset="-120"/>
              </a:rPr>
              <a:t>AVIF, quality 50: about 69 KB</a:t>
            </a:r>
            <a:r>
              <a:rPr lang="en-US" sz="900" dirty="0">
                <a:solidFill>
                  <a:srgbClr val="808080"/>
                </a:solidFill>
                <a:latin typeface="Consolas" pitchFamily="34" charset="0"/>
                <a:ea typeface="Consolas" pitchFamily="34" charset="-122"/>
                <a:cs typeface="Consolas" pitchFamily="34" charset="-120"/>
              </a:rPr>
              <a:t>&lt;/</a:t>
            </a:r>
            <a:r>
              <a:rPr lang="en-US" sz="900" dirty="0">
                <a:solidFill>
                  <a:srgbClr val="569CD6"/>
                </a:solidFill>
                <a:latin typeface="Consolas" pitchFamily="34" charset="0"/>
                <a:ea typeface="Consolas" pitchFamily="34" charset="-122"/>
                <a:cs typeface="Consolas" pitchFamily="34" charset="-120"/>
              </a:rPr>
              <a:t>figcaption</a:t>
            </a:r>
            <a:r>
              <a:rPr lang="en-US" sz="900" dirty="0">
                <a:solidFill>
                  <a:srgbClr val="808080"/>
                </a:solidFill>
                <a:latin typeface="Consolas" pitchFamily="34" charset="0"/>
                <a:ea typeface="Consolas" pitchFamily="34" charset="-122"/>
                <a:cs typeface="Consolas" pitchFamily="34" charset="-120"/>
              </a:rPr>
              <a:t>&gt;</a:t>
            </a:r>
            <a:endParaRPr lang="en-US" sz="900" dirty="0"/>
          </a:p>
          <a:p>
            <a:pPr marL="0" indent="0">
              <a:lnSpc>
                <a:spcPct val="100000"/>
              </a:lnSpc>
              <a:buNone/>
            </a:pPr>
            <a:r>
              <a:rPr lang="en-US" sz="900" dirty="0">
                <a:solidFill>
                  <a:srgbClr val="808080"/>
                </a:solidFill>
                <a:latin typeface="Consolas" pitchFamily="34" charset="0"/>
                <a:ea typeface="Consolas" pitchFamily="34" charset="-122"/>
                <a:cs typeface="Consolas" pitchFamily="34" charset="-120"/>
              </a:rPr>
              <a:t>&lt;/</a:t>
            </a:r>
            <a:r>
              <a:rPr lang="en-US" sz="900" dirty="0">
                <a:solidFill>
                  <a:srgbClr val="569CD6"/>
                </a:solidFill>
                <a:latin typeface="Consolas" pitchFamily="34" charset="0"/>
                <a:ea typeface="Consolas" pitchFamily="34" charset="-122"/>
                <a:cs typeface="Consolas" pitchFamily="34" charset="-120"/>
              </a:rPr>
              <a:t>figure</a:t>
            </a:r>
            <a:r>
              <a:rPr lang="en-US" sz="900" dirty="0">
                <a:solidFill>
                  <a:srgbClr val="808080"/>
                </a:solidFill>
                <a:latin typeface="Consolas" pitchFamily="34" charset="0"/>
                <a:ea typeface="Consolas" pitchFamily="34" charset="-122"/>
                <a:cs typeface="Consolas" pitchFamily="34" charset="-120"/>
              </a:rPr>
              <a:t>&gt;</a:t>
            </a:r>
            <a:endParaRPr lang="en-US" sz="900" dirty="0"/>
          </a:p>
        </p:txBody>
      </p:sp>
      <p:sp>
        <p:nvSpPr>
          <p:cNvPr id="5" name="Text 2"/>
          <p:cNvSpPr txBox="1"/>
          <p:nvPr/>
        </p:nvSpPr>
        <p:spPr>
          <a:xfrm>
            <a:off x="6812280" y="411480"/>
            <a:ext cx="4967935" cy="320040"/>
          </a:xfrm>
          <a:prstGeom prst="rect">
            <a:avLst/>
          </a:prstGeom>
          <a:noFill/>
          <a:ln/>
        </p:spPr>
        <p:txBody>
          <a:bodyPr wrap="square" lIns="0" tIns="0" rIns="0" bIns="0" rtlCol="0" anchor="ctr"/>
          <a:lstStyle/>
          <a:p>
            <a:pPr marL="0" indent="0">
              <a:buNone/>
            </a:pPr>
            <a:r>
              <a:rPr lang="en-US" sz="1400" b="1" kern="0" spc="100" dirty="0">
                <a:solidFill>
                  <a:srgbClr val="595959"/>
                </a:solidFill>
                <a:latin typeface="Aptos" pitchFamily="34" charset="0"/>
                <a:ea typeface="Aptos" pitchFamily="34" charset="-122"/>
                <a:cs typeface="Aptos" pitchFamily="34" charset="-120"/>
              </a:rPr>
              <a:t>EXAMPLE 01</a:t>
            </a:r>
            <a:endParaRPr lang="en-US" sz="1400" dirty="0"/>
          </a:p>
        </p:txBody>
      </p:sp>
      <p:sp>
        <p:nvSpPr>
          <p:cNvPr id="6" name="Text 3"/>
          <p:cNvSpPr txBox="1"/>
          <p:nvPr/>
        </p:nvSpPr>
        <p:spPr>
          <a:xfrm>
            <a:off x="6812280" y="731520"/>
            <a:ext cx="4967935" cy="640080"/>
          </a:xfrm>
          <a:prstGeom prst="rect">
            <a:avLst/>
          </a:prstGeom>
          <a:noFill/>
          <a:ln/>
        </p:spPr>
        <p:txBody>
          <a:bodyPr wrap="square" lIns="0" tIns="0" rIns="0" bIns="0" rtlCol="0" anchor="t"/>
          <a:lstStyle/>
          <a:p>
            <a:pPr marL="0" indent="0">
              <a:buNone/>
            </a:pPr>
            <a:r>
              <a:rPr lang="en-US" sz="3200" dirty="0">
                <a:solidFill>
                  <a:srgbClr val="000000"/>
                </a:solidFill>
                <a:latin typeface="Aptos" pitchFamily="34" charset="0"/>
                <a:ea typeface="Aptos" pitchFamily="34" charset="-122"/>
                <a:cs typeface="Aptos" pitchFamily="34" charset="-120"/>
              </a:rPr>
              <a:t>One Photo, Six Files</a:t>
            </a:r>
            <a:endParaRPr lang="en-US" sz="3200" dirty="0"/>
          </a:p>
        </p:txBody>
      </p:sp>
      <p:sp>
        <p:nvSpPr>
          <p:cNvPr id="7" name="Text 4"/>
          <p:cNvSpPr txBox="1"/>
          <p:nvPr/>
        </p:nvSpPr>
        <p:spPr>
          <a:xfrm>
            <a:off x="6812280" y="1508760"/>
            <a:ext cx="4967935" cy="4754880"/>
          </a:xfrm>
          <a:prstGeom prst="rect">
            <a:avLst/>
          </a:prstGeom>
          <a:noFill/>
          <a:ln/>
        </p:spPr>
        <p:txBody>
          <a:bodyPr wrap="square" lIns="0" tIns="0" rIns="0" bIns="0" rtlCol="0" anchor="t"/>
          <a:lstStyle/>
          <a:p>
            <a:pPr marL="342900" indent="-342900">
              <a:buSzPct val="100000"/>
              <a:buChar char="•"/>
            </a:pPr>
            <a:r>
              <a:rPr lang="en-US" sz="1400" dirty="0">
                <a:solidFill>
                  <a:srgbClr val="262626"/>
                </a:solidFill>
                <a:latin typeface="Aptos" pitchFamily="34" charset="0"/>
                <a:ea typeface="Aptos" pitchFamily="34" charset="-122"/>
                <a:cs typeface="Aptos" pitchFamily="34" charset="-120"/>
              </a:rPr>
              <a:t>​The same photo in five raster formats. Open it with Live Server and compare. Most look identical.</a:t>
            </a:r>
            <a:endParaRPr lang="en-US" sz="1400" dirty="0"/>
          </a:p>
          <a:p>
            <a:pPr marL="342900" indent="-342900">
              <a:spcBef>
                <a:spcPts val="900"/>
              </a:spcBef>
              <a:buSzPct val="100000"/>
              <a:buChar char="•"/>
            </a:pPr>
            <a:r>
              <a:rPr lang="en-US" sz="1400" dirty="0">
                <a:solidFill>
                  <a:srgbClr val="262626"/>
                </a:solidFill>
                <a:latin typeface="Aptos" pitchFamily="34" charset="0"/>
                <a:ea typeface="Aptos" pitchFamily="34" charset="-122"/>
                <a:cs typeface="Aptos" pitchFamily="34" charset="-120"/>
              </a:rPr>
              <a:t>​Now open the </a:t>
            </a:r>
            <a:r>
              <a:rPr lang="en-US" sz="1400" dirty="0">
                <a:solidFill>
                  <a:srgbClr val="8A2B0B"/>
                </a:solidFill>
                <a:latin typeface="Consolas" pitchFamily="34" charset="0"/>
                <a:ea typeface="Consolas" pitchFamily="34" charset="-122"/>
                <a:cs typeface="Consolas" pitchFamily="34" charset="-120"/>
              </a:rPr>
              <a:t>samples</a:t>
            </a:r>
            <a:r>
              <a:rPr lang="en-US" sz="1400" dirty="0">
                <a:solidFill>
                  <a:srgbClr val="262626"/>
                </a:solidFill>
                <a:latin typeface="Aptos" pitchFamily="34" charset="0"/>
                <a:ea typeface="Aptos" pitchFamily="34" charset="-122"/>
                <a:cs typeface="Aptos" pitchFamily="34" charset="-120"/>
              </a:rPr>
              <a:t> folder in File Explorer (Details view) and compare the sizes: </a:t>
            </a:r>
            <a:r>
              <a:rPr lang="en-US" sz="1400" b="1" dirty="0">
                <a:solidFill>
                  <a:srgbClr val="262626"/>
                </a:solidFill>
                <a:latin typeface="Aptos" pitchFamily="34" charset="0"/>
                <a:ea typeface="Aptos" pitchFamily="34" charset="-122"/>
                <a:cs typeface="Aptos" pitchFamily="34" charset="-120"/>
              </a:rPr>
              <a:t>69 KB → 978 KB</a:t>
            </a:r>
            <a:r>
              <a:rPr lang="en-US" sz="1400" dirty="0">
                <a:solidFill>
                  <a:srgbClr val="262626"/>
                </a:solidFill>
                <a:latin typeface="Aptos" pitchFamily="34" charset="0"/>
                <a:ea typeface="Aptos" pitchFamily="34" charset="-122"/>
                <a:cs typeface="Aptos" pitchFamily="34" charset="-120"/>
              </a:rPr>
              <a:t>.</a:t>
            </a:r>
            <a:endParaRPr lang="en-US" sz="1400" dirty="0"/>
          </a:p>
          <a:p>
            <a:pPr marL="342900" indent="-342900">
              <a:spcBef>
                <a:spcPts val="900"/>
              </a:spcBef>
              <a:buSzPct val="100000"/>
              <a:buChar char="•"/>
            </a:pPr>
            <a:r>
              <a:rPr lang="en-US" sz="1400" dirty="0">
                <a:solidFill>
                  <a:srgbClr val="262626"/>
                </a:solidFill>
                <a:latin typeface="Aptos" pitchFamily="34" charset="0"/>
                <a:ea typeface="Aptos" pitchFamily="34" charset="-122"/>
                <a:cs typeface="Aptos" pitchFamily="34" charset="-120"/>
              </a:rPr>
              <a:t>​Look closely at the </a:t>
            </a:r>
            <a:r>
              <a:rPr lang="en-US" sz="1400" b="1" dirty="0">
                <a:solidFill>
                  <a:srgbClr val="262626"/>
                </a:solidFill>
                <a:latin typeface="Aptos" pitchFamily="34" charset="0"/>
                <a:ea typeface="Aptos" pitchFamily="34" charset="-122"/>
                <a:cs typeface="Aptos" pitchFamily="34" charset="-120"/>
              </a:rPr>
              <a:t>GIF</a:t>
            </a:r>
            <a:r>
              <a:rPr lang="en-US" sz="1400" dirty="0">
                <a:solidFill>
                  <a:srgbClr val="262626"/>
                </a:solidFill>
                <a:latin typeface="Aptos" pitchFamily="34" charset="0"/>
                <a:ea typeface="Aptos" pitchFamily="34" charset="-122"/>
                <a:cs typeface="Aptos" pitchFamily="34" charset="-120"/>
              </a:rPr>
              <a:t>'s sky. Only 256 colours means smooth gradients turn into bands.</a:t>
            </a:r>
            <a:endParaRPr lang="en-US" sz="1400" dirty="0"/>
          </a:p>
          <a:p>
            <a:pPr marL="342900" indent="-342900">
              <a:spcBef>
                <a:spcPts val="900"/>
              </a:spcBef>
              <a:buSzPct val="100000"/>
              <a:buChar char="•"/>
            </a:pPr>
            <a:r>
              <a:rPr lang="en-US" sz="1400" dirty="0">
                <a:solidFill>
                  <a:srgbClr val="262626"/>
                </a:solidFill>
                <a:latin typeface="Aptos" pitchFamily="34" charset="0"/>
                <a:ea typeface="Aptos" pitchFamily="34" charset="-122"/>
                <a:cs typeface="Aptos" pitchFamily="34" charset="-120"/>
              </a:rPr>
              <a:t>​</a:t>
            </a:r>
            <a:r>
              <a:rPr lang="en-US" sz="1400" dirty="0">
                <a:solidFill>
                  <a:srgbClr val="8A2B0B"/>
                </a:solidFill>
                <a:latin typeface="Consolas" pitchFamily="34" charset="0"/>
                <a:ea typeface="Consolas" pitchFamily="34" charset="-122"/>
                <a:cs typeface="Consolas" pitchFamily="34" charset="-120"/>
              </a:rPr>
              <a:t>width</a:t>
            </a:r>
            <a:r>
              <a:rPr lang="en-US" sz="1400" dirty="0">
                <a:solidFill>
                  <a:srgbClr val="262626"/>
                </a:solidFill>
                <a:latin typeface="Aptos" pitchFamily="34" charset="0"/>
                <a:ea typeface="Aptos" pitchFamily="34" charset="-122"/>
                <a:cs typeface="Aptos" pitchFamily="34" charset="-120"/>
              </a:rPr>
              <a:t> and </a:t>
            </a:r>
            <a:r>
              <a:rPr lang="en-US" sz="1400" dirty="0">
                <a:solidFill>
                  <a:srgbClr val="8A2B0B"/>
                </a:solidFill>
                <a:latin typeface="Consolas" pitchFamily="34" charset="0"/>
                <a:ea typeface="Consolas" pitchFamily="34" charset="-122"/>
                <a:cs typeface="Consolas" pitchFamily="34" charset="-120"/>
              </a:rPr>
              <a:t>height</a:t>
            </a:r>
            <a:r>
              <a:rPr lang="en-US" sz="1400" dirty="0">
                <a:solidFill>
                  <a:srgbClr val="262626"/>
                </a:solidFill>
                <a:latin typeface="Aptos" pitchFamily="34" charset="0"/>
                <a:ea typeface="Aptos" pitchFamily="34" charset="-122"/>
                <a:cs typeface="Aptos" pitchFamily="34" charset="-120"/>
              </a:rPr>
              <a:t> match the shape of the photo. More on why later.</a:t>
            </a:r>
            <a:endParaRPr lang="en-US" sz="1400" dirty="0"/>
          </a:p>
        </p:txBody>
      </p:sp>
      <p:sp>
        <p:nvSpPr>
          <p:cNvPr id="8" name="Text 5"/>
          <p:cNvSpPr txBox="1"/>
          <p:nvPr/>
        </p:nvSpPr>
        <p:spPr>
          <a:xfrm>
            <a:off x="6812280" y="6355080"/>
            <a:ext cx="4967935" cy="274320"/>
          </a:xfrm>
          <a:prstGeom prst="rect">
            <a:avLst/>
          </a:prstGeom>
          <a:noFill/>
          <a:ln/>
        </p:spPr>
        <p:txBody>
          <a:bodyPr wrap="square" lIns="0" tIns="0" rIns="0" bIns="0" rtlCol="0" anchor="ctr"/>
          <a:lstStyle/>
          <a:p>
            <a:pPr marL="0" indent="0">
              <a:buNone/>
            </a:pPr>
            <a:r>
              <a:rPr lang="en-US" sz="1100" dirty="0">
                <a:solidFill>
                  <a:srgbClr val="7F7F7F"/>
                </a:solidFill>
                <a:latin typeface="Consolas" pitchFamily="34" charset="0"/>
                <a:ea typeface="Consolas" pitchFamily="34" charset="-122"/>
                <a:cs typeface="Consolas" pitchFamily="34" charset="-120"/>
              </a:rPr>
              <a:t>01_image_formats_example.html</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2F2F2"/>
        </a:solidFill>
        <a:effectLst/>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txBody>
          <a:bodyPr/>
          <a:lstStyle/>
          <a:p>
            <a:endParaRPr lang="en-US"/>
          </a:p>
        </p:txBody>
      </p:sp>
      <p:sp>
        <p:nvSpPr>
          <p:cNvPr id="3" name="Text 1"/>
          <p:cNvSpPr txBox="1"/>
          <p:nvPr/>
        </p:nvSpPr>
        <p:spPr>
          <a:xfrm>
            <a:off x="868680" y="548640"/>
            <a:ext cx="2560320" cy="1280160"/>
          </a:xfrm>
          <a:prstGeom prst="rect">
            <a:avLst/>
          </a:prstGeom>
          <a:noFill/>
          <a:ln/>
        </p:spPr>
        <p:txBody>
          <a:bodyPr wrap="square" lIns="0" tIns="0" rIns="0" bIns="0" rtlCol="0" anchor="t"/>
          <a:lstStyle/>
          <a:p>
            <a:pPr marL="0" indent="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txBody>
          <a:bodyPr/>
          <a:lstStyle/>
          <a:p>
            <a:endParaRPr lang="en-US"/>
          </a:p>
        </p:txBody>
      </p:sp>
      <p:sp>
        <p:nvSpPr>
          <p:cNvPr id="5" name="Text 3"/>
          <p:cNvSpPr txBox="1"/>
          <p:nvPr/>
        </p:nvSpPr>
        <p:spPr>
          <a:xfrm>
            <a:off x="4754880" y="822960"/>
            <a:ext cx="6903720" cy="868680"/>
          </a:xfrm>
          <a:prstGeom prst="rect">
            <a:avLst/>
          </a:prstGeom>
          <a:noFill/>
          <a:ln/>
        </p:spPr>
        <p:txBody>
          <a:bodyPr wrap="square" lIns="0" tIns="0" rIns="0" bIns="0" rtlCol="0" anchor="t"/>
          <a:lstStyle/>
          <a:p>
            <a:pPr marL="0" indent="0">
              <a:buNone/>
            </a:pPr>
            <a:r>
              <a:rPr lang="en-US" sz="2800" b="1" dirty="0">
                <a:solidFill>
                  <a:srgbClr val="000000"/>
                </a:solidFill>
                <a:latin typeface="Aptos" pitchFamily="34" charset="0"/>
                <a:ea typeface="Aptos" pitchFamily="34" charset="-122"/>
                <a:cs typeface="Aptos" pitchFamily="34" charset="-120"/>
              </a:rPr>
              <a:t>Raster vs Vector</a:t>
            </a:r>
            <a:endParaRPr lang="en-US" sz="2800" dirty="0"/>
          </a:p>
        </p:txBody>
      </p:sp>
      <p:pic>
        <p:nvPicPr>
          <p:cNvPr id="7" name="Image 0" descr="C:\Repos\2026-2027\WEBD1000\04_Images_for_the_Web\_build\zoom_logo_png.png"/>
          <p:cNvPicPr>
            <a:picLocks noChangeAspect="1"/>
          </p:cNvPicPr>
          <p:nvPr/>
        </p:nvPicPr>
        <p:blipFill>
          <a:blip r:embed="rId3"/>
          <a:stretch>
            <a:fillRect/>
          </a:stretch>
        </p:blipFill>
        <p:spPr>
          <a:xfrm>
            <a:off x="4754880" y="1783080"/>
            <a:ext cx="3291840" cy="2263140"/>
          </a:xfrm>
          <a:prstGeom prst="rect">
            <a:avLst/>
          </a:prstGeom>
        </p:spPr>
      </p:pic>
      <p:sp>
        <p:nvSpPr>
          <p:cNvPr id="8" name="Shape 4"/>
          <p:cNvSpPr/>
          <p:nvPr/>
        </p:nvSpPr>
        <p:spPr>
          <a:xfrm>
            <a:off x="4754880" y="1783080"/>
            <a:ext cx="3291840" cy="2263140"/>
          </a:xfrm>
          <a:prstGeom prst="rect">
            <a:avLst/>
          </a:prstGeom>
          <a:ln w="12700">
            <a:solidFill>
              <a:srgbClr val="7F7F7F"/>
            </a:solidFill>
            <a:prstDash val="solid"/>
          </a:ln>
        </p:spPr>
        <p:txBody>
          <a:bodyPr/>
          <a:lstStyle/>
          <a:p>
            <a:endParaRPr lang="en-US"/>
          </a:p>
        </p:txBody>
      </p:sp>
      <p:sp>
        <p:nvSpPr>
          <p:cNvPr id="9" name="Text 5"/>
          <p:cNvSpPr txBox="1"/>
          <p:nvPr/>
        </p:nvSpPr>
        <p:spPr>
          <a:xfrm>
            <a:off x="4754880" y="4110228"/>
            <a:ext cx="3291840" cy="274320"/>
          </a:xfrm>
          <a:prstGeom prst="rect">
            <a:avLst/>
          </a:prstGeom>
          <a:noFill/>
          <a:ln/>
        </p:spPr>
        <p:txBody>
          <a:bodyPr wrap="square" lIns="0" tIns="0" rIns="0" bIns="0" rtlCol="0" anchor="ctr"/>
          <a:lstStyle/>
          <a:p>
            <a:pPr marL="0" indent="0">
              <a:buNone/>
            </a:pPr>
            <a:r>
              <a:rPr lang="en-US" sz="1250" b="1" dirty="0">
                <a:solidFill>
                  <a:srgbClr val="1B5E82"/>
                </a:solidFill>
                <a:latin typeface="Aptos" pitchFamily="34" charset="0"/>
                <a:ea typeface="Aptos" pitchFamily="34" charset="-122"/>
                <a:cs typeface="Aptos" pitchFamily="34" charset="-120"/>
              </a:rPr>
              <a:t>PNG, zoomed: clean edges</a:t>
            </a:r>
            <a:endParaRPr lang="en-US" sz="1250" dirty="0"/>
          </a:p>
        </p:txBody>
      </p:sp>
      <p:pic>
        <p:nvPicPr>
          <p:cNvPr id="10" name="Image 1" descr="C:\Repos\2026-2027\WEBD1000\04_Images_for_the_Web\_build\zoom_logo_jpg.png"/>
          <p:cNvPicPr>
            <a:picLocks noChangeAspect="1"/>
          </p:cNvPicPr>
          <p:nvPr/>
        </p:nvPicPr>
        <p:blipFill>
          <a:blip r:embed="rId4"/>
          <a:stretch>
            <a:fillRect/>
          </a:stretch>
        </p:blipFill>
        <p:spPr>
          <a:xfrm>
            <a:off x="8366760" y="1783080"/>
            <a:ext cx="3291840" cy="2263140"/>
          </a:xfrm>
          <a:prstGeom prst="rect">
            <a:avLst/>
          </a:prstGeom>
        </p:spPr>
      </p:pic>
      <p:sp>
        <p:nvSpPr>
          <p:cNvPr id="11" name="Shape 6"/>
          <p:cNvSpPr/>
          <p:nvPr/>
        </p:nvSpPr>
        <p:spPr>
          <a:xfrm>
            <a:off x="8366760" y="1783080"/>
            <a:ext cx="3291840" cy="2263140"/>
          </a:xfrm>
          <a:prstGeom prst="rect">
            <a:avLst/>
          </a:prstGeom>
          <a:ln w="12700">
            <a:solidFill>
              <a:srgbClr val="7F7F7F"/>
            </a:solidFill>
            <a:prstDash val="solid"/>
          </a:ln>
        </p:spPr>
        <p:txBody>
          <a:bodyPr/>
          <a:lstStyle/>
          <a:p>
            <a:endParaRPr lang="en-US"/>
          </a:p>
        </p:txBody>
      </p:sp>
      <p:sp>
        <p:nvSpPr>
          <p:cNvPr id="12" name="Text 7"/>
          <p:cNvSpPr txBox="1"/>
          <p:nvPr/>
        </p:nvSpPr>
        <p:spPr>
          <a:xfrm>
            <a:off x="8366760" y="4110228"/>
            <a:ext cx="3291840" cy="274320"/>
          </a:xfrm>
          <a:prstGeom prst="rect">
            <a:avLst/>
          </a:prstGeom>
          <a:noFill/>
          <a:ln/>
        </p:spPr>
        <p:txBody>
          <a:bodyPr wrap="square" lIns="0" tIns="0" rIns="0" bIns="0" rtlCol="0" anchor="ctr"/>
          <a:lstStyle/>
          <a:p>
            <a:pPr marL="0" indent="0">
              <a:buNone/>
            </a:pPr>
            <a:r>
              <a:rPr lang="en-US" sz="1250" b="1" dirty="0">
                <a:solidFill>
                  <a:srgbClr val="E97132"/>
                </a:solidFill>
                <a:latin typeface="Aptos" pitchFamily="34" charset="0"/>
                <a:ea typeface="Aptos" pitchFamily="34" charset="-122"/>
                <a:cs typeface="Aptos" pitchFamily="34" charset="-120"/>
              </a:rPr>
              <a:t>JPG, zoomed: smudges around edges</a:t>
            </a:r>
            <a:endParaRPr lang="en-US" sz="1250" dirty="0"/>
          </a:p>
        </p:txBody>
      </p:sp>
      <p:sp>
        <p:nvSpPr>
          <p:cNvPr id="13" name="Text 8"/>
          <p:cNvSpPr txBox="1"/>
          <p:nvPr/>
        </p:nvSpPr>
        <p:spPr>
          <a:xfrm>
            <a:off x="4754880" y="4572000"/>
            <a:ext cx="6903720" cy="1920240"/>
          </a:xfrm>
          <a:prstGeom prst="rect">
            <a:avLst/>
          </a:prstGeom>
          <a:noFill/>
          <a:ln/>
        </p:spPr>
        <p:txBody>
          <a:bodyPr wrap="square" lIns="0" tIns="0" rIns="0" bIns="0" rtlCol="0" anchor="t"/>
          <a:lstStyle/>
          <a:p>
            <a:pPr marL="342900" indent="-342900">
              <a:buSzPct val="100000"/>
              <a:buChar char="•"/>
            </a:pPr>
            <a:r>
              <a:rPr lang="en-US" sz="1500" dirty="0">
                <a:solidFill>
                  <a:srgbClr val="262626"/>
                </a:solidFill>
                <a:latin typeface="Aptos" pitchFamily="34" charset="0"/>
                <a:ea typeface="Aptos" pitchFamily="34" charset="-122"/>
                <a:cs typeface="Aptos" pitchFamily="34" charset="-120"/>
              </a:rPr>
              <a:t>​</a:t>
            </a:r>
            <a:r>
              <a:rPr lang="en-US" sz="1500" b="1" dirty="0">
                <a:solidFill>
                  <a:srgbClr val="262626"/>
                </a:solidFill>
                <a:latin typeface="Aptos" pitchFamily="34" charset="0"/>
                <a:ea typeface="Aptos" pitchFamily="34" charset="-122"/>
                <a:cs typeface="Aptos" pitchFamily="34" charset="-120"/>
              </a:rPr>
              <a:t>Raster</a:t>
            </a:r>
            <a:r>
              <a:rPr lang="en-US" sz="1500" dirty="0">
                <a:solidFill>
                  <a:srgbClr val="262626"/>
                </a:solidFill>
                <a:latin typeface="Aptos" pitchFamily="34" charset="0"/>
                <a:ea typeface="Aptos" pitchFamily="34" charset="-122"/>
                <a:cs typeface="Aptos" pitchFamily="34" charset="-120"/>
              </a:rPr>
              <a:t> (JPG, PNG, GIF, WebP, AVIF): a grid of pixels. Stretch it bigger and it goes </a:t>
            </a:r>
            <a:r>
              <a:rPr lang="en-US" sz="1500" b="1" dirty="0">
                <a:solidFill>
                  <a:srgbClr val="262626"/>
                </a:solidFill>
                <a:latin typeface="Aptos" pitchFamily="34" charset="0"/>
                <a:ea typeface="Aptos" pitchFamily="34" charset="-122"/>
                <a:cs typeface="Aptos" pitchFamily="34" charset="-120"/>
              </a:rPr>
              <a:t>soft or blocky</a:t>
            </a:r>
            <a:r>
              <a:rPr lang="en-US" sz="1500" dirty="0">
                <a:solidFill>
                  <a:srgbClr val="262626"/>
                </a:solidFill>
                <a:latin typeface="Aptos" pitchFamily="34" charset="0"/>
                <a:ea typeface="Aptos" pitchFamily="34" charset="-122"/>
                <a:cs typeface="Aptos" pitchFamily="34" charset="-120"/>
              </a:rPr>
              <a:t>. Best for photos.</a:t>
            </a:r>
            <a:endParaRPr lang="en-US" sz="1500" dirty="0"/>
          </a:p>
          <a:p>
            <a:pPr marL="342900" indent="-342900">
              <a:spcBef>
                <a:spcPts val="900"/>
              </a:spcBef>
              <a:buSzPct val="100000"/>
              <a:buChar char="•"/>
            </a:pPr>
            <a:r>
              <a:rPr lang="en-US" sz="1500" dirty="0">
                <a:solidFill>
                  <a:srgbClr val="262626"/>
                </a:solidFill>
                <a:latin typeface="Aptos" pitchFamily="34" charset="0"/>
                <a:ea typeface="Aptos" pitchFamily="34" charset="-122"/>
                <a:cs typeface="Aptos" pitchFamily="34" charset="-120"/>
              </a:rPr>
              <a:t>​</a:t>
            </a:r>
            <a:r>
              <a:rPr lang="en-US" sz="1500" b="1" dirty="0">
                <a:solidFill>
                  <a:srgbClr val="262626"/>
                </a:solidFill>
                <a:latin typeface="Aptos" pitchFamily="34" charset="0"/>
                <a:ea typeface="Aptos" pitchFamily="34" charset="-122"/>
                <a:cs typeface="Aptos" pitchFamily="34" charset="-120"/>
              </a:rPr>
              <a:t>Vector</a:t>
            </a:r>
            <a:r>
              <a:rPr lang="en-US" sz="1500" dirty="0">
                <a:solidFill>
                  <a:srgbClr val="262626"/>
                </a:solidFill>
                <a:latin typeface="Aptos" pitchFamily="34" charset="0"/>
                <a:ea typeface="Aptos" pitchFamily="34" charset="-122"/>
                <a:cs typeface="Aptos" pitchFamily="34" charset="-120"/>
              </a:rPr>
              <a:t> (SVG): shapes described in code. </a:t>
            </a:r>
            <a:r>
              <a:rPr lang="en-US" sz="1500" b="1" dirty="0">
                <a:solidFill>
                  <a:srgbClr val="262626"/>
                </a:solidFill>
                <a:latin typeface="Aptos" pitchFamily="34" charset="0"/>
                <a:ea typeface="Aptos" pitchFamily="34" charset="-122"/>
                <a:cs typeface="Aptos" pitchFamily="34" charset="-120"/>
              </a:rPr>
              <a:t>Sharp at any size</a:t>
            </a:r>
            <a:r>
              <a:rPr lang="en-US" sz="1500" dirty="0">
                <a:solidFill>
                  <a:srgbClr val="262626"/>
                </a:solidFill>
                <a:latin typeface="Aptos" pitchFamily="34" charset="0"/>
                <a:ea typeface="Aptos" pitchFamily="34" charset="-122"/>
                <a:cs typeface="Aptos" pitchFamily="34" charset="-120"/>
              </a:rPr>
              <a:t>, and tiny. Best for logos, icons and simple drawings.</a:t>
            </a:r>
            <a:endParaRPr lang="en-US" sz="1500" dirty="0"/>
          </a:p>
          <a:p>
            <a:pPr marL="342900" indent="-342900">
              <a:spcBef>
                <a:spcPts val="900"/>
              </a:spcBef>
              <a:buSzPct val="100000"/>
              <a:buChar char="•"/>
            </a:pPr>
            <a:r>
              <a:rPr lang="en-US" sz="1500" dirty="0">
                <a:solidFill>
                  <a:srgbClr val="262626"/>
                </a:solidFill>
                <a:latin typeface="Aptos" pitchFamily="34" charset="0"/>
                <a:ea typeface="Aptos" pitchFamily="34" charset="-122"/>
                <a:cs typeface="Aptos" pitchFamily="34" charset="-120"/>
              </a:rPr>
              <a:t>​Our logo: </a:t>
            </a:r>
            <a:r>
              <a:rPr lang="en-US" sz="1500" b="1" dirty="0">
                <a:solidFill>
                  <a:srgbClr val="262626"/>
                </a:solidFill>
                <a:latin typeface="Aptos" pitchFamily="34" charset="0"/>
                <a:ea typeface="Aptos" pitchFamily="34" charset="-122"/>
                <a:cs typeface="Aptos" pitchFamily="34" charset="-120"/>
              </a:rPr>
              <a:t>SVG 0.7 KB</a:t>
            </a:r>
            <a:r>
              <a:rPr lang="en-US" sz="1500" dirty="0">
                <a:solidFill>
                  <a:srgbClr val="262626"/>
                </a:solidFill>
                <a:latin typeface="Aptos" pitchFamily="34" charset="0"/>
                <a:ea typeface="Aptos" pitchFamily="34" charset="-122"/>
                <a:cs typeface="Aptos" pitchFamily="34" charset="-120"/>
              </a:rPr>
              <a:t> · PNG 21 KB · JPG 21 KB (and the JPG lost its transparency).</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pic>
        <p:nvPicPr>
          <p:cNvPr id="2" name="Image 0" descr="C:\Repos\2026-2027\WEBD1000\04_Images_for_the_Web\_build\grad_left.png"/>
          <p:cNvPicPr>
            <a:picLocks noChangeAspect="1"/>
          </p:cNvPicPr>
          <p:nvPr/>
        </p:nvPicPr>
        <p:blipFill>
          <a:blip r:embed="rId3"/>
          <a:stretch>
            <a:fillRect/>
          </a:stretch>
        </p:blipFill>
        <p:spPr>
          <a:xfrm>
            <a:off x="0" y="0"/>
            <a:ext cx="6400800" cy="6858000"/>
          </a:xfrm>
          <a:prstGeom prst="rect">
            <a:avLst/>
          </a:prstGeom>
        </p:spPr>
      </p:pic>
      <p:sp>
        <p:nvSpPr>
          <p:cNvPr id="3" name="Shape 0"/>
          <p:cNvSpPr/>
          <p:nvPr/>
        </p:nvSpPr>
        <p:spPr>
          <a:xfrm>
            <a:off x="274320" y="1043609"/>
            <a:ext cx="5852160" cy="4770783"/>
          </a:xfrm>
          <a:prstGeom prst="rect">
            <a:avLst/>
          </a:prstGeom>
          <a:solidFill>
            <a:srgbClr val="1E1E1E"/>
          </a:solidFill>
          <a:ln w="12700">
            <a:solidFill>
              <a:srgbClr val="1E1E1E"/>
            </a:solidFill>
            <a:prstDash val="solid"/>
          </a:ln>
          <a:effectLst>
            <a:outerShdw blurRad="101600" dist="38100" dir="5400000" algn="bl" rotWithShape="0">
              <a:srgbClr val="000000">
                <a:alpha val="35000"/>
              </a:srgbClr>
            </a:outerShdw>
          </a:effectLst>
        </p:spPr>
        <p:txBody>
          <a:bodyPr/>
          <a:lstStyle/>
          <a:p>
            <a:endParaRPr lang="en-US"/>
          </a:p>
        </p:txBody>
      </p:sp>
      <p:sp>
        <p:nvSpPr>
          <p:cNvPr id="4" name="Text 1"/>
          <p:cNvSpPr txBox="1"/>
          <p:nvPr/>
        </p:nvSpPr>
        <p:spPr>
          <a:xfrm>
            <a:off x="502920" y="1272209"/>
            <a:ext cx="5394960" cy="4313583"/>
          </a:xfrm>
          <a:prstGeom prst="rect">
            <a:avLst/>
          </a:prstGeom>
          <a:noFill/>
          <a:ln/>
        </p:spPr>
        <p:txBody>
          <a:bodyPr wrap="square" lIns="0" tIns="0" rIns="0" bIns="0" rtlCol="0" anchor="t"/>
          <a:lstStyle/>
          <a:p>
            <a:pPr marL="0" indent="0">
              <a:lnSpc>
                <a:spcPct val="100000"/>
              </a:lnSpc>
              <a:buNone/>
            </a:pPr>
            <a:r>
              <a:rPr lang="en-US" sz="1050" dirty="0">
                <a:solidFill>
                  <a:srgbClr val="808080"/>
                </a:solidFill>
                <a:latin typeface="Consolas" pitchFamily="34" charset="0"/>
                <a:ea typeface="Consolas" pitchFamily="34" charset="-122"/>
                <a:cs typeface="Consolas" pitchFamily="34" charset="-120"/>
              </a:rPr>
              <a:t>&lt;</a:t>
            </a:r>
            <a:r>
              <a:rPr lang="en-US" sz="1050" dirty="0">
                <a:solidFill>
                  <a:srgbClr val="569CD6"/>
                </a:solidFill>
                <a:latin typeface="Consolas" pitchFamily="34" charset="0"/>
                <a:ea typeface="Consolas" pitchFamily="34" charset="-122"/>
                <a:cs typeface="Consolas" pitchFamily="34" charset="-120"/>
              </a:rPr>
              <a:t>h1</a:t>
            </a:r>
            <a:r>
              <a:rPr lang="en-US" sz="1050" dirty="0">
                <a:solidFill>
                  <a:srgbClr val="808080"/>
                </a:solidFill>
                <a:latin typeface="Consolas" pitchFamily="34" charset="0"/>
                <a:ea typeface="Consolas" pitchFamily="34" charset="-122"/>
                <a:cs typeface="Consolas" pitchFamily="34" charset="-120"/>
              </a:rPr>
              <a:t>&gt;</a:t>
            </a:r>
            <a:r>
              <a:rPr lang="en-US" sz="1050" dirty="0">
                <a:solidFill>
                  <a:srgbClr val="D4D4D4"/>
                </a:solidFill>
                <a:latin typeface="Consolas" pitchFamily="34" charset="0"/>
                <a:ea typeface="Consolas" pitchFamily="34" charset="-122"/>
                <a:cs typeface="Consolas" pitchFamily="34" charset="-120"/>
              </a:rPr>
              <a:t>Logos: Vector vs Raster</a:t>
            </a:r>
            <a:r>
              <a:rPr lang="en-US" sz="1050" dirty="0">
                <a:solidFill>
                  <a:srgbClr val="808080"/>
                </a:solidFill>
                <a:latin typeface="Consolas" pitchFamily="34" charset="0"/>
                <a:ea typeface="Consolas" pitchFamily="34" charset="-122"/>
                <a:cs typeface="Consolas" pitchFamily="34" charset="-120"/>
              </a:rPr>
              <a:t>&lt;/</a:t>
            </a:r>
            <a:r>
              <a:rPr lang="en-US" sz="1050" dirty="0">
                <a:solidFill>
                  <a:srgbClr val="569CD6"/>
                </a:solidFill>
                <a:latin typeface="Consolas" pitchFamily="34" charset="0"/>
                <a:ea typeface="Consolas" pitchFamily="34" charset="-122"/>
                <a:cs typeface="Consolas" pitchFamily="34" charset="-120"/>
              </a:rPr>
              <a:t>h1</a:t>
            </a:r>
            <a:r>
              <a:rPr lang="en-US" sz="1050" dirty="0">
                <a:solidFill>
                  <a:srgbClr val="808080"/>
                </a:solidFill>
                <a:latin typeface="Consolas" pitchFamily="34" charset="0"/>
                <a:ea typeface="Consolas" pitchFamily="34" charset="-122"/>
                <a:cs typeface="Consolas" pitchFamily="34" charset="-120"/>
              </a:rPr>
              <a:t>&gt;</a:t>
            </a:r>
            <a:endParaRPr lang="en-US" sz="1050" dirty="0"/>
          </a:p>
          <a:p>
            <a:pPr marL="0" indent="0">
              <a:lnSpc>
                <a:spcPct val="100000"/>
              </a:lnSpc>
              <a:buNone/>
            </a:pPr>
            <a:r>
              <a:rPr lang="en-US" sz="1050" dirty="0">
                <a:solidFill>
                  <a:srgbClr val="D4D4D4"/>
                </a:solidFill>
                <a:latin typeface="Consolas" pitchFamily="34" charset="0"/>
                <a:ea typeface="Consolas" pitchFamily="34" charset="-122"/>
                <a:cs typeface="Consolas" pitchFamily="34" charset="-120"/>
              </a:rPr>
              <a:t> </a:t>
            </a:r>
            <a:endParaRPr lang="en-US" sz="1050" dirty="0"/>
          </a:p>
          <a:p>
            <a:pPr marL="0" indent="0">
              <a:lnSpc>
                <a:spcPct val="100000"/>
              </a:lnSpc>
              <a:buNone/>
            </a:pPr>
            <a:r>
              <a:rPr lang="en-US" sz="1050" dirty="0">
                <a:solidFill>
                  <a:srgbClr val="808080"/>
                </a:solidFill>
                <a:latin typeface="Consolas" pitchFamily="34" charset="0"/>
                <a:ea typeface="Consolas" pitchFamily="34" charset="-122"/>
                <a:cs typeface="Consolas" pitchFamily="34" charset="-120"/>
              </a:rPr>
              <a:t>&lt;</a:t>
            </a:r>
            <a:r>
              <a:rPr lang="en-US" sz="1050" dirty="0">
                <a:solidFill>
                  <a:srgbClr val="569CD6"/>
                </a:solidFill>
                <a:latin typeface="Consolas" pitchFamily="34" charset="0"/>
                <a:ea typeface="Consolas" pitchFamily="34" charset="-122"/>
                <a:cs typeface="Consolas" pitchFamily="34" charset="-120"/>
              </a:rPr>
              <a:t>h2</a:t>
            </a:r>
            <a:r>
              <a:rPr lang="en-US" sz="1050" dirty="0">
                <a:solidFill>
                  <a:srgbClr val="808080"/>
                </a:solidFill>
                <a:latin typeface="Consolas" pitchFamily="34" charset="0"/>
                <a:ea typeface="Consolas" pitchFamily="34" charset="-122"/>
                <a:cs typeface="Consolas" pitchFamily="34" charset="-120"/>
              </a:rPr>
              <a:t>&gt;</a:t>
            </a:r>
            <a:r>
              <a:rPr lang="en-US" sz="1050" dirty="0">
                <a:solidFill>
                  <a:srgbClr val="D4D4D4"/>
                </a:solidFill>
                <a:latin typeface="Consolas" pitchFamily="34" charset="0"/>
                <a:ea typeface="Consolas" pitchFamily="34" charset="-122"/>
                <a:cs typeface="Consolas" pitchFamily="34" charset="-120"/>
              </a:rPr>
              <a:t>Small (100 pixels wide)</a:t>
            </a:r>
            <a:r>
              <a:rPr lang="en-US" sz="1050" dirty="0">
                <a:solidFill>
                  <a:srgbClr val="808080"/>
                </a:solidFill>
                <a:latin typeface="Consolas" pitchFamily="34" charset="0"/>
                <a:ea typeface="Consolas" pitchFamily="34" charset="-122"/>
                <a:cs typeface="Consolas" pitchFamily="34" charset="-120"/>
              </a:rPr>
              <a:t>&lt;/</a:t>
            </a:r>
            <a:r>
              <a:rPr lang="en-US" sz="1050" dirty="0">
                <a:solidFill>
                  <a:srgbClr val="569CD6"/>
                </a:solidFill>
                <a:latin typeface="Consolas" pitchFamily="34" charset="0"/>
                <a:ea typeface="Consolas" pitchFamily="34" charset="-122"/>
                <a:cs typeface="Consolas" pitchFamily="34" charset="-120"/>
              </a:rPr>
              <a:t>h2</a:t>
            </a:r>
            <a:r>
              <a:rPr lang="en-US" sz="1050" dirty="0">
                <a:solidFill>
                  <a:srgbClr val="808080"/>
                </a:solidFill>
                <a:latin typeface="Consolas" pitchFamily="34" charset="0"/>
                <a:ea typeface="Consolas" pitchFamily="34" charset="-122"/>
                <a:cs typeface="Consolas" pitchFamily="34" charset="-120"/>
              </a:rPr>
              <a:t>&gt;</a:t>
            </a:r>
            <a:endParaRPr lang="en-US" sz="1050" dirty="0"/>
          </a:p>
          <a:p>
            <a:pPr marL="0" indent="0">
              <a:lnSpc>
                <a:spcPct val="100000"/>
              </a:lnSpc>
              <a:buNone/>
            </a:pPr>
            <a:r>
              <a:rPr lang="en-US" sz="1050" dirty="0">
                <a:solidFill>
                  <a:srgbClr val="6A9955"/>
                </a:solidFill>
                <a:latin typeface="Consolas" pitchFamily="34" charset="0"/>
                <a:ea typeface="Consolas" pitchFamily="34" charset="-122"/>
                <a:cs typeface="Consolas" pitchFamily="34" charset="-120"/>
              </a:rPr>
              <a:t>&lt;!-- All three look about the same when they're small --&gt;</a:t>
            </a:r>
            <a:endParaRPr lang="en-US" sz="1050" dirty="0"/>
          </a:p>
          <a:p>
            <a:pPr marL="0" indent="0">
              <a:lnSpc>
                <a:spcPct val="100000"/>
              </a:lnSpc>
              <a:buNone/>
            </a:pPr>
            <a:r>
              <a:rPr lang="en-US" sz="1050" dirty="0">
                <a:solidFill>
                  <a:srgbClr val="808080"/>
                </a:solidFill>
                <a:latin typeface="Consolas" pitchFamily="34" charset="0"/>
                <a:ea typeface="Consolas" pitchFamily="34" charset="-122"/>
                <a:cs typeface="Consolas" pitchFamily="34" charset="-120"/>
              </a:rPr>
              <a:t>&lt;</a:t>
            </a:r>
            <a:r>
              <a:rPr lang="en-US" sz="1050" dirty="0">
                <a:solidFill>
                  <a:srgbClr val="569CD6"/>
                </a:solidFill>
                <a:latin typeface="Consolas" pitchFamily="34" charset="0"/>
                <a:ea typeface="Consolas" pitchFamily="34" charset="-122"/>
                <a:cs typeface="Consolas" pitchFamily="34" charset="-120"/>
              </a:rPr>
              <a:t>img</a:t>
            </a: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src</a:t>
            </a:r>
            <a:r>
              <a:rPr lang="en-US" sz="1050" dirty="0">
                <a:solidFill>
                  <a:srgbClr val="D4D4D4"/>
                </a:solidFill>
                <a:latin typeface="Consolas" pitchFamily="34" charset="0"/>
                <a:ea typeface="Consolas" pitchFamily="34" charset="-122"/>
                <a:cs typeface="Consolas" pitchFamily="34" charset="-120"/>
              </a:rPr>
              <a:t>=</a:t>
            </a:r>
            <a:r>
              <a:rPr lang="en-US" sz="1050" dirty="0">
                <a:solidFill>
                  <a:srgbClr val="CE9178"/>
                </a:solidFill>
                <a:latin typeface="Consolas" pitchFamily="34" charset="0"/>
                <a:ea typeface="Consolas" pitchFamily="34" charset="-122"/>
                <a:cs typeface="Consolas" pitchFamily="34" charset="-120"/>
              </a:rPr>
              <a:t>"samples/logo.svg"</a:t>
            </a: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width</a:t>
            </a:r>
            <a:r>
              <a:rPr lang="en-US" sz="1050" dirty="0">
                <a:solidFill>
                  <a:srgbClr val="D4D4D4"/>
                </a:solidFill>
                <a:latin typeface="Consolas" pitchFamily="34" charset="0"/>
                <a:ea typeface="Consolas" pitchFamily="34" charset="-122"/>
                <a:cs typeface="Consolas" pitchFamily="34" charset="-120"/>
              </a:rPr>
              <a:t>=</a:t>
            </a:r>
            <a:r>
              <a:rPr lang="en-US" sz="1050" dirty="0">
                <a:solidFill>
                  <a:srgbClr val="CE9178"/>
                </a:solidFill>
                <a:latin typeface="Consolas" pitchFamily="34" charset="0"/>
                <a:ea typeface="Consolas" pitchFamily="34" charset="-122"/>
                <a:cs typeface="Consolas" pitchFamily="34" charset="-120"/>
              </a:rPr>
              <a:t>"100"</a:t>
            </a: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height</a:t>
            </a:r>
            <a:r>
              <a:rPr lang="en-US" sz="1050" dirty="0">
                <a:solidFill>
                  <a:srgbClr val="D4D4D4"/>
                </a:solidFill>
                <a:latin typeface="Consolas" pitchFamily="34" charset="0"/>
                <a:ea typeface="Consolas" pitchFamily="34" charset="-122"/>
                <a:cs typeface="Consolas" pitchFamily="34" charset="-120"/>
              </a:rPr>
              <a:t>=</a:t>
            </a:r>
            <a:r>
              <a:rPr lang="en-US" sz="1050" dirty="0">
                <a:solidFill>
                  <a:srgbClr val="CE9178"/>
                </a:solidFill>
                <a:latin typeface="Consolas" pitchFamily="34" charset="0"/>
                <a:ea typeface="Consolas" pitchFamily="34" charset="-122"/>
                <a:cs typeface="Consolas" pitchFamily="34" charset="-120"/>
              </a:rPr>
              <a:t>"100"</a:t>
            </a:r>
            <a:endParaRPr lang="en-US" sz="1050" dirty="0"/>
          </a:p>
          <a:p>
            <a:pPr marL="0" indent="0">
              <a:lnSpc>
                <a:spcPct val="100000"/>
              </a:lnSpc>
              <a:buNone/>
            </a:pP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alt</a:t>
            </a:r>
            <a:r>
              <a:rPr lang="en-US" sz="1050" dirty="0">
                <a:solidFill>
                  <a:srgbClr val="D4D4D4"/>
                </a:solidFill>
                <a:latin typeface="Consolas" pitchFamily="34" charset="0"/>
                <a:ea typeface="Consolas" pitchFamily="34" charset="-122"/>
                <a:cs typeface="Consolas" pitchFamily="34" charset="-120"/>
              </a:rPr>
              <a:t>=</a:t>
            </a:r>
            <a:r>
              <a:rPr lang="en-US" sz="1050" dirty="0">
                <a:solidFill>
                  <a:srgbClr val="CE9178"/>
                </a:solidFill>
                <a:latin typeface="Consolas" pitchFamily="34" charset="0"/>
                <a:ea typeface="Consolas" pitchFamily="34" charset="-122"/>
                <a:cs typeface="Consolas" pitchFamily="34" charset="-120"/>
              </a:rPr>
              <a:t>"Harbourside Fish and Chips"</a:t>
            </a:r>
            <a:r>
              <a:rPr lang="en-US" sz="1050" dirty="0">
                <a:solidFill>
                  <a:srgbClr val="808080"/>
                </a:solidFill>
                <a:latin typeface="Consolas" pitchFamily="34" charset="0"/>
                <a:ea typeface="Consolas" pitchFamily="34" charset="-122"/>
                <a:cs typeface="Consolas" pitchFamily="34" charset="-120"/>
              </a:rPr>
              <a:t>&gt;</a:t>
            </a:r>
            <a:endParaRPr lang="en-US" sz="1050" dirty="0"/>
          </a:p>
          <a:p>
            <a:pPr marL="0" indent="0">
              <a:lnSpc>
                <a:spcPct val="100000"/>
              </a:lnSpc>
              <a:buNone/>
            </a:pPr>
            <a:r>
              <a:rPr lang="en-US" sz="1050" dirty="0">
                <a:solidFill>
                  <a:srgbClr val="808080"/>
                </a:solidFill>
                <a:latin typeface="Consolas" pitchFamily="34" charset="0"/>
                <a:ea typeface="Consolas" pitchFamily="34" charset="-122"/>
                <a:cs typeface="Consolas" pitchFamily="34" charset="-120"/>
              </a:rPr>
              <a:t>&lt;</a:t>
            </a:r>
            <a:r>
              <a:rPr lang="en-US" sz="1050" dirty="0">
                <a:solidFill>
                  <a:srgbClr val="569CD6"/>
                </a:solidFill>
                <a:latin typeface="Consolas" pitchFamily="34" charset="0"/>
                <a:ea typeface="Consolas" pitchFamily="34" charset="-122"/>
                <a:cs typeface="Consolas" pitchFamily="34" charset="-120"/>
              </a:rPr>
              <a:t>img</a:t>
            </a: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src</a:t>
            </a:r>
            <a:r>
              <a:rPr lang="en-US" sz="1050" dirty="0">
                <a:solidFill>
                  <a:srgbClr val="D4D4D4"/>
                </a:solidFill>
                <a:latin typeface="Consolas" pitchFamily="34" charset="0"/>
                <a:ea typeface="Consolas" pitchFamily="34" charset="-122"/>
                <a:cs typeface="Consolas" pitchFamily="34" charset="-120"/>
              </a:rPr>
              <a:t>=</a:t>
            </a:r>
            <a:r>
              <a:rPr lang="en-US" sz="1050" dirty="0">
                <a:solidFill>
                  <a:srgbClr val="CE9178"/>
                </a:solidFill>
                <a:latin typeface="Consolas" pitchFamily="34" charset="0"/>
                <a:ea typeface="Consolas" pitchFamily="34" charset="-122"/>
                <a:cs typeface="Consolas" pitchFamily="34" charset="-120"/>
              </a:rPr>
              <a:t>"samples/logo.png"</a:t>
            </a: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width</a:t>
            </a:r>
            <a:r>
              <a:rPr lang="en-US" sz="1050" dirty="0">
                <a:solidFill>
                  <a:srgbClr val="D4D4D4"/>
                </a:solidFill>
                <a:latin typeface="Consolas" pitchFamily="34" charset="0"/>
                <a:ea typeface="Consolas" pitchFamily="34" charset="-122"/>
                <a:cs typeface="Consolas" pitchFamily="34" charset="-120"/>
              </a:rPr>
              <a:t>=</a:t>
            </a:r>
            <a:r>
              <a:rPr lang="en-US" sz="1050" dirty="0">
                <a:solidFill>
                  <a:srgbClr val="CE9178"/>
                </a:solidFill>
                <a:latin typeface="Consolas" pitchFamily="34" charset="0"/>
                <a:ea typeface="Consolas" pitchFamily="34" charset="-122"/>
                <a:cs typeface="Consolas" pitchFamily="34" charset="-120"/>
              </a:rPr>
              <a:t>"100"</a:t>
            </a: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height</a:t>
            </a:r>
            <a:r>
              <a:rPr lang="en-US" sz="1050" dirty="0">
                <a:solidFill>
                  <a:srgbClr val="D4D4D4"/>
                </a:solidFill>
                <a:latin typeface="Consolas" pitchFamily="34" charset="0"/>
                <a:ea typeface="Consolas" pitchFamily="34" charset="-122"/>
                <a:cs typeface="Consolas" pitchFamily="34" charset="-120"/>
              </a:rPr>
              <a:t>=</a:t>
            </a:r>
            <a:r>
              <a:rPr lang="en-US" sz="1050" dirty="0">
                <a:solidFill>
                  <a:srgbClr val="CE9178"/>
                </a:solidFill>
                <a:latin typeface="Consolas" pitchFamily="34" charset="0"/>
                <a:ea typeface="Consolas" pitchFamily="34" charset="-122"/>
                <a:cs typeface="Consolas" pitchFamily="34" charset="-120"/>
              </a:rPr>
              <a:t>"100"</a:t>
            </a:r>
            <a:endParaRPr lang="en-US" sz="1050" dirty="0"/>
          </a:p>
          <a:p>
            <a:pPr marL="0" indent="0">
              <a:lnSpc>
                <a:spcPct val="100000"/>
              </a:lnSpc>
              <a:buNone/>
            </a:pP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alt</a:t>
            </a:r>
            <a:r>
              <a:rPr lang="en-US" sz="1050" dirty="0">
                <a:solidFill>
                  <a:srgbClr val="D4D4D4"/>
                </a:solidFill>
                <a:latin typeface="Consolas" pitchFamily="34" charset="0"/>
                <a:ea typeface="Consolas" pitchFamily="34" charset="-122"/>
                <a:cs typeface="Consolas" pitchFamily="34" charset="-120"/>
              </a:rPr>
              <a:t>=</a:t>
            </a:r>
            <a:r>
              <a:rPr lang="en-US" sz="1050" dirty="0">
                <a:solidFill>
                  <a:srgbClr val="CE9178"/>
                </a:solidFill>
                <a:latin typeface="Consolas" pitchFamily="34" charset="0"/>
                <a:ea typeface="Consolas" pitchFamily="34" charset="-122"/>
                <a:cs typeface="Consolas" pitchFamily="34" charset="-120"/>
              </a:rPr>
              <a:t>"Harbourside Fish and Chips"</a:t>
            </a:r>
            <a:r>
              <a:rPr lang="en-US" sz="1050" dirty="0">
                <a:solidFill>
                  <a:srgbClr val="808080"/>
                </a:solidFill>
                <a:latin typeface="Consolas" pitchFamily="34" charset="0"/>
                <a:ea typeface="Consolas" pitchFamily="34" charset="-122"/>
                <a:cs typeface="Consolas" pitchFamily="34" charset="-120"/>
              </a:rPr>
              <a:t>&gt;</a:t>
            </a:r>
            <a:endParaRPr lang="en-US" sz="1050" dirty="0"/>
          </a:p>
          <a:p>
            <a:pPr marL="0" indent="0">
              <a:lnSpc>
                <a:spcPct val="100000"/>
              </a:lnSpc>
              <a:buNone/>
            </a:pPr>
            <a:r>
              <a:rPr lang="en-US" sz="1050" dirty="0">
                <a:solidFill>
                  <a:srgbClr val="808080"/>
                </a:solidFill>
                <a:latin typeface="Consolas" pitchFamily="34" charset="0"/>
                <a:ea typeface="Consolas" pitchFamily="34" charset="-122"/>
                <a:cs typeface="Consolas" pitchFamily="34" charset="-120"/>
              </a:rPr>
              <a:t>&lt;</a:t>
            </a:r>
            <a:r>
              <a:rPr lang="en-US" sz="1050" dirty="0">
                <a:solidFill>
                  <a:srgbClr val="569CD6"/>
                </a:solidFill>
                <a:latin typeface="Consolas" pitchFamily="34" charset="0"/>
                <a:ea typeface="Consolas" pitchFamily="34" charset="-122"/>
                <a:cs typeface="Consolas" pitchFamily="34" charset="-120"/>
              </a:rPr>
              <a:t>img</a:t>
            </a: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src</a:t>
            </a:r>
            <a:r>
              <a:rPr lang="en-US" sz="1050" dirty="0">
                <a:solidFill>
                  <a:srgbClr val="D4D4D4"/>
                </a:solidFill>
                <a:latin typeface="Consolas" pitchFamily="34" charset="0"/>
                <a:ea typeface="Consolas" pitchFamily="34" charset="-122"/>
                <a:cs typeface="Consolas" pitchFamily="34" charset="-120"/>
              </a:rPr>
              <a:t>=</a:t>
            </a:r>
            <a:r>
              <a:rPr lang="en-US" sz="1050" dirty="0">
                <a:solidFill>
                  <a:srgbClr val="CE9178"/>
                </a:solidFill>
                <a:latin typeface="Consolas" pitchFamily="34" charset="0"/>
                <a:ea typeface="Consolas" pitchFamily="34" charset="-122"/>
                <a:cs typeface="Consolas" pitchFamily="34" charset="-120"/>
              </a:rPr>
              <a:t>"samples/logo.jpg"</a:t>
            </a: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width</a:t>
            </a:r>
            <a:r>
              <a:rPr lang="en-US" sz="1050" dirty="0">
                <a:solidFill>
                  <a:srgbClr val="D4D4D4"/>
                </a:solidFill>
                <a:latin typeface="Consolas" pitchFamily="34" charset="0"/>
                <a:ea typeface="Consolas" pitchFamily="34" charset="-122"/>
                <a:cs typeface="Consolas" pitchFamily="34" charset="-120"/>
              </a:rPr>
              <a:t>=</a:t>
            </a:r>
            <a:r>
              <a:rPr lang="en-US" sz="1050" dirty="0">
                <a:solidFill>
                  <a:srgbClr val="CE9178"/>
                </a:solidFill>
                <a:latin typeface="Consolas" pitchFamily="34" charset="0"/>
                <a:ea typeface="Consolas" pitchFamily="34" charset="-122"/>
                <a:cs typeface="Consolas" pitchFamily="34" charset="-120"/>
              </a:rPr>
              <a:t>"100"</a:t>
            </a: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height</a:t>
            </a:r>
            <a:r>
              <a:rPr lang="en-US" sz="1050" dirty="0">
                <a:solidFill>
                  <a:srgbClr val="D4D4D4"/>
                </a:solidFill>
                <a:latin typeface="Consolas" pitchFamily="34" charset="0"/>
                <a:ea typeface="Consolas" pitchFamily="34" charset="-122"/>
                <a:cs typeface="Consolas" pitchFamily="34" charset="-120"/>
              </a:rPr>
              <a:t>=</a:t>
            </a:r>
            <a:r>
              <a:rPr lang="en-US" sz="1050" dirty="0">
                <a:solidFill>
                  <a:srgbClr val="CE9178"/>
                </a:solidFill>
                <a:latin typeface="Consolas" pitchFamily="34" charset="0"/>
                <a:ea typeface="Consolas" pitchFamily="34" charset="-122"/>
                <a:cs typeface="Consolas" pitchFamily="34" charset="-120"/>
              </a:rPr>
              <a:t>"100"</a:t>
            </a:r>
            <a:endParaRPr lang="en-US" sz="1050" dirty="0"/>
          </a:p>
          <a:p>
            <a:pPr marL="0" indent="0">
              <a:lnSpc>
                <a:spcPct val="100000"/>
              </a:lnSpc>
              <a:buNone/>
            </a:pP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alt</a:t>
            </a:r>
            <a:r>
              <a:rPr lang="en-US" sz="1050" dirty="0">
                <a:solidFill>
                  <a:srgbClr val="D4D4D4"/>
                </a:solidFill>
                <a:latin typeface="Consolas" pitchFamily="34" charset="0"/>
                <a:ea typeface="Consolas" pitchFamily="34" charset="-122"/>
                <a:cs typeface="Consolas" pitchFamily="34" charset="-120"/>
              </a:rPr>
              <a:t>=</a:t>
            </a:r>
            <a:r>
              <a:rPr lang="en-US" sz="1050" dirty="0">
                <a:solidFill>
                  <a:srgbClr val="CE9178"/>
                </a:solidFill>
                <a:latin typeface="Consolas" pitchFamily="34" charset="0"/>
                <a:ea typeface="Consolas" pitchFamily="34" charset="-122"/>
                <a:cs typeface="Consolas" pitchFamily="34" charset="-120"/>
              </a:rPr>
              <a:t>"Harbourside Fish and Chips"</a:t>
            </a:r>
            <a:r>
              <a:rPr lang="en-US" sz="1050" dirty="0">
                <a:solidFill>
                  <a:srgbClr val="808080"/>
                </a:solidFill>
                <a:latin typeface="Consolas" pitchFamily="34" charset="0"/>
                <a:ea typeface="Consolas" pitchFamily="34" charset="-122"/>
                <a:cs typeface="Consolas" pitchFamily="34" charset="-120"/>
              </a:rPr>
              <a:t>&gt;</a:t>
            </a:r>
            <a:endParaRPr lang="en-US" sz="1050" dirty="0"/>
          </a:p>
          <a:p>
            <a:pPr marL="0" indent="0">
              <a:lnSpc>
                <a:spcPct val="100000"/>
              </a:lnSpc>
              <a:buNone/>
            </a:pPr>
            <a:r>
              <a:rPr lang="en-US" sz="1050" dirty="0">
                <a:solidFill>
                  <a:srgbClr val="D4D4D4"/>
                </a:solidFill>
                <a:latin typeface="Consolas" pitchFamily="34" charset="0"/>
                <a:ea typeface="Consolas" pitchFamily="34" charset="-122"/>
                <a:cs typeface="Consolas" pitchFamily="34" charset="-120"/>
              </a:rPr>
              <a:t> </a:t>
            </a:r>
            <a:endParaRPr lang="en-US" sz="1050" dirty="0"/>
          </a:p>
          <a:p>
            <a:pPr marL="0" indent="0">
              <a:lnSpc>
                <a:spcPct val="100000"/>
              </a:lnSpc>
              <a:buNone/>
            </a:pPr>
            <a:r>
              <a:rPr lang="en-US" sz="1050" dirty="0">
                <a:solidFill>
                  <a:srgbClr val="808080"/>
                </a:solidFill>
                <a:latin typeface="Consolas" pitchFamily="34" charset="0"/>
                <a:ea typeface="Consolas" pitchFamily="34" charset="-122"/>
                <a:cs typeface="Consolas" pitchFamily="34" charset="-120"/>
              </a:rPr>
              <a:t>&lt;</a:t>
            </a:r>
            <a:r>
              <a:rPr lang="en-US" sz="1050" dirty="0">
                <a:solidFill>
                  <a:srgbClr val="569CD6"/>
                </a:solidFill>
                <a:latin typeface="Consolas" pitchFamily="34" charset="0"/>
                <a:ea typeface="Consolas" pitchFamily="34" charset="-122"/>
                <a:cs typeface="Consolas" pitchFamily="34" charset="-120"/>
              </a:rPr>
              <a:t>h2</a:t>
            </a:r>
            <a:r>
              <a:rPr lang="en-US" sz="1050" dirty="0">
                <a:solidFill>
                  <a:srgbClr val="808080"/>
                </a:solidFill>
                <a:latin typeface="Consolas" pitchFamily="34" charset="0"/>
                <a:ea typeface="Consolas" pitchFamily="34" charset="-122"/>
                <a:cs typeface="Consolas" pitchFamily="34" charset="-120"/>
              </a:rPr>
              <a:t>&gt;</a:t>
            </a:r>
            <a:r>
              <a:rPr lang="en-US" sz="1050" dirty="0">
                <a:solidFill>
                  <a:srgbClr val="D4D4D4"/>
                </a:solidFill>
                <a:latin typeface="Consolas" pitchFamily="34" charset="0"/>
                <a:ea typeface="Consolas" pitchFamily="34" charset="-122"/>
                <a:cs typeface="Consolas" pitchFamily="34" charset="-120"/>
              </a:rPr>
              <a:t>Big (900 pixels wide)</a:t>
            </a:r>
            <a:r>
              <a:rPr lang="en-US" sz="1050" dirty="0">
                <a:solidFill>
                  <a:srgbClr val="808080"/>
                </a:solidFill>
                <a:latin typeface="Consolas" pitchFamily="34" charset="0"/>
                <a:ea typeface="Consolas" pitchFamily="34" charset="-122"/>
                <a:cs typeface="Consolas" pitchFamily="34" charset="-120"/>
              </a:rPr>
              <a:t>&lt;/</a:t>
            </a:r>
            <a:r>
              <a:rPr lang="en-US" sz="1050" dirty="0">
                <a:solidFill>
                  <a:srgbClr val="569CD6"/>
                </a:solidFill>
                <a:latin typeface="Consolas" pitchFamily="34" charset="0"/>
                <a:ea typeface="Consolas" pitchFamily="34" charset="-122"/>
                <a:cs typeface="Consolas" pitchFamily="34" charset="-120"/>
              </a:rPr>
              <a:t>h2</a:t>
            </a:r>
            <a:r>
              <a:rPr lang="en-US" sz="1050" dirty="0">
                <a:solidFill>
                  <a:srgbClr val="808080"/>
                </a:solidFill>
                <a:latin typeface="Consolas" pitchFamily="34" charset="0"/>
                <a:ea typeface="Consolas" pitchFamily="34" charset="-122"/>
                <a:cs typeface="Consolas" pitchFamily="34" charset="-120"/>
              </a:rPr>
              <a:t>&gt;</a:t>
            </a:r>
            <a:endParaRPr lang="en-US" sz="1050" dirty="0"/>
          </a:p>
          <a:p>
            <a:pPr marL="0" indent="0">
              <a:lnSpc>
                <a:spcPct val="100000"/>
              </a:lnSpc>
              <a:buNone/>
            </a:pPr>
            <a:r>
              <a:rPr lang="en-US" sz="1050" dirty="0">
                <a:solidFill>
                  <a:srgbClr val="D4D4D4"/>
                </a:solidFill>
                <a:latin typeface="Consolas" pitchFamily="34" charset="0"/>
                <a:ea typeface="Consolas" pitchFamily="34" charset="-122"/>
                <a:cs typeface="Consolas" pitchFamily="34" charset="-120"/>
              </a:rPr>
              <a:t> </a:t>
            </a:r>
            <a:endParaRPr lang="en-US" sz="1050" dirty="0"/>
          </a:p>
          <a:p>
            <a:pPr marL="0" indent="0">
              <a:lnSpc>
                <a:spcPct val="100000"/>
              </a:lnSpc>
              <a:buNone/>
            </a:pPr>
            <a:r>
              <a:rPr lang="en-US" sz="1050" dirty="0">
                <a:solidFill>
                  <a:srgbClr val="6A9955"/>
                </a:solidFill>
                <a:latin typeface="Consolas" pitchFamily="34" charset="0"/>
                <a:ea typeface="Consolas" pitchFamily="34" charset="-122"/>
                <a:cs typeface="Consolas" pitchFamily="34" charset="-120"/>
              </a:rPr>
              <a:t>&lt;!-- SVG: shapes described in code. Sharp at ANY size. 0.7 KB --&gt;</a:t>
            </a:r>
            <a:endParaRPr lang="en-US" sz="1050" dirty="0"/>
          </a:p>
          <a:p>
            <a:pPr marL="0" indent="0">
              <a:lnSpc>
                <a:spcPct val="100000"/>
              </a:lnSpc>
              <a:buNone/>
            </a:pPr>
            <a:r>
              <a:rPr lang="en-US" sz="1050" dirty="0">
                <a:solidFill>
                  <a:srgbClr val="808080"/>
                </a:solidFill>
                <a:latin typeface="Consolas" pitchFamily="34" charset="0"/>
                <a:ea typeface="Consolas" pitchFamily="34" charset="-122"/>
                <a:cs typeface="Consolas" pitchFamily="34" charset="-120"/>
              </a:rPr>
              <a:t>&lt;</a:t>
            </a:r>
            <a:r>
              <a:rPr lang="en-US" sz="1050" dirty="0">
                <a:solidFill>
                  <a:srgbClr val="569CD6"/>
                </a:solidFill>
                <a:latin typeface="Consolas" pitchFamily="34" charset="0"/>
                <a:ea typeface="Consolas" pitchFamily="34" charset="-122"/>
                <a:cs typeface="Consolas" pitchFamily="34" charset="-120"/>
              </a:rPr>
              <a:t>h3</a:t>
            </a:r>
            <a:r>
              <a:rPr lang="en-US" sz="1050" dirty="0">
                <a:solidFill>
                  <a:srgbClr val="808080"/>
                </a:solidFill>
                <a:latin typeface="Consolas" pitchFamily="34" charset="0"/>
                <a:ea typeface="Consolas" pitchFamily="34" charset="-122"/>
                <a:cs typeface="Consolas" pitchFamily="34" charset="-120"/>
              </a:rPr>
              <a:t>&gt;</a:t>
            </a:r>
            <a:r>
              <a:rPr lang="en-US" sz="1050" dirty="0">
                <a:solidFill>
                  <a:srgbClr val="D4D4D4"/>
                </a:solidFill>
                <a:latin typeface="Consolas" pitchFamily="34" charset="0"/>
                <a:ea typeface="Consolas" pitchFamily="34" charset="-122"/>
                <a:cs typeface="Consolas" pitchFamily="34" charset="-120"/>
              </a:rPr>
              <a:t>SVG (0.7 KB)</a:t>
            </a:r>
            <a:r>
              <a:rPr lang="en-US" sz="1050" dirty="0">
                <a:solidFill>
                  <a:srgbClr val="808080"/>
                </a:solidFill>
                <a:latin typeface="Consolas" pitchFamily="34" charset="0"/>
                <a:ea typeface="Consolas" pitchFamily="34" charset="-122"/>
                <a:cs typeface="Consolas" pitchFamily="34" charset="-120"/>
              </a:rPr>
              <a:t>&lt;/</a:t>
            </a:r>
            <a:r>
              <a:rPr lang="en-US" sz="1050" dirty="0">
                <a:solidFill>
                  <a:srgbClr val="569CD6"/>
                </a:solidFill>
                <a:latin typeface="Consolas" pitchFamily="34" charset="0"/>
                <a:ea typeface="Consolas" pitchFamily="34" charset="-122"/>
                <a:cs typeface="Consolas" pitchFamily="34" charset="-120"/>
              </a:rPr>
              <a:t>h3</a:t>
            </a:r>
            <a:r>
              <a:rPr lang="en-US" sz="1050" dirty="0">
                <a:solidFill>
                  <a:srgbClr val="808080"/>
                </a:solidFill>
                <a:latin typeface="Consolas" pitchFamily="34" charset="0"/>
                <a:ea typeface="Consolas" pitchFamily="34" charset="-122"/>
                <a:cs typeface="Consolas" pitchFamily="34" charset="-120"/>
              </a:rPr>
              <a:t>&gt;</a:t>
            </a:r>
            <a:endParaRPr lang="en-US" sz="1050" dirty="0"/>
          </a:p>
          <a:p>
            <a:pPr marL="0" indent="0">
              <a:lnSpc>
                <a:spcPct val="100000"/>
              </a:lnSpc>
              <a:buNone/>
            </a:pPr>
            <a:r>
              <a:rPr lang="en-US" sz="1050" dirty="0">
                <a:solidFill>
                  <a:srgbClr val="808080"/>
                </a:solidFill>
                <a:latin typeface="Consolas" pitchFamily="34" charset="0"/>
                <a:ea typeface="Consolas" pitchFamily="34" charset="-122"/>
                <a:cs typeface="Consolas" pitchFamily="34" charset="-120"/>
              </a:rPr>
              <a:t>&lt;</a:t>
            </a:r>
            <a:r>
              <a:rPr lang="en-US" sz="1050" dirty="0">
                <a:solidFill>
                  <a:srgbClr val="569CD6"/>
                </a:solidFill>
                <a:latin typeface="Consolas" pitchFamily="34" charset="0"/>
                <a:ea typeface="Consolas" pitchFamily="34" charset="-122"/>
                <a:cs typeface="Consolas" pitchFamily="34" charset="-120"/>
              </a:rPr>
              <a:t>img</a:t>
            </a: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src</a:t>
            </a:r>
            <a:r>
              <a:rPr lang="en-US" sz="1050" dirty="0">
                <a:solidFill>
                  <a:srgbClr val="D4D4D4"/>
                </a:solidFill>
                <a:latin typeface="Consolas" pitchFamily="34" charset="0"/>
                <a:ea typeface="Consolas" pitchFamily="34" charset="-122"/>
                <a:cs typeface="Consolas" pitchFamily="34" charset="-120"/>
              </a:rPr>
              <a:t>=</a:t>
            </a:r>
            <a:r>
              <a:rPr lang="en-US" sz="1050" dirty="0">
                <a:solidFill>
                  <a:srgbClr val="CE9178"/>
                </a:solidFill>
                <a:latin typeface="Consolas" pitchFamily="34" charset="0"/>
                <a:ea typeface="Consolas" pitchFamily="34" charset="-122"/>
                <a:cs typeface="Consolas" pitchFamily="34" charset="-120"/>
              </a:rPr>
              <a:t>"samples/logo.svg"</a:t>
            </a: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width</a:t>
            </a:r>
            <a:r>
              <a:rPr lang="en-US" sz="1050" dirty="0">
                <a:solidFill>
                  <a:srgbClr val="D4D4D4"/>
                </a:solidFill>
                <a:latin typeface="Consolas" pitchFamily="34" charset="0"/>
                <a:ea typeface="Consolas" pitchFamily="34" charset="-122"/>
                <a:cs typeface="Consolas" pitchFamily="34" charset="-120"/>
              </a:rPr>
              <a:t>=</a:t>
            </a:r>
            <a:r>
              <a:rPr lang="en-US" sz="1050" dirty="0">
                <a:solidFill>
                  <a:srgbClr val="CE9178"/>
                </a:solidFill>
                <a:latin typeface="Consolas" pitchFamily="34" charset="0"/>
                <a:ea typeface="Consolas" pitchFamily="34" charset="-122"/>
                <a:cs typeface="Consolas" pitchFamily="34" charset="-120"/>
              </a:rPr>
              <a:t>"900"</a:t>
            </a: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height</a:t>
            </a:r>
            <a:r>
              <a:rPr lang="en-US" sz="1050" dirty="0">
                <a:solidFill>
                  <a:srgbClr val="D4D4D4"/>
                </a:solidFill>
                <a:latin typeface="Consolas" pitchFamily="34" charset="0"/>
                <a:ea typeface="Consolas" pitchFamily="34" charset="-122"/>
                <a:cs typeface="Consolas" pitchFamily="34" charset="-120"/>
              </a:rPr>
              <a:t>=</a:t>
            </a:r>
            <a:r>
              <a:rPr lang="en-US" sz="1050" dirty="0">
                <a:solidFill>
                  <a:srgbClr val="CE9178"/>
                </a:solidFill>
                <a:latin typeface="Consolas" pitchFamily="34" charset="0"/>
                <a:ea typeface="Consolas" pitchFamily="34" charset="-122"/>
                <a:cs typeface="Consolas" pitchFamily="34" charset="-120"/>
              </a:rPr>
              <a:t>"900"</a:t>
            </a:r>
            <a:endParaRPr lang="en-US" sz="1050" dirty="0"/>
          </a:p>
          <a:p>
            <a:pPr marL="0" indent="0">
              <a:lnSpc>
                <a:spcPct val="100000"/>
              </a:lnSpc>
              <a:buNone/>
            </a:pP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alt</a:t>
            </a:r>
            <a:r>
              <a:rPr lang="en-US" sz="1050" dirty="0">
                <a:solidFill>
                  <a:srgbClr val="D4D4D4"/>
                </a:solidFill>
                <a:latin typeface="Consolas" pitchFamily="34" charset="0"/>
                <a:ea typeface="Consolas" pitchFamily="34" charset="-122"/>
                <a:cs typeface="Consolas" pitchFamily="34" charset="-120"/>
              </a:rPr>
              <a:t>=</a:t>
            </a:r>
            <a:r>
              <a:rPr lang="en-US" sz="1050" dirty="0">
                <a:solidFill>
                  <a:srgbClr val="CE9178"/>
                </a:solidFill>
                <a:latin typeface="Consolas" pitchFamily="34" charset="0"/>
                <a:ea typeface="Consolas" pitchFamily="34" charset="-122"/>
                <a:cs typeface="Consolas" pitchFamily="34" charset="-120"/>
              </a:rPr>
              <a:t>"Harbourside Fish and Chips"</a:t>
            </a:r>
            <a:r>
              <a:rPr lang="en-US" sz="1050" dirty="0">
                <a:solidFill>
                  <a:srgbClr val="808080"/>
                </a:solidFill>
                <a:latin typeface="Consolas" pitchFamily="34" charset="0"/>
                <a:ea typeface="Consolas" pitchFamily="34" charset="-122"/>
                <a:cs typeface="Consolas" pitchFamily="34" charset="-120"/>
              </a:rPr>
              <a:t>&gt;</a:t>
            </a:r>
            <a:endParaRPr lang="en-US" sz="1050" dirty="0"/>
          </a:p>
          <a:p>
            <a:pPr marL="0" indent="0">
              <a:lnSpc>
                <a:spcPct val="100000"/>
              </a:lnSpc>
              <a:buNone/>
            </a:pPr>
            <a:r>
              <a:rPr lang="en-US" sz="1050" dirty="0">
                <a:solidFill>
                  <a:srgbClr val="D4D4D4"/>
                </a:solidFill>
                <a:latin typeface="Consolas" pitchFamily="34" charset="0"/>
                <a:ea typeface="Consolas" pitchFamily="34" charset="-122"/>
                <a:cs typeface="Consolas" pitchFamily="34" charset="-120"/>
              </a:rPr>
              <a:t> </a:t>
            </a:r>
            <a:endParaRPr lang="en-US" sz="1050" dirty="0"/>
          </a:p>
          <a:p>
            <a:pPr marL="0" indent="0">
              <a:lnSpc>
                <a:spcPct val="100000"/>
              </a:lnSpc>
              <a:buNone/>
            </a:pPr>
            <a:r>
              <a:rPr lang="en-US" sz="1050" dirty="0">
                <a:solidFill>
                  <a:srgbClr val="6A9955"/>
                </a:solidFill>
                <a:latin typeface="Consolas" pitchFamily="34" charset="0"/>
                <a:ea typeface="Consolas" pitchFamily="34" charset="-122"/>
                <a:cs typeface="Consolas" pitchFamily="34" charset="-120"/>
              </a:rPr>
              <a:t>&lt;!-- PNG: 600 x 600 pixels, stretched to 900. Soft edges. 21 KB --&gt;</a:t>
            </a:r>
            <a:endParaRPr lang="en-US" sz="1050" dirty="0"/>
          </a:p>
          <a:p>
            <a:pPr marL="0" indent="0">
              <a:lnSpc>
                <a:spcPct val="100000"/>
              </a:lnSpc>
              <a:buNone/>
            </a:pPr>
            <a:r>
              <a:rPr lang="en-US" sz="1050" dirty="0">
                <a:solidFill>
                  <a:srgbClr val="808080"/>
                </a:solidFill>
                <a:latin typeface="Consolas" pitchFamily="34" charset="0"/>
                <a:ea typeface="Consolas" pitchFamily="34" charset="-122"/>
                <a:cs typeface="Consolas" pitchFamily="34" charset="-120"/>
              </a:rPr>
              <a:t>&lt;</a:t>
            </a:r>
            <a:r>
              <a:rPr lang="en-US" sz="1050" dirty="0">
                <a:solidFill>
                  <a:srgbClr val="569CD6"/>
                </a:solidFill>
                <a:latin typeface="Consolas" pitchFamily="34" charset="0"/>
                <a:ea typeface="Consolas" pitchFamily="34" charset="-122"/>
                <a:cs typeface="Consolas" pitchFamily="34" charset="-120"/>
              </a:rPr>
              <a:t>h3</a:t>
            </a:r>
            <a:r>
              <a:rPr lang="en-US" sz="1050" dirty="0">
                <a:solidFill>
                  <a:srgbClr val="808080"/>
                </a:solidFill>
                <a:latin typeface="Consolas" pitchFamily="34" charset="0"/>
                <a:ea typeface="Consolas" pitchFamily="34" charset="-122"/>
                <a:cs typeface="Consolas" pitchFamily="34" charset="-120"/>
              </a:rPr>
              <a:t>&gt;</a:t>
            </a:r>
            <a:r>
              <a:rPr lang="en-US" sz="1050" dirty="0">
                <a:solidFill>
                  <a:srgbClr val="D4D4D4"/>
                </a:solidFill>
                <a:latin typeface="Consolas" pitchFamily="34" charset="0"/>
                <a:ea typeface="Consolas" pitchFamily="34" charset="-122"/>
                <a:cs typeface="Consolas" pitchFamily="34" charset="-120"/>
              </a:rPr>
              <a:t>PNG (21 KB)</a:t>
            </a:r>
            <a:r>
              <a:rPr lang="en-US" sz="1050" dirty="0">
                <a:solidFill>
                  <a:srgbClr val="808080"/>
                </a:solidFill>
                <a:latin typeface="Consolas" pitchFamily="34" charset="0"/>
                <a:ea typeface="Consolas" pitchFamily="34" charset="-122"/>
                <a:cs typeface="Consolas" pitchFamily="34" charset="-120"/>
              </a:rPr>
              <a:t>&lt;/</a:t>
            </a:r>
            <a:r>
              <a:rPr lang="en-US" sz="1050" dirty="0">
                <a:solidFill>
                  <a:srgbClr val="569CD6"/>
                </a:solidFill>
                <a:latin typeface="Consolas" pitchFamily="34" charset="0"/>
                <a:ea typeface="Consolas" pitchFamily="34" charset="-122"/>
                <a:cs typeface="Consolas" pitchFamily="34" charset="-120"/>
              </a:rPr>
              <a:t>h3</a:t>
            </a:r>
            <a:r>
              <a:rPr lang="en-US" sz="1050" dirty="0">
                <a:solidFill>
                  <a:srgbClr val="808080"/>
                </a:solidFill>
                <a:latin typeface="Consolas" pitchFamily="34" charset="0"/>
                <a:ea typeface="Consolas" pitchFamily="34" charset="-122"/>
                <a:cs typeface="Consolas" pitchFamily="34" charset="-120"/>
              </a:rPr>
              <a:t>&gt;</a:t>
            </a:r>
            <a:endParaRPr lang="en-US" sz="1050" dirty="0"/>
          </a:p>
          <a:p>
            <a:pPr marL="0" indent="0">
              <a:lnSpc>
                <a:spcPct val="100000"/>
              </a:lnSpc>
              <a:buNone/>
            </a:pPr>
            <a:r>
              <a:rPr lang="en-US" sz="1050" dirty="0">
                <a:solidFill>
                  <a:srgbClr val="808080"/>
                </a:solidFill>
                <a:latin typeface="Consolas" pitchFamily="34" charset="0"/>
                <a:ea typeface="Consolas" pitchFamily="34" charset="-122"/>
                <a:cs typeface="Consolas" pitchFamily="34" charset="-120"/>
              </a:rPr>
              <a:t>&lt;</a:t>
            </a:r>
            <a:r>
              <a:rPr lang="en-US" sz="1050" dirty="0">
                <a:solidFill>
                  <a:srgbClr val="569CD6"/>
                </a:solidFill>
                <a:latin typeface="Consolas" pitchFamily="34" charset="0"/>
                <a:ea typeface="Consolas" pitchFamily="34" charset="-122"/>
                <a:cs typeface="Consolas" pitchFamily="34" charset="-120"/>
              </a:rPr>
              <a:t>img</a:t>
            </a: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src</a:t>
            </a:r>
            <a:r>
              <a:rPr lang="en-US" sz="1050" dirty="0">
                <a:solidFill>
                  <a:srgbClr val="D4D4D4"/>
                </a:solidFill>
                <a:latin typeface="Consolas" pitchFamily="34" charset="0"/>
                <a:ea typeface="Consolas" pitchFamily="34" charset="-122"/>
                <a:cs typeface="Consolas" pitchFamily="34" charset="-120"/>
              </a:rPr>
              <a:t>=</a:t>
            </a:r>
            <a:r>
              <a:rPr lang="en-US" sz="1050" dirty="0">
                <a:solidFill>
                  <a:srgbClr val="CE9178"/>
                </a:solidFill>
                <a:latin typeface="Consolas" pitchFamily="34" charset="0"/>
                <a:ea typeface="Consolas" pitchFamily="34" charset="-122"/>
                <a:cs typeface="Consolas" pitchFamily="34" charset="-120"/>
              </a:rPr>
              <a:t>"samples/logo.png"</a:t>
            </a: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width</a:t>
            </a:r>
            <a:r>
              <a:rPr lang="en-US" sz="1050" dirty="0">
                <a:solidFill>
                  <a:srgbClr val="D4D4D4"/>
                </a:solidFill>
                <a:latin typeface="Consolas" pitchFamily="34" charset="0"/>
                <a:ea typeface="Consolas" pitchFamily="34" charset="-122"/>
                <a:cs typeface="Consolas" pitchFamily="34" charset="-120"/>
              </a:rPr>
              <a:t>=</a:t>
            </a:r>
            <a:r>
              <a:rPr lang="en-US" sz="1050" dirty="0">
                <a:solidFill>
                  <a:srgbClr val="CE9178"/>
                </a:solidFill>
                <a:latin typeface="Consolas" pitchFamily="34" charset="0"/>
                <a:ea typeface="Consolas" pitchFamily="34" charset="-122"/>
                <a:cs typeface="Consolas" pitchFamily="34" charset="-120"/>
              </a:rPr>
              <a:t>"900"</a:t>
            </a: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height</a:t>
            </a:r>
            <a:r>
              <a:rPr lang="en-US" sz="1050" dirty="0">
                <a:solidFill>
                  <a:srgbClr val="D4D4D4"/>
                </a:solidFill>
                <a:latin typeface="Consolas" pitchFamily="34" charset="0"/>
                <a:ea typeface="Consolas" pitchFamily="34" charset="-122"/>
                <a:cs typeface="Consolas" pitchFamily="34" charset="-120"/>
              </a:rPr>
              <a:t>=</a:t>
            </a:r>
            <a:r>
              <a:rPr lang="en-US" sz="1050" dirty="0">
                <a:solidFill>
                  <a:srgbClr val="CE9178"/>
                </a:solidFill>
                <a:latin typeface="Consolas" pitchFamily="34" charset="0"/>
                <a:ea typeface="Consolas" pitchFamily="34" charset="-122"/>
                <a:cs typeface="Consolas" pitchFamily="34" charset="-120"/>
              </a:rPr>
              <a:t>"900"</a:t>
            </a:r>
            <a:endParaRPr lang="en-US" sz="1050" dirty="0"/>
          </a:p>
          <a:p>
            <a:pPr marL="0" indent="0">
              <a:lnSpc>
                <a:spcPct val="100000"/>
              </a:lnSpc>
              <a:buNone/>
            </a:pP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alt</a:t>
            </a:r>
            <a:r>
              <a:rPr lang="en-US" sz="1050" dirty="0">
                <a:solidFill>
                  <a:srgbClr val="D4D4D4"/>
                </a:solidFill>
                <a:latin typeface="Consolas" pitchFamily="34" charset="0"/>
                <a:ea typeface="Consolas" pitchFamily="34" charset="-122"/>
                <a:cs typeface="Consolas" pitchFamily="34" charset="-120"/>
              </a:rPr>
              <a:t>=</a:t>
            </a:r>
            <a:r>
              <a:rPr lang="en-US" sz="1050" dirty="0">
                <a:solidFill>
                  <a:srgbClr val="CE9178"/>
                </a:solidFill>
                <a:latin typeface="Consolas" pitchFamily="34" charset="0"/>
                <a:ea typeface="Consolas" pitchFamily="34" charset="-122"/>
                <a:cs typeface="Consolas" pitchFamily="34" charset="-120"/>
              </a:rPr>
              <a:t>"Harbourside Fish and Chips"</a:t>
            </a:r>
            <a:r>
              <a:rPr lang="en-US" sz="1050" dirty="0">
                <a:solidFill>
                  <a:srgbClr val="808080"/>
                </a:solidFill>
                <a:latin typeface="Consolas" pitchFamily="34" charset="0"/>
                <a:ea typeface="Consolas" pitchFamily="34" charset="-122"/>
                <a:cs typeface="Consolas" pitchFamily="34" charset="-120"/>
              </a:rPr>
              <a:t>&gt;</a:t>
            </a:r>
            <a:endParaRPr lang="en-US" sz="1050" dirty="0"/>
          </a:p>
          <a:p>
            <a:pPr marL="0" indent="0">
              <a:lnSpc>
                <a:spcPct val="100000"/>
              </a:lnSpc>
              <a:buNone/>
            </a:pPr>
            <a:r>
              <a:rPr lang="en-US" sz="1050" dirty="0">
                <a:solidFill>
                  <a:srgbClr val="D4D4D4"/>
                </a:solidFill>
                <a:latin typeface="Consolas" pitchFamily="34" charset="0"/>
                <a:ea typeface="Consolas" pitchFamily="34" charset="-122"/>
                <a:cs typeface="Consolas" pitchFamily="34" charset="-120"/>
              </a:rPr>
              <a:t> </a:t>
            </a:r>
            <a:endParaRPr lang="en-US" sz="1050" dirty="0"/>
          </a:p>
          <a:p>
            <a:pPr marL="0" indent="0">
              <a:lnSpc>
                <a:spcPct val="100000"/>
              </a:lnSpc>
              <a:buNone/>
            </a:pPr>
            <a:r>
              <a:rPr lang="en-US" sz="1050" dirty="0">
                <a:solidFill>
                  <a:srgbClr val="6A9955"/>
                </a:solidFill>
                <a:latin typeface="Consolas" pitchFamily="34" charset="0"/>
                <a:ea typeface="Consolas" pitchFamily="34" charset="-122"/>
                <a:cs typeface="Consolas" pitchFamily="34" charset="-120"/>
              </a:rPr>
              <a:t>&lt;!-- JPG: no transparency (white corners) and smudgy edges. 21 KB --&gt;</a:t>
            </a:r>
            <a:endParaRPr lang="en-US" sz="1050" dirty="0"/>
          </a:p>
          <a:p>
            <a:pPr marL="0" indent="0">
              <a:lnSpc>
                <a:spcPct val="100000"/>
              </a:lnSpc>
              <a:buNone/>
            </a:pPr>
            <a:r>
              <a:rPr lang="en-US" sz="1050" dirty="0">
                <a:solidFill>
                  <a:srgbClr val="808080"/>
                </a:solidFill>
                <a:latin typeface="Consolas" pitchFamily="34" charset="0"/>
                <a:ea typeface="Consolas" pitchFamily="34" charset="-122"/>
                <a:cs typeface="Consolas" pitchFamily="34" charset="-120"/>
              </a:rPr>
              <a:t>&lt;</a:t>
            </a:r>
            <a:r>
              <a:rPr lang="en-US" sz="1050" dirty="0">
                <a:solidFill>
                  <a:srgbClr val="569CD6"/>
                </a:solidFill>
                <a:latin typeface="Consolas" pitchFamily="34" charset="0"/>
                <a:ea typeface="Consolas" pitchFamily="34" charset="-122"/>
                <a:cs typeface="Consolas" pitchFamily="34" charset="-120"/>
              </a:rPr>
              <a:t>h3</a:t>
            </a:r>
            <a:r>
              <a:rPr lang="en-US" sz="1050" dirty="0">
                <a:solidFill>
                  <a:srgbClr val="808080"/>
                </a:solidFill>
                <a:latin typeface="Consolas" pitchFamily="34" charset="0"/>
                <a:ea typeface="Consolas" pitchFamily="34" charset="-122"/>
                <a:cs typeface="Consolas" pitchFamily="34" charset="-120"/>
              </a:rPr>
              <a:t>&gt;</a:t>
            </a:r>
            <a:r>
              <a:rPr lang="en-US" sz="1050" dirty="0">
                <a:solidFill>
                  <a:srgbClr val="D4D4D4"/>
                </a:solidFill>
                <a:latin typeface="Consolas" pitchFamily="34" charset="0"/>
                <a:ea typeface="Consolas" pitchFamily="34" charset="-122"/>
                <a:cs typeface="Consolas" pitchFamily="34" charset="-120"/>
              </a:rPr>
              <a:t>JPG (21 KB)</a:t>
            </a:r>
            <a:r>
              <a:rPr lang="en-US" sz="1050" dirty="0">
                <a:solidFill>
                  <a:srgbClr val="808080"/>
                </a:solidFill>
                <a:latin typeface="Consolas" pitchFamily="34" charset="0"/>
                <a:ea typeface="Consolas" pitchFamily="34" charset="-122"/>
                <a:cs typeface="Consolas" pitchFamily="34" charset="-120"/>
              </a:rPr>
              <a:t>&lt;/</a:t>
            </a:r>
            <a:r>
              <a:rPr lang="en-US" sz="1050" dirty="0">
                <a:solidFill>
                  <a:srgbClr val="569CD6"/>
                </a:solidFill>
                <a:latin typeface="Consolas" pitchFamily="34" charset="0"/>
                <a:ea typeface="Consolas" pitchFamily="34" charset="-122"/>
                <a:cs typeface="Consolas" pitchFamily="34" charset="-120"/>
              </a:rPr>
              <a:t>h3</a:t>
            </a:r>
            <a:r>
              <a:rPr lang="en-US" sz="1050" dirty="0">
                <a:solidFill>
                  <a:srgbClr val="808080"/>
                </a:solidFill>
                <a:latin typeface="Consolas" pitchFamily="34" charset="0"/>
                <a:ea typeface="Consolas" pitchFamily="34" charset="-122"/>
                <a:cs typeface="Consolas" pitchFamily="34" charset="-120"/>
              </a:rPr>
              <a:t>&gt;</a:t>
            </a:r>
            <a:endParaRPr lang="en-US" sz="1050" dirty="0"/>
          </a:p>
          <a:p>
            <a:pPr marL="0" indent="0">
              <a:lnSpc>
                <a:spcPct val="100000"/>
              </a:lnSpc>
              <a:buNone/>
            </a:pPr>
            <a:r>
              <a:rPr lang="en-US" sz="1050" dirty="0">
                <a:solidFill>
                  <a:srgbClr val="808080"/>
                </a:solidFill>
                <a:latin typeface="Consolas" pitchFamily="34" charset="0"/>
                <a:ea typeface="Consolas" pitchFamily="34" charset="-122"/>
                <a:cs typeface="Consolas" pitchFamily="34" charset="-120"/>
              </a:rPr>
              <a:t>&lt;</a:t>
            </a:r>
            <a:r>
              <a:rPr lang="en-US" sz="1050" dirty="0">
                <a:solidFill>
                  <a:srgbClr val="569CD6"/>
                </a:solidFill>
                <a:latin typeface="Consolas" pitchFamily="34" charset="0"/>
                <a:ea typeface="Consolas" pitchFamily="34" charset="-122"/>
                <a:cs typeface="Consolas" pitchFamily="34" charset="-120"/>
              </a:rPr>
              <a:t>img</a:t>
            </a: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src</a:t>
            </a:r>
            <a:r>
              <a:rPr lang="en-US" sz="1050" dirty="0">
                <a:solidFill>
                  <a:srgbClr val="D4D4D4"/>
                </a:solidFill>
                <a:latin typeface="Consolas" pitchFamily="34" charset="0"/>
                <a:ea typeface="Consolas" pitchFamily="34" charset="-122"/>
                <a:cs typeface="Consolas" pitchFamily="34" charset="-120"/>
              </a:rPr>
              <a:t>=</a:t>
            </a:r>
            <a:r>
              <a:rPr lang="en-US" sz="1050" dirty="0">
                <a:solidFill>
                  <a:srgbClr val="CE9178"/>
                </a:solidFill>
                <a:latin typeface="Consolas" pitchFamily="34" charset="0"/>
                <a:ea typeface="Consolas" pitchFamily="34" charset="-122"/>
                <a:cs typeface="Consolas" pitchFamily="34" charset="-120"/>
              </a:rPr>
              <a:t>"samples/logo.jpg"</a:t>
            </a: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width</a:t>
            </a:r>
            <a:r>
              <a:rPr lang="en-US" sz="1050" dirty="0">
                <a:solidFill>
                  <a:srgbClr val="D4D4D4"/>
                </a:solidFill>
                <a:latin typeface="Consolas" pitchFamily="34" charset="0"/>
                <a:ea typeface="Consolas" pitchFamily="34" charset="-122"/>
                <a:cs typeface="Consolas" pitchFamily="34" charset="-120"/>
              </a:rPr>
              <a:t>=</a:t>
            </a:r>
            <a:r>
              <a:rPr lang="en-US" sz="1050" dirty="0">
                <a:solidFill>
                  <a:srgbClr val="CE9178"/>
                </a:solidFill>
                <a:latin typeface="Consolas" pitchFamily="34" charset="0"/>
                <a:ea typeface="Consolas" pitchFamily="34" charset="-122"/>
                <a:cs typeface="Consolas" pitchFamily="34" charset="-120"/>
              </a:rPr>
              <a:t>"900"</a:t>
            </a: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height</a:t>
            </a:r>
            <a:r>
              <a:rPr lang="en-US" sz="1050" dirty="0">
                <a:solidFill>
                  <a:srgbClr val="D4D4D4"/>
                </a:solidFill>
                <a:latin typeface="Consolas" pitchFamily="34" charset="0"/>
                <a:ea typeface="Consolas" pitchFamily="34" charset="-122"/>
                <a:cs typeface="Consolas" pitchFamily="34" charset="-120"/>
              </a:rPr>
              <a:t>=</a:t>
            </a:r>
            <a:r>
              <a:rPr lang="en-US" sz="1050" dirty="0">
                <a:solidFill>
                  <a:srgbClr val="CE9178"/>
                </a:solidFill>
                <a:latin typeface="Consolas" pitchFamily="34" charset="0"/>
                <a:ea typeface="Consolas" pitchFamily="34" charset="-122"/>
                <a:cs typeface="Consolas" pitchFamily="34" charset="-120"/>
              </a:rPr>
              <a:t>"900"</a:t>
            </a:r>
            <a:endParaRPr lang="en-US" sz="1050" dirty="0"/>
          </a:p>
          <a:p>
            <a:pPr marL="0" indent="0">
              <a:lnSpc>
                <a:spcPct val="100000"/>
              </a:lnSpc>
              <a:buNone/>
            </a:pP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alt</a:t>
            </a:r>
            <a:r>
              <a:rPr lang="en-US" sz="1050" dirty="0">
                <a:solidFill>
                  <a:srgbClr val="D4D4D4"/>
                </a:solidFill>
                <a:latin typeface="Consolas" pitchFamily="34" charset="0"/>
                <a:ea typeface="Consolas" pitchFamily="34" charset="-122"/>
                <a:cs typeface="Consolas" pitchFamily="34" charset="-120"/>
              </a:rPr>
              <a:t>=</a:t>
            </a:r>
            <a:r>
              <a:rPr lang="en-US" sz="1050" dirty="0">
                <a:solidFill>
                  <a:srgbClr val="CE9178"/>
                </a:solidFill>
                <a:latin typeface="Consolas" pitchFamily="34" charset="0"/>
                <a:ea typeface="Consolas" pitchFamily="34" charset="-122"/>
                <a:cs typeface="Consolas" pitchFamily="34" charset="-120"/>
              </a:rPr>
              <a:t>"Harbourside Fish and Chips"</a:t>
            </a:r>
            <a:r>
              <a:rPr lang="en-US" sz="1050" dirty="0">
                <a:solidFill>
                  <a:srgbClr val="808080"/>
                </a:solidFill>
                <a:latin typeface="Consolas" pitchFamily="34" charset="0"/>
                <a:ea typeface="Consolas" pitchFamily="34" charset="-122"/>
                <a:cs typeface="Consolas" pitchFamily="34" charset="-120"/>
              </a:rPr>
              <a:t>&gt;</a:t>
            </a:r>
            <a:endParaRPr lang="en-US" sz="1050" dirty="0"/>
          </a:p>
        </p:txBody>
      </p:sp>
      <p:sp>
        <p:nvSpPr>
          <p:cNvPr id="5" name="Text 2"/>
          <p:cNvSpPr txBox="1"/>
          <p:nvPr/>
        </p:nvSpPr>
        <p:spPr>
          <a:xfrm>
            <a:off x="6812280" y="411480"/>
            <a:ext cx="4967935" cy="320040"/>
          </a:xfrm>
          <a:prstGeom prst="rect">
            <a:avLst/>
          </a:prstGeom>
          <a:noFill/>
          <a:ln/>
        </p:spPr>
        <p:txBody>
          <a:bodyPr wrap="square" lIns="0" tIns="0" rIns="0" bIns="0" rtlCol="0" anchor="ctr"/>
          <a:lstStyle/>
          <a:p>
            <a:pPr marL="0" indent="0">
              <a:buNone/>
            </a:pPr>
            <a:r>
              <a:rPr lang="en-US" sz="1400" b="1" kern="0" spc="100" dirty="0">
                <a:solidFill>
                  <a:srgbClr val="595959"/>
                </a:solidFill>
                <a:latin typeface="Aptos" pitchFamily="34" charset="0"/>
                <a:ea typeface="Aptos" pitchFamily="34" charset="-122"/>
                <a:cs typeface="Aptos" pitchFamily="34" charset="-120"/>
              </a:rPr>
              <a:t>EXAMPLE 03</a:t>
            </a:r>
            <a:endParaRPr lang="en-US" sz="1400" dirty="0"/>
          </a:p>
        </p:txBody>
      </p:sp>
      <p:sp>
        <p:nvSpPr>
          <p:cNvPr id="6" name="Text 3"/>
          <p:cNvSpPr txBox="1"/>
          <p:nvPr/>
        </p:nvSpPr>
        <p:spPr>
          <a:xfrm>
            <a:off x="6812280" y="731520"/>
            <a:ext cx="4967935" cy="640080"/>
          </a:xfrm>
          <a:prstGeom prst="rect">
            <a:avLst/>
          </a:prstGeom>
          <a:noFill/>
          <a:ln/>
        </p:spPr>
        <p:txBody>
          <a:bodyPr wrap="square" lIns="0" tIns="0" rIns="0" bIns="0" rtlCol="0" anchor="t"/>
          <a:lstStyle/>
          <a:p>
            <a:pPr marL="0" indent="0">
              <a:buNone/>
            </a:pPr>
            <a:r>
              <a:rPr lang="en-US" sz="3200" dirty="0">
                <a:solidFill>
                  <a:srgbClr val="000000"/>
                </a:solidFill>
                <a:latin typeface="Aptos" pitchFamily="34" charset="0"/>
                <a:ea typeface="Aptos" pitchFamily="34" charset="-122"/>
                <a:cs typeface="Aptos" pitchFamily="34" charset="-120"/>
              </a:rPr>
              <a:t>Logos: SVG vs PNG vs JPG</a:t>
            </a:r>
            <a:endParaRPr lang="en-US" sz="3200" dirty="0"/>
          </a:p>
        </p:txBody>
      </p:sp>
      <p:sp>
        <p:nvSpPr>
          <p:cNvPr id="7" name="Text 4"/>
          <p:cNvSpPr txBox="1"/>
          <p:nvPr/>
        </p:nvSpPr>
        <p:spPr>
          <a:xfrm>
            <a:off x="6812280" y="1508760"/>
            <a:ext cx="4967935" cy="4754880"/>
          </a:xfrm>
          <a:prstGeom prst="rect">
            <a:avLst/>
          </a:prstGeom>
          <a:noFill/>
          <a:ln/>
        </p:spPr>
        <p:txBody>
          <a:bodyPr wrap="square" lIns="0" tIns="0" rIns="0" bIns="0" rtlCol="0" anchor="t"/>
          <a:lstStyle/>
          <a:p>
            <a:pPr marL="342900" indent="-342900">
              <a:buSzPct val="100000"/>
              <a:buChar char="•"/>
            </a:pPr>
            <a:r>
              <a:rPr lang="en-US" sz="1400" dirty="0">
                <a:solidFill>
                  <a:srgbClr val="262626"/>
                </a:solidFill>
                <a:latin typeface="Aptos" pitchFamily="34" charset="0"/>
                <a:ea typeface="Aptos" pitchFamily="34" charset="-122"/>
                <a:cs typeface="Aptos" pitchFamily="34" charset="-120"/>
              </a:rPr>
              <a:t>​At 100 pixels wide, all three look about the same.</a:t>
            </a:r>
            <a:endParaRPr lang="en-US" sz="1400" dirty="0"/>
          </a:p>
          <a:p>
            <a:pPr marL="342900" indent="-342900">
              <a:spcBef>
                <a:spcPts val="900"/>
              </a:spcBef>
              <a:buSzPct val="100000"/>
              <a:buChar char="•"/>
            </a:pPr>
            <a:r>
              <a:rPr lang="en-US" sz="1400" dirty="0">
                <a:solidFill>
                  <a:srgbClr val="262626"/>
                </a:solidFill>
                <a:latin typeface="Aptos" pitchFamily="34" charset="0"/>
                <a:ea typeface="Aptos" pitchFamily="34" charset="-122"/>
                <a:cs typeface="Aptos" pitchFamily="34" charset="-120"/>
              </a:rPr>
              <a:t>​At 900 pixels wide: the </a:t>
            </a:r>
            <a:r>
              <a:rPr lang="en-US" sz="1400" b="1" dirty="0">
                <a:solidFill>
                  <a:srgbClr val="262626"/>
                </a:solidFill>
                <a:latin typeface="Aptos" pitchFamily="34" charset="0"/>
                <a:ea typeface="Aptos" pitchFamily="34" charset="-122"/>
                <a:cs typeface="Aptos" pitchFamily="34" charset="-120"/>
              </a:rPr>
              <a:t>SVG</a:t>
            </a:r>
            <a:r>
              <a:rPr lang="en-US" sz="1400" dirty="0">
                <a:solidFill>
                  <a:srgbClr val="262626"/>
                </a:solidFill>
                <a:latin typeface="Aptos" pitchFamily="34" charset="0"/>
                <a:ea typeface="Aptos" pitchFamily="34" charset="-122"/>
                <a:cs typeface="Aptos" pitchFamily="34" charset="-120"/>
              </a:rPr>
              <a:t> is still sharp, the </a:t>
            </a:r>
            <a:r>
              <a:rPr lang="en-US" sz="1400" b="1" dirty="0">
                <a:solidFill>
                  <a:srgbClr val="262626"/>
                </a:solidFill>
                <a:latin typeface="Aptos" pitchFamily="34" charset="0"/>
                <a:ea typeface="Aptos" pitchFamily="34" charset="-122"/>
                <a:cs typeface="Aptos" pitchFamily="34" charset="-120"/>
              </a:rPr>
              <a:t>PNG</a:t>
            </a:r>
            <a:r>
              <a:rPr lang="en-US" sz="1400" dirty="0">
                <a:solidFill>
                  <a:srgbClr val="262626"/>
                </a:solidFill>
                <a:latin typeface="Aptos" pitchFamily="34" charset="0"/>
                <a:ea typeface="Aptos" pitchFamily="34" charset="-122"/>
                <a:cs typeface="Aptos" pitchFamily="34" charset="-120"/>
              </a:rPr>
              <a:t> (600 px) is stretched and soft, and the </a:t>
            </a:r>
            <a:r>
              <a:rPr lang="en-US" sz="1400" b="1" dirty="0">
                <a:solidFill>
                  <a:srgbClr val="262626"/>
                </a:solidFill>
                <a:latin typeface="Aptos" pitchFamily="34" charset="0"/>
                <a:ea typeface="Aptos" pitchFamily="34" charset="-122"/>
                <a:cs typeface="Aptos" pitchFamily="34" charset="-120"/>
              </a:rPr>
              <a:t>JPG</a:t>
            </a:r>
            <a:r>
              <a:rPr lang="en-US" sz="1400" dirty="0">
                <a:solidFill>
                  <a:srgbClr val="262626"/>
                </a:solidFill>
                <a:latin typeface="Aptos" pitchFamily="34" charset="0"/>
                <a:ea typeface="Aptos" pitchFamily="34" charset="-122"/>
                <a:cs typeface="Aptos" pitchFamily="34" charset="-120"/>
              </a:rPr>
              <a:t> has smudgy edges and </a:t>
            </a:r>
            <a:r>
              <a:rPr lang="en-US" sz="1400" b="1" dirty="0">
                <a:solidFill>
                  <a:srgbClr val="262626"/>
                </a:solidFill>
                <a:latin typeface="Aptos" pitchFamily="34" charset="0"/>
                <a:ea typeface="Aptos" pitchFamily="34" charset="-122"/>
                <a:cs typeface="Aptos" pitchFamily="34" charset="-120"/>
              </a:rPr>
              <a:t>white corners</a:t>
            </a:r>
            <a:r>
              <a:rPr lang="en-US" sz="1400" dirty="0">
                <a:solidFill>
                  <a:srgbClr val="262626"/>
                </a:solidFill>
                <a:latin typeface="Aptos" pitchFamily="34" charset="0"/>
                <a:ea typeface="Aptos" pitchFamily="34" charset="-122"/>
                <a:cs typeface="Aptos" pitchFamily="34" charset="-120"/>
              </a:rPr>
              <a:t> (no transparency).</a:t>
            </a:r>
            <a:endParaRPr lang="en-US" sz="1400" dirty="0"/>
          </a:p>
          <a:p>
            <a:pPr marL="342900" indent="-342900">
              <a:spcBef>
                <a:spcPts val="900"/>
              </a:spcBef>
              <a:buSzPct val="100000"/>
              <a:buChar char="•"/>
            </a:pPr>
            <a:r>
              <a:rPr lang="en-US" sz="1400" dirty="0">
                <a:solidFill>
                  <a:srgbClr val="262626"/>
                </a:solidFill>
                <a:latin typeface="Aptos" pitchFamily="34" charset="0"/>
                <a:ea typeface="Aptos" pitchFamily="34" charset="-122"/>
                <a:cs typeface="Aptos" pitchFamily="34" charset="-120"/>
              </a:rPr>
              <a:t>​An SVG is just text. Open </a:t>
            </a:r>
            <a:r>
              <a:rPr lang="en-US" sz="1400" dirty="0">
                <a:solidFill>
                  <a:srgbClr val="8A2B0B"/>
                </a:solidFill>
                <a:latin typeface="Consolas" pitchFamily="34" charset="0"/>
                <a:ea typeface="Consolas" pitchFamily="34" charset="-122"/>
                <a:cs typeface="Consolas" pitchFamily="34" charset="-120"/>
              </a:rPr>
              <a:t>samples/logo.svg</a:t>
            </a:r>
            <a:r>
              <a:rPr lang="en-US" sz="1400" dirty="0">
                <a:solidFill>
                  <a:srgbClr val="262626"/>
                </a:solidFill>
                <a:latin typeface="Aptos" pitchFamily="34" charset="0"/>
                <a:ea typeface="Aptos" pitchFamily="34" charset="-122"/>
                <a:cs typeface="Aptos" pitchFamily="34" charset="-120"/>
              </a:rPr>
              <a:t> in VS Code: it's a circle, an ellipse and a few paths.</a:t>
            </a:r>
            <a:endParaRPr lang="en-US" sz="1400" dirty="0"/>
          </a:p>
          <a:p>
            <a:pPr marL="342900" indent="-342900">
              <a:spcBef>
                <a:spcPts val="900"/>
              </a:spcBef>
              <a:buSzPct val="100000"/>
              <a:buChar char="•"/>
            </a:pPr>
            <a:r>
              <a:rPr lang="en-US" sz="1400" dirty="0">
                <a:solidFill>
                  <a:srgbClr val="262626"/>
                </a:solidFill>
                <a:latin typeface="Aptos" pitchFamily="34" charset="0"/>
                <a:ea typeface="Aptos" pitchFamily="34" charset="-122"/>
                <a:cs typeface="Aptos" pitchFamily="34" charset="-120"/>
              </a:rPr>
              <a:t>​The </a:t>
            </a:r>
            <a:r>
              <a:rPr lang="en-US" sz="1400" dirty="0">
                <a:solidFill>
                  <a:srgbClr val="8A2B0B"/>
                </a:solidFill>
                <a:latin typeface="Consolas" pitchFamily="34" charset="0"/>
                <a:ea typeface="Consolas" pitchFamily="34" charset="-122"/>
                <a:cs typeface="Consolas" pitchFamily="34" charset="-120"/>
              </a:rPr>
              <a:t>&lt;style&gt;</a:t>
            </a:r>
            <a:r>
              <a:rPr lang="en-US" sz="1400" dirty="0">
                <a:solidFill>
                  <a:srgbClr val="262626"/>
                </a:solidFill>
                <a:latin typeface="Aptos" pitchFamily="34" charset="0"/>
                <a:ea typeface="Aptos" pitchFamily="34" charset="-122"/>
                <a:cs typeface="Aptos" pitchFamily="34" charset="-120"/>
              </a:rPr>
              <a:t> line is a sneak peek at next class: CSS.</a:t>
            </a:r>
            <a:endParaRPr lang="en-US" sz="1400" dirty="0"/>
          </a:p>
        </p:txBody>
      </p:sp>
      <p:sp>
        <p:nvSpPr>
          <p:cNvPr id="8" name="Text 5"/>
          <p:cNvSpPr txBox="1"/>
          <p:nvPr/>
        </p:nvSpPr>
        <p:spPr>
          <a:xfrm>
            <a:off x="6812280" y="6355080"/>
            <a:ext cx="4967935" cy="274320"/>
          </a:xfrm>
          <a:prstGeom prst="rect">
            <a:avLst/>
          </a:prstGeom>
          <a:noFill/>
          <a:ln/>
        </p:spPr>
        <p:txBody>
          <a:bodyPr wrap="square" lIns="0" tIns="0" rIns="0" bIns="0" rtlCol="0" anchor="ctr"/>
          <a:lstStyle/>
          <a:p>
            <a:pPr marL="0" indent="0">
              <a:buNone/>
            </a:pPr>
            <a:r>
              <a:rPr lang="en-US" sz="1100" dirty="0">
                <a:solidFill>
                  <a:srgbClr val="7F7F7F"/>
                </a:solidFill>
                <a:latin typeface="Consolas" pitchFamily="34" charset="0"/>
                <a:ea typeface="Consolas" pitchFamily="34" charset="-122"/>
                <a:cs typeface="Consolas" pitchFamily="34" charset="-120"/>
              </a:rPr>
              <a:t>03_svg_vs_png_example.html</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1E8EB"/>
        </a:solidFill>
        <a:effectLst/>
      </p:bgPr>
    </p:bg>
    <p:spTree>
      <p:nvGrpSpPr>
        <p:cNvPr id="1" name=""/>
        <p:cNvGrpSpPr/>
        <p:nvPr/>
      </p:nvGrpSpPr>
      <p:grpSpPr>
        <a:xfrm>
          <a:off x="0" y="0"/>
          <a:ext cx="0" cy="0"/>
          <a:chOff x="0" y="0"/>
          <a:chExt cx="0" cy="0"/>
        </a:xfrm>
      </p:grpSpPr>
      <p:sp>
        <p:nvSpPr>
          <p:cNvPr id="2" name="Text 0"/>
          <p:cNvSpPr txBox="1"/>
          <p:nvPr/>
        </p:nvSpPr>
        <p:spPr>
          <a:xfrm>
            <a:off x="685800" y="457200"/>
            <a:ext cx="10789920" cy="640080"/>
          </a:xfrm>
          <a:prstGeom prst="rect">
            <a:avLst/>
          </a:prstGeom>
          <a:noFill/>
          <a:ln/>
        </p:spPr>
        <p:txBody>
          <a:bodyPr wrap="square" lIns="0" tIns="0" rIns="0" bIns="0" rtlCol="0" anchor="ctr"/>
          <a:lstStyle/>
          <a:p>
            <a:pPr marL="0" indent="0">
              <a:buNone/>
            </a:pPr>
            <a:r>
              <a:rPr lang="en-US" sz="2800" dirty="0">
                <a:solidFill>
                  <a:srgbClr val="000000"/>
                </a:solidFill>
                <a:latin typeface="Aptos" pitchFamily="34" charset="0"/>
                <a:ea typeface="Aptos" pitchFamily="34" charset="-122"/>
                <a:cs typeface="Aptos" pitchFamily="34" charset="-120"/>
              </a:rPr>
              <a:t>Lab 2: Format Shootout in Pixlr (15 min)</a:t>
            </a:r>
            <a:endParaRPr lang="en-US" sz="2800" dirty="0"/>
          </a:p>
        </p:txBody>
      </p:sp>
      <p:sp>
        <p:nvSpPr>
          <p:cNvPr id="4" name="Shape 1"/>
          <p:cNvSpPr/>
          <p:nvPr/>
        </p:nvSpPr>
        <p:spPr>
          <a:xfrm>
            <a:off x="685800" y="1325880"/>
            <a:ext cx="6949440" cy="5029200"/>
          </a:xfrm>
          <a:prstGeom prst="roundRect">
            <a:avLst>
              <a:gd name="adj" fmla="val 2182"/>
            </a:avLst>
          </a:prstGeom>
          <a:solidFill>
            <a:srgbClr val="FFFFFF"/>
          </a:solidFill>
          <a:ln w="9525">
            <a:solidFill>
              <a:srgbClr val="D0D7DB"/>
            </a:solidFill>
            <a:prstDash val="solid"/>
          </a:ln>
          <a:effectLst>
            <a:outerShdw blurRad="76200" dist="25400" dir="5400000" algn="bl" rotWithShape="0">
              <a:srgbClr val="000000">
                <a:alpha val="12000"/>
              </a:srgbClr>
            </a:outerShdw>
          </a:effectLst>
        </p:spPr>
        <p:txBody>
          <a:bodyPr/>
          <a:lstStyle/>
          <a:p>
            <a:endParaRPr lang="en-US"/>
          </a:p>
        </p:txBody>
      </p:sp>
      <p:sp>
        <p:nvSpPr>
          <p:cNvPr id="5" name="Shape 2"/>
          <p:cNvSpPr/>
          <p:nvPr/>
        </p:nvSpPr>
        <p:spPr>
          <a:xfrm>
            <a:off x="960120" y="1600200"/>
            <a:ext cx="420624" cy="420624"/>
          </a:xfrm>
          <a:prstGeom prst="ellipse">
            <a:avLst/>
          </a:prstGeom>
          <a:solidFill>
            <a:srgbClr val="E97132"/>
          </a:solidFill>
          <a:ln w="12700">
            <a:solidFill>
              <a:srgbClr val="E97132"/>
            </a:solidFill>
            <a:prstDash val="solid"/>
          </a:ln>
        </p:spPr>
        <p:txBody>
          <a:bodyPr/>
          <a:lstStyle/>
          <a:p>
            <a:endParaRPr lang="en-US"/>
          </a:p>
        </p:txBody>
      </p:sp>
      <p:sp>
        <p:nvSpPr>
          <p:cNvPr id="6" name="Text 3"/>
          <p:cNvSpPr txBox="1"/>
          <p:nvPr/>
        </p:nvSpPr>
        <p:spPr>
          <a:xfrm>
            <a:off x="960120" y="1600200"/>
            <a:ext cx="420624" cy="420624"/>
          </a:xfrm>
          <a:prstGeom prst="rect">
            <a:avLst/>
          </a:prstGeom>
          <a:noFill/>
          <a:ln/>
        </p:spPr>
        <p:txBody>
          <a:bodyPr wrap="square" lIns="0" tIns="0" rIns="0" bIns="0" rtlCol="0" anchor="ctr"/>
          <a:lstStyle/>
          <a:p>
            <a:pPr marL="0" indent="0" algn="ctr">
              <a:buNone/>
            </a:pPr>
            <a:r>
              <a:rPr lang="en-US" sz="1800" b="1" dirty="0">
                <a:solidFill>
                  <a:srgbClr val="FFFFFF"/>
                </a:solidFill>
                <a:latin typeface="Aptos" pitchFamily="34" charset="0"/>
                <a:ea typeface="Aptos" pitchFamily="34" charset="-122"/>
                <a:cs typeface="Aptos" pitchFamily="34" charset="-120"/>
              </a:rPr>
              <a:t>1</a:t>
            </a:r>
            <a:endParaRPr lang="en-US" sz="1800" dirty="0"/>
          </a:p>
        </p:txBody>
      </p:sp>
      <p:sp>
        <p:nvSpPr>
          <p:cNvPr id="7" name="Text 4"/>
          <p:cNvSpPr txBox="1"/>
          <p:nvPr/>
        </p:nvSpPr>
        <p:spPr>
          <a:xfrm>
            <a:off x="1554480" y="1581912"/>
            <a:ext cx="5852160" cy="320040"/>
          </a:xfrm>
          <a:prstGeom prst="rect">
            <a:avLst/>
          </a:prstGeom>
          <a:noFill/>
          <a:ln/>
        </p:spPr>
        <p:txBody>
          <a:bodyPr wrap="square" lIns="0" tIns="0" rIns="0" bIns="0" rtlCol="0" anchor="ctr"/>
          <a:lstStyle/>
          <a:p>
            <a:pPr marL="0" indent="0">
              <a:buNone/>
            </a:pPr>
            <a:r>
              <a:rPr lang="en-US" sz="1600" b="1" dirty="0">
                <a:solidFill>
                  <a:srgbClr val="000000"/>
                </a:solidFill>
                <a:latin typeface="Aptos" pitchFamily="34" charset="0"/>
                <a:ea typeface="Aptos" pitchFamily="34" charset="-122"/>
                <a:cs typeface="Aptos" pitchFamily="34" charset="-120"/>
              </a:rPr>
              <a:t>Open your photo in Pixlr Editor</a:t>
            </a:r>
            <a:endParaRPr lang="en-US" sz="1600" dirty="0"/>
          </a:p>
        </p:txBody>
      </p:sp>
      <p:sp>
        <p:nvSpPr>
          <p:cNvPr id="8" name="Text 5"/>
          <p:cNvSpPr txBox="1"/>
          <p:nvPr/>
        </p:nvSpPr>
        <p:spPr>
          <a:xfrm>
            <a:off x="1554480" y="1901952"/>
            <a:ext cx="5852160" cy="548640"/>
          </a:xfrm>
          <a:prstGeom prst="rect">
            <a:avLst/>
          </a:prstGeom>
          <a:noFill/>
          <a:ln/>
        </p:spPr>
        <p:txBody>
          <a:bodyPr wrap="square" lIns="0" tIns="0" rIns="0" bIns="0" rtlCol="0" anchor="t"/>
          <a:lstStyle/>
          <a:p>
            <a:pPr marL="0" indent="0">
              <a:buNone/>
            </a:pPr>
            <a:r>
              <a:rPr lang="en-US" sz="1350" dirty="0">
                <a:solidFill>
                  <a:srgbClr val="262626"/>
                </a:solidFill>
                <a:latin typeface="Aptos" pitchFamily="34" charset="0"/>
                <a:ea typeface="Aptos" pitchFamily="34" charset="-122"/>
                <a:cs typeface="Aptos" pitchFamily="34" charset="-120"/>
              </a:rPr>
              <a:t>​pixlr.com → Pixlr Editor → Open image → my_images/original.jpg.</a:t>
            </a:r>
            <a:endParaRPr lang="en-US" sz="1350" dirty="0"/>
          </a:p>
        </p:txBody>
      </p:sp>
      <p:sp>
        <p:nvSpPr>
          <p:cNvPr id="9" name="Shape 6"/>
          <p:cNvSpPr/>
          <p:nvPr/>
        </p:nvSpPr>
        <p:spPr>
          <a:xfrm>
            <a:off x="960120" y="2496312"/>
            <a:ext cx="420624" cy="420624"/>
          </a:xfrm>
          <a:prstGeom prst="ellipse">
            <a:avLst/>
          </a:prstGeom>
          <a:solidFill>
            <a:srgbClr val="E97132"/>
          </a:solidFill>
          <a:ln w="12700">
            <a:solidFill>
              <a:srgbClr val="E97132"/>
            </a:solidFill>
            <a:prstDash val="solid"/>
          </a:ln>
        </p:spPr>
        <p:txBody>
          <a:bodyPr/>
          <a:lstStyle/>
          <a:p>
            <a:endParaRPr lang="en-US"/>
          </a:p>
        </p:txBody>
      </p:sp>
      <p:sp>
        <p:nvSpPr>
          <p:cNvPr id="10" name="Text 7"/>
          <p:cNvSpPr txBox="1"/>
          <p:nvPr/>
        </p:nvSpPr>
        <p:spPr>
          <a:xfrm>
            <a:off x="960120" y="2496312"/>
            <a:ext cx="420624" cy="420624"/>
          </a:xfrm>
          <a:prstGeom prst="rect">
            <a:avLst/>
          </a:prstGeom>
          <a:noFill/>
          <a:ln/>
        </p:spPr>
        <p:txBody>
          <a:bodyPr wrap="square" lIns="0" tIns="0" rIns="0" bIns="0" rtlCol="0" anchor="ctr"/>
          <a:lstStyle/>
          <a:p>
            <a:pPr marL="0" indent="0" algn="ctr">
              <a:buNone/>
            </a:pPr>
            <a:r>
              <a:rPr lang="en-US" sz="1800" b="1" dirty="0">
                <a:solidFill>
                  <a:srgbClr val="FFFFFF"/>
                </a:solidFill>
                <a:latin typeface="Aptos" pitchFamily="34" charset="0"/>
                <a:ea typeface="Aptos" pitchFamily="34" charset="-122"/>
                <a:cs typeface="Aptos" pitchFamily="34" charset="-120"/>
              </a:rPr>
              <a:t>2</a:t>
            </a:r>
            <a:endParaRPr lang="en-US" sz="1800" dirty="0"/>
          </a:p>
        </p:txBody>
      </p:sp>
      <p:sp>
        <p:nvSpPr>
          <p:cNvPr id="11" name="Text 8"/>
          <p:cNvSpPr txBox="1"/>
          <p:nvPr/>
        </p:nvSpPr>
        <p:spPr>
          <a:xfrm>
            <a:off x="1554480" y="2478024"/>
            <a:ext cx="5852160" cy="320040"/>
          </a:xfrm>
          <a:prstGeom prst="rect">
            <a:avLst/>
          </a:prstGeom>
          <a:noFill/>
          <a:ln/>
        </p:spPr>
        <p:txBody>
          <a:bodyPr wrap="square" lIns="0" tIns="0" rIns="0" bIns="0" rtlCol="0" anchor="ctr"/>
          <a:lstStyle/>
          <a:p>
            <a:pPr marL="0" indent="0">
              <a:buNone/>
            </a:pPr>
            <a:r>
              <a:rPr lang="en-US" sz="1600" b="1" dirty="0">
                <a:solidFill>
                  <a:srgbClr val="000000"/>
                </a:solidFill>
                <a:latin typeface="Aptos" pitchFamily="34" charset="0"/>
                <a:ea typeface="Aptos" pitchFamily="34" charset="-122"/>
                <a:cs typeface="Aptos" pitchFamily="34" charset="-120"/>
              </a:rPr>
              <a:t>Save as PNG</a:t>
            </a:r>
            <a:endParaRPr lang="en-US" sz="1600" dirty="0"/>
          </a:p>
        </p:txBody>
      </p:sp>
      <p:sp>
        <p:nvSpPr>
          <p:cNvPr id="12" name="Text 9"/>
          <p:cNvSpPr txBox="1"/>
          <p:nvPr/>
        </p:nvSpPr>
        <p:spPr>
          <a:xfrm>
            <a:off x="1554480" y="2798064"/>
            <a:ext cx="5852160" cy="548640"/>
          </a:xfrm>
          <a:prstGeom prst="rect">
            <a:avLst/>
          </a:prstGeom>
          <a:noFill/>
          <a:ln/>
        </p:spPr>
        <p:txBody>
          <a:bodyPr wrap="square" lIns="0" tIns="0" rIns="0" bIns="0" rtlCol="0" anchor="t"/>
          <a:lstStyle/>
          <a:p>
            <a:pPr marL="0" indent="0">
              <a:buNone/>
            </a:pPr>
            <a:r>
              <a:rPr lang="en-US" sz="1350" dirty="0">
                <a:solidFill>
                  <a:srgbClr val="262626"/>
                </a:solidFill>
                <a:latin typeface="Aptos" pitchFamily="34" charset="0"/>
                <a:ea typeface="Aptos" pitchFamily="34" charset="-122"/>
                <a:cs typeface="Aptos" pitchFamily="34" charset="-120"/>
              </a:rPr>
              <a:t>​</a:t>
            </a:r>
            <a:r>
              <a:rPr lang="en-US" sz="1350" b="1" dirty="0">
                <a:solidFill>
                  <a:srgbClr val="262626"/>
                </a:solidFill>
                <a:latin typeface="Aptos" pitchFamily="34" charset="0"/>
                <a:ea typeface="Aptos" pitchFamily="34" charset="-122"/>
                <a:cs typeface="Aptos" pitchFamily="34" charset="-120"/>
              </a:rPr>
              <a:t>File → Save</a:t>
            </a:r>
            <a:r>
              <a:rPr lang="en-US" sz="1350" dirty="0">
                <a:solidFill>
                  <a:srgbClr val="262626"/>
                </a:solidFill>
                <a:latin typeface="Aptos" pitchFamily="34" charset="0"/>
                <a:ea typeface="Aptos" pitchFamily="34" charset="-122"/>
                <a:cs typeface="Aptos" pitchFamily="34" charset="-120"/>
              </a:rPr>
              <a:t> (Ctrl + S). Pick </a:t>
            </a:r>
            <a:r>
              <a:rPr lang="en-US" sz="1350" b="1" dirty="0">
                <a:solidFill>
                  <a:srgbClr val="262626"/>
                </a:solidFill>
                <a:latin typeface="Aptos" pitchFamily="34" charset="0"/>
                <a:ea typeface="Aptos" pitchFamily="34" charset="-122"/>
                <a:cs typeface="Aptos" pitchFamily="34" charset="-120"/>
              </a:rPr>
              <a:t>PNG</a:t>
            </a:r>
            <a:r>
              <a:rPr lang="en-US" sz="1350" dirty="0">
                <a:solidFill>
                  <a:srgbClr val="262626"/>
                </a:solidFill>
                <a:latin typeface="Aptos" pitchFamily="34" charset="0"/>
                <a:ea typeface="Aptos" pitchFamily="34" charset="-122"/>
                <a:cs typeface="Aptos" pitchFamily="34" charset="-120"/>
              </a:rPr>
              <a:t>. Name it </a:t>
            </a:r>
            <a:r>
              <a:rPr lang="en-US" sz="1350" dirty="0">
                <a:solidFill>
                  <a:srgbClr val="8A2B0B"/>
                </a:solidFill>
                <a:latin typeface="Consolas" pitchFamily="34" charset="0"/>
                <a:ea typeface="Consolas" pitchFamily="34" charset="-122"/>
                <a:cs typeface="Consolas" pitchFamily="34" charset="-120"/>
              </a:rPr>
              <a:t>photo.png</a:t>
            </a:r>
            <a:r>
              <a:rPr lang="en-US" sz="1350" dirty="0">
                <a:solidFill>
                  <a:srgbClr val="262626"/>
                </a:solidFill>
                <a:latin typeface="Aptos" pitchFamily="34" charset="0"/>
                <a:ea typeface="Aptos" pitchFamily="34" charset="-122"/>
                <a:cs typeface="Aptos" pitchFamily="34" charset="-120"/>
              </a:rPr>
              <a:t> in my_images.</a:t>
            </a:r>
            <a:endParaRPr lang="en-US" sz="1350" dirty="0"/>
          </a:p>
        </p:txBody>
      </p:sp>
      <p:sp>
        <p:nvSpPr>
          <p:cNvPr id="13" name="Shape 10"/>
          <p:cNvSpPr/>
          <p:nvPr/>
        </p:nvSpPr>
        <p:spPr>
          <a:xfrm>
            <a:off x="960120" y="3392424"/>
            <a:ext cx="420624" cy="420624"/>
          </a:xfrm>
          <a:prstGeom prst="ellipse">
            <a:avLst/>
          </a:prstGeom>
          <a:solidFill>
            <a:srgbClr val="E97132"/>
          </a:solidFill>
          <a:ln w="12700">
            <a:solidFill>
              <a:srgbClr val="E97132"/>
            </a:solidFill>
            <a:prstDash val="solid"/>
          </a:ln>
        </p:spPr>
        <p:txBody>
          <a:bodyPr/>
          <a:lstStyle/>
          <a:p>
            <a:endParaRPr lang="en-US"/>
          </a:p>
        </p:txBody>
      </p:sp>
      <p:sp>
        <p:nvSpPr>
          <p:cNvPr id="14" name="Text 11"/>
          <p:cNvSpPr txBox="1"/>
          <p:nvPr/>
        </p:nvSpPr>
        <p:spPr>
          <a:xfrm>
            <a:off x="960120" y="3392424"/>
            <a:ext cx="420624" cy="420624"/>
          </a:xfrm>
          <a:prstGeom prst="rect">
            <a:avLst/>
          </a:prstGeom>
          <a:noFill/>
          <a:ln/>
        </p:spPr>
        <p:txBody>
          <a:bodyPr wrap="square" lIns="0" tIns="0" rIns="0" bIns="0" rtlCol="0" anchor="ctr"/>
          <a:lstStyle/>
          <a:p>
            <a:pPr marL="0" indent="0" algn="ctr">
              <a:buNone/>
            </a:pPr>
            <a:r>
              <a:rPr lang="en-US" sz="1800" b="1" dirty="0">
                <a:solidFill>
                  <a:srgbClr val="FFFFFF"/>
                </a:solidFill>
                <a:latin typeface="Aptos" pitchFamily="34" charset="0"/>
                <a:ea typeface="Aptos" pitchFamily="34" charset="-122"/>
                <a:cs typeface="Aptos" pitchFamily="34" charset="-120"/>
              </a:rPr>
              <a:t>3</a:t>
            </a:r>
            <a:endParaRPr lang="en-US" sz="1800" dirty="0"/>
          </a:p>
        </p:txBody>
      </p:sp>
      <p:sp>
        <p:nvSpPr>
          <p:cNvPr id="15" name="Text 12"/>
          <p:cNvSpPr txBox="1"/>
          <p:nvPr/>
        </p:nvSpPr>
        <p:spPr>
          <a:xfrm>
            <a:off x="1554480" y="3374136"/>
            <a:ext cx="5852160" cy="320040"/>
          </a:xfrm>
          <a:prstGeom prst="rect">
            <a:avLst/>
          </a:prstGeom>
          <a:noFill/>
          <a:ln/>
        </p:spPr>
        <p:txBody>
          <a:bodyPr wrap="square" lIns="0" tIns="0" rIns="0" bIns="0" rtlCol="0" anchor="ctr"/>
          <a:lstStyle/>
          <a:p>
            <a:pPr marL="0" indent="0">
              <a:buNone/>
            </a:pPr>
            <a:r>
              <a:rPr lang="en-US" sz="1600" b="1" dirty="0">
                <a:solidFill>
                  <a:srgbClr val="000000"/>
                </a:solidFill>
                <a:latin typeface="Aptos" pitchFamily="34" charset="0"/>
                <a:ea typeface="Aptos" pitchFamily="34" charset="-122"/>
                <a:cs typeface="Aptos" pitchFamily="34" charset="-120"/>
              </a:rPr>
              <a:t>Save as JPG, quality 80</a:t>
            </a:r>
            <a:endParaRPr lang="en-US" sz="1600" dirty="0"/>
          </a:p>
        </p:txBody>
      </p:sp>
      <p:sp>
        <p:nvSpPr>
          <p:cNvPr id="16" name="Text 13"/>
          <p:cNvSpPr txBox="1"/>
          <p:nvPr/>
        </p:nvSpPr>
        <p:spPr>
          <a:xfrm>
            <a:off x="1554480" y="3694176"/>
            <a:ext cx="5852160" cy="548640"/>
          </a:xfrm>
          <a:prstGeom prst="rect">
            <a:avLst/>
          </a:prstGeom>
          <a:noFill/>
          <a:ln/>
        </p:spPr>
        <p:txBody>
          <a:bodyPr wrap="square" lIns="0" tIns="0" rIns="0" bIns="0" rtlCol="0" anchor="t"/>
          <a:lstStyle/>
          <a:p>
            <a:pPr marL="0" indent="0">
              <a:buNone/>
            </a:pPr>
            <a:r>
              <a:rPr lang="en-US" sz="1350" dirty="0">
                <a:solidFill>
                  <a:srgbClr val="262626"/>
                </a:solidFill>
                <a:latin typeface="Aptos" pitchFamily="34" charset="0"/>
                <a:ea typeface="Aptos" pitchFamily="34" charset="-122"/>
                <a:cs typeface="Aptos" pitchFamily="34" charset="-120"/>
              </a:rPr>
              <a:t>​Same again: </a:t>
            </a:r>
            <a:r>
              <a:rPr lang="en-US" sz="1350" b="1" dirty="0">
                <a:solidFill>
                  <a:srgbClr val="262626"/>
                </a:solidFill>
                <a:latin typeface="Aptos" pitchFamily="34" charset="0"/>
                <a:ea typeface="Aptos" pitchFamily="34" charset="-122"/>
                <a:cs typeface="Aptos" pitchFamily="34" charset="-120"/>
              </a:rPr>
              <a:t>JPG</a:t>
            </a:r>
            <a:r>
              <a:rPr lang="en-US" sz="1350" dirty="0">
                <a:solidFill>
                  <a:srgbClr val="262626"/>
                </a:solidFill>
                <a:latin typeface="Aptos" pitchFamily="34" charset="0"/>
                <a:ea typeface="Aptos" pitchFamily="34" charset="-122"/>
                <a:cs typeface="Aptos" pitchFamily="34" charset="-120"/>
              </a:rPr>
              <a:t>, slide quality to </a:t>
            </a:r>
            <a:r>
              <a:rPr lang="en-US" sz="1350" b="1" dirty="0">
                <a:solidFill>
                  <a:srgbClr val="262626"/>
                </a:solidFill>
                <a:latin typeface="Aptos" pitchFamily="34" charset="0"/>
                <a:ea typeface="Aptos" pitchFamily="34" charset="-122"/>
                <a:cs typeface="Aptos" pitchFamily="34" charset="-120"/>
              </a:rPr>
              <a:t>80</a:t>
            </a:r>
            <a:r>
              <a:rPr lang="en-US" sz="1350" dirty="0">
                <a:solidFill>
                  <a:srgbClr val="262626"/>
                </a:solidFill>
                <a:latin typeface="Aptos" pitchFamily="34" charset="0"/>
                <a:ea typeface="Aptos" pitchFamily="34" charset="-122"/>
                <a:cs typeface="Aptos" pitchFamily="34" charset="-120"/>
              </a:rPr>
              <a:t>. Name it </a:t>
            </a:r>
            <a:r>
              <a:rPr lang="en-US" sz="1350" dirty="0">
                <a:solidFill>
                  <a:srgbClr val="8A2B0B"/>
                </a:solidFill>
                <a:latin typeface="Consolas" pitchFamily="34" charset="0"/>
                <a:ea typeface="Consolas" pitchFamily="34" charset="-122"/>
                <a:cs typeface="Consolas" pitchFamily="34" charset="-120"/>
              </a:rPr>
              <a:t>photo_q80.jpg</a:t>
            </a:r>
            <a:r>
              <a:rPr lang="en-US" sz="1350" dirty="0">
                <a:solidFill>
                  <a:srgbClr val="262626"/>
                </a:solidFill>
                <a:latin typeface="Aptos" pitchFamily="34" charset="0"/>
                <a:ea typeface="Aptos" pitchFamily="34" charset="-122"/>
                <a:cs typeface="Aptos" pitchFamily="34" charset="-120"/>
              </a:rPr>
              <a:t>.</a:t>
            </a:r>
            <a:endParaRPr lang="en-US" sz="1350" dirty="0"/>
          </a:p>
        </p:txBody>
      </p:sp>
      <p:sp>
        <p:nvSpPr>
          <p:cNvPr id="17" name="Shape 14"/>
          <p:cNvSpPr/>
          <p:nvPr/>
        </p:nvSpPr>
        <p:spPr>
          <a:xfrm>
            <a:off x="960120" y="4288536"/>
            <a:ext cx="420624" cy="420624"/>
          </a:xfrm>
          <a:prstGeom prst="ellipse">
            <a:avLst/>
          </a:prstGeom>
          <a:solidFill>
            <a:srgbClr val="E97132"/>
          </a:solidFill>
          <a:ln w="12700">
            <a:solidFill>
              <a:srgbClr val="E97132"/>
            </a:solidFill>
            <a:prstDash val="solid"/>
          </a:ln>
        </p:spPr>
        <p:txBody>
          <a:bodyPr/>
          <a:lstStyle/>
          <a:p>
            <a:endParaRPr lang="en-US"/>
          </a:p>
        </p:txBody>
      </p:sp>
      <p:sp>
        <p:nvSpPr>
          <p:cNvPr id="18" name="Text 15"/>
          <p:cNvSpPr txBox="1"/>
          <p:nvPr/>
        </p:nvSpPr>
        <p:spPr>
          <a:xfrm>
            <a:off x="960120" y="4288536"/>
            <a:ext cx="420624" cy="420624"/>
          </a:xfrm>
          <a:prstGeom prst="rect">
            <a:avLst/>
          </a:prstGeom>
          <a:noFill/>
          <a:ln/>
        </p:spPr>
        <p:txBody>
          <a:bodyPr wrap="square" lIns="0" tIns="0" rIns="0" bIns="0" rtlCol="0" anchor="ctr"/>
          <a:lstStyle/>
          <a:p>
            <a:pPr marL="0" indent="0" algn="ctr">
              <a:buNone/>
            </a:pPr>
            <a:r>
              <a:rPr lang="en-US" sz="1800" b="1" dirty="0">
                <a:solidFill>
                  <a:srgbClr val="FFFFFF"/>
                </a:solidFill>
                <a:latin typeface="Aptos" pitchFamily="34" charset="0"/>
                <a:ea typeface="Aptos" pitchFamily="34" charset="-122"/>
                <a:cs typeface="Aptos" pitchFamily="34" charset="-120"/>
              </a:rPr>
              <a:t>4</a:t>
            </a:r>
            <a:endParaRPr lang="en-US" sz="1800" dirty="0"/>
          </a:p>
        </p:txBody>
      </p:sp>
      <p:sp>
        <p:nvSpPr>
          <p:cNvPr id="19" name="Text 16"/>
          <p:cNvSpPr txBox="1"/>
          <p:nvPr/>
        </p:nvSpPr>
        <p:spPr>
          <a:xfrm>
            <a:off x="1554480" y="4270248"/>
            <a:ext cx="5852160" cy="320040"/>
          </a:xfrm>
          <a:prstGeom prst="rect">
            <a:avLst/>
          </a:prstGeom>
          <a:noFill/>
          <a:ln/>
        </p:spPr>
        <p:txBody>
          <a:bodyPr wrap="square" lIns="0" tIns="0" rIns="0" bIns="0" rtlCol="0" anchor="ctr"/>
          <a:lstStyle/>
          <a:p>
            <a:pPr marL="0" indent="0">
              <a:buNone/>
            </a:pPr>
            <a:r>
              <a:rPr lang="en-US" sz="1600" b="1" dirty="0">
                <a:solidFill>
                  <a:srgbClr val="000000"/>
                </a:solidFill>
                <a:latin typeface="Aptos" pitchFamily="34" charset="0"/>
                <a:ea typeface="Aptos" pitchFamily="34" charset="-122"/>
                <a:cs typeface="Aptos" pitchFamily="34" charset="-120"/>
              </a:rPr>
              <a:t>Save as WebP, quality 80</a:t>
            </a:r>
            <a:endParaRPr lang="en-US" sz="1600" dirty="0"/>
          </a:p>
        </p:txBody>
      </p:sp>
      <p:sp>
        <p:nvSpPr>
          <p:cNvPr id="20" name="Text 17"/>
          <p:cNvSpPr txBox="1"/>
          <p:nvPr/>
        </p:nvSpPr>
        <p:spPr>
          <a:xfrm>
            <a:off x="1554480" y="4590288"/>
            <a:ext cx="5852160" cy="548640"/>
          </a:xfrm>
          <a:prstGeom prst="rect">
            <a:avLst/>
          </a:prstGeom>
          <a:noFill/>
          <a:ln/>
        </p:spPr>
        <p:txBody>
          <a:bodyPr wrap="square" lIns="0" tIns="0" rIns="0" bIns="0" rtlCol="0" anchor="t"/>
          <a:lstStyle/>
          <a:p>
            <a:pPr marL="0" indent="0">
              <a:buNone/>
            </a:pPr>
            <a:r>
              <a:rPr lang="en-US" sz="1350" dirty="0">
                <a:solidFill>
                  <a:srgbClr val="262626"/>
                </a:solidFill>
                <a:latin typeface="Aptos" pitchFamily="34" charset="0"/>
                <a:ea typeface="Aptos" pitchFamily="34" charset="-122"/>
                <a:cs typeface="Aptos" pitchFamily="34" charset="-120"/>
              </a:rPr>
              <a:t>​Name it </a:t>
            </a:r>
            <a:r>
              <a:rPr lang="en-US" sz="1350" dirty="0">
                <a:solidFill>
                  <a:srgbClr val="8A2B0B"/>
                </a:solidFill>
                <a:latin typeface="Consolas" pitchFamily="34" charset="0"/>
                <a:ea typeface="Consolas" pitchFamily="34" charset="-122"/>
                <a:cs typeface="Consolas" pitchFamily="34" charset="-120"/>
              </a:rPr>
              <a:t>photo.webp</a:t>
            </a:r>
            <a:r>
              <a:rPr lang="en-US" sz="1350" dirty="0">
                <a:solidFill>
                  <a:srgbClr val="262626"/>
                </a:solidFill>
                <a:latin typeface="Aptos" pitchFamily="34" charset="0"/>
                <a:ea typeface="Aptos" pitchFamily="34" charset="-122"/>
                <a:cs typeface="Aptos" pitchFamily="34" charset="-120"/>
              </a:rPr>
              <a:t>. Keep the full size for all three.</a:t>
            </a:r>
            <a:endParaRPr lang="en-US" sz="1350" dirty="0"/>
          </a:p>
        </p:txBody>
      </p:sp>
      <p:sp>
        <p:nvSpPr>
          <p:cNvPr id="21" name="Shape 18"/>
          <p:cNvSpPr/>
          <p:nvPr/>
        </p:nvSpPr>
        <p:spPr>
          <a:xfrm>
            <a:off x="960120" y="5184648"/>
            <a:ext cx="420624" cy="420624"/>
          </a:xfrm>
          <a:prstGeom prst="ellipse">
            <a:avLst/>
          </a:prstGeom>
          <a:solidFill>
            <a:srgbClr val="E97132"/>
          </a:solidFill>
          <a:ln w="12700">
            <a:solidFill>
              <a:srgbClr val="E97132"/>
            </a:solidFill>
            <a:prstDash val="solid"/>
          </a:ln>
        </p:spPr>
        <p:txBody>
          <a:bodyPr/>
          <a:lstStyle/>
          <a:p>
            <a:endParaRPr lang="en-US"/>
          </a:p>
        </p:txBody>
      </p:sp>
      <p:sp>
        <p:nvSpPr>
          <p:cNvPr id="22" name="Text 19"/>
          <p:cNvSpPr txBox="1"/>
          <p:nvPr/>
        </p:nvSpPr>
        <p:spPr>
          <a:xfrm>
            <a:off x="960120" y="5184648"/>
            <a:ext cx="420624" cy="420624"/>
          </a:xfrm>
          <a:prstGeom prst="rect">
            <a:avLst/>
          </a:prstGeom>
          <a:noFill/>
          <a:ln/>
        </p:spPr>
        <p:txBody>
          <a:bodyPr wrap="square" lIns="0" tIns="0" rIns="0" bIns="0" rtlCol="0" anchor="ctr"/>
          <a:lstStyle/>
          <a:p>
            <a:pPr marL="0" indent="0" algn="ctr">
              <a:buNone/>
            </a:pPr>
            <a:r>
              <a:rPr lang="en-US" sz="1800" b="1" dirty="0">
                <a:solidFill>
                  <a:srgbClr val="FFFFFF"/>
                </a:solidFill>
                <a:latin typeface="Aptos" pitchFamily="34" charset="0"/>
                <a:ea typeface="Aptos" pitchFamily="34" charset="-122"/>
                <a:cs typeface="Aptos" pitchFamily="34" charset="-120"/>
              </a:rPr>
              <a:t>5</a:t>
            </a:r>
            <a:endParaRPr lang="en-US" sz="1800" dirty="0"/>
          </a:p>
        </p:txBody>
      </p:sp>
      <p:sp>
        <p:nvSpPr>
          <p:cNvPr id="23" name="Text 20"/>
          <p:cNvSpPr txBox="1"/>
          <p:nvPr/>
        </p:nvSpPr>
        <p:spPr>
          <a:xfrm>
            <a:off x="1554480" y="5166360"/>
            <a:ext cx="5852160" cy="320040"/>
          </a:xfrm>
          <a:prstGeom prst="rect">
            <a:avLst/>
          </a:prstGeom>
          <a:noFill/>
          <a:ln/>
        </p:spPr>
        <p:txBody>
          <a:bodyPr wrap="square" lIns="0" tIns="0" rIns="0" bIns="0" rtlCol="0" anchor="ctr"/>
          <a:lstStyle/>
          <a:p>
            <a:pPr marL="0" indent="0">
              <a:buNone/>
            </a:pPr>
            <a:r>
              <a:rPr lang="en-US" sz="1600" b="1" dirty="0">
                <a:solidFill>
                  <a:srgbClr val="000000"/>
                </a:solidFill>
                <a:latin typeface="Aptos" pitchFamily="34" charset="0"/>
                <a:ea typeface="Aptos" pitchFamily="34" charset="-122"/>
                <a:cs typeface="Aptos" pitchFamily="34" charset="-120"/>
              </a:rPr>
              <a:t>Compare in File Explorer</a:t>
            </a:r>
            <a:endParaRPr lang="en-US" sz="1600" dirty="0"/>
          </a:p>
        </p:txBody>
      </p:sp>
      <p:sp>
        <p:nvSpPr>
          <p:cNvPr id="24" name="Text 21"/>
          <p:cNvSpPr txBox="1"/>
          <p:nvPr/>
        </p:nvSpPr>
        <p:spPr>
          <a:xfrm>
            <a:off x="1554480" y="5486400"/>
            <a:ext cx="5852160" cy="548640"/>
          </a:xfrm>
          <a:prstGeom prst="rect">
            <a:avLst/>
          </a:prstGeom>
          <a:noFill/>
          <a:ln/>
        </p:spPr>
        <p:txBody>
          <a:bodyPr wrap="square" lIns="0" tIns="0" rIns="0" bIns="0" rtlCol="0" anchor="t"/>
          <a:lstStyle/>
          <a:p>
            <a:pPr marL="0" indent="0">
              <a:buNone/>
            </a:pPr>
            <a:r>
              <a:rPr lang="en-US" sz="1350" dirty="0">
                <a:solidFill>
                  <a:srgbClr val="262626"/>
                </a:solidFill>
                <a:latin typeface="Aptos" pitchFamily="34" charset="0"/>
                <a:ea typeface="Aptos" pitchFamily="34" charset="-122"/>
                <a:cs typeface="Aptos" pitchFamily="34" charset="-120"/>
              </a:rPr>
              <a:t>​Details view, sorted by Size. Fill in the table in image_lab.html.</a:t>
            </a:r>
            <a:endParaRPr lang="en-US" sz="1350" dirty="0"/>
          </a:p>
        </p:txBody>
      </p:sp>
      <p:sp>
        <p:nvSpPr>
          <p:cNvPr id="25" name="Shape 22"/>
          <p:cNvSpPr/>
          <p:nvPr/>
        </p:nvSpPr>
        <p:spPr>
          <a:xfrm>
            <a:off x="8001000" y="1325880"/>
            <a:ext cx="3520440" cy="5029200"/>
          </a:xfrm>
          <a:prstGeom prst="roundRect">
            <a:avLst>
              <a:gd name="adj" fmla="val 3117"/>
            </a:avLst>
          </a:prstGeom>
          <a:solidFill>
            <a:srgbClr val="262626"/>
          </a:solidFill>
          <a:ln w="9525">
            <a:solidFill>
              <a:srgbClr val="262626"/>
            </a:solidFill>
            <a:prstDash val="solid"/>
          </a:ln>
          <a:effectLst>
            <a:outerShdw blurRad="76200" dist="25400" dir="5400000" algn="bl" rotWithShape="0">
              <a:srgbClr val="000000">
                <a:alpha val="12000"/>
              </a:srgbClr>
            </a:outerShdw>
          </a:effectLst>
        </p:spPr>
        <p:txBody>
          <a:bodyPr/>
          <a:lstStyle/>
          <a:p>
            <a:endParaRPr lang="en-US"/>
          </a:p>
        </p:txBody>
      </p:sp>
      <p:sp>
        <p:nvSpPr>
          <p:cNvPr id="26" name="Text 23"/>
          <p:cNvSpPr txBox="1"/>
          <p:nvPr/>
        </p:nvSpPr>
        <p:spPr>
          <a:xfrm>
            <a:off x="8229600" y="1554480"/>
            <a:ext cx="3108960" cy="411480"/>
          </a:xfrm>
          <a:prstGeom prst="rect">
            <a:avLst/>
          </a:prstGeom>
          <a:noFill/>
          <a:ln/>
        </p:spPr>
        <p:txBody>
          <a:bodyPr wrap="square" lIns="0" tIns="0" rIns="0" bIns="0" rtlCol="0" anchor="ctr"/>
          <a:lstStyle/>
          <a:p>
            <a:pPr marL="0" indent="0">
              <a:buNone/>
            </a:pPr>
            <a:r>
              <a:rPr lang="en-US" sz="1800" b="1" dirty="0">
                <a:solidFill>
                  <a:srgbClr val="FFFFFF"/>
                </a:solidFill>
                <a:latin typeface="Aptos" pitchFamily="34" charset="0"/>
                <a:ea typeface="Aptos" pitchFamily="34" charset="-122"/>
                <a:cs typeface="Aptos" pitchFamily="34" charset="-120"/>
              </a:rPr>
              <a:t>Questions</a:t>
            </a:r>
            <a:endParaRPr lang="en-US" sz="1800" dirty="0"/>
          </a:p>
        </p:txBody>
      </p:sp>
      <p:sp>
        <p:nvSpPr>
          <p:cNvPr id="27" name="Text 24"/>
          <p:cNvSpPr txBox="1"/>
          <p:nvPr/>
        </p:nvSpPr>
        <p:spPr>
          <a:xfrm>
            <a:off x="8229600" y="2057400"/>
            <a:ext cx="3108960" cy="4114800"/>
          </a:xfrm>
          <a:prstGeom prst="rect">
            <a:avLst/>
          </a:prstGeom>
          <a:noFill/>
          <a:ln/>
        </p:spPr>
        <p:txBody>
          <a:bodyPr wrap="square" lIns="0" tIns="0" rIns="0" bIns="0" rtlCol="0" anchor="t"/>
          <a:lstStyle/>
          <a:p>
            <a:pPr marL="342900" indent="-342900">
              <a:buSzPct val="100000"/>
              <a:buChar char="•"/>
            </a:pPr>
            <a:r>
              <a:rPr lang="en-US" sz="1350" dirty="0">
                <a:solidFill>
                  <a:srgbClr val="D9D9D9"/>
                </a:solidFill>
                <a:latin typeface="Aptos" pitchFamily="34" charset="0"/>
                <a:ea typeface="Aptos" pitchFamily="34" charset="-122"/>
                <a:cs typeface="Aptos" pitchFamily="34" charset="-120"/>
              </a:rPr>
              <a:t>Which file is biggest? How many times bigger than the JPG?</a:t>
            </a:r>
            <a:endParaRPr lang="en-US" sz="1350" dirty="0"/>
          </a:p>
          <a:p>
            <a:pPr marL="342900" indent="-342900">
              <a:spcBef>
                <a:spcPts val="700"/>
              </a:spcBef>
              <a:buSzPct val="100000"/>
              <a:buChar char="•"/>
            </a:pPr>
            <a:r>
              <a:rPr lang="en-US" sz="1350" dirty="0">
                <a:solidFill>
                  <a:srgbClr val="D9D9D9"/>
                </a:solidFill>
                <a:latin typeface="Aptos" pitchFamily="34" charset="0"/>
                <a:ea typeface="Aptos" pitchFamily="34" charset="-122"/>
                <a:cs typeface="Aptos" pitchFamily="34" charset="-120"/>
              </a:rPr>
              <a:t>Open all three. Can you see a difference?</a:t>
            </a:r>
            <a:endParaRPr lang="en-US" sz="1350" dirty="0"/>
          </a:p>
          <a:p>
            <a:pPr marL="342900" indent="-342900">
              <a:spcBef>
                <a:spcPts val="700"/>
              </a:spcBef>
              <a:buSzPct val="100000"/>
              <a:buChar char="•"/>
            </a:pPr>
            <a:r>
              <a:rPr lang="en-US" sz="1350" dirty="0">
                <a:solidFill>
                  <a:srgbClr val="D9D9D9"/>
                </a:solidFill>
                <a:latin typeface="Aptos" pitchFamily="34" charset="0"/>
                <a:ea typeface="Aptos" pitchFamily="34" charset="-122"/>
                <a:cs typeface="Aptos" pitchFamily="34" charset="-120"/>
              </a:rPr>
              <a:t>Which would you put on a website?</a:t>
            </a:r>
            <a:endParaRPr lang="en-US" sz="1350" dirty="0"/>
          </a:p>
          <a:p>
            <a:pPr marL="0" indent="0">
              <a:spcBef>
                <a:spcPts val="700"/>
              </a:spcBef>
              <a:buNone/>
            </a:pPr>
            <a:endParaRPr lang="en-US" sz="1350" dirty="0"/>
          </a:p>
          <a:p>
            <a:pPr marL="0" indent="0">
              <a:spcBef>
                <a:spcPts val="700"/>
              </a:spcBef>
              <a:buNone/>
            </a:pPr>
            <a:r>
              <a:rPr lang="en-US" sz="1350" b="1" dirty="0">
                <a:solidFill>
                  <a:srgbClr val="F2C6AC"/>
                </a:solidFill>
                <a:latin typeface="Aptos" pitchFamily="34" charset="0"/>
                <a:ea typeface="Aptos" pitchFamily="34" charset="-122"/>
                <a:cs typeface="Aptos" pitchFamily="34" charset="-120"/>
              </a:rPr>
              <a:t>Pixlr won't save?</a:t>
            </a:r>
            <a:endParaRPr lang="en-US" sz="1350" dirty="0"/>
          </a:p>
          <a:p>
            <a:pPr marL="342900" indent="-342900">
              <a:spcBef>
                <a:spcPts val="700"/>
              </a:spcBef>
              <a:buSzPct val="100000"/>
              <a:buChar char="•"/>
            </a:pPr>
            <a:r>
              <a:rPr lang="en-US" sz="1350" dirty="0">
                <a:solidFill>
                  <a:srgbClr val="D9D9D9"/>
                </a:solidFill>
                <a:latin typeface="Aptos" pitchFamily="34" charset="0"/>
                <a:ea typeface="Aptos" pitchFamily="34" charset="-122"/>
                <a:cs typeface="Aptos" pitchFamily="34" charset="-120"/>
              </a:rPr>
              <a:t>Use squoosh.app: drop in your photo, pick a format on the right, and it shows the new size live.</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pic>
        <p:nvPicPr>
          <p:cNvPr id="2" name="Image 0" descr="C:\Repos\2026-2027\WEBD1000\04_Images_for_the_Web\_build\grad_left.png"/>
          <p:cNvPicPr>
            <a:picLocks noChangeAspect="1"/>
          </p:cNvPicPr>
          <p:nvPr/>
        </p:nvPicPr>
        <p:blipFill>
          <a:blip r:embed="rId3"/>
          <a:stretch>
            <a:fillRect/>
          </a:stretch>
        </p:blipFill>
        <p:spPr>
          <a:xfrm>
            <a:off x="0" y="0"/>
            <a:ext cx="6400800" cy="6858000"/>
          </a:xfrm>
          <a:prstGeom prst="rect">
            <a:avLst/>
          </a:prstGeom>
        </p:spPr>
      </p:pic>
      <p:sp>
        <p:nvSpPr>
          <p:cNvPr id="3" name="Shape 0"/>
          <p:cNvSpPr/>
          <p:nvPr/>
        </p:nvSpPr>
        <p:spPr>
          <a:xfrm>
            <a:off x="274320" y="809045"/>
            <a:ext cx="5852160" cy="5239910"/>
          </a:xfrm>
          <a:prstGeom prst="rect">
            <a:avLst/>
          </a:prstGeom>
          <a:solidFill>
            <a:srgbClr val="1E1E1E"/>
          </a:solidFill>
          <a:ln w="12700">
            <a:solidFill>
              <a:srgbClr val="1E1E1E"/>
            </a:solidFill>
            <a:prstDash val="solid"/>
          </a:ln>
          <a:effectLst>
            <a:outerShdw blurRad="101600" dist="38100" dir="5400000" algn="bl" rotWithShape="0">
              <a:srgbClr val="000000">
                <a:alpha val="35000"/>
              </a:srgbClr>
            </a:outerShdw>
          </a:effectLst>
        </p:spPr>
        <p:txBody>
          <a:bodyPr/>
          <a:lstStyle/>
          <a:p>
            <a:endParaRPr lang="en-US"/>
          </a:p>
        </p:txBody>
      </p:sp>
      <p:sp>
        <p:nvSpPr>
          <p:cNvPr id="4" name="Text 1"/>
          <p:cNvSpPr txBox="1"/>
          <p:nvPr/>
        </p:nvSpPr>
        <p:spPr>
          <a:xfrm>
            <a:off x="502920" y="1037645"/>
            <a:ext cx="5394960" cy="4782710"/>
          </a:xfrm>
          <a:prstGeom prst="rect">
            <a:avLst/>
          </a:prstGeom>
          <a:noFill/>
          <a:ln/>
        </p:spPr>
        <p:txBody>
          <a:bodyPr wrap="square" lIns="0" tIns="0" rIns="0" bIns="0" rtlCol="0" anchor="t"/>
          <a:lstStyle/>
          <a:p>
            <a:pPr marL="0" indent="0">
              <a:lnSpc>
                <a:spcPct val="100000"/>
              </a:lnSpc>
              <a:buNone/>
            </a:pPr>
            <a:r>
              <a:rPr lang="en-US" sz="1050" dirty="0">
                <a:solidFill>
                  <a:srgbClr val="808080"/>
                </a:solidFill>
                <a:latin typeface="Consolas" pitchFamily="34" charset="0"/>
                <a:ea typeface="Consolas" pitchFamily="34" charset="-122"/>
                <a:cs typeface="Consolas" pitchFamily="34" charset="-120"/>
              </a:rPr>
              <a:t>&lt;</a:t>
            </a:r>
            <a:r>
              <a:rPr lang="en-US" sz="1050" dirty="0">
                <a:solidFill>
                  <a:srgbClr val="569CD6"/>
                </a:solidFill>
                <a:latin typeface="Consolas" pitchFamily="34" charset="0"/>
                <a:ea typeface="Consolas" pitchFamily="34" charset="-122"/>
                <a:cs typeface="Consolas" pitchFamily="34" charset="-120"/>
              </a:rPr>
              <a:t>h1</a:t>
            </a:r>
            <a:r>
              <a:rPr lang="en-US" sz="1050" dirty="0">
                <a:solidFill>
                  <a:srgbClr val="808080"/>
                </a:solidFill>
                <a:latin typeface="Consolas" pitchFamily="34" charset="0"/>
                <a:ea typeface="Consolas" pitchFamily="34" charset="-122"/>
                <a:cs typeface="Consolas" pitchFamily="34" charset="-120"/>
              </a:rPr>
              <a:t>&gt;</a:t>
            </a:r>
            <a:r>
              <a:rPr lang="en-US" sz="1050" dirty="0">
                <a:solidFill>
                  <a:srgbClr val="D4D4D4"/>
                </a:solidFill>
                <a:latin typeface="Consolas" pitchFamily="34" charset="0"/>
                <a:ea typeface="Consolas" pitchFamily="34" charset="-122"/>
                <a:cs typeface="Consolas" pitchFamily="34" charset="-120"/>
              </a:rPr>
              <a:t>How Low Can You Go?</a:t>
            </a:r>
            <a:r>
              <a:rPr lang="en-US" sz="1050" dirty="0">
                <a:solidFill>
                  <a:srgbClr val="808080"/>
                </a:solidFill>
                <a:latin typeface="Consolas" pitchFamily="34" charset="0"/>
                <a:ea typeface="Consolas" pitchFamily="34" charset="-122"/>
                <a:cs typeface="Consolas" pitchFamily="34" charset="-120"/>
              </a:rPr>
              <a:t>&lt;/</a:t>
            </a:r>
            <a:r>
              <a:rPr lang="en-US" sz="1050" dirty="0">
                <a:solidFill>
                  <a:srgbClr val="569CD6"/>
                </a:solidFill>
                <a:latin typeface="Consolas" pitchFamily="34" charset="0"/>
                <a:ea typeface="Consolas" pitchFamily="34" charset="-122"/>
                <a:cs typeface="Consolas" pitchFamily="34" charset="-120"/>
              </a:rPr>
              <a:t>h1</a:t>
            </a:r>
            <a:r>
              <a:rPr lang="en-US" sz="1050" dirty="0">
                <a:solidFill>
                  <a:srgbClr val="808080"/>
                </a:solidFill>
                <a:latin typeface="Consolas" pitchFamily="34" charset="0"/>
                <a:ea typeface="Consolas" pitchFamily="34" charset="-122"/>
                <a:cs typeface="Consolas" pitchFamily="34" charset="-120"/>
              </a:rPr>
              <a:t>&gt;</a:t>
            </a:r>
            <a:endParaRPr lang="en-US" sz="1050" dirty="0"/>
          </a:p>
          <a:p>
            <a:pPr marL="0" indent="0">
              <a:lnSpc>
                <a:spcPct val="100000"/>
              </a:lnSpc>
              <a:buNone/>
            </a:pPr>
            <a:r>
              <a:rPr lang="en-US" sz="1050" dirty="0">
                <a:solidFill>
                  <a:srgbClr val="808080"/>
                </a:solidFill>
                <a:latin typeface="Consolas" pitchFamily="34" charset="0"/>
                <a:ea typeface="Consolas" pitchFamily="34" charset="-122"/>
                <a:cs typeface="Consolas" pitchFamily="34" charset="-120"/>
              </a:rPr>
              <a:t>&lt;</a:t>
            </a:r>
            <a:r>
              <a:rPr lang="en-US" sz="1050" dirty="0">
                <a:solidFill>
                  <a:srgbClr val="569CD6"/>
                </a:solidFill>
                <a:latin typeface="Consolas" pitchFamily="34" charset="0"/>
                <a:ea typeface="Consolas" pitchFamily="34" charset="-122"/>
                <a:cs typeface="Consolas" pitchFamily="34" charset="-120"/>
              </a:rPr>
              <a:t>p</a:t>
            </a:r>
            <a:r>
              <a:rPr lang="en-US" sz="1050" dirty="0">
                <a:solidFill>
                  <a:srgbClr val="808080"/>
                </a:solidFill>
                <a:latin typeface="Consolas" pitchFamily="34" charset="0"/>
                <a:ea typeface="Consolas" pitchFamily="34" charset="-122"/>
                <a:cs typeface="Consolas" pitchFamily="34" charset="-120"/>
              </a:rPr>
              <a:t>&gt;</a:t>
            </a:r>
            <a:r>
              <a:rPr lang="en-US" sz="1050" dirty="0">
                <a:solidFill>
                  <a:srgbClr val="D4D4D4"/>
                </a:solidFill>
                <a:latin typeface="Consolas" pitchFamily="34" charset="0"/>
                <a:ea typeface="Consolas" pitchFamily="34" charset="-122"/>
                <a:cs typeface="Consolas" pitchFamily="34" charset="-120"/>
              </a:rPr>
              <a:t>The same JPG saved at four quality settings.</a:t>
            </a:r>
            <a:endParaRPr lang="en-US" sz="1050" dirty="0"/>
          </a:p>
          <a:p>
            <a:pPr marL="0" indent="0">
              <a:lnSpc>
                <a:spcPct val="100000"/>
              </a:lnSpc>
              <a:buNone/>
            </a:pPr>
            <a:r>
              <a:rPr lang="en-US" sz="1050" dirty="0">
                <a:solidFill>
                  <a:srgbClr val="D4D4D4"/>
                </a:solidFill>
                <a:latin typeface="Consolas" pitchFamily="34" charset="0"/>
                <a:ea typeface="Consolas" pitchFamily="34" charset="-122"/>
                <a:cs typeface="Consolas" pitchFamily="34" charset="-120"/>
              </a:rPr>
              <a:t>   Zoom in (Ctrl and +) and look at the rocks and the water.</a:t>
            </a:r>
            <a:r>
              <a:rPr lang="en-US" sz="1050" dirty="0">
                <a:solidFill>
                  <a:srgbClr val="808080"/>
                </a:solidFill>
                <a:latin typeface="Consolas" pitchFamily="34" charset="0"/>
                <a:ea typeface="Consolas" pitchFamily="34" charset="-122"/>
                <a:cs typeface="Consolas" pitchFamily="34" charset="-120"/>
              </a:rPr>
              <a:t>&lt;/</a:t>
            </a:r>
            <a:r>
              <a:rPr lang="en-US" sz="1050" dirty="0">
                <a:solidFill>
                  <a:srgbClr val="569CD6"/>
                </a:solidFill>
                <a:latin typeface="Consolas" pitchFamily="34" charset="0"/>
                <a:ea typeface="Consolas" pitchFamily="34" charset="-122"/>
                <a:cs typeface="Consolas" pitchFamily="34" charset="-120"/>
              </a:rPr>
              <a:t>p</a:t>
            </a:r>
            <a:r>
              <a:rPr lang="en-US" sz="1050" dirty="0">
                <a:solidFill>
                  <a:srgbClr val="808080"/>
                </a:solidFill>
                <a:latin typeface="Consolas" pitchFamily="34" charset="0"/>
                <a:ea typeface="Consolas" pitchFamily="34" charset="-122"/>
                <a:cs typeface="Consolas" pitchFamily="34" charset="-120"/>
              </a:rPr>
              <a:t>&gt;</a:t>
            </a:r>
            <a:endParaRPr lang="en-US" sz="1050" dirty="0"/>
          </a:p>
          <a:p>
            <a:pPr marL="0" indent="0">
              <a:lnSpc>
                <a:spcPct val="100000"/>
              </a:lnSpc>
              <a:buNone/>
            </a:pPr>
            <a:r>
              <a:rPr lang="en-US" sz="1050" dirty="0">
                <a:solidFill>
                  <a:srgbClr val="D4D4D4"/>
                </a:solidFill>
                <a:latin typeface="Consolas" pitchFamily="34" charset="0"/>
                <a:ea typeface="Consolas" pitchFamily="34" charset="-122"/>
                <a:cs typeface="Consolas" pitchFamily="34" charset="-120"/>
              </a:rPr>
              <a:t> </a:t>
            </a:r>
            <a:endParaRPr lang="en-US" sz="1050" dirty="0"/>
          </a:p>
          <a:p>
            <a:pPr marL="0" indent="0">
              <a:lnSpc>
                <a:spcPct val="100000"/>
              </a:lnSpc>
              <a:buNone/>
            </a:pPr>
            <a:r>
              <a:rPr lang="en-US" sz="1050" dirty="0">
                <a:solidFill>
                  <a:srgbClr val="808080"/>
                </a:solidFill>
                <a:latin typeface="Consolas" pitchFamily="34" charset="0"/>
                <a:ea typeface="Consolas" pitchFamily="34" charset="-122"/>
                <a:cs typeface="Consolas" pitchFamily="34" charset="-120"/>
              </a:rPr>
              <a:t>&lt;</a:t>
            </a:r>
            <a:r>
              <a:rPr lang="en-US" sz="1050" dirty="0">
                <a:solidFill>
                  <a:srgbClr val="569CD6"/>
                </a:solidFill>
                <a:latin typeface="Consolas" pitchFamily="34" charset="0"/>
                <a:ea typeface="Consolas" pitchFamily="34" charset="-122"/>
                <a:cs typeface="Consolas" pitchFamily="34" charset="-120"/>
              </a:rPr>
              <a:t>figure</a:t>
            </a:r>
            <a:r>
              <a:rPr lang="en-US" sz="1050" dirty="0">
                <a:solidFill>
                  <a:srgbClr val="808080"/>
                </a:solidFill>
                <a:latin typeface="Consolas" pitchFamily="34" charset="0"/>
                <a:ea typeface="Consolas" pitchFamily="34" charset="-122"/>
                <a:cs typeface="Consolas" pitchFamily="34" charset="-120"/>
              </a:rPr>
              <a:t>&gt;</a:t>
            </a:r>
            <a:endParaRPr lang="en-US" sz="1050" dirty="0"/>
          </a:p>
          <a:p>
            <a:pPr marL="0" indent="0">
              <a:lnSpc>
                <a:spcPct val="100000"/>
              </a:lnSpc>
              <a:buNone/>
            </a:pP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808080"/>
                </a:solidFill>
                <a:latin typeface="Consolas" pitchFamily="34" charset="0"/>
                <a:ea typeface="Consolas" pitchFamily="34" charset="-122"/>
                <a:cs typeface="Consolas" pitchFamily="34" charset="-120"/>
              </a:rPr>
              <a:t>&lt;</a:t>
            </a:r>
            <a:r>
              <a:rPr lang="en-US" sz="1050" dirty="0">
                <a:solidFill>
                  <a:srgbClr val="569CD6"/>
                </a:solidFill>
                <a:latin typeface="Consolas" pitchFamily="34" charset="0"/>
                <a:ea typeface="Consolas" pitchFamily="34" charset="-122"/>
                <a:cs typeface="Consolas" pitchFamily="34" charset="-120"/>
              </a:rPr>
              <a:t>img</a:t>
            </a: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src</a:t>
            </a:r>
            <a:r>
              <a:rPr lang="en-US" sz="1050" dirty="0">
                <a:solidFill>
                  <a:srgbClr val="D4D4D4"/>
                </a:solidFill>
                <a:latin typeface="Consolas" pitchFamily="34" charset="0"/>
                <a:ea typeface="Consolas" pitchFamily="34" charset="-122"/>
                <a:cs typeface="Consolas" pitchFamily="34" charset="-120"/>
              </a:rPr>
              <a:t>=</a:t>
            </a:r>
            <a:r>
              <a:rPr lang="en-US" sz="1050" dirty="0">
                <a:solidFill>
                  <a:srgbClr val="CE9178"/>
                </a:solidFill>
                <a:latin typeface="Consolas" pitchFamily="34" charset="0"/>
                <a:ea typeface="Consolas" pitchFamily="34" charset="-122"/>
                <a:cs typeface="Consolas" pitchFamily="34" charset="-120"/>
              </a:rPr>
              <a:t>"samples/beach_q90.jpg"</a:t>
            </a: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width</a:t>
            </a:r>
            <a:r>
              <a:rPr lang="en-US" sz="1050" dirty="0">
                <a:solidFill>
                  <a:srgbClr val="D4D4D4"/>
                </a:solidFill>
                <a:latin typeface="Consolas" pitchFamily="34" charset="0"/>
                <a:ea typeface="Consolas" pitchFamily="34" charset="-122"/>
                <a:cs typeface="Consolas" pitchFamily="34" charset="-120"/>
              </a:rPr>
              <a:t>=</a:t>
            </a:r>
            <a:r>
              <a:rPr lang="en-US" sz="1050" dirty="0">
                <a:solidFill>
                  <a:srgbClr val="CE9178"/>
                </a:solidFill>
                <a:latin typeface="Consolas" pitchFamily="34" charset="0"/>
                <a:ea typeface="Consolas" pitchFamily="34" charset="-122"/>
                <a:cs typeface="Consolas" pitchFamily="34" charset="-120"/>
              </a:rPr>
              <a:t>"560"</a:t>
            </a: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height</a:t>
            </a:r>
            <a:r>
              <a:rPr lang="en-US" sz="1050" dirty="0">
                <a:solidFill>
                  <a:srgbClr val="D4D4D4"/>
                </a:solidFill>
                <a:latin typeface="Consolas" pitchFamily="34" charset="0"/>
                <a:ea typeface="Consolas" pitchFamily="34" charset="-122"/>
                <a:cs typeface="Consolas" pitchFamily="34" charset="-120"/>
              </a:rPr>
              <a:t>=</a:t>
            </a:r>
            <a:r>
              <a:rPr lang="en-US" sz="1050" dirty="0">
                <a:solidFill>
                  <a:srgbClr val="CE9178"/>
                </a:solidFill>
                <a:latin typeface="Consolas" pitchFamily="34" charset="0"/>
                <a:ea typeface="Consolas" pitchFamily="34" charset="-122"/>
                <a:cs typeface="Consolas" pitchFamily="34" charset="-120"/>
              </a:rPr>
              <a:t>"320"</a:t>
            </a:r>
            <a:endParaRPr lang="en-US" sz="1050" dirty="0"/>
          </a:p>
          <a:p>
            <a:pPr marL="0" indent="0">
              <a:lnSpc>
                <a:spcPct val="100000"/>
              </a:lnSpc>
              <a:buNone/>
            </a:pP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alt</a:t>
            </a:r>
            <a:r>
              <a:rPr lang="en-US" sz="1050" dirty="0">
                <a:solidFill>
                  <a:srgbClr val="D4D4D4"/>
                </a:solidFill>
                <a:latin typeface="Consolas" pitchFamily="34" charset="0"/>
                <a:ea typeface="Consolas" pitchFamily="34" charset="-122"/>
                <a:cs typeface="Consolas" pitchFamily="34" charset="-120"/>
              </a:rPr>
              <a:t>=</a:t>
            </a:r>
            <a:r>
              <a:rPr lang="en-US" sz="1050" dirty="0">
                <a:solidFill>
                  <a:srgbClr val="CE9178"/>
                </a:solidFill>
                <a:latin typeface="Consolas" pitchFamily="34" charset="0"/>
                <a:ea typeface="Consolas" pitchFamily="34" charset="-122"/>
                <a:cs typeface="Consolas" pitchFamily="34" charset="-120"/>
              </a:rPr>
              <a:t>"Beach photo saved at JPG quality 90"</a:t>
            </a:r>
            <a:r>
              <a:rPr lang="en-US" sz="1050" dirty="0">
                <a:solidFill>
                  <a:srgbClr val="808080"/>
                </a:solidFill>
                <a:latin typeface="Consolas" pitchFamily="34" charset="0"/>
                <a:ea typeface="Consolas" pitchFamily="34" charset="-122"/>
                <a:cs typeface="Consolas" pitchFamily="34" charset="-120"/>
              </a:rPr>
              <a:t>&gt;</a:t>
            </a:r>
            <a:endParaRPr lang="en-US" sz="1050" dirty="0"/>
          </a:p>
          <a:p>
            <a:pPr marL="0" indent="0">
              <a:lnSpc>
                <a:spcPct val="100000"/>
              </a:lnSpc>
              <a:buNone/>
            </a:pP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6A9955"/>
                </a:solidFill>
                <a:latin typeface="Consolas" pitchFamily="34" charset="0"/>
                <a:ea typeface="Consolas" pitchFamily="34" charset="-122"/>
                <a:cs typeface="Consolas" pitchFamily="34" charset="-120"/>
              </a:rPr>
              <a:t>&lt;!-- Bigger than the original! Re-saving can't add back detail --&gt;</a:t>
            </a:r>
            <a:endParaRPr lang="en-US" sz="1050" dirty="0"/>
          </a:p>
          <a:p>
            <a:pPr marL="0" indent="0">
              <a:lnSpc>
                <a:spcPct val="100000"/>
              </a:lnSpc>
              <a:buNone/>
            </a:pP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808080"/>
                </a:solidFill>
                <a:latin typeface="Consolas" pitchFamily="34" charset="0"/>
                <a:ea typeface="Consolas" pitchFamily="34" charset="-122"/>
                <a:cs typeface="Consolas" pitchFamily="34" charset="-120"/>
              </a:rPr>
              <a:t>&lt;</a:t>
            </a:r>
            <a:r>
              <a:rPr lang="en-US" sz="1050" dirty="0">
                <a:solidFill>
                  <a:srgbClr val="569CD6"/>
                </a:solidFill>
                <a:latin typeface="Consolas" pitchFamily="34" charset="0"/>
                <a:ea typeface="Consolas" pitchFamily="34" charset="-122"/>
                <a:cs typeface="Consolas" pitchFamily="34" charset="-120"/>
              </a:rPr>
              <a:t>figcaption</a:t>
            </a:r>
            <a:r>
              <a:rPr lang="en-US" sz="1050" dirty="0">
                <a:solidFill>
                  <a:srgbClr val="808080"/>
                </a:solidFill>
                <a:latin typeface="Consolas" pitchFamily="34" charset="0"/>
                <a:ea typeface="Consolas" pitchFamily="34" charset="-122"/>
                <a:cs typeface="Consolas" pitchFamily="34" charset="-120"/>
              </a:rPr>
              <a:t>&gt;</a:t>
            </a:r>
            <a:r>
              <a:rPr lang="en-US" sz="1050" dirty="0">
                <a:solidFill>
                  <a:srgbClr val="D4D4D4"/>
                </a:solidFill>
                <a:latin typeface="Consolas" pitchFamily="34" charset="0"/>
                <a:ea typeface="Consolas" pitchFamily="34" charset="-122"/>
                <a:cs typeface="Consolas" pitchFamily="34" charset="-120"/>
              </a:rPr>
              <a:t>Quality 90: about 140 KB</a:t>
            </a:r>
            <a:r>
              <a:rPr lang="en-US" sz="1050" dirty="0">
                <a:solidFill>
                  <a:srgbClr val="808080"/>
                </a:solidFill>
                <a:latin typeface="Consolas" pitchFamily="34" charset="0"/>
                <a:ea typeface="Consolas" pitchFamily="34" charset="-122"/>
                <a:cs typeface="Consolas" pitchFamily="34" charset="-120"/>
              </a:rPr>
              <a:t>&lt;/</a:t>
            </a:r>
            <a:r>
              <a:rPr lang="en-US" sz="1050" dirty="0">
                <a:solidFill>
                  <a:srgbClr val="569CD6"/>
                </a:solidFill>
                <a:latin typeface="Consolas" pitchFamily="34" charset="0"/>
                <a:ea typeface="Consolas" pitchFamily="34" charset="-122"/>
                <a:cs typeface="Consolas" pitchFamily="34" charset="-120"/>
              </a:rPr>
              <a:t>figcaption</a:t>
            </a:r>
            <a:r>
              <a:rPr lang="en-US" sz="1050" dirty="0">
                <a:solidFill>
                  <a:srgbClr val="808080"/>
                </a:solidFill>
                <a:latin typeface="Consolas" pitchFamily="34" charset="0"/>
                <a:ea typeface="Consolas" pitchFamily="34" charset="-122"/>
                <a:cs typeface="Consolas" pitchFamily="34" charset="-120"/>
              </a:rPr>
              <a:t>&gt;</a:t>
            </a:r>
            <a:endParaRPr lang="en-US" sz="1050" dirty="0"/>
          </a:p>
          <a:p>
            <a:pPr marL="0" indent="0">
              <a:lnSpc>
                <a:spcPct val="100000"/>
              </a:lnSpc>
              <a:buNone/>
            </a:pPr>
            <a:r>
              <a:rPr lang="en-US" sz="1050" dirty="0">
                <a:solidFill>
                  <a:srgbClr val="808080"/>
                </a:solidFill>
                <a:latin typeface="Consolas" pitchFamily="34" charset="0"/>
                <a:ea typeface="Consolas" pitchFamily="34" charset="-122"/>
                <a:cs typeface="Consolas" pitchFamily="34" charset="-120"/>
              </a:rPr>
              <a:t>&lt;/</a:t>
            </a:r>
            <a:r>
              <a:rPr lang="en-US" sz="1050" dirty="0">
                <a:solidFill>
                  <a:srgbClr val="569CD6"/>
                </a:solidFill>
                <a:latin typeface="Consolas" pitchFamily="34" charset="0"/>
                <a:ea typeface="Consolas" pitchFamily="34" charset="-122"/>
                <a:cs typeface="Consolas" pitchFamily="34" charset="-120"/>
              </a:rPr>
              <a:t>figure</a:t>
            </a:r>
            <a:r>
              <a:rPr lang="en-US" sz="1050" dirty="0">
                <a:solidFill>
                  <a:srgbClr val="808080"/>
                </a:solidFill>
                <a:latin typeface="Consolas" pitchFamily="34" charset="0"/>
                <a:ea typeface="Consolas" pitchFamily="34" charset="-122"/>
                <a:cs typeface="Consolas" pitchFamily="34" charset="-120"/>
              </a:rPr>
              <a:t>&gt;</a:t>
            </a:r>
            <a:endParaRPr lang="en-US" sz="1050" dirty="0"/>
          </a:p>
          <a:p>
            <a:pPr marL="0" indent="0">
              <a:lnSpc>
                <a:spcPct val="100000"/>
              </a:lnSpc>
              <a:buNone/>
            </a:pPr>
            <a:r>
              <a:rPr lang="en-US" sz="1050" dirty="0">
                <a:solidFill>
                  <a:srgbClr val="D4D4D4"/>
                </a:solidFill>
                <a:latin typeface="Consolas" pitchFamily="34" charset="0"/>
                <a:ea typeface="Consolas" pitchFamily="34" charset="-122"/>
                <a:cs typeface="Consolas" pitchFamily="34" charset="-120"/>
              </a:rPr>
              <a:t> </a:t>
            </a:r>
            <a:endParaRPr lang="en-US" sz="1050" dirty="0"/>
          </a:p>
          <a:p>
            <a:pPr marL="0" indent="0">
              <a:lnSpc>
                <a:spcPct val="100000"/>
              </a:lnSpc>
              <a:buNone/>
            </a:pPr>
            <a:r>
              <a:rPr lang="en-US" sz="1050" dirty="0">
                <a:solidFill>
                  <a:srgbClr val="808080"/>
                </a:solidFill>
                <a:latin typeface="Consolas" pitchFamily="34" charset="0"/>
                <a:ea typeface="Consolas" pitchFamily="34" charset="-122"/>
                <a:cs typeface="Consolas" pitchFamily="34" charset="-120"/>
              </a:rPr>
              <a:t>&lt;</a:t>
            </a:r>
            <a:r>
              <a:rPr lang="en-US" sz="1050" dirty="0">
                <a:solidFill>
                  <a:srgbClr val="569CD6"/>
                </a:solidFill>
                <a:latin typeface="Consolas" pitchFamily="34" charset="0"/>
                <a:ea typeface="Consolas" pitchFamily="34" charset="-122"/>
                <a:cs typeface="Consolas" pitchFamily="34" charset="-120"/>
              </a:rPr>
              <a:t>figure</a:t>
            </a:r>
            <a:r>
              <a:rPr lang="en-US" sz="1050" dirty="0">
                <a:solidFill>
                  <a:srgbClr val="808080"/>
                </a:solidFill>
                <a:latin typeface="Consolas" pitchFamily="34" charset="0"/>
                <a:ea typeface="Consolas" pitchFamily="34" charset="-122"/>
                <a:cs typeface="Consolas" pitchFamily="34" charset="-120"/>
              </a:rPr>
              <a:t>&gt;</a:t>
            </a:r>
            <a:endParaRPr lang="en-US" sz="1050" dirty="0"/>
          </a:p>
          <a:p>
            <a:pPr marL="0" indent="0">
              <a:lnSpc>
                <a:spcPct val="100000"/>
              </a:lnSpc>
              <a:buNone/>
            </a:pP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808080"/>
                </a:solidFill>
                <a:latin typeface="Consolas" pitchFamily="34" charset="0"/>
                <a:ea typeface="Consolas" pitchFamily="34" charset="-122"/>
                <a:cs typeface="Consolas" pitchFamily="34" charset="-120"/>
              </a:rPr>
              <a:t>&lt;</a:t>
            </a:r>
            <a:r>
              <a:rPr lang="en-US" sz="1050" dirty="0">
                <a:solidFill>
                  <a:srgbClr val="569CD6"/>
                </a:solidFill>
                <a:latin typeface="Consolas" pitchFamily="34" charset="0"/>
                <a:ea typeface="Consolas" pitchFamily="34" charset="-122"/>
                <a:cs typeface="Consolas" pitchFamily="34" charset="-120"/>
              </a:rPr>
              <a:t>img</a:t>
            </a: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src</a:t>
            </a:r>
            <a:r>
              <a:rPr lang="en-US" sz="1050" dirty="0">
                <a:solidFill>
                  <a:srgbClr val="D4D4D4"/>
                </a:solidFill>
                <a:latin typeface="Consolas" pitchFamily="34" charset="0"/>
                <a:ea typeface="Consolas" pitchFamily="34" charset="-122"/>
                <a:cs typeface="Consolas" pitchFamily="34" charset="-120"/>
              </a:rPr>
              <a:t>=</a:t>
            </a:r>
            <a:r>
              <a:rPr lang="en-US" sz="1050" dirty="0">
                <a:solidFill>
                  <a:srgbClr val="CE9178"/>
                </a:solidFill>
                <a:latin typeface="Consolas" pitchFamily="34" charset="0"/>
                <a:ea typeface="Consolas" pitchFamily="34" charset="-122"/>
                <a:cs typeface="Consolas" pitchFamily="34" charset="-120"/>
              </a:rPr>
              <a:t>"samples/beach_q75.jpg"</a:t>
            </a: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width</a:t>
            </a:r>
            <a:r>
              <a:rPr lang="en-US" sz="1050" dirty="0">
                <a:solidFill>
                  <a:srgbClr val="D4D4D4"/>
                </a:solidFill>
                <a:latin typeface="Consolas" pitchFamily="34" charset="0"/>
                <a:ea typeface="Consolas" pitchFamily="34" charset="-122"/>
                <a:cs typeface="Consolas" pitchFamily="34" charset="-120"/>
              </a:rPr>
              <a:t>=</a:t>
            </a:r>
            <a:r>
              <a:rPr lang="en-US" sz="1050" dirty="0">
                <a:solidFill>
                  <a:srgbClr val="CE9178"/>
                </a:solidFill>
                <a:latin typeface="Consolas" pitchFamily="34" charset="0"/>
                <a:ea typeface="Consolas" pitchFamily="34" charset="-122"/>
                <a:cs typeface="Consolas" pitchFamily="34" charset="-120"/>
              </a:rPr>
              <a:t>"560"</a:t>
            </a: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height</a:t>
            </a:r>
            <a:r>
              <a:rPr lang="en-US" sz="1050" dirty="0">
                <a:solidFill>
                  <a:srgbClr val="D4D4D4"/>
                </a:solidFill>
                <a:latin typeface="Consolas" pitchFamily="34" charset="0"/>
                <a:ea typeface="Consolas" pitchFamily="34" charset="-122"/>
                <a:cs typeface="Consolas" pitchFamily="34" charset="-120"/>
              </a:rPr>
              <a:t>=</a:t>
            </a:r>
            <a:r>
              <a:rPr lang="en-US" sz="1050" dirty="0">
                <a:solidFill>
                  <a:srgbClr val="CE9178"/>
                </a:solidFill>
                <a:latin typeface="Consolas" pitchFamily="34" charset="0"/>
                <a:ea typeface="Consolas" pitchFamily="34" charset="-122"/>
                <a:cs typeface="Consolas" pitchFamily="34" charset="-120"/>
              </a:rPr>
              <a:t>"320"</a:t>
            </a:r>
            <a:endParaRPr lang="en-US" sz="1050" dirty="0"/>
          </a:p>
          <a:p>
            <a:pPr marL="0" indent="0">
              <a:lnSpc>
                <a:spcPct val="100000"/>
              </a:lnSpc>
              <a:buNone/>
            </a:pP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alt</a:t>
            </a:r>
            <a:r>
              <a:rPr lang="en-US" sz="1050" dirty="0">
                <a:solidFill>
                  <a:srgbClr val="D4D4D4"/>
                </a:solidFill>
                <a:latin typeface="Consolas" pitchFamily="34" charset="0"/>
                <a:ea typeface="Consolas" pitchFamily="34" charset="-122"/>
                <a:cs typeface="Consolas" pitchFamily="34" charset="-120"/>
              </a:rPr>
              <a:t>=</a:t>
            </a:r>
            <a:r>
              <a:rPr lang="en-US" sz="1050" dirty="0">
                <a:solidFill>
                  <a:srgbClr val="CE9178"/>
                </a:solidFill>
                <a:latin typeface="Consolas" pitchFamily="34" charset="0"/>
                <a:ea typeface="Consolas" pitchFamily="34" charset="-122"/>
                <a:cs typeface="Consolas" pitchFamily="34" charset="-120"/>
              </a:rPr>
              <a:t>"Beach photo saved at JPG quality 75"</a:t>
            </a:r>
            <a:r>
              <a:rPr lang="en-US" sz="1050" dirty="0">
                <a:solidFill>
                  <a:srgbClr val="808080"/>
                </a:solidFill>
                <a:latin typeface="Consolas" pitchFamily="34" charset="0"/>
                <a:ea typeface="Consolas" pitchFamily="34" charset="-122"/>
                <a:cs typeface="Consolas" pitchFamily="34" charset="-120"/>
              </a:rPr>
              <a:t>&gt;</a:t>
            </a:r>
            <a:endParaRPr lang="en-US" sz="1050" dirty="0"/>
          </a:p>
          <a:p>
            <a:pPr marL="0" indent="0">
              <a:lnSpc>
                <a:spcPct val="100000"/>
              </a:lnSpc>
              <a:buNone/>
            </a:pP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6A9955"/>
                </a:solidFill>
                <a:latin typeface="Consolas" pitchFamily="34" charset="0"/>
                <a:ea typeface="Consolas" pitchFamily="34" charset="-122"/>
                <a:cs typeface="Consolas" pitchFamily="34" charset="-120"/>
              </a:rPr>
              <a:t>&lt;!-- The sweet spot for most photos: 60 to 80 --&gt;</a:t>
            </a:r>
            <a:endParaRPr lang="en-US" sz="1050" dirty="0"/>
          </a:p>
          <a:p>
            <a:pPr marL="0" indent="0">
              <a:lnSpc>
                <a:spcPct val="100000"/>
              </a:lnSpc>
              <a:buNone/>
            </a:pP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808080"/>
                </a:solidFill>
                <a:latin typeface="Consolas" pitchFamily="34" charset="0"/>
                <a:ea typeface="Consolas" pitchFamily="34" charset="-122"/>
                <a:cs typeface="Consolas" pitchFamily="34" charset="-120"/>
              </a:rPr>
              <a:t>&lt;</a:t>
            </a:r>
            <a:r>
              <a:rPr lang="en-US" sz="1050" dirty="0">
                <a:solidFill>
                  <a:srgbClr val="569CD6"/>
                </a:solidFill>
                <a:latin typeface="Consolas" pitchFamily="34" charset="0"/>
                <a:ea typeface="Consolas" pitchFamily="34" charset="-122"/>
                <a:cs typeface="Consolas" pitchFamily="34" charset="-120"/>
              </a:rPr>
              <a:t>figcaption</a:t>
            </a:r>
            <a:r>
              <a:rPr lang="en-US" sz="1050" dirty="0">
                <a:solidFill>
                  <a:srgbClr val="808080"/>
                </a:solidFill>
                <a:latin typeface="Consolas" pitchFamily="34" charset="0"/>
                <a:ea typeface="Consolas" pitchFamily="34" charset="-122"/>
                <a:cs typeface="Consolas" pitchFamily="34" charset="-120"/>
              </a:rPr>
              <a:t>&gt;</a:t>
            </a:r>
            <a:r>
              <a:rPr lang="en-US" sz="1050" dirty="0">
                <a:solidFill>
                  <a:srgbClr val="D4D4D4"/>
                </a:solidFill>
                <a:latin typeface="Consolas" pitchFamily="34" charset="0"/>
                <a:ea typeface="Consolas" pitchFamily="34" charset="-122"/>
                <a:cs typeface="Consolas" pitchFamily="34" charset="-120"/>
              </a:rPr>
              <a:t>Quality 75: about 92 KB</a:t>
            </a:r>
            <a:r>
              <a:rPr lang="en-US" sz="1050" dirty="0">
                <a:solidFill>
                  <a:srgbClr val="808080"/>
                </a:solidFill>
                <a:latin typeface="Consolas" pitchFamily="34" charset="0"/>
                <a:ea typeface="Consolas" pitchFamily="34" charset="-122"/>
                <a:cs typeface="Consolas" pitchFamily="34" charset="-120"/>
              </a:rPr>
              <a:t>&lt;/</a:t>
            </a:r>
            <a:r>
              <a:rPr lang="en-US" sz="1050" dirty="0">
                <a:solidFill>
                  <a:srgbClr val="569CD6"/>
                </a:solidFill>
                <a:latin typeface="Consolas" pitchFamily="34" charset="0"/>
                <a:ea typeface="Consolas" pitchFamily="34" charset="-122"/>
                <a:cs typeface="Consolas" pitchFamily="34" charset="-120"/>
              </a:rPr>
              <a:t>figcaption</a:t>
            </a:r>
            <a:r>
              <a:rPr lang="en-US" sz="1050" dirty="0">
                <a:solidFill>
                  <a:srgbClr val="808080"/>
                </a:solidFill>
                <a:latin typeface="Consolas" pitchFamily="34" charset="0"/>
                <a:ea typeface="Consolas" pitchFamily="34" charset="-122"/>
                <a:cs typeface="Consolas" pitchFamily="34" charset="-120"/>
              </a:rPr>
              <a:t>&gt;</a:t>
            </a:r>
            <a:endParaRPr lang="en-US" sz="1050" dirty="0"/>
          </a:p>
          <a:p>
            <a:pPr marL="0" indent="0">
              <a:lnSpc>
                <a:spcPct val="100000"/>
              </a:lnSpc>
              <a:buNone/>
            </a:pPr>
            <a:r>
              <a:rPr lang="en-US" sz="1050" dirty="0">
                <a:solidFill>
                  <a:srgbClr val="808080"/>
                </a:solidFill>
                <a:latin typeface="Consolas" pitchFamily="34" charset="0"/>
                <a:ea typeface="Consolas" pitchFamily="34" charset="-122"/>
                <a:cs typeface="Consolas" pitchFamily="34" charset="-120"/>
              </a:rPr>
              <a:t>&lt;/</a:t>
            </a:r>
            <a:r>
              <a:rPr lang="en-US" sz="1050" dirty="0">
                <a:solidFill>
                  <a:srgbClr val="569CD6"/>
                </a:solidFill>
                <a:latin typeface="Consolas" pitchFamily="34" charset="0"/>
                <a:ea typeface="Consolas" pitchFamily="34" charset="-122"/>
                <a:cs typeface="Consolas" pitchFamily="34" charset="-120"/>
              </a:rPr>
              <a:t>figure</a:t>
            </a:r>
            <a:r>
              <a:rPr lang="en-US" sz="1050" dirty="0">
                <a:solidFill>
                  <a:srgbClr val="808080"/>
                </a:solidFill>
                <a:latin typeface="Consolas" pitchFamily="34" charset="0"/>
                <a:ea typeface="Consolas" pitchFamily="34" charset="-122"/>
                <a:cs typeface="Consolas" pitchFamily="34" charset="-120"/>
              </a:rPr>
              <a:t>&gt;</a:t>
            </a:r>
            <a:endParaRPr lang="en-US" sz="1050" dirty="0"/>
          </a:p>
          <a:p>
            <a:pPr marL="0" indent="0">
              <a:lnSpc>
                <a:spcPct val="100000"/>
              </a:lnSpc>
              <a:buNone/>
            </a:pPr>
            <a:r>
              <a:rPr lang="en-US" sz="1050" dirty="0">
                <a:solidFill>
                  <a:srgbClr val="D4D4D4"/>
                </a:solidFill>
                <a:latin typeface="Consolas" pitchFamily="34" charset="0"/>
                <a:ea typeface="Consolas" pitchFamily="34" charset="-122"/>
                <a:cs typeface="Consolas" pitchFamily="34" charset="-120"/>
              </a:rPr>
              <a:t> </a:t>
            </a:r>
            <a:endParaRPr lang="en-US" sz="1050" dirty="0"/>
          </a:p>
          <a:p>
            <a:pPr marL="0" indent="0">
              <a:lnSpc>
                <a:spcPct val="100000"/>
              </a:lnSpc>
              <a:buNone/>
            </a:pPr>
            <a:r>
              <a:rPr lang="en-US" sz="1050" dirty="0">
                <a:solidFill>
                  <a:srgbClr val="808080"/>
                </a:solidFill>
                <a:latin typeface="Consolas" pitchFamily="34" charset="0"/>
                <a:ea typeface="Consolas" pitchFamily="34" charset="-122"/>
                <a:cs typeface="Consolas" pitchFamily="34" charset="-120"/>
              </a:rPr>
              <a:t>&lt;</a:t>
            </a:r>
            <a:r>
              <a:rPr lang="en-US" sz="1050" dirty="0">
                <a:solidFill>
                  <a:srgbClr val="569CD6"/>
                </a:solidFill>
                <a:latin typeface="Consolas" pitchFamily="34" charset="0"/>
                <a:ea typeface="Consolas" pitchFamily="34" charset="-122"/>
                <a:cs typeface="Consolas" pitchFamily="34" charset="-120"/>
              </a:rPr>
              <a:t>figure</a:t>
            </a:r>
            <a:r>
              <a:rPr lang="en-US" sz="1050" dirty="0">
                <a:solidFill>
                  <a:srgbClr val="808080"/>
                </a:solidFill>
                <a:latin typeface="Consolas" pitchFamily="34" charset="0"/>
                <a:ea typeface="Consolas" pitchFamily="34" charset="-122"/>
                <a:cs typeface="Consolas" pitchFamily="34" charset="-120"/>
              </a:rPr>
              <a:t>&gt;</a:t>
            </a:r>
            <a:endParaRPr lang="en-US" sz="1050" dirty="0"/>
          </a:p>
          <a:p>
            <a:pPr marL="0" indent="0">
              <a:lnSpc>
                <a:spcPct val="100000"/>
              </a:lnSpc>
              <a:buNone/>
            </a:pP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808080"/>
                </a:solidFill>
                <a:latin typeface="Consolas" pitchFamily="34" charset="0"/>
                <a:ea typeface="Consolas" pitchFamily="34" charset="-122"/>
                <a:cs typeface="Consolas" pitchFamily="34" charset="-120"/>
              </a:rPr>
              <a:t>&lt;</a:t>
            </a:r>
            <a:r>
              <a:rPr lang="en-US" sz="1050" dirty="0">
                <a:solidFill>
                  <a:srgbClr val="569CD6"/>
                </a:solidFill>
                <a:latin typeface="Consolas" pitchFamily="34" charset="0"/>
                <a:ea typeface="Consolas" pitchFamily="34" charset="-122"/>
                <a:cs typeface="Consolas" pitchFamily="34" charset="-120"/>
              </a:rPr>
              <a:t>img</a:t>
            </a: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src</a:t>
            </a:r>
            <a:r>
              <a:rPr lang="en-US" sz="1050" dirty="0">
                <a:solidFill>
                  <a:srgbClr val="D4D4D4"/>
                </a:solidFill>
                <a:latin typeface="Consolas" pitchFamily="34" charset="0"/>
                <a:ea typeface="Consolas" pitchFamily="34" charset="-122"/>
                <a:cs typeface="Consolas" pitchFamily="34" charset="-120"/>
              </a:rPr>
              <a:t>=</a:t>
            </a:r>
            <a:r>
              <a:rPr lang="en-US" sz="1050" dirty="0">
                <a:solidFill>
                  <a:srgbClr val="CE9178"/>
                </a:solidFill>
                <a:latin typeface="Consolas" pitchFamily="34" charset="0"/>
                <a:ea typeface="Consolas" pitchFamily="34" charset="-122"/>
                <a:cs typeface="Consolas" pitchFamily="34" charset="-120"/>
              </a:rPr>
              <a:t>"samples/beach_q50.jpg"</a:t>
            </a: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width</a:t>
            </a:r>
            <a:r>
              <a:rPr lang="en-US" sz="1050" dirty="0">
                <a:solidFill>
                  <a:srgbClr val="D4D4D4"/>
                </a:solidFill>
                <a:latin typeface="Consolas" pitchFamily="34" charset="0"/>
                <a:ea typeface="Consolas" pitchFamily="34" charset="-122"/>
                <a:cs typeface="Consolas" pitchFamily="34" charset="-120"/>
              </a:rPr>
              <a:t>=</a:t>
            </a:r>
            <a:r>
              <a:rPr lang="en-US" sz="1050" dirty="0">
                <a:solidFill>
                  <a:srgbClr val="CE9178"/>
                </a:solidFill>
                <a:latin typeface="Consolas" pitchFamily="34" charset="0"/>
                <a:ea typeface="Consolas" pitchFamily="34" charset="-122"/>
                <a:cs typeface="Consolas" pitchFamily="34" charset="-120"/>
              </a:rPr>
              <a:t>"560"</a:t>
            </a: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height</a:t>
            </a:r>
            <a:r>
              <a:rPr lang="en-US" sz="1050" dirty="0">
                <a:solidFill>
                  <a:srgbClr val="D4D4D4"/>
                </a:solidFill>
                <a:latin typeface="Consolas" pitchFamily="34" charset="0"/>
                <a:ea typeface="Consolas" pitchFamily="34" charset="-122"/>
                <a:cs typeface="Consolas" pitchFamily="34" charset="-120"/>
              </a:rPr>
              <a:t>=</a:t>
            </a:r>
            <a:r>
              <a:rPr lang="en-US" sz="1050" dirty="0">
                <a:solidFill>
                  <a:srgbClr val="CE9178"/>
                </a:solidFill>
                <a:latin typeface="Consolas" pitchFamily="34" charset="0"/>
                <a:ea typeface="Consolas" pitchFamily="34" charset="-122"/>
                <a:cs typeface="Consolas" pitchFamily="34" charset="-120"/>
              </a:rPr>
              <a:t>"320"</a:t>
            </a:r>
            <a:endParaRPr lang="en-US" sz="1050" dirty="0"/>
          </a:p>
          <a:p>
            <a:pPr marL="0" indent="0">
              <a:lnSpc>
                <a:spcPct val="100000"/>
              </a:lnSpc>
              <a:buNone/>
            </a:pP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alt</a:t>
            </a:r>
            <a:r>
              <a:rPr lang="en-US" sz="1050" dirty="0">
                <a:solidFill>
                  <a:srgbClr val="D4D4D4"/>
                </a:solidFill>
                <a:latin typeface="Consolas" pitchFamily="34" charset="0"/>
                <a:ea typeface="Consolas" pitchFamily="34" charset="-122"/>
                <a:cs typeface="Consolas" pitchFamily="34" charset="-120"/>
              </a:rPr>
              <a:t>=</a:t>
            </a:r>
            <a:r>
              <a:rPr lang="en-US" sz="1050" dirty="0">
                <a:solidFill>
                  <a:srgbClr val="CE9178"/>
                </a:solidFill>
                <a:latin typeface="Consolas" pitchFamily="34" charset="0"/>
                <a:ea typeface="Consolas" pitchFamily="34" charset="-122"/>
                <a:cs typeface="Consolas" pitchFamily="34" charset="-120"/>
              </a:rPr>
              <a:t>"Beach photo saved at JPG quality 50"</a:t>
            </a:r>
            <a:r>
              <a:rPr lang="en-US" sz="1050" dirty="0">
                <a:solidFill>
                  <a:srgbClr val="808080"/>
                </a:solidFill>
                <a:latin typeface="Consolas" pitchFamily="34" charset="0"/>
                <a:ea typeface="Consolas" pitchFamily="34" charset="-122"/>
                <a:cs typeface="Consolas" pitchFamily="34" charset="-120"/>
              </a:rPr>
              <a:t>&gt;</a:t>
            </a:r>
            <a:endParaRPr lang="en-US" sz="1050" dirty="0"/>
          </a:p>
          <a:p>
            <a:pPr marL="0" indent="0">
              <a:lnSpc>
                <a:spcPct val="100000"/>
              </a:lnSpc>
              <a:buNone/>
            </a:pP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808080"/>
                </a:solidFill>
                <a:latin typeface="Consolas" pitchFamily="34" charset="0"/>
                <a:ea typeface="Consolas" pitchFamily="34" charset="-122"/>
                <a:cs typeface="Consolas" pitchFamily="34" charset="-120"/>
              </a:rPr>
              <a:t>&lt;</a:t>
            </a:r>
            <a:r>
              <a:rPr lang="en-US" sz="1050" dirty="0">
                <a:solidFill>
                  <a:srgbClr val="569CD6"/>
                </a:solidFill>
                <a:latin typeface="Consolas" pitchFamily="34" charset="0"/>
                <a:ea typeface="Consolas" pitchFamily="34" charset="-122"/>
                <a:cs typeface="Consolas" pitchFamily="34" charset="-120"/>
              </a:rPr>
              <a:t>figcaption</a:t>
            </a:r>
            <a:r>
              <a:rPr lang="en-US" sz="1050" dirty="0">
                <a:solidFill>
                  <a:srgbClr val="808080"/>
                </a:solidFill>
                <a:latin typeface="Consolas" pitchFamily="34" charset="0"/>
                <a:ea typeface="Consolas" pitchFamily="34" charset="-122"/>
                <a:cs typeface="Consolas" pitchFamily="34" charset="-120"/>
              </a:rPr>
              <a:t>&gt;</a:t>
            </a:r>
            <a:r>
              <a:rPr lang="en-US" sz="1050" dirty="0">
                <a:solidFill>
                  <a:srgbClr val="D4D4D4"/>
                </a:solidFill>
                <a:latin typeface="Consolas" pitchFamily="34" charset="0"/>
                <a:ea typeface="Consolas" pitchFamily="34" charset="-122"/>
                <a:cs typeface="Consolas" pitchFamily="34" charset="-120"/>
              </a:rPr>
              <a:t>Quality 50: about 51 KB</a:t>
            </a:r>
            <a:r>
              <a:rPr lang="en-US" sz="1050" dirty="0">
                <a:solidFill>
                  <a:srgbClr val="808080"/>
                </a:solidFill>
                <a:latin typeface="Consolas" pitchFamily="34" charset="0"/>
                <a:ea typeface="Consolas" pitchFamily="34" charset="-122"/>
                <a:cs typeface="Consolas" pitchFamily="34" charset="-120"/>
              </a:rPr>
              <a:t>&lt;/</a:t>
            </a:r>
            <a:r>
              <a:rPr lang="en-US" sz="1050" dirty="0">
                <a:solidFill>
                  <a:srgbClr val="569CD6"/>
                </a:solidFill>
                <a:latin typeface="Consolas" pitchFamily="34" charset="0"/>
                <a:ea typeface="Consolas" pitchFamily="34" charset="-122"/>
                <a:cs typeface="Consolas" pitchFamily="34" charset="-120"/>
              </a:rPr>
              <a:t>figcaption</a:t>
            </a:r>
            <a:r>
              <a:rPr lang="en-US" sz="1050" dirty="0">
                <a:solidFill>
                  <a:srgbClr val="808080"/>
                </a:solidFill>
                <a:latin typeface="Consolas" pitchFamily="34" charset="0"/>
                <a:ea typeface="Consolas" pitchFamily="34" charset="-122"/>
                <a:cs typeface="Consolas" pitchFamily="34" charset="-120"/>
              </a:rPr>
              <a:t>&gt;</a:t>
            </a:r>
            <a:endParaRPr lang="en-US" sz="1050" dirty="0"/>
          </a:p>
          <a:p>
            <a:pPr marL="0" indent="0">
              <a:lnSpc>
                <a:spcPct val="100000"/>
              </a:lnSpc>
              <a:buNone/>
            </a:pPr>
            <a:r>
              <a:rPr lang="en-US" sz="1050" dirty="0">
                <a:solidFill>
                  <a:srgbClr val="808080"/>
                </a:solidFill>
                <a:latin typeface="Consolas" pitchFamily="34" charset="0"/>
                <a:ea typeface="Consolas" pitchFamily="34" charset="-122"/>
                <a:cs typeface="Consolas" pitchFamily="34" charset="-120"/>
              </a:rPr>
              <a:t>&lt;/</a:t>
            </a:r>
            <a:r>
              <a:rPr lang="en-US" sz="1050" dirty="0">
                <a:solidFill>
                  <a:srgbClr val="569CD6"/>
                </a:solidFill>
                <a:latin typeface="Consolas" pitchFamily="34" charset="0"/>
                <a:ea typeface="Consolas" pitchFamily="34" charset="-122"/>
                <a:cs typeface="Consolas" pitchFamily="34" charset="-120"/>
              </a:rPr>
              <a:t>figure</a:t>
            </a:r>
            <a:r>
              <a:rPr lang="en-US" sz="1050" dirty="0">
                <a:solidFill>
                  <a:srgbClr val="808080"/>
                </a:solidFill>
                <a:latin typeface="Consolas" pitchFamily="34" charset="0"/>
                <a:ea typeface="Consolas" pitchFamily="34" charset="-122"/>
                <a:cs typeface="Consolas" pitchFamily="34" charset="-120"/>
              </a:rPr>
              <a:t>&gt;</a:t>
            </a:r>
            <a:endParaRPr lang="en-US" sz="1050" dirty="0"/>
          </a:p>
          <a:p>
            <a:pPr marL="0" indent="0">
              <a:lnSpc>
                <a:spcPct val="100000"/>
              </a:lnSpc>
              <a:buNone/>
            </a:pPr>
            <a:r>
              <a:rPr lang="en-US" sz="1050" dirty="0">
                <a:solidFill>
                  <a:srgbClr val="D4D4D4"/>
                </a:solidFill>
                <a:latin typeface="Consolas" pitchFamily="34" charset="0"/>
                <a:ea typeface="Consolas" pitchFamily="34" charset="-122"/>
                <a:cs typeface="Consolas" pitchFamily="34" charset="-120"/>
              </a:rPr>
              <a:t> </a:t>
            </a:r>
            <a:endParaRPr lang="en-US" sz="1050" dirty="0"/>
          </a:p>
          <a:p>
            <a:pPr marL="0" indent="0">
              <a:lnSpc>
                <a:spcPct val="100000"/>
              </a:lnSpc>
              <a:buNone/>
            </a:pPr>
            <a:r>
              <a:rPr lang="en-US" sz="1050" dirty="0">
                <a:solidFill>
                  <a:srgbClr val="808080"/>
                </a:solidFill>
                <a:latin typeface="Consolas" pitchFamily="34" charset="0"/>
                <a:ea typeface="Consolas" pitchFamily="34" charset="-122"/>
                <a:cs typeface="Consolas" pitchFamily="34" charset="-120"/>
              </a:rPr>
              <a:t>&lt;</a:t>
            </a:r>
            <a:r>
              <a:rPr lang="en-US" sz="1050" dirty="0">
                <a:solidFill>
                  <a:srgbClr val="569CD6"/>
                </a:solidFill>
                <a:latin typeface="Consolas" pitchFamily="34" charset="0"/>
                <a:ea typeface="Consolas" pitchFamily="34" charset="-122"/>
                <a:cs typeface="Consolas" pitchFamily="34" charset="-120"/>
              </a:rPr>
              <a:t>figure</a:t>
            </a:r>
            <a:r>
              <a:rPr lang="en-US" sz="1050" dirty="0">
                <a:solidFill>
                  <a:srgbClr val="808080"/>
                </a:solidFill>
                <a:latin typeface="Consolas" pitchFamily="34" charset="0"/>
                <a:ea typeface="Consolas" pitchFamily="34" charset="-122"/>
                <a:cs typeface="Consolas" pitchFamily="34" charset="-120"/>
              </a:rPr>
              <a:t>&gt;</a:t>
            </a:r>
            <a:endParaRPr lang="en-US" sz="1050" dirty="0"/>
          </a:p>
          <a:p>
            <a:pPr marL="0" indent="0">
              <a:lnSpc>
                <a:spcPct val="100000"/>
              </a:lnSpc>
              <a:buNone/>
            </a:pP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808080"/>
                </a:solidFill>
                <a:latin typeface="Consolas" pitchFamily="34" charset="0"/>
                <a:ea typeface="Consolas" pitchFamily="34" charset="-122"/>
                <a:cs typeface="Consolas" pitchFamily="34" charset="-120"/>
              </a:rPr>
              <a:t>&lt;</a:t>
            </a:r>
            <a:r>
              <a:rPr lang="en-US" sz="1050" dirty="0">
                <a:solidFill>
                  <a:srgbClr val="569CD6"/>
                </a:solidFill>
                <a:latin typeface="Consolas" pitchFamily="34" charset="0"/>
                <a:ea typeface="Consolas" pitchFamily="34" charset="-122"/>
                <a:cs typeface="Consolas" pitchFamily="34" charset="-120"/>
              </a:rPr>
              <a:t>img</a:t>
            </a: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src</a:t>
            </a:r>
            <a:r>
              <a:rPr lang="en-US" sz="1050" dirty="0">
                <a:solidFill>
                  <a:srgbClr val="D4D4D4"/>
                </a:solidFill>
                <a:latin typeface="Consolas" pitchFamily="34" charset="0"/>
                <a:ea typeface="Consolas" pitchFamily="34" charset="-122"/>
                <a:cs typeface="Consolas" pitchFamily="34" charset="-120"/>
              </a:rPr>
              <a:t>=</a:t>
            </a:r>
            <a:r>
              <a:rPr lang="en-US" sz="1050" dirty="0">
                <a:solidFill>
                  <a:srgbClr val="CE9178"/>
                </a:solidFill>
                <a:latin typeface="Consolas" pitchFamily="34" charset="0"/>
                <a:ea typeface="Consolas" pitchFamily="34" charset="-122"/>
                <a:cs typeface="Consolas" pitchFamily="34" charset="-120"/>
              </a:rPr>
              <a:t>"samples/beach_q10.jpg"</a:t>
            </a: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width</a:t>
            </a:r>
            <a:r>
              <a:rPr lang="en-US" sz="1050" dirty="0">
                <a:solidFill>
                  <a:srgbClr val="D4D4D4"/>
                </a:solidFill>
                <a:latin typeface="Consolas" pitchFamily="34" charset="0"/>
                <a:ea typeface="Consolas" pitchFamily="34" charset="-122"/>
                <a:cs typeface="Consolas" pitchFamily="34" charset="-120"/>
              </a:rPr>
              <a:t>=</a:t>
            </a:r>
            <a:r>
              <a:rPr lang="en-US" sz="1050" dirty="0">
                <a:solidFill>
                  <a:srgbClr val="CE9178"/>
                </a:solidFill>
                <a:latin typeface="Consolas" pitchFamily="34" charset="0"/>
                <a:ea typeface="Consolas" pitchFamily="34" charset="-122"/>
                <a:cs typeface="Consolas" pitchFamily="34" charset="-120"/>
              </a:rPr>
              <a:t>"560"</a:t>
            </a: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height</a:t>
            </a:r>
            <a:r>
              <a:rPr lang="en-US" sz="1050" dirty="0">
                <a:solidFill>
                  <a:srgbClr val="D4D4D4"/>
                </a:solidFill>
                <a:latin typeface="Consolas" pitchFamily="34" charset="0"/>
                <a:ea typeface="Consolas" pitchFamily="34" charset="-122"/>
                <a:cs typeface="Consolas" pitchFamily="34" charset="-120"/>
              </a:rPr>
              <a:t>=</a:t>
            </a:r>
            <a:r>
              <a:rPr lang="en-US" sz="1050" dirty="0">
                <a:solidFill>
                  <a:srgbClr val="CE9178"/>
                </a:solidFill>
                <a:latin typeface="Consolas" pitchFamily="34" charset="0"/>
                <a:ea typeface="Consolas" pitchFamily="34" charset="-122"/>
                <a:cs typeface="Consolas" pitchFamily="34" charset="-120"/>
              </a:rPr>
              <a:t>"320"</a:t>
            </a:r>
            <a:endParaRPr lang="en-US" sz="1050" dirty="0"/>
          </a:p>
          <a:p>
            <a:pPr marL="0" indent="0">
              <a:lnSpc>
                <a:spcPct val="100000"/>
              </a:lnSpc>
              <a:buNone/>
            </a:pP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alt</a:t>
            </a:r>
            <a:r>
              <a:rPr lang="en-US" sz="1050" dirty="0">
                <a:solidFill>
                  <a:srgbClr val="D4D4D4"/>
                </a:solidFill>
                <a:latin typeface="Consolas" pitchFamily="34" charset="0"/>
                <a:ea typeface="Consolas" pitchFamily="34" charset="-122"/>
                <a:cs typeface="Consolas" pitchFamily="34" charset="-120"/>
              </a:rPr>
              <a:t>=</a:t>
            </a:r>
            <a:r>
              <a:rPr lang="en-US" sz="1050" dirty="0">
                <a:solidFill>
                  <a:srgbClr val="CE9178"/>
                </a:solidFill>
                <a:latin typeface="Consolas" pitchFamily="34" charset="0"/>
                <a:ea typeface="Consolas" pitchFamily="34" charset="-122"/>
                <a:cs typeface="Consolas" pitchFamily="34" charset="-120"/>
              </a:rPr>
              <a:t>"Beach photo saved at JPG quality 10, very blocky"</a:t>
            </a:r>
            <a:r>
              <a:rPr lang="en-US" sz="1050" dirty="0">
                <a:solidFill>
                  <a:srgbClr val="808080"/>
                </a:solidFill>
                <a:latin typeface="Consolas" pitchFamily="34" charset="0"/>
                <a:ea typeface="Consolas" pitchFamily="34" charset="-122"/>
                <a:cs typeface="Consolas" pitchFamily="34" charset="-120"/>
              </a:rPr>
              <a:t>&gt;</a:t>
            </a:r>
            <a:endParaRPr lang="en-US" sz="1050" dirty="0"/>
          </a:p>
          <a:p>
            <a:pPr marL="0" indent="0">
              <a:lnSpc>
                <a:spcPct val="100000"/>
              </a:lnSpc>
              <a:buNone/>
            </a:pP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6A9955"/>
                </a:solidFill>
                <a:latin typeface="Consolas" pitchFamily="34" charset="0"/>
                <a:ea typeface="Consolas" pitchFamily="34" charset="-122"/>
                <a:cs typeface="Consolas" pitchFamily="34" charset="-120"/>
              </a:rPr>
              <a:t>&lt;!-- Lossy compression gone too far: 8 x 8 pixel blocks --&gt;</a:t>
            </a:r>
            <a:endParaRPr lang="en-US" sz="1050" dirty="0"/>
          </a:p>
          <a:p>
            <a:pPr marL="0" indent="0">
              <a:lnSpc>
                <a:spcPct val="100000"/>
              </a:lnSpc>
              <a:buNone/>
            </a:pP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808080"/>
                </a:solidFill>
                <a:latin typeface="Consolas" pitchFamily="34" charset="0"/>
                <a:ea typeface="Consolas" pitchFamily="34" charset="-122"/>
                <a:cs typeface="Consolas" pitchFamily="34" charset="-120"/>
              </a:rPr>
              <a:t>&lt;</a:t>
            </a:r>
            <a:r>
              <a:rPr lang="en-US" sz="1050" dirty="0">
                <a:solidFill>
                  <a:srgbClr val="569CD6"/>
                </a:solidFill>
                <a:latin typeface="Consolas" pitchFamily="34" charset="0"/>
                <a:ea typeface="Consolas" pitchFamily="34" charset="-122"/>
                <a:cs typeface="Consolas" pitchFamily="34" charset="-120"/>
              </a:rPr>
              <a:t>figcaption</a:t>
            </a:r>
            <a:r>
              <a:rPr lang="en-US" sz="1050" dirty="0">
                <a:solidFill>
                  <a:srgbClr val="808080"/>
                </a:solidFill>
                <a:latin typeface="Consolas" pitchFamily="34" charset="0"/>
                <a:ea typeface="Consolas" pitchFamily="34" charset="-122"/>
                <a:cs typeface="Consolas" pitchFamily="34" charset="-120"/>
              </a:rPr>
              <a:t>&gt;</a:t>
            </a:r>
            <a:r>
              <a:rPr lang="en-US" sz="1050" dirty="0">
                <a:solidFill>
                  <a:srgbClr val="D4D4D4"/>
                </a:solidFill>
                <a:latin typeface="Consolas" pitchFamily="34" charset="0"/>
                <a:ea typeface="Consolas" pitchFamily="34" charset="-122"/>
                <a:cs typeface="Consolas" pitchFamily="34" charset="-120"/>
              </a:rPr>
              <a:t>Quality 10: about 12 KB (see the blocks?)</a:t>
            </a:r>
            <a:r>
              <a:rPr lang="en-US" sz="1050" dirty="0">
                <a:solidFill>
                  <a:srgbClr val="808080"/>
                </a:solidFill>
                <a:latin typeface="Consolas" pitchFamily="34" charset="0"/>
                <a:ea typeface="Consolas" pitchFamily="34" charset="-122"/>
                <a:cs typeface="Consolas" pitchFamily="34" charset="-120"/>
              </a:rPr>
              <a:t>&lt;/</a:t>
            </a:r>
            <a:r>
              <a:rPr lang="en-US" sz="1050" dirty="0">
                <a:solidFill>
                  <a:srgbClr val="569CD6"/>
                </a:solidFill>
                <a:latin typeface="Consolas" pitchFamily="34" charset="0"/>
                <a:ea typeface="Consolas" pitchFamily="34" charset="-122"/>
                <a:cs typeface="Consolas" pitchFamily="34" charset="-120"/>
              </a:rPr>
              <a:t>figcaption</a:t>
            </a:r>
            <a:r>
              <a:rPr lang="en-US" sz="1050" dirty="0">
                <a:solidFill>
                  <a:srgbClr val="808080"/>
                </a:solidFill>
                <a:latin typeface="Consolas" pitchFamily="34" charset="0"/>
                <a:ea typeface="Consolas" pitchFamily="34" charset="-122"/>
                <a:cs typeface="Consolas" pitchFamily="34" charset="-120"/>
              </a:rPr>
              <a:t>&gt;</a:t>
            </a:r>
            <a:endParaRPr lang="en-US" sz="1050" dirty="0"/>
          </a:p>
          <a:p>
            <a:pPr marL="0" indent="0">
              <a:lnSpc>
                <a:spcPct val="100000"/>
              </a:lnSpc>
              <a:buNone/>
            </a:pPr>
            <a:r>
              <a:rPr lang="en-US" sz="1050" dirty="0">
                <a:solidFill>
                  <a:srgbClr val="808080"/>
                </a:solidFill>
                <a:latin typeface="Consolas" pitchFamily="34" charset="0"/>
                <a:ea typeface="Consolas" pitchFamily="34" charset="-122"/>
                <a:cs typeface="Consolas" pitchFamily="34" charset="-120"/>
              </a:rPr>
              <a:t>&lt;/</a:t>
            </a:r>
            <a:r>
              <a:rPr lang="en-US" sz="1050" dirty="0">
                <a:solidFill>
                  <a:srgbClr val="569CD6"/>
                </a:solidFill>
                <a:latin typeface="Consolas" pitchFamily="34" charset="0"/>
                <a:ea typeface="Consolas" pitchFamily="34" charset="-122"/>
                <a:cs typeface="Consolas" pitchFamily="34" charset="-120"/>
              </a:rPr>
              <a:t>figure</a:t>
            </a:r>
            <a:r>
              <a:rPr lang="en-US" sz="1050" dirty="0">
                <a:solidFill>
                  <a:srgbClr val="808080"/>
                </a:solidFill>
                <a:latin typeface="Consolas" pitchFamily="34" charset="0"/>
                <a:ea typeface="Consolas" pitchFamily="34" charset="-122"/>
                <a:cs typeface="Consolas" pitchFamily="34" charset="-120"/>
              </a:rPr>
              <a:t>&gt;</a:t>
            </a:r>
            <a:endParaRPr lang="en-US" sz="1050" dirty="0"/>
          </a:p>
        </p:txBody>
      </p:sp>
      <p:sp>
        <p:nvSpPr>
          <p:cNvPr id="5" name="Text 2"/>
          <p:cNvSpPr txBox="1"/>
          <p:nvPr/>
        </p:nvSpPr>
        <p:spPr>
          <a:xfrm>
            <a:off x="6812280" y="411480"/>
            <a:ext cx="4967935" cy="320040"/>
          </a:xfrm>
          <a:prstGeom prst="rect">
            <a:avLst/>
          </a:prstGeom>
          <a:noFill/>
          <a:ln/>
        </p:spPr>
        <p:txBody>
          <a:bodyPr wrap="square" lIns="0" tIns="0" rIns="0" bIns="0" rtlCol="0" anchor="ctr"/>
          <a:lstStyle/>
          <a:p>
            <a:pPr marL="0" indent="0">
              <a:buNone/>
            </a:pPr>
            <a:r>
              <a:rPr lang="en-US" sz="1400" b="1" kern="0" spc="100" dirty="0">
                <a:solidFill>
                  <a:srgbClr val="595959"/>
                </a:solidFill>
                <a:latin typeface="Aptos" pitchFamily="34" charset="0"/>
                <a:ea typeface="Aptos" pitchFamily="34" charset="-122"/>
                <a:cs typeface="Aptos" pitchFamily="34" charset="-120"/>
              </a:rPr>
              <a:t>EXAMPLE 02</a:t>
            </a:r>
            <a:endParaRPr lang="en-US" sz="1400" dirty="0"/>
          </a:p>
        </p:txBody>
      </p:sp>
      <p:sp>
        <p:nvSpPr>
          <p:cNvPr id="6" name="Text 3"/>
          <p:cNvSpPr txBox="1"/>
          <p:nvPr/>
        </p:nvSpPr>
        <p:spPr>
          <a:xfrm>
            <a:off x="6812280" y="731520"/>
            <a:ext cx="4967935" cy="640080"/>
          </a:xfrm>
          <a:prstGeom prst="rect">
            <a:avLst/>
          </a:prstGeom>
          <a:noFill/>
          <a:ln/>
        </p:spPr>
        <p:txBody>
          <a:bodyPr wrap="square" lIns="0" tIns="0" rIns="0" bIns="0" rtlCol="0" anchor="t"/>
          <a:lstStyle/>
          <a:p>
            <a:pPr marL="0" indent="0">
              <a:buNone/>
            </a:pPr>
            <a:r>
              <a:rPr lang="en-US" sz="3200" dirty="0">
                <a:solidFill>
                  <a:srgbClr val="000000"/>
                </a:solidFill>
                <a:latin typeface="Aptos" pitchFamily="34" charset="0"/>
                <a:ea typeface="Aptos" pitchFamily="34" charset="-122"/>
                <a:cs typeface="Aptos" pitchFamily="34" charset="-120"/>
              </a:rPr>
              <a:t>How Low Can You Go?</a:t>
            </a:r>
            <a:endParaRPr lang="en-US" sz="3200" dirty="0"/>
          </a:p>
        </p:txBody>
      </p:sp>
      <p:sp>
        <p:nvSpPr>
          <p:cNvPr id="7" name="Text 4"/>
          <p:cNvSpPr txBox="1"/>
          <p:nvPr/>
        </p:nvSpPr>
        <p:spPr>
          <a:xfrm>
            <a:off x="6812280" y="1508760"/>
            <a:ext cx="4967935" cy="4754880"/>
          </a:xfrm>
          <a:prstGeom prst="rect">
            <a:avLst/>
          </a:prstGeom>
          <a:noFill/>
          <a:ln/>
        </p:spPr>
        <p:txBody>
          <a:bodyPr wrap="square" lIns="0" tIns="0" rIns="0" bIns="0" rtlCol="0" anchor="t"/>
          <a:lstStyle/>
          <a:p>
            <a:pPr marL="342900" indent="-342900">
              <a:buSzPct val="100000"/>
              <a:buChar char="•"/>
            </a:pPr>
            <a:r>
              <a:rPr lang="en-US" sz="1400" dirty="0">
                <a:solidFill>
                  <a:srgbClr val="262626"/>
                </a:solidFill>
                <a:latin typeface="Aptos" pitchFamily="34" charset="0"/>
                <a:ea typeface="Aptos" pitchFamily="34" charset="-122"/>
                <a:cs typeface="Aptos" pitchFamily="34" charset="-120"/>
              </a:rPr>
              <a:t>​The quality slider (0–100) decides </a:t>
            </a:r>
            <a:r>
              <a:rPr lang="en-US" sz="1400" b="1" dirty="0">
                <a:solidFill>
                  <a:srgbClr val="262626"/>
                </a:solidFill>
                <a:latin typeface="Aptos" pitchFamily="34" charset="0"/>
                <a:ea typeface="Aptos" pitchFamily="34" charset="-122"/>
                <a:cs typeface="Aptos" pitchFamily="34" charset="-120"/>
              </a:rPr>
              <a:t>how much detail lossy compression throws away</a:t>
            </a:r>
            <a:r>
              <a:rPr lang="en-US" sz="1400" dirty="0">
                <a:solidFill>
                  <a:srgbClr val="262626"/>
                </a:solidFill>
                <a:latin typeface="Aptos" pitchFamily="34" charset="0"/>
                <a:ea typeface="Aptos" pitchFamily="34" charset="-122"/>
                <a:cs typeface="Aptos" pitchFamily="34" charset="-120"/>
              </a:rPr>
              <a:t>.</a:t>
            </a:r>
            <a:endParaRPr lang="en-US" sz="1400" dirty="0"/>
          </a:p>
          <a:p>
            <a:pPr marL="342900" indent="-342900">
              <a:spcBef>
                <a:spcPts val="900"/>
              </a:spcBef>
              <a:buSzPct val="100000"/>
              <a:buChar char="•"/>
            </a:pPr>
            <a:r>
              <a:rPr lang="en-US" sz="1400" dirty="0">
                <a:solidFill>
                  <a:srgbClr val="262626"/>
                </a:solidFill>
                <a:latin typeface="Aptos" pitchFamily="34" charset="0"/>
                <a:ea typeface="Aptos" pitchFamily="34" charset="-122"/>
                <a:cs typeface="Aptos" pitchFamily="34" charset="-120"/>
              </a:rPr>
              <a:t>​</a:t>
            </a:r>
            <a:r>
              <a:rPr lang="en-US" sz="1400" b="1" dirty="0">
                <a:solidFill>
                  <a:srgbClr val="262626"/>
                </a:solidFill>
                <a:latin typeface="Aptos" pitchFamily="34" charset="0"/>
                <a:ea typeface="Aptos" pitchFamily="34" charset="-122"/>
                <a:cs typeface="Aptos" pitchFamily="34" charset="-120"/>
              </a:rPr>
              <a:t>60–80</a:t>
            </a:r>
            <a:r>
              <a:rPr lang="en-US" sz="1400" dirty="0">
                <a:solidFill>
                  <a:srgbClr val="262626"/>
                </a:solidFill>
                <a:latin typeface="Aptos" pitchFamily="34" charset="0"/>
                <a:ea typeface="Aptos" pitchFamily="34" charset="-122"/>
                <a:cs typeface="Aptos" pitchFamily="34" charset="-120"/>
              </a:rPr>
              <a:t> is the sweet spot for most photos: much smaller, and you can't see the difference at normal size.</a:t>
            </a:r>
            <a:endParaRPr lang="en-US" sz="1400" dirty="0"/>
          </a:p>
          <a:p>
            <a:pPr marL="342900" indent="-342900">
              <a:spcBef>
                <a:spcPts val="900"/>
              </a:spcBef>
              <a:buSzPct val="100000"/>
              <a:buChar char="•"/>
            </a:pPr>
            <a:r>
              <a:rPr lang="en-US" sz="1400" dirty="0">
                <a:solidFill>
                  <a:srgbClr val="262626"/>
                </a:solidFill>
                <a:latin typeface="Aptos" pitchFamily="34" charset="0"/>
                <a:ea typeface="Aptos" pitchFamily="34" charset="-122"/>
                <a:cs typeface="Aptos" pitchFamily="34" charset="-120"/>
              </a:rPr>
              <a:t>​Below about 40, problems start to show: blocks, smudges and patchy sky.</a:t>
            </a:r>
            <a:endParaRPr lang="en-US" sz="1400" dirty="0"/>
          </a:p>
          <a:p>
            <a:pPr marL="342900" indent="-342900">
              <a:spcBef>
                <a:spcPts val="900"/>
              </a:spcBef>
              <a:buSzPct val="100000"/>
              <a:buChar char="•"/>
            </a:pPr>
            <a:r>
              <a:rPr lang="en-US" sz="1400" dirty="0">
                <a:solidFill>
                  <a:srgbClr val="262626"/>
                </a:solidFill>
                <a:latin typeface="Aptos" pitchFamily="34" charset="0"/>
                <a:ea typeface="Aptos" pitchFamily="34" charset="-122"/>
                <a:cs typeface="Aptos" pitchFamily="34" charset="-120"/>
              </a:rPr>
              <a:t>​Quality 90 here is </a:t>
            </a:r>
            <a:r>
              <a:rPr lang="en-US" sz="1400" b="1" dirty="0">
                <a:solidFill>
                  <a:srgbClr val="262626"/>
                </a:solidFill>
                <a:latin typeface="Aptos" pitchFamily="34" charset="0"/>
                <a:ea typeface="Aptos" pitchFamily="34" charset="-122"/>
                <a:cs typeface="Aptos" pitchFamily="34" charset="-120"/>
              </a:rPr>
              <a:t>bigger</a:t>
            </a:r>
            <a:r>
              <a:rPr lang="en-US" sz="1400" dirty="0">
                <a:solidFill>
                  <a:srgbClr val="262626"/>
                </a:solidFill>
                <a:latin typeface="Aptos" pitchFamily="34" charset="0"/>
                <a:ea typeface="Aptos" pitchFamily="34" charset="-122"/>
                <a:cs typeface="Aptos" pitchFamily="34" charset="-120"/>
              </a:rPr>
              <a:t> than the original. Always start from the original, never a copy you already compressed.</a:t>
            </a:r>
            <a:endParaRPr lang="en-US" sz="1400" dirty="0"/>
          </a:p>
        </p:txBody>
      </p:sp>
      <p:sp>
        <p:nvSpPr>
          <p:cNvPr id="8" name="Text 5"/>
          <p:cNvSpPr txBox="1"/>
          <p:nvPr/>
        </p:nvSpPr>
        <p:spPr>
          <a:xfrm>
            <a:off x="6812280" y="6355080"/>
            <a:ext cx="4967935" cy="274320"/>
          </a:xfrm>
          <a:prstGeom prst="rect">
            <a:avLst/>
          </a:prstGeom>
          <a:noFill/>
          <a:ln/>
        </p:spPr>
        <p:txBody>
          <a:bodyPr wrap="square" lIns="0" tIns="0" rIns="0" bIns="0" rtlCol="0" anchor="ctr"/>
          <a:lstStyle/>
          <a:p>
            <a:pPr marL="0" indent="0">
              <a:buNone/>
            </a:pPr>
            <a:r>
              <a:rPr lang="en-US" sz="1100" dirty="0">
                <a:solidFill>
                  <a:srgbClr val="7F7F7F"/>
                </a:solidFill>
                <a:latin typeface="Consolas" pitchFamily="34" charset="0"/>
                <a:ea typeface="Consolas" pitchFamily="34" charset="-122"/>
                <a:cs typeface="Consolas" pitchFamily="34" charset="-120"/>
              </a:rPr>
              <a:t>02_jpeg_quality_example.html</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1E8EB"/>
        </a:solidFill>
        <a:effectLst/>
      </p:bgPr>
    </p:bg>
    <p:spTree>
      <p:nvGrpSpPr>
        <p:cNvPr id="1" name=""/>
        <p:cNvGrpSpPr/>
        <p:nvPr/>
      </p:nvGrpSpPr>
      <p:grpSpPr>
        <a:xfrm>
          <a:off x="0" y="0"/>
          <a:ext cx="0" cy="0"/>
          <a:chOff x="0" y="0"/>
          <a:chExt cx="0" cy="0"/>
        </a:xfrm>
      </p:grpSpPr>
      <p:sp>
        <p:nvSpPr>
          <p:cNvPr id="2" name="Text 0"/>
          <p:cNvSpPr txBox="1"/>
          <p:nvPr/>
        </p:nvSpPr>
        <p:spPr>
          <a:xfrm>
            <a:off x="685800" y="457200"/>
            <a:ext cx="10789920" cy="640080"/>
          </a:xfrm>
          <a:prstGeom prst="rect">
            <a:avLst/>
          </a:prstGeom>
          <a:noFill/>
          <a:ln/>
        </p:spPr>
        <p:txBody>
          <a:bodyPr wrap="square" lIns="0" tIns="0" rIns="0" bIns="0" rtlCol="0" anchor="ctr"/>
          <a:lstStyle/>
          <a:p>
            <a:pPr marL="0" indent="0">
              <a:buNone/>
            </a:pPr>
            <a:r>
              <a:rPr lang="en-US" sz="2800" dirty="0">
                <a:solidFill>
                  <a:srgbClr val="000000"/>
                </a:solidFill>
                <a:latin typeface="Aptos" pitchFamily="34" charset="0"/>
                <a:ea typeface="Aptos" pitchFamily="34" charset="-122"/>
                <a:cs typeface="Aptos" pitchFamily="34" charset="-120"/>
              </a:rPr>
              <a:t>Lab 3: Find the Sweet Spot (10 min)</a:t>
            </a:r>
            <a:endParaRPr lang="en-US" sz="2800" dirty="0"/>
          </a:p>
        </p:txBody>
      </p:sp>
      <p:sp>
        <p:nvSpPr>
          <p:cNvPr id="4" name="Shape 1"/>
          <p:cNvSpPr/>
          <p:nvPr/>
        </p:nvSpPr>
        <p:spPr>
          <a:xfrm>
            <a:off x="685800" y="1325880"/>
            <a:ext cx="6949440" cy="5029200"/>
          </a:xfrm>
          <a:prstGeom prst="roundRect">
            <a:avLst>
              <a:gd name="adj" fmla="val 2182"/>
            </a:avLst>
          </a:prstGeom>
          <a:solidFill>
            <a:srgbClr val="FFFFFF"/>
          </a:solidFill>
          <a:ln w="9525">
            <a:solidFill>
              <a:srgbClr val="D0D7DB"/>
            </a:solidFill>
            <a:prstDash val="solid"/>
          </a:ln>
          <a:effectLst>
            <a:outerShdw blurRad="76200" dist="25400" dir="5400000" algn="bl" rotWithShape="0">
              <a:srgbClr val="000000">
                <a:alpha val="12000"/>
              </a:srgbClr>
            </a:outerShdw>
          </a:effectLst>
        </p:spPr>
        <p:txBody>
          <a:bodyPr/>
          <a:lstStyle/>
          <a:p>
            <a:endParaRPr lang="en-US"/>
          </a:p>
        </p:txBody>
      </p:sp>
      <p:sp>
        <p:nvSpPr>
          <p:cNvPr id="5" name="Shape 2"/>
          <p:cNvSpPr/>
          <p:nvPr/>
        </p:nvSpPr>
        <p:spPr>
          <a:xfrm>
            <a:off x="960120" y="1600200"/>
            <a:ext cx="420624" cy="420624"/>
          </a:xfrm>
          <a:prstGeom prst="ellipse">
            <a:avLst/>
          </a:prstGeom>
          <a:solidFill>
            <a:srgbClr val="E97132"/>
          </a:solidFill>
          <a:ln w="12700">
            <a:solidFill>
              <a:srgbClr val="E97132"/>
            </a:solidFill>
            <a:prstDash val="solid"/>
          </a:ln>
        </p:spPr>
        <p:txBody>
          <a:bodyPr/>
          <a:lstStyle/>
          <a:p>
            <a:endParaRPr lang="en-US"/>
          </a:p>
        </p:txBody>
      </p:sp>
      <p:sp>
        <p:nvSpPr>
          <p:cNvPr id="6" name="Text 3"/>
          <p:cNvSpPr txBox="1"/>
          <p:nvPr/>
        </p:nvSpPr>
        <p:spPr>
          <a:xfrm>
            <a:off x="960120" y="1600200"/>
            <a:ext cx="420624" cy="420624"/>
          </a:xfrm>
          <a:prstGeom prst="rect">
            <a:avLst/>
          </a:prstGeom>
          <a:noFill/>
          <a:ln/>
        </p:spPr>
        <p:txBody>
          <a:bodyPr wrap="square" lIns="0" tIns="0" rIns="0" bIns="0" rtlCol="0" anchor="ctr"/>
          <a:lstStyle/>
          <a:p>
            <a:pPr marL="0" indent="0" algn="ctr">
              <a:buNone/>
            </a:pPr>
            <a:r>
              <a:rPr lang="en-US" sz="1800" b="1" dirty="0">
                <a:solidFill>
                  <a:srgbClr val="FFFFFF"/>
                </a:solidFill>
                <a:latin typeface="Aptos" pitchFamily="34" charset="0"/>
                <a:ea typeface="Aptos" pitchFamily="34" charset="-122"/>
                <a:cs typeface="Aptos" pitchFamily="34" charset="-120"/>
              </a:rPr>
              <a:t>1</a:t>
            </a:r>
            <a:endParaRPr lang="en-US" sz="1800" dirty="0"/>
          </a:p>
        </p:txBody>
      </p:sp>
      <p:sp>
        <p:nvSpPr>
          <p:cNvPr id="7" name="Text 4"/>
          <p:cNvSpPr txBox="1"/>
          <p:nvPr/>
        </p:nvSpPr>
        <p:spPr>
          <a:xfrm>
            <a:off x="1554480" y="1581912"/>
            <a:ext cx="5852160" cy="320040"/>
          </a:xfrm>
          <a:prstGeom prst="rect">
            <a:avLst/>
          </a:prstGeom>
          <a:noFill/>
          <a:ln/>
        </p:spPr>
        <p:txBody>
          <a:bodyPr wrap="square" lIns="0" tIns="0" rIns="0" bIns="0" rtlCol="0" anchor="ctr"/>
          <a:lstStyle/>
          <a:p>
            <a:pPr marL="0" indent="0">
              <a:buNone/>
            </a:pPr>
            <a:r>
              <a:rPr lang="en-US" sz="1600" b="1" dirty="0">
                <a:solidFill>
                  <a:srgbClr val="000000"/>
                </a:solidFill>
                <a:latin typeface="Aptos" pitchFamily="34" charset="0"/>
                <a:ea typeface="Aptos" pitchFamily="34" charset="-122"/>
                <a:cs typeface="Aptos" pitchFamily="34" charset="-120"/>
              </a:rPr>
              <a:t>Start from original.jpg again</a:t>
            </a:r>
            <a:endParaRPr lang="en-US" sz="1600" dirty="0"/>
          </a:p>
        </p:txBody>
      </p:sp>
      <p:sp>
        <p:nvSpPr>
          <p:cNvPr id="8" name="Text 5"/>
          <p:cNvSpPr txBox="1"/>
          <p:nvPr/>
        </p:nvSpPr>
        <p:spPr>
          <a:xfrm>
            <a:off x="1554480" y="1901952"/>
            <a:ext cx="5852160" cy="548640"/>
          </a:xfrm>
          <a:prstGeom prst="rect">
            <a:avLst/>
          </a:prstGeom>
          <a:noFill/>
          <a:ln/>
        </p:spPr>
        <p:txBody>
          <a:bodyPr wrap="square" lIns="0" tIns="0" rIns="0" bIns="0" rtlCol="0" anchor="t"/>
          <a:lstStyle/>
          <a:p>
            <a:pPr marL="0" indent="0">
              <a:buNone/>
            </a:pPr>
            <a:r>
              <a:rPr lang="en-US" sz="1350" dirty="0">
                <a:solidFill>
                  <a:srgbClr val="262626"/>
                </a:solidFill>
                <a:latin typeface="Aptos" pitchFamily="34" charset="0"/>
                <a:ea typeface="Aptos" pitchFamily="34" charset="-122"/>
                <a:cs typeface="Aptos" pitchFamily="34" charset="-120"/>
              </a:rPr>
              <a:t>​Never from a file you already compressed.</a:t>
            </a:r>
            <a:endParaRPr lang="en-US" sz="1350" dirty="0"/>
          </a:p>
        </p:txBody>
      </p:sp>
      <p:sp>
        <p:nvSpPr>
          <p:cNvPr id="9" name="Shape 6"/>
          <p:cNvSpPr/>
          <p:nvPr/>
        </p:nvSpPr>
        <p:spPr>
          <a:xfrm>
            <a:off x="960120" y="2496312"/>
            <a:ext cx="420624" cy="420624"/>
          </a:xfrm>
          <a:prstGeom prst="ellipse">
            <a:avLst/>
          </a:prstGeom>
          <a:solidFill>
            <a:srgbClr val="E97132"/>
          </a:solidFill>
          <a:ln w="12700">
            <a:solidFill>
              <a:srgbClr val="E97132"/>
            </a:solidFill>
            <a:prstDash val="solid"/>
          </a:ln>
        </p:spPr>
        <p:txBody>
          <a:bodyPr/>
          <a:lstStyle/>
          <a:p>
            <a:endParaRPr lang="en-US"/>
          </a:p>
        </p:txBody>
      </p:sp>
      <p:sp>
        <p:nvSpPr>
          <p:cNvPr id="10" name="Text 7"/>
          <p:cNvSpPr txBox="1"/>
          <p:nvPr/>
        </p:nvSpPr>
        <p:spPr>
          <a:xfrm>
            <a:off x="960120" y="2496312"/>
            <a:ext cx="420624" cy="420624"/>
          </a:xfrm>
          <a:prstGeom prst="rect">
            <a:avLst/>
          </a:prstGeom>
          <a:noFill/>
          <a:ln/>
        </p:spPr>
        <p:txBody>
          <a:bodyPr wrap="square" lIns="0" tIns="0" rIns="0" bIns="0" rtlCol="0" anchor="ctr"/>
          <a:lstStyle/>
          <a:p>
            <a:pPr marL="0" indent="0" algn="ctr">
              <a:buNone/>
            </a:pPr>
            <a:r>
              <a:rPr lang="en-US" sz="1800" b="1" dirty="0">
                <a:solidFill>
                  <a:srgbClr val="FFFFFF"/>
                </a:solidFill>
                <a:latin typeface="Aptos" pitchFamily="34" charset="0"/>
                <a:ea typeface="Aptos" pitchFamily="34" charset="-122"/>
                <a:cs typeface="Aptos" pitchFamily="34" charset="-120"/>
              </a:rPr>
              <a:t>2</a:t>
            </a:r>
            <a:endParaRPr lang="en-US" sz="1800" dirty="0"/>
          </a:p>
        </p:txBody>
      </p:sp>
      <p:sp>
        <p:nvSpPr>
          <p:cNvPr id="11" name="Text 8"/>
          <p:cNvSpPr txBox="1"/>
          <p:nvPr/>
        </p:nvSpPr>
        <p:spPr>
          <a:xfrm>
            <a:off x="1554480" y="2478024"/>
            <a:ext cx="5852160" cy="320040"/>
          </a:xfrm>
          <a:prstGeom prst="rect">
            <a:avLst/>
          </a:prstGeom>
          <a:noFill/>
          <a:ln/>
        </p:spPr>
        <p:txBody>
          <a:bodyPr wrap="square" lIns="0" tIns="0" rIns="0" bIns="0" rtlCol="0" anchor="ctr"/>
          <a:lstStyle/>
          <a:p>
            <a:pPr marL="0" indent="0">
              <a:buNone/>
            </a:pPr>
            <a:r>
              <a:rPr lang="en-US" sz="1600" b="1" dirty="0">
                <a:solidFill>
                  <a:srgbClr val="000000"/>
                </a:solidFill>
                <a:latin typeface="Aptos" pitchFamily="34" charset="0"/>
                <a:ea typeface="Aptos" pitchFamily="34" charset="-122"/>
                <a:cs typeface="Aptos" pitchFamily="34" charset="-120"/>
              </a:rPr>
              <a:t>Save as JPG at quality 30</a:t>
            </a:r>
            <a:endParaRPr lang="en-US" sz="1600" dirty="0"/>
          </a:p>
        </p:txBody>
      </p:sp>
      <p:sp>
        <p:nvSpPr>
          <p:cNvPr id="12" name="Text 9"/>
          <p:cNvSpPr txBox="1"/>
          <p:nvPr/>
        </p:nvSpPr>
        <p:spPr>
          <a:xfrm>
            <a:off x="1554480" y="2798064"/>
            <a:ext cx="5852160" cy="548640"/>
          </a:xfrm>
          <a:prstGeom prst="rect">
            <a:avLst/>
          </a:prstGeom>
          <a:noFill/>
          <a:ln/>
        </p:spPr>
        <p:txBody>
          <a:bodyPr wrap="square" lIns="0" tIns="0" rIns="0" bIns="0" rtlCol="0" anchor="t"/>
          <a:lstStyle/>
          <a:p>
            <a:pPr marL="0" indent="0">
              <a:buNone/>
            </a:pPr>
            <a:r>
              <a:rPr lang="en-US" sz="1350" dirty="0">
                <a:solidFill>
                  <a:srgbClr val="262626"/>
                </a:solidFill>
                <a:latin typeface="Aptos" pitchFamily="34" charset="0"/>
                <a:ea typeface="Aptos" pitchFamily="34" charset="-122"/>
                <a:cs typeface="Aptos" pitchFamily="34" charset="-120"/>
              </a:rPr>
              <a:t>​Name it </a:t>
            </a:r>
            <a:r>
              <a:rPr lang="en-US" sz="1350" dirty="0">
                <a:solidFill>
                  <a:srgbClr val="8A2B0B"/>
                </a:solidFill>
                <a:latin typeface="Consolas" pitchFamily="34" charset="0"/>
                <a:ea typeface="Consolas" pitchFamily="34" charset="-122"/>
                <a:cs typeface="Consolas" pitchFamily="34" charset="-120"/>
              </a:rPr>
              <a:t>photo_q30.jpg</a:t>
            </a:r>
            <a:r>
              <a:rPr lang="en-US" sz="1350" dirty="0">
                <a:solidFill>
                  <a:srgbClr val="262626"/>
                </a:solidFill>
                <a:latin typeface="Aptos" pitchFamily="34" charset="0"/>
                <a:ea typeface="Aptos" pitchFamily="34" charset="-122"/>
                <a:cs typeface="Aptos" pitchFamily="34" charset="-120"/>
              </a:rPr>
              <a:t>.</a:t>
            </a:r>
            <a:endParaRPr lang="en-US" sz="1350" dirty="0"/>
          </a:p>
        </p:txBody>
      </p:sp>
      <p:sp>
        <p:nvSpPr>
          <p:cNvPr id="13" name="Shape 10"/>
          <p:cNvSpPr/>
          <p:nvPr/>
        </p:nvSpPr>
        <p:spPr>
          <a:xfrm>
            <a:off x="960120" y="3392424"/>
            <a:ext cx="420624" cy="420624"/>
          </a:xfrm>
          <a:prstGeom prst="ellipse">
            <a:avLst/>
          </a:prstGeom>
          <a:solidFill>
            <a:srgbClr val="E97132"/>
          </a:solidFill>
          <a:ln w="12700">
            <a:solidFill>
              <a:srgbClr val="E97132"/>
            </a:solidFill>
            <a:prstDash val="solid"/>
          </a:ln>
        </p:spPr>
        <p:txBody>
          <a:bodyPr/>
          <a:lstStyle/>
          <a:p>
            <a:endParaRPr lang="en-US"/>
          </a:p>
        </p:txBody>
      </p:sp>
      <p:sp>
        <p:nvSpPr>
          <p:cNvPr id="14" name="Text 11"/>
          <p:cNvSpPr txBox="1"/>
          <p:nvPr/>
        </p:nvSpPr>
        <p:spPr>
          <a:xfrm>
            <a:off x="960120" y="3392424"/>
            <a:ext cx="420624" cy="420624"/>
          </a:xfrm>
          <a:prstGeom prst="rect">
            <a:avLst/>
          </a:prstGeom>
          <a:noFill/>
          <a:ln/>
        </p:spPr>
        <p:txBody>
          <a:bodyPr wrap="square" lIns="0" tIns="0" rIns="0" bIns="0" rtlCol="0" anchor="ctr"/>
          <a:lstStyle/>
          <a:p>
            <a:pPr marL="0" indent="0" algn="ctr">
              <a:buNone/>
            </a:pPr>
            <a:r>
              <a:rPr lang="en-US" sz="1800" b="1" dirty="0">
                <a:solidFill>
                  <a:srgbClr val="FFFFFF"/>
                </a:solidFill>
                <a:latin typeface="Aptos" pitchFamily="34" charset="0"/>
                <a:ea typeface="Aptos" pitchFamily="34" charset="-122"/>
                <a:cs typeface="Aptos" pitchFamily="34" charset="-120"/>
              </a:rPr>
              <a:t>3</a:t>
            </a:r>
            <a:endParaRPr lang="en-US" sz="1800" dirty="0"/>
          </a:p>
        </p:txBody>
      </p:sp>
      <p:sp>
        <p:nvSpPr>
          <p:cNvPr id="15" name="Text 12"/>
          <p:cNvSpPr txBox="1"/>
          <p:nvPr/>
        </p:nvSpPr>
        <p:spPr>
          <a:xfrm>
            <a:off x="1554480" y="3374136"/>
            <a:ext cx="5852160" cy="320040"/>
          </a:xfrm>
          <a:prstGeom prst="rect">
            <a:avLst/>
          </a:prstGeom>
          <a:noFill/>
          <a:ln/>
        </p:spPr>
        <p:txBody>
          <a:bodyPr wrap="square" lIns="0" tIns="0" rIns="0" bIns="0" rtlCol="0" anchor="ctr"/>
          <a:lstStyle/>
          <a:p>
            <a:pPr marL="0" indent="0">
              <a:buNone/>
            </a:pPr>
            <a:r>
              <a:rPr lang="en-US" sz="1600" b="1" dirty="0">
                <a:solidFill>
                  <a:srgbClr val="000000"/>
                </a:solidFill>
                <a:latin typeface="Aptos" pitchFamily="34" charset="0"/>
                <a:ea typeface="Aptos" pitchFamily="34" charset="-122"/>
                <a:cs typeface="Aptos" pitchFamily="34" charset="-120"/>
              </a:rPr>
              <a:t>Save as JPG at quality 10</a:t>
            </a:r>
            <a:endParaRPr lang="en-US" sz="1600" dirty="0"/>
          </a:p>
        </p:txBody>
      </p:sp>
      <p:sp>
        <p:nvSpPr>
          <p:cNvPr id="16" name="Text 13"/>
          <p:cNvSpPr txBox="1"/>
          <p:nvPr/>
        </p:nvSpPr>
        <p:spPr>
          <a:xfrm>
            <a:off x="1554480" y="3694176"/>
            <a:ext cx="5852160" cy="548640"/>
          </a:xfrm>
          <a:prstGeom prst="rect">
            <a:avLst/>
          </a:prstGeom>
          <a:noFill/>
          <a:ln/>
        </p:spPr>
        <p:txBody>
          <a:bodyPr wrap="square" lIns="0" tIns="0" rIns="0" bIns="0" rtlCol="0" anchor="t"/>
          <a:lstStyle/>
          <a:p>
            <a:pPr marL="0" indent="0">
              <a:buNone/>
            </a:pPr>
            <a:r>
              <a:rPr lang="en-US" sz="1350" dirty="0">
                <a:solidFill>
                  <a:srgbClr val="262626"/>
                </a:solidFill>
                <a:latin typeface="Aptos" pitchFamily="34" charset="0"/>
                <a:ea typeface="Aptos" pitchFamily="34" charset="-122"/>
                <a:cs typeface="Aptos" pitchFamily="34" charset="-120"/>
              </a:rPr>
              <a:t>​Name it </a:t>
            </a:r>
            <a:r>
              <a:rPr lang="en-US" sz="1350" dirty="0">
                <a:solidFill>
                  <a:srgbClr val="8A2B0B"/>
                </a:solidFill>
                <a:latin typeface="Consolas" pitchFamily="34" charset="0"/>
                <a:ea typeface="Consolas" pitchFamily="34" charset="-122"/>
                <a:cs typeface="Consolas" pitchFamily="34" charset="-120"/>
              </a:rPr>
              <a:t>photo_q10.jpg</a:t>
            </a:r>
            <a:r>
              <a:rPr lang="en-US" sz="1350" dirty="0">
                <a:solidFill>
                  <a:srgbClr val="262626"/>
                </a:solidFill>
                <a:latin typeface="Aptos" pitchFamily="34" charset="0"/>
                <a:ea typeface="Aptos" pitchFamily="34" charset="-122"/>
                <a:cs typeface="Aptos" pitchFamily="34" charset="-120"/>
              </a:rPr>
              <a:t>.</a:t>
            </a:r>
            <a:endParaRPr lang="en-US" sz="1350" dirty="0"/>
          </a:p>
        </p:txBody>
      </p:sp>
      <p:sp>
        <p:nvSpPr>
          <p:cNvPr id="17" name="Shape 14"/>
          <p:cNvSpPr/>
          <p:nvPr/>
        </p:nvSpPr>
        <p:spPr>
          <a:xfrm>
            <a:off x="960120" y="4288536"/>
            <a:ext cx="420624" cy="420624"/>
          </a:xfrm>
          <a:prstGeom prst="ellipse">
            <a:avLst/>
          </a:prstGeom>
          <a:solidFill>
            <a:srgbClr val="E97132"/>
          </a:solidFill>
          <a:ln w="12700">
            <a:solidFill>
              <a:srgbClr val="E97132"/>
            </a:solidFill>
            <a:prstDash val="solid"/>
          </a:ln>
        </p:spPr>
        <p:txBody>
          <a:bodyPr/>
          <a:lstStyle/>
          <a:p>
            <a:endParaRPr lang="en-US"/>
          </a:p>
        </p:txBody>
      </p:sp>
      <p:sp>
        <p:nvSpPr>
          <p:cNvPr id="18" name="Text 15"/>
          <p:cNvSpPr txBox="1"/>
          <p:nvPr/>
        </p:nvSpPr>
        <p:spPr>
          <a:xfrm>
            <a:off x="960120" y="4288536"/>
            <a:ext cx="420624" cy="420624"/>
          </a:xfrm>
          <a:prstGeom prst="rect">
            <a:avLst/>
          </a:prstGeom>
          <a:noFill/>
          <a:ln/>
        </p:spPr>
        <p:txBody>
          <a:bodyPr wrap="square" lIns="0" tIns="0" rIns="0" bIns="0" rtlCol="0" anchor="ctr"/>
          <a:lstStyle/>
          <a:p>
            <a:pPr marL="0" indent="0" algn="ctr">
              <a:buNone/>
            </a:pPr>
            <a:r>
              <a:rPr lang="en-US" sz="1800" b="1" dirty="0">
                <a:solidFill>
                  <a:srgbClr val="FFFFFF"/>
                </a:solidFill>
                <a:latin typeface="Aptos" pitchFamily="34" charset="0"/>
                <a:ea typeface="Aptos" pitchFamily="34" charset="-122"/>
                <a:cs typeface="Aptos" pitchFamily="34" charset="-120"/>
              </a:rPr>
              <a:t>4</a:t>
            </a:r>
            <a:endParaRPr lang="en-US" sz="1800" dirty="0"/>
          </a:p>
        </p:txBody>
      </p:sp>
      <p:sp>
        <p:nvSpPr>
          <p:cNvPr id="19" name="Text 16"/>
          <p:cNvSpPr txBox="1"/>
          <p:nvPr/>
        </p:nvSpPr>
        <p:spPr>
          <a:xfrm>
            <a:off x="1554480" y="4270248"/>
            <a:ext cx="5852160" cy="320040"/>
          </a:xfrm>
          <a:prstGeom prst="rect">
            <a:avLst/>
          </a:prstGeom>
          <a:noFill/>
          <a:ln/>
        </p:spPr>
        <p:txBody>
          <a:bodyPr wrap="square" lIns="0" tIns="0" rIns="0" bIns="0" rtlCol="0" anchor="ctr"/>
          <a:lstStyle/>
          <a:p>
            <a:pPr marL="0" indent="0">
              <a:buNone/>
            </a:pPr>
            <a:r>
              <a:rPr lang="en-US" sz="1600" b="1" dirty="0">
                <a:solidFill>
                  <a:srgbClr val="000000"/>
                </a:solidFill>
                <a:latin typeface="Aptos" pitchFamily="34" charset="0"/>
                <a:ea typeface="Aptos" pitchFamily="34" charset="-122"/>
                <a:cs typeface="Aptos" pitchFamily="34" charset="-120"/>
              </a:rPr>
              <a:t>Zoom in on all of them</a:t>
            </a:r>
            <a:endParaRPr lang="en-US" sz="1600" dirty="0"/>
          </a:p>
        </p:txBody>
      </p:sp>
      <p:sp>
        <p:nvSpPr>
          <p:cNvPr id="20" name="Text 17"/>
          <p:cNvSpPr txBox="1"/>
          <p:nvPr/>
        </p:nvSpPr>
        <p:spPr>
          <a:xfrm>
            <a:off x="1554480" y="4590288"/>
            <a:ext cx="5852160" cy="548640"/>
          </a:xfrm>
          <a:prstGeom prst="rect">
            <a:avLst/>
          </a:prstGeom>
          <a:noFill/>
          <a:ln/>
        </p:spPr>
        <p:txBody>
          <a:bodyPr wrap="square" lIns="0" tIns="0" rIns="0" bIns="0" rtlCol="0" anchor="t"/>
          <a:lstStyle/>
          <a:p>
            <a:pPr marL="0" indent="0">
              <a:buNone/>
            </a:pPr>
            <a:r>
              <a:rPr lang="en-US" sz="1350" dirty="0">
                <a:solidFill>
                  <a:srgbClr val="262626"/>
                </a:solidFill>
                <a:latin typeface="Aptos" pitchFamily="34" charset="0"/>
                <a:ea typeface="Aptos" pitchFamily="34" charset="-122"/>
                <a:cs typeface="Aptos" pitchFamily="34" charset="-120"/>
              </a:rPr>
              <a:t>​Open each one and zoom to 200–400%. Look at sky, skin, edges and text.</a:t>
            </a:r>
            <a:endParaRPr lang="en-US" sz="1350" dirty="0"/>
          </a:p>
        </p:txBody>
      </p:sp>
      <p:sp>
        <p:nvSpPr>
          <p:cNvPr id="21" name="Shape 18"/>
          <p:cNvSpPr/>
          <p:nvPr/>
        </p:nvSpPr>
        <p:spPr>
          <a:xfrm>
            <a:off x="960120" y="5184648"/>
            <a:ext cx="420624" cy="420624"/>
          </a:xfrm>
          <a:prstGeom prst="ellipse">
            <a:avLst/>
          </a:prstGeom>
          <a:solidFill>
            <a:srgbClr val="E97132"/>
          </a:solidFill>
          <a:ln w="12700">
            <a:solidFill>
              <a:srgbClr val="E97132"/>
            </a:solidFill>
            <a:prstDash val="solid"/>
          </a:ln>
        </p:spPr>
        <p:txBody>
          <a:bodyPr/>
          <a:lstStyle/>
          <a:p>
            <a:endParaRPr lang="en-US"/>
          </a:p>
        </p:txBody>
      </p:sp>
      <p:sp>
        <p:nvSpPr>
          <p:cNvPr id="22" name="Text 19"/>
          <p:cNvSpPr txBox="1"/>
          <p:nvPr/>
        </p:nvSpPr>
        <p:spPr>
          <a:xfrm>
            <a:off x="960120" y="5184648"/>
            <a:ext cx="420624" cy="420624"/>
          </a:xfrm>
          <a:prstGeom prst="rect">
            <a:avLst/>
          </a:prstGeom>
          <a:noFill/>
          <a:ln/>
        </p:spPr>
        <p:txBody>
          <a:bodyPr wrap="square" lIns="0" tIns="0" rIns="0" bIns="0" rtlCol="0" anchor="ctr"/>
          <a:lstStyle/>
          <a:p>
            <a:pPr marL="0" indent="0" algn="ctr">
              <a:buNone/>
            </a:pPr>
            <a:r>
              <a:rPr lang="en-US" sz="1800" b="1" dirty="0">
                <a:solidFill>
                  <a:srgbClr val="FFFFFF"/>
                </a:solidFill>
                <a:latin typeface="Aptos" pitchFamily="34" charset="0"/>
                <a:ea typeface="Aptos" pitchFamily="34" charset="-122"/>
                <a:cs typeface="Aptos" pitchFamily="34" charset="-120"/>
              </a:rPr>
              <a:t>5</a:t>
            </a:r>
            <a:endParaRPr lang="en-US" sz="1800" dirty="0"/>
          </a:p>
        </p:txBody>
      </p:sp>
      <p:sp>
        <p:nvSpPr>
          <p:cNvPr id="23" name="Text 20"/>
          <p:cNvSpPr txBox="1"/>
          <p:nvPr/>
        </p:nvSpPr>
        <p:spPr>
          <a:xfrm>
            <a:off x="1554480" y="5166360"/>
            <a:ext cx="5852160" cy="320040"/>
          </a:xfrm>
          <a:prstGeom prst="rect">
            <a:avLst/>
          </a:prstGeom>
          <a:noFill/>
          <a:ln/>
        </p:spPr>
        <p:txBody>
          <a:bodyPr wrap="square" lIns="0" tIns="0" rIns="0" bIns="0" rtlCol="0" anchor="ctr"/>
          <a:lstStyle/>
          <a:p>
            <a:pPr marL="0" indent="0">
              <a:buNone/>
            </a:pPr>
            <a:r>
              <a:rPr lang="en-US" sz="1600" b="1" dirty="0">
                <a:solidFill>
                  <a:srgbClr val="000000"/>
                </a:solidFill>
                <a:latin typeface="Aptos" pitchFamily="34" charset="0"/>
                <a:ea typeface="Aptos" pitchFamily="34" charset="-122"/>
                <a:cs typeface="Aptos" pitchFamily="34" charset="-120"/>
              </a:rPr>
              <a:t>Record sizes and "Looks OK?"</a:t>
            </a:r>
            <a:endParaRPr lang="en-US" sz="1600" dirty="0"/>
          </a:p>
        </p:txBody>
      </p:sp>
      <p:sp>
        <p:nvSpPr>
          <p:cNvPr id="24" name="Text 21"/>
          <p:cNvSpPr txBox="1"/>
          <p:nvPr/>
        </p:nvSpPr>
        <p:spPr>
          <a:xfrm>
            <a:off x="1554480" y="5486400"/>
            <a:ext cx="5852160" cy="548640"/>
          </a:xfrm>
          <a:prstGeom prst="rect">
            <a:avLst/>
          </a:prstGeom>
          <a:noFill/>
          <a:ln/>
        </p:spPr>
        <p:txBody>
          <a:bodyPr wrap="square" lIns="0" tIns="0" rIns="0" bIns="0" rtlCol="0" anchor="t"/>
          <a:lstStyle/>
          <a:p>
            <a:pPr marL="0" indent="0">
              <a:buNone/>
            </a:pPr>
            <a:r>
              <a:rPr lang="en-US" sz="1350" dirty="0">
                <a:solidFill>
                  <a:srgbClr val="262626"/>
                </a:solidFill>
                <a:latin typeface="Aptos" pitchFamily="34" charset="0"/>
                <a:ea typeface="Aptos" pitchFamily="34" charset="-122"/>
                <a:cs typeface="Aptos" pitchFamily="34" charset="-120"/>
              </a:rPr>
              <a:t>​In image_lab.html. You already have q80 from Lab 2.</a:t>
            </a:r>
            <a:endParaRPr lang="en-US" sz="1350" dirty="0"/>
          </a:p>
        </p:txBody>
      </p:sp>
      <p:sp>
        <p:nvSpPr>
          <p:cNvPr id="25" name="Shape 22"/>
          <p:cNvSpPr/>
          <p:nvPr/>
        </p:nvSpPr>
        <p:spPr>
          <a:xfrm>
            <a:off x="8001000" y="1325880"/>
            <a:ext cx="3520440" cy="5029200"/>
          </a:xfrm>
          <a:prstGeom prst="roundRect">
            <a:avLst>
              <a:gd name="adj" fmla="val 3117"/>
            </a:avLst>
          </a:prstGeom>
          <a:solidFill>
            <a:srgbClr val="262626"/>
          </a:solidFill>
          <a:ln w="9525">
            <a:solidFill>
              <a:srgbClr val="262626"/>
            </a:solidFill>
            <a:prstDash val="solid"/>
          </a:ln>
          <a:effectLst>
            <a:outerShdw blurRad="76200" dist="25400" dir="5400000" algn="bl" rotWithShape="0">
              <a:srgbClr val="000000">
                <a:alpha val="12000"/>
              </a:srgbClr>
            </a:outerShdw>
          </a:effectLst>
        </p:spPr>
        <p:txBody>
          <a:bodyPr/>
          <a:lstStyle/>
          <a:p>
            <a:endParaRPr lang="en-US"/>
          </a:p>
        </p:txBody>
      </p:sp>
      <p:sp>
        <p:nvSpPr>
          <p:cNvPr id="26" name="Text 23"/>
          <p:cNvSpPr txBox="1"/>
          <p:nvPr/>
        </p:nvSpPr>
        <p:spPr>
          <a:xfrm>
            <a:off x="8229600" y="1554480"/>
            <a:ext cx="3108960" cy="411480"/>
          </a:xfrm>
          <a:prstGeom prst="rect">
            <a:avLst/>
          </a:prstGeom>
          <a:noFill/>
          <a:ln/>
        </p:spPr>
        <p:txBody>
          <a:bodyPr wrap="square" lIns="0" tIns="0" rIns="0" bIns="0" rtlCol="0" anchor="ctr"/>
          <a:lstStyle/>
          <a:p>
            <a:pPr marL="0" indent="0">
              <a:buNone/>
            </a:pPr>
            <a:r>
              <a:rPr lang="en-US" sz="1800" b="1" dirty="0">
                <a:solidFill>
                  <a:srgbClr val="FFFFFF"/>
                </a:solidFill>
                <a:latin typeface="Aptos" pitchFamily="34" charset="0"/>
                <a:ea typeface="Aptos" pitchFamily="34" charset="-122"/>
                <a:cs typeface="Aptos" pitchFamily="34" charset="-120"/>
              </a:rPr>
              <a:t>Look for</a:t>
            </a:r>
            <a:endParaRPr lang="en-US" sz="1800" dirty="0"/>
          </a:p>
        </p:txBody>
      </p:sp>
      <p:sp>
        <p:nvSpPr>
          <p:cNvPr id="27" name="Text 24"/>
          <p:cNvSpPr txBox="1"/>
          <p:nvPr/>
        </p:nvSpPr>
        <p:spPr>
          <a:xfrm>
            <a:off x="8229600" y="2057400"/>
            <a:ext cx="3108960" cy="4114800"/>
          </a:xfrm>
          <a:prstGeom prst="rect">
            <a:avLst/>
          </a:prstGeom>
          <a:noFill/>
          <a:ln/>
        </p:spPr>
        <p:txBody>
          <a:bodyPr wrap="square" lIns="0" tIns="0" rIns="0" bIns="0" rtlCol="0" anchor="t"/>
          <a:lstStyle/>
          <a:p>
            <a:pPr marL="342900" indent="-342900">
              <a:buSzPct val="100000"/>
              <a:buChar char="•"/>
            </a:pPr>
            <a:r>
              <a:rPr lang="en-US" sz="1350" dirty="0">
                <a:solidFill>
                  <a:srgbClr val="D9D9D9"/>
                </a:solidFill>
                <a:latin typeface="Aptos" pitchFamily="34" charset="0"/>
                <a:ea typeface="Aptos" pitchFamily="34" charset="-122"/>
                <a:cs typeface="Aptos" pitchFamily="34" charset="-120"/>
              </a:rPr>
              <a:t>Blocky squares in smooth areas (sky, walls)</a:t>
            </a:r>
            <a:endParaRPr lang="en-US" sz="1350" dirty="0"/>
          </a:p>
          <a:p>
            <a:pPr marL="342900" indent="-342900">
              <a:spcBef>
                <a:spcPts val="700"/>
              </a:spcBef>
              <a:buSzPct val="100000"/>
              <a:buChar char="•"/>
            </a:pPr>
            <a:r>
              <a:rPr lang="en-US" sz="1350" dirty="0">
                <a:solidFill>
                  <a:srgbClr val="D9D9D9"/>
                </a:solidFill>
                <a:latin typeface="Aptos" pitchFamily="34" charset="0"/>
                <a:ea typeface="Aptos" pitchFamily="34" charset="-122"/>
                <a:cs typeface="Aptos" pitchFamily="34" charset="-120"/>
              </a:rPr>
              <a:t>Smudges or halos around edges</a:t>
            </a:r>
            <a:endParaRPr lang="en-US" sz="1350" dirty="0"/>
          </a:p>
          <a:p>
            <a:pPr marL="342900" indent="-342900">
              <a:spcBef>
                <a:spcPts val="700"/>
              </a:spcBef>
              <a:buSzPct val="100000"/>
              <a:buChar char="•"/>
            </a:pPr>
            <a:r>
              <a:rPr lang="en-US" sz="1350" dirty="0">
                <a:solidFill>
                  <a:srgbClr val="D9D9D9"/>
                </a:solidFill>
                <a:latin typeface="Aptos" pitchFamily="34" charset="0"/>
                <a:ea typeface="Aptos" pitchFamily="34" charset="-122"/>
                <a:cs typeface="Aptos" pitchFamily="34" charset="-120"/>
              </a:rPr>
              <a:t>Colour bands instead of smooth gradients</a:t>
            </a:r>
            <a:endParaRPr lang="en-US" sz="1350" dirty="0"/>
          </a:p>
          <a:p>
            <a:pPr marL="0" indent="0">
              <a:spcBef>
                <a:spcPts val="700"/>
              </a:spcBef>
              <a:buNone/>
            </a:pPr>
            <a:endParaRPr lang="en-US" sz="1350" dirty="0"/>
          </a:p>
          <a:p>
            <a:pPr marL="0" indent="0">
              <a:spcBef>
                <a:spcPts val="700"/>
              </a:spcBef>
              <a:buNone/>
            </a:pPr>
            <a:r>
              <a:rPr lang="en-US" sz="1350" b="1" dirty="0">
                <a:solidFill>
                  <a:srgbClr val="F2C6AC"/>
                </a:solidFill>
                <a:latin typeface="Aptos" pitchFamily="34" charset="0"/>
                <a:ea typeface="Aptos" pitchFamily="34" charset="-122"/>
                <a:cs typeface="Aptos" pitchFamily="34" charset="-120"/>
              </a:rPr>
              <a:t>Challenge</a:t>
            </a:r>
            <a:endParaRPr lang="en-US" sz="1350" dirty="0"/>
          </a:p>
          <a:p>
            <a:pPr marL="342900" indent="-342900">
              <a:spcBef>
                <a:spcPts val="700"/>
              </a:spcBef>
              <a:buSzPct val="100000"/>
              <a:buChar char="•"/>
            </a:pPr>
            <a:r>
              <a:rPr lang="en-US" sz="1350" dirty="0">
                <a:solidFill>
                  <a:srgbClr val="D9D9D9"/>
                </a:solidFill>
                <a:latin typeface="Aptos" pitchFamily="34" charset="0"/>
                <a:ea typeface="Aptos" pitchFamily="34" charset="-122"/>
                <a:cs typeface="Aptos" pitchFamily="34" charset="-120"/>
              </a:rPr>
              <a:t>Find the lowest quality where you honestly can't see a difference at normal size. Share your number in the class chat.</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2F2F2"/>
        </a:solidFill>
        <a:effectLst/>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txBody>
          <a:bodyPr/>
          <a:lstStyle/>
          <a:p>
            <a:endParaRPr lang="en-US"/>
          </a:p>
        </p:txBody>
      </p:sp>
      <p:sp>
        <p:nvSpPr>
          <p:cNvPr id="3" name="Text 1"/>
          <p:cNvSpPr txBox="1"/>
          <p:nvPr/>
        </p:nvSpPr>
        <p:spPr>
          <a:xfrm>
            <a:off x="868680" y="548640"/>
            <a:ext cx="2560320" cy="1280160"/>
          </a:xfrm>
          <a:prstGeom prst="rect">
            <a:avLst/>
          </a:prstGeom>
          <a:noFill/>
          <a:ln/>
        </p:spPr>
        <p:txBody>
          <a:bodyPr wrap="square" lIns="0" tIns="0" rIns="0" bIns="0" rtlCol="0" anchor="t"/>
          <a:lstStyle/>
          <a:p>
            <a:pPr marL="0" indent="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txBody>
          <a:bodyPr/>
          <a:lstStyle/>
          <a:p>
            <a:endParaRPr lang="en-US"/>
          </a:p>
        </p:txBody>
      </p:sp>
      <p:sp>
        <p:nvSpPr>
          <p:cNvPr id="5" name="Text 3"/>
          <p:cNvSpPr txBox="1"/>
          <p:nvPr/>
        </p:nvSpPr>
        <p:spPr>
          <a:xfrm>
            <a:off x="4754880" y="822960"/>
            <a:ext cx="6903720" cy="868680"/>
          </a:xfrm>
          <a:prstGeom prst="rect">
            <a:avLst/>
          </a:prstGeom>
          <a:noFill/>
          <a:ln/>
        </p:spPr>
        <p:txBody>
          <a:bodyPr wrap="square" lIns="0" tIns="0" rIns="0" bIns="0" rtlCol="0" anchor="t"/>
          <a:lstStyle/>
          <a:p>
            <a:pPr marL="0" indent="0">
              <a:buNone/>
            </a:pPr>
            <a:r>
              <a:rPr lang="en-US" sz="2800" b="1" dirty="0">
                <a:solidFill>
                  <a:srgbClr val="000000"/>
                </a:solidFill>
                <a:latin typeface="Aptos" pitchFamily="34" charset="0"/>
                <a:ea typeface="Aptos" pitchFamily="34" charset="-122"/>
                <a:cs typeface="Aptos" pitchFamily="34" charset="-120"/>
              </a:rPr>
              <a:t>Size It Right: Dimensions Matter Most</a:t>
            </a:r>
            <a:endParaRPr lang="en-US" sz="2800" dirty="0"/>
          </a:p>
        </p:txBody>
      </p:sp>
      <p:sp>
        <p:nvSpPr>
          <p:cNvPr id="7" name="Text 4"/>
          <p:cNvSpPr txBox="1"/>
          <p:nvPr/>
        </p:nvSpPr>
        <p:spPr>
          <a:xfrm>
            <a:off x="4754880" y="1737360"/>
            <a:ext cx="6903720" cy="1234440"/>
          </a:xfrm>
          <a:prstGeom prst="rect">
            <a:avLst/>
          </a:prstGeom>
          <a:noFill/>
          <a:ln/>
        </p:spPr>
        <p:txBody>
          <a:bodyPr wrap="square" lIns="0" tIns="0" rIns="0" bIns="0" rtlCol="0" anchor="t"/>
          <a:lstStyle/>
          <a:p>
            <a:pPr marL="342900" indent="-342900">
              <a:buSzPct val="100000"/>
              <a:buChar char="•"/>
            </a:pPr>
            <a:r>
              <a:rPr lang="en-US" sz="1550" dirty="0">
                <a:solidFill>
                  <a:srgbClr val="262626"/>
                </a:solidFill>
                <a:latin typeface="Aptos" pitchFamily="34" charset="0"/>
                <a:ea typeface="Aptos" pitchFamily="34" charset="-122"/>
                <a:cs typeface="Aptos" pitchFamily="34" charset="-120"/>
              </a:rPr>
              <a:t>​</a:t>
            </a:r>
            <a:r>
              <a:rPr lang="en-US" sz="1550" b="1" dirty="0">
                <a:solidFill>
                  <a:srgbClr val="262626"/>
                </a:solidFill>
                <a:latin typeface="Aptos" pitchFamily="34" charset="0"/>
                <a:ea typeface="Aptos" pitchFamily="34" charset="-122"/>
                <a:cs typeface="Aptos" pitchFamily="34" charset="-120"/>
              </a:rPr>
              <a:t>Export at the size it's shown, × 2</a:t>
            </a:r>
            <a:r>
              <a:rPr lang="en-US" sz="1550" dirty="0">
                <a:solidFill>
                  <a:srgbClr val="262626"/>
                </a:solidFill>
                <a:latin typeface="Aptos" pitchFamily="34" charset="0"/>
                <a:ea typeface="Aptos" pitchFamily="34" charset="-122"/>
                <a:cs typeface="Aptos" pitchFamily="34" charset="-120"/>
              </a:rPr>
              <a:t> for sharp phone and laptop screens. Shown at 600 px wide → export about 1200 px.</a:t>
            </a:r>
            <a:endParaRPr lang="en-US" sz="1550" dirty="0"/>
          </a:p>
          <a:p>
            <a:pPr marL="342900" indent="-342900">
              <a:spcBef>
                <a:spcPts val="900"/>
              </a:spcBef>
              <a:buSzPct val="100000"/>
              <a:buChar char="•"/>
            </a:pPr>
            <a:r>
              <a:rPr lang="en-US" sz="1550" dirty="0">
                <a:solidFill>
                  <a:srgbClr val="262626"/>
                </a:solidFill>
                <a:latin typeface="Aptos" pitchFamily="34" charset="0"/>
                <a:ea typeface="Aptos" pitchFamily="34" charset="-122"/>
                <a:cs typeface="Aptos" pitchFamily="34" charset="-120"/>
              </a:rPr>
              <a:t>​Halve the width → </a:t>
            </a:r>
            <a:r>
              <a:rPr lang="en-US" sz="1550" b="1" dirty="0">
                <a:solidFill>
                  <a:srgbClr val="262626"/>
                </a:solidFill>
                <a:latin typeface="Aptos" pitchFamily="34" charset="0"/>
                <a:ea typeface="Aptos" pitchFamily="34" charset="-122"/>
                <a:cs typeface="Aptos" pitchFamily="34" charset="-120"/>
              </a:rPr>
              <a:t>¼ of the pixels</a:t>
            </a:r>
            <a:r>
              <a:rPr lang="en-US" sz="1550" dirty="0">
                <a:solidFill>
                  <a:srgbClr val="262626"/>
                </a:solidFill>
                <a:latin typeface="Aptos" pitchFamily="34" charset="0"/>
                <a:ea typeface="Aptos" pitchFamily="34" charset="-122"/>
                <a:cs typeface="Aptos" pitchFamily="34" charset="-120"/>
              </a:rPr>
              <a:t> (the height halves too) → roughly ¼ of the file size.</a:t>
            </a:r>
            <a:endParaRPr lang="en-US" sz="15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754880" y="3063240"/>
          <a:ext cx="6903720" cy="914400"/>
        </p:xfrm>
        <a:graphic>
          <a:graphicData uri="http://schemas.openxmlformats.org/drawingml/2006/table">
            <a:tbl>
              <a:tblPr/>
              <a:tblGrid>
                <a:gridCol w="274320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tblGrid>
              <a:tr h="438912">
                <a:tc>
                  <a:txBody>
                    <a:bodyPr/>
                    <a:lstStyle/>
                    <a:p>
                      <a:pPr marL="0" indent="0">
                        <a:buNone/>
                      </a:pPr>
                      <a:r>
                        <a:rPr lang="en-US" sz="1450" b="1" dirty="0">
                          <a:solidFill>
                            <a:srgbClr val="FFFFFF"/>
                          </a:solidFill>
                          <a:latin typeface="Aptos" pitchFamily="34" charset="0"/>
                          <a:ea typeface="Aptos" pitchFamily="34" charset="-122"/>
                          <a:cs typeface="Aptos" pitchFamily="34" charset="-120"/>
                        </a:rPr>
                        <a:t>Image type</a:t>
                      </a:r>
                      <a:endParaRPr lang="en-US" sz="14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262626"/>
                    </a:solidFill>
                  </a:tcPr>
                </a:tc>
                <a:tc>
                  <a:txBody>
                    <a:bodyPr/>
                    <a:lstStyle/>
                    <a:p>
                      <a:pPr marL="0" indent="0">
                        <a:buNone/>
                      </a:pPr>
                      <a:r>
                        <a:rPr lang="en-US" sz="1450" b="1" dirty="0">
                          <a:solidFill>
                            <a:srgbClr val="FFFFFF"/>
                          </a:solidFill>
                          <a:latin typeface="Aptos" pitchFamily="34" charset="0"/>
                          <a:ea typeface="Aptos" pitchFamily="34" charset="-122"/>
                          <a:cs typeface="Aptos" pitchFamily="34" charset="-120"/>
                        </a:rPr>
                        <a:t>Export width</a:t>
                      </a:r>
                      <a:endParaRPr lang="en-US" sz="14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262626"/>
                    </a:solidFill>
                  </a:tcPr>
                </a:tc>
                <a:tc>
                  <a:txBody>
                    <a:bodyPr/>
                    <a:lstStyle/>
                    <a:p>
                      <a:pPr marL="0" indent="0">
                        <a:buNone/>
                      </a:pPr>
                      <a:r>
                        <a:rPr lang="en-US" sz="1450" b="1" dirty="0">
                          <a:solidFill>
                            <a:srgbClr val="FFFFFF"/>
                          </a:solidFill>
                          <a:latin typeface="Aptos" pitchFamily="34" charset="0"/>
                          <a:ea typeface="Aptos" pitchFamily="34" charset="-122"/>
                          <a:cs typeface="Aptos" pitchFamily="34" charset="-120"/>
                        </a:rPr>
                        <a:t>Aim for</a:t>
                      </a:r>
                      <a:endParaRPr lang="en-US" sz="14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262626"/>
                    </a:solidFill>
                  </a:tcPr>
                </a:tc>
                <a:extLst>
                  <a:ext uri="{0D108BD9-81ED-4DB2-BD59-A6C34878D82A}">
                    <a16:rowId xmlns:a16="http://schemas.microsoft.com/office/drawing/2014/main" val="10000"/>
                  </a:ext>
                </a:extLst>
              </a:tr>
              <a:tr h="438912">
                <a:tc>
                  <a:txBody>
                    <a:bodyPr/>
                    <a:lstStyle/>
                    <a:p>
                      <a:pPr marL="0" indent="0">
                        <a:buNone/>
                      </a:pPr>
                      <a:r>
                        <a:rPr lang="en-US" sz="1450" b="1" dirty="0">
                          <a:solidFill>
                            <a:srgbClr val="000000"/>
                          </a:solidFill>
                          <a:latin typeface="Aptos" pitchFamily="34" charset="0"/>
                          <a:ea typeface="Aptos" pitchFamily="34" charset="-122"/>
                          <a:cs typeface="Aptos" pitchFamily="34" charset="-120"/>
                        </a:rPr>
                        <a:t>Full-width banner (hero)</a:t>
                      </a:r>
                      <a:endParaRPr lang="en-US" sz="14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marL="0" indent="0">
                        <a:buNone/>
                      </a:pPr>
                      <a:r>
                        <a:rPr lang="en-US" sz="1450" dirty="0">
                          <a:solidFill>
                            <a:srgbClr val="000000"/>
                          </a:solidFill>
                          <a:latin typeface="Aptos" pitchFamily="34" charset="0"/>
                          <a:ea typeface="Aptos" pitchFamily="34" charset="-122"/>
                          <a:cs typeface="Aptos" pitchFamily="34" charset="-120"/>
                        </a:rPr>
                        <a:t>1600–2000 px</a:t>
                      </a:r>
                      <a:endParaRPr lang="en-US" sz="14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marL="0" indent="0">
                        <a:buNone/>
                      </a:pPr>
                      <a:r>
                        <a:rPr lang="en-US" sz="1450" dirty="0">
                          <a:solidFill>
                            <a:srgbClr val="000000"/>
                          </a:solidFill>
                          <a:latin typeface="Aptos" pitchFamily="34" charset="0"/>
                          <a:ea typeface="Aptos" pitchFamily="34" charset="-122"/>
                          <a:cs typeface="Aptos" pitchFamily="34" charset="-120"/>
                        </a:rPr>
                        <a:t>under 300 KB</a:t>
                      </a:r>
                      <a:endParaRPr lang="en-US" sz="14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8912">
                <a:tc>
                  <a:txBody>
                    <a:bodyPr/>
                    <a:lstStyle/>
                    <a:p>
                      <a:pPr marL="0" indent="0">
                        <a:buNone/>
                      </a:pPr>
                      <a:r>
                        <a:rPr lang="en-US" sz="1450" b="1" dirty="0">
                          <a:solidFill>
                            <a:srgbClr val="000000"/>
                          </a:solidFill>
                          <a:latin typeface="Aptos" pitchFamily="34" charset="0"/>
                          <a:ea typeface="Aptos" pitchFamily="34" charset="-122"/>
                          <a:cs typeface="Aptos" pitchFamily="34" charset="-120"/>
                        </a:rPr>
                        <a:t>Content photo</a:t>
                      </a:r>
                      <a:endParaRPr lang="en-US" sz="14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marL="0" indent="0">
                        <a:buNone/>
                      </a:pPr>
                      <a:r>
                        <a:rPr lang="en-US" sz="1450" dirty="0">
                          <a:solidFill>
                            <a:srgbClr val="000000"/>
                          </a:solidFill>
                          <a:latin typeface="Aptos" pitchFamily="34" charset="0"/>
                          <a:ea typeface="Aptos" pitchFamily="34" charset="-122"/>
                          <a:cs typeface="Aptos" pitchFamily="34" charset="-120"/>
                        </a:rPr>
                        <a:t>1000–1200 px</a:t>
                      </a:r>
                      <a:endParaRPr lang="en-US" sz="14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marL="0" indent="0">
                        <a:buNone/>
                      </a:pPr>
                      <a:r>
                        <a:rPr lang="en-US" sz="1450" dirty="0">
                          <a:solidFill>
                            <a:srgbClr val="000000"/>
                          </a:solidFill>
                          <a:latin typeface="Aptos" pitchFamily="34" charset="0"/>
                          <a:ea typeface="Aptos" pitchFamily="34" charset="-122"/>
                          <a:cs typeface="Aptos" pitchFamily="34" charset="-120"/>
                        </a:rPr>
                        <a:t>under 150 KB</a:t>
                      </a:r>
                      <a:endParaRPr lang="en-US" sz="14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extLst>
                  <a:ext uri="{0D108BD9-81ED-4DB2-BD59-A6C34878D82A}">
                    <a16:rowId xmlns:a16="http://schemas.microsoft.com/office/drawing/2014/main" val="10002"/>
                  </a:ext>
                </a:extLst>
              </a:tr>
              <a:tr h="438912">
                <a:tc>
                  <a:txBody>
                    <a:bodyPr/>
                    <a:lstStyle/>
                    <a:p>
                      <a:pPr marL="0" indent="0">
                        <a:buNone/>
                      </a:pPr>
                      <a:r>
                        <a:rPr lang="en-US" sz="1450" b="1" dirty="0">
                          <a:solidFill>
                            <a:srgbClr val="000000"/>
                          </a:solidFill>
                          <a:latin typeface="Aptos" pitchFamily="34" charset="0"/>
                          <a:ea typeface="Aptos" pitchFamily="34" charset="-122"/>
                          <a:cs typeface="Aptos" pitchFamily="34" charset="-120"/>
                        </a:rPr>
                        <a:t>Card / thumbnail</a:t>
                      </a:r>
                      <a:endParaRPr lang="en-US" sz="14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marL="0" indent="0">
                        <a:buNone/>
                      </a:pPr>
                      <a:r>
                        <a:rPr lang="en-US" sz="1450" dirty="0">
                          <a:solidFill>
                            <a:srgbClr val="000000"/>
                          </a:solidFill>
                          <a:latin typeface="Aptos" pitchFamily="34" charset="0"/>
                          <a:ea typeface="Aptos" pitchFamily="34" charset="-122"/>
                          <a:cs typeface="Aptos" pitchFamily="34" charset="-120"/>
                        </a:rPr>
                        <a:t>400–600 px</a:t>
                      </a:r>
                      <a:endParaRPr lang="en-US" sz="14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marL="0" indent="0">
                        <a:buNone/>
                      </a:pPr>
                      <a:r>
                        <a:rPr lang="en-US" sz="1450" dirty="0">
                          <a:solidFill>
                            <a:srgbClr val="000000"/>
                          </a:solidFill>
                          <a:latin typeface="Aptos" pitchFamily="34" charset="0"/>
                          <a:ea typeface="Aptos" pitchFamily="34" charset="-122"/>
                          <a:cs typeface="Aptos" pitchFamily="34" charset="-120"/>
                        </a:rPr>
                        <a:t>under 50 KB</a:t>
                      </a:r>
                      <a:endParaRPr lang="en-US" sz="14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38912">
                <a:tc>
                  <a:txBody>
                    <a:bodyPr/>
                    <a:lstStyle/>
                    <a:p>
                      <a:pPr marL="0" indent="0">
                        <a:buNone/>
                      </a:pPr>
                      <a:r>
                        <a:rPr lang="en-US" sz="1450" b="1" dirty="0">
                          <a:solidFill>
                            <a:srgbClr val="000000"/>
                          </a:solidFill>
                          <a:latin typeface="Aptos" pitchFamily="34" charset="0"/>
                          <a:ea typeface="Aptos" pitchFamily="34" charset="-122"/>
                          <a:cs typeface="Aptos" pitchFamily="34" charset="-120"/>
                        </a:rPr>
                        <a:t>Logo / icon</a:t>
                      </a:r>
                      <a:endParaRPr lang="en-US" sz="14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marL="0" indent="0">
                        <a:buNone/>
                      </a:pPr>
                      <a:r>
                        <a:rPr lang="en-US" sz="1450" dirty="0">
                          <a:solidFill>
                            <a:srgbClr val="000000"/>
                          </a:solidFill>
                          <a:latin typeface="Aptos" pitchFamily="34" charset="0"/>
                          <a:ea typeface="Aptos" pitchFamily="34" charset="-122"/>
                          <a:cs typeface="Aptos" pitchFamily="34" charset="-120"/>
                        </a:rPr>
                        <a:t>SVG (any size)</a:t>
                      </a:r>
                      <a:endParaRPr lang="en-US" sz="14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marL="0" indent="0">
                        <a:buNone/>
                      </a:pPr>
                      <a:r>
                        <a:rPr lang="en-US" sz="1450" dirty="0">
                          <a:solidFill>
                            <a:srgbClr val="000000"/>
                          </a:solidFill>
                          <a:latin typeface="Aptos" pitchFamily="34" charset="0"/>
                          <a:ea typeface="Aptos" pitchFamily="34" charset="-122"/>
                          <a:cs typeface="Aptos" pitchFamily="34" charset="-120"/>
                        </a:rPr>
                        <a:t>a few KB</a:t>
                      </a:r>
                      <a:endParaRPr lang="en-US" sz="14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extLst>
                  <a:ext uri="{0D108BD9-81ED-4DB2-BD59-A6C34878D82A}">
                    <a16:rowId xmlns:a16="http://schemas.microsoft.com/office/drawing/2014/main" val="10004"/>
                  </a:ext>
                </a:extLst>
              </a:tr>
            </a:tbl>
          </a:graphicData>
        </a:graphic>
      </p:graphicFrame>
      <p:sp>
        <p:nvSpPr>
          <p:cNvPr id="9" name="Shape 5"/>
          <p:cNvSpPr/>
          <p:nvPr/>
        </p:nvSpPr>
        <p:spPr>
          <a:xfrm>
            <a:off x="4754880" y="5440680"/>
            <a:ext cx="6903720" cy="868680"/>
          </a:xfrm>
          <a:prstGeom prst="roundRect">
            <a:avLst>
              <a:gd name="adj" fmla="val 12632"/>
            </a:avLst>
          </a:prstGeom>
          <a:solidFill>
            <a:srgbClr val="FBE9DF"/>
          </a:solidFill>
          <a:ln w="9525">
            <a:solidFill>
              <a:srgbClr val="F2C6AC"/>
            </a:solidFill>
            <a:prstDash val="solid"/>
          </a:ln>
          <a:effectLst>
            <a:outerShdw blurRad="76200" dist="25400" dir="5400000" algn="bl" rotWithShape="0">
              <a:srgbClr val="000000">
                <a:alpha val="12000"/>
              </a:srgbClr>
            </a:outerShdw>
          </a:effectLst>
        </p:spPr>
        <p:txBody>
          <a:bodyPr/>
          <a:lstStyle/>
          <a:p>
            <a:endParaRPr lang="en-US"/>
          </a:p>
        </p:txBody>
      </p:sp>
      <p:sp>
        <p:nvSpPr>
          <p:cNvPr id="10" name="Text 6"/>
          <p:cNvSpPr txBox="1"/>
          <p:nvPr/>
        </p:nvSpPr>
        <p:spPr>
          <a:xfrm>
            <a:off x="5029200" y="5440680"/>
            <a:ext cx="6355080" cy="868680"/>
          </a:xfrm>
          <a:prstGeom prst="rect">
            <a:avLst/>
          </a:prstGeom>
          <a:noFill/>
          <a:ln/>
        </p:spPr>
        <p:txBody>
          <a:bodyPr wrap="square" lIns="0" tIns="0" rIns="0" bIns="0" rtlCol="0" anchor="ctr"/>
          <a:lstStyle/>
          <a:p>
            <a:pPr marL="0" indent="0">
              <a:buNone/>
            </a:pPr>
            <a:r>
              <a:rPr lang="en-US" sz="1450" b="1" dirty="0">
                <a:solidFill>
                  <a:srgbClr val="262626"/>
                </a:solidFill>
                <a:latin typeface="Aptos" pitchFamily="34" charset="0"/>
                <a:ea typeface="Aptos" pitchFamily="34" charset="-122"/>
                <a:cs typeface="Aptos" pitchFamily="34" charset="-120"/>
              </a:rPr>
              <a:t>Our sample: </a:t>
            </a:r>
            <a:r>
              <a:rPr lang="en-US" sz="1450" dirty="0">
                <a:solidFill>
                  <a:srgbClr val="262626"/>
                </a:solidFill>
                <a:latin typeface="Aptos" pitchFamily="34" charset="0"/>
                <a:ea typeface="Aptos" pitchFamily="34" charset="-122"/>
                <a:cs typeface="Aptos" pitchFamily="34" charset="-120"/>
              </a:rPr>
              <a:t>1118 px wide = 134 KB. Resized to 800 px = 45 KB. Resized to 400 px = 13 KB.</a:t>
            </a:r>
            <a:endParaRPr lang="en-US" sz="14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E1E8EB"/>
        </a:solidFill>
        <a:effectLst/>
      </p:bgPr>
    </p:bg>
    <p:spTree>
      <p:nvGrpSpPr>
        <p:cNvPr id="1" name=""/>
        <p:cNvGrpSpPr/>
        <p:nvPr/>
      </p:nvGrpSpPr>
      <p:grpSpPr>
        <a:xfrm>
          <a:off x="0" y="0"/>
          <a:ext cx="0" cy="0"/>
          <a:chOff x="0" y="0"/>
          <a:chExt cx="0" cy="0"/>
        </a:xfrm>
      </p:grpSpPr>
      <p:sp>
        <p:nvSpPr>
          <p:cNvPr id="2" name="Text 0"/>
          <p:cNvSpPr txBox="1"/>
          <p:nvPr/>
        </p:nvSpPr>
        <p:spPr>
          <a:xfrm>
            <a:off x="685800" y="457200"/>
            <a:ext cx="10789920" cy="640080"/>
          </a:xfrm>
          <a:prstGeom prst="rect">
            <a:avLst/>
          </a:prstGeom>
          <a:noFill/>
          <a:ln/>
        </p:spPr>
        <p:txBody>
          <a:bodyPr wrap="square" lIns="0" tIns="0" rIns="0" bIns="0" rtlCol="0" anchor="ctr"/>
          <a:lstStyle/>
          <a:p>
            <a:pPr marL="0" indent="0">
              <a:buNone/>
            </a:pPr>
            <a:r>
              <a:rPr lang="en-US" sz="2800" dirty="0">
                <a:solidFill>
                  <a:srgbClr val="000000"/>
                </a:solidFill>
                <a:latin typeface="Aptos" pitchFamily="34" charset="0"/>
                <a:ea typeface="Aptos" pitchFamily="34" charset="-122"/>
                <a:cs typeface="Aptos" pitchFamily="34" charset="-120"/>
              </a:rPr>
              <a:t>Lab 4: Resize and Compare (10 min)</a:t>
            </a:r>
            <a:endParaRPr lang="en-US" sz="2800" dirty="0"/>
          </a:p>
        </p:txBody>
      </p:sp>
      <p:sp>
        <p:nvSpPr>
          <p:cNvPr id="4" name="Shape 1"/>
          <p:cNvSpPr/>
          <p:nvPr/>
        </p:nvSpPr>
        <p:spPr>
          <a:xfrm>
            <a:off x="685800" y="1325880"/>
            <a:ext cx="6949440" cy="5029200"/>
          </a:xfrm>
          <a:prstGeom prst="roundRect">
            <a:avLst>
              <a:gd name="adj" fmla="val 2182"/>
            </a:avLst>
          </a:prstGeom>
          <a:solidFill>
            <a:srgbClr val="FFFFFF"/>
          </a:solidFill>
          <a:ln w="9525">
            <a:solidFill>
              <a:srgbClr val="D0D7DB"/>
            </a:solidFill>
            <a:prstDash val="solid"/>
          </a:ln>
          <a:effectLst>
            <a:outerShdw blurRad="76200" dist="25400" dir="5400000" algn="bl" rotWithShape="0">
              <a:srgbClr val="000000">
                <a:alpha val="12000"/>
              </a:srgbClr>
            </a:outerShdw>
          </a:effectLst>
        </p:spPr>
        <p:txBody>
          <a:bodyPr/>
          <a:lstStyle/>
          <a:p>
            <a:endParaRPr lang="en-US"/>
          </a:p>
        </p:txBody>
      </p:sp>
      <p:sp>
        <p:nvSpPr>
          <p:cNvPr id="5" name="Shape 2"/>
          <p:cNvSpPr/>
          <p:nvPr/>
        </p:nvSpPr>
        <p:spPr>
          <a:xfrm>
            <a:off x="960120" y="1600200"/>
            <a:ext cx="420624" cy="420624"/>
          </a:xfrm>
          <a:prstGeom prst="ellipse">
            <a:avLst/>
          </a:prstGeom>
          <a:solidFill>
            <a:srgbClr val="E97132"/>
          </a:solidFill>
          <a:ln w="12700">
            <a:solidFill>
              <a:srgbClr val="E97132"/>
            </a:solidFill>
            <a:prstDash val="solid"/>
          </a:ln>
        </p:spPr>
        <p:txBody>
          <a:bodyPr/>
          <a:lstStyle/>
          <a:p>
            <a:endParaRPr lang="en-US"/>
          </a:p>
        </p:txBody>
      </p:sp>
      <p:sp>
        <p:nvSpPr>
          <p:cNvPr id="6" name="Text 3"/>
          <p:cNvSpPr txBox="1"/>
          <p:nvPr/>
        </p:nvSpPr>
        <p:spPr>
          <a:xfrm>
            <a:off x="960120" y="1600200"/>
            <a:ext cx="420624" cy="420624"/>
          </a:xfrm>
          <a:prstGeom prst="rect">
            <a:avLst/>
          </a:prstGeom>
          <a:noFill/>
          <a:ln/>
        </p:spPr>
        <p:txBody>
          <a:bodyPr wrap="square" lIns="0" tIns="0" rIns="0" bIns="0" rtlCol="0" anchor="ctr"/>
          <a:lstStyle/>
          <a:p>
            <a:pPr marL="0" indent="0" algn="ctr">
              <a:buNone/>
            </a:pPr>
            <a:r>
              <a:rPr lang="en-US" sz="1800" b="1" dirty="0">
                <a:solidFill>
                  <a:srgbClr val="FFFFFF"/>
                </a:solidFill>
                <a:latin typeface="Aptos" pitchFamily="34" charset="0"/>
                <a:ea typeface="Aptos" pitchFamily="34" charset="-122"/>
                <a:cs typeface="Aptos" pitchFamily="34" charset="-120"/>
              </a:rPr>
              <a:t>1</a:t>
            </a:r>
            <a:endParaRPr lang="en-US" sz="1800" dirty="0"/>
          </a:p>
        </p:txBody>
      </p:sp>
      <p:sp>
        <p:nvSpPr>
          <p:cNvPr id="7" name="Text 4"/>
          <p:cNvSpPr txBox="1"/>
          <p:nvPr/>
        </p:nvSpPr>
        <p:spPr>
          <a:xfrm>
            <a:off x="1554480" y="1581912"/>
            <a:ext cx="5852160" cy="320040"/>
          </a:xfrm>
          <a:prstGeom prst="rect">
            <a:avLst/>
          </a:prstGeom>
          <a:noFill/>
          <a:ln/>
        </p:spPr>
        <p:txBody>
          <a:bodyPr wrap="square" lIns="0" tIns="0" rIns="0" bIns="0" rtlCol="0" anchor="ctr"/>
          <a:lstStyle/>
          <a:p>
            <a:pPr marL="0" indent="0">
              <a:buNone/>
            </a:pPr>
            <a:r>
              <a:rPr lang="en-US" sz="1600" b="1" dirty="0">
                <a:solidFill>
                  <a:srgbClr val="000000"/>
                </a:solidFill>
                <a:latin typeface="Aptos" pitchFamily="34" charset="0"/>
                <a:ea typeface="Aptos" pitchFamily="34" charset="-122"/>
                <a:cs typeface="Aptos" pitchFamily="34" charset="-120"/>
              </a:rPr>
              <a:t>Open original.jpg in Pixlr</a:t>
            </a:r>
            <a:endParaRPr lang="en-US" sz="1600" dirty="0"/>
          </a:p>
        </p:txBody>
      </p:sp>
      <p:sp>
        <p:nvSpPr>
          <p:cNvPr id="8" name="Text 5"/>
          <p:cNvSpPr txBox="1"/>
          <p:nvPr/>
        </p:nvSpPr>
        <p:spPr>
          <a:xfrm>
            <a:off x="1554480" y="1901952"/>
            <a:ext cx="5852160" cy="548640"/>
          </a:xfrm>
          <a:prstGeom prst="rect">
            <a:avLst/>
          </a:prstGeom>
          <a:noFill/>
          <a:ln/>
        </p:spPr>
        <p:txBody>
          <a:bodyPr wrap="square" lIns="0" tIns="0" rIns="0" bIns="0" rtlCol="0" anchor="t"/>
          <a:lstStyle/>
          <a:p>
            <a:pPr marL="0" indent="0">
              <a:buNone/>
            </a:pPr>
            <a:r>
              <a:rPr lang="en-US" sz="1350" dirty="0">
                <a:solidFill>
                  <a:srgbClr val="262626"/>
                </a:solidFill>
                <a:latin typeface="Aptos" pitchFamily="34" charset="0"/>
                <a:ea typeface="Aptos" pitchFamily="34" charset="-122"/>
                <a:cs typeface="Aptos" pitchFamily="34" charset="-120"/>
              </a:rPr>
              <a:t>​Start from the original again.</a:t>
            </a:r>
            <a:endParaRPr lang="en-US" sz="1350" dirty="0"/>
          </a:p>
        </p:txBody>
      </p:sp>
      <p:sp>
        <p:nvSpPr>
          <p:cNvPr id="9" name="Shape 6"/>
          <p:cNvSpPr/>
          <p:nvPr/>
        </p:nvSpPr>
        <p:spPr>
          <a:xfrm>
            <a:off x="960120" y="2496312"/>
            <a:ext cx="420624" cy="420624"/>
          </a:xfrm>
          <a:prstGeom prst="ellipse">
            <a:avLst/>
          </a:prstGeom>
          <a:solidFill>
            <a:srgbClr val="E97132"/>
          </a:solidFill>
          <a:ln w="12700">
            <a:solidFill>
              <a:srgbClr val="E97132"/>
            </a:solidFill>
            <a:prstDash val="solid"/>
          </a:ln>
        </p:spPr>
        <p:txBody>
          <a:bodyPr/>
          <a:lstStyle/>
          <a:p>
            <a:endParaRPr lang="en-US"/>
          </a:p>
        </p:txBody>
      </p:sp>
      <p:sp>
        <p:nvSpPr>
          <p:cNvPr id="10" name="Text 7"/>
          <p:cNvSpPr txBox="1"/>
          <p:nvPr/>
        </p:nvSpPr>
        <p:spPr>
          <a:xfrm>
            <a:off x="960120" y="2496312"/>
            <a:ext cx="420624" cy="420624"/>
          </a:xfrm>
          <a:prstGeom prst="rect">
            <a:avLst/>
          </a:prstGeom>
          <a:noFill/>
          <a:ln/>
        </p:spPr>
        <p:txBody>
          <a:bodyPr wrap="square" lIns="0" tIns="0" rIns="0" bIns="0" rtlCol="0" anchor="ctr"/>
          <a:lstStyle/>
          <a:p>
            <a:pPr marL="0" indent="0" algn="ctr">
              <a:buNone/>
            </a:pPr>
            <a:r>
              <a:rPr lang="en-US" sz="1800" b="1" dirty="0">
                <a:solidFill>
                  <a:srgbClr val="FFFFFF"/>
                </a:solidFill>
                <a:latin typeface="Aptos" pitchFamily="34" charset="0"/>
                <a:ea typeface="Aptos" pitchFamily="34" charset="-122"/>
                <a:cs typeface="Aptos" pitchFamily="34" charset="-120"/>
              </a:rPr>
              <a:t>2</a:t>
            </a:r>
            <a:endParaRPr lang="en-US" sz="1800" dirty="0"/>
          </a:p>
        </p:txBody>
      </p:sp>
      <p:sp>
        <p:nvSpPr>
          <p:cNvPr id="11" name="Text 8"/>
          <p:cNvSpPr txBox="1"/>
          <p:nvPr/>
        </p:nvSpPr>
        <p:spPr>
          <a:xfrm>
            <a:off x="1554480" y="2478024"/>
            <a:ext cx="5852160" cy="320040"/>
          </a:xfrm>
          <a:prstGeom prst="rect">
            <a:avLst/>
          </a:prstGeom>
          <a:noFill/>
          <a:ln/>
        </p:spPr>
        <p:txBody>
          <a:bodyPr wrap="square" lIns="0" tIns="0" rIns="0" bIns="0" rtlCol="0" anchor="ctr"/>
          <a:lstStyle/>
          <a:p>
            <a:pPr marL="0" indent="0">
              <a:buNone/>
            </a:pPr>
            <a:r>
              <a:rPr lang="en-US" sz="1600" b="1" dirty="0">
                <a:solidFill>
                  <a:srgbClr val="000000"/>
                </a:solidFill>
                <a:latin typeface="Aptos" pitchFamily="34" charset="0"/>
                <a:ea typeface="Aptos" pitchFamily="34" charset="-122"/>
                <a:cs typeface="Aptos" pitchFamily="34" charset="-120"/>
              </a:rPr>
              <a:t>Resize to 2000 px wide</a:t>
            </a:r>
            <a:endParaRPr lang="en-US" sz="1600" dirty="0"/>
          </a:p>
        </p:txBody>
      </p:sp>
      <p:sp>
        <p:nvSpPr>
          <p:cNvPr id="12" name="Text 9"/>
          <p:cNvSpPr txBox="1"/>
          <p:nvPr/>
        </p:nvSpPr>
        <p:spPr>
          <a:xfrm>
            <a:off x="1554480" y="2798064"/>
            <a:ext cx="5852160" cy="548640"/>
          </a:xfrm>
          <a:prstGeom prst="rect">
            <a:avLst/>
          </a:prstGeom>
          <a:noFill/>
          <a:ln/>
        </p:spPr>
        <p:txBody>
          <a:bodyPr wrap="square" lIns="0" tIns="0" rIns="0" bIns="0" rtlCol="0" anchor="t"/>
          <a:lstStyle/>
          <a:p>
            <a:pPr marL="0" indent="0">
              <a:buNone/>
            </a:pPr>
            <a:r>
              <a:rPr lang="en-US" sz="1350" dirty="0">
                <a:solidFill>
                  <a:srgbClr val="262626"/>
                </a:solidFill>
                <a:latin typeface="Aptos" pitchFamily="34" charset="0"/>
                <a:ea typeface="Aptos" pitchFamily="34" charset="-122"/>
                <a:cs typeface="Aptos" pitchFamily="34" charset="-120"/>
              </a:rPr>
              <a:t>​Find </a:t>
            </a:r>
            <a:r>
              <a:rPr lang="en-US" sz="1350" b="1" dirty="0">
                <a:solidFill>
                  <a:srgbClr val="262626"/>
                </a:solidFill>
                <a:latin typeface="Aptos" pitchFamily="34" charset="0"/>
                <a:ea typeface="Aptos" pitchFamily="34" charset="-122"/>
                <a:cs typeface="Aptos" pitchFamily="34" charset="-120"/>
              </a:rPr>
              <a:t>Resize</a:t>
            </a:r>
            <a:r>
              <a:rPr lang="en-US" sz="1350" dirty="0">
                <a:solidFill>
                  <a:srgbClr val="262626"/>
                </a:solidFill>
                <a:latin typeface="Aptos" pitchFamily="34" charset="0"/>
                <a:ea typeface="Aptos" pitchFamily="34" charset="-122"/>
                <a:cs typeface="Aptos" pitchFamily="34" charset="-120"/>
              </a:rPr>
              <a:t> (Pixlr Editor: the Page menu, or set the size in the Save dialog). Keep </a:t>
            </a:r>
            <a:r>
              <a:rPr lang="en-US" sz="1350" b="1" dirty="0">
                <a:solidFill>
                  <a:srgbClr val="262626"/>
                </a:solidFill>
                <a:latin typeface="Aptos" pitchFamily="34" charset="0"/>
                <a:ea typeface="Aptos" pitchFamily="34" charset="-122"/>
                <a:cs typeface="Aptos" pitchFamily="34" charset="-120"/>
              </a:rPr>
              <a:t>proportions locked</a:t>
            </a:r>
            <a:r>
              <a:rPr lang="en-US" sz="1350" dirty="0">
                <a:solidFill>
                  <a:srgbClr val="262626"/>
                </a:solidFill>
                <a:latin typeface="Aptos" pitchFamily="34" charset="0"/>
                <a:ea typeface="Aptos" pitchFamily="34" charset="-122"/>
                <a:cs typeface="Aptos" pitchFamily="34" charset="-120"/>
              </a:rPr>
              <a:t>. Save as JPG q80: </a:t>
            </a:r>
            <a:r>
              <a:rPr lang="en-US" sz="1350" dirty="0">
                <a:solidFill>
                  <a:srgbClr val="8A2B0B"/>
                </a:solidFill>
                <a:latin typeface="Consolas" pitchFamily="34" charset="0"/>
                <a:ea typeface="Consolas" pitchFamily="34" charset="-122"/>
                <a:cs typeface="Consolas" pitchFamily="34" charset="-120"/>
              </a:rPr>
              <a:t>photo_2000.jpg</a:t>
            </a:r>
            <a:r>
              <a:rPr lang="en-US" sz="1350" dirty="0">
                <a:solidFill>
                  <a:srgbClr val="262626"/>
                </a:solidFill>
                <a:latin typeface="Aptos" pitchFamily="34" charset="0"/>
                <a:ea typeface="Aptos" pitchFamily="34" charset="-122"/>
                <a:cs typeface="Aptos" pitchFamily="34" charset="-120"/>
              </a:rPr>
              <a:t>.</a:t>
            </a:r>
            <a:endParaRPr lang="en-US" sz="1350" dirty="0"/>
          </a:p>
        </p:txBody>
      </p:sp>
      <p:sp>
        <p:nvSpPr>
          <p:cNvPr id="13" name="Shape 10"/>
          <p:cNvSpPr/>
          <p:nvPr/>
        </p:nvSpPr>
        <p:spPr>
          <a:xfrm>
            <a:off x="960120" y="3392424"/>
            <a:ext cx="420624" cy="420624"/>
          </a:xfrm>
          <a:prstGeom prst="ellipse">
            <a:avLst/>
          </a:prstGeom>
          <a:solidFill>
            <a:srgbClr val="E97132"/>
          </a:solidFill>
          <a:ln w="12700">
            <a:solidFill>
              <a:srgbClr val="E97132"/>
            </a:solidFill>
            <a:prstDash val="solid"/>
          </a:ln>
        </p:spPr>
        <p:txBody>
          <a:bodyPr/>
          <a:lstStyle/>
          <a:p>
            <a:endParaRPr lang="en-US"/>
          </a:p>
        </p:txBody>
      </p:sp>
      <p:sp>
        <p:nvSpPr>
          <p:cNvPr id="14" name="Text 11"/>
          <p:cNvSpPr txBox="1"/>
          <p:nvPr/>
        </p:nvSpPr>
        <p:spPr>
          <a:xfrm>
            <a:off x="960120" y="3392424"/>
            <a:ext cx="420624" cy="420624"/>
          </a:xfrm>
          <a:prstGeom prst="rect">
            <a:avLst/>
          </a:prstGeom>
          <a:noFill/>
          <a:ln/>
        </p:spPr>
        <p:txBody>
          <a:bodyPr wrap="square" lIns="0" tIns="0" rIns="0" bIns="0" rtlCol="0" anchor="ctr"/>
          <a:lstStyle/>
          <a:p>
            <a:pPr marL="0" indent="0" algn="ctr">
              <a:buNone/>
            </a:pPr>
            <a:r>
              <a:rPr lang="en-US" sz="1800" b="1" dirty="0">
                <a:solidFill>
                  <a:srgbClr val="FFFFFF"/>
                </a:solidFill>
                <a:latin typeface="Aptos" pitchFamily="34" charset="0"/>
                <a:ea typeface="Aptos" pitchFamily="34" charset="-122"/>
                <a:cs typeface="Aptos" pitchFamily="34" charset="-120"/>
              </a:rPr>
              <a:t>3</a:t>
            </a:r>
            <a:endParaRPr lang="en-US" sz="1800" dirty="0"/>
          </a:p>
        </p:txBody>
      </p:sp>
      <p:sp>
        <p:nvSpPr>
          <p:cNvPr id="15" name="Text 12"/>
          <p:cNvSpPr txBox="1"/>
          <p:nvPr/>
        </p:nvSpPr>
        <p:spPr>
          <a:xfrm>
            <a:off x="1554480" y="3374136"/>
            <a:ext cx="5852160" cy="320040"/>
          </a:xfrm>
          <a:prstGeom prst="rect">
            <a:avLst/>
          </a:prstGeom>
          <a:noFill/>
          <a:ln/>
        </p:spPr>
        <p:txBody>
          <a:bodyPr wrap="square" lIns="0" tIns="0" rIns="0" bIns="0" rtlCol="0" anchor="ctr"/>
          <a:lstStyle/>
          <a:p>
            <a:pPr marL="0" indent="0">
              <a:buNone/>
            </a:pPr>
            <a:r>
              <a:rPr lang="en-US" sz="1600" b="1" dirty="0">
                <a:solidFill>
                  <a:srgbClr val="000000"/>
                </a:solidFill>
                <a:latin typeface="Aptos" pitchFamily="34" charset="0"/>
                <a:ea typeface="Aptos" pitchFamily="34" charset="-122"/>
                <a:cs typeface="Aptos" pitchFamily="34" charset="-120"/>
              </a:rPr>
              <a:t>Repeat at 1200 px and 600 px</a:t>
            </a:r>
            <a:endParaRPr lang="en-US" sz="1600" dirty="0"/>
          </a:p>
        </p:txBody>
      </p:sp>
      <p:sp>
        <p:nvSpPr>
          <p:cNvPr id="16" name="Text 13"/>
          <p:cNvSpPr txBox="1"/>
          <p:nvPr/>
        </p:nvSpPr>
        <p:spPr>
          <a:xfrm>
            <a:off x="1554480" y="3694176"/>
            <a:ext cx="5852160" cy="548640"/>
          </a:xfrm>
          <a:prstGeom prst="rect">
            <a:avLst/>
          </a:prstGeom>
          <a:noFill/>
          <a:ln/>
        </p:spPr>
        <p:txBody>
          <a:bodyPr wrap="square" lIns="0" tIns="0" rIns="0" bIns="0" rtlCol="0" anchor="t"/>
          <a:lstStyle/>
          <a:p>
            <a:pPr marL="0" indent="0">
              <a:buNone/>
            </a:pPr>
            <a:r>
              <a:rPr lang="en-US" sz="1350" dirty="0">
                <a:solidFill>
                  <a:srgbClr val="262626"/>
                </a:solidFill>
                <a:latin typeface="Aptos" pitchFamily="34" charset="0"/>
                <a:ea typeface="Aptos" pitchFamily="34" charset="-122"/>
                <a:cs typeface="Aptos" pitchFamily="34" charset="-120"/>
              </a:rPr>
              <a:t>​Start from the original each time: </a:t>
            </a:r>
            <a:r>
              <a:rPr lang="en-US" sz="1350" dirty="0">
                <a:solidFill>
                  <a:srgbClr val="8A2B0B"/>
                </a:solidFill>
                <a:latin typeface="Consolas" pitchFamily="34" charset="0"/>
                <a:ea typeface="Consolas" pitchFamily="34" charset="-122"/>
                <a:cs typeface="Consolas" pitchFamily="34" charset="-120"/>
              </a:rPr>
              <a:t>photo_1200.jpg</a:t>
            </a:r>
            <a:r>
              <a:rPr lang="en-US" sz="1350" dirty="0">
                <a:solidFill>
                  <a:srgbClr val="262626"/>
                </a:solidFill>
                <a:latin typeface="Aptos" pitchFamily="34" charset="0"/>
                <a:ea typeface="Aptos" pitchFamily="34" charset="-122"/>
                <a:cs typeface="Aptos" pitchFamily="34" charset="-120"/>
              </a:rPr>
              <a:t>, </a:t>
            </a:r>
            <a:r>
              <a:rPr lang="en-US" sz="1350" dirty="0">
                <a:solidFill>
                  <a:srgbClr val="8A2B0B"/>
                </a:solidFill>
                <a:latin typeface="Consolas" pitchFamily="34" charset="0"/>
                <a:ea typeface="Consolas" pitchFamily="34" charset="-122"/>
                <a:cs typeface="Consolas" pitchFamily="34" charset="-120"/>
              </a:rPr>
              <a:t>photo_600.jpg</a:t>
            </a:r>
            <a:r>
              <a:rPr lang="en-US" sz="1350" dirty="0">
                <a:solidFill>
                  <a:srgbClr val="262626"/>
                </a:solidFill>
                <a:latin typeface="Aptos" pitchFamily="34" charset="0"/>
                <a:ea typeface="Aptos" pitchFamily="34" charset="-122"/>
                <a:cs typeface="Aptos" pitchFamily="34" charset="-120"/>
              </a:rPr>
              <a:t>.</a:t>
            </a:r>
            <a:endParaRPr lang="en-US" sz="1350" dirty="0"/>
          </a:p>
        </p:txBody>
      </p:sp>
      <p:sp>
        <p:nvSpPr>
          <p:cNvPr id="17" name="Shape 14"/>
          <p:cNvSpPr/>
          <p:nvPr/>
        </p:nvSpPr>
        <p:spPr>
          <a:xfrm>
            <a:off x="960120" y="4288536"/>
            <a:ext cx="420624" cy="420624"/>
          </a:xfrm>
          <a:prstGeom prst="ellipse">
            <a:avLst/>
          </a:prstGeom>
          <a:solidFill>
            <a:srgbClr val="E97132"/>
          </a:solidFill>
          <a:ln w="12700">
            <a:solidFill>
              <a:srgbClr val="E97132"/>
            </a:solidFill>
            <a:prstDash val="solid"/>
          </a:ln>
        </p:spPr>
        <p:txBody>
          <a:bodyPr/>
          <a:lstStyle/>
          <a:p>
            <a:endParaRPr lang="en-US"/>
          </a:p>
        </p:txBody>
      </p:sp>
      <p:sp>
        <p:nvSpPr>
          <p:cNvPr id="18" name="Text 15"/>
          <p:cNvSpPr txBox="1"/>
          <p:nvPr/>
        </p:nvSpPr>
        <p:spPr>
          <a:xfrm>
            <a:off x="960120" y="4288536"/>
            <a:ext cx="420624" cy="420624"/>
          </a:xfrm>
          <a:prstGeom prst="rect">
            <a:avLst/>
          </a:prstGeom>
          <a:noFill/>
          <a:ln/>
        </p:spPr>
        <p:txBody>
          <a:bodyPr wrap="square" lIns="0" tIns="0" rIns="0" bIns="0" rtlCol="0" anchor="ctr"/>
          <a:lstStyle/>
          <a:p>
            <a:pPr marL="0" indent="0" algn="ctr">
              <a:buNone/>
            </a:pPr>
            <a:r>
              <a:rPr lang="en-US" sz="1800" b="1" dirty="0">
                <a:solidFill>
                  <a:srgbClr val="FFFFFF"/>
                </a:solidFill>
                <a:latin typeface="Aptos" pitchFamily="34" charset="0"/>
                <a:ea typeface="Aptos" pitchFamily="34" charset="-122"/>
                <a:cs typeface="Aptos" pitchFamily="34" charset="-120"/>
              </a:rPr>
              <a:t>4</a:t>
            </a:r>
            <a:endParaRPr lang="en-US" sz="1800" dirty="0"/>
          </a:p>
        </p:txBody>
      </p:sp>
      <p:sp>
        <p:nvSpPr>
          <p:cNvPr id="19" name="Text 16"/>
          <p:cNvSpPr txBox="1"/>
          <p:nvPr/>
        </p:nvSpPr>
        <p:spPr>
          <a:xfrm>
            <a:off x="1554480" y="4270248"/>
            <a:ext cx="5852160" cy="320040"/>
          </a:xfrm>
          <a:prstGeom prst="rect">
            <a:avLst/>
          </a:prstGeom>
          <a:noFill/>
          <a:ln/>
        </p:spPr>
        <p:txBody>
          <a:bodyPr wrap="square" lIns="0" tIns="0" rIns="0" bIns="0" rtlCol="0" anchor="ctr"/>
          <a:lstStyle/>
          <a:p>
            <a:pPr marL="0" indent="0">
              <a:buNone/>
            </a:pPr>
            <a:r>
              <a:rPr lang="en-US" sz="1600" b="1" dirty="0">
                <a:solidFill>
                  <a:srgbClr val="000000"/>
                </a:solidFill>
                <a:latin typeface="Aptos" pitchFamily="34" charset="0"/>
                <a:ea typeface="Aptos" pitchFamily="34" charset="-122"/>
                <a:cs typeface="Aptos" pitchFamily="34" charset="-120"/>
              </a:rPr>
              <a:t>Compare in File Explorer</a:t>
            </a:r>
            <a:endParaRPr lang="en-US" sz="1600" dirty="0"/>
          </a:p>
        </p:txBody>
      </p:sp>
      <p:sp>
        <p:nvSpPr>
          <p:cNvPr id="20" name="Text 17"/>
          <p:cNvSpPr txBox="1"/>
          <p:nvPr/>
        </p:nvSpPr>
        <p:spPr>
          <a:xfrm>
            <a:off x="1554480" y="4590288"/>
            <a:ext cx="5852160" cy="548640"/>
          </a:xfrm>
          <a:prstGeom prst="rect">
            <a:avLst/>
          </a:prstGeom>
          <a:noFill/>
          <a:ln/>
        </p:spPr>
        <p:txBody>
          <a:bodyPr wrap="square" lIns="0" tIns="0" rIns="0" bIns="0" rtlCol="0" anchor="t"/>
          <a:lstStyle/>
          <a:p>
            <a:pPr marL="0" indent="0">
              <a:buNone/>
            </a:pPr>
            <a:r>
              <a:rPr lang="en-US" sz="1350" dirty="0">
                <a:solidFill>
                  <a:srgbClr val="262626"/>
                </a:solidFill>
                <a:latin typeface="Aptos" pitchFamily="34" charset="0"/>
                <a:ea typeface="Aptos" pitchFamily="34" charset="-122"/>
                <a:cs typeface="Aptos" pitchFamily="34" charset="-120"/>
              </a:rPr>
              <a:t>​Check the Dimensions and Size columns. Fill in the table.</a:t>
            </a:r>
            <a:endParaRPr lang="en-US" sz="1350" dirty="0"/>
          </a:p>
        </p:txBody>
      </p:sp>
      <p:sp>
        <p:nvSpPr>
          <p:cNvPr id="21" name="Shape 18"/>
          <p:cNvSpPr/>
          <p:nvPr/>
        </p:nvSpPr>
        <p:spPr>
          <a:xfrm>
            <a:off x="960120" y="5184648"/>
            <a:ext cx="420624" cy="420624"/>
          </a:xfrm>
          <a:prstGeom prst="ellipse">
            <a:avLst/>
          </a:prstGeom>
          <a:solidFill>
            <a:srgbClr val="E97132"/>
          </a:solidFill>
          <a:ln w="12700">
            <a:solidFill>
              <a:srgbClr val="E97132"/>
            </a:solidFill>
            <a:prstDash val="solid"/>
          </a:ln>
        </p:spPr>
        <p:txBody>
          <a:bodyPr/>
          <a:lstStyle/>
          <a:p>
            <a:endParaRPr lang="en-US"/>
          </a:p>
        </p:txBody>
      </p:sp>
      <p:sp>
        <p:nvSpPr>
          <p:cNvPr id="22" name="Text 19"/>
          <p:cNvSpPr txBox="1"/>
          <p:nvPr/>
        </p:nvSpPr>
        <p:spPr>
          <a:xfrm>
            <a:off x="960120" y="5184648"/>
            <a:ext cx="420624" cy="420624"/>
          </a:xfrm>
          <a:prstGeom prst="rect">
            <a:avLst/>
          </a:prstGeom>
          <a:noFill/>
          <a:ln/>
        </p:spPr>
        <p:txBody>
          <a:bodyPr wrap="square" lIns="0" tIns="0" rIns="0" bIns="0" rtlCol="0" anchor="ctr"/>
          <a:lstStyle/>
          <a:p>
            <a:pPr marL="0" indent="0" algn="ctr">
              <a:buNone/>
            </a:pPr>
            <a:r>
              <a:rPr lang="en-US" sz="1800" b="1" dirty="0">
                <a:solidFill>
                  <a:srgbClr val="FFFFFF"/>
                </a:solidFill>
                <a:latin typeface="Aptos" pitchFamily="34" charset="0"/>
                <a:ea typeface="Aptos" pitchFamily="34" charset="-122"/>
                <a:cs typeface="Aptos" pitchFamily="34" charset="-120"/>
              </a:rPr>
              <a:t>5</a:t>
            </a:r>
            <a:endParaRPr lang="en-US" sz="1800" dirty="0"/>
          </a:p>
        </p:txBody>
      </p:sp>
      <p:sp>
        <p:nvSpPr>
          <p:cNvPr id="23" name="Text 20"/>
          <p:cNvSpPr txBox="1"/>
          <p:nvPr/>
        </p:nvSpPr>
        <p:spPr>
          <a:xfrm>
            <a:off x="1554480" y="5166360"/>
            <a:ext cx="5852160" cy="320040"/>
          </a:xfrm>
          <a:prstGeom prst="rect">
            <a:avLst/>
          </a:prstGeom>
          <a:noFill/>
          <a:ln/>
        </p:spPr>
        <p:txBody>
          <a:bodyPr wrap="square" lIns="0" tIns="0" rIns="0" bIns="0" rtlCol="0" anchor="ctr"/>
          <a:lstStyle/>
          <a:p>
            <a:pPr marL="0" indent="0">
              <a:buNone/>
            </a:pPr>
            <a:r>
              <a:rPr lang="en-US" sz="1600" b="1" dirty="0">
                <a:solidFill>
                  <a:srgbClr val="000000"/>
                </a:solidFill>
                <a:latin typeface="Aptos" pitchFamily="34" charset="0"/>
                <a:ea typeface="Aptos" pitchFamily="34" charset="-122"/>
                <a:cs typeface="Aptos" pitchFamily="34" charset="-120"/>
              </a:rPr>
              <a:t>Open original.jpg and photo_1200.jpg</a:t>
            </a:r>
            <a:endParaRPr lang="en-US" sz="1600" dirty="0"/>
          </a:p>
        </p:txBody>
      </p:sp>
      <p:sp>
        <p:nvSpPr>
          <p:cNvPr id="24" name="Text 21"/>
          <p:cNvSpPr txBox="1"/>
          <p:nvPr/>
        </p:nvSpPr>
        <p:spPr>
          <a:xfrm>
            <a:off x="1554480" y="5486400"/>
            <a:ext cx="5852160" cy="548640"/>
          </a:xfrm>
          <a:prstGeom prst="rect">
            <a:avLst/>
          </a:prstGeom>
          <a:noFill/>
          <a:ln/>
        </p:spPr>
        <p:txBody>
          <a:bodyPr wrap="square" lIns="0" tIns="0" rIns="0" bIns="0" rtlCol="0" anchor="t"/>
          <a:lstStyle/>
          <a:p>
            <a:pPr marL="0" indent="0">
              <a:buNone/>
            </a:pPr>
            <a:r>
              <a:rPr lang="en-US" sz="1350" dirty="0">
                <a:solidFill>
                  <a:srgbClr val="262626"/>
                </a:solidFill>
                <a:latin typeface="Aptos" pitchFamily="34" charset="0"/>
                <a:ea typeface="Aptos" pitchFamily="34" charset="-122"/>
                <a:cs typeface="Aptos" pitchFamily="34" charset="-120"/>
              </a:rPr>
              <a:t>​Fit both to your screen. Can you tell them apart?</a:t>
            </a:r>
            <a:endParaRPr lang="en-US" sz="1350" dirty="0"/>
          </a:p>
        </p:txBody>
      </p:sp>
      <p:sp>
        <p:nvSpPr>
          <p:cNvPr id="25" name="Shape 22"/>
          <p:cNvSpPr/>
          <p:nvPr/>
        </p:nvSpPr>
        <p:spPr>
          <a:xfrm>
            <a:off x="8001000" y="1325880"/>
            <a:ext cx="3520440" cy="5029200"/>
          </a:xfrm>
          <a:prstGeom prst="roundRect">
            <a:avLst>
              <a:gd name="adj" fmla="val 3117"/>
            </a:avLst>
          </a:prstGeom>
          <a:solidFill>
            <a:srgbClr val="262626"/>
          </a:solidFill>
          <a:ln w="9525">
            <a:solidFill>
              <a:srgbClr val="262626"/>
            </a:solidFill>
            <a:prstDash val="solid"/>
          </a:ln>
          <a:effectLst>
            <a:outerShdw blurRad="76200" dist="25400" dir="5400000" algn="bl" rotWithShape="0">
              <a:srgbClr val="000000">
                <a:alpha val="12000"/>
              </a:srgbClr>
            </a:outerShdw>
          </a:effectLst>
        </p:spPr>
        <p:txBody>
          <a:bodyPr/>
          <a:lstStyle/>
          <a:p>
            <a:endParaRPr lang="en-US"/>
          </a:p>
        </p:txBody>
      </p:sp>
      <p:sp>
        <p:nvSpPr>
          <p:cNvPr id="26" name="Text 23"/>
          <p:cNvSpPr txBox="1"/>
          <p:nvPr/>
        </p:nvSpPr>
        <p:spPr>
          <a:xfrm>
            <a:off x="8229600" y="1554480"/>
            <a:ext cx="3108960" cy="411480"/>
          </a:xfrm>
          <a:prstGeom prst="rect">
            <a:avLst/>
          </a:prstGeom>
          <a:noFill/>
          <a:ln/>
        </p:spPr>
        <p:txBody>
          <a:bodyPr wrap="square" lIns="0" tIns="0" rIns="0" bIns="0" rtlCol="0" anchor="ctr"/>
          <a:lstStyle/>
          <a:p>
            <a:pPr marL="0" indent="0">
              <a:buNone/>
            </a:pPr>
            <a:r>
              <a:rPr lang="en-US" sz="1800" b="1" dirty="0">
                <a:solidFill>
                  <a:srgbClr val="FFFFFF"/>
                </a:solidFill>
                <a:latin typeface="Aptos" pitchFamily="34" charset="0"/>
                <a:ea typeface="Aptos" pitchFamily="34" charset="-122"/>
                <a:cs typeface="Aptos" pitchFamily="34" charset="-120"/>
              </a:rPr>
              <a:t>Questions</a:t>
            </a:r>
            <a:endParaRPr lang="en-US" sz="1800" dirty="0"/>
          </a:p>
        </p:txBody>
      </p:sp>
      <p:sp>
        <p:nvSpPr>
          <p:cNvPr id="27" name="Text 24"/>
          <p:cNvSpPr txBox="1"/>
          <p:nvPr/>
        </p:nvSpPr>
        <p:spPr>
          <a:xfrm>
            <a:off x="8229600" y="2057400"/>
            <a:ext cx="3108960" cy="4114800"/>
          </a:xfrm>
          <a:prstGeom prst="rect">
            <a:avLst/>
          </a:prstGeom>
          <a:noFill/>
          <a:ln/>
        </p:spPr>
        <p:txBody>
          <a:bodyPr wrap="square" lIns="0" tIns="0" rIns="0" bIns="0" rtlCol="0" anchor="t"/>
          <a:lstStyle/>
          <a:p>
            <a:pPr marL="342900" indent="-342900">
              <a:buSzPct val="100000"/>
              <a:buChar char="•"/>
            </a:pPr>
            <a:r>
              <a:rPr lang="en-US" sz="1350" dirty="0">
                <a:solidFill>
                  <a:srgbClr val="D9D9D9"/>
                </a:solidFill>
                <a:latin typeface="Aptos" pitchFamily="34" charset="0"/>
                <a:ea typeface="Aptos" pitchFamily="34" charset="-122"/>
                <a:cs typeface="Aptos" pitchFamily="34" charset="-120"/>
              </a:rPr>
              <a:t>How much smaller is photo_1200 than the original?</a:t>
            </a:r>
            <a:endParaRPr lang="en-US" sz="1350" dirty="0"/>
          </a:p>
          <a:p>
            <a:pPr marL="342900" indent="-342900">
              <a:spcBef>
                <a:spcPts val="700"/>
              </a:spcBef>
              <a:buSzPct val="100000"/>
              <a:buChar char="•"/>
            </a:pPr>
            <a:r>
              <a:rPr lang="en-US" sz="1350" dirty="0">
                <a:solidFill>
                  <a:srgbClr val="D9D9D9"/>
                </a:solidFill>
                <a:latin typeface="Aptos" pitchFamily="34" charset="0"/>
                <a:ea typeface="Aptos" pitchFamily="34" charset="-122"/>
                <a:cs typeface="Aptos" pitchFamily="34" charset="-120"/>
              </a:rPr>
              <a:t>Halving the width: did the size drop by about ½ or ¼?</a:t>
            </a:r>
            <a:endParaRPr lang="en-US" sz="1350" dirty="0"/>
          </a:p>
          <a:p>
            <a:pPr marL="342900" indent="-342900">
              <a:spcBef>
                <a:spcPts val="700"/>
              </a:spcBef>
              <a:buSzPct val="100000"/>
              <a:buChar char="•"/>
            </a:pPr>
            <a:r>
              <a:rPr lang="en-US" sz="1350" dirty="0">
                <a:solidFill>
                  <a:srgbClr val="D9D9D9"/>
                </a:solidFill>
                <a:latin typeface="Aptos" pitchFamily="34" charset="0"/>
                <a:ea typeface="Aptos" pitchFamily="34" charset="-122"/>
                <a:cs typeface="Aptos" pitchFamily="34" charset="-120"/>
              </a:rPr>
              <a:t>Which size would you use for a content photo on a page?</a:t>
            </a:r>
            <a:endParaRPr lang="en-US" sz="1350" dirty="0"/>
          </a:p>
          <a:p>
            <a:pPr marL="0" indent="0">
              <a:spcBef>
                <a:spcPts val="700"/>
              </a:spcBef>
              <a:buNone/>
            </a:pPr>
            <a:endParaRPr lang="en-US" sz="1350" dirty="0"/>
          </a:p>
          <a:p>
            <a:pPr marL="0" indent="0">
              <a:spcBef>
                <a:spcPts val="700"/>
              </a:spcBef>
              <a:buNone/>
            </a:pPr>
            <a:r>
              <a:rPr lang="en-US" sz="1350" b="1" dirty="0">
                <a:solidFill>
                  <a:srgbClr val="F2C6AC"/>
                </a:solidFill>
                <a:latin typeface="Aptos" pitchFamily="34" charset="0"/>
                <a:ea typeface="Aptos" pitchFamily="34" charset="-122"/>
                <a:cs typeface="Aptos" pitchFamily="34" charset="-120"/>
              </a:rPr>
              <a:t>Watch out</a:t>
            </a:r>
            <a:endParaRPr lang="en-US" sz="1350" dirty="0"/>
          </a:p>
          <a:p>
            <a:pPr marL="342900" indent="-342900">
              <a:spcBef>
                <a:spcPts val="700"/>
              </a:spcBef>
              <a:buSzPct val="100000"/>
              <a:buChar char="•"/>
            </a:pPr>
            <a:r>
              <a:rPr lang="en-US" sz="1350" dirty="0">
                <a:solidFill>
                  <a:srgbClr val="D9D9D9"/>
                </a:solidFill>
                <a:latin typeface="Aptos" pitchFamily="34" charset="0"/>
                <a:ea typeface="Aptos" pitchFamily="34" charset="-122"/>
                <a:cs typeface="Aptos" pitchFamily="34" charset="-120"/>
              </a:rPr>
              <a:t>Never make a small image bigger. You can't add pixels that aren't there. It just goes blurry.</a:t>
            </a:r>
            <a:endParaRPr lang="en-US" sz="13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E1E8EB"/>
        </a:solidFill>
        <a:effectLst/>
      </p:bgPr>
    </p:bg>
    <p:spTree>
      <p:nvGrpSpPr>
        <p:cNvPr id="1" name=""/>
        <p:cNvGrpSpPr/>
        <p:nvPr/>
      </p:nvGrpSpPr>
      <p:grpSpPr>
        <a:xfrm>
          <a:off x="0" y="0"/>
          <a:ext cx="0" cy="0"/>
          <a:chOff x="0" y="0"/>
          <a:chExt cx="0" cy="0"/>
        </a:xfrm>
      </p:grpSpPr>
      <p:sp>
        <p:nvSpPr>
          <p:cNvPr id="2" name="Text 0"/>
          <p:cNvSpPr txBox="1"/>
          <p:nvPr/>
        </p:nvSpPr>
        <p:spPr>
          <a:xfrm>
            <a:off x="685800" y="457200"/>
            <a:ext cx="10789920" cy="640080"/>
          </a:xfrm>
          <a:prstGeom prst="rect">
            <a:avLst/>
          </a:prstGeom>
          <a:noFill/>
          <a:ln/>
        </p:spPr>
        <p:txBody>
          <a:bodyPr wrap="square" lIns="0" tIns="0" rIns="0" bIns="0" rtlCol="0" anchor="ctr"/>
          <a:lstStyle/>
          <a:p>
            <a:pPr marL="0" indent="0">
              <a:buNone/>
            </a:pPr>
            <a:r>
              <a:rPr lang="en-US" sz="2800" dirty="0">
                <a:solidFill>
                  <a:srgbClr val="000000"/>
                </a:solidFill>
                <a:latin typeface="Aptos" pitchFamily="34" charset="0"/>
                <a:ea typeface="Aptos" pitchFamily="34" charset="-122"/>
                <a:cs typeface="Aptos" pitchFamily="34" charset="-120"/>
              </a:rPr>
              <a:t>Lab 5: Graphics vs Photos (5–10 min)</a:t>
            </a:r>
            <a:endParaRPr lang="en-US" sz="2800" dirty="0"/>
          </a:p>
        </p:txBody>
      </p:sp>
      <p:sp>
        <p:nvSpPr>
          <p:cNvPr id="4" name="Shape 1"/>
          <p:cNvSpPr/>
          <p:nvPr/>
        </p:nvSpPr>
        <p:spPr>
          <a:xfrm>
            <a:off x="685800" y="1325880"/>
            <a:ext cx="6949440" cy="5029200"/>
          </a:xfrm>
          <a:prstGeom prst="roundRect">
            <a:avLst>
              <a:gd name="adj" fmla="val 2182"/>
            </a:avLst>
          </a:prstGeom>
          <a:solidFill>
            <a:srgbClr val="FFFFFF"/>
          </a:solidFill>
          <a:ln w="9525">
            <a:solidFill>
              <a:srgbClr val="D0D7DB"/>
            </a:solidFill>
            <a:prstDash val="solid"/>
          </a:ln>
          <a:effectLst>
            <a:outerShdw blurRad="76200" dist="25400" dir="5400000" algn="bl" rotWithShape="0">
              <a:srgbClr val="000000">
                <a:alpha val="12000"/>
              </a:srgbClr>
            </a:outerShdw>
          </a:effectLst>
        </p:spPr>
        <p:txBody>
          <a:bodyPr/>
          <a:lstStyle/>
          <a:p>
            <a:endParaRPr lang="en-US"/>
          </a:p>
        </p:txBody>
      </p:sp>
      <p:sp>
        <p:nvSpPr>
          <p:cNvPr id="5" name="Shape 2"/>
          <p:cNvSpPr/>
          <p:nvPr/>
        </p:nvSpPr>
        <p:spPr>
          <a:xfrm>
            <a:off x="960120" y="1600200"/>
            <a:ext cx="420624" cy="420624"/>
          </a:xfrm>
          <a:prstGeom prst="ellipse">
            <a:avLst/>
          </a:prstGeom>
          <a:solidFill>
            <a:srgbClr val="E97132"/>
          </a:solidFill>
          <a:ln w="12700">
            <a:solidFill>
              <a:srgbClr val="E97132"/>
            </a:solidFill>
            <a:prstDash val="solid"/>
          </a:ln>
        </p:spPr>
        <p:txBody>
          <a:bodyPr/>
          <a:lstStyle/>
          <a:p>
            <a:endParaRPr lang="en-US"/>
          </a:p>
        </p:txBody>
      </p:sp>
      <p:sp>
        <p:nvSpPr>
          <p:cNvPr id="6" name="Text 3"/>
          <p:cNvSpPr txBox="1"/>
          <p:nvPr/>
        </p:nvSpPr>
        <p:spPr>
          <a:xfrm>
            <a:off x="960120" y="1600200"/>
            <a:ext cx="420624" cy="420624"/>
          </a:xfrm>
          <a:prstGeom prst="rect">
            <a:avLst/>
          </a:prstGeom>
          <a:noFill/>
          <a:ln/>
        </p:spPr>
        <p:txBody>
          <a:bodyPr wrap="square" lIns="0" tIns="0" rIns="0" bIns="0" rtlCol="0" anchor="ctr"/>
          <a:lstStyle/>
          <a:p>
            <a:pPr marL="0" indent="0" algn="ctr">
              <a:buNone/>
            </a:pPr>
            <a:r>
              <a:rPr lang="en-US" sz="1800" b="1" dirty="0">
                <a:solidFill>
                  <a:srgbClr val="FFFFFF"/>
                </a:solidFill>
                <a:latin typeface="Aptos" pitchFamily="34" charset="0"/>
                <a:ea typeface="Aptos" pitchFamily="34" charset="-122"/>
                <a:cs typeface="Aptos" pitchFamily="34" charset="-120"/>
              </a:rPr>
              <a:t>1</a:t>
            </a:r>
            <a:endParaRPr lang="en-US" sz="1800" dirty="0"/>
          </a:p>
        </p:txBody>
      </p:sp>
      <p:sp>
        <p:nvSpPr>
          <p:cNvPr id="7" name="Text 4"/>
          <p:cNvSpPr txBox="1"/>
          <p:nvPr/>
        </p:nvSpPr>
        <p:spPr>
          <a:xfrm>
            <a:off x="1554480" y="1581912"/>
            <a:ext cx="5852160" cy="320040"/>
          </a:xfrm>
          <a:prstGeom prst="rect">
            <a:avLst/>
          </a:prstGeom>
          <a:noFill/>
          <a:ln/>
        </p:spPr>
        <p:txBody>
          <a:bodyPr wrap="square" lIns="0" tIns="0" rIns="0" bIns="0" rtlCol="0" anchor="ctr"/>
          <a:lstStyle/>
          <a:p>
            <a:pPr marL="0" indent="0">
              <a:buNone/>
            </a:pPr>
            <a:r>
              <a:rPr lang="en-US" sz="1600" b="1" dirty="0">
                <a:solidFill>
                  <a:srgbClr val="000000"/>
                </a:solidFill>
                <a:latin typeface="Aptos" pitchFamily="34" charset="0"/>
                <a:ea typeface="Aptos" pitchFamily="34" charset="-122"/>
                <a:cs typeface="Aptos" pitchFamily="34" charset="-120"/>
              </a:rPr>
              <a:t>Open samples/logo.png in Pixlr</a:t>
            </a:r>
            <a:endParaRPr lang="en-US" sz="1600" dirty="0"/>
          </a:p>
        </p:txBody>
      </p:sp>
      <p:sp>
        <p:nvSpPr>
          <p:cNvPr id="8" name="Text 5"/>
          <p:cNvSpPr txBox="1"/>
          <p:nvPr/>
        </p:nvSpPr>
        <p:spPr>
          <a:xfrm>
            <a:off x="1554480" y="1901952"/>
            <a:ext cx="5852160" cy="548640"/>
          </a:xfrm>
          <a:prstGeom prst="rect">
            <a:avLst/>
          </a:prstGeom>
          <a:noFill/>
          <a:ln/>
        </p:spPr>
        <p:txBody>
          <a:bodyPr wrap="square" lIns="0" tIns="0" rIns="0" bIns="0" rtlCol="0" anchor="t"/>
          <a:lstStyle/>
          <a:p>
            <a:pPr marL="0" indent="0">
              <a:buNone/>
            </a:pPr>
            <a:r>
              <a:rPr lang="en-US" sz="1350" dirty="0">
                <a:solidFill>
                  <a:srgbClr val="262626"/>
                </a:solidFill>
                <a:latin typeface="Aptos" pitchFamily="34" charset="0"/>
                <a:ea typeface="Aptos" pitchFamily="34" charset="-122"/>
                <a:cs typeface="Aptos" pitchFamily="34" charset="-120"/>
              </a:rPr>
              <a:t>​A flat-colour logo with a transparent background.</a:t>
            </a:r>
            <a:endParaRPr lang="en-US" sz="1350" dirty="0"/>
          </a:p>
        </p:txBody>
      </p:sp>
      <p:sp>
        <p:nvSpPr>
          <p:cNvPr id="9" name="Shape 6"/>
          <p:cNvSpPr/>
          <p:nvPr/>
        </p:nvSpPr>
        <p:spPr>
          <a:xfrm>
            <a:off x="960120" y="2496312"/>
            <a:ext cx="420624" cy="420624"/>
          </a:xfrm>
          <a:prstGeom prst="ellipse">
            <a:avLst/>
          </a:prstGeom>
          <a:solidFill>
            <a:srgbClr val="E97132"/>
          </a:solidFill>
          <a:ln w="12700">
            <a:solidFill>
              <a:srgbClr val="E97132"/>
            </a:solidFill>
            <a:prstDash val="solid"/>
          </a:ln>
        </p:spPr>
        <p:txBody>
          <a:bodyPr/>
          <a:lstStyle/>
          <a:p>
            <a:endParaRPr lang="en-US"/>
          </a:p>
        </p:txBody>
      </p:sp>
      <p:sp>
        <p:nvSpPr>
          <p:cNvPr id="10" name="Text 7"/>
          <p:cNvSpPr txBox="1"/>
          <p:nvPr/>
        </p:nvSpPr>
        <p:spPr>
          <a:xfrm>
            <a:off x="960120" y="2496312"/>
            <a:ext cx="420624" cy="420624"/>
          </a:xfrm>
          <a:prstGeom prst="rect">
            <a:avLst/>
          </a:prstGeom>
          <a:noFill/>
          <a:ln/>
        </p:spPr>
        <p:txBody>
          <a:bodyPr wrap="square" lIns="0" tIns="0" rIns="0" bIns="0" rtlCol="0" anchor="ctr"/>
          <a:lstStyle/>
          <a:p>
            <a:pPr marL="0" indent="0" algn="ctr">
              <a:buNone/>
            </a:pPr>
            <a:r>
              <a:rPr lang="en-US" sz="1800" b="1" dirty="0">
                <a:solidFill>
                  <a:srgbClr val="FFFFFF"/>
                </a:solidFill>
                <a:latin typeface="Aptos" pitchFamily="34" charset="0"/>
                <a:ea typeface="Aptos" pitchFamily="34" charset="-122"/>
                <a:cs typeface="Aptos" pitchFamily="34" charset="-120"/>
              </a:rPr>
              <a:t>2</a:t>
            </a:r>
            <a:endParaRPr lang="en-US" sz="1800" dirty="0"/>
          </a:p>
        </p:txBody>
      </p:sp>
      <p:sp>
        <p:nvSpPr>
          <p:cNvPr id="11" name="Text 8"/>
          <p:cNvSpPr txBox="1"/>
          <p:nvPr/>
        </p:nvSpPr>
        <p:spPr>
          <a:xfrm>
            <a:off x="1554480" y="2478024"/>
            <a:ext cx="5852160" cy="320040"/>
          </a:xfrm>
          <a:prstGeom prst="rect">
            <a:avLst/>
          </a:prstGeom>
          <a:noFill/>
          <a:ln/>
        </p:spPr>
        <p:txBody>
          <a:bodyPr wrap="square" lIns="0" tIns="0" rIns="0" bIns="0" rtlCol="0" anchor="ctr"/>
          <a:lstStyle/>
          <a:p>
            <a:pPr marL="0" indent="0">
              <a:buNone/>
            </a:pPr>
            <a:r>
              <a:rPr lang="en-US" sz="1600" b="1" dirty="0">
                <a:solidFill>
                  <a:srgbClr val="000000"/>
                </a:solidFill>
                <a:latin typeface="Aptos" pitchFamily="34" charset="0"/>
                <a:ea typeface="Aptos" pitchFamily="34" charset="-122"/>
                <a:cs typeface="Aptos" pitchFamily="34" charset="-120"/>
              </a:rPr>
              <a:t>Save it as JPG, quality 80</a:t>
            </a:r>
            <a:endParaRPr lang="en-US" sz="1600" dirty="0"/>
          </a:p>
        </p:txBody>
      </p:sp>
      <p:sp>
        <p:nvSpPr>
          <p:cNvPr id="12" name="Text 9"/>
          <p:cNvSpPr txBox="1"/>
          <p:nvPr/>
        </p:nvSpPr>
        <p:spPr>
          <a:xfrm>
            <a:off x="1554480" y="2798064"/>
            <a:ext cx="5852160" cy="548640"/>
          </a:xfrm>
          <a:prstGeom prst="rect">
            <a:avLst/>
          </a:prstGeom>
          <a:noFill/>
          <a:ln/>
        </p:spPr>
        <p:txBody>
          <a:bodyPr wrap="square" lIns="0" tIns="0" rIns="0" bIns="0" rtlCol="0" anchor="t"/>
          <a:lstStyle/>
          <a:p>
            <a:pPr marL="0" indent="0">
              <a:buNone/>
            </a:pPr>
            <a:r>
              <a:rPr lang="en-US" sz="1350" dirty="0">
                <a:solidFill>
                  <a:srgbClr val="262626"/>
                </a:solidFill>
                <a:latin typeface="Aptos" pitchFamily="34" charset="0"/>
                <a:ea typeface="Aptos" pitchFamily="34" charset="-122"/>
                <a:cs typeface="Aptos" pitchFamily="34" charset="-120"/>
              </a:rPr>
              <a:t>​Name it </a:t>
            </a:r>
            <a:r>
              <a:rPr lang="en-US" sz="1350" dirty="0">
                <a:solidFill>
                  <a:srgbClr val="8A2B0B"/>
                </a:solidFill>
                <a:latin typeface="Consolas" pitchFamily="34" charset="0"/>
                <a:ea typeface="Consolas" pitchFamily="34" charset="-122"/>
                <a:cs typeface="Consolas" pitchFamily="34" charset="-120"/>
              </a:rPr>
              <a:t>my_images/logo_test.jpg</a:t>
            </a:r>
            <a:r>
              <a:rPr lang="en-US" sz="1350" dirty="0">
                <a:solidFill>
                  <a:srgbClr val="262626"/>
                </a:solidFill>
                <a:latin typeface="Aptos" pitchFamily="34" charset="0"/>
                <a:ea typeface="Aptos" pitchFamily="34" charset="-122"/>
                <a:cs typeface="Aptos" pitchFamily="34" charset="-120"/>
              </a:rPr>
              <a:t>.</a:t>
            </a:r>
            <a:endParaRPr lang="en-US" sz="1350" dirty="0"/>
          </a:p>
        </p:txBody>
      </p:sp>
      <p:sp>
        <p:nvSpPr>
          <p:cNvPr id="13" name="Shape 10"/>
          <p:cNvSpPr/>
          <p:nvPr/>
        </p:nvSpPr>
        <p:spPr>
          <a:xfrm>
            <a:off x="960120" y="3392424"/>
            <a:ext cx="420624" cy="420624"/>
          </a:xfrm>
          <a:prstGeom prst="ellipse">
            <a:avLst/>
          </a:prstGeom>
          <a:solidFill>
            <a:srgbClr val="E97132"/>
          </a:solidFill>
          <a:ln w="12700">
            <a:solidFill>
              <a:srgbClr val="E97132"/>
            </a:solidFill>
            <a:prstDash val="solid"/>
          </a:ln>
        </p:spPr>
        <p:txBody>
          <a:bodyPr/>
          <a:lstStyle/>
          <a:p>
            <a:endParaRPr lang="en-US"/>
          </a:p>
        </p:txBody>
      </p:sp>
      <p:sp>
        <p:nvSpPr>
          <p:cNvPr id="14" name="Text 11"/>
          <p:cNvSpPr txBox="1"/>
          <p:nvPr/>
        </p:nvSpPr>
        <p:spPr>
          <a:xfrm>
            <a:off x="960120" y="3392424"/>
            <a:ext cx="420624" cy="420624"/>
          </a:xfrm>
          <a:prstGeom prst="rect">
            <a:avLst/>
          </a:prstGeom>
          <a:noFill/>
          <a:ln/>
        </p:spPr>
        <p:txBody>
          <a:bodyPr wrap="square" lIns="0" tIns="0" rIns="0" bIns="0" rtlCol="0" anchor="ctr"/>
          <a:lstStyle/>
          <a:p>
            <a:pPr marL="0" indent="0" algn="ctr">
              <a:buNone/>
            </a:pPr>
            <a:r>
              <a:rPr lang="en-US" sz="1800" b="1" dirty="0">
                <a:solidFill>
                  <a:srgbClr val="FFFFFF"/>
                </a:solidFill>
                <a:latin typeface="Aptos" pitchFamily="34" charset="0"/>
                <a:ea typeface="Aptos" pitchFamily="34" charset="-122"/>
                <a:cs typeface="Aptos" pitchFamily="34" charset="-120"/>
              </a:rPr>
              <a:t>3</a:t>
            </a:r>
            <a:endParaRPr lang="en-US" sz="1800" dirty="0"/>
          </a:p>
        </p:txBody>
      </p:sp>
      <p:sp>
        <p:nvSpPr>
          <p:cNvPr id="15" name="Text 12"/>
          <p:cNvSpPr txBox="1"/>
          <p:nvPr/>
        </p:nvSpPr>
        <p:spPr>
          <a:xfrm>
            <a:off x="1554480" y="3374136"/>
            <a:ext cx="5852160" cy="320040"/>
          </a:xfrm>
          <a:prstGeom prst="rect">
            <a:avLst/>
          </a:prstGeom>
          <a:noFill/>
          <a:ln/>
        </p:spPr>
        <p:txBody>
          <a:bodyPr wrap="square" lIns="0" tIns="0" rIns="0" bIns="0" rtlCol="0" anchor="ctr"/>
          <a:lstStyle/>
          <a:p>
            <a:pPr marL="0" indent="0">
              <a:buNone/>
            </a:pPr>
            <a:r>
              <a:rPr lang="en-US" sz="1600" b="1" dirty="0">
                <a:solidFill>
                  <a:srgbClr val="000000"/>
                </a:solidFill>
                <a:latin typeface="Aptos" pitchFamily="34" charset="0"/>
                <a:ea typeface="Aptos" pitchFamily="34" charset="-122"/>
                <a:cs typeface="Aptos" pitchFamily="34" charset="-120"/>
              </a:rPr>
              <a:t>Compare logo.png, logo_test.jpg and logo.svg</a:t>
            </a:r>
            <a:endParaRPr lang="en-US" sz="1600" dirty="0"/>
          </a:p>
        </p:txBody>
      </p:sp>
      <p:sp>
        <p:nvSpPr>
          <p:cNvPr id="16" name="Text 13"/>
          <p:cNvSpPr txBox="1"/>
          <p:nvPr/>
        </p:nvSpPr>
        <p:spPr>
          <a:xfrm>
            <a:off x="1554480" y="3694176"/>
            <a:ext cx="5852160" cy="548640"/>
          </a:xfrm>
          <a:prstGeom prst="rect">
            <a:avLst/>
          </a:prstGeom>
          <a:noFill/>
          <a:ln/>
        </p:spPr>
        <p:txBody>
          <a:bodyPr wrap="square" lIns="0" tIns="0" rIns="0" bIns="0" rtlCol="0" anchor="t"/>
          <a:lstStyle/>
          <a:p>
            <a:pPr marL="0" indent="0">
              <a:buNone/>
            </a:pPr>
            <a:r>
              <a:rPr lang="en-US" sz="1350" dirty="0">
                <a:solidFill>
                  <a:srgbClr val="262626"/>
                </a:solidFill>
                <a:latin typeface="Aptos" pitchFamily="34" charset="0"/>
                <a:ea typeface="Aptos" pitchFamily="34" charset="-122"/>
                <a:cs typeface="Aptos" pitchFamily="34" charset="-120"/>
              </a:rPr>
              <a:t>​Sizes in File Explorer. Then open 03_svg_vs_png_example.html.</a:t>
            </a:r>
            <a:endParaRPr lang="en-US" sz="1350" dirty="0"/>
          </a:p>
        </p:txBody>
      </p:sp>
      <p:sp>
        <p:nvSpPr>
          <p:cNvPr id="17" name="Shape 14"/>
          <p:cNvSpPr/>
          <p:nvPr/>
        </p:nvSpPr>
        <p:spPr>
          <a:xfrm>
            <a:off x="960120" y="4288536"/>
            <a:ext cx="420624" cy="420624"/>
          </a:xfrm>
          <a:prstGeom prst="ellipse">
            <a:avLst/>
          </a:prstGeom>
          <a:solidFill>
            <a:srgbClr val="E97132"/>
          </a:solidFill>
          <a:ln w="12700">
            <a:solidFill>
              <a:srgbClr val="E97132"/>
            </a:solidFill>
            <a:prstDash val="solid"/>
          </a:ln>
        </p:spPr>
        <p:txBody>
          <a:bodyPr/>
          <a:lstStyle/>
          <a:p>
            <a:endParaRPr lang="en-US"/>
          </a:p>
        </p:txBody>
      </p:sp>
      <p:sp>
        <p:nvSpPr>
          <p:cNvPr id="18" name="Text 15"/>
          <p:cNvSpPr txBox="1"/>
          <p:nvPr/>
        </p:nvSpPr>
        <p:spPr>
          <a:xfrm>
            <a:off x="960120" y="4288536"/>
            <a:ext cx="420624" cy="420624"/>
          </a:xfrm>
          <a:prstGeom prst="rect">
            <a:avLst/>
          </a:prstGeom>
          <a:noFill/>
          <a:ln/>
        </p:spPr>
        <p:txBody>
          <a:bodyPr wrap="square" lIns="0" tIns="0" rIns="0" bIns="0" rtlCol="0" anchor="ctr"/>
          <a:lstStyle/>
          <a:p>
            <a:pPr marL="0" indent="0" algn="ctr">
              <a:buNone/>
            </a:pPr>
            <a:r>
              <a:rPr lang="en-US" sz="1800" b="1" dirty="0">
                <a:solidFill>
                  <a:srgbClr val="FFFFFF"/>
                </a:solidFill>
                <a:latin typeface="Aptos" pitchFamily="34" charset="0"/>
                <a:ea typeface="Aptos" pitchFamily="34" charset="-122"/>
                <a:cs typeface="Aptos" pitchFamily="34" charset="-120"/>
              </a:rPr>
              <a:t>4</a:t>
            </a:r>
            <a:endParaRPr lang="en-US" sz="1800" dirty="0"/>
          </a:p>
        </p:txBody>
      </p:sp>
      <p:sp>
        <p:nvSpPr>
          <p:cNvPr id="19" name="Text 16"/>
          <p:cNvSpPr txBox="1"/>
          <p:nvPr/>
        </p:nvSpPr>
        <p:spPr>
          <a:xfrm>
            <a:off x="1554480" y="4270248"/>
            <a:ext cx="5852160" cy="320040"/>
          </a:xfrm>
          <a:prstGeom prst="rect">
            <a:avLst/>
          </a:prstGeom>
          <a:noFill/>
          <a:ln/>
        </p:spPr>
        <p:txBody>
          <a:bodyPr wrap="square" lIns="0" tIns="0" rIns="0" bIns="0" rtlCol="0" anchor="ctr"/>
          <a:lstStyle/>
          <a:p>
            <a:pPr marL="0" indent="0">
              <a:buNone/>
            </a:pPr>
            <a:r>
              <a:rPr lang="en-US" sz="1600" b="1" dirty="0">
                <a:solidFill>
                  <a:srgbClr val="000000"/>
                </a:solidFill>
                <a:latin typeface="Aptos" pitchFamily="34" charset="0"/>
                <a:ea typeface="Aptos" pitchFamily="34" charset="-122"/>
                <a:cs typeface="Aptos" pitchFamily="34" charset="-120"/>
              </a:rPr>
              <a:t>Zoom in on the edges</a:t>
            </a:r>
            <a:endParaRPr lang="en-US" sz="1600" dirty="0"/>
          </a:p>
        </p:txBody>
      </p:sp>
      <p:sp>
        <p:nvSpPr>
          <p:cNvPr id="20" name="Text 17"/>
          <p:cNvSpPr txBox="1"/>
          <p:nvPr/>
        </p:nvSpPr>
        <p:spPr>
          <a:xfrm>
            <a:off x="1554480" y="4590288"/>
            <a:ext cx="5852160" cy="548640"/>
          </a:xfrm>
          <a:prstGeom prst="rect">
            <a:avLst/>
          </a:prstGeom>
          <a:noFill/>
          <a:ln/>
        </p:spPr>
        <p:txBody>
          <a:bodyPr wrap="square" lIns="0" tIns="0" rIns="0" bIns="0" rtlCol="0" anchor="t"/>
          <a:lstStyle/>
          <a:p>
            <a:pPr marL="0" indent="0">
              <a:buNone/>
            </a:pPr>
            <a:r>
              <a:rPr lang="en-US" sz="1350" dirty="0">
                <a:solidFill>
                  <a:srgbClr val="262626"/>
                </a:solidFill>
                <a:latin typeface="Aptos" pitchFamily="34" charset="0"/>
                <a:ea typeface="Aptos" pitchFamily="34" charset="-122"/>
                <a:cs typeface="Aptos" pitchFamily="34" charset="-120"/>
              </a:rPr>
              <a:t>​Where the orange fish meets the navy circle. And look at the corners.</a:t>
            </a:r>
            <a:endParaRPr lang="en-US" sz="1350" dirty="0"/>
          </a:p>
        </p:txBody>
      </p:sp>
      <p:sp>
        <p:nvSpPr>
          <p:cNvPr id="21" name="Shape 18"/>
          <p:cNvSpPr/>
          <p:nvPr/>
        </p:nvSpPr>
        <p:spPr>
          <a:xfrm>
            <a:off x="960120" y="5184648"/>
            <a:ext cx="420624" cy="420624"/>
          </a:xfrm>
          <a:prstGeom prst="ellipse">
            <a:avLst/>
          </a:prstGeom>
          <a:solidFill>
            <a:srgbClr val="E97132"/>
          </a:solidFill>
          <a:ln w="12700">
            <a:solidFill>
              <a:srgbClr val="E97132"/>
            </a:solidFill>
            <a:prstDash val="solid"/>
          </a:ln>
        </p:spPr>
        <p:txBody>
          <a:bodyPr/>
          <a:lstStyle/>
          <a:p>
            <a:endParaRPr lang="en-US"/>
          </a:p>
        </p:txBody>
      </p:sp>
      <p:sp>
        <p:nvSpPr>
          <p:cNvPr id="22" name="Text 19"/>
          <p:cNvSpPr txBox="1"/>
          <p:nvPr/>
        </p:nvSpPr>
        <p:spPr>
          <a:xfrm>
            <a:off x="960120" y="5184648"/>
            <a:ext cx="420624" cy="420624"/>
          </a:xfrm>
          <a:prstGeom prst="rect">
            <a:avLst/>
          </a:prstGeom>
          <a:noFill/>
          <a:ln/>
        </p:spPr>
        <p:txBody>
          <a:bodyPr wrap="square" lIns="0" tIns="0" rIns="0" bIns="0" rtlCol="0" anchor="ctr"/>
          <a:lstStyle/>
          <a:p>
            <a:pPr marL="0" indent="0" algn="ctr">
              <a:buNone/>
            </a:pPr>
            <a:r>
              <a:rPr lang="en-US" sz="1800" b="1" dirty="0">
                <a:solidFill>
                  <a:srgbClr val="FFFFFF"/>
                </a:solidFill>
                <a:latin typeface="Aptos" pitchFamily="34" charset="0"/>
                <a:ea typeface="Aptos" pitchFamily="34" charset="-122"/>
                <a:cs typeface="Aptos" pitchFamily="34" charset="-120"/>
              </a:rPr>
              <a:t>5</a:t>
            </a:r>
            <a:endParaRPr lang="en-US" sz="1800" dirty="0"/>
          </a:p>
        </p:txBody>
      </p:sp>
      <p:sp>
        <p:nvSpPr>
          <p:cNvPr id="23" name="Text 20"/>
          <p:cNvSpPr txBox="1"/>
          <p:nvPr/>
        </p:nvSpPr>
        <p:spPr>
          <a:xfrm>
            <a:off x="1554480" y="5166360"/>
            <a:ext cx="5852160" cy="320040"/>
          </a:xfrm>
          <a:prstGeom prst="rect">
            <a:avLst/>
          </a:prstGeom>
          <a:noFill/>
          <a:ln/>
        </p:spPr>
        <p:txBody>
          <a:bodyPr wrap="square" lIns="0" tIns="0" rIns="0" bIns="0" rtlCol="0" anchor="ctr"/>
          <a:lstStyle/>
          <a:p>
            <a:pPr marL="0" indent="0">
              <a:buNone/>
            </a:pPr>
            <a:r>
              <a:rPr lang="en-US" sz="1600" b="1" dirty="0">
                <a:solidFill>
                  <a:srgbClr val="000000"/>
                </a:solidFill>
                <a:latin typeface="Aptos" pitchFamily="34" charset="0"/>
                <a:ea typeface="Aptos" pitchFamily="34" charset="-122"/>
                <a:cs typeface="Aptos" pitchFamily="34" charset="-120"/>
              </a:rPr>
              <a:t>Take a screenshot (Win + Shift + S)</a:t>
            </a:r>
            <a:endParaRPr lang="en-US" sz="1600" dirty="0"/>
          </a:p>
        </p:txBody>
      </p:sp>
      <p:sp>
        <p:nvSpPr>
          <p:cNvPr id="24" name="Text 21"/>
          <p:cNvSpPr txBox="1"/>
          <p:nvPr/>
        </p:nvSpPr>
        <p:spPr>
          <a:xfrm>
            <a:off x="1554480" y="5486400"/>
            <a:ext cx="5852160" cy="548640"/>
          </a:xfrm>
          <a:prstGeom prst="rect">
            <a:avLst/>
          </a:prstGeom>
          <a:noFill/>
          <a:ln/>
        </p:spPr>
        <p:txBody>
          <a:bodyPr wrap="square" lIns="0" tIns="0" rIns="0" bIns="0" rtlCol="0" anchor="t"/>
          <a:lstStyle/>
          <a:p>
            <a:pPr marL="0" indent="0">
              <a:buNone/>
            </a:pPr>
            <a:r>
              <a:rPr lang="en-US" sz="1350" dirty="0">
                <a:solidFill>
                  <a:srgbClr val="262626"/>
                </a:solidFill>
                <a:latin typeface="Aptos" pitchFamily="34" charset="0"/>
                <a:ea typeface="Aptos" pitchFamily="34" charset="-122"/>
                <a:cs typeface="Aptos" pitchFamily="34" charset="-120"/>
              </a:rPr>
              <a:t>​Paste it into Pixlr. Save it as PNG and as JPG q80. Which is smaller? Which is sharper?</a:t>
            </a:r>
            <a:endParaRPr lang="en-US" sz="1350" dirty="0"/>
          </a:p>
        </p:txBody>
      </p:sp>
      <p:sp>
        <p:nvSpPr>
          <p:cNvPr id="25" name="Shape 22"/>
          <p:cNvSpPr/>
          <p:nvPr/>
        </p:nvSpPr>
        <p:spPr>
          <a:xfrm>
            <a:off x="8001000" y="1325880"/>
            <a:ext cx="3520440" cy="5029200"/>
          </a:xfrm>
          <a:prstGeom prst="roundRect">
            <a:avLst>
              <a:gd name="adj" fmla="val 3117"/>
            </a:avLst>
          </a:prstGeom>
          <a:solidFill>
            <a:srgbClr val="262626"/>
          </a:solidFill>
          <a:ln w="9525">
            <a:solidFill>
              <a:srgbClr val="262626"/>
            </a:solidFill>
            <a:prstDash val="solid"/>
          </a:ln>
          <a:effectLst>
            <a:outerShdw blurRad="76200" dist="25400" dir="5400000" algn="bl" rotWithShape="0">
              <a:srgbClr val="000000">
                <a:alpha val="12000"/>
              </a:srgbClr>
            </a:outerShdw>
          </a:effectLst>
        </p:spPr>
        <p:txBody>
          <a:bodyPr/>
          <a:lstStyle/>
          <a:p>
            <a:endParaRPr lang="en-US"/>
          </a:p>
        </p:txBody>
      </p:sp>
      <p:sp>
        <p:nvSpPr>
          <p:cNvPr id="26" name="Text 23"/>
          <p:cNvSpPr txBox="1"/>
          <p:nvPr/>
        </p:nvSpPr>
        <p:spPr>
          <a:xfrm>
            <a:off x="8229600" y="1554480"/>
            <a:ext cx="3108960" cy="411480"/>
          </a:xfrm>
          <a:prstGeom prst="rect">
            <a:avLst/>
          </a:prstGeom>
          <a:noFill/>
          <a:ln/>
        </p:spPr>
        <p:txBody>
          <a:bodyPr wrap="square" lIns="0" tIns="0" rIns="0" bIns="0" rtlCol="0" anchor="ctr"/>
          <a:lstStyle/>
          <a:p>
            <a:pPr marL="0" indent="0">
              <a:buNone/>
            </a:pPr>
            <a:r>
              <a:rPr lang="en-US" sz="1800" b="1" dirty="0">
                <a:solidFill>
                  <a:srgbClr val="FFFFFF"/>
                </a:solidFill>
                <a:latin typeface="Aptos" pitchFamily="34" charset="0"/>
                <a:ea typeface="Aptos" pitchFamily="34" charset="-122"/>
                <a:cs typeface="Aptos" pitchFamily="34" charset="-120"/>
              </a:rPr>
              <a:t>What you'll find</a:t>
            </a:r>
            <a:endParaRPr lang="en-US" sz="1800" dirty="0"/>
          </a:p>
        </p:txBody>
      </p:sp>
      <p:sp>
        <p:nvSpPr>
          <p:cNvPr id="27" name="Text 24"/>
          <p:cNvSpPr txBox="1"/>
          <p:nvPr/>
        </p:nvSpPr>
        <p:spPr>
          <a:xfrm>
            <a:off x="8229600" y="2057400"/>
            <a:ext cx="3108960" cy="4114800"/>
          </a:xfrm>
          <a:prstGeom prst="rect">
            <a:avLst/>
          </a:prstGeom>
          <a:noFill/>
          <a:ln/>
        </p:spPr>
        <p:txBody>
          <a:bodyPr wrap="square" lIns="0" tIns="0" rIns="0" bIns="0" rtlCol="0" anchor="t"/>
          <a:lstStyle/>
          <a:p>
            <a:pPr marL="342900" indent="-342900">
              <a:buSzPct val="100000"/>
              <a:buChar char="•"/>
            </a:pPr>
            <a:r>
              <a:rPr lang="en-US" sz="1350" dirty="0">
                <a:solidFill>
                  <a:srgbClr val="D9D9D9"/>
                </a:solidFill>
                <a:latin typeface="Aptos" pitchFamily="34" charset="0"/>
                <a:ea typeface="Aptos" pitchFamily="34" charset="-122"/>
                <a:cs typeface="Aptos" pitchFamily="34" charset="-120"/>
              </a:rPr>
              <a:t>The JPG lost the transparent corners (now white)</a:t>
            </a:r>
            <a:endParaRPr lang="en-US" sz="1350" dirty="0"/>
          </a:p>
          <a:p>
            <a:pPr marL="342900" indent="-342900">
              <a:spcBef>
                <a:spcPts val="700"/>
              </a:spcBef>
              <a:buSzPct val="100000"/>
              <a:buChar char="•"/>
            </a:pPr>
            <a:r>
              <a:rPr lang="en-US" sz="1350" dirty="0">
                <a:solidFill>
                  <a:srgbClr val="D9D9D9"/>
                </a:solidFill>
                <a:latin typeface="Aptos" pitchFamily="34" charset="0"/>
                <a:ea typeface="Aptos" pitchFamily="34" charset="-122"/>
                <a:cs typeface="Aptos" pitchFamily="34" charset="-120"/>
              </a:rPr>
              <a:t>Smudges along every edge</a:t>
            </a:r>
            <a:endParaRPr lang="en-US" sz="1350" dirty="0"/>
          </a:p>
          <a:p>
            <a:pPr marL="342900" indent="-342900">
              <a:spcBef>
                <a:spcPts val="700"/>
              </a:spcBef>
              <a:buSzPct val="100000"/>
              <a:buChar char="•"/>
            </a:pPr>
            <a:r>
              <a:rPr lang="en-US" sz="1350" dirty="0">
                <a:solidFill>
                  <a:srgbClr val="D9D9D9"/>
                </a:solidFill>
                <a:latin typeface="Aptos" pitchFamily="34" charset="0"/>
                <a:ea typeface="Aptos" pitchFamily="34" charset="-122"/>
                <a:cs typeface="Aptos" pitchFamily="34" charset="-120"/>
              </a:rPr>
              <a:t>The JPG isn't even smaller</a:t>
            </a:r>
            <a:endParaRPr lang="en-US" sz="1350" dirty="0"/>
          </a:p>
          <a:p>
            <a:pPr marL="342900" indent="-342900">
              <a:spcBef>
                <a:spcPts val="700"/>
              </a:spcBef>
              <a:buSzPct val="100000"/>
              <a:buChar char="•"/>
            </a:pPr>
            <a:r>
              <a:rPr lang="en-US" sz="1350" dirty="0">
                <a:solidFill>
                  <a:srgbClr val="D9D9D9"/>
                </a:solidFill>
                <a:latin typeface="Aptos" pitchFamily="34" charset="0"/>
                <a:ea typeface="Aptos" pitchFamily="34" charset="-122"/>
                <a:cs typeface="Aptos" pitchFamily="34" charset="-120"/>
              </a:rPr>
              <a:t>SVG: smallest and sharpest</a:t>
            </a:r>
            <a:endParaRPr lang="en-US" sz="1350" dirty="0"/>
          </a:p>
          <a:p>
            <a:pPr marL="0" indent="0">
              <a:spcBef>
                <a:spcPts val="700"/>
              </a:spcBef>
              <a:buNone/>
            </a:pPr>
            <a:endParaRPr lang="en-US" sz="1350" dirty="0"/>
          </a:p>
          <a:p>
            <a:pPr marL="0" indent="0">
              <a:spcBef>
                <a:spcPts val="700"/>
              </a:spcBef>
              <a:buNone/>
            </a:pPr>
            <a:r>
              <a:rPr lang="en-US" sz="1350" b="1" dirty="0">
                <a:solidFill>
                  <a:srgbClr val="F2C6AC"/>
                </a:solidFill>
                <a:latin typeface="Aptos" pitchFamily="34" charset="0"/>
                <a:ea typeface="Aptos" pitchFamily="34" charset="-122"/>
                <a:cs typeface="Aptos" pitchFamily="34" charset="-120"/>
              </a:rPr>
              <a:t>The rule</a:t>
            </a:r>
            <a:endParaRPr lang="en-US" sz="1350" dirty="0"/>
          </a:p>
          <a:p>
            <a:pPr marL="342900" indent="-342900">
              <a:spcBef>
                <a:spcPts val="700"/>
              </a:spcBef>
              <a:buSzPct val="100000"/>
              <a:buChar char="•"/>
            </a:pPr>
            <a:r>
              <a:rPr lang="en-US" sz="1350" b="1" dirty="0">
                <a:solidFill>
                  <a:srgbClr val="D9D9D9"/>
                </a:solidFill>
                <a:latin typeface="Aptos" pitchFamily="34" charset="0"/>
                <a:ea typeface="Aptos" pitchFamily="34" charset="-122"/>
                <a:cs typeface="Aptos" pitchFamily="34" charset="-120"/>
              </a:rPr>
              <a:t>Photos → JPG / WebP. Flat colour, text, screenshots → PNG. Logos and icons → SVG.</a:t>
            </a:r>
            <a:endParaRPr lang="en-US" sz="13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2F2F2"/>
        </a:solidFill>
        <a:effectLst/>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txBody>
          <a:bodyPr/>
          <a:lstStyle/>
          <a:p>
            <a:endParaRPr lang="en-US"/>
          </a:p>
        </p:txBody>
      </p:sp>
      <p:sp>
        <p:nvSpPr>
          <p:cNvPr id="3" name="Text 1"/>
          <p:cNvSpPr txBox="1"/>
          <p:nvPr/>
        </p:nvSpPr>
        <p:spPr>
          <a:xfrm>
            <a:off x="868680" y="548640"/>
            <a:ext cx="2560320" cy="1280160"/>
          </a:xfrm>
          <a:prstGeom prst="rect">
            <a:avLst/>
          </a:prstGeom>
          <a:noFill/>
          <a:ln/>
        </p:spPr>
        <p:txBody>
          <a:bodyPr wrap="square" lIns="0" tIns="0" rIns="0" bIns="0" rtlCol="0" anchor="t"/>
          <a:lstStyle/>
          <a:p>
            <a:pPr marL="0" indent="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txBody>
          <a:bodyPr/>
          <a:lstStyle/>
          <a:p>
            <a:endParaRPr lang="en-US"/>
          </a:p>
        </p:txBody>
      </p:sp>
      <p:sp>
        <p:nvSpPr>
          <p:cNvPr id="5" name="Text 3"/>
          <p:cNvSpPr txBox="1"/>
          <p:nvPr/>
        </p:nvSpPr>
        <p:spPr>
          <a:xfrm>
            <a:off x="4754880" y="822960"/>
            <a:ext cx="6903720" cy="868680"/>
          </a:xfrm>
          <a:prstGeom prst="rect">
            <a:avLst/>
          </a:prstGeom>
          <a:noFill/>
          <a:ln/>
        </p:spPr>
        <p:txBody>
          <a:bodyPr wrap="square" lIns="0" tIns="0" rIns="0" bIns="0" rtlCol="0" anchor="t"/>
          <a:lstStyle/>
          <a:p>
            <a:pPr marL="0" indent="0">
              <a:buNone/>
            </a:pPr>
            <a:r>
              <a:rPr lang="en-US" sz="2800" b="1" dirty="0">
                <a:solidFill>
                  <a:srgbClr val="000000"/>
                </a:solidFill>
                <a:latin typeface="Aptos" pitchFamily="34" charset="0"/>
                <a:ea typeface="Aptos" pitchFamily="34" charset="-122"/>
                <a:cs typeface="Aptos" pitchFamily="34" charset="-120"/>
              </a:rPr>
              <a:t>Which Format Should I Use?</a:t>
            </a:r>
            <a:endParaRPr lang="en-US" sz="2800" dirty="0"/>
          </a:p>
        </p:txBody>
      </p:sp>
      <p:sp>
        <p:nvSpPr>
          <p:cNvPr id="7" name="Shape 4"/>
          <p:cNvSpPr/>
          <p:nvPr/>
        </p:nvSpPr>
        <p:spPr>
          <a:xfrm>
            <a:off x="4754880" y="1783080"/>
            <a:ext cx="3749040" cy="731520"/>
          </a:xfrm>
          <a:prstGeom prst="roundRect">
            <a:avLst>
              <a:gd name="adj" fmla="val 15000"/>
            </a:avLst>
          </a:prstGeom>
          <a:solidFill>
            <a:srgbClr val="FFFFFF"/>
          </a:solidFill>
          <a:ln w="9525">
            <a:solidFill>
              <a:srgbClr val="D0D7DB"/>
            </a:solidFill>
            <a:prstDash val="solid"/>
          </a:ln>
          <a:effectLst>
            <a:outerShdw blurRad="76200" dist="25400" dir="5400000" algn="bl" rotWithShape="0">
              <a:srgbClr val="000000">
                <a:alpha val="12000"/>
              </a:srgbClr>
            </a:outerShdw>
          </a:effectLst>
        </p:spPr>
        <p:txBody>
          <a:bodyPr/>
          <a:lstStyle/>
          <a:p>
            <a:endParaRPr lang="en-US"/>
          </a:p>
        </p:txBody>
      </p:sp>
      <p:sp>
        <p:nvSpPr>
          <p:cNvPr id="8" name="Text 5"/>
          <p:cNvSpPr txBox="1"/>
          <p:nvPr/>
        </p:nvSpPr>
        <p:spPr>
          <a:xfrm>
            <a:off x="4983480" y="1783080"/>
            <a:ext cx="3383280" cy="731520"/>
          </a:xfrm>
          <a:prstGeom prst="rect">
            <a:avLst/>
          </a:prstGeom>
          <a:noFill/>
          <a:ln/>
        </p:spPr>
        <p:txBody>
          <a:bodyPr wrap="square" lIns="0" tIns="0" rIns="0" bIns="0" rtlCol="0" anchor="ctr"/>
          <a:lstStyle/>
          <a:p>
            <a:pPr marL="0" indent="0">
              <a:buNone/>
            </a:pPr>
            <a:r>
              <a:rPr lang="en-US" sz="1450" b="1" dirty="0">
                <a:solidFill>
                  <a:srgbClr val="000000"/>
                </a:solidFill>
                <a:latin typeface="Aptos" pitchFamily="34" charset="0"/>
                <a:ea typeface="Aptos" pitchFamily="34" charset="-122"/>
                <a:cs typeface="Aptos" pitchFamily="34" charset="-120"/>
              </a:rPr>
              <a:t>Is it a logo, icon or simple drawing?</a:t>
            </a:r>
            <a:endParaRPr lang="en-US" sz="1450" dirty="0"/>
          </a:p>
        </p:txBody>
      </p:sp>
      <p:sp>
        <p:nvSpPr>
          <p:cNvPr id="9" name="Text 6"/>
          <p:cNvSpPr txBox="1"/>
          <p:nvPr/>
        </p:nvSpPr>
        <p:spPr>
          <a:xfrm>
            <a:off x="8503920" y="1783080"/>
            <a:ext cx="411480" cy="731520"/>
          </a:xfrm>
          <a:prstGeom prst="rect">
            <a:avLst/>
          </a:prstGeom>
          <a:noFill/>
          <a:ln/>
        </p:spPr>
        <p:txBody>
          <a:bodyPr wrap="square" lIns="0" tIns="0" rIns="0" bIns="0" rtlCol="0" anchor="ctr"/>
          <a:lstStyle/>
          <a:p>
            <a:pPr marL="0" indent="0" algn="ctr">
              <a:buNone/>
            </a:pPr>
            <a:r>
              <a:rPr lang="en-US" sz="2200" b="1" dirty="0">
                <a:solidFill>
                  <a:srgbClr val="0F9ED5"/>
                </a:solidFill>
                <a:latin typeface="Aptos" pitchFamily="34" charset="0"/>
                <a:ea typeface="Aptos" pitchFamily="34" charset="-122"/>
                <a:cs typeface="Aptos" pitchFamily="34" charset="-120"/>
              </a:rPr>
              <a:t>→</a:t>
            </a:r>
            <a:endParaRPr lang="en-US" sz="2200" dirty="0"/>
          </a:p>
        </p:txBody>
      </p:sp>
      <p:sp>
        <p:nvSpPr>
          <p:cNvPr id="10" name="Shape 7"/>
          <p:cNvSpPr/>
          <p:nvPr/>
        </p:nvSpPr>
        <p:spPr>
          <a:xfrm>
            <a:off x="8915400" y="1783080"/>
            <a:ext cx="2743200" cy="731520"/>
          </a:xfrm>
          <a:prstGeom prst="roundRect">
            <a:avLst>
              <a:gd name="adj" fmla="val 15000"/>
            </a:avLst>
          </a:prstGeom>
          <a:solidFill>
            <a:srgbClr val="0F9ED5"/>
          </a:solidFill>
          <a:ln w="9525">
            <a:solidFill>
              <a:srgbClr val="0F9ED5"/>
            </a:solidFill>
            <a:prstDash val="solid"/>
          </a:ln>
          <a:effectLst>
            <a:outerShdw blurRad="76200" dist="25400" dir="5400000" algn="bl" rotWithShape="0">
              <a:srgbClr val="000000">
                <a:alpha val="12000"/>
              </a:srgbClr>
            </a:outerShdw>
          </a:effectLst>
        </p:spPr>
        <p:txBody>
          <a:bodyPr/>
          <a:lstStyle/>
          <a:p>
            <a:endParaRPr lang="en-US"/>
          </a:p>
        </p:txBody>
      </p:sp>
      <p:sp>
        <p:nvSpPr>
          <p:cNvPr id="11" name="Text 8"/>
          <p:cNvSpPr txBox="1"/>
          <p:nvPr/>
        </p:nvSpPr>
        <p:spPr>
          <a:xfrm>
            <a:off x="9098280" y="1783080"/>
            <a:ext cx="2377440" cy="731520"/>
          </a:xfrm>
          <a:prstGeom prst="rect">
            <a:avLst/>
          </a:prstGeom>
          <a:noFill/>
          <a:ln/>
        </p:spPr>
        <p:txBody>
          <a:bodyPr wrap="square" lIns="0" tIns="0" rIns="0" bIns="0" rtlCol="0" anchor="ctr"/>
          <a:lstStyle/>
          <a:p>
            <a:pPr marL="0" indent="0">
              <a:buNone/>
            </a:pPr>
            <a:r>
              <a:rPr lang="en-US" sz="1600" b="1" dirty="0">
                <a:solidFill>
                  <a:srgbClr val="FFFFFF"/>
                </a:solidFill>
                <a:latin typeface="Aptos" pitchFamily="34" charset="0"/>
                <a:ea typeface="Aptos" pitchFamily="34" charset="-122"/>
                <a:cs typeface="Aptos" pitchFamily="34" charset="-120"/>
              </a:rPr>
              <a:t>SVG</a:t>
            </a:r>
            <a:endParaRPr lang="en-US" sz="1600" dirty="0"/>
          </a:p>
          <a:p>
            <a:pPr marL="0" indent="0">
              <a:buNone/>
            </a:pPr>
            <a:r>
              <a:rPr lang="en-US" sz="1150" dirty="0">
                <a:solidFill>
                  <a:srgbClr val="FFFFFF"/>
                </a:solidFill>
                <a:latin typeface="Aptos" pitchFamily="34" charset="0"/>
                <a:ea typeface="Aptos" pitchFamily="34" charset="-122"/>
                <a:cs typeface="Aptos" pitchFamily="34" charset="-120"/>
              </a:rPr>
              <a:t>(PNG if you only have a raster version)</a:t>
            </a:r>
            <a:endParaRPr lang="en-US" sz="1600" dirty="0"/>
          </a:p>
        </p:txBody>
      </p:sp>
      <p:sp>
        <p:nvSpPr>
          <p:cNvPr id="12" name="Shape 9"/>
          <p:cNvSpPr/>
          <p:nvPr/>
        </p:nvSpPr>
        <p:spPr>
          <a:xfrm>
            <a:off x="4754880" y="2670048"/>
            <a:ext cx="3749040" cy="731520"/>
          </a:xfrm>
          <a:prstGeom prst="roundRect">
            <a:avLst>
              <a:gd name="adj" fmla="val 15000"/>
            </a:avLst>
          </a:prstGeom>
          <a:solidFill>
            <a:srgbClr val="FFFFFF"/>
          </a:solidFill>
          <a:ln w="9525">
            <a:solidFill>
              <a:srgbClr val="D0D7DB"/>
            </a:solidFill>
            <a:prstDash val="solid"/>
          </a:ln>
          <a:effectLst>
            <a:outerShdw blurRad="76200" dist="25400" dir="5400000" algn="bl" rotWithShape="0">
              <a:srgbClr val="000000">
                <a:alpha val="12000"/>
              </a:srgbClr>
            </a:outerShdw>
          </a:effectLst>
        </p:spPr>
        <p:txBody>
          <a:bodyPr/>
          <a:lstStyle/>
          <a:p>
            <a:endParaRPr lang="en-US"/>
          </a:p>
        </p:txBody>
      </p:sp>
      <p:sp>
        <p:nvSpPr>
          <p:cNvPr id="13" name="Text 10"/>
          <p:cNvSpPr txBox="1"/>
          <p:nvPr/>
        </p:nvSpPr>
        <p:spPr>
          <a:xfrm>
            <a:off x="4983480" y="2670048"/>
            <a:ext cx="3383280" cy="731520"/>
          </a:xfrm>
          <a:prstGeom prst="rect">
            <a:avLst/>
          </a:prstGeom>
          <a:noFill/>
          <a:ln/>
        </p:spPr>
        <p:txBody>
          <a:bodyPr wrap="square" lIns="0" tIns="0" rIns="0" bIns="0" rtlCol="0" anchor="ctr"/>
          <a:lstStyle/>
          <a:p>
            <a:pPr marL="0" indent="0">
              <a:buNone/>
            </a:pPr>
            <a:r>
              <a:rPr lang="en-US" sz="1450" b="1" dirty="0">
                <a:solidFill>
                  <a:srgbClr val="000000"/>
                </a:solidFill>
                <a:latin typeface="Aptos" pitchFamily="34" charset="0"/>
                <a:ea typeface="Aptos" pitchFamily="34" charset="-122"/>
                <a:cs typeface="Aptos" pitchFamily="34" charset="-120"/>
              </a:rPr>
              <a:t>Is it a photo?</a:t>
            </a:r>
            <a:endParaRPr lang="en-US" sz="1450" dirty="0"/>
          </a:p>
        </p:txBody>
      </p:sp>
      <p:sp>
        <p:nvSpPr>
          <p:cNvPr id="14" name="Text 11"/>
          <p:cNvSpPr txBox="1"/>
          <p:nvPr/>
        </p:nvSpPr>
        <p:spPr>
          <a:xfrm>
            <a:off x="8503920" y="2670048"/>
            <a:ext cx="411480" cy="731520"/>
          </a:xfrm>
          <a:prstGeom prst="rect">
            <a:avLst/>
          </a:prstGeom>
          <a:noFill/>
          <a:ln/>
        </p:spPr>
        <p:txBody>
          <a:bodyPr wrap="square" lIns="0" tIns="0" rIns="0" bIns="0" rtlCol="0" anchor="ctr"/>
          <a:lstStyle/>
          <a:p>
            <a:pPr marL="0" indent="0" algn="ctr">
              <a:buNone/>
            </a:pPr>
            <a:r>
              <a:rPr lang="en-US" sz="2200" b="1" dirty="0">
                <a:solidFill>
                  <a:srgbClr val="E97132"/>
                </a:solidFill>
                <a:latin typeface="Aptos" pitchFamily="34" charset="0"/>
                <a:ea typeface="Aptos" pitchFamily="34" charset="-122"/>
                <a:cs typeface="Aptos" pitchFamily="34" charset="-120"/>
              </a:rPr>
              <a:t>→</a:t>
            </a:r>
            <a:endParaRPr lang="en-US" sz="2200" dirty="0"/>
          </a:p>
        </p:txBody>
      </p:sp>
      <p:sp>
        <p:nvSpPr>
          <p:cNvPr id="15" name="Shape 12"/>
          <p:cNvSpPr/>
          <p:nvPr/>
        </p:nvSpPr>
        <p:spPr>
          <a:xfrm>
            <a:off x="8915400" y="2670048"/>
            <a:ext cx="2743200" cy="731520"/>
          </a:xfrm>
          <a:prstGeom prst="roundRect">
            <a:avLst>
              <a:gd name="adj" fmla="val 15000"/>
            </a:avLst>
          </a:prstGeom>
          <a:solidFill>
            <a:srgbClr val="E97132"/>
          </a:solidFill>
          <a:ln w="9525">
            <a:solidFill>
              <a:srgbClr val="E97132"/>
            </a:solidFill>
            <a:prstDash val="solid"/>
          </a:ln>
          <a:effectLst>
            <a:outerShdw blurRad="76200" dist="25400" dir="5400000" algn="bl" rotWithShape="0">
              <a:srgbClr val="000000">
                <a:alpha val="12000"/>
              </a:srgbClr>
            </a:outerShdw>
          </a:effectLst>
        </p:spPr>
        <p:txBody>
          <a:bodyPr/>
          <a:lstStyle/>
          <a:p>
            <a:endParaRPr lang="en-US"/>
          </a:p>
        </p:txBody>
      </p:sp>
      <p:sp>
        <p:nvSpPr>
          <p:cNvPr id="16" name="Text 13"/>
          <p:cNvSpPr txBox="1"/>
          <p:nvPr/>
        </p:nvSpPr>
        <p:spPr>
          <a:xfrm>
            <a:off x="9098280" y="2670048"/>
            <a:ext cx="2377440" cy="731520"/>
          </a:xfrm>
          <a:prstGeom prst="rect">
            <a:avLst/>
          </a:prstGeom>
          <a:noFill/>
          <a:ln/>
        </p:spPr>
        <p:txBody>
          <a:bodyPr wrap="square" lIns="0" tIns="0" rIns="0" bIns="0" rtlCol="0" anchor="ctr"/>
          <a:lstStyle/>
          <a:p>
            <a:pPr marL="0" indent="0">
              <a:buNone/>
            </a:pPr>
            <a:r>
              <a:rPr lang="en-US" sz="1600" b="1" dirty="0">
                <a:solidFill>
                  <a:srgbClr val="FFFFFF"/>
                </a:solidFill>
                <a:latin typeface="Aptos" pitchFamily="34" charset="0"/>
                <a:ea typeface="Aptos" pitchFamily="34" charset="-122"/>
                <a:cs typeface="Aptos" pitchFamily="34" charset="-120"/>
              </a:rPr>
              <a:t>JPG or WebP</a:t>
            </a:r>
            <a:endParaRPr lang="en-US" sz="1600" dirty="0"/>
          </a:p>
          <a:p>
            <a:pPr marL="0" indent="0">
              <a:buNone/>
            </a:pPr>
            <a:r>
              <a:rPr lang="en-US" sz="1150" dirty="0">
                <a:solidFill>
                  <a:srgbClr val="FFFFFF"/>
                </a:solidFill>
                <a:latin typeface="Aptos" pitchFamily="34" charset="0"/>
                <a:ea typeface="Aptos" pitchFamily="34" charset="-122"/>
                <a:cs typeface="Aptos" pitchFamily="34" charset="-120"/>
              </a:rPr>
              <a:t>quality 60–80 · AVIF for even smaller</a:t>
            </a:r>
            <a:endParaRPr lang="en-US" sz="1600" dirty="0"/>
          </a:p>
        </p:txBody>
      </p:sp>
      <p:sp>
        <p:nvSpPr>
          <p:cNvPr id="17" name="Shape 14"/>
          <p:cNvSpPr/>
          <p:nvPr/>
        </p:nvSpPr>
        <p:spPr>
          <a:xfrm>
            <a:off x="4754880" y="3557016"/>
            <a:ext cx="3749040" cy="731520"/>
          </a:xfrm>
          <a:prstGeom prst="roundRect">
            <a:avLst>
              <a:gd name="adj" fmla="val 15000"/>
            </a:avLst>
          </a:prstGeom>
          <a:solidFill>
            <a:srgbClr val="FFFFFF"/>
          </a:solidFill>
          <a:ln w="9525">
            <a:solidFill>
              <a:srgbClr val="D0D7DB"/>
            </a:solidFill>
            <a:prstDash val="solid"/>
          </a:ln>
          <a:effectLst>
            <a:outerShdw blurRad="76200" dist="25400" dir="5400000" algn="bl" rotWithShape="0">
              <a:srgbClr val="000000">
                <a:alpha val="12000"/>
              </a:srgbClr>
            </a:outerShdw>
          </a:effectLst>
        </p:spPr>
        <p:txBody>
          <a:bodyPr/>
          <a:lstStyle/>
          <a:p>
            <a:endParaRPr lang="en-US"/>
          </a:p>
        </p:txBody>
      </p:sp>
      <p:sp>
        <p:nvSpPr>
          <p:cNvPr id="18" name="Text 15"/>
          <p:cNvSpPr txBox="1"/>
          <p:nvPr/>
        </p:nvSpPr>
        <p:spPr>
          <a:xfrm>
            <a:off x="4983480" y="3557016"/>
            <a:ext cx="3383280" cy="731520"/>
          </a:xfrm>
          <a:prstGeom prst="rect">
            <a:avLst/>
          </a:prstGeom>
          <a:noFill/>
          <a:ln/>
        </p:spPr>
        <p:txBody>
          <a:bodyPr wrap="square" lIns="0" tIns="0" rIns="0" bIns="0" rtlCol="0" anchor="ctr"/>
          <a:lstStyle/>
          <a:p>
            <a:pPr marL="0" indent="0">
              <a:buNone/>
            </a:pPr>
            <a:r>
              <a:rPr lang="en-US" sz="1450" b="1" dirty="0">
                <a:solidFill>
                  <a:srgbClr val="000000"/>
                </a:solidFill>
                <a:latin typeface="Aptos" pitchFamily="34" charset="0"/>
                <a:ea typeface="Aptos" pitchFamily="34" charset="-122"/>
                <a:cs typeface="Aptos" pitchFamily="34" charset="-120"/>
              </a:rPr>
              <a:t>Does it need a see-through background?</a:t>
            </a:r>
            <a:endParaRPr lang="en-US" sz="1450" dirty="0"/>
          </a:p>
        </p:txBody>
      </p:sp>
      <p:sp>
        <p:nvSpPr>
          <p:cNvPr id="19" name="Text 16"/>
          <p:cNvSpPr txBox="1"/>
          <p:nvPr/>
        </p:nvSpPr>
        <p:spPr>
          <a:xfrm>
            <a:off x="8503920" y="3557016"/>
            <a:ext cx="411480" cy="731520"/>
          </a:xfrm>
          <a:prstGeom prst="rect">
            <a:avLst/>
          </a:prstGeom>
          <a:noFill/>
          <a:ln/>
        </p:spPr>
        <p:txBody>
          <a:bodyPr wrap="square" lIns="0" tIns="0" rIns="0" bIns="0" rtlCol="0" anchor="ctr"/>
          <a:lstStyle/>
          <a:p>
            <a:pPr marL="0" indent="0" algn="ctr">
              <a:buNone/>
            </a:pPr>
            <a:r>
              <a:rPr lang="en-US" sz="2200" b="1" dirty="0">
                <a:solidFill>
                  <a:srgbClr val="1B5E82"/>
                </a:solidFill>
                <a:latin typeface="Aptos" pitchFamily="34" charset="0"/>
                <a:ea typeface="Aptos" pitchFamily="34" charset="-122"/>
                <a:cs typeface="Aptos" pitchFamily="34" charset="-120"/>
              </a:rPr>
              <a:t>→</a:t>
            </a:r>
            <a:endParaRPr lang="en-US" sz="2200" dirty="0"/>
          </a:p>
        </p:txBody>
      </p:sp>
      <p:sp>
        <p:nvSpPr>
          <p:cNvPr id="20" name="Shape 17"/>
          <p:cNvSpPr/>
          <p:nvPr/>
        </p:nvSpPr>
        <p:spPr>
          <a:xfrm>
            <a:off x="8915400" y="3557016"/>
            <a:ext cx="2743200" cy="731520"/>
          </a:xfrm>
          <a:prstGeom prst="roundRect">
            <a:avLst>
              <a:gd name="adj" fmla="val 15000"/>
            </a:avLst>
          </a:prstGeom>
          <a:solidFill>
            <a:srgbClr val="1B5E82"/>
          </a:solidFill>
          <a:ln w="9525">
            <a:solidFill>
              <a:srgbClr val="1B5E82"/>
            </a:solidFill>
            <a:prstDash val="solid"/>
          </a:ln>
          <a:effectLst>
            <a:outerShdw blurRad="76200" dist="25400" dir="5400000" algn="bl" rotWithShape="0">
              <a:srgbClr val="000000">
                <a:alpha val="12000"/>
              </a:srgbClr>
            </a:outerShdw>
          </a:effectLst>
        </p:spPr>
        <p:txBody>
          <a:bodyPr/>
          <a:lstStyle/>
          <a:p>
            <a:endParaRPr lang="en-US"/>
          </a:p>
        </p:txBody>
      </p:sp>
      <p:sp>
        <p:nvSpPr>
          <p:cNvPr id="21" name="Text 18"/>
          <p:cNvSpPr txBox="1"/>
          <p:nvPr/>
        </p:nvSpPr>
        <p:spPr>
          <a:xfrm>
            <a:off x="9098280" y="3557016"/>
            <a:ext cx="2377440" cy="731520"/>
          </a:xfrm>
          <a:prstGeom prst="rect">
            <a:avLst/>
          </a:prstGeom>
          <a:noFill/>
          <a:ln/>
        </p:spPr>
        <p:txBody>
          <a:bodyPr wrap="square" lIns="0" tIns="0" rIns="0" bIns="0" rtlCol="0" anchor="ctr"/>
          <a:lstStyle/>
          <a:p>
            <a:pPr marL="0" indent="0">
              <a:buNone/>
            </a:pPr>
            <a:r>
              <a:rPr lang="en-US" sz="1600" b="1" dirty="0">
                <a:solidFill>
                  <a:srgbClr val="FFFFFF"/>
                </a:solidFill>
                <a:latin typeface="Aptos" pitchFamily="34" charset="0"/>
                <a:ea typeface="Aptos" pitchFamily="34" charset="-122"/>
                <a:cs typeface="Aptos" pitchFamily="34" charset="-120"/>
              </a:rPr>
              <a:t>PNG or WebP</a:t>
            </a:r>
            <a:endParaRPr lang="en-US" sz="1600" dirty="0"/>
          </a:p>
          <a:p>
            <a:pPr marL="0" indent="0">
              <a:buNone/>
            </a:pPr>
            <a:r>
              <a:rPr lang="en-US" sz="1150" dirty="0">
                <a:solidFill>
                  <a:srgbClr val="FFFFFF"/>
                </a:solidFill>
                <a:latin typeface="Aptos" pitchFamily="34" charset="0"/>
                <a:ea typeface="Aptos" pitchFamily="34" charset="-122"/>
                <a:cs typeface="Aptos" pitchFamily="34" charset="-120"/>
              </a:rPr>
              <a:t>never JPG</a:t>
            </a:r>
            <a:endParaRPr lang="en-US" sz="1600" dirty="0"/>
          </a:p>
        </p:txBody>
      </p:sp>
      <p:sp>
        <p:nvSpPr>
          <p:cNvPr id="22" name="Shape 19"/>
          <p:cNvSpPr/>
          <p:nvPr/>
        </p:nvSpPr>
        <p:spPr>
          <a:xfrm>
            <a:off x="4754880" y="4443984"/>
            <a:ext cx="3749040" cy="731520"/>
          </a:xfrm>
          <a:prstGeom prst="roundRect">
            <a:avLst>
              <a:gd name="adj" fmla="val 15000"/>
            </a:avLst>
          </a:prstGeom>
          <a:solidFill>
            <a:srgbClr val="FFFFFF"/>
          </a:solidFill>
          <a:ln w="9525">
            <a:solidFill>
              <a:srgbClr val="D0D7DB"/>
            </a:solidFill>
            <a:prstDash val="solid"/>
          </a:ln>
          <a:effectLst>
            <a:outerShdw blurRad="76200" dist="25400" dir="5400000" algn="bl" rotWithShape="0">
              <a:srgbClr val="000000">
                <a:alpha val="12000"/>
              </a:srgbClr>
            </a:outerShdw>
          </a:effectLst>
        </p:spPr>
        <p:txBody>
          <a:bodyPr/>
          <a:lstStyle/>
          <a:p>
            <a:endParaRPr lang="en-US"/>
          </a:p>
        </p:txBody>
      </p:sp>
      <p:sp>
        <p:nvSpPr>
          <p:cNvPr id="23" name="Text 20"/>
          <p:cNvSpPr txBox="1"/>
          <p:nvPr/>
        </p:nvSpPr>
        <p:spPr>
          <a:xfrm>
            <a:off x="4983480" y="4443984"/>
            <a:ext cx="3383280" cy="731520"/>
          </a:xfrm>
          <a:prstGeom prst="rect">
            <a:avLst/>
          </a:prstGeom>
          <a:noFill/>
          <a:ln/>
        </p:spPr>
        <p:txBody>
          <a:bodyPr wrap="square" lIns="0" tIns="0" rIns="0" bIns="0" rtlCol="0" anchor="ctr"/>
          <a:lstStyle/>
          <a:p>
            <a:pPr marL="0" indent="0">
              <a:buNone/>
            </a:pPr>
            <a:r>
              <a:rPr lang="en-US" sz="1450" b="1" dirty="0">
                <a:solidFill>
                  <a:srgbClr val="000000"/>
                </a:solidFill>
                <a:latin typeface="Aptos" pitchFamily="34" charset="0"/>
                <a:ea typeface="Aptos" pitchFamily="34" charset="-122"/>
                <a:cs typeface="Aptos" pitchFamily="34" charset="-120"/>
              </a:rPr>
              <a:t>Screenshot, text or flat colours?</a:t>
            </a:r>
            <a:endParaRPr lang="en-US" sz="1450" dirty="0"/>
          </a:p>
        </p:txBody>
      </p:sp>
      <p:sp>
        <p:nvSpPr>
          <p:cNvPr id="24" name="Text 21"/>
          <p:cNvSpPr txBox="1"/>
          <p:nvPr/>
        </p:nvSpPr>
        <p:spPr>
          <a:xfrm>
            <a:off x="8503920" y="4443984"/>
            <a:ext cx="411480" cy="731520"/>
          </a:xfrm>
          <a:prstGeom prst="rect">
            <a:avLst/>
          </a:prstGeom>
          <a:noFill/>
          <a:ln/>
        </p:spPr>
        <p:txBody>
          <a:bodyPr wrap="square" lIns="0" tIns="0" rIns="0" bIns="0" rtlCol="0" anchor="ctr"/>
          <a:lstStyle/>
          <a:p>
            <a:pPr marL="0" indent="0" algn="ctr">
              <a:buNone/>
            </a:pPr>
            <a:r>
              <a:rPr lang="en-US" sz="2200" b="1" dirty="0">
                <a:solidFill>
                  <a:srgbClr val="A02B93"/>
                </a:solidFill>
                <a:latin typeface="Aptos" pitchFamily="34" charset="0"/>
                <a:ea typeface="Aptos" pitchFamily="34" charset="-122"/>
                <a:cs typeface="Aptos" pitchFamily="34" charset="-120"/>
              </a:rPr>
              <a:t>→</a:t>
            </a:r>
            <a:endParaRPr lang="en-US" sz="2200" dirty="0"/>
          </a:p>
        </p:txBody>
      </p:sp>
      <p:sp>
        <p:nvSpPr>
          <p:cNvPr id="25" name="Shape 22"/>
          <p:cNvSpPr/>
          <p:nvPr/>
        </p:nvSpPr>
        <p:spPr>
          <a:xfrm>
            <a:off x="8915400" y="4443984"/>
            <a:ext cx="2743200" cy="731520"/>
          </a:xfrm>
          <a:prstGeom prst="roundRect">
            <a:avLst>
              <a:gd name="adj" fmla="val 15000"/>
            </a:avLst>
          </a:prstGeom>
          <a:solidFill>
            <a:srgbClr val="A02B93"/>
          </a:solidFill>
          <a:ln w="9525">
            <a:solidFill>
              <a:srgbClr val="A02B93"/>
            </a:solidFill>
            <a:prstDash val="solid"/>
          </a:ln>
          <a:effectLst>
            <a:outerShdw blurRad="76200" dist="25400" dir="5400000" algn="bl" rotWithShape="0">
              <a:srgbClr val="000000">
                <a:alpha val="12000"/>
              </a:srgbClr>
            </a:outerShdw>
          </a:effectLst>
        </p:spPr>
        <p:txBody>
          <a:bodyPr/>
          <a:lstStyle/>
          <a:p>
            <a:endParaRPr lang="en-US"/>
          </a:p>
        </p:txBody>
      </p:sp>
      <p:sp>
        <p:nvSpPr>
          <p:cNvPr id="26" name="Text 23"/>
          <p:cNvSpPr txBox="1"/>
          <p:nvPr/>
        </p:nvSpPr>
        <p:spPr>
          <a:xfrm>
            <a:off x="9098280" y="4443984"/>
            <a:ext cx="2377440" cy="731520"/>
          </a:xfrm>
          <a:prstGeom prst="rect">
            <a:avLst/>
          </a:prstGeom>
          <a:noFill/>
          <a:ln/>
        </p:spPr>
        <p:txBody>
          <a:bodyPr wrap="square" lIns="0" tIns="0" rIns="0" bIns="0" rtlCol="0" anchor="ctr"/>
          <a:lstStyle/>
          <a:p>
            <a:pPr marL="0" indent="0">
              <a:buNone/>
            </a:pPr>
            <a:r>
              <a:rPr lang="en-US" sz="1600" b="1" dirty="0">
                <a:solidFill>
                  <a:srgbClr val="FFFFFF"/>
                </a:solidFill>
                <a:latin typeface="Aptos" pitchFamily="34" charset="0"/>
                <a:ea typeface="Aptos" pitchFamily="34" charset="-122"/>
                <a:cs typeface="Aptos" pitchFamily="34" charset="-120"/>
              </a:rPr>
              <a:t>PNG</a:t>
            </a:r>
            <a:endParaRPr lang="en-US" sz="1600" dirty="0"/>
          </a:p>
          <a:p>
            <a:pPr marL="0" indent="0">
              <a:buNone/>
            </a:pPr>
            <a:r>
              <a:rPr lang="en-US" sz="1150" dirty="0">
                <a:solidFill>
                  <a:srgbClr val="FFFFFF"/>
                </a:solidFill>
                <a:latin typeface="Aptos" pitchFamily="34" charset="0"/>
                <a:ea typeface="Aptos" pitchFamily="34" charset="-122"/>
                <a:cs typeface="Aptos" pitchFamily="34" charset="-120"/>
              </a:rPr>
              <a:t>lossless keeps edges sharp</a:t>
            </a:r>
            <a:endParaRPr lang="en-US" sz="1600" dirty="0"/>
          </a:p>
        </p:txBody>
      </p:sp>
      <p:sp>
        <p:nvSpPr>
          <p:cNvPr id="27" name="Shape 24"/>
          <p:cNvSpPr/>
          <p:nvPr/>
        </p:nvSpPr>
        <p:spPr>
          <a:xfrm>
            <a:off x="4754880" y="5330952"/>
            <a:ext cx="3749040" cy="731520"/>
          </a:xfrm>
          <a:prstGeom prst="roundRect">
            <a:avLst>
              <a:gd name="adj" fmla="val 15000"/>
            </a:avLst>
          </a:prstGeom>
          <a:solidFill>
            <a:srgbClr val="FFFFFF"/>
          </a:solidFill>
          <a:ln w="9525">
            <a:solidFill>
              <a:srgbClr val="D0D7DB"/>
            </a:solidFill>
            <a:prstDash val="solid"/>
          </a:ln>
          <a:effectLst>
            <a:outerShdw blurRad="76200" dist="25400" dir="5400000" algn="bl" rotWithShape="0">
              <a:srgbClr val="000000">
                <a:alpha val="12000"/>
              </a:srgbClr>
            </a:outerShdw>
          </a:effectLst>
        </p:spPr>
        <p:txBody>
          <a:bodyPr/>
          <a:lstStyle/>
          <a:p>
            <a:endParaRPr lang="en-US"/>
          </a:p>
        </p:txBody>
      </p:sp>
      <p:sp>
        <p:nvSpPr>
          <p:cNvPr id="28" name="Text 25"/>
          <p:cNvSpPr txBox="1"/>
          <p:nvPr/>
        </p:nvSpPr>
        <p:spPr>
          <a:xfrm>
            <a:off x="4983480" y="5330952"/>
            <a:ext cx="3383280" cy="731520"/>
          </a:xfrm>
          <a:prstGeom prst="rect">
            <a:avLst/>
          </a:prstGeom>
          <a:noFill/>
          <a:ln/>
        </p:spPr>
        <p:txBody>
          <a:bodyPr wrap="square" lIns="0" tIns="0" rIns="0" bIns="0" rtlCol="0" anchor="ctr"/>
          <a:lstStyle/>
          <a:p>
            <a:pPr marL="0" indent="0">
              <a:buNone/>
            </a:pPr>
            <a:r>
              <a:rPr lang="en-US" sz="1450" b="1" dirty="0">
                <a:solidFill>
                  <a:srgbClr val="000000"/>
                </a:solidFill>
                <a:latin typeface="Aptos" pitchFamily="34" charset="0"/>
                <a:ea typeface="Aptos" pitchFamily="34" charset="-122"/>
                <a:cs typeface="Aptos" pitchFamily="34" charset="-120"/>
              </a:rPr>
              <a:t>Is it animated?</a:t>
            </a:r>
            <a:endParaRPr lang="en-US" sz="1450" dirty="0"/>
          </a:p>
        </p:txBody>
      </p:sp>
      <p:sp>
        <p:nvSpPr>
          <p:cNvPr id="29" name="Text 26"/>
          <p:cNvSpPr txBox="1"/>
          <p:nvPr/>
        </p:nvSpPr>
        <p:spPr>
          <a:xfrm>
            <a:off x="8503920" y="5330952"/>
            <a:ext cx="411480" cy="731520"/>
          </a:xfrm>
          <a:prstGeom prst="rect">
            <a:avLst/>
          </a:prstGeom>
          <a:noFill/>
          <a:ln/>
        </p:spPr>
        <p:txBody>
          <a:bodyPr wrap="square" lIns="0" tIns="0" rIns="0" bIns="0" rtlCol="0" anchor="ctr"/>
          <a:lstStyle/>
          <a:p>
            <a:pPr marL="0" indent="0" algn="ctr">
              <a:buNone/>
            </a:pPr>
            <a:r>
              <a:rPr lang="en-US" sz="2200" b="1" dirty="0">
                <a:solidFill>
                  <a:srgbClr val="7F7F7F"/>
                </a:solidFill>
                <a:latin typeface="Aptos" pitchFamily="34" charset="0"/>
                <a:ea typeface="Aptos" pitchFamily="34" charset="-122"/>
                <a:cs typeface="Aptos" pitchFamily="34" charset="-120"/>
              </a:rPr>
              <a:t>→</a:t>
            </a:r>
            <a:endParaRPr lang="en-US" sz="2200" dirty="0"/>
          </a:p>
        </p:txBody>
      </p:sp>
      <p:sp>
        <p:nvSpPr>
          <p:cNvPr id="30" name="Shape 27"/>
          <p:cNvSpPr/>
          <p:nvPr/>
        </p:nvSpPr>
        <p:spPr>
          <a:xfrm>
            <a:off x="8915400" y="5330952"/>
            <a:ext cx="2743200" cy="731520"/>
          </a:xfrm>
          <a:prstGeom prst="roundRect">
            <a:avLst>
              <a:gd name="adj" fmla="val 15000"/>
            </a:avLst>
          </a:prstGeom>
          <a:solidFill>
            <a:srgbClr val="7F7F7F"/>
          </a:solidFill>
          <a:ln w="9525">
            <a:solidFill>
              <a:srgbClr val="7F7F7F"/>
            </a:solidFill>
            <a:prstDash val="solid"/>
          </a:ln>
          <a:effectLst>
            <a:outerShdw blurRad="76200" dist="25400" dir="5400000" algn="bl" rotWithShape="0">
              <a:srgbClr val="000000">
                <a:alpha val="12000"/>
              </a:srgbClr>
            </a:outerShdw>
          </a:effectLst>
        </p:spPr>
        <p:txBody>
          <a:bodyPr/>
          <a:lstStyle/>
          <a:p>
            <a:endParaRPr lang="en-US"/>
          </a:p>
        </p:txBody>
      </p:sp>
      <p:sp>
        <p:nvSpPr>
          <p:cNvPr id="31" name="Text 28"/>
          <p:cNvSpPr txBox="1"/>
          <p:nvPr/>
        </p:nvSpPr>
        <p:spPr>
          <a:xfrm>
            <a:off x="9098280" y="5330952"/>
            <a:ext cx="2377440" cy="731520"/>
          </a:xfrm>
          <a:prstGeom prst="rect">
            <a:avLst/>
          </a:prstGeom>
          <a:noFill/>
          <a:ln/>
        </p:spPr>
        <p:txBody>
          <a:bodyPr wrap="square" lIns="0" tIns="0" rIns="0" bIns="0" rtlCol="0" anchor="ctr"/>
          <a:lstStyle/>
          <a:p>
            <a:pPr marL="0" indent="0">
              <a:buNone/>
            </a:pPr>
            <a:r>
              <a:rPr lang="en-US" sz="1600" b="1" dirty="0">
                <a:solidFill>
                  <a:srgbClr val="FFFFFF"/>
                </a:solidFill>
                <a:latin typeface="Aptos" pitchFamily="34" charset="0"/>
                <a:ea typeface="Aptos" pitchFamily="34" charset="-122"/>
                <a:cs typeface="Aptos" pitchFamily="34" charset="-120"/>
              </a:rPr>
              <a:t>Video (MP4)</a:t>
            </a:r>
            <a:endParaRPr lang="en-US" sz="1600" dirty="0"/>
          </a:p>
          <a:p>
            <a:pPr marL="0" indent="0">
              <a:buNone/>
            </a:pPr>
            <a:r>
              <a:rPr lang="en-US" sz="1150" dirty="0">
                <a:solidFill>
                  <a:srgbClr val="FFFFFF"/>
                </a:solidFill>
                <a:latin typeface="Aptos" pitchFamily="34" charset="0"/>
                <a:ea typeface="Aptos" pitchFamily="34" charset="-122"/>
                <a:cs typeface="Aptos" pitchFamily="34" charset="-120"/>
              </a:rPr>
              <a:t>or animated WebP · GIF is the old way</a:t>
            </a:r>
            <a:endParaRPr lang="en-US" sz="1600" dirty="0"/>
          </a:p>
        </p:txBody>
      </p:sp>
      <p:sp>
        <p:nvSpPr>
          <p:cNvPr id="32" name="Text 29"/>
          <p:cNvSpPr txBox="1"/>
          <p:nvPr/>
        </p:nvSpPr>
        <p:spPr>
          <a:xfrm>
            <a:off x="4754880" y="6263640"/>
            <a:ext cx="6903720" cy="365760"/>
          </a:xfrm>
          <a:prstGeom prst="rect">
            <a:avLst/>
          </a:prstGeom>
          <a:noFill/>
          <a:ln/>
        </p:spPr>
        <p:txBody>
          <a:bodyPr wrap="square" lIns="0" tIns="0" rIns="0" bIns="0" rtlCol="0" anchor="ctr"/>
          <a:lstStyle/>
          <a:p>
            <a:pPr marL="0" indent="0">
              <a:buNone/>
            </a:pPr>
            <a:r>
              <a:rPr lang="en-US" sz="1450" b="1" dirty="0">
                <a:solidFill>
                  <a:srgbClr val="1B5E82"/>
                </a:solidFill>
                <a:latin typeface="Aptos" pitchFamily="34" charset="0"/>
                <a:ea typeface="Aptos" pitchFamily="34" charset="-122"/>
                <a:cs typeface="Aptos" pitchFamily="34" charset="-120"/>
              </a:rPr>
              <a:t>Then: resize to the size it's shown (× 2), and check the file size.</a:t>
            </a:r>
            <a:endParaRPr lang="en-US" sz="14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2926080" y="640080"/>
            <a:ext cx="8412480" cy="4206240"/>
          </a:xfrm>
          <a:prstGeom prst="rect">
            <a:avLst/>
          </a:prstGeom>
          <a:noFill/>
          <a:ln/>
        </p:spPr>
        <p:txBody>
          <a:bodyPr wrap="square" lIns="0" tIns="0" rIns="0" bIns="0" rtlCol="0" anchor="ctr"/>
          <a:lstStyle/>
          <a:p>
            <a:pPr marL="0" indent="0" algn="r">
              <a:buNone/>
            </a:pPr>
            <a:r>
              <a:rPr lang="en-US" sz="6000" dirty="0">
                <a:solidFill>
                  <a:srgbClr val="FFFFFF"/>
                </a:solidFill>
                <a:latin typeface="Aptos" pitchFamily="34" charset="0"/>
                <a:ea typeface="Aptos" pitchFamily="34" charset="-122"/>
                <a:cs typeface="Aptos" pitchFamily="34" charset="-120"/>
              </a:rPr>
              <a:t>Images in HTML</a:t>
            </a:r>
            <a:endParaRPr lang="en-US" sz="6000" dirty="0"/>
          </a:p>
        </p:txBody>
      </p:sp>
      <p:sp>
        <p:nvSpPr>
          <p:cNvPr id="3" name="Text 1"/>
          <p:cNvSpPr txBox="1"/>
          <p:nvPr/>
        </p:nvSpPr>
        <p:spPr>
          <a:xfrm>
            <a:off x="1417320" y="5989320"/>
            <a:ext cx="10058400" cy="411480"/>
          </a:xfrm>
          <a:prstGeom prst="rect">
            <a:avLst/>
          </a:prstGeom>
          <a:noFill/>
          <a:ln/>
        </p:spPr>
        <p:txBody>
          <a:bodyPr wrap="square" lIns="0" tIns="0" rIns="0" bIns="0" rtlCol="0" anchor="ctr"/>
          <a:lstStyle/>
          <a:p>
            <a:pPr marL="0" indent="0">
              <a:buNone/>
            </a:pPr>
            <a:r>
              <a:rPr lang="en-US" sz="1800" dirty="0">
                <a:solidFill>
                  <a:srgbClr val="FFFFFF"/>
                </a:solidFill>
                <a:latin typeface="Aptos" pitchFamily="34" charset="0"/>
                <a:ea typeface="Aptos" pitchFamily="34" charset="-122"/>
                <a:cs typeface="Aptos" pitchFamily="34" charset="-120"/>
              </a:rPr>
              <a:t>width and height · lazy loading · srcset · picture</a:t>
            </a:r>
            <a:endParaRPr lang="en-US" sz="1800" dirty="0"/>
          </a:p>
        </p:txBody>
      </p:sp>
      <p:sp>
        <p:nvSpPr>
          <p:cNvPr id="4" name="Shape 2"/>
          <p:cNvSpPr/>
          <p:nvPr/>
        </p:nvSpPr>
        <p:spPr>
          <a:xfrm>
            <a:off x="914400" y="3840480"/>
            <a:ext cx="0" cy="3017520"/>
          </a:xfrm>
          <a:prstGeom prst="line">
            <a:avLst/>
          </a:prstGeom>
          <a:noFill/>
          <a:ln w="25400">
            <a:solidFill>
              <a:srgbClr val="FFFFFF"/>
            </a:solidFill>
            <a:prstDash val="solid"/>
          </a:ln>
        </p:spPr>
        <p:txBody>
          <a:bodyPr/>
          <a:lstStyle/>
          <a:p>
            <a:endParaRPr lang="en-US"/>
          </a:p>
        </p:txBody>
      </p:sp>
      <p:sp>
        <p:nvSpPr>
          <p:cNvPr id="5" name="Text 3"/>
          <p:cNvSpPr txBox="1"/>
          <p:nvPr/>
        </p:nvSpPr>
        <p:spPr>
          <a:xfrm>
            <a:off x="3794760" y="502920"/>
            <a:ext cx="365760" cy="365760"/>
          </a:xfrm>
          <a:prstGeom prst="rect">
            <a:avLst/>
          </a:prstGeom>
          <a:noFill/>
          <a:ln/>
        </p:spPr>
        <p:txBody>
          <a:bodyPr wrap="square" lIns="0" tIns="0" rIns="0" bIns="0" rtlCol="0" anchor="ctr"/>
          <a:lstStyle/>
          <a:p>
            <a:pPr marL="0" indent="0" algn="ctr">
              <a:buNone/>
            </a:pPr>
            <a:r>
              <a:rPr lang="en-US" sz="2000" dirty="0">
                <a:solidFill>
                  <a:srgbClr val="FFFFFF"/>
                </a:solidFill>
                <a:latin typeface="Aptos" pitchFamily="34" charset="0"/>
                <a:ea typeface="Aptos" pitchFamily="34" charset="-122"/>
                <a:cs typeface="Aptos" pitchFamily="34" charset="-120"/>
              </a:rPr>
              <a:t>+</a:t>
            </a:r>
            <a:endParaRPr lang="en-US" sz="2000" dirty="0"/>
          </a:p>
        </p:txBody>
      </p:sp>
      <p:sp>
        <p:nvSpPr>
          <p:cNvPr id="6" name="Text 4"/>
          <p:cNvSpPr txBox="1"/>
          <p:nvPr/>
        </p:nvSpPr>
        <p:spPr>
          <a:xfrm>
            <a:off x="4160520" y="731520"/>
            <a:ext cx="365760" cy="365760"/>
          </a:xfrm>
          <a:prstGeom prst="rect">
            <a:avLst/>
          </a:prstGeom>
          <a:noFill/>
          <a:ln/>
        </p:spPr>
        <p:txBody>
          <a:bodyPr wrap="square" lIns="0" tIns="0" rIns="0" bIns="0" rtlCol="0" anchor="ctr"/>
          <a:lstStyle/>
          <a:p>
            <a:pPr marL="0" indent="0" algn="ctr">
              <a:buNone/>
            </a:pPr>
            <a:r>
              <a:rPr lang="en-US" sz="2000" dirty="0">
                <a:solidFill>
                  <a:srgbClr val="FFFFFF"/>
                </a:solidFill>
                <a:latin typeface="Aptos" pitchFamily="34" charset="0"/>
                <a:ea typeface="Aptos" pitchFamily="34" charset="-122"/>
                <a:cs typeface="Aptos" pitchFamily="34" charset="-120"/>
              </a:rPr>
              <a:t>•</a:t>
            </a:r>
            <a:endParaRPr lang="en-US" sz="2000" dirty="0"/>
          </a:p>
        </p:txBody>
      </p:sp>
      <p:sp>
        <p:nvSpPr>
          <p:cNvPr id="7" name="Text 5"/>
          <p:cNvSpPr txBox="1"/>
          <p:nvPr/>
        </p:nvSpPr>
        <p:spPr>
          <a:xfrm>
            <a:off x="3749040" y="914400"/>
            <a:ext cx="365760" cy="365760"/>
          </a:xfrm>
          <a:prstGeom prst="rect">
            <a:avLst/>
          </a:prstGeom>
          <a:noFill/>
          <a:ln/>
        </p:spPr>
        <p:txBody>
          <a:bodyPr wrap="square" lIns="0" tIns="0" rIns="0" bIns="0" rtlCol="0" anchor="ctr"/>
          <a:lstStyle/>
          <a:p>
            <a:pPr marL="0" indent="0" algn="ctr">
              <a:buNone/>
            </a:pPr>
            <a:r>
              <a:rPr lang="en-US" sz="1600" dirty="0">
                <a:solidFill>
                  <a:srgbClr val="FFFFFF"/>
                </a:solidFill>
                <a:latin typeface="Aptos" pitchFamily="34" charset="0"/>
                <a:ea typeface="Aptos" pitchFamily="34" charset="-122"/>
                <a:cs typeface="Aptos" pitchFamily="34" charset="-120"/>
              </a:rPr>
              <a:t>○</a:t>
            </a:r>
            <a:endParaRPr lang="en-US" sz="1600" dirty="0"/>
          </a:p>
        </p:txBody>
      </p:sp>
      <p:sp>
        <p:nvSpPr>
          <p:cNvPr id="8" name="Text 6"/>
          <p:cNvSpPr txBox="1"/>
          <p:nvPr/>
        </p:nvSpPr>
        <p:spPr>
          <a:xfrm>
            <a:off x="11521440" y="5760720"/>
            <a:ext cx="365760" cy="365760"/>
          </a:xfrm>
          <a:prstGeom prst="rect">
            <a:avLst/>
          </a:prstGeom>
          <a:noFill/>
          <a:ln/>
        </p:spPr>
        <p:txBody>
          <a:bodyPr wrap="square" lIns="0" tIns="0" rIns="0" bIns="0" rtlCol="0" anchor="ctr"/>
          <a:lstStyle/>
          <a:p>
            <a:pPr marL="0" indent="0" algn="ctr">
              <a:buNone/>
            </a:pPr>
            <a:r>
              <a:rPr lang="en-US" sz="2000" dirty="0">
                <a:solidFill>
                  <a:srgbClr val="FFFFFF"/>
                </a:solidFill>
                <a:latin typeface="Aptos" pitchFamily="34" charset="0"/>
                <a:ea typeface="Aptos" pitchFamily="34" charset="-122"/>
                <a:cs typeface="Aptos" pitchFamily="34" charset="-120"/>
              </a:rPr>
              <a:t>+</a:t>
            </a:r>
            <a:endParaRPr lang="en-US" sz="2000" dirty="0"/>
          </a:p>
        </p:txBody>
      </p:sp>
      <p:sp>
        <p:nvSpPr>
          <p:cNvPr id="9" name="Text 7"/>
          <p:cNvSpPr txBox="1"/>
          <p:nvPr/>
        </p:nvSpPr>
        <p:spPr>
          <a:xfrm>
            <a:off x="11292840" y="6263640"/>
            <a:ext cx="365760" cy="365760"/>
          </a:xfrm>
          <a:prstGeom prst="rect">
            <a:avLst/>
          </a:prstGeom>
          <a:noFill/>
          <a:ln/>
        </p:spPr>
        <p:txBody>
          <a:bodyPr wrap="square" lIns="0" tIns="0" rIns="0" bIns="0" rtlCol="0" anchor="ctr"/>
          <a:lstStyle/>
          <a:p>
            <a:pPr marL="0" indent="0" algn="ctr">
              <a:buNone/>
            </a:pPr>
            <a:r>
              <a:rPr lang="en-US" sz="2000" dirty="0">
                <a:solidFill>
                  <a:srgbClr val="FFFFFF"/>
                </a:solidFill>
                <a:latin typeface="Aptos" pitchFamily="34" charset="0"/>
                <a:ea typeface="Aptos" pitchFamily="34" charset="-122"/>
                <a:cs typeface="Aptos" pitchFamily="34" charset="-120"/>
              </a:rPr>
              <a:t>•</a:t>
            </a:r>
            <a:endParaRPr lang="en-US" sz="2000" dirty="0"/>
          </a:p>
        </p:txBody>
      </p:sp>
      <p:sp>
        <p:nvSpPr>
          <p:cNvPr id="10" name="Text 8"/>
          <p:cNvSpPr txBox="1"/>
          <p:nvPr/>
        </p:nvSpPr>
        <p:spPr>
          <a:xfrm>
            <a:off x="11887200" y="6263640"/>
            <a:ext cx="365760" cy="365760"/>
          </a:xfrm>
          <a:prstGeom prst="rect">
            <a:avLst/>
          </a:prstGeom>
          <a:noFill/>
          <a:ln/>
        </p:spPr>
        <p:txBody>
          <a:bodyPr wrap="square" lIns="0" tIns="0" rIns="0" bIns="0" rtlCol="0" anchor="ctr"/>
          <a:lstStyle/>
          <a:p>
            <a:pPr marL="0" indent="0" algn="ctr">
              <a:buNone/>
            </a:pPr>
            <a:r>
              <a:rPr lang="en-US" sz="1400" dirty="0">
                <a:solidFill>
                  <a:srgbClr val="FFFFFF"/>
                </a:solidFill>
                <a:latin typeface="Aptos" pitchFamily="34" charset="0"/>
                <a:ea typeface="Aptos" pitchFamily="34" charset="-122"/>
                <a:cs typeface="Aptos" pitchFamily="34" charset="-120"/>
              </a:rPr>
              <a:t>○</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pic>
        <p:nvPicPr>
          <p:cNvPr id="2" name="Image 0" descr="C:\Repos\2026-2027\WEBD1000\04_Images_for_the_Web\_build\grad_left.png"/>
          <p:cNvPicPr>
            <a:picLocks noChangeAspect="1"/>
          </p:cNvPicPr>
          <p:nvPr/>
        </p:nvPicPr>
        <p:blipFill>
          <a:blip r:embed="rId3"/>
          <a:stretch>
            <a:fillRect/>
          </a:stretch>
        </p:blipFill>
        <p:spPr>
          <a:xfrm>
            <a:off x="0" y="0"/>
            <a:ext cx="6400800" cy="6858000"/>
          </a:xfrm>
          <a:prstGeom prst="rect">
            <a:avLst/>
          </a:prstGeom>
        </p:spPr>
      </p:pic>
      <p:sp>
        <p:nvSpPr>
          <p:cNvPr id="3" name="Shape 0"/>
          <p:cNvSpPr/>
          <p:nvPr/>
        </p:nvSpPr>
        <p:spPr>
          <a:xfrm>
            <a:off x="274320" y="1656080"/>
            <a:ext cx="5852160" cy="3545840"/>
          </a:xfrm>
          <a:prstGeom prst="rect">
            <a:avLst/>
          </a:prstGeom>
          <a:solidFill>
            <a:srgbClr val="1E1E1E"/>
          </a:solidFill>
          <a:ln w="12700">
            <a:solidFill>
              <a:srgbClr val="1E1E1E"/>
            </a:solidFill>
            <a:prstDash val="solid"/>
          </a:ln>
          <a:effectLst>
            <a:outerShdw blurRad="101600" dist="38100" dir="5400000" algn="bl" rotWithShape="0">
              <a:srgbClr val="000000">
                <a:alpha val="35000"/>
              </a:srgbClr>
            </a:outerShdw>
          </a:effectLst>
        </p:spPr>
        <p:txBody>
          <a:bodyPr/>
          <a:lstStyle/>
          <a:p>
            <a:endParaRPr lang="en-US"/>
          </a:p>
        </p:txBody>
      </p:sp>
      <p:sp>
        <p:nvSpPr>
          <p:cNvPr id="4" name="Text 1"/>
          <p:cNvSpPr txBox="1"/>
          <p:nvPr/>
        </p:nvSpPr>
        <p:spPr>
          <a:xfrm>
            <a:off x="502920" y="1884680"/>
            <a:ext cx="5394960" cy="3088640"/>
          </a:xfrm>
          <a:prstGeom prst="rect">
            <a:avLst/>
          </a:prstGeom>
          <a:noFill/>
          <a:ln/>
        </p:spPr>
        <p:txBody>
          <a:bodyPr wrap="square" lIns="0" tIns="0" rIns="0" bIns="0" rtlCol="0" anchor="t"/>
          <a:lstStyle/>
          <a:p>
            <a:pPr marL="0" indent="0">
              <a:lnSpc>
                <a:spcPct val="100000"/>
              </a:lnSpc>
              <a:buNone/>
            </a:pPr>
            <a:r>
              <a:rPr lang="en-US" sz="1000" dirty="0">
                <a:solidFill>
                  <a:srgbClr val="808080"/>
                </a:solidFill>
                <a:latin typeface="Consolas" pitchFamily="34" charset="0"/>
                <a:ea typeface="Consolas" pitchFamily="34" charset="-122"/>
                <a:cs typeface="Consolas" pitchFamily="34" charset="-120"/>
              </a:rPr>
              <a:t>&lt;</a:t>
            </a:r>
            <a:r>
              <a:rPr lang="en-US" sz="1000" dirty="0">
                <a:solidFill>
                  <a:srgbClr val="569CD6"/>
                </a:solidFill>
                <a:latin typeface="Consolas" pitchFamily="34" charset="0"/>
                <a:ea typeface="Consolas" pitchFamily="34" charset="-122"/>
                <a:cs typeface="Consolas" pitchFamily="34" charset="-120"/>
              </a:rPr>
              <a:t>h1</a:t>
            </a:r>
            <a:r>
              <a:rPr lang="en-US" sz="1000" dirty="0">
                <a:solidFill>
                  <a:srgbClr val="808080"/>
                </a:solidFill>
                <a:latin typeface="Consolas" pitchFamily="34" charset="0"/>
                <a:ea typeface="Consolas" pitchFamily="34" charset="-122"/>
                <a:cs typeface="Consolas" pitchFamily="34" charset="-120"/>
              </a:rPr>
              <a:t>&gt;</a:t>
            </a:r>
            <a:r>
              <a:rPr lang="en-US" sz="1000" dirty="0">
                <a:solidFill>
                  <a:srgbClr val="D4D4D4"/>
                </a:solidFill>
                <a:latin typeface="Consolas" pitchFamily="34" charset="0"/>
                <a:ea typeface="Consolas" pitchFamily="34" charset="-122"/>
                <a:cs typeface="Consolas" pitchFamily="34" charset="-120"/>
              </a:rPr>
              <a:t>Harbourside Fish </a:t>
            </a:r>
            <a:r>
              <a:rPr lang="en-US" sz="1000" dirty="0">
                <a:solidFill>
                  <a:srgbClr val="D7BA7D"/>
                </a:solidFill>
                <a:latin typeface="Consolas" pitchFamily="34" charset="0"/>
                <a:ea typeface="Consolas" pitchFamily="34" charset="-122"/>
                <a:cs typeface="Consolas" pitchFamily="34" charset="-120"/>
              </a:rPr>
              <a:t>&amp;amp;</a:t>
            </a:r>
            <a:r>
              <a:rPr lang="en-US" sz="1000" dirty="0">
                <a:solidFill>
                  <a:srgbClr val="D4D4D4"/>
                </a:solidFill>
                <a:latin typeface="Consolas" pitchFamily="34" charset="0"/>
                <a:ea typeface="Consolas" pitchFamily="34" charset="-122"/>
                <a:cs typeface="Consolas" pitchFamily="34" charset="-120"/>
              </a:rPr>
              <a:t> Chips</a:t>
            </a:r>
            <a:r>
              <a:rPr lang="en-US" sz="1000" dirty="0">
                <a:solidFill>
                  <a:srgbClr val="808080"/>
                </a:solidFill>
                <a:latin typeface="Consolas" pitchFamily="34" charset="0"/>
                <a:ea typeface="Consolas" pitchFamily="34" charset="-122"/>
                <a:cs typeface="Consolas" pitchFamily="34" charset="-120"/>
              </a:rPr>
              <a:t>&lt;/</a:t>
            </a:r>
            <a:r>
              <a:rPr lang="en-US" sz="1000" dirty="0">
                <a:solidFill>
                  <a:srgbClr val="569CD6"/>
                </a:solidFill>
                <a:latin typeface="Consolas" pitchFamily="34" charset="0"/>
                <a:ea typeface="Consolas" pitchFamily="34" charset="-122"/>
                <a:cs typeface="Consolas" pitchFamily="34" charset="-120"/>
              </a:rPr>
              <a:t>h1</a:t>
            </a:r>
            <a:r>
              <a:rPr lang="en-US" sz="1000" dirty="0">
                <a:solidFill>
                  <a:srgbClr val="808080"/>
                </a:solidFill>
                <a:latin typeface="Consolas" pitchFamily="34" charset="0"/>
                <a:ea typeface="Consolas" pitchFamily="34" charset="-122"/>
                <a:cs typeface="Consolas" pitchFamily="34" charset="-120"/>
              </a:rPr>
              <a:t>&gt;</a:t>
            </a:r>
            <a:endParaRPr lang="en-US" sz="1000" dirty="0"/>
          </a:p>
          <a:p>
            <a:pPr marL="0" indent="0">
              <a:lnSpc>
                <a:spcPct val="100000"/>
              </a:lnSpc>
              <a:buNone/>
            </a:pPr>
            <a:r>
              <a:rPr lang="en-US" sz="1000" dirty="0">
                <a:solidFill>
                  <a:srgbClr val="D4D4D4"/>
                </a:solidFill>
                <a:latin typeface="Consolas" pitchFamily="34" charset="0"/>
                <a:ea typeface="Consolas" pitchFamily="34" charset="-122"/>
                <a:cs typeface="Consolas" pitchFamily="34" charset="-120"/>
              </a:rPr>
              <a:t> </a:t>
            </a:r>
            <a:endParaRPr lang="en-US" sz="1000" dirty="0"/>
          </a:p>
          <a:p>
            <a:pPr marL="0" indent="0">
              <a:lnSpc>
                <a:spcPct val="100000"/>
              </a:lnSpc>
              <a:buNone/>
            </a:pPr>
            <a:r>
              <a:rPr lang="en-US" sz="1000" dirty="0">
                <a:solidFill>
                  <a:srgbClr val="6A9955"/>
                </a:solidFill>
                <a:latin typeface="Consolas" pitchFamily="34" charset="0"/>
                <a:ea typeface="Consolas" pitchFamily="34" charset="-122"/>
                <a:cs typeface="Consolas" pitchFamily="34" charset="-120"/>
              </a:rPr>
              <a:t>&lt;!-- width and height: the browser saves the right amount of</a:t>
            </a:r>
            <a:endParaRPr lang="en-US" sz="1000" dirty="0"/>
          </a:p>
          <a:p>
            <a:pPr marL="0" indent="0">
              <a:lnSpc>
                <a:spcPct val="100000"/>
              </a:lnSpc>
              <a:buNone/>
            </a:pPr>
            <a:r>
              <a:rPr lang="en-US" sz="1000" dirty="0">
                <a:solidFill>
                  <a:srgbClr val="6A9955"/>
                </a:solidFill>
                <a:latin typeface="Consolas" pitchFamily="34" charset="0"/>
                <a:ea typeface="Consolas" pitchFamily="34" charset="-122"/>
                <a:cs typeface="Consolas" pitchFamily="34" charset="-120"/>
              </a:rPr>
              <a:t>   space BEFORE the image downloads, so the page doesn't jump --&gt;</a:t>
            </a:r>
            <a:endParaRPr lang="en-US" sz="1000" dirty="0"/>
          </a:p>
          <a:p>
            <a:pPr marL="0" indent="0">
              <a:lnSpc>
                <a:spcPct val="100000"/>
              </a:lnSpc>
              <a:buNone/>
            </a:pPr>
            <a:r>
              <a:rPr lang="en-US" sz="1000" dirty="0">
                <a:solidFill>
                  <a:srgbClr val="808080"/>
                </a:solidFill>
                <a:latin typeface="Consolas" pitchFamily="34" charset="0"/>
                <a:ea typeface="Consolas" pitchFamily="34" charset="-122"/>
                <a:cs typeface="Consolas" pitchFamily="34" charset="-120"/>
              </a:rPr>
              <a:t>&lt;</a:t>
            </a:r>
            <a:r>
              <a:rPr lang="en-US" sz="1000" dirty="0">
                <a:solidFill>
                  <a:srgbClr val="569CD6"/>
                </a:solidFill>
                <a:latin typeface="Consolas" pitchFamily="34" charset="0"/>
                <a:ea typeface="Consolas" pitchFamily="34" charset="-122"/>
                <a:cs typeface="Consolas" pitchFamily="34" charset="-120"/>
              </a:rPr>
              <a:t>img</a:t>
            </a:r>
            <a:r>
              <a:rPr lang="en-US" sz="1000" dirty="0">
                <a:solidFill>
                  <a:srgbClr val="D4D4D4"/>
                </a:solidFill>
                <a:latin typeface="Consolas" pitchFamily="34" charset="0"/>
                <a:ea typeface="Consolas" pitchFamily="34" charset="-122"/>
                <a:cs typeface="Consolas" pitchFamily="34" charset="-120"/>
              </a:rPr>
              <a:t> </a:t>
            </a:r>
            <a:r>
              <a:rPr lang="en-US" sz="1000" dirty="0">
                <a:solidFill>
                  <a:srgbClr val="9CDCFE"/>
                </a:solidFill>
                <a:latin typeface="Consolas" pitchFamily="34" charset="0"/>
                <a:ea typeface="Consolas" pitchFamily="34" charset="-122"/>
                <a:cs typeface="Consolas" pitchFamily="34" charset="-120"/>
              </a:rPr>
              <a:t>src</a:t>
            </a:r>
            <a:r>
              <a:rPr lang="en-US" sz="1000" dirty="0">
                <a:solidFill>
                  <a:srgbClr val="D4D4D4"/>
                </a:solidFill>
                <a:latin typeface="Consolas" pitchFamily="34" charset="0"/>
                <a:ea typeface="Consolas" pitchFamily="34" charset="-122"/>
                <a:cs typeface="Consolas" pitchFamily="34" charset="-120"/>
              </a:rPr>
              <a:t>=</a:t>
            </a:r>
            <a:r>
              <a:rPr lang="en-US" sz="1000" dirty="0">
                <a:solidFill>
                  <a:srgbClr val="CE9178"/>
                </a:solidFill>
                <a:latin typeface="Consolas" pitchFamily="34" charset="0"/>
                <a:ea typeface="Consolas" pitchFamily="34" charset="-122"/>
                <a:cs typeface="Consolas" pitchFamily="34" charset="-120"/>
              </a:rPr>
              <a:t>"samples/beach_800.jpg"</a:t>
            </a:r>
            <a:r>
              <a:rPr lang="en-US" sz="1000" dirty="0">
                <a:solidFill>
                  <a:srgbClr val="D4D4D4"/>
                </a:solidFill>
                <a:latin typeface="Consolas" pitchFamily="34" charset="0"/>
                <a:ea typeface="Consolas" pitchFamily="34" charset="-122"/>
                <a:cs typeface="Consolas" pitchFamily="34" charset="-120"/>
              </a:rPr>
              <a:t> </a:t>
            </a:r>
            <a:r>
              <a:rPr lang="en-US" sz="1000" dirty="0">
                <a:solidFill>
                  <a:srgbClr val="9CDCFE"/>
                </a:solidFill>
                <a:latin typeface="Consolas" pitchFamily="34" charset="0"/>
                <a:ea typeface="Consolas" pitchFamily="34" charset="-122"/>
                <a:cs typeface="Consolas" pitchFamily="34" charset="-120"/>
              </a:rPr>
              <a:t>width</a:t>
            </a:r>
            <a:r>
              <a:rPr lang="en-US" sz="1000" dirty="0">
                <a:solidFill>
                  <a:srgbClr val="D4D4D4"/>
                </a:solidFill>
                <a:latin typeface="Consolas" pitchFamily="34" charset="0"/>
                <a:ea typeface="Consolas" pitchFamily="34" charset="-122"/>
                <a:cs typeface="Consolas" pitchFamily="34" charset="-120"/>
              </a:rPr>
              <a:t>=</a:t>
            </a:r>
            <a:r>
              <a:rPr lang="en-US" sz="1000" dirty="0">
                <a:solidFill>
                  <a:srgbClr val="CE9178"/>
                </a:solidFill>
                <a:latin typeface="Consolas" pitchFamily="34" charset="0"/>
                <a:ea typeface="Consolas" pitchFamily="34" charset="-122"/>
                <a:cs typeface="Consolas" pitchFamily="34" charset="-120"/>
              </a:rPr>
              <a:t>"800"</a:t>
            </a:r>
            <a:r>
              <a:rPr lang="en-US" sz="1000" dirty="0">
                <a:solidFill>
                  <a:srgbClr val="D4D4D4"/>
                </a:solidFill>
                <a:latin typeface="Consolas" pitchFamily="34" charset="0"/>
                <a:ea typeface="Consolas" pitchFamily="34" charset="-122"/>
                <a:cs typeface="Consolas" pitchFamily="34" charset="-120"/>
              </a:rPr>
              <a:t> </a:t>
            </a:r>
            <a:r>
              <a:rPr lang="en-US" sz="1000" dirty="0">
                <a:solidFill>
                  <a:srgbClr val="9CDCFE"/>
                </a:solidFill>
                <a:latin typeface="Consolas" pitchFamily="34" charset="0"/>
                <a:ea typeface="Consolas" pitchFamily="34" charset="-122"/>
                <a:cs typeface="Consolas" pitchFamily="34" charset="-120"/>
              </a:rPr>
              <a:t>height</a:t>
            </a:r>
            <a:r>
              <a:rPr lang="en-US" sz="1000" dirty="0">
                <a:solidFill>
                  <a:srgbClr val="D4D4D4"/>
                </a:solidFill>
                <a:latin typeface="Consolas" pitchFamily="34" charset="0"/>
                <a:ea typeface="Consolas" pitchFamily="34" charset="-122"/>
                <a:cs typeface="Consolas" pitchFamily="34" charset="-120"/>
              </a:rPr>
              <a:t>=</a:t>
            </a:r>
            <a:r>
              <a:rPr lang="en-US" sz="1000" dirty="0">
                <a:solidFill>
                  <a:srgbClr val="CE9178"/>
                </a:solidFill>
                <a:latin typeface="Consolas" pitchFamily="34" charset="0"/>
                <a:ea typeface="Consolas" pitchFamily="34" charset="-122"/>
                <a:cs typeface="Consolas" pitchFamily="34" charset="-120"/>
              </a:rPr>
              <a:t>"458"</a:t>
            </a:r>
            <a:endParaRPr lang="en-US" sz="1000" dirty="0"/>
          </a:p>
          <a:p>
            <a:pPr marL="0" indent="0">
              <a:lnSpc>
                <a:spcPct val="100000"/>
              </a:lnSpc>
              <a:buNone/>
            </a:pPr>
            <a:r>
              <a:rPr lang="en-US" sz="1000" dirty="0">
                <a:solidFill>
                  <a:srgbClr val="D4D4D4"/>
                </a:solidFill>
                <a:latin typeface="Consolas" pitchFamily="34" charset="0"/>
                <a:ea typeface="Consolas" pitchFamily="34" charset="-122"/>
                <a:cs typeface="Consolas" pitchFamily="34" charset="-120"/>
              </a:rPr>
              <a:t>   </a:t>
            </a:r>
            <a:r>
              <a:rPr lang="en-US" sz="1000" dirty="0">
                <a:solidFill>
                  <a:srgbClr val="9CDCFE"/>
                </a:solidFill>
                <a:latin typeface="Consolas" pitchFamily="34" charset="0"/>
                <a:ea typeface="Consolas" pitchFamily="34" charset="-122"/>
                <a:cs typeface="Consolas" pitchFamily="34" charset="-120"/>
              </a:rPr>
              <a:t>alt</a:t>
            </a:r>
            <a:r>
              <a:rPr lang="en-US" sz="1000" dirty="0">
                <a:solidFill>
                  <a:srgbClr val="D4D4D4"/>
                </a:solidFill>
                <a:latin typeface="Consolas" pitchFamily="34" charset="0"/>
                <a:ea typeface="Consolas" pitchFamily="34" charset="-122"/>
                <a:cs typeface="Consolas" pitchFamily="34" charset="-120"/>
              </a:rPr>
              <a:t>=</a:t>
            </a:r>
            <a:r>
              <a:rPr lang="en-US" sz="1000" dirty="0">
                <a:solidFill>
                  <a:srgbClr val="CE9178"/>
                </a:solidFill>
                <a:latin typeface="Consolas" pitchFamily="34" charset="0"/>
                <a:ea typeface="Consolas" pitchFamily="34" charset="-122"/>
                <a:cs typeface="Consolas" pitchFamily="34" charset="-120"/>
              </a:rPr>
              <a:t>"Rocky beach with calm water and a tree-lined point"</a:t>
            </a:r>
            <a:r>
              <a:rPr lang="en-US" sz="1000" dirty="0">
                <a:solidFill>
                  <a:srgbClr val="808080"/>
                </a:solidFill>
                <a:latin typeface="Consolas" pitchFamily="34" charset="0"/>
                <a:ea typeface="Consolas" pitchFamily="34" charset="-122"/>
                <a:cs typeface="Consolas" pitchFamily="34" charset="-120"/>
              </a:rPr>
              <a:t>&gt;</a:t>
            </a:r>
            <a:endParaRPr lang="en-US" sz="1000" dirty="0"/>
          </a:p>
          <a:p>
            <a:pPr marL="0" indent="0">
              <a:lnSpc>
                <a:spcPct val="100000"/>
              </a:lnSpc>
              <a:buNone/>
            </a:pPr>
            <a:r>
              <a:rPr lang="en-US" sz="1000" dirty="0">
                <a:solidFill>
                  <a:srgbClr val="D4D4D4"/>
                </a:solidFill>
                <a:latin typeface="Consolas" pitchFamily="34" charset="0"/>
                <a:ea typeface="Consolas" pitchFamily="34" charset="-122"/>
                <a:cs typeface="Consolas" pitchFamily="34" charset="-120"/>
              </a:rPr>
              <a:t> </a:t>
            </a:r>
            <a:endParaRPr lang="en-US" sz="1000" dirty="0"/>
          </a:p>
          <a:p>
            <a:pPr marL="0" indent="0">
              <a:lnSpc>
                <a:spcPct val="100000"/>
              </a:lnSpc>
              <a:buNone/>
            </a:pPr>
            <a:r>
              <a:rPr lang="en-US" sz="1000" dirty="0">
                <a:solidFill>
                  <a:srgbClr val="808080"/>
                </a:solidFill>
                <a:latin typeface="Consolas" pitchFamily="34" charset="0"/>
                <a:ea typeface="Consolas" pitchFamily="34" charset="-122"/>
                <a:cs typeface="Consolas" pitchFamily="34" charset="-120"/>
              </a:rPr>
              <a:t>&lt;</a:t>
            </a:r>
            <a:r>
              <a:rPr lang="en-US" sz="1000" dirty="0">
                <a:solidFill>
                  <a:srgbClr val="569CD6"/>
                </a:solidFill>
                <a:latin typeface="Consolas" pitchFamily="34" charset="0"/>
                <a:ea typeface="Consolas" pitchFamily="34" charset="-122"/>
                <a:cs typeface="Consolas" pitchFamily="34" charset="-120"/>
              </a:rPr>
              <a:t>p</a:t>
            </a:r>
            <a:r>
              <a:rPr lang="en-US" sz="1000" dirty="0">
                <a:solidFill>
                  <a:srgbClr val="808080"/>
                </a:solidFill>
                <a:latin typeface="Consolas" pitchFamily="34" charset="0"/>
                <a:ea typeface="Consolas" pitchFamily="34" charset="-122"/>
                <a:cs typeface="Consolas" pitchFamily="34" charset="-120"/>
              </a:rPr>
              <a:t>&gt;</a:t>
            </a:r>
            <a:r>
              <a:rPr lang="en-US" sz="1000" dirty="0">
                <a:solidFill>
                  <a:srgbClr val="D4D4D4"/>
                </a:solidFill>
                <a:latin typeface="Consolas" pitchFamily="34" charset="0"/>
                <a:ea typeface="Consolas" pitchFamily="34" charset="-122"/>
                <a:cs typeface="Consolas" pitchFamily="34" charset="-120"/>
              </a:rPr>
              <a:t>Fresh haddock, hand-cut fries, and a view of the water.</a:t>
            </a:r>
            <a:r>
              <a:rPr lang="en-US" sz="1000" dirty="0">
                <a:solidFill>
                  <a:srgbClr val="808080"/>
                </a:solidFill>
                <a:latin typeface="Consolas" pitchFamily="34" charset="0"/>
                <a:ea typeface="Consolas" pitchFamily="34" charset="-122"/>
                <a:cs typeface="Consolas" pitchFamily="34" charset="-120"/>
              </a:rPr>
              <a:t>&lt;/</a:t>
            </a:r>
            <a:r>
              <a:rPr lang="en-US" sz="1000" dirty="0">
                <a:solidFill>
                  <a:srgbClr val="569CD6"/>
                </a:solidFill>
                <a:latin typeface="Consolas" pitchFamily="34" charset="0"/>
                <a:ea typeface="Consolas" pitchFamily="34" charset="-122"/>
                <a:cs typeface="Consolas" pitchFamily="34" charset="-120"/>
              </a:rPr>
              <a:t>p</a:t>
            </a:r>
            <a:r>
              <a:rPr lang="en-US" sz="1000" dirty="0">
                <a:solidFill>
                  <a:srgbClr val="808080"/>
                </a:solidFill>
                <a:latin typeface="Consolas" pitchFamily="34" charset="0"/>
                <a:ea typeface="Consolas" pitchFamily="34" charset="-122"/>
                <a:cs typeface="Consolas" pitchFamily="34" charset="-120"/>
              </a:rPr>
              <a:t>&gt;</a:t>
            </a:r>
            <a:endParaRPr lang="en-US" sz="1000" dirty="0"/>
          </a:p>
          <a:p>
            <a:pPr marL="0" indent="0">
              <a:lnSpc>
                <a:spcPct val="100000"/>
              </a:lnSpc>
              <a:buNone/>
            </a:pPr>
            <a:r>
              <a:rPr lang="en-US" sz="1000" dirty="0">
                <a:solidFill>
                  <a:srgbClr val="808080"/>
                </a:solidFill>
                <a:latin typeface="Consolas" pitchFamily="34" charset="0"/>
                <a:ea typeface="Consolas" pitchFamily="34" charset="-122"/>
                <a:cs typeface="Consolas" pitchFamily="34" charset="-120"/>
              </a:rPr>
              <a:t>&lt;</a:t>
            </a:r>
            <a:r>
              <a:rPr lang="en-US" sz="1000" dirty="0">
                <a:solidFill>
                  <a:srgbClr val="569CD6"/>
                </a:solidFill>
                <a:latin typeface="Consolas" pitchFamily="34" charset="0"/>
                <a:ea typeface="Consolas" pitchFamily="34" charset="-122"/>
                <a:cs typeface="Consolas" pitchFamily="34" charset="-120"/>
              </a:rPr>
              <a:t>p</a:t>
            </a:r>
            <a:r>
              <a:rPr lang="en-US" sz="1000" dirty="0">
                <a:solidFill>
                  <a:srgbClr val="808080"/>
                </a:solidFill>
                <a:latin typeface="Consolas" pitchFamily="34" charset="0"/>
                <a:ea typeface="Consolas" pitchFamily="34" charset="-122"/>
                <a:cs typeface="Consolas" pitchFamily="34" charset="-120"/>
              </a:rPr>
              <a:t>&gt;</a:t>
            </a:r>
            <a:r>
              <a:rPr lang="en-US" sz="1000" dirty="0">
                <a:solidFill>
                  <a:srgbClr val="D4D4D4"/>
                </a:solidFill>
                <a:latin typeface="Consolas" pitchFamily="34" charset="0"/>
                <a:ea typeface="Consolas" pitchFamily="34" charset="-122"/>
                <a:cs typeface="Consolas" pitchFamily="34" charset="-120"/>
              </a:rPr>
              <a:t>Scroll down to see our location.</a:t>
            </a:r>
            <a:r>
              <a:rPr lang="en-US" sz="1000" dirty="0">
                <a:solidFill>
                  <a:srgbClr val="808080"/>
                </a:solidFill>
                <a:latin typeface="Consolas" pitchFamily="34" charset="0"/>
                <a:ea typeface="Consolas" pitchFamily="34" charset="-122"/>
                <a:cs typeface="Consolas" pitchFamily="34" charset="-120"/>
              </a:rPr>
              <a:t>&lt;/</a:t>
            </a:r>
            <a:r>
              <a:rPr lang="en-US" sz="1000" dirty="0">
                <a:solidFill>
                  <a:srgbClr val="569CD6"/>
                </a:solidFill>
                <a:latin typeface="Consolas" pitchFamily="34" charset="0"/>
                <a:ea typeface="Consolas" pitchFamily="34" charset="-122"/>
                <a:cs typeface="Consolas" pitchFamily="34" charset="-120"/>
              </a:rPr>
              <a:t>p</a:t>
            </a:r>
            <a:r>
              <a:rPr lang="en-US" sz="1000" dirty="0">
                <a:solidFill>
                  <a:srgbClr val="808080"/>
                </a:solidFill>
                <a:latin typeface="Consolas" pitchFamily="34" charset="0"/>
                <a:ea typeface="Consolas" pitchFamily="34" charset="-122"/>
                <a:cs typeface="Consolas" pitchFamily="34" charset="-120"/>
              </a:rPr>
              <a:t>&gt;</a:t>
            </a:r>
            <a:endParaRPr lang="en-US" sz="1000" dirty="0"/>
          </a:p>
          <a:p>
            <a:pPr marL="0" indent="0">
              <a:lnSpc>
                <a:spcPct val="100000"/>
              </a:lnSpc>
              <a:buNone/>
            </a:pPr>
            <a:r>
              <a:rPr lang="en-US" sz="1000" dirty="0">
                <a:solidFill>
                  <a:srgbClr val="D4D4D4"/>
                </a:solidFill>
                <a:latin typeface="Consolas" pitchFamily="34" charset="0"/>
                <a:ea typeface="Consolas" pitchFamily="34" charset="-122"/>
                <a:cs typeface="Consolas" pitchFamily="34" charset="-120"/>
              </a:rPr>
              <a:t> </a:t>
            </a:r>
            <a:endParaRPr lang="en-US" sz="1000" dirty="0"/>
          </a:p>
          <a:p>
            <a:pPr marL="0" indent="0">
              <a:lnSpc>
                <a:spcPct val="100000"/>
              </a:lnSpc>
              <a:buNone/>
            </a:pPr>
            <a:r>
              <a:rPr lang="en-US" sz="1000" dirty="0">
                <a:solidFill>
                  <a:srgbClr val="6A9955"/>
                </a:solidFill>
                <a:latin typeface="Consolas" pitchFamily="34" charset="0"/>
                <a:ea typeface="Consolas" pitchFamily="34" charset="-122"/>
                <a:cs typeface="Consolas" pitchFamily="34" charset="-120"/>
              </a:rPr>
              <a:t>&lt;!-- Lots of space so the next image starts off screen --&gt;</a:t>
            </a:r>
            <a:endParaRPr lang="en-US" sz="1000" dirty="0"/>
          </a:p>
          <a:p>
            <a:pPr marL="0" indent="0">
              <a:lnSpc>
                <a:spcPct val="100000"/>
              </a:lnSpc>
              <a:buNone/>
            </a:pPr>
            <a:r>
              <a:rPr lang="en-US" sz="1000" dirty="0">
                <a:solidFill>
                  <a:srgbClr val="808080"/>
                </a:solidFill>
                <a:latin typeface="Consolas" pitchFamily="34" charset="0"/>
                <a:ea typeface="Consolas" pitchFamily="34" charset="-122"/>
                <a:cs typeface="Consolas" pitchFamily="34" charset="-120"/>
              </a:rPr>
              <a:t>&lt;</a:t>
            </a:r>
            <a:r>
              <a:rPr lang="en-US" sz="1000" dirty="0">
                <a:solidFill>
                  <a:srgbClr val="569CD6"/>
                </a:solidFill>
                <a:latin typeface="Consolas" pitchFamily="34" charset="0"/>
                <a:ea typeface="Consolas" pitchFamily="34" charset="-122"/>
                <a:cs typeface="Consolas" pitchFamily="34" charset="-120"/>
              </a:rPr>
              <a:t>p</a:t>
            </a:r>
            <a:r>
              <a:rPr lang="en-US" sz="1000" dirty="0">
                <a:solidFill>
                  <a:srgbClr val="D4D4D4"/>
                </a:solidFill>
                <a:latin typeface="Consolas" pitchFamily="34" charset="0"/>
                <a:ea typeface="Consolas" pitchFamily="34" charset="-122"/>
                <a:cs typeface="Consolas" pitchFamily="34" charset="-120"/>
              </a:rPr>
              <a:t> </a:t>
            </a:r>
            <a:r>
              <a:rPr lang="en-US" sz="1000" dirty="0">
                <a:solidFill>
                  <a:srgbClr val="9CDCFE"/>
                </a:solidFill>
                <a:latin typeface="Consolas" pitchFamily="34" charset="0"/>
                <a:ea typeface="Consolas" pitchFamily="34" charset="-122"/>
                <a:cs typeface="Consolas" pitchFamily="34" charset="-120"/>
              </a:rPr>
              <a:t>style</a:t>
            </a:r>
            <a:r>
              <a:rPr lang="en-US" sz="1000" dirty="0">
                <a:solidFill>
                  <a:srgbClr val="D4D4D4"/>
                </a:solidFill>
                <a:latin typeface="Consolas" pitchFamily="34" charset="0"/>
                <a:ea typeface="Consolas" pitchFamily="34" charset="-122"/>
                <a:cs typeface="Consolas" pitchFamily="34" charset="-120"/>
              </a:rPr>
              <a:t>=</a:t>
            </a:r>
            <a:r>
              <a:rPr lang="en-US" sz="1000" dirty="0">
                <a:solidFill>
                  <a:srgbClr val="CE9178"/>
                </a:solidFill>
                <a:latin typeface="Consolas" pitchFamily="34" charset="0"/>
                <a:ea typeface="Consolas" pitchFamily="34" charset="-122"/>
                <a:cs typeface="Consolas" pitchFamily="34" charset="-120"/>
              </a:rPr>
              <a:t>"height: 1500px;"</a:t>
            </a:r>
            <a:r>
              <a:rPr lang="en-US" sz="1000" dirty="0">
                <a:solidFill>
                  <a:srgbClr val="808080"/>
                </a:solidFill>
                <a:latin typeface="Consolas" pitchFamily="34" charset="0"/>
                <a:ea typeface="Consolas" pitchFamily="34" charset="-122"/>
                <a:cs typeface="Consolas" pitchFamily="34" charset="-120"/>
              </a:rPr>
              <a:t>&gt;</a:t>
            </a:r>
            <a:r>
              <a:rPr lang="en-US" sz="1000" dirty="0">
                <a:solidFill>
                  <a:srgbClr val="D7BA7D"/>
                </a:solidFill>
                <a:latin typeface="Consolas" pitchFamily="34" charset="0"/>
                <a:ea typeface="Consolas" pitchFamily="34" charset="-122"/>
                <a:cs typeface="Consolas" pitchFamily="34" charset="-120"/>
              </a:rPr>
              <a:t>&amp;darr;</a:t>
            </a:r>
            <a:r>
              <a:rPr lang="en-US" sz="1000" dirty="0">
                <a:solidFill>
                  <a:srgbClr val="D4D4D4"/>
                </a:solidFill>
                <a:latin typeface="Consolas" pitchFamily="34" charset="0"/>
                <a:ea typeface="Consolas" pitchFamily="34" charset="-122"/>
                <a:cs typeface="Consolas" pitchFamily="34" charset="-120"/>
              </a:rPr>
              <a:t> Keep scrolling </a:t>
            </a:r>
            <a:r>
              <a:rPr lang="en-US" sz="1000" dirty="0">
                <a:solidFill>
                  <a:srgbClr val="D7BA7D"/>
                </a:solidFill>
                <a:latin typeface="Consolas" pitchFamily="34" charset="0"/>
                <a:ea typeface="Consolas" pitchFamily="34" charset="-122"/>
                <a:cs typeface="Consolas" pitchFamily="34" charset="-120"/>
              </a:rPr>
              <a:t>&amp;darr;</a:t>
            </a:r>
            <a:r>
              <a:rPr lang="en-US" sz="1000" dirty="0">
                <a:solidFill>
                  <a:srgbClr val="808080"/>
                </a:solidFill>
                <a:latin typeface="Consolas" pitchFamily="34" charset="0"/>
                <a:ea typeface="Consolas" pitchFamily="34" charset="-122"/>
                <a:cs typeface="Consolas" pitchFamily="34" charset="-120"/>
              </a:rPr>
              <a:t>&lt;/</a:t>
            </a:r>
            <a:r>
              <a:rPr lang="en-US" sz="1000" dirty="0">
                <a:solidFill>
                  <a:srgbClr val="569CD6"/>
                </a:solidFill>
                <a:latin typeface="Consolas" pitchFamily="34" charset="0"/>
                <a:ea typeface="Consolas" pitchFamily="34" charset="-122"/>
                <a:cs typeface="Consolas" pitchFamily="34" charset="-120"/>
              </a:rPr>
              <a:t>p</a:t>
            </a:r>
            <a:r>
              <a:rPr lang="en-US" sz="1000" dirty="0">
                <a:solidFill>
                  <a:srgbClr val="808080"/>
                </a:solidFill>
                <a:latin typeface="Consolas" pitchFamily="34" charset="0"/>
                <a:ea typeface="Consolas" pitchFamily="34" charset="-122"/>
                <a:cs typeface="Consolas" pitchFamily="34" charset="-120"/>
              </a:rPr>
              <a:t>&gt;</a:t>
            </a:r>
            <a:endParaRPr lang="en-US" sz="1000" dirty="0"/>
          </a:p>
          <a:p>
            <a:pPr marL="0" indent="0">
              <a:lnSpc>
                <a:spcPct val="100000"/>
              </a:lnSpc>
              <a:buNone/>
            </a:pPr>
            <a:r>
              <a:rPr lang="en-US" sz="1000" dirty="0">
                <a:solidFill>
                  <a:srgbClr val="D4D4D4"/>
                </a:solidFill>
                <a:latin typeface="Consolas" pitchFamily="34" charset="0"/>
                <a:ea typeface="Consolas" pitchFamily="34" charset="-122"/>
                <a:cs typeface="Consolas" pitchFamily="34" charset="-120"/>
              </a:rPr>
              <a:t> </a:t>
            </a:r>
            <a:endParaRPr lang="en-US" sz="1000" dirty="0"/>
          </a:p>
          <a:p>
            <a:pPr marL="0" indent="0">
              <a:lnSpc>
                <a:spcPct val="100000"/>
              </a:lnSpc>
              <a:buNone/>
            </a:pPr>
            <a:r>
              <a:rPr lang="en-US" sz="1000" dirty="0">
                <a:solidFill>
                  <a:srgbClr val="6A9955"/>
                </a:solidFill>
                <a:latin typeface="Consolas" pitchFamily="34" charset="0"/>
                <a:ea typeface="Consolas" pitchFamily="34" charset="-122"/>
                <a:cs typeface="Consolas" pitchFamily="34" charset="-120"/>
              </a:rPr>
              <a:t>&lt;!-- loading="lazy": don't download this until the user scrolls near it.</a:t>
            </a:r>
            <a:endParaRPr lang="en-US" sz="1000" dirty="0"/>
          </a:p>
          <a:p>
            <a:pPr marL="0" indent="0">
              <a:lnSpc>
                <a:spcPct val="100000"/>
              </a:lnSpc>
              <a:buNone/>
            </a:pPr>
            <a:r>
              <a:rPr lang="en-US" sz="1000" dirty="0">
                <a:solidFill>
                  <a:srgbClr val="6A9955"/>
                </a:solidFill>
                <a:latin typeface="Consolas" pitchFamily="34" charset="0"/>
                <a:ea typeface="Consolas" pitchFamily="34" charset="-122"/>
                <a:cs typeface="Consolas" pitchFamily="34" charset="-120"/>
              </a:rPr>
              <a:t>   Never lazy-load the first big image at the top of the page --&gt;</a:t>
            </a:r>
            <a:endParaRPr lang="en-US" sz="1000" dirty="0"/>
          </a:p>
          <a:p>
            <a:pPr marL="0" indent="0">
              <a:lnSpc>
                <a:spcPct val="100000"/>
              </a:lnSpc>
              <a:buNone/>
            </a:pPr>
            <a:r>
              <a:rPr lang="en-US" sz="1000" dirty="0">
                <a:solidFill>
                  <a:srgbClr val="808080"/>
                </a:solidFill>
                <a:latin typeface="Consolas" pitchFamily="34" charset="0"/>
                <a:ea typeface="Consolas" pitchFamily="34" charset="-122"/>
                <a:cs typeface="Consolas" pitchFamily="34" charset="-120"/>
              </a:rPr>
              <a:t>&lt;</a:t>
            </a:r>
            <a:r>
              <a:rPr lang="en-US" sz="1000" dirty="0">
                <a:solidFill>
                  <a:srgbClr val="569CD6"/>
                </a:solidFill>
                <a:latin typeface="Consolas" pitchFamily="34" charset="0"/>
                <a:ea typeface="Consolas" pitchFamily="34" charset="-122"/>
                <a:cs typeface="Consolas" pitchFamily="34" charset="-120"/>
              </a:rPr>
              <a:t>img</a:t>
            </a:r>
            <a:r>
              <a:rPr lang="en-US" sz="1000" dirty="0">
                <a:solidFill>
                  <a:srgbClr val="D4D4D4"/>
                </a:solidFill>
                <a:latin typeface="Consolas" pitchFamily="34" charset="0"/>
                <a:ea typeface="Consolas" pitchFamily="34" charset="-122"/>
                <a:cs typeface="Consolas" pitchFamily="34" charset="-120"/>
              </a:rPr>
              <a:t> </a:t>
            </a:r>
            <a:r>
              <a:rPr lang="en-US" sz="1000" dirty="0">
                <a:solidFill>
                  <a:srgbClr val="9CDCFE"/>
                </a:solidFill>
                <a:latin typeface="Consolas" pitchFamily="34" charset="0"/>
                <a:ea typeface="Consolas" pitchFamily="34" charset="-122"/>
                <a:cs typeface="Consolas" pitchFamily="34" charset="-120"/>
              </a:rPr>
              <a:t>src</a:t>
            </a:r>
            <a:r>
              <a:rPr lang="en-US" sz="1000" dirty="0">
                <a:solidFill>
                  <a:srgbClr val="D4D4D4"/>
                </a:solidFill>
                <a:latin typeface="Consolas" pitchFamily="34" charset="0"/>
                <a:ea typeface="Consolas" pitchFamily="34" charset="-122"/>
                <a:cs typeface="Consolas" pitchFamily="34" charset="-120"/>
              </a:rPr>
              <a:t>=</a:t>
            </a:r>
            <a:r>
              <a:rPr lang="en-US" sz="1000" dirty="0">
                <a:solidFill>
                  <a:srgbClr val="CE9178"/>
                </a:solidFill>
                <a:latin typeface="Consolas" pitchFamily="34" charset="0"/>
                <a:ea typeface="Consolas" pitchFamily="34" charset="-122"/>
                <a:cs typeface="Consolas" pitchFamily="34" charset="-120"/>
              </a:rPr>
              <a:t>"samples/beach_400.jpg"</a:t>
            </a:r>
            <a:r>
              <a:rPr lang="en-US" sz="1000" dirty="0">
                <a:solidFill>
                  <a:srgbClr val="D4D4D4"/>
                </a:solidFill>
                <a:latin typeface="Consolas" pitchFamily="34" charset="0"/>
                <a:ea typeface="Consolas" pitchFamily="34" charset="-122"/>
                <a:cs typeface="Consolas" pitchFamily="34" charset="-120"/>
              </a:rPr>
              <a:t> </a:t>
            </a:r>
            <a:r>
              <a:rPr lang="en-US" sz="1000" dirty="0">
                <a:solidFill>
                  <a:srgbClr val="9CDCFE"/>
                </a:solidFill>
                <a:latin typeface="Consolas" pitchFamily="34" charset="0"/>
                <a:ea typeface="Consolas" pitchFamily="34" charset="-122"/>
                <a:cs typeface="Consolas" pitchFamily="34" charset="-120"/>
              </a:rPr>
              <a:t>width</a:t>
            </a:r>
            <a:r>
              <a:rPr lang="en-US" sz="1000" dirty="0">
                <a:solidFill>
                  <a:srgbClr val="D4D4D4"/>
                </a:solidFill>
                <a:latin typeface="Consolas" pitchFamily="34" charset="0"/>
                <a:ea typeface="Consolas" pitchFamily="34" charset="-122"/>
                <a:cs typeface="Consolas" pitchFamily="34" charset="-120"/>
              </a:rPr>
              <a:t>=</a:t>
            </a:r>
            <a:r>
              <a:rPr lang="en-US" sz="1000" dirty="0">
                <a:solidFill>
                  <a:srgbClr val="CE9178"/>
                </a:solidFill>
                <a:latin typeface="Consolas" pitchFamily="34" charset="0"/>
                <a:ea typeface="Consolas" pitchFamily="34" charset="-122"/>
                <a:cs typeface="Consolas" pitchFamily="34" charset="-120"/>
              </a:rPr>
              <a:t>"400"</a:t>
            </a:r>
            <a:r>
              <a:rPr lang="en-US" sz="1000" dirty="0">
                <a:solidFill>
                  <a:srgbClr val="D4D4D4"/>
                </a:solidFill>
                <a:latin typeface="Consolas" pitchFamily="34" charset="0"/>
                <a:ea typeface="Consolas" pitchFamily="34" charset="-122"/>
                <a:cs typeface="Consolas" pitchFamily="34" charset="-120"/>
              </a:rPr>
              <a:t> </a:t>
            </a:r>
            <a:r>
              <a:rPr lang="en-US" sz="1000" dirty="0">
                <a:solidFill>
                  <a:srgbClr val="9CDCFE"/>
                </a:solidFill>
                <a:latin typeface="Consolas" pitchFamily="34" charset="0"/>
                <a:ea typeface="Consolas" pitchFamily="34" charset="-122"/>
                <a:cs typeface="Consolas" pitchFamily="34" charset="-120"/>
              </a:rPr>
              <a:t>height</a:t>
            </a:r>
            <a:r>
              <a:rPr lang="en-US" sz="1000" dirty="0">
                <a:solidFill>
                  <a:srgbClr val="D4D4D4"/>
                </a:solidFill>
                <a:latin typeface="Consolas" pitchFamily="34" charset="0"/>
                <a:ea typeface="Consolas" pitchFamily="34" charset="-122"/>
                <a:cs typeface="Consolas" pitchFamily="34" charset="-120"/>
              </a:rPr>
              <a:t>=</a:t>
            </a:r>
            <a:r>
              <a:rPr lang="en-US" sz="1000" dirty="0">
                <a:solidFill>
                  <a:srgbClr val="CE9178"/>
                </a:solidFill>
                <a:latin typeface="Consolas" pitchFamily="34" charset="0"/>
                <a:ea typeface="Consolas" pitchFamily="34" charset="-122"/>
                <a:cs typeface="Consolas" pitchFamily="34" charset="-120"/>
              </a:rPr>
              <a:t>"229"</a:t>
            </a:r>
            <a:r>
              <a:rPr lang="en-US" sz="1000" dirty="0">
                <a:solidFill>
                  <a:srgbClr val="D4D4D4"/>
                </a:solidFill>
                <a:latin typeface="Consolas" pitchFamily="34" charset="0"/>
                <a:ea typeface="Consolas" pitchFamily="34" charset="-122"/>
                <a:cs typeface="Consolas" pitchFamily="34" charset="-120"/>
              </a:rPr>
              <a:t> </a:t>
            </a:r>
            <a:r>
              <a:rPr lang="en-US" sz="1000" dirty="0">
                <a:solidFill>
                  <a:srgbClr val="9CDCFE"/>
                </a:solidFill>
                <a:latin typeface="Consolas" pitchFamily="34" charset="0"/>
                <a:ea typeface="Consolas" pitchFamily="34" charset="-122"/>
                <a:cs typeface="Consolas" pitchFamily="34" charset="-120"/>
              </a:rPr>
              <a:t>loading</a:t>
            </a:r>
            <a:r>
              <a:rPr lang="en-US" sz="1000" dirty="0">
                <a:solidFill>
                  <a:srgbClr val="D4D4D4"/>
                </a:solidFill>
                <a:latin typeface="Consolas" pitchFamily="34" charset="0"/>
                <a:ea typeface="Consolas" pitchFamily="34" charset="-122"/>
                <a:cs typeface="Consolas" pitchFamily="34" charset="-120"/>
              </a:rPr>
              <a:t>=</a:t>
            </a:r>
            <a:r>
              <a:rPr lang="en-US" sz="1000" dirty="0">
                <a:solidFill>
                  <a:srgbClr val="CE9178"/>
                </a:solidFill>
                <a:latin typeface="Consolas" pitchFamily="34" charset="0"/>
                <a:ea typeface="Consolas" pitchFamily="34" charset="-122"/>
                <a:cs typeface="Consolas" pitchFamily="34" charset="-120"/>
              </a:rPr>
              <a:t>"lazy"</a:t>
            </a:r>
            <a:endParaRPr lang="en-US" sz="1000" dirty="0"/>
          </a:p>
          <a:p>
            <a:pPr marL="0" indent="0">
              <a:lnSpc>
                <a:spcPct val="100000"/>
              </a:lnSpc>
              <a:buNone/>
            </a:pPr>
            <a:r>
              <a:rPr lang="en-US" sz="1000" dirty="0">
                <a:solidFill>
                  <a:srgbClr val="D4D4D4"/>
                </a:solidFill>
                <a:latin typeface="Consolas" pitchFamily="34" charset="0"/>
                <a:ea typeface="Consolas" pitchFamily="34" charset="-122"/>
                <a:cs typeface="Consolas" pitchFamily="34" charset="-120"/>
              </a:rPr>
              <a:t>   </a:t>
            </a:r>
            <a:r>
              <a:rPr lang="en-US" sz="1000" dirty="0">
                <a:solidFill>
                  <a:srgbClr val="9CDCFE"/>
                </a:solidFill>
                <a:latin typeface="Consolas" pitchFamily="34" charset="0"/>
                <a:ea typeface="Consolas" pitchFamily="34" charset="-122"/>
                <a:cs typeface="Consolas" pitchFamily="34" charset="-120"/>
              </a:rPr>
              <a:t>alt</a:t>
            </a:r>
            <a:r>
              <a:rPr lang="en-US" sz="1000" dirty="0">
                <a:solidFill>
                  <a:srgbClr val="D4D4D4"/>
                </a:solidFill>
                <a:latin typeface="Consolas" pitchFamily="34" charset="0"/>
                <a:ea typeface="Consolas" pitchFamily="34" charset="-122"/>
                <a:cs typeface="Consolas" pitchFamily="34" charset="-120"/>
              </a:rPr>
              <a:t>=</a:t>
            </a:r>
            <a:r>
              <a:rPr lang="en-US" sz="1000" dirty="0">
                <a:solidFill>
                  <a:srgbClr val="CE9178"/>
                </a:solidFill>
                <a:latin typeface="Consolas" pitchFamily="34" charset="0"/>
                <a:ea typeface="Consolas" pitchFamily="34" charset="-122"/>
                <a:cs typeface="Consolas" pitchFamily="34" charset="-120"/>
              </a:rPr>
              <a:t>"The beach a short walk from the restaurant"</a:t>
            </a:r>
            <a:r>
              <a:rPr lang="en-US" sz="1000" dirty="0">
                <a:solidFill>
                  <a:srgbClr val="808080"/>
                </a:solidFill>
                <a:latin typeface="Consolas" pitchFamily="34" charset="0"/>
                <a:ea typeface="Consolas" pitchFamily="34" charset="-122"/>
                <a:cs typeface="Consolas" pitchFamily="34" charset="-120"/>
              </a:rPr>
              <a:t>&gt;</a:t>
            </a:r>
            <a:endParaRPr lang="en-US" sz="1000" dirty="0"/>
          </a:p>
          <a:p>
            <a:pPr marL="0" indent="0">
              <a:lnSpc>
                <a:spcPct val="100000"/>
              </a:lnSpc>
              <a:buNone/>
            </a:pPr>
            <a:r>
              <a:rPr lang="en-US" sz="1000" dirty="0">
                <a:solidFill>
                  <a:srgbClr val="D4D4D4"/>
                </a:solidFill>
                <a:latin typeface="Consolas" pitchFamily="34" charset="0"/>
                <a:ea typeface="Consolas" pitchFamily="34" charset="-122"/>
                <a:cs typeface="Consolas" pitchFamily="34" charset="-120"/>
              </a:rPr>
              <a:t> </a:t>
            </a:r>
            <a:endParaRPr lang="en-US" sz="1000" dirty="0"/>
          </a:p>
          <a:p>
            <a:pPr marL="0" indent="0">
              <a:lnSpc>
                <a:spcPct val="100000"/>
              </a:lnSpc>
              <a:buNone/>
            </a:pPr>
            <a:r>
              <a:rPr lang="en-US" sz="1000" dirty="0">
                <a:solidFill>
                  <a:srgbClr val="808080"/>
                </a:solidFill>
                <a:latin typeface="Consolas" pitchFamily="34" charset="0"/>
                <a:ea typeface="Consolas" pitchFamily="34" charset="-122"/>
                <a:cs typeface="Consolas" pitchFamily="34" charset="-120"/>
              </a:rPr>
              <a:t>&lt;</a:t>
            </a:r>
            <a:r>
              <a:rPr lang="en-US" sz="1000" dirty="0">
                <a:solidFill>
                  <a:srgbClr val="569CD6"/>
                </a:solidFill>
                <a:latin typeface="Consolas" pitchFamily="34" charset="0"/>
                <a:ea typeface="Consolas" pitchFamily="34" charset="-122"/>
                <a:cs typeface="Consolas" pitchFamily="34" charset="-120"/>
              </a:rPr>
              <a:t>p</a:t>
            </a:r>
            <a:r>
              <a:rPr lang="en-US" sz="1000" dirty="0">
                <a:solidFill>
                  <a:srgbClr val="808080"/>
                </a:solidFill>
                <a:latin typeface="Consolas" pitchFamily="34" charset="0"/>
                <a:ea typeface="Consolas" pitchFamily="34" charset="-122"/>
                <a:cs typeface="Consolas" pitchFamily="34" charset="-120"/>
              </a:rPr>
              <a:t>&gt;</a:t>
            </a:r>
            <a:r>
              <a:rPr lang="en-US" sz="1000" dirty="0">
                <a:solidFill>
                  <a:srgbClr val="D4D4D4"/>
                </a:solidFill>
                <a:latin typeface="Consolas" pitchFamily="34" charset="0"/>
                <a:ea typeface="Consolas" pitchFamily="34" charset="-122"/>
                <a:cs typeface="Consolas" pitchFamily="34" charset="-120"/>
              </a:rPr>
              <a:t>Open DevTools </a:t>
            </a:r>
            <a:r>
              <a:rPr lang="en-US" sz="1000" dirty="0">
                <a:solidFill>
                  <a:srgbClr val="D7BA7D"/>
                </a:solidFill>
                <a:latin typeface="Consolas" pitchFamily="34" charset="0"/>
                <a:ea typeface="Consolas" pitchFamily="34" charset="-122"/>
                <a:cs typeface="Consolas" pitchFamily="34" charset="-120"/>
              </a:rPr>
              <a:t>&amp;rarr;</a:t>
            </a:r>
            <a:r>
              <a:rPr lang="en-US" sz="1000" dirty="0">
                <a:solidFill>
                  <a:srgbClr val="D4D4D4"/>
                </a:solidFill>
                <a:latin typeface="Consolas" pitchFamily="34" charset="0"/>
                <a:ea typeface="Consolas" pitchFamily="34" charset="-122"/>
                <a:cs typeface="Consolas" pitchFamily="34" charset="-120"/>
              </a:rPr>
              <a:t> Network </a:t>
            </a:r>
            <a:r>
              <a:rPr lang="en-US" sz="1000" dirty="0">
                <a:solidFill>
                  <a:srgbClr val="D7BA7D"/>
                </a:solidFill>
                <a:latin typeface="Consolas" pitchFamily="34" charset="0"/>
                <a:ea typeface="Consolas" pitchFamily="34" charset="-122"/>
                <a:cs typeface="Consolas" pitchFamily="34" charset="-120"/>
              </a:rPr>
              <a:t>&amp;rarr;</a:t>
            </a:r>
            <a:r>
              <a:rPr lang="en-US" sz="1000" dirty="0">
                <a:solidFill>
                  <a:srgbClr val="D4D4D4"/>
                </a:solidFill>
                <a:latin typeface="Consolas" pitchFamily="34" charset="0"/>
                <a:ea typeface="Consolas" pitchFamily="34" charset="-122"/>
                <a:cs typeface="Consolas" pitchFamily="34" charset="-120"/>
              </a:rPr>
              <a:t> Img, reload, then scroll.</a:t>
            </a:r>
            <a:endParaRPr lang="en-US" sz="1000" dirty="0"/>
          </a:p>
          <a:p>
            <a:pPr marL="0" indent="0">
              <a:lnSpc>
                <a:spcPct val="100000"/>
              </a:lnSpc>
              <a:buNone/>
            </a:pPr>
            <a:r>
              <a:rPr lang="en-US" sz="1000" dirty="0">
                <a:solidFill>
                  <a:srgbClr val="D4D4D4"/>
                </a:solidFill>
                <a:latin typeface="Consolas" pitchFamily="34" charset="0"/>
                <a:ea typeface="Consolas" pitchFamily="34" charset="-122"/>
                <a:cs typeface="Consolas" pitchFamily="34" charset="-120"/>
              </a:rPr>
              <a:t>   Watch beach_400.jpg download only when you get near it.</a:t>
            </a:r>
            <a:r>
              <a:rPr lang="en-US" sz="1000" dirty="0">
                <a:solidFill>
                  <a:srgbClr val="808080"/>
                </a:solidFill>
                <a:latin typeface="Consolas" pitchFamily="34" charset="0"/>
                <a:ea typeface="Consolas" pitchFamily="34" charset="-122"/>
                <a:cs typeface="Consolas" pitchFamily="34" charset="-120"/>
              </a:rPr>
              <a:t>&lt;/</a:t>
            </a:r>
            <a:r>
              <a:rPr lang="en-US" sz="1000" dirty="0">
                <a:solidFill>
                  <a:srgbClr val="569CD6"/>
                </a:solidFill>
                <a:latin typeface="Consolas" pitchFamily="34" charset="0"/>
                <a:ea typeface="Consolas" pitchFamily="34" charset="-122"/>
                <a:cs typeface="Consolas" pitchFamily="34" charset="-120"/>
              </a:rPr>
              <a:t>p</a:t>
            </a:r>
            <a:r>
              <a:rPr lang="en-US" sz="1000" dirty="0">
                <a:solidFill>
                  <a:srgbClr val="808080"/>
                </a:solidFill>
                <a:latin typeface="Consolas" pitchFamily="34" charset="0"/>
                <a:ea typeface="Consolas" pitchFamily="34" charset="-122"/>
                <a:cs typeface="Consolas" pitchFamily="34" charset="-120"/>
              </a:rPr>
              <a:t>&gt;</a:t>
            </a:r>
            <a:endParaRPr lang="en-US" sz="1000" dirty="0"/>
          </a:p>
        </p:txBody>
      </p:sp>
      <p:sp>
        <p:nvSpPr>
          <p:cNvPr id="5" name="Text 2"/>
          <p:cNvSpPr txBox="1"/>
          <p:nvPr/>
        </p:nvSpPr>
        <p:spPr>
          <a:xfrm>
            <a:off x="6812280" y="411480"/>
            <a:ext cx="4967935" cy="320040"/>
          </a:xfrm>
          <a:prstGeom prst="rect">
            <a:avLst/>
          </a:prstGeom>
          <a:noFill/>
          <a:ln/>
        </p:spPr>
        <p:txBody>
          <a:bodyPr wrap="square" lIns="0" tIns="0" rIns="0" bIns="0" rtlCol="0" anchor="ctr"/>
          <a:lstStyle/>
          <a:p>
            <a:pPr marL="0" indent="0">
              <a:buNone/>
            </a:pPr>
            <a:r>
              <a:rPr lang="en-US" sz="1400" b="1" kern="0" spc="100" dirty="0">
                <a:solidFill>
                  <a:srgbClr val="595959"/>
                </a:solidFill>
                <a:latin typeface="Aptos" pitchFamily="34" charset="0"/>
                <a:ea typeface="Aptos" pitchFamily="34" charset="-122"/>
                <a:cs typeface="Aptos" pitchFamily="34" charset="-120"/>
              </a:rPr>
              <a:t>EXAMPLE 04</a:t>
            </a:r>
            <a:endParaRPr lang="en-US" sz="1400" dirty="0"/>
          </a:p>
        </p:txBody>
      </p:sp>
      <p:sp>
        <p:nvSpPr>
          <p:cNvPr id="6" name="Text 3"/>
          <p:cNvSpPr txBox="1"/>
          <p:nvPr/>
        </p:nvSpPr>
        <p:spPr>
          <a:xfrm>
            <a:off x="6812280" y="731520"/>
            <a:ext cx="4967935" cy="960120"/>
          </a:xfrm>
          <a:prstGeom prst="rect">
            <a:avLst/>
          </a:prstGeom>
          <a:noFill/>
          <a:ln/>
        </p:spPr>
        <p:txBody>
          <a:bodyPr wrap="square" lIns="0" tIns="0" rIns="0" bIns="0" rtlCol="0" anchor="t"/>
          <a:lstStyle/>
          <a:p>
            <a:pPr marL="0" indent="0">
              <a:buNone/>
            </a:pPr>
            <a:r>
              <a:rPr lang="en-US" sz="2600" dirty="0">
                <a:solidFill>
                  <a:srgbClr val="000000"/>
                </a:solidFill>
                <a:latin typeface="Aptos" pitchFamily="34" charset="0"/>
                <a:ea typeface="Aptos" pitchFamily="34" charset="-122"/>
                <a:cs typeface="Aptos" pitchFamily="34" charset="-120"/>
              </a:rPr>
              <a:t>width, height and loading="lazy"</a:t>
            </a:r>
            <a:endParaRPr lang="en-US" sz="2600" dirty="0"/>
          </a:p>
        </p:txBody>
      </p:sp>
      <p:sp>
        <p:nvSpPr>
          <p:cNvPr id="7" name="Text 4"/>
          <p:cNvSpPr txBox="1"/>
          <p:nvPr/>
        </p:nvSpPr>
        <p:spPr>
          <a:xfrm>
            <a:off x="6812280" y="1810512"/>
            <a:ext cx="4967935" cy="4453128"/>
          </a:xfrm>
          <a:prstGeom prst="rect">
            <a:avLst/>
          </a:prstGeom>
          <a:noFill/>
          <a:ln/>
        </p:spPr>
        <p:txBody>
          <a:bodyPr wrap="square" lIns="0" tIns="0" rIns="0" bIns="0" rtlCol="0" anchor="t"/>
          <a:lstStyle/>
          <a:p>
            <a:pPr marL="342900" indent="-342900">
              <a:buSzPct val="100000"/>
              <a:buChar char="•"/>
            </a:pPr>
            <a:r>
              <a:rPr lang="en-US" sz="1400" dirty="0">
                <a:solidFill>
                  <a:srgbClr val="262626"/>
                </a:solidFill>
                <a:latin typeface="Aptos" pitchFamily="34" charset="0"/>
                <a:ea typeface="Aptos" pitchFamily="34" charset="-122"/>
                <a:cs typeface="Aptos" pitchFamily="34" charset="-120"/>
              </a:rPr>
              <a:t>​</a:t>
            </a:r>
            <a:r>
              <a:rPr lang="en-US" sz="1400" dirty="0">
                <a:solidFill>
                  <a:srgbClr val="8A2B0B"/>
                </a:solidFill>
                <a:latin typeface="Consolas" pitchFamily="34" charset="0"/>
                <a:ea typeface="Consolas" pitchFamily="34" charset="-122"/>
                <a:cs typeface="Consolas" pitchFamily="34" charset="-120"/>
              </a:rPr>
              <a:t>width</a:t>
            </a:r>
            <a:r>
              <a:rPr lang="en-US" sz="1400" dirty="0">
                <a:solidFill>
                  <a:srgbClr val="262626"/>
                </a:solidFill>
                <a:latin typeface="Aptos" pitchFamily="34" charset="0"/>
                <a:ea typeface="Aptos" pitchFamily="34" charset="-122"/>
                <a:cs typeface="Aptos" pitchFamily="34" charset="-120"/>
              </a:rPr>
              <a:t> and </a:t>
            </a:r>
            <a:r>
              <a:rPr lang="en-US" sz="1400" dirty="0">
                <a:solidFill>
                  <a:srgbClr val="8A2B0B"/>
                </a:solidFill>
                <a:latin typeface="Consolas" pitchFamily="34" charset="0"/>
                <a:ea typeface="Consolas" pitchFamily="34" charset="-122"/>
                <a:cs typeface="Consolas" pitchFamily="34" charset="-120"/>
              </a:rPr>
              <a:t>height</a:t>
            </a:r>
            <a:r>
              <a:rPr lang="en-US" sz="1400" dirty="0">
                <a:solidFill>
                  <a:srgbClr val="262626"/>
                </a:solidFill>
                <a:latin typeface="Aptos" pitchFamily="34" charset="0"/>
                <a:ea typeface="Aptos" pitchFamily="34" charset="-122"/>
                <a:cs typeface="Aptos" pitchFamily="34" charset="-120"/>
              </a:rPr>
              <a:t> tell the browser the image's shape </a:t>
            </a:r>
            <a:r>
              <a:rPr lang="en-US" sz="1400" b="1" dirty="0">
                <a:solidFill>
                  <a:srgbClr val="262626"/>
                </a:solidFill>
                <a:latin typeface="Aptos" pitchFamily="34" charset="0"/>
                <a:ea typeface="Aptos" pitchFamily="34" charset="-122"/>
                <a:cs typeface="Aptos" pitchFamily="34" charset="-120"/>
              </a:rPr>
              <a:t>before</a:t>
            </a:r>
            <a:r>
              <a:rPr lang="en-US" sz="1400" dirty="0">
                <a:solidFill>
                  <a:srgbClr val="262626"/>
                </a:solidFill>
                <a:latin typeface="Aptos" pitchFamily="34" charset="0"/>
                <a:ea typeface="Aptos" pitchFamily="34" charset="-122"/>
                <a:cs typeface="Aptos" pitchFamily="34" charset="-120"/>
              </a:rPr>
              <a:t> it downloads, so it saves the space and the text below doesn't jump around.</a:t>
            </a:r>
            <a:endParaRPr lang="en-US" sz="1400" dirty="0"/>
          </a:p>
          <a:p>
            <a:pPr marL="342900" indent="-342900">
              <a:spcBef>
                <a:spcPts val="900"/>
              </a:spcBef>
              <a:buSzPct val="100000"/>
              <a:buChar char="•"/>
            </a:pPr>
            <a:r>
              <a:rPr lang="en-US" sz="1400" dirty="0">
                <a:solidFill>
                  <a:srgbClr val="262626"/>
                </a:solidFill>
                <a:latin typeface="Aptos" pitchFamily="34" charset="0"/>
                <a:ea typeface="Aptos" pitchFamily="34" charset="-122"/>
                <a:cs typeface="Aptos" pitchFamily="34" charset="-120"/>
              </a:rPr>
              <a:t>​They don't resize the file. A 4000 px photo with </a:t>
            </a:r>
            <a:r>
              <a:rPr lang="en-US" sz="1400" dirty="0">
                <a:solidFill>
                  <a:srgbClr val="8A2B0B"/>
                </a:solidFill>
                <a:latin typeface="Consolas" pitchFamily="34" charset="0"/>
                <a:ea typeface="Consolas" pitchFamily="34" charset="-122"/>
                <a:cs typeface="Consolas" pitchFamily="34" charset="-120"/>
              </a:rPr>
              <a:t>width="800"</a:t>
            </a:r>
            <a:r>
              <a:rPr lang="en-US" sz="1400" dirty="0">
                <a:solidFill>
                  <a:srgbClr val="262626"/>
                </a:solidFill>
                <a:latin typeface="Aptos" pitchFamily="34" charset="0"/>
                <a:ea typeface="Aptos" pitchFamily="34" charset="-122"/>
                <a:cs typeface="Aptos" pitchFamily="34" charset="-120"/>
              </a:rPr>
              <a:t> still downloads all 4000 px. Resize the file itself.</a:t>
            </a:r>
            <a:endParaRPr lang="en-US" sz="1400" dirty="0"/>
          </a:p>
          <a:p>
            <a:pPr marL="342900" indent="-342900">
              <a:spcBef>
                <a:spcPts val="900"/>
              </a:spcBef>
              <a:buSzPct val="100000"/>
              <a:buChar char="•"/>
            </a:pPr>
            <a:r>
              <a:rPr lang="en-US" sz="1400" dirty="0">
                <a:solidFill>
                  <a:srgbClr val="262626"/>
                </a:solidFill>
                <a:latin typeface="Aptos" pitchFamily="34" charset="0"/>
                <a:ea typeface="Aptos" pitchFamily="34" charset="-122"/>
                <a:cs typeface="Aptos" pitchFamily="34" charset="-120"/>
              </a:rPr>
              <a:t>​</a:t>
            </a:r>
            <a:r>
              <a:rPr lang="en-US" sz="1400" dirty="0">
                <a:solidFill>
                  <a:srgbClr val="8A2B0B"/>
                </a:solidFill>
                <a:latin typeface="Consolas" pitchFamily="34" charset="0"/>
                <a:ea typeface="Consolas" pitchFamily="34" charset="-122"/>
                <a:cs typeface="Consolas" pitchFamily="34" charset="-120"/>
              </a:rPr>
              <a:t>loading="lazy"</a:t>
            </a:r>
            <a:r>
              <a:rPr lang="en-US" sz="1400" dirty="0">
                <a:solidFill>
                  <a:srgbClr val="262626"/>
                </a:solidFill>
                <a:latin typeface="Aptos" pitchFamily="34" charset="0"/>
                <a:ea typeface="Aptos" pitchFamily="34" charset="-122"/>
                <a:cs typeface="Aptos" pitchFamily="34" charset="-120"/>
              </a:rPr>
              <a:t> waits until the user scrolls near the image before downloading it.</a:t>
            </a:r>
            <a:endParaRPr lang="en-US" sz="1400" dirty="0"/>
          </a:p>
          <a:p>
            <a:pPr marL="342900" indent="-342900">
              <a:spcBef>
                <a:spcPts val="900"/>
              </a:spcBef>
              <a:buSzPct val="100000"/>
              <a:buChar char="•"/>
            </a:pPr>
            <a:r>
              <a:rPr lang="en-US" sz="1400" dirty="0">
                <a:solidFill>
                  <a:srgbClr val="262626"/>
                </a:solidFill>
                <a:latin typeface="Aptos" pitchFamily="34" charset="0"/>
                <a:ea typeface="Aptos" pitchFamily="34" charset="-122"/>
                <a:cs typeface="Aptos" pitchFamily="34" charset="-120"/>
              </a:rPr>
              <a:t>​Don't lazy-load the first big image at the top. The user needs that one right away.</a:t>
            </a:r>
            <a:endParaRPr lang="en-US" sz="1400" dirty="0"/>
          </a:p>
        </p:txBody>
      </p:sp>
      <p:sp>
        <p:nvSpPr>
          <p:cNvPr id="8" name="Text 5"/>
          <p:cNvSpPr txBox="1"/>
          <p:nvPr/>
        </p:nvSpPr>
        <p:spPr>
          <a:xfrm>
            <a:off x="6812280" y="6355080"/>
            <a:ext cx="4967935" cy="274320"/>
          </a:xfrm>
          <a:prstGeom prst="rect">
            <a:avLst/>
          </a:prstGeom>
          <a:noFill/>
          <a:ln/>
        </p:spPr>
        <p:txBody>
          <a:bodyPr wrap="square" lIns="0" tIns="0" rIns="0" bIns="0" rtlCol="0" anchor="ctr"/>
          <a:lstStyle/>
          <a:p>
            <a:pPr marL="0" indent="0">
              <a:buNone/>
            </a:pPr>
            <a:r>
              <a:rPr lang="en-US" sz="1100" dirty="0">
                <a:solidFill>
                  <a:srgbClr val="7F7F7F"/>
                </a:solidFill>
                <a:latin typeface="Consolas" pitchFamily="34" charset="0"/>
                <a:ea typeface="Consolas" pitchFamily="34" charset="-122"/>
                <a:cs typeface="Consolas" pitchFamily="34" charset="-120"/>
              </a:rPr>
              <a:t>04_width_height_lazy_example.html</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pic>
        <p:nvPicPr>
          <p:cNvPr id="2" name="Image 0" descr="C:\Repos\2026-2027\WEBD1000\04_Images_for_the_Web\_build\grad_left.png"/>
          <p:cNvPicPr>
            <a:picLocks noChangeAspect="1"/>
          </p:cNvPicPr>
          <p:nvPr/>
        </p:nvPicPr>
        <p:blipFill>
          <a:blip r:embed="rId3"/>
          <a:stretch>
            <a:fillRect/>
          </a:stretch>
        </p:blipFill>
        <p:spPr>
          <a:xfrm>
            <a:off x="0" y="0"/>
            <a:ext cx="6400800" cy="6858000"/>
          </a:xfrm>
          <a:prstGeom prst="rect">
            <a:avLst/>
          </a:prstGeom>
        </p:spPr>
      </p:pic>
      <p:sp>
        <p:nvSpPr>
          <p:cNvPr id="3" name="Shape 0"/>
          <p:cNvSpPr/>
          <p:nvPr/>
        </p:nvSpPr>
        <p:spPr>
          <a:xfrm>
            <a:off x="274320" y="1192876"/>
            <a:ext cx="5852160" cy="4472247"/>
          </a:xfrm>
          <a:prstGeom prst="rect">
            <a:avLst/>
          </a:prstGeom>
          <a:solidFill>
            <a:srgbClr val="1E1E1E"/>
          </a:solidFill>
          <a:ln w="12700">
            <a:solidFill>
              <a:srgbClr val="1E1E1E"/>
            </a:solidFill>
            <a:prstDash val="solid"/>
          </a:ln>
          <a:effectLst>
            <a:outerShdw blurRad="101600" dist="38100" dir="5400000" algn="bl" rotWithShape="0">
              <a:srgbClr val="000000">
                <a:alpha val="35000"/>
              </a:srgbClr>
            </a:outerShdw>
          </a:effectLst>
        </p:spPr>
        <p:txBody>
          <a:bodyPr/>
          <a:lstStyle/>
          <a:p>
            <a:endParaRPr lang="en-US"/>
          </a:p>
        </p:txBody>
      </p:sp>
      <p:sp>
        <p:nvSpPr>
          <p:cNvPr id="4" name="Text 1"/>
          <p:cNvSpPr txBox="1"/>
          <p:nvPr/>
        </p:nvSpPr>
        <p:spPr>
          <a:xfrm>
            <a:off x="502920" y="1421476"/>
            <a:ext cx="5394960" cy="4015047"/>
          </a:xfrm>
          <a:prstGeom prst="rect">
            <a:avLst/>
          </a:prstGeom>
          <a:noFill/>
          <a:ln/>
        </p:spPr>
        <p:txBody>
          <a:bodyPr wrap="square" lIns="0" tIns="0" rIns="0" bIns="0" rtlCol="0" anchor="t"/>
          <a:lstStyle/>
          <a:p>
            <a:pPr marL="0" indent="0">
              <a:lnSpc>
                <a:spcPct val="100000"/>
              </a:lnSpc>
              <a:buNone/>
            </a:pPr>
            <a:r>
              <a:rPr lang="en-US" sz="1050" dirty="0">
                <a:solidFill>
                  <a:srgbClr val="808080"/>
                </a:solidFill>
                <a:latin typeface="Consolas" pitchFamily="34" charset="0"/>
                <a:ea typeface="Consolas" pitchFamily="34" charset="-122"/>
                <a:cs typeface="Consolas" pitchFamily="34" charset="-120"/>
              </a:rPr>
              <a:t>&lt;</a:t>
            </a:r>
            <a:r>
              <a:rPr lang="en-US" sz="1050" dirty="0">
                <a:solidFill>
                  <a:srgbClr val="569CD6"/>
                </a:solidFill>
                <a:latin typeface="Consolas" pitchFamily="34" charset="0"/>
                <a:ea typeface="Consolas" pitchFamily="34" charset="-122"/>
                <a:cs typeface="Consolas" pitchFamily="34" charset="-120"/>
              </a:rPr>
              <a:t>h1</a:t>
            </a:r>
            <a:r>
              <a:rPr lang="en-US" sz="1050" dirty="0">
                <a:solidFill>
                  <a:srgbClr val="808080"/>
                </a:solidFill>
                <a:latin typeface="Consolas" pitchFamily="34" charset="0"/>
                <a:ea typeface="Consolas" pitchFamily="34" charset="-122"/>
                <a:cs typeface="Consolas" pitchFamily="34" charset="-120"/>
              </a:rPr>
              <a:t>&gt;</a:t>
            </a:r>
            <a:r>
              <a:rPr lang="en-US" sz="1050" dirty="0">
                <a:solidFill>
                  <a:srgbClr val="D4D4D4"/>
                </a:solidFill>
                <a:latin typeface="Consolas" pitchFamily="34" charset="0"/>
                <a:ea typeface="Consolas" pitchFamily="34" charset="-122"/>
                <a:cs typeface="Consolas" pitchFamily="34" charset="-120"/>
              </a:rPr>
              <a:t>Let the Browser Choose</a:t>
            </a:r>
            <a:r>
              <a:rPr lang="en-US" sz="1050" dirty="0">
                <a:solidFill>
                  <a:srgbClr val="808080"/>
                </a:solidFill>
                <a:latin typeface="Consolas" pitchFamily="34" charset="0"/>
                <a:ea typeface="Consolas" pitchFamily="34" charset="-122"/>
                <a:cs typeface="Consolas" pitchFamily="34" charset="-120"/>
              </a:rPr>
              <a:t>&lt;/</a:t>
            </a:r>
            <a:r>
              <a:rPr lang="en-US" sz="1050" dirty="0">
                <a:solidFill>
                  <a:srgbClr val="569CD6"/>
                </a:solidFill>
                <a:latin typeface="Consolas" pitchFamily="34" charset="0"/>
                <a:ea typeface="Consolas" pitchFamily="34" charset="-122"/>
                <a:cs typeface="Consolas" pitchFamily="34" charset="-120"/>
              </a:rPr>
              <a:t>h1</a:t>
            </a:r>
            <a:r>
              <a:rPr lang="en-US" sz="1050" dirty="0">
                <a:solidFill>
                  <a:srgbClr val="808080"/>
                </a:solidFill>
                <a:latin typeface="Consolas" pitchFamily="34" charset="0"/>
                <a:ea typeface="Consolas" pitchFamily="34" charset="-122"/>
                <a:cs typeface="Consolas" pitchFamily="34" charset="-120"/>
              </a:rPr>
              <a:t>&gt;</a:t>
            </a:r>
            <a:endParaRPr lang="en-US" sz="1050" dirty="0"/>
          </a:p>
          <a:p>
            <a:pPr marL="0" indent="0">
              <a:lnSpc>
                <a:spcPct val="100000"/>
              </a:lnSpc>
              <a:buNone/>
            </a:pPr>
            <a:r>
              <a:rPr lang="en-US" sz="1050" dirty="0">
                <a:solidFill>
                  <a:srgbClr val="D4D4D4"/>
                </a:solidFill>
                <a:latin typeface="Consolas" pitchFamily="34" charset="0"/>
                <a:ea typeface="Consolas" pitchFamily="34" charset="-122"/>
                <a:cs typeface="Consolas" pitchFamily="34" charset="-120"/>
              </a:rPr>
              <a:t> </a:t>
            </a:r>
            <a:endParaRPr lang="en-US" sz="1050" dirty="0"/>
          </a:p>
          <a:p>
            <a:pPr marL="0" indent="0">
              <a:lnSpc>
                <a:spcPct val="100000"/>
              </a:lnSpc>
              <a:buNone/>
            </a:pPr>
            <a:r>
              <a:rPr lang="en-US" sz="1050" dirty="0">
                <a:solidFill>
                  <a:srgbClr val="808080"/>
                </a:solidFill>
                <a:latin typeface="Consolas" pitchFamily="34" charset="0"/>
                <a:ea typeface="Consolas" pitchFamily="34" charset="-122"/>
                <a:cs typeface="Consolas" pitchFamily="34" charset="-120"/>
              </a:rPr>
              <a:t>&lt;</a:t>
            </a:r>
            <a:r>
              <a:rPr lang="en-US" sz="1050" dirty="0">
                <a:solidFill>
                  <a:srgbClr val="569CD6"/>
                </a:solidFill>
                <a:latin typeface="Consolas" pitchFamily="34" charset="0"/>
                <a:ea typeface="Consolas" pitchFamily="34" charset="-122"/>
                <a:cs typeface="Consolas" pitchFamily="34" charset="-120"/>
              </a:rPr>
              <a:t>h2</a:t>
            </a:r>
            <a:r>
              <a:rPr lang="en-US" sz="1050" dirty="0">
                <a:solidFill>
                  <a:srgbClr val="808080"/>
                </a:solidFill>
                <a:latin typeface="Consolas" pitchFamily="34" charset="0"/>
                <a:ea typeface="Consolas" pitchFamily="34" charset="-122"/>
                <a:cs typeface="Consolas" pitchFamily="34" charset="-120"/>
              </a:rPr>
              <a:t>&gt;</a:t>
            </a:r>
            <a:r>
              <a:rPr lang="en-US" sz="1050" dirty="0">
                <a:solidFill>
                  <a:srgbClr val="D4D4D4"/>
                </a:solidFill>
                <a:latin typeface="Consolas" pitchFamily="34" charset="0"/>
                <a:ea typeface="Consolas" pitchFamily="34" charset="-122"/>
                <a:cs typeface="Consolas" pitchFamily="34" charset="-120"/>
              </a:rPr>
              <a:t>srcset: same image, different sizes</a:t>
            </a:r>
            <a:r>
              <a:rPr lang="en-US" sz="1050" dirty="0">
                <a:solidFill>
                  <a:srgbClr val="808080"/>
                </a:solidFill>
                <a:latin typeface="Consolas" pitchFamily="34" charset="0"/>
                <a:ea typeface="Consolas" pitchFamily="34" charset="-122"/>
                <a:cs typeface="Consolas" pitchFamily="34" charset="-120"/>
              </a:rPr>
              <a:t>&lt;/</a:t>
            </a:r>
            <a:r>
              <a:rPr lang="en-US" sz="1050" dirty="0">
                <a:solidFill>
                  <a:srgbClr val="569CD6"/>
                </a:solidFill>
                <a:latin typeface="Consolas" pitchFamily="34" charset="0"/>
                <a:ea typeface="Consolas" pitchFamily="34" charset="-122"/>
                <a:cs typeface="Consolas" pitchFamily="34" charset="-120"/>
              </a:rPr>
              <a:t>h2</a:t>
            </a:r>
            <a:r>
              <a:rPr lang="en-US" sz="1050" dirty="0">
                <a:solidFill>
                  <a:srgbClr val="808080"/>
                </a:solidFill>
                <a:latin typeface="Consolas" pitchFamily="34" charset="0"/>
                <a:ea typeface="Consolas" pitchFamily="34" charset="-122"/>
                <a:cs typeface="Consolas" pitchFamily="34" charset="-120"/>
              </a:rPr>
              <a:t>&gt;</a:t>
            </a:r>
            <a:endParaRPr lang="en-US" sz="1050" dirty="0"/>
          </a:p>
          <a:p>
            <a:pPr marL="0" indent="0">
              <a:lnSpc>
                <a:spcPct val="100000"/>
              </a:lnSpc>
              <a:buNone/>
            </a:pPr>
            <a:r>
              <a:rPr lang="en-US" sz="1050" dirty="0">
                <a:solidFill>
                  <a:srgbClr val="6A9955"/>
                </a:solidFill>
                <a:latin typeface="Consolas" pitchFamily="34" charset="0"/>
                <a:ea typeface="Consolas" pitchFamily="34" charset="-122"/>
                <a:cs typeface="Consolas" pitchFamily="34" charset="-120"/>
              </a:rPr>
              <a:t>&lt;!-- The browser picks the smallest file that still looks sharp</a:t>
            </a:r>
            <a:endParaRPr lang="en-US" sz="1050" dirty="0"/>
          </a:p>
          <a:p>
            <a:pPr marL="0" indent="0">
              <a:lnSpc>
                <a:spcPct val="100000"/>
              </a:lnSpc>
              <a:buNone/>
            </a:pPr>
            <a:r>
              <a:rPr lang="en-US" sz="1050" dirty="0">
                <a:solidFill>
                  <a:srgbClr val="6A9955"/>
                </a:solidFill>
                <a:latin typeface="Consolas" pitchFamily="34" charset="0"/>
                <a:ea typeface="Consolas" pitchFamily="34" charset="-122"/>
                <a:cs typeface="Consolas" pitchFamily="34" charset="-120"/>
              </a:rPr>
              <a:t>   on this screen. A phone downloads 13 KB instead of 134 KB --&gt;</a:t>
            </a:r>
            <a:endParaRPr lang="en-US" sz="1050" dirty="0"/>
          </a:p>
          <a:p>
            <a:pPr marL="0" indent="0">
              <a:lnSpc>
                <a:spcPct val="100000"/>
              </a:lnSpc>
              <a:buNone/>
            </a:pPr>
            <a:r>
              <a:rPr lang="en-US" sz="1050" dirty="0">
                <a:solidFill>
                  <a:srgbClr val="808080"/>
                </a:solidFill>
                <a:latin typeface="Consolas" pitchFamily="34" charset="0"/>
                <a:ea typeface="Consolas" pitchFamily="34" charset="-122"/>
                <a:cs typeface="Consolas" pitchFamily="34" charset="-120"/>
              </a:rPr>
              <a:t>&lt;</a:t>
            </a:r>
            <a:r>
              <a:rPr lang="en-US" sz="1050" dirty="0">
                <a:solidFill>
                  <a:srgbClr val="569CD6"/>
                </a:solidFill>
                <a:latin typeface="Consolas" pitchFamily="34" charset="0"/>
                <a:ea typeface="Consolas" pitchFamily="34" charset="-122"/>
                <a:cs typeface="Consolas" pitchFamily="34" charset="-120"/>
              </a:rPr>
              <a:t>img</a:t>
            </a: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src</a:t>
            </a:r>
            <a:r>
              <a:rPr lang="en-US" sz="1050" dirty="0">
                <a:solidFill>
                  <a:srgbClr val="D4D4D4"/>
                </a:solidFill>
                <a:latin typeface="Consolas" pitchFamily="34" charset="0"/>
                <a:ea typeface="Consolas" pitchFamily="34" charset="-122"/>
                <a:cs typeface="Consolas" pitchFamily="34" charset="-120"/>
              </a:rPr>
              <a:t>=</a:t>
            </a:r>
            <a:r>
              <a:rPr lang="en-US" sz="1050" dirty="0">
                <a:solidFill>
                  <a:srgbClr val="CE9178"/>
                </a:solidFill>
                <a:latin typeface="Consolas" pitchFamily="34" charset="0"/>
                <a:ea typeface="Consolas" pitchFamily="34" charset="-122"/>
                <a:cs typeface="Consolas" pitchFamily="34" charset="-120"/>
              </a:rPr>
              <a:t>"samples/beach_800.jpg"</a:t>
            </a:r>
            <a:endParaRPr lang="en-US" sz="1050" dirty="0"/>
          </a:p>
          <a:p>
            <a:pPr marL="0" indent="0">
              <a:lnSpc>
                <a:spcPct val="100000"/>
              </a:lnSpc>
              <a:buNone/>
            </a:pP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srcset</a:t>
            </a:r>
            <a:r>
              <a:rPr lang="en-US" sz="1050" dirty="0">
                <a:solidFill>
                  <a:srgbClr val="D4D4D4"/>
                </a:solidFill>
                <a:latin typeface="Consolas" pitchFamily="34" charset="0"/>
                <a:ea typeface="Consolas" pitchFamily="34" charset="-122"/>
                <a:cs typeface="Consolas" pitchFamily="34" charset="-120"/>
              </a:rPr>
              <a:t>=</a:t>
            </a:r>
            <a:r>
              <a:rPr lang="en-US" sz="1050" dirty="0">
                <a:solidFill>
                  <a:srgbClr val="CE9178"/>
                </a:solidFill>
                <a:latin typeface="Consolas" pitchFamily="34" charset="0"/>
                <a:ea typeface="Consolas" pitchFamily="34" charset="-122"/>
                <a:cs typeface="Consolas" pitchFamily="34" charset="-120"/>
              </a:rPr>
              <a:t>"samples/beach_400.jpg 400w,</a:t>
            </a:r>
            <a:endParaRPr lang="en-US" sz="1050" dirty="0"/>
          </a:p>
          <a:p>
            <a:pPr marL="0" indent="0">
              <a:lnSpc>
                <a:spcPct val="100000"/>
              </a:lnSpc>
              <a:buNone/>
            </a:pPr>
            <a:r>
              <a:rPr lang="en-US" sz="1050" dirty="0">
                <a:solidFill>
                  <a:srgbClr val="CE9178"/>
                </a:solidFill>
                <a:latin typeface="Consolas" pitchFamily="34" charset="0"/>
                <a:ea typeface="Consolas" pitchFamily="34" charset="-122"/>
                <a:cs typeface="Consolas" pitchFamily="34" charset="-120"/>
              </a:rPr>
              <a:t>      samples/beach_800.jpg 800w,</a:t>
            </a:r>
            <a:endParaRPr lang="en-US" sz="1050" dirty="0"/>
          </a:p>
          <a:p>
            <a:pPr marL="0" indent="0">
              <a:lnSpc>
                <a:spcPct val="100000"/>
              </a:lnSpc>
              <a:buNone/>
            </a:pPr>
            <a:r>
              <a:rPr lang="en-US" sz="1050" dirty="0">
                <a:solidFill>
                  <a:srgbClr val="CE9178"/>
                </a:solidFill>
                <a:latin typeface="Consolas" pitchFamily="34" charset="0"/>
                <a:ea typeface="Consolas" pitchFamily="34" charset="-122"/>
                <a:cs typeface="Consolas" pitchFamily="34" charset="-120"/>
              </a:rPr>
              <a:t>      samples/beach_original.jpg 1118w"</a:t>
            </a:r>
            <a:endParaRPr lang="en-US" sz="1050" dirty="0"/>
          </a:p>
          <a:p>
            <a:pPr marL="0" indent="0">
              <a:lnSpc>
                <a:spcPct val="100000"/>
              </a:lnSpc>
              <a:buNone/>
            </a:pP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width</a:t>
            </a:r>
            <a:r>
              <a:rPr lang="en-US" sz="1050" dirty="0">
                <a:solidFill>
                  <a:srgbClr val="D4D4D4"/>
                </a:solidFill>
                <a:latin typeface="Consolas" pitchFamily="34" charset="0"/>
                <a:ea typeface="Consolas" pitchFamily="34" charset="-122"/>
                <a:cs typeface="Consolas" pitchFamily="34" charset="-120"/>
              </a:rPr>
              <a:t>=</a:t>
            </a:r>
            <a:r>
              <a:rPr lang="en-US" sz="1050" dirty="0">
                <a:solidFill>
                  <a:srgbClr val="CE9178"/>
                </a:solidFill>
                <a:latin typeface="Consolas" pitchFamily="34" charset="0"/>
                <a:ea typeface="Consolas" pitchFamily="34" charset="-122"/>
                <a:cs typeface="Consolas" pitchFamily="34" charset="-120"/>
              </a:rPr>
              <a:t>"800"</a:t>
            </a: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height</a:t>
            </a:r>
            <a:r>
              <a:rPr lang="en-US" sz="1050" dirty="0">
                <a:solidFill>
                  <a:srgbClr val="D4D4D4"/>
                </a:solidFill>
                <a:latin typeface="Consolas" pitchFamily="34" charset="0"/>
                <a:ea typeface="Consolas" pitchFamily="34" charset="-122"/>
                <a:cs typeface="Consolas" pitchFamily="34" charset="-120"/>
              </a:rPr>
              <a:t>=</a:t>
            </a:r>
            <a:r>
              <a:rPr lang="en-US" sz="1050" dirty="0">
                <a:solidFill>
                  <a:srgbClr val="CE9178"/>
                </a:solidFill>
                <a:latin typeface="Consolas" pitchFamily="34" charset="0"/>
                <a:ea typeface="Consolas" pitchFamily="34" charset="-122"/>
                <a:cs typeface="Consolas" pitchFamily="34" charset="-120"/>
              </a:rPr>
              <a:t>"458"</a:t>
            </a:r>
            <a:endParaRPr lang="en-US" sz="1050" dirty="0"/>
          </a:p>
          <a:p>
            <a:pPr marL="0" indent="0">
              <a:lnSpc>
                <a:spcPct val="100000"/>
              </a:lnSpc>
              <a:buNone/>
            </a:pP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alt</a:t>
            </a:r>
            <a:r>
              <a:rPr lang="en-US" sz="1050" dirty="0">
                <a:solidFill>
                  <a:srgbClr val="D4D4D4"/>
                </a:solidFill>
                <a:latin typeface="Consolas" pitchFamily="34" charset="0"/>
                <a:ea typeface="Consolas" pitchFamily="34" charset="-122"/>
                <a:cs typeface="Consolas" pitchFamily="34" charset="-120"/>
              </a:rPr>
              <a:t>=</a:t>
            </a:r>
            <a:r>
              <a:rPr lang="en-US" sz="1050" dirty="0">
                <a:solidFill>
                  <a:srgbClr val="CE9178"/>
                </a:solidFill>
                <a:latin typeface="Consolas" pitchFamily="34" charset="0"/>
                <a:ea typeface="Consolas" pitchFamily="34" charset="-122"/>
                <a:cs typeface="Consolas" pitchFamily="34" charset="-120"/>
              </a:rPr>
              <a:t>"Rocky beach with calm water and a tree-lined point"</a:t>
            </a:r>
            <a:r>
              <a:rPr lang="en-US" sz="1050" dirty="0">
                <a:solidFill>
                  <a:srgbClr val="808080"/>
                </a:solidFill>
                <a:latin typeface="Consolas" pitchFamily="34" charset="0"/>
                <a:ea typeface="Consolas" pitchFamily="34" charset="-122"/>
                <a:cs typeface="Consolas" pitchFamily="34" charset="-120"/>
              </a:rPr>
              <a:t>&gt;</a:t>
            </a:r>
            <a:endParaRPr lang="en-US" sz="1050" dirty="0"/>
          </a:p>
          <a:p>
            <a:pPr marL="0" indent="0">
              <a:lnSpc>
                <a:spcPct val="100000"/>
              </a:lnSpc>
              <a:buNone/>
            </a:pPr>
            <a:r>
              <a:rPr lang="en-US" sz="1050" dirty="0">
                <a:solidFill>
                  <a:srgbClr val="D4D4D4"/>
                </a:solidFill>
                <a:latin typeface="Consolas" pitchFamily="34" charset="0"/>
                <a:ea typeface="Consolas" pitchFamily="34" charset="-122"/>
                <a:cs typeface="Consolas" pitchFamily="34" charset="-120"/>
              </a:rPr>
              <a:t> </a:t>
            </a:r>
            <a:endParaRPr lang="en-US" sz="1050" dirty="0"/>
          </a:p>
          <a:p>
            <a:pPr marL="0" indent="0">
              <a:lnSpc>
                <a:spcPct val="100000"/>
              </a:lnSpc>
              <a:buNone/>
            </a:pPr>
            <a:r>
              <a:rPr lang="en-US" sz="1050" dirty="0">
                <a:solidFill>
                  <a:srgbClr val="808080"/>
                </a:solidFill>
                <a:latin typeface="Consolas" pitchFamily="34" charset="0"/>
                <a:ea typeface="Consolas" pitchFamily="34" charset="-122"/>
                <a:cs typeface="Consolas" pitchFamily="34" charset="-120"/>
              </a:rPr>
              <a:t>&lt;</a:t>
            </a:r>
            <a:r>
              <a:rPr lang="en-US" sz="1050" dirty="0">
                <a:solidFill>
                  <a:srgbClr val="569CD6"/>
                </a:solidFill>
                <a:latin typeface="Consolas" pitchFamily="34" charset="0"/>
                <a:ea typeface="Consolas" pitchFamily="34" charset="-122"/>
                <a:cs typeface="Consolas" pitchFamily="34" charset="-120"/>
              </a:rPr>
              <a:t>h2</a:t>
            </a:r>
            <a:r>
              <a:rPr lang="en-US" sz="1050" dirty="0">
                <a:solidFill>
                  <a:srgbClr val="808080"/>
                </a:solidFill>
                <a:latin typeface="Consolas" pitchFamily="34" charset="0"/>
                <a:ea typeface="Consolas" pitchFamily="34" charset="-122"/>
                <a:cs typeface="Consolas" pitchFamily="34" charset="-120"/>
              </a:rPr>
              <a:t>&gt;</a:t>
            </a:r>
            <a:r>
              <a:rPr lang="en-US" sz="1050" dirty="0">
                <a:solidFill>
                  <a:srgbClr val="D4D4D4"/>
                </a:solidFill>
                <a:latin typeface="Consolas" pitchFamily="34" charset="0"/>
                <a:ea typeface="Consolas" pitchFamily="34" charset="-122"/>
                <a:cs typeface="Consolas" pitchFamily="34" charset="-120"/>
              </a:rPr>
              <a:t>picture: same image, different formats</a:t>
            </a:r>
            <a:r>
              <a:rPr lang="en-US" sz="1050" dirty="0">
                <a:solidFill>
                  <a:srgbClr val="808080"/>
                </a:solidFill>
                <a:latin typeface="Consolas" pitchFamily="34" charset="0"/>
                <a:ea typeface="Consolas" pitchFamily="34" charset="-122"/>
                <a:cs typeface="Consolas" pitchFamily="34" charset="-120"/>
              </a:rPr>
              <a:t>&lt;/</a:t>
            </a:r>
            <a:r>
              <a:rPr lang="en-US" sz="1050" dirty="0">
                <a:solidFill>
                  <a:srgbClr val="569CD6"/>
                </a:solidFill>
                <a:latin typeface="Consolas" pitchFamily="34" charset="0"/>
                <a:ea typeface="Consolas" pitchFamily="34" charset="-122"/>
                <a:cs typeface="Consolas" pitchFamily="34" charset="-120"/>
              </a:rPr>
              <a:t>h2</a:t>
            </a:r>
            <a:r>
              <a:rPr lang="en-US" sz="1050" dirty="0">
                <a:solidFill>
                  <a:srgbClr val="808080"/>
                </a:solidFill>
                <a:latin typeface="Consolas" pitchFamily="34" charset="0"/>
                <a:ea typeface="Consolas" pitchFamily="34" charset="-122"/>
                <a:cs typeface="Consolas" pitchFamily="34" charset="-120"/>
              </a:rPr>
              <a:t>&gt;</a:t>
            </a:r>
            <a:endParaRPr lang="en-US" sz="1050" dirty="0"/>
          </a:p>
          <a:p>
            <a:pPr marL="0" indent="0">
              <a:lnSpc>
                <a:spcPct val="100000"/>
              </a:lnSpc>
              <a:buNone/>
            </a:pPr>
            <a:r>
              <a:rPr lang="en-US" sz="1050" dirty="0">
                <a:solidFill>
                  <a:srgbClr val="6A9955"/>
                </a:solidFill>
                <a:latin typeface="Consolas" pitchFamily="34" charset="0"/>
                <a:ea typeface="Consolas" pitchFamily="34" charset="-122"/>
                <a:cs typeface="Consolas" pitchFamily="34" charset="-120"/>
              </a:rPr>
              <a:t>&lt;!-- The browser uses the FIRST source it understands.</a:t>
            </a:r>
            <a:endParaRPr lang="en-US" sz="1050" dirty="0"/>
          </a:p>
          <a:p>
            <a:pPr marL="0" indent="0">
              <a:lnSpc>
                <a:spcPct val="100000"/>
              </a:lnSpc>
              <a:buNone/>
            </a:pPr>
            <a:r>
              <a:rPr lang="en-US" sz="1050" dirty="0">
                <a:solidFill>
                  <a:srgbClr val="6A9955"/>
                </a:solidFill>
                <a:latin typeface="Consolas" pitchFamily="34" charset="0"/>
                <a:ea typeface="Consolas" pitchFamily="34" charset="-122"/>
                <a:cs typeface="Consolas" pitchFamily="34" charset="-120"/>
              </a:rPr>
              <a:t>   Old browsers skip them all and use the img --&gt;</a:t>
            </a:r>
            <a:endParaRPr lang="en-US" sz="1050" dirty="0"/>
          </a:p>
          <a:p>
            <a:pPr marL="0" indent="0">
              <a:lnSpc>
                <a:spcPct val="100000"/>
              </a:lnSpc>
              <a:buNone/>
            </a:pPr>
            <a:r>
              <a:rPr lang="en-US" sz="1050" dirty="0">
                <a:solidFill>
                  <a:srgbClr val="808080"/>
                </a:solidFill>
                <a:latin typeface="Consolas" pitchFamily="34" charset="0"/>
                <a:ea typeface="Consolas" pitchFamily="34" charset="-122"/>
                <a:cs typeface="Consolas" pitchFamily="34" charset="-120"/>
              </a:rPr>
              <a:t>&lt;</a:t>
            </a:r>
            <a:r>
              <a:rPr lang="en-US" sz="1050" dirty="0">
                <a:solidFill>
                  <a:srgbClr val="569CD6"/>
                </a:solidFill>
                <a:latin typeface="Consolas" pitchFamily="34" charset="0"/>
                <a:ea typeface="Consolas" pitchFamily="34" charset="-122"/>
                <a:cs typeface="Consolas" pitchFamily="34" charset="-120"/>
              </a:rPr>
              <a:t>picture</a:t>
            </a:r>
            <a:r>
              <a:rPr lang="en-US" sz="1050" dirty="0">
                <a:solidFill>
                  <a:srgbClr val="808080"/>
                </a:solidFill>
                <a:latin typeface="Consolas" pitchFamily="34" charset="0"/>
                <a:ea typeface="Consolas" pitchFamily="34" charset="-122"/>
                <a:cs typeface="Consolas" pitchFamily="34" charset="-120"/>
              </a:rPr>
              <a:t>&gt;</a:t>
            </a:r>
            <a:endParaRPr lang="en-US" sz="1050" dirty="0"/>
          </a:p>
          <a:p>
            <a:pPr marL="0" indent="0">
              <a:lnSpc>
                <a:spcPct val="100000"/>
              </a:lnSpc>
              <a:buNone/>
            </a:pP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808080"/>
                </a:solidFill>
                <a:latin typeface="Consolas" pitchFamily="34" charset="0"/>
                <a:ea typeface="Consolas" pitchFamily="34" charset="-122"/>
                <a:cs typeface="Consolas" pitchFamily="34" charset="-120"/>
              </a:rPr>
              <a:t>&lt;</a:t>
            </a:r>
            <a:r>
              <a:rPr lang="en-US" sz="1050" dirty="0">
                <a:solidFill>
                  <a:srgbClr val="569CD6"/>
                </a:solidFill>
                <a:latin typeface="Consolas" pitchFamily="34" charset="0"/>
                <a:ea typeface="Consolas" pitchFamily="34" charset="-122"/>
                <a:cs typeface="Consolas" pitchFamily="34" charset="-120"/>
              </a:rPr>
              <a:t>source</a:t>
            </a: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srcset</a:t>
            </a:r>
            <a:r>
              <a:rPr lang="en-US" sz="1050" dirty="0">
                <a:solidFill>
                  <a:srgbClr val="D4D4D4"/>
                </a:solidFill>
                <a:latin typeface="Consolas" pitchFamily="34" charset="0"/>
                <a:ea typeface="Consolas" pitchFamily="34" charset="-122"/>
                <a:cs typeface="Consolas" pitchFamily="34" charset="-120"/>
              </a:rPr>
              <a:t>=</a:t>
            </a:r>
            <a:r>
              <a:rPr lang="en-US" sz="1050" dirty="0">
                <a:solidFill>
                  <a:srgbClr val="CE9178"/>
                </a:solidFill>
                <a:latin typeface="Consolas" pitchFamily="34" charset="0"/>
                <a:ea typeface="Consolas" pitchFamily="34" charset="-122"/>
                <a:cs typeface="Consolas" pitchFamily="34" charset="-120"/>
              </a:rPr>
              <a:t>"samples/beach.avif"</a:t>
            </a: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type</a:t>
            </a:r>
            <a:r>
              <a:rPr lang="en-US" sz="1050" dirty="0">
                <a:solidFill>
                  <a:srgbClr val="D4D4D4"/>
                </a:solidFill>
                <a:latin typeface="Consolas" pitchFamily="34" charset="0"/>
                <a:ea typeface="Consolas" pitchFamily="34" charset="-122"/>
                <a:cs typeface="Consolas" pitchFamily="34" charset="-120"/>
              </a:rPr>
              <a:t>=</a:t>
            </a:r>
            <a:r>
              <a:rPr lang="en-US" sz="1050" dirty="0">
                <a:solidFill>
                  <a:srgbClr val="CE9178"/>
                </a:solidFill>
                <a:latin typeface="Consolas" pitchFamily="34" charset="0"/>
                <a:ea typeface="Consolas" pitchFamily="34" charset="-122"/>
                <a:cs typeface="Consolas" pitchFamily="34" charset="-120"/>
              </a:rPr>
              <a:t>"image/avif"</a:t>
            </a:r>
            <a:r>
              <a:rPr lang="en-US" sz="1050" dirty="0">
                <a:solidFill>
                  <a:srgbClr val="808080"/>
                </a:solidFill>
                <a:latin typeface="Consolas" pitchFamily="34" charset="0"/>
                <a:ea typeface="Consolas" pitchFamily="34" charset="-122"/>
                <a:cs typeface="Consolas" pitchFamily="34" charset="-120"/>
              </a:rPr>
              <a:t>&gt;</a:t>
            </a:r>
            <a:endParaRPr lang="en-US" sz="1050" dirty="0"/>
          </a:p>
          <a:p>
            <a:pPr marL="0" indent="0">
              <a:lnSpc>
                <a:spcPct val="100000"/>
              </a:lnSpc>
              <a:buNone/>
            </a:pP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808080"/>
                </a:solidFill>
                <a:latin typeface="Consolas" pitchFamily="34" charset="0"/>
                <a:ea typeface="Consolas" pitchFamily="34" charset="-122"/>
                <a:cs typeface="Consolas" pitchFamily="34" charset="-120"/>
              </a:rPr>
              <a:t>&lt;</a:t>
            </a:r>
            <a:r>
              <a:rPr lang="en-US" sz="1050" dirty="0">
                <a:solidFill>
                  <a:srgbClr val="569CD6"/>
                </a:solidFill>
                <a:latin typeface="Consolas" pitchFamily="34" charset="0"/>
                <a:ea typeface="Consolas" pitchFamily="34" charset="-122"/>
                <a:cs typeface="Consolas" pitchFamily="34" charset="-120"/>
              </a:rPr>
              <a:t>source</a:t>
            </a: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srcset</a:t>
            </a:r>
            <a:r>
              <a:rPr lang="en-US" sz="1050" dirty="0">
                <a:solidFill>
                  <a:srgbClr val="D4D4D4"/>
                </a:solidFill>
                <a:latin typeface="Consolas" pitchFamily="34" charset="0"/>
                <a:ea typeface="Consolas" pitchFamily="34" charset="-122"/>
                <a:cs typeface="Consolas" pitchFamily="34" charset="-120"/>
              </a:rPr>
              <a:t>=</a:t>
            </a:r>
            <a:r>
              <a:rPr lang="en-US" sz="1050" dirty="0">
                <a:solidFill>
                  <a:srgbClr val="CE9178"/>
                </a:solidFill>
                <a:latin typeface="Consolas" pitchFamily="34" charset="0"/>
                <a:ea typeface="Consolas" pitchFamily="34" charset="-122"/>
                <a:cs typeface="Consolas" pitchFamily="34" charset="-120"/>
              </a:rPr>
              <a:t>"samples/beach.webp"</a:t>
            </a: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type</a:t>
            </a:r>
            <a:r>
              <a:rPr lang="en-US" sz="1050" dirty="0">
                <a:solidFill>
                  <a:srgbClr val="D4D4D4"/>
                </a:solidFill>
                <a:latin typeface="Consolas" pitchFamily="34" charset="0"/>
                <a:ea typeface="Consolas" pitchFamily="34" charset="-122"/>
                <a:cs typeface="Consolas" pitchFamily="34" charset="-120"/>
              </a:rPr>
              <a:t>=</a:t>
            </a:r>
            <a:r>
              <a:rPr lang="en-US" sz="1050" dirty="0">
                <a:solidFill>
                  <a:srgbClr val="CE9178"/>
                </a:solidFill>
                <a:latin typeface="Consolas" pitchFamily="34" charset="0"/>
                <a:ea typeface="Consolas" pitchFamily="34" charset="-122"/>
                <a:cs typeface="Consolas" pitchFamily="34" charset="-120"/>
              </a:rPr>
              <a:t>"image/webp"</a:t>
            </a:r>
            <a:r>
              <a:rPr lang="en-US" sz="1050" dirty="0">
                <a:solidFill>
                  <a:srgbClr val="808080"/>
                </a:solidFill>
                <a:latin typeface="Consolas" pitchFamily="34" charset="0"/>
                <a:ea typeface="Consolas" pitchFamily="34" charset="-122"/>
                <a:cs typeface="Consolas" pitchFamily="34" charset="-120"/>
              </a:rPr>
              <a:t>&gt;</a:t>
            </a:r>
            <a:endParaRPr lang="en-US" sz="1050" dirty="0"/>
          </a:p>
          <a:p>
            <a:pPr marL="0" indent="0">
              <a:lnSpc>
                <a:spcPct val="100000"/>
              </a:lnSpc>
              <a:buNone/>
            </a:pP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808080"/>
                </a:solidFill>
                <a:latin typeface="Consolas" pitchFamily="34" charset="0"/>
                <a:ea typeface="Consolas" pitchFamily="34" charset="-122"/>
                <a:cs typeface="Consolas" pitchFamily="34" charset="-120"/>
              </a:rPr>
              <a:t>&lt;</a:t>
            </a:r>
            <a:r>
              <a:rPr lang="en-US" sz="1050" dirty="0">
                <a:solidFill>
                  <a:srgbClr val="569CD6"/>
                </a:solidFill>
                <a:latin typeface="Consolas" pitchFamily="34" charset="0"/>
                <a:ea typeface="Consolas" pitchFamily="34" charset="-122"/>
                <a:cs typeface="Consolas" pitchFamily="34" charset="-120"/>
              </a:rPr>
              <a:t>img</a:t>
            </a: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src</a:t>
            </a:r>
            <a:r>
              <a:rPr lang="en-US" sz="1050" dirty="0">
                <a:solidFill>
                  <a:srgbClr val="D4D4D4"/>
                </a:solidFill>
                <a:latin typeface="Consolas" pitchFamily="34" charset="0"/>
                <a:ea typeface="Consolas" pitchFamily="34" charset="-122"/>
                <a:cs typeface="Consolas" pitchFamily="34" charset="-120"/>
              </a:rPr>
              <a:t>=</a:t>
            </a:r>
            <a:r>
              <a:rPr lang="en-US" sz="1050" dirty="0">
                <a:solidFill>
                  <a:srgbClr val="CE9178"/>
                </a:solidFill>
                <a:latin typeface="Consolas" pitchFamily="34" charset="0"/>
                <a:ea typeface="Consolas" pitchFamily="34" charset="-122"/>
                <a:cs typeface="Consolas" pitchFamily="34" charset="-120"/>
              </a:rPr>
              <a:t>"samples/beach_q75.jpg"</a:t>
            </a: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width</a:t>
            </a:r>
            <a:r>
              <a:rPr lang="en-US" sz="1050" dirty="0">
                <a:solidFill>
                  <a:srgbClr val="D4D4D4"/>
                </a:solidFill>
                <a:latin typeface="Consolas" pitchFamily="34" charset="0"/>
                <a:ea typeface="Consolas" pitchFamily="34" charset="-122"/>
                <a:cs typeface="Consolas" pitchFamily="34" charset="-120"/>
              </a:rPr>
              <a:t>=</a:t>
            </a:r>
            <a:r>
              <a:rPr lang="en-US" sz="1050" dirty="0">
                <a:solidFill>
                  <a:srgbClr val="CE9178"/>
                </a:solidFill>
                <a:latin typeface="Consolas" pitchFamily="34" charset="0"/>
                <a:ea typeface="Consolas" pitchFamily="34" charset="-122"/>
                <a:cs typeface="Consolas" pitchFamily="34" charset="-120"/>
              </a:rPr>
              <a:t>"800"</a:t>
            </a: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height</a:t>
            </a:r>
            <a:r>
              <a:rPr lang="en-US" sz="1050" dirty="0">
                <a:solidFill>
                  <a:srgbClr val="D4D4D4"/>
                </a:solidFill>
                <a:latin typeface="Consolas" pitchFamily="34" charset="0"/>
                <a:ea typeface="Consolas" pitchFamily="34" charset="-122"/>
                <a:cs typeface="Consolas" pitchFamily="34" charset="-120"/>
              </a:rPr>
              <a:t>=</a:t>
            </a:r>
            <a:r>
              <a:rPr lang="en-US" sz="1050" dirty="0">
                <a:solidFill>
                  <a:srgbClr val="CE9178"/>
                </a:solidFill>
                <a:latin typeface="Consolas" pitchFamily="34" charset="0"/>
                <a:ea typeface="Consolas" pitchFamily="34" charset="-122"/>
                <a:cs typeface="Consolas" pitchFamily="34" charset="-120"/>
              </a:rPr>
              <a:t>"458"</a:t>
            </a:r>
            <a:endParaRPr lang="en-US" sz="1050" dirty="0"/>
          </a:p>
          <a:p>
            <a:pPr marL="0" indent="0">
              <a:lnSpc>
                <a:spcPct val="100000"/>
              </a:lnSpc>
              <a:buNone/>
            </a:pP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alt</a:t>
            </a:r>
            <a:r>
              <a:rPr lang="en-US" sz="1050" dirty="0">
                <a:solidFill>
                  <a:srgbClr val="D4D4D4"/>
                </a:solidFill>
                <a:latin typeface="Consolas" pitchFamily="34" charset="0"/>
                <a:ea typeface="Consolas" pitchFamily="34" charset="-122"/>
                <a:cs typeface="Consolas" pitchFamily="34" charset="-120"/>
              </a:rPr>
              <a:t>=</a:t>
            </a:r>
            <a:r>
              <a:rPr lang="en-US" sz="1050" dirty="0">
                <a:solidFill>
                  <a:srgbClr val="CE9178"/>
                </a:solidFill>
                <a:latin typeface="Consolas" pitchFamily="34" charset="0"/>
                <a:ea typeface="Consolas" pitchFamily="34" charset="-122"/>
                <a:cs typeface="Consolas" pitchFamily="34" charset="-120"/>
              </a:rPr>
              <a:t>"Rocky beach with calm water and a tree-lined point"</a:t>
            </a:r>
            <a:r>
              <a:rPr lang="en-US" sz="1050" dirty="0">
                <a:solidFill>
                  <a:srgbClr val="808080"/>
                </a:solidFill>
                <a:latin typeface="Consolas" pitchFamily="34" charset="0"/>
                <a:ea typeface="Consolas" pitchFamily="34" charset="-122"/>
                <a:cs typeface="Consolas" pitchFamily="34" charset="-120"/>
              </a:rPr>
              <a:t>&gt;</a:t>
            </a:r>
            <a:endParaRPr lang="en-US" sz="1050" dirty="0"/>
          </a:p>
          <a:p>
            <a:pPr marL="0" indent="0">
              <a:lnSpc>
                <a:spcPct val="100000"/>
              </a:lnSpc>
              <a:buNone/>
            </a:pPr>
            <a:r>
              <a:rPr lang="en-US" sz="1050" dirty="0">
                <a:solidFill>
                  <a:srgbClr val="808080"/>
                </a:solidFill>
                <a:latin typeface="Consolas" pitchFamily="34" charset="0"/>
                <a:ea typeface="Consolas" pitchFamily="34" charset="-122"/>
                <a:cs typeface="Consolas" pitchFamily="34" charset="-120"/>
              </a:rPr>
              <a:t>&lt;/</a:t>
            </a:r>
            <a:r>
              <a:rPr lang="en-US" sz="1050" dirty="0">
                <a:solidFill>
                  <a:srgbClr val="569CD6"/>
                </a:solidFill>
                <a:latin typeface="Consolas" pitchFamily="34" charset="0"/>
                <a:ea typeface="Consolas" pitchFamily="34" charset="-122"/>
                <a:cs typeface="Consolas" pitchFamily="34" charset="-120"/>
              </a:rPr>
              <a:t>picture</a:t>
            </a:r>
            <a:r>
              <a:rPr lang="en-US" sz="1050" dirty="0">
                <a:solidFill>
                  <a:srgbClr val="808080"/>
                </a:solidFill>
                <a:latin typeface="Consolas" pitchFamily="34" charset="0"/>
                <a:ea typeface="Consolas" pitchFamily="34" charset="-122"/>
                <a:cs typeface="Consolas" pitchFamily="34" charset="-120"/>
              </a:rPr>
              <a:t>&gt;</a:t>
            </a:r>
            <a:endParaRPr lang="en-US" sz="1050" dirty="0"/>
          </a:p>
          <a:p>
            <a:pPr marL="0" indent="0">
              <a:lnSpc>
                <a:spcPct val="100000"/>
              </a:lnSpc>
              <a:buNone/>
            </a:pPr>
            <a:r>
              <a:rPr lang="en-US" sz="1050" dirty="0">
                <a:solidFill>
                  <a:srgbClr val="D4D4D4"/>
                </a:solidFill>
                <a:latin typeface="Consolas" pitchFamily="34" charset="0"/>
                <a:ea typeface="Consolas" pitchFamily="34" charset="-122"/>
                <a:cs typeface="Consolas" pitchFamily="34" charset="-120"/>
              </a:rPr>
              <a:t> </a:t>
            </a:r>
            <a:endParaRPr lang="en-US" sz="1050" dirty="0"/>
          </a:p>
          <a:p>
            <a:pPr marL="0" indent="0">
              <a:lnSpc>
                <a:spcPct val="100000"/>
              </a:lnSpc>
              <a:buNone/>
            </a:pPr>
            <a:r>
              <a:rPr lang="en-US" sz="1050" dirty="0">
                <a:solidFill>
                  <a:srgbClr val="808080"/>
                </a:solidFill>
                <a:latin typeface="Consolas" pitchFamily="34" charset="0"/>
                <a:ea typeface="Consolas" pitchFamily="34" charset="-122"/>
                <a:cs typeface="Consolas" pitchFamily="34" charset="-120"/>
              </a:rPr>
              <a:t>&lt;</a:t>
            </a:r>
            <a:r>
              <a:rPr lang="en-US" sz="1050" dirty="0">
                <a:solidFill>
                  <a:srgbClr val="569CD6"/>
                </a:solidFill>
                <a:latin typeface="Consolas" pitchFamily="34" charset="0"/>
                <a:ea typeface="Consolas" pitchFamily="34" charset="-122"/>
                <a:cs typeface="Consolas" pitchFamily="34" charset="-120"/>
              </a:rPr>
              <a:t>p</a:t>
            </a:r>
            <a:r>
              <a:rPr lang="en-US" sz="1050" dirty="0">
                <a:solidFill>
                  <a:srgbClr val="808080"/>
                </a:solidFill>
                <a:latin typeface="Consolas" pitchFamily="34" charset="0"/>
                <a:ea typeface="Consolas" pitchFamily="34" charset="-122"/>
                <a:cs typeface="Consolas" pitchFamily="34" charset="-120"/>
              </a:rPr>
              <a:t>&gt;</a:t>
            </a:r>
            <a:r>
              <a:rPr lang="en-US" sz="1050" dirty="0">
                <a:solidFill>
                  <a:srgbClr val="D4D4D4"/>
                </a:solidFill>
                <a:latin typeface="Consolas" pitchFamily="34" charset="0"/>
                <a:ea typeface="Consolas" pitchFamily="34" charset="-122"/>
                <a:cs typeface="Consolas" pitchFamily="34" charset="-120"/>
              </a:rPr>
              <a:t>Which file did your browser pick? Right-click each image </a:t>
            </a:r>
            <a:r>
              <a:rPr lang="en-US" sz="1050" dirty="0">
                <a:solidFill>
                  <a:srgbClr val="D7BA7D"/>
                </a:solidFill>
                <a:latin typeface="Consolas" pitchFamily="34" charset="0"/>
                <a:ea typeface="Consolas" pitchFamily="34" charset="-122"/>
                <a:cs typeface="Consolas" pitchFamily="34" charset="-120"/>
              </a:rPr>
              <a:t>&amp;rarr;</a:t>
            </a:r>
            <a:endParaRPr lang="en-US" sz="1050" dirty="0"/>
          </a:p>
          <a:p>
            <a:pPr marL="0" indent="0">
              <a:lnSpc>
                <a:spcPct val="100000"/>
              </a:lnSpc>
              <a:buNone/>
            </a:pPr>
            <a:r>
              <a:rPr lang="en-US" sz="1050" dirty="0">
                <a:solidFill>
                  <a:srgbClr val="D4D4D4"/>
                </a:solidFill>
                <a:latin typeface="Consolas" pitchFamily="34" charset="0"/>
                <a:ea typeface="Consolas" pitchFamily="34" charset="-122"/>
                <a:cs typeface="Consolas" pitchFamily="34" charset="-120"/>
              </a:rPr>
              <a:t>   Open image in new tab, and look at the address bar.</a:t>
            </a:r>
            <a:r>
              <a:rPr lang="en-US" sz="1050" dirty="0">
                <a:solidFill>
                  <a:srgbClr val="808080"/>
                </a:solidFill>
                <a:latin typeface="Consolas" pitchFamily="34" charset="0"/>
                <a:ea typeface="Consolas" pitchFamily="34" charset="-122"/>
                <a:cs typeface="Consolas" pitchFamily="34" charset="-120"/>
              </a:rPr>
              <a:t>&lt;/</a:t>
            </a:r>
            <a:r>
              <a:rPr lang="en-US" sz="1050" dirty="0">
                <a:solidFill>
                  <a:srgbClr val="569CD6"/>
                </a:solidFill>
                <a:latin typeface="Consolas" pitchFamily="34" charset="0"/>
                <a:ea typeface="Consolas" pitchFamily="34" charset="-122"/>
                <a:cs typeface="Consolas" pitchFamily="34" charset="-120"/>
              </a:rPr>
              <a:t>p</a:t>
            </a:r>
            <a:r>
              <a:rPr lang="en-US" sz="1050" dirty="0">
                <a:solidFill>
                  <a:srgbClr val="808080"/>
                </a:solidFill>
                <a:latin typeface="Consolas" pitchFamily="34" charset="0"/>
                <a:ea typeface="Consolas" pitchFamily="34" charset="-122"/>
                <a:cs typeface="Consolas" pitchFamily="34" charset="-120"/>
              </a:rPr>
              <a:t>&gt;</a:t>
            </a:r>
            <a:endParaRPr lang="en-US" sz="1050" dirty="0"/>
          </a:p>
        </p:txBody>
      </p:sp>
      <p:sp>
        <p:nvSpPr>
          <p:cNvPr id="5" name="Text 2"/>
          <p:cNvSpPr txBox="1"/>
          <p:nvPr/>
        </p:nvSpPr>
        <p:spPr>
          <a:xfrm>
            <a:off x="6812280" y="411480"/>
            <a:ext cx="4967935" cy="320040"/>
          </a:xfrm>
          <a:prstGeom prst="rect">
            <a:avLst/>
          </a:prstGeom>
          <a:noFill/>
          <a:ln/>
        </p:spPr>
        <p:txBody>
          <a:bodyPr wrap="square" lIns="0" tIns="0" rIns="0" bIns="0" rtlCol="0" anchor="ctr"/>
          <a:lstStyle/>
          <a:p>
            <a:pPr marL="0" indent="0">
              <a:buNone/>
            </a:pPr>
            <a:r>
              <a:rPr lang="en-US" sz="1400" b="1" kern="0" spc="100" dirty="0">
                <a:solidFill>
                  <a:srgbClr val="595959"/>
                </a:solidFill>
                <a:latin typeface="Aptos" pitchFamily="34" charset="0"/>
                <a:ea typeface="Aptos" pitchFamily="34" charset="-122"/>
                <a:cs typeface="Aptos" pitchFamily="34" charset="-120"/>
              </a:rPr>
              <a:t>EXAMPLE 05</a:t>
            </a:r>
            <a:endParaRPr lang="en-US" sz="1400" dirty="0"/>
          </a:p>
        </p:txBody>
      </p:sp>
      <p:sp>
        <p:nvSpPr>
          <p:cNvPr id="6" name="Text 3"/>
          <p:cNvSpPr txBox="1"/>
          <p:nvPr/>
        </p:nvSpPr>
        <p:spPr>
          <a:xfrm>
            <a:off x="6812280" y="731520"/>
            <a:ext cx="4967935" cy="640080"/>
          </a:xfrm>
          <a:prstGeom prst="rect">
            <a:avLst/>
          </a:prstGeom>
          <a:noFill/>
          <a:ln/>
        </p:spPr>
        <p:txBody>
          <a:bodyPr wrap="square" lIns="0" tIns="0" rIns="0" bIns="0" rtlCol="0" anchor="t"/>
          <a:lstStyle/>
          <a:p>
            <a:pPr marL="0" indent="0">
              <a:buNone/>
            </a:pPr>
            <a:r>
              <a:rPr lang="en-US" sz="3200" dirty="0">
                <a:solidFill>
                  <a:srgbClr val="000000"/>
                </a:solidFill>
                <a:latin typeface="Aptos" pitchFamily="34" charset="0"/>
                <a:ea typeface="Aptos" pitchFamily="34" charset="-122"/>
                <a:cs typeface="Aptos" pitchFamily="34" charset="-120"/>
              </a:rPr>
              <a:t>srcset and picture</a:t>
            </a:r>
            <a:endParaRPr lang="en-US" sz="3200" dirty="0"/>
          </a:p>
        </p:txBody>
      </p:sp>
      <p:sp>
        <p:nvSpPr>
          <p:cNvPr id="7" name="Text 4"/>
          <p:cNvSpPr txBox="1"/>
          <p:nvPr/>
        </p:nvSpPr>
        <p:spPr>
          <a:xfrm>
            <a:off x="6812280" y="1508760"/>
            <a:ext cx="4967935" cy="4754880"/>
          </a:xfrm>
          <a:prstGeom prst="rect">
            <a:avLst/>
          </a:prstGeom>
          <a:noFill/>
          <a:ln/>
        </p:spPr>
        <p:txBody>
          <a:bodyPr wrap="square" lIns="0" tIns="0" rIns="0" bIns="0" rtlCol="0" anchor="t"/>
          <a:lstStyle/>
          <a:p>
            <a:pPr marL="342900" indent="-342900">
              <a:buSzPct val="100000"/>
              <a:buChar char="•"/>
            </a:pPr>
            <a:r>
              <a:rPr lang="en-US" sz="1400" dirty="0">
                <a:solidFill>
                  <a:srgbClr val="262626"/>
                </a:solidFill>
                <a:latin typeface="Aptos" pitchFamily="34" charset="0"/>
                <a:ea typeface="Aptos" pitchFamily="34" charset="-122"/>
                <a:cs typeface="Aptos" pitchFamily="34" charset="-120"/>
              </a:rPr>
              <a:t>​</a:t>
            </a:r>
            <a:r>
              <a:rPr lang="en-US" sz="1400" dirty="0">
                <a:solidFill>
                  <a:srgbClr val="8A2B0B"/>
                </a:solidFill>
                <a:latin typeface="Consolas" pitchFamily="34" charset="0"/>
                <a:ea typeface="Consolas" pitchFamily="34" charset="-122"/>
                <a:cs typeface="Consolas" pitchFamily="34" charset="-120"/>
              </a:rPr>
              <a:t>srcset</a:t>
            </a:r>
            <a:r>
              <a:rPr lang="en-US" sz="1400" dirty="0">
                <a:solidFill>
                  <a:srgbClr val="262626"/>
                </a:solidFill>
                <a:latin typeface="Aptos" pitchFamily="34" charset="0"/>
                <a:ea typeface="Aptos" pitchFamily="34" charset="-122"/>
                <a:cs typeface="Aptos" pitchFamily="34" charset="-120"/>
              </a:rPr>
              <a:t>: offer the </a:t>
            </a:r>
            <a:r>
              <a:rPr lang="en-US" sz="1400" b="1" dirty="0">
                <a:solidFill>
                  <a:srgbClr val="262626"/>
                </a:solidFill>
                <a:latin typeface="Aptos" pitchFamily="34" charset="0"/>
                <a:ea typeface="Aptos" pitchFamily="34" charset="-122"/>
                <a:cs typeface="Aptos" pitchFamily="34" charset="-120"/>
              </a:rPr>
              <a:t>same image at several widths</a:t>
            </a:r>
            <a:r>
              <a:rPr lang="en-US" sz="1400" dirty="0">
                <a:solidFill>
                  <a:srgbClr val="262626"/>
                </a:solidFill>
                <a:latin typeface="Aptos" pitchFamily="34" charset="0"/>
                <a:ea typeface="Aptos" pitchFamily="34" charset="-122"/>
                <a:cs typeface="Aptos" pitchFamily="34" charset="-120"/>
              </a:rPr>
              <a:t>. The browser picks the smallest one that will still look sharp on that screen.</a:t>
            </a:r>
            <a:endParaRPr lang="en-US" sz="1400" dirty="0"/>
          </a:p>
          <a:p>
            <a:pPr marL="342900" indent="-342900">
              <a:spcBef>
                <a:spcPts val="900"/>
              </a:spcBef>
              <a:buSzPct val="100000"/>
              <a:buChar char="•"/>
            </a:pPr>
            <a:r>
              <a:rPr lang="en-US" sz="1400" dirty="0">
                <a:solidFill>
                  <a:srgbClr val="262626"/>
                </a:solidFill>
                <a:latin typeface="Aptos" pitchFamily="34" charset="0"/>
                <a:ea typeface="Aptos" pitchFamily="34" charset="-122"/>
                <a:cs typeface="Aptos" pitchFamily="34" charset="-120"/>
              </a:rPr>
              <a:t>​The </a:t>
            </a:r>
            <a:r>
              <a:rPr lang="en-US" sz="1400" dirty="0">
                <a:solidFill>
                  <a:srgbClr val="8A2B0B"/>
                </a:solidFill>
                <a:latin typeface="Consolas" pitchFamily="34" charset="0"/>
                <a:ea typeface="Consolas" pitchFamily="34" charset="-122"/>
                <a:cs typeface="Consolas" pitchFamily="34" charset="-120"/>
              </a:rPr>
              <a:t>400w</a:t>
            </a:r>
            <a:r>
              <a:rPr lang="en-US" sz="1400" dirty="0">
                <a:solidFill>
                  <a:srgbClr val="262626"/>
                </a:solidFill>
                <a:latin typeface="Aptos" pitchFamily="34" charset="0"/>
                <a:ea typeface="Aptos" pitchFamily="34" charset="-122"/>
                <a:cs typeface="Aptos" pitchFamily="34" charset="-120"/>
              </a:rPr>
              <a:t> / </a:t>
            </a:r>
            <a:r>
              <a:rPr lang="en-US" sz="1400" dirty="0">
                <a:solidFill>
                  <a:srgbClr val="8A2B0B"/>
                </a:solidFill>
                <a:latin typeface="Consolas" pitchFamily="34" charset="0"/>
                <a:ea typeface="Consolas" pitchFamily="34" charset="-122"/>
                <a:cs typeface="Consolas" pitchFamily="34" charset="-120"/>
              </a:rPr>
              <a:t>800w</a:t>
            </a:r>
            <a:r>
              <a:rPr lang="en-US" sz="1400" dirty="0">
                <a:solidFill>
                  <a:srgbClr val="262626"/>
                </a:solidFill>
                <a:latin typeface="Aptos" pitchFamily="34" charset="0"/>
                <a:ea typeface="Aptos" pitchFamily="34" charset="-122"/>
                <a:cs typeface="Aptos" pitchFamily="34" charset="-120"/>
              </a:rPr>
              <a:t> tell the browser how wide each file really is.</a:t>
            </a:r>
            <a:endParaRPr lang="en-US" sz="1400" dirty="0"/>
          </a:p>
          <a:p>
            <a:pPr marL="342900" indent="-342900">
              <a:spcBef>
                <a:spcPts val="900"/>
              </a:spcBef>
              <a:buSzPct val="100000"/>
              <a:buChar char="•"/>
            </a:pPr>
            <a:r>
              <a:rPr lang="en-US" sz="1400" dirty="0">
                <a:solidFill>
                  <a:srgbClr val="262626"/>
                </a:solidFill>
                <a:latin typeface="Aptos" pitchFamily="34" charset="0"/>
                <a:ea typeface="Aptos" pitchFamily="34" charset="-122"/>
                <a:cs typeface="Aptos" pitchFamily="34" charset="-120"/>
              </a:rPr>
              <a:t>​</a:t>
            </a:r>
            <a:r>
              <a:rPr lang="en-US" sz="1400" dirty="0">
                <a:solidFill>
                  <a:srgbClr val="8A2B0B"/>
                </a:solidFill>
                <a:latin typeface="Consolas" pitchFamily="34" charset="0"/>
                <a:ea typeface="Consolas" pitchFamily="34" charset="-122"/>
                <a:cs typeface="Consolas" pitchFamily="34" charset="-120"/>
              </a:rPr>
              <a:t>&lt;picture&gt;</a:t>
            </a:r>
            <a:r>
              <a:rPr lang="en-US" sz="1400" dirty="0">
                <a:solidFill>
                  <a:srgbClr val="262626"/>
                </a:solidFill>
                <a:latin typeface="Aptos" pitchFamily="34" charset="0"/>
                <a:ea typeface="Aptos" pitchFamily="34" charset="-122"/>
                <a:cs typeface="Aptos" pitchFamily="34" charset="-120"/>
              </a:rPr>
              <a:t>: offer </a:t>
            </a:r>
            <a:r>
              <a:rPr lang="en-US" sz="1400" b="1" dirty="0">
                <a:solidFill>
                  <a:srgbClr val="262626"/>
                </a:solidFill>
                <a:latin typeface="Aptos" pitchFamily="34" charset="0"/>
                <a:ea typeface="Aptos" pitchFamily="34" charset="-122"/>
                <a:cs typeface="Aptos" pitchFamily="34" charset="-120"/>
              </a:rPr>
              <a:t>different formats</a:t>
            </a:r>
            <a:r>
              <a:rPr lang="en-US" sz="1400" dirty="0">
                <a:solidFill>
                  <a:srgbClr val="262626"/>
                </a:solidFill>
                <a:latin typeface="Aptos" pitchFamily="34" charset="0"/>
                <a:ea typeface="Aptos" pitchFamily="34" charset="-122"/>
                <a:cs typeface="Aptos" pitchFamily="34" charset="-120"/>
              </a:rPr>
              <a:t>. The browser uses the first one it supports; older browsers use the </a:t>
            </a:r>
            <a:r>
              <a:rPr lang="en-US" sz="1400" dirty="0">
                <a:solidFill>
                  <a:srgbClr val="8A2B0B"/>
                </a:solidFill>
                <a:latin typeface="Consolas" pitchFamily="34" charset="0"/>
                <a:ea typeface="Consolas" pitchFamily="34" charset="-122"/>
                <a:cs typeface="Consolas" pitchFamily="34" charset="-120"/>
              </a:rPr>
              <a:t>&lt;img&gt;</a:t>
            </a:r>
            <a:r>
              <a:rPr lang="en-US" sz="1400" dirty="0">
                <a:solidFill>
                  <a:srgbClr val="262626"/>
                </a:solidFill>
                <a:latin typeface="Aptos" pitchFamily="34" charset="0"/>
                <a:ea typeface="Aptos" pitchFamily="34" charset="-122"/>
                <a:cs typeface="Aptos" pitchFamily="34" charset="-120"/>
              </a:rPr>
              <a:t>.</a:t>
            </a:r>
            <a:endParaRPr lang="en-US" sz="1400" dirty="0"/>
          </a:p>
          <a:p>
            <a:pPr marL="342900" indent="-342900">
              <a:spcBef>
                <a:spcPts val="900"/>
              </a:spcBef>
              <a:buSzPct val="100000"/>
              <a:buChar char="•"/>
            </a:pPr>
            <a:r>
              <a:rPr lang="en-US" sz="1400" dirty="0">
                <a:solidFill>
                  <a:srgbClr val="262626"/>
                </a:solidFill>
                <a:latin typeface="Aptos" pitchFamily="34" charset="0"/>
                <a:ea typeface="Aptos" pitchFamily="34" charset="-122"/>
                <a:cs typeface="Aptos" pitchFamily="34" charset="-120"/>
              </a:rPr>
              <a:t>​Alt goes on the </a:t>
            </a:r>
            <a:r>
              <a:rPr lang="en-US" sz="1400" dirty="0">
                <a:solidFill>
                  <a:srgbClr val="8A2B0B"/>
                </a:solidFill>
                <a:latin typeface="Consolas" pitchFamily="34" charset="0"/>
                <a:ea typeface="Consolas" pitchFamily="34" charset="-122"/>
                <a:cs typeface="Consolas" pitchFamily="34" charset="-120"/>
              </a:rPr>
              <a:t>&lt;img&gt;</a:t>
            </a:r>
            <a:r>
              <a:rPr lang="en-US" sz="1400" dirty="0">
                <a:solidFill>
                  <a:srgbClr val="262626"/>
                </a:solidFill>
                <a:latin typeface="Aptos" pitchFamily="34" charset="0"/>
                <a:ea typeface="Aptos" pitchFamily="34" charset="-122"/>
                <a:cs typeface="Aptos" pitchFamily="34" charset="-120"/>
              </a:rPr>
              <a:t>, once. It covers every version.</a:t>
            </a:r>
            <a:endParaRPr lang="en-US" sz="1400" dirty="0"/>
          </a:p>
        </p:txBody>
      </p:sp>
      <p:sp>
        <p:nvSpPr>
          <p:cNvPr id="8" name="Text 5"/>
          <p:cNvSpPr txBox="1"/>
          <p:nvPr/>
        </p:nvSpPr>
        <p:spPr>
          <a:xfrm>
            <a:off x="6812280" y="6355080"/>
            <a:ext cx="4967935" cy="274320"/>
          </a:xfrm>
          <a:prstGeom prst="rect">
            <a:avLst/>
          </a:prstGeom>
          <a:noFill/>
          <a:ln/>
        </p:spPr>
        <p:txBody>
          <a:bodyPr wrap="square" lIns="0" tIns="0" rIns="0" bIns="0" rtlCol="0" anchor="ctr"/>
          <a:lstStyle/>
          <a:p>
            <a:pPr marL="0" indent="0">
              <a:buNone/>
            </a:pPr>
            <a:r>
              <a:rPr lang="en-US" sz="1100" dirty="0">
                <a:solidFill>
                  <a:srgbClr val="7F7F7F"/>
                </a:solidFill>
                <a:latin typeface="Consolas" pitchFamily="34" charset="0"/>
                <a:ea typeface="Consolas" pitchFamily="34" charset="-122"/>
                <a:cs typeface="Consolas" pitchFamily="34" charset="-120"/>
              </a:rPr>
              <a:t>05_srcset_picture_example.html</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E1E8EB"/>
        </a:solidFill>
        <a:effectLst/>
      </p:bgPr>
    </p:bg>
    <p:spTree>
      <p:nvGrpSpPr>
        <p:cNvPr id="1" name=""/>
        <p:cNvGrpSpPr/>
        <p:nvPr/>
      </p:nvGrpSpPr>
      <p:grpSpPr>
        <a:xfrm>
          <a:off x="0" y="0"/>
          <a:ext cx="0" cy="0"/>
          <a:chOff x="0" y="0"/>
          <a:chExt cx="0" cy="0"/>
        </a:xfrm>
      </p:grpSpPr>
      <p:sp>
        <p:nvSpPr>
          <p:cNvPr id="2" name="Text 0"/>
          <p:cNvSpPr txBox="1"/>
          <p:nvPr/>
        </p:nvSpPr>
        <p:spPr>
          <a:xfrm>
            <a:off x="685800" y="457200"/>
            <a:ext cx="10789920" cy="640080"/>
          </a:xfrm>
          <a:prstGeom prst="rect">
            <a:avLst/>
          </a:prstGeom>
          <a:noFill/>
          <a:ln/>
        </p:spPr>
        <p:txBody>
          <a:bodyPr wrap="square" lIns="0" tIns="0" rIns="0" bIns="0" rtlCol="0" anchor="ctr"/>
          <a:lstStyle/>
          <a:p>
            <a:pPr marL="0" indent="0">
              <a:buNone/>
            </a:pPr>
            <a:r>
              <a:rPr lang="en-US" sz="2800" dirty="0">
                <a:solidFill>
                  <a:srgbClr val="000000"/>
                </a:solidFill>
                <a:latin typeface="Aptos" pitchFamily="34" charset="0"/>
                <a:ea typeface="Aptos" pitchFamily="34" charset="-122"/>
                <a:cs typeface="Aptos" pitchFamily="34" charset="-120"/>
              </a:rPr>
              <a:t>Lab 6: Put It on a Page (15 min)</a:t>
            </a:r>
            <a:endParaRPr lang="en-US" sz="2800" dirty="0"/>
          </a:p>
        </p:txBody>
      </p:sp>
      <p:sp>
        <p:nvSpPr>
          <p:cNvPr id="4" name="Shape 1"/>
          <p:cNvSpPr/>
          <p:nvPr/>
        </p:nvSpPr>
        <p:spPr>
          <a:xfrm>
            <a:off x="685800" y="1325880"/>
            <a:ext cx="6949440" cy="5029200"/>
          </a:xfrm>
          <a:prstGeom prst="roundRect">
            <a:avLst>
              <a:gd name="adj" fmla="val 2182"/>
            </a:avLst>
          </a:prstGeom>
          <a:solidFill>
            <a:srgbClr val="FFFFFF"/>
          </a:solidFill>
          <a:ln w="9525">
            <a:solidFill>
              <a:srgbClr val="D0D7DB"/>
            </a:solidFill>
            <a:prstDash val="solid"/>
          </a:ln>
          <a:effectLst>
            <a:outerShdw blurRad="76200" dist="25400" dir="5400000" algn="bl" rotWithShape="0">
              <a:srgbClr val="000000">
                <a:alpha val="12000"/>
              </a:srgbClr>
            </a:outerShdw>
          </a:effectLst>
        </p:spPr>
        <p:txBody>
          <a:bodyPr/>
          <a:lstStyle/>
          <a:p>
            <a:endParaRPr lang="en-US"/>
          </a:p>
        </p:txBody>
      </p:sp>
      <p:sp>
        <p:nvSpPr>
          <p:cNvPr id="5" name="Shape 2"/>
          <p:cNvSpPr/>
          <p:nvPr/>
        </p:nvSpPr>
        <p:spPr>
          <a:xfrm>
            <a:off x="960120" y="1600200"/>
            <a:ext cx="420624" cy="420624"/>
          </a:xfrm>
          <a:prstGeom prst="ellipse">
            <a:avLst/>
          </a:prstGeom>
          <a:solidFill>
            <a:srgbClr val="E97132"/>
          </a:solidFill>
          <a:ln w="12700">
            <a:solidFill>
              <a:srgbClr val="E97132"/>
            </a:solidFill>
            <a:prstDash val="solid"/>
          </a:ln>
        </p:spPr>
        <p:txBody>
          <a:bodyPr/>
          <a:lstStyle/>
          <a:p>
            <a:endParaRPr lang="en-US"/>
          </a:p>
        </p:txBody>
      </p:sp>
      <p:sp>
        <p:nvSpPr>
          <p:cNvPr id="6" name="Text 3"/>
          <p:cNvSpPr txBox="1"/>
          <p:nvPr/>
        </p:nvSpPr>
        <p:spPr>
          <a:xfrm>
            <a:off x="960120" y="1600200"/>
            <a:ext cx="420624" cy="420624"/>
          </a:xfrm>
          <a:prstGeom prst="rect">
            <a:avLst/>
          </a:prstGeom>
          <a:noFill/>
          <a:ln/>
        </p:spPr>
        <p:txBody>
          <a:bodyPr wrap="square" lIns="0" tIns="0" rIns="0" bIns="0" rtlCol="0" anchor="ctr"/>
          <a:lstStyle/>
          <a:p>
            <a:pPr marL="0" indent="0" algn="ctr">
              <a:buNone/>
            </a:pPr>
            <a:r>
              <a:rPr lang="en-US" sz="1800" b="1" dirty="0">
                <a:solidFill>
                  <a:srgbClr val="FFFFFF"/>
                </a:solidFill>
                <a:latin typeface="Aptos" pitchFamily="34" charset="0"/>
                <a:ea typeface="Aptos" pitchFamily="34" charset="-122"/>
                <a:cs typeface="Aptos" pitchFamily="34" charset="-120"/>
              </a:rPr>
              <a:t>1</a:t>
            </a:r>
            <a:endParaRPr lang="en-US" sz="1800" dirty="0"/>
          </a:p>
        </p:txBody>
      </p:sp>
      <p:sp>
        <p:nvSpPr>
          <p:cNvPr id="7" name="Text 4"/>
          <p:cNvSpPr txBox="1"/>
          <p:nvPr/>
        </p:nvSpPr>
        <p:spPr>
          <a:xfrm>
            <a:off x="1554480" y="1581912"/>
            <a:ext cx="5852160" cy="320040"/>
          </a:xfrm>
          <a:prstGeom prst="rect">
            <a:avLst/>
          </a:prstGeom>
          <a:noFill/>
          <a:ln/>
        </p:spPr>
        <p:txBody>
          <a:bodyPr wrap="square" lIns="0" tIns="0" rIns="0" bIns="0" rtlCol="0" anchor="ctr"/>
          <a:lstStyle/>
          <a:p>
            <a:pPr marL="0" indent="0">
              <a:buNone/>
            </a:pPr>
            <a:r>
              <a:rPr lang="en-US" sz="1600" b="1" dirty="0">
                <a:solidFill>
                  <a:srgbClr val="000000"/>
                </a:solidFill>
                <a:latin typeface="Aptos" pitchFamily="34" charset="0"/>
                <a:ea typeface="Aptos" pitchFamily="34" charset="-122"/>
                <a:cs typeface="Aptos" pitchFamily="34" charset="-120"/>
              </a:rPr>
              <a:t>Open image_lab.html in VS Code</a:t>
            </a:r>
            <a:endParaRPr lang="en-US" sz="1600" dirty="0"/>
          </a:p>
        </p:txBody>
      </p:sp>
      <p:sp>
        <p:nvSpPr>
          <p:cNvPr id="8" name="Text 5"/>
          <p:cNvSpPr txBox="1"/>
          <p:nvPr/>
        </p:nvSpPr>
        <p:spPr>
          <a:xfrm>
            <a:off x="1554480" y="1901952"/>
            <a:ext cx="5852160" cy="548640"/>
          </a:xfrm>
          <a:prstGeom prst="rect">
            <a:avLst/>
          </a:prstGeom>
          <a:noFill/>
          <a:ln/>
        </p:spPr>
        <p:txBody>
          <a:bodyPr wrap="square" lIns="0" tIns="0" rIns="0" bIns="0" rtlCol="0" anchor="t"/>
          <a:lstStyle/>
          <a:p>
            <a:pPr marL="0" indent="0">
              <a:buNone/>
            </a:pPr>
            <a:r>
              <a:rPr lang="en-US" sz="1350" dirty="0">
                <a:solidFill>
                  <a:srgbClr val="262626"/>
                </a:solidFill>
                <a:latin typeface="Aptos" pitchFamily="34" charset="0"/>
                <a:ea typeface="Aptos" pitchFamily="34" charset="-122"/>
                <a:cs typeface="Aptos" pitchFamily="34" charset="-120"/>
              </a:rPr>
              <a:t>​Your name in the &lt;title&gt; and &lt;h1&gt;. Finish the Lab 1 list and the table.</a:t>
            </a:r>
            <a:endParaRPr lang="en-US" sz="1350" dirty="0"/>
          </a:p>
        </p:txBody>
      </p:sp>
      <p:sp>
        <p:nvSpPr>
          <p:cNvPr id="9" name="Shape 6"/>
          <p:cNvSpPr/>
          <p:nvPr/>
        </p:nvSpPr>
        <p:spPr>
          <a:xfrm>
            <a:off x="960120" y="2496312"/>
            <a:ext cx="420624" cy="420624"/>
          </a:xfrm>
          <a:prstGeom prst="ellipse">
            <a:avLst/>
          </a:prstGeom>
          <a:solidFill>
            <a:srgbClr val="E97132"/>
          </a:solidFill>
          <a:ln w="12700">
            <a:solidFill>
              <a:srgbClr val="E97132"/>
            </a:solidFill>
            <a:prstDash val="solid"/>
          </a:ln>
        </p:spPr>
        <p:txBody>
          <a:bodyPr/>
          <a:lstStyle/>
          <a:p>
            <a:endParaRPr lang="en-US"/>
          </a:p>
        </p:txBody>
      </p:sp>
      <p:sp>
        <p:nvSpPr>
          <p:cNvPr id="10" name="Text 7"/>
          <p:cNvSpPr txBox="1"/>
          <p:nvPr/>
        </p:nvSpPr>
        <p:spPr>
          <a:xfrm>
            <a:off x="960120" y="2496312"/>
            <a:ext cx="420624" cy="420624"/>
          </a:xfrm>
          <a:prstGeom prst="rect">
            <a:avLst/>
          </a:prstGeom>
          <a:noFill/>
          <a:ln/>
        </p:spPr>
        <p:txBody>
          <a:bodyPr wrap="square" lIns="0" tIns="0" rIns="0" bIns="0" rtlCol="0" anchor="ctr"/>
          <a:lstStyle/>
          <a:p>
            <a:pPr marL="0" indent="0" algn="ctr">
              <a:buNone/>
            </a:pPr>
            <a:r>
              <a:rPr lang="en-US" sz="1800" b="1" dirty="0">
                <a:solidFill>
                  <a:srgbClr val="FFFFFF"/>
                </a:solidFill>
                <a:latin typeface="Aptos" pitchFamily="34" charset="0"/>
                <a:ea typeface="Aptos" pitchFamily="34" charset="-122"/>
                <a:cs typeface="Aptos" pitchFamily="34" charset="-120"/>
              </a:rPr>
              <a:t>2</a:t>
            </a:r>
            <a:endParaRPr lang="en-US" sz="1800" dirty="0"/>
          </a:p>
        </p:txBody>
      </p:sp>
      <p:sp>
        <p:nvSpPr>
          <p:cNvPr id="11" name="Text 8"/>
          <p:cNvSpPr txBox="1"/>
          <p:nvPr/>
        </p:nvSpPr>
        <p:spPr>
          <a:xfrm>
            <a:off x="1554480" y="2478024"/>
            <a:ext cx="5852160" cy="320040"/>
          </a:xfrm>
          <a:prstGeom prst="rect">
            <a:avLst/>
          </a:prstGeom>
          <a:noFill/>
          <a:ln/>
        </p:spPr>
        <p:txBody>
          <a:bodyPr wrap="square" lIns="0" tIns="0" rIns="0" bIns="0" rtlCol="0" anchor="ctr"/>
          <a:lstStyle/>
          <a:p>
            <a:pPr marL="0" indent="0">
              <a:buNone/>
            </a:pPr>
            <a:r>
              <a:rPr lang="en-US" sz="1600" b="1" dirty="0">
                <a:solidFill>
                  <a:srgbClr val="000000"/>
                </a:solidFill>
                <a:latin typeface="Aptos" pitchFamily="34" charset="0"/>
                <a:ea typeface="Aptos" pitchFamily="34" charset="-122"/>
                <a:cs typeface="Aptos" pitchFamily="34" charset="-120"/>
              </a:rPr>
              <a:t>Fix the alt text</a:t>
            </a:r>
            <a:endParaRPr lang="en-US" sz="1600" dirty="0"/>
          </a:p>
        </p:txBody>
      </p:sp>
      <p:sp>
        <p:nvSpPr>
          <p:cNvPr id="12" name="Text 9"/>
          <p:cNvSpPr txBox="1"/>
          <p:nvPr/>
        </p:nvSpPr>
        <p:spPr>
          <a:xfrm>
            <a:off x="1554480" y="2798064"/>
            <a:ext cx="5852160" cy="548640"/>
          </a:xfrm>
          <a:prstGeom prst="rect">
            <a:avLst/>
          </a:prstGeom>
          <a:noFill/>
          <a:ln/>
        </p:spPr>
        <p:txBody>
          <a:bodyPr wrap="square" lIns="0" tIns="0" rIns="0" bIns="0" rtlCol="0" anchor="t"/>
          <a:lstStyle/>
          <a:p>
            <a:pPr marL="0" indent="0">
              <a:buNone/>
            </a:pPr>
            <a:r>
              <a:rPr lang="en-US" sz="1350" dirty="0">
                <a:solidFill>
                  <a:srgbClr val="262626"/>
                </a:solidFill>
                <a:latin typeface="Aptos" pitchFamily="34" charset="0"/>
                <a:ea typeface="Aptos" pitchFamily="34" charset="-122"/>
                <a:cs typeface="Aptos" pitchFamily="34" charset="-120"/>
              </a:rPr>
              <a:t>​Replace each </a:t>
            </a:r>
            <a:r>
              <a:rPr lang="en-US" sz="1350" dirty="0">
                <a:solidFill>
                  <a:srgbClr val="8A2B0B"/>
                </a:solidFill>
                <a:latin typeface="Consolas" pitchFamily="34" charset="0"/>
                <a:ea typeface="Consolas" pitchFamily="34" charset="-122"/>
                <a:cs typeface="Consolas" pitchFamily="34" charset="-120"/>
              </a:rPr>
              <a:t>TODO</a:t>
            </a:r>
            <a:r>
              <a:rPr lang="en-US" sz="1350" dirty="0">
                <a:solidFill>
                  <a:srgbClr val="262626"/>
                </a:solidFill>
                <a:latin typeface="Aptos" pitchFamily="34" charset="0"/>
                <a:ea typeface="Aptos" pitchFamily="34" charset="-122"/>
                <a:cs typeface="Aptos" pitchFamily="34" charset="-120"/>
              </a:rPr>
              <a:t> with a real description of your photo.</a:t>
            </a:r>
            <a:endParaRPr lang="en-US" sz="1350" dirty="0"/>
          </a:p>
        </p:txBody>
      </p:sp>
      <p:sp>
        <p:nvSpPr>
          <p:cNvPr id="13" name="Shape 10"/>
          <p:cNvSpPr/>
          <p:nvPr/>
        </p:nvSpPr>
        <p:spPr>
          <a:xfrm>
            <a:off x="960120" y="3392424"/>
            <a:ext cx="420624" cy="420624"/>
          </a:xfrm>
          <a:prstGeom prst="ellipse">
            <a:avLst/>
          </a:prstGeom>
          <a:solidFill>
            <a:srgbClr val="E97132"/>
          </a:solidFill>
          <a:ln w="12700">
            <a:solidFill>
              <a:srgbClr val="E97132"/>
            </a:solidFill>
            <a:prstDash val="solid"/>
          </a:ln>
        </p:spPr>
        <p:txBody>
          <a:bodyPr/>
          <a:lstStyle/>
          <a:p>
            <a:endParaRPr lang="en-US"/>
          </a:p>
        </p:txBody>
      </p:sp>
      <p:sp>
        <p:nvSpPr>
          <p:cNvPr id="14" name="Text 11"/>
          <p:cNvSpPr txBox="1"/>
          <p:nvPr/>
        </p:nvSpPr>
        <p:spPr>
          <a:xfrm>
            <a:off x="960120" y="3392424"/>
            <a:ext cx="420624" cy="420624"/>
          </a:xfrm>
          <a:prstGeom prst="rect">
            <a:avLst/>
          </a:prstGeom>
          <a:noFill/>
          <a:ln/>
        </p:spPr>
        <p:txBody>
          <a:bodyPr wrap="square" lIns="0" tIns="0" rIns="0" bIns="0" rtlCol="0" anchor="ctr"/>
          <a:lstStyle/>
          <a:p>
            <a:pPr marL="0" indent="0" algn="ctr">
              <a:buNone/>
            </a:pPr>
            <a:r>
              <a:rPr lang="en-US" sz="1800" b="1" dirty="0">
                <a:solidFill>
                  <a:srgbClr val="FFFFFF"/>
                </a:solidFill>
                <a:latin typeface="Aptos" pitchFamily="34" charset="0"/>
                <a:ea typeface="Aptos" pitchFamily="34" charset="-122"/>
                <a:cs typeface="Aptos" pitchFamily="34" charset="-120"/>
              </a:rPr>
              <a:t>3</a:t>
            </a:r>
            <a:endParaRPr lang="en-US" sz="1800" dirty="0"/>
          </a:p>
        </p:txBody>
      </p:sp>
      <p:sp>
        <p:nvSpPr>
          <p:cNvPr id="15" name="Text 12"/>
          <p:cNvSpPr txBox="1"/>
          <p:nvPr/>
        </p:nvSpPr>
        <p:spPr>
          <a:xfrm>
            <a:off x="1554480" y="3374136"/>
            <a:ext cx="5852160" cy="320040"/>
          </a:xfrm>
          <a:prstGeom prst="rect">
            <a:avLst/>
          </a:prstGeom>
          <a:noFill/>
          <a:ln/>
        </p:spPr>
        <p:txBody>
          <a:bodyPr wrap="square" lIns="0" tIns="0" rIns="0" bIns="0" rtlCol="0" anchor="ctr"/>
          <a:lstStyle/>
          <a:p>
            <a:pPr marL="0" indent="0">
              <a:buNone/>
            </a:pPr>
            <a:r>
              <a:rPr lang="en-US" sz="1600" b="1" dirty="0">
                <a:solidFill>
                  <a:srgbClr val="000000"/>
                </a:solidFill>
                <a:latin typeface="Aptos" pitchFamily="34" charset="0"/>
                <a:ea typeface="Aptos" pitchFamily="34" charset="-122"/>
                <a:cs typeface="Aptos" pitchFamily="34" charset="-120"/>
              </a:rPr>
              <a:t>Open it with Live Server</a:t>
            </a:r>
            <a:endParaRPr lang="en-US" sz="1600" dirty="0"/>
          </a:p>
        </p:txBody>
      </p:sp>
      <p:sp>
        <p:nvSpPr>
          <p:cNvPr id="16" name="Text 13"/>
          <p:cNvSpPr txBox="1"/>
          <p:nvPr/>
        </p:nvSpPr>
        <p:spPr>
          <a:xfrm>
            <a:off x="1554480" y="3694176"/>
            <a:ext cx="5852160" cy="548640"/>
          </a:xfrm>
          <a:prstGeom prst="rect">
            <a:avLst/>
          </a:prstGeom>
          <a:noFill/>
          <a:ln/>
        </p:spPr>
        <p:txBody>
          <a:bodyPr wrap="square" lIns="0" tIns="0" rIns="0" bIns="0" rtlCol="0" anchor="t"/>
          <a:lstStyle/>
          <a:p>
            <a:pPr marL="0" indent="0">
              <a:buNone/>
            </a:pPr>
            <a:r>
              <a:rPr lang="en-US" sz="1350" dirty="0">
                <a:solidFill>
                  <a:srgbClr val="262626"/>
                </a:solidFill>
                <a:latin typeface="Aptos" pitchFamily="34" charset="0"/>
                <a:ea typeface="Aptos" pitchFamily="34" charset="-122"/>
                <a:cs typeface="Aptos" pitchFamily="34" charset="-120"/>
              </a:rPr>
              <a:t>​Right-click → Open with Live Server. All four images are shown 600 px wide.</a:t>
            </a:r>
            <a:endParaRPr lang="en-US" sz="1350" dirty="0"/>
          </a:p>
        </p:txBody>
      </p:sp>
      <p:sp>
        <p:nvSpPr>
          <p:cNvPr id="17" name="Shape 14"/>
          <p:cNvSpPr/>
          <p:nvPr/>
        </p:nvSpPr>
        <p:spPr>
          <a:xfrm>
            <a:off x="960120" y="4288536"/>
            <a:ext cx="420624" cy="420624"/>
          </a:xfrm>
          <a:prstGeom prst="ellipse">
            <a:avLst/>
          </a:prstGeom>
          <a:solidFill>
            <a:srgbClr val="E97132"/>
          </a:solidFill>
          <a:ln w="12700">
            <a:solidFill>
              <a:srgbClr val="E97132"/>
            </a:solidFill>
            <a:prstDash val="solid"/>
          </a:ln>
        </p:spPr>
        <p:txBody>
          <a:bodyPr/>
          <a:lstStyle/>
          <a:p>
            <a:endParaRPr lang="en-US"/>
          </a:p>
        </p:txBody>
      </p:sp>
      <p:sp>
        <p:nvSpPr>
          <p:cNvPr id="18" name="Text 15"/>
          <p:cNvSpPr txBox="1"/>
          <p:nvPr/>
        </p:nvSpPr>
        <p:spPr>
          <a:xfrm>
            <a:off x="960120" y="4288536"/>
            <a:ext cx="420624" cy="420624"/>
          </a:xfrm>
          <a:prstGeom prst="rect">
            <a:avLst/>
          </a:prstGeom>
          <a:noFill/>
          <a:ln/>
        </p:spPr>
        <p:txBody>
          <a:bodyPr wrap="square" lIns="0" tIns="0" rIns="0" bIns="0" rtlCol="0" anchor="ctr"/>
          <a:lstStyle/>
          <a:p>
            <a:pPr marL="0" indent="0" algn="ctr">
              <a:buNone/>
            </a:pPr>
            <a:r>
              <a:rPr lang="en-US" sz="1800" b="1" dirty="0">
                <a:solidFill>
                  <a:srgbClr val="FFFFFF"/>
                </a:solidFill>
                <a:latin typeface="Aptos" pitchFamily="34" charset="0"/>
                <a:ea typeface="Aptos" pitchFamily="34" charset="-122"/>
                <a:cs typeface="Aptos" pitchFamily="34" charset="-120"/>
              </a:rPr>
              <a:t>4</a:t>
            </a:r>
            <a:endParaRPr lang="en-US" sz="1800" dirty="0"/>
          </a:p>
        </p:txBody>
      </p:sp>
      <p:sp>
        <p:nvSpPr>
          <p:cNvPr id="19" name="Text 16"/>
          <p:cNvSpPr txBox="1"/>
          <p:nvPr/>
        </p:nvSpPr>
        <p:spPr>
          <a:xfrm>
            <a:off x="1554480" y="4270248"/>
            <a:ext cx="5852160" cy="320040"/>
          </a:xfrm>
          <a:prstGeom prst="rect">
            <a:avLst/>
          </a:prstGeom>
          <a:noFill/>
          <a:ln/>
        </p:spPr>
        <p:txBody>
          <a:bodyPr wrap="square" lIns="0" tIns="0" rIns="0" bIns="0" rtlCol="0" anchor="ctr"/>
          <a:lstStyle/>
          <a:p>
            <a:pPr marL="0" indent="0">
              <a:buNone/>
            </a:pPr>
            <a:r>
              <a:rPr lang="en-US" sz="1600" b="1" dirty="0">
                <a:solidFill>
                  <a:srgbClr val="000000"/>
                </a:solidFill>
                <a:latin typeface="Aptos" pitchFamily="34" charset="0"/>
                <a:ea typeface="Aptos" pitchFamily="34" charset="-122"/>
                <a:cs typeface="Aptos" pitchFamily="34" charset="-120"/>
              </a:rPr>
              <a:t>DevTools → Network → Img → reload</a:t>
            </a:r>
            <a:endParaRPr lang="en-US" sz="1600" dirty="0"/>
          </a:p>
        </p:txBody>
      </p:sp>
      <p:sp>
        <p:nvSpPr>
          <p:cNvPr id="20" name="Text 17"/>
          <p:cNvSpPr txBox="1"/>
          <p:nvPr/>
        </p:nvSpPr>
        <p:spPr>
          <a:xfrm>
            <a:off x="1554480" y="4590288"/>
            <a:ext cx="5852160" cy="548640"/>
          </a:xfrm>
          <a:prstGeom prst="rect">
            <a:avLst/>
          </a:prstGeom>
          <a:noFill/>
          <a:ln/>
        </p:spPr>
        <p:txBody>
          <a:bodyPr wrap="square" lIns="0" tIns="0" rIns="0" bIns="0" rtlCol="0" anchor="t"/>
          <a:lstStyle/>
          <a:p>
            <a:pPr marL="0" indent="0">
              <a:buNone/>
            </a:pPr>
            <a:r>
              <a:rPr lang="en-US" sz="1350" dirty="0">
                <a:solidFill>
                  <a:srgbClr val="262626"/>
                </a:solidFill>
                <a:latin typeface="Aptos" pitchFamily="34" charset="0"/>
                <a:ea typeface="Aptos" pitchFamily="34" charset="-122"/>
                <a:cs typeface="Aptos" pitchFamily="34" charset="-120"/>
              </a:rPr>
              <a:t>​Ctrl + Shift + I. Compare the </a:t>
            </a:r>
            <a:r>
              <a:rPr lang="en-US" sz="1350" b="1" dirty="0">
                <a:solidFill>
                  <a:srgbClr val="262626"/>
                </a:solidFill>
                <a:latin typeface="Aptos" pitchFamily="34" charset="0"/>
                <a:ea typeface="Aptos" pitchFamily="34" charset="-122"/>
                <a:cs typeface="Aptos" pitchFamily="34" charset="-120"/>
              </a:rPr>
              <a:t>Size</a:t>
            </a:r>
            <a:r>
              <a:rPr lang="en-US" sz="1350" dirty="0">
                <a:solidFill>
                  <a:srgbClr val="262626"/>
                </a:solidFill>
                <a:latin typeface="Aptos" pitchFamily="34" charset="0"/>
                <a:ea typeface="Aptos" pitchFamily="34" charset="-122"/>
                <a:cs typeface="Aptos" pitchFamily="34" charset="-120"/>
              </a:rPr>
              <a:t> column for each image. Try throttling to </a:t>
            </a:r>
            <a:r>
              <a:rPr lang="en-US" sz="1350" b="1" dirty="0">
                <a:solidFill>
                  <a:srgbClr val="262626"/>
                </a:solidFill>
                <a:latin typeface="Aptos" pitchFamily="34" charset="0"/>
                <a:ea typeface="Aptos" pitchFamily="34" charset="-122"/>
                <a:cs typeface="Aptos" pitchFamily="34" charset="-120"/>
              </a:rPr>
              <a:t>Slow 4G</a:t>
            </a:r>
            <a:r>
              <a:rPr lang="en-US" sz="1350" dirty="0">
                <a:solidFill>
                  <a:srgbClr val="262626"/>
                </a:solidFill>
                <a:latin typeface="Aptos" pitchFamily="34" charset="0"/>
                <a:ea typeface="Aptos" pitchFamily="34" charset="-122"/>
                <a:cs typeface="Aptos" pitchFamily="34" charset="-120"/>
              </a:rPr>
              <a:t>.</a:t>
            </a:r>
            <a:endParaRPr lang="en-US" sz="1350" dirty="0"/>
          </a:p>
        </p:txBody>
      </p:sp>
      <p:sp>
        <p:nvSpPr>
          <p:cNvPr id="21" name="Shape 18"/>
          <p:cNvSpPr/>
          <p:nvPr/>
        </p:nvSpPr>
        <p:spPr>
          <a:xfrm>
            <a:off x="960120" y="5184648"/>
            <a:ext cx="420624" cy="420624"/>
          </a:xfrm>
          <a:prstGeom prst="ellipse">
            <a:avLst/>
          </a:prstGeom>
          <a:solidFill>
            <a:srgbClr val="E97132"/>
          </a:solidFill>
          <a:ln w="12700">
            <a:solidFill>
              <a:srgbClr val="E97132"/>
            </a:solidFill>
            <a:prstDash val="solid"/>
          </a:ln>
        </p:spPr>
        <p:txBody>
          <a:bodyPr/>
          <a:lstStyle/>
          <a:p>
            <a:endParaRPr lang="en-US"/>
          </a:p>
        </p:txBody>
      </p:sp>
      <p:sp>
        <p:nvSpPr>
          <p:cNvPr id="22" name="Text 19"/>
          <p:cNvSpPr txBox="1"/>
          <p:nvPr/>
        </p:nvSpPr>
        <p:spPr>
          <a:xfrm>
            <a:off x="960120" y="5184648"/>
            <a:ext cx="420624" cy="420624"/>
          </a:xfrm>
          <a:prstGeom prst="rect">
            <a:avLst/>
          </a:prstGeom>
          <a:noFill/>
          <a:ln/>
        </p:spPr>
        <p:txBody>
          <a:bodyPr wrap="square" lIns="0" tIns="0" rIns="0" bIns="0" rtlCol="0" anchor="ctr"/>
          <a:lstStyle/>
          <a:p>
            <a:pPr marL="0" indent="0" algn="ctr">
              <a:buNone/>
            </a:pPr>
            <a:r>
              <a:rPr lang="en-US" sz="1800" b="1" dirty="0">
                <a:solidFill>
                  <a:srgbClr val="FFFFFF"/>
                </a:solidFill>
                <a:latin typeface="Aptos" pitchFamily="34" charset="0"/>
                <a:ea typeface="Aptos" pitchFamily="34" charset="-122"/>
                <a:cs typeface="Aptos" pitchFamily="34" charset="-120"/>
              </a:rPr>
              <a:t>5</a:t>
            </a:r>
            <a:endParaRPr lang="en-US" sz="1800" dirty="0"/>
          </a:p>
        </p:txBody>
      </p:sp>
      <p:sp>
        <p:nvSpPr>
          <p:cNvPr id="23" name="Text 20"/>
          <p:cNvSpPr txBox="1"/>
          <p:nvPr/>
        </p:nvSpPr>
        <p:spPr>
          <a:xfrm>
            <a:off x="1554480" y="5166360"/>
            <a:ext cx="5852160" cy="320040"/>
          </a:xfrm>
          <a:prstGeom prst="rect">
            <a:avLst/>
          </a:prstGeom>
          <a:noFill/>
          <a:ln/>
        </p:spPr>
        <p:txBody>
          <a:bodyPr wrap="square" lIns="0" tIns="0" rIns="0" bIns="0" rtlCol="0" anchor="ctr"/>
          <a:lstStyle/>
          <a:p>
            <a:pPr marL="0" indent="0">
              <a:buNone/>
            </a:pPr>
            <a:r>
              <a:rPr lang="en-US" sz="1600" b="1" dirty="0">
                <a:solidFill>
                  <a:srgbClr val="000000"/>
                </a:solidFill>
                <a:latin typeface="Aptos" pitchFamily="34" charset="0"/>
                <a:ea typeface="Aptos" pitchFamily="34" charset="-122"/>
                <a:cs typeface="Aptos" pitchFamily="34" charset="-120"/>
              </a:rPr>
              <a:t>Fill in "What I Noticed" and submit</a:t>
            </a:r>
            <a:endParaRPr lang="en-US" sz="1600" dirty="0"/>
          </a:p>
        </p:txBody>
      </p:sp>
      <p:sp>
        <p:nvSpPr>
          <p:cNvPr id="24" name="Text 21"/>
          <p:cNvSpPr txBox="1"/>
          <p:nvPr/>
        </p:nvSpPr>
        <p:spPr>
          <a:xfrm>
            <a:off x="1554480" y="5486400"/>
            <a:ext cx="5852160" cy="548640"/>
          </a:xfrm>
          <a:prstGeom prst="rect">
            <a:avLst/>
          </a:prstGeom>
          <a:noFill/>
          <a:ln/>
        </p:spPr>
        <p:txBody>
          <a:bodyPr wrap="square" lIns="0" tIns="0" rIns="0" bIns="0" rtlCol="0" anchor="t"/>
          <a:lstStyle/>
          <a:p>
            <a:pPr marL="0" indent="0">
              <a:buNone/>
            </a:pPr>
            <a:r>
              <a:rPr lang="en-US" sz="1350" dirty="0">
                <a:solidFill>
                  <a:srgbClr val="262626"/>
                </a:solidFill>
                <a:latin typeface="Aptos" pitchFamily="34" charset="0"/>
                <a:ea typeface="Aptos" pitchFamily="34" charset="-122"/>
                <a:cs typeface="Aptos" pitchFamily="34" charset="-120"/>
              </a:rPr>
              <a:t>​Screenshot the page (and the Network tab), then upload to Brightspace for participation.</a:t>
            </a:r>
            <a:endParaRPr lang="en-US" sz="1350" dirty="0"/>
          </a:p>
        </p:txBody>
      </p:sp>
      <p:sp>
        <p:nvSpPr>
          <p:cNvPr id="25" name="Shape 22"/>
          <p:cNvSpPr/>
          <p:nvPr/>
        </p:nvSpPr>
        <p:spPr>
          <a:xfrm>
            <a:off x="8001000" y="1325880"/>
            <a:ext cx="3520440" cy="5029200"/>
          </a:xfrm>
          <a:prstGeom prst="roundRect">
            <a:avLst>
              <a:gd name="adj" fmla="val 3117"/>
            </a:avLst>
          </a:prstGeom>
          <a:solidFill>
            <a:srgbClr val="262626"/>
          </a:solidFill>
          <a:ln w="9525">
            <a:solidFill>
              <a:srgbClr val="262626"/>
            </a:solidFill>
            <a:prstDash val="solid"/>
          </a:ln>
          <a:effectLst>
            <a:outerShdw blurRad="76200" dist="25400" dir="5400000" algn="bl" rotWithShape="0">
              <a:srgbClr val="000000">
                <a:alpha val="12000"/>
              </a:srgbClr>
            </a:outerShdw>
          </a:effectLst>
        </p:spPr>
        <p:txBody>
          <a:bodyPr/>
          <a:lstStyle/>
          <a:p>
            <a:endParaRPr lang="en-US"/>
          </a:p>
        </p:txBody>
      </p:sp>
      <p:sp>
        <p:nvSpPr>
          <p:cNvPr id="26" name="Text 23"/>
          <p:cNvSpPr txBox="1"/>
          <p:nvPr/>
        </p:nvSpPr>
        <p:spPr>
          <a:xfrm>
            <a:off x="8229600" y="1554480"/>
            <a:ext cx="3108960" cy="411480"/>
          </a:xfrm>
          <a:prstGeom prst="rect">
            <a:avLst/>
          </a:prstGeom>
          <a:noFill/>
          <a:ln/>
        </p:spPr>
        <p:txBody>
          <a:bodyPr wrap="square" lIns="0" tIns="0" rIns="0" bIns="0" rtlCol="0" anchor="ctr"/>
          <a:lstStyle/>
          <a:p>
            <a:pPr marL="0" indent="0">
              <a:buNone/>
            </a:pPr>
            <a:r>
              <a:rPr lang="en-US" sz="1800" b="1" dirty="0">
                <a:solidFill>
                  <a:srgbClr val="FFFFFF"/>
                </a:solidFill>
                <a:latin typeface="Aptos" pitchFamily="34" charset="0"/>
                <a:ea typeface="Aptos" pitchFamily="34" charset="-122"/>
                <a:cs typeface="Aptos" pitchFamily="34" charset="-120"/>
              </a:rPr>
              <a:t>Look for</a:t>
            </a:r>
            <a:endParaRPr lang="en-US" sz="1800" dirty="0"/>
          </a:p>
        </p:txBody>
      </p:sp>
      <p:sp>
        <p:nvSpPr>
          <p:cNvPr id="27" name="Text 24"/>
          <p:cNvSpPr txBox="1"/>
          <p:nvPr/>
        </p:nvSpPr>
        <p:spPr>
          <a:xfrm>
            <a:off x="8229600" y="2057400"/>
            <a:ext cx="3108960" cy="4114800"/>
          </a:xfrm>
          <a:prstGeom prst="rect">
            <a:avLst/>
          </a:prstGeom>
          <a:noFill/>
          <a:ln/>
        </p:spPr>
        <p:txBody>
          <a:bodyPr wrap="square" lIns="0" tIns="0" rIns="0" bIns="0" rtlCol="0" anchor="t"/>
          <a:lstStyle/>
          <a:p>
            <a:pPr marL="342900" indent="-342900">
              <a:buSzPct val="100000"/>
              <a:buChar char="•"/>
            </a:pPr>
            <a:r>
              <a:rPr lang="en-US" sz="1350" dirty="0">
                <a:solidFill>
                  <a:srgbClr val="D9D9D9"/>
                </a:solidFill>
                <a:latin typeface="Aptos" pitchFamily="34" charset="0"/>
                <a:ea typeface="Aptos" pitchFamily="34" charset="-122"/>
                <a:cs typeface="Aptos" pitchFamily="34" charset="-120"/>
              </a:rPr>
              <a:t>All four look the same size on screen. Are they the same download size?</a:t>
            </a:r>
            <a:endParaRPr lang="en-US" sz="1350" dirty="0"/>
          </a:p>
          <a:p>
            <a:pPr marL="342900" indent="-342900">
              <a:spcBef>
                <a:spcPts val="700"/>
              </a:spcBef>
              <a:buSzPct val="100000"/>
              <a:buChar char="•"/>
            </a:pPr>
            <a:r>
              <a:rPr lang="en-US" sz="1350" dirty="0">
                <a:solidFill>
                  <a:srgbClr val="D9D9D9"/>
                </a:solidFill>
                <a:latin typeface="Aptos" pitchFamily="34" charset="0"/>
                <a:ea typeface="Aptos" pitchFamily="34" charset="-122"/>
                <a:cs typeface="Aptos" pitchFamily="34" charset="-120"/>
              </a:rPr>
              <a:t>On Slow 4G, which image appears last?</a:t>
            </a:r>
            <a:endParaRPr lang="en-US" sz="1350" dirty="0"/>
          </a:p>
          <a:p>
            <a:pPr marL="342900" indent="-342900">
              <a:spcBef>
                <a:spcPts val="700"/>
              </a:spcBef>
              <a:buSzPct val="100000"/>
              <a:buChar char="•"/>
            </a:pPr>
            <a:r>
              <a:rPr lang="en-US" sz="1350" dirty="0">
                <a:solidFill>
                  <a:srgbClr val="D9D9D9"/>
                </a:solidFill>
                <a:latin typeface="Aptos" pitchFamily="34" charset="0"/>
                <a:ea typeface="Aptos" pitchFamily="34" charset="-122"/>
                <a:cs typeface="Aptos" pitchFamily="34" charset="-120"/>
              </a:rPr>
              <a:t>Which one would you actually use?</a:t>
            </a:r>
            <a:endParaRPr lang="en-US" sz="1350" dirty="0"/>
          </a:p>
          <a:p>
            <a:pPr marL="0" indent="0">
              <a:spcBef>
                <a:spcPts val="700"/>
              </a:spcBef>
              <a:buNone/>
            </a:pPr>
            <a:endParaRPr lang="en-US" sz="1350" dirty="0"/>
          </a:p>
          <a:p>
            <a:pPr marL="0" indent="0">
              <a:spcBef>
                <a:spcPts val="700"/>
              </a:spcBef>
              <a:buNone/>
            </a:pPr>
            <a:r>
              <a:rPr lang="en-US" sz="1350" b="1" dirty="0">
                <a:solidFill>
                  <a:srgbClr val="F2C6AC"/>
                </a:solidFill>
                <a:latin typeface="Aptos" pitchFamily="34" charset="0"/>
                <a:ea typeface="Aptos" pitchFamily="34" charset="-122"/>
                <a:cs typeface="Aptos" pitchFamily="34" charset="-120"/>
              </a:rPr>
              <a:t>Bonus</a:t>
            </a:r>
            <a:endParaRPr lang="en-US" sz="1350" dirty="0"/>
          </a:p>
          <a:p>
            <a:pPr marL="342900" indent="-342900">
              <a:spcBef>
                <a:spcPts val="700"/>
              </a:spcBef>
              <a:buSzPct val="100000"/>
              <a:buChar char="•"/>
            </a:pPr>
            <a:r>
              <a:rPr lang="en-US" sz="1350" dirty="0">
                <a:solidFill>
                  <a:srgbClr val="D9D9D9"/>
                </a:solidFill>
                <a:latin typeface="Aptos" pitchFamily="34" charset="0"/>
                <a:ea typeface="Aptos" pitchFamily="34" charset="-122"/>
                <a:cs typeface="Aptos" pitchFamily="34" charset="-120"/>
              </a:rPr>
              <a:t>Add loading="lazy" to the last two images, and width/height to all of them. Reload and watch the Network tab.</a:t>
            </a:r>
            <a:endParaRPr lang="en-US" sz="13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949440" y="822960"/>
            <a:ext cx="4937760" cy="4937760"/>
          </a:xfrm>
          <a:prstGeom prst="ellipse">
            <a:avLst/>
          </a:prstGeom>
          <a:ln w="355600">
            <a:solidFill>
              <a:srgbClr val="B7CFC6"/>
            </a:solidFill>
            <a:prstDash val="solid"/>
          </a:ln>
        </p:spPr>
        <p:txBody>
          <a:bodyPr/>
          <a:lstStyle/>
          <a:p>
            <a:endParaRPr lang="en-US"/>
          </a:p>
        </p:txBody>
      </p:sp>
      <p:sp>
        <p:nvSpPr>
          <p:cNvPr id="3" name="Text 1"/>
          <p:cNvSpPr txBox="1"/>
          <p:nvPr/>
        </p:nvSpPr>
        <p:spPr>
          <a:xfrm>
            <a:off x="731520" y="731520"/>
            <a:ext cx="6400800" cy="822960"/>
          </a:xfrm>
          <a:prstGeom prst="rect">
            <a:avLst/>
          </a:prstGeom>
          <a:noFill/>
          <a:ln/>
        </p:spPr>
        <p:txBody>
          <a:bodyPr wrap="square" lIns="0" tIns="0" rIns="0" bIns="0" rtlCol="0" anchor="ctr"/>
          <a:lstStyle/>
          <a:p>
            <a:pPr marL="0" indent="0">
              <a:buNone/>
            </a:pPr>
            <a:r>
              <a:rPr lang="en-US" sz="4000" dirty="0">
                <a:solidFill>
                  <a:srgbClr val="000000"/>
                </a:solidFill>
                <a:latin typeface="Aptos" pitchFamily="34" charset="0"/>
                <a:ea typeface="Aptos" pitchFamily="34" charset="-122"/>
                <a:cs typeface="Aptos" pitchFamily="34" charset="-120"/>
              </a:rPr>
              <a:t>How did you make out?</a:t>
            </a:r>
            <a:endParaRPr lang="en-US" sz="4000" dirty="0"/>
          </a:p>
        </p:txBody>
      </p:sp>
      <p:sp>
        <p:nvSpPr>
          <p:cNvPr id="4" name="Text 2"/>
          <p:cNvSpPr txBox="1"/>
          <p:nvPr/>
        </p:nvSpPr>
        <p:spPr>
          <a:xfrm>
            <a:off x="731520" y="1828800"/>
            <a:ext cx="5943600" cy="4114800"/>
          </a:xfrm>
          <a:prstGeom prst="rect">
            <a:avLst/>
          </a:prstGeom>
          <a:noFill/>
          <a:ln/>
        </p:spPr>
        <p:txBody>
          <a:bodyPr wrap="square" lIns="0" tIns="0" rIns="0" bIns="0" rtlCol="0" anchor="t"/>
          <a:lstStyle/>
          <a:p>
            <a:pPr marL="342900" indent="-342900">
              <a:buSzPct val="100000"/>
              <a:buChar char="•"/>
            </a:pPr>
            <a:r>
              <a:rPr lang="en-US" sz="2000" dirty="0">
                <a:solidFill>
                  <a:srgbClr val="262626"/>
                </a:solidFill>
                <a:latin typeface="Aptos" pitchFamily="34" charset="0"/>
                <a:ea typeface="Aptos" pitchFamily="34" charset="-122"/>
                <a:cs typeface="Aptos" pitchFamily="34" charset="-120"/>
              </a:rPr>
              <a:t>​What was the </a:t>
            </a:r>
            <a:r>
              <a:rPr lang="en-US" sz="2000" b="1" dirty="0">
                <a:solidFill>
                  <a:srgbClr val="262626"/>
                </a:solidFill>
                <a:latin typeface="Aptos" pitchFamily="34" charset="0"/>
                <a:ea typeface="Aptos" pitchFamily="34" charset="-122"/>
                <a:cs typeface="Aptos" pitchFamily="34" charset="-120"/>
              </a:rPr>
              <a:t>biggest saving</a:t>
            </a:r>
            <a:r>
              <a:rPr lang="en-US" sz="2000" dirty="0">
                <a:solidFill>
                  <a:srgbClr val="262626"/>
                </a:solidFill>
                <a:latin typeface="Aptos" pitchFamily="34" charset="0"/>
                <a:ea typeface="Aptos" pitchFamily="34" charset="-122"/>
                <a:cs typeface="Aptos" pitchFamily="34" charset="-120"/>
              </a:rPr>
              <a:t>: format, quality, or size?</a:t>
            </a:r>
            <a:endParaRPr lang="en-US" sz="2000" dirty="0"/>
          </a:p>
          <a:p>
            <a:pPr marL="342900" indent="-342900">
              <a:spcBef>
                <a:spcPts val="1600"/>
              </a:spcBef>
              <a:buSzPct val="100000"/>
              <a:buChar char="•"/>
            </a:pPr>
            <a:r>
              <a:rPr lang="en-US" sz="2000" dirty="0">
                <a:solidFill>
                  <a:srgbClr val="262626"/>
                </a:solidFill>
                <a:latin typeface="Aptos" pitchFamily="34" charset="0"/>
                <a:ea typeface="Aptos" pitchFamily="34" charset="-122"/>
                <a:cs typeface="Aptos" pitchFamily="34" charset="-120"/>
              </a:rPr>
              <a:t>​What was the lowest JPG quality that still looked OK on </a:t>
            </a:r>
            <a:r>
              <a:rPr lang="en-US" sz="2000" i="1" dirty="0">
                <a:solidFill>
                  <a:srgbClr val="262626"/>
                </a:solidFill>
                <a:latin typeface="Aptos" pitchFamily="34" charset="0"/>
                <a:ea typeface="Aptos" pitchFamily="34" charset="-122"/>
                <a:cs typeface="Aptos" pitchFamily="34" charset="-120"/>
              </a:rPr>
              <a:t>your</a:t>
            </a:r>
            <a:r>
              <a:rPr lang="en-US" sz="2000" dirty="0">
                <a:solidFill>
                  <a:srgbClr val="262626"/>
                </a:solidFill>
                <a:latin typeface="Aptos" pitchFamily="34" charset="0"/>
                <a:ea typeface="Aptos" pitchFamily="34" charset="-122"/>
                <a:cs typeface="Aptos" pitchFamily="34" charset="-120"/>
              </a:rPr>
              <a:t> photo?</a:t>
            </a:r>
            <a:endParaRPr lang="en-US" sz="2000" dirty="0"/>
          </a:p>
          <a:p>
            <a:pPr marL="342900" indent="-342900">
              <a:spcBef>
                <a:spcPts val="1600"/>
              </a:spcBef>
              <a:buSzPct val="100000"/>
              <a:buChar char="•"/>
            </a:pPr>
            <a:r>
              <a:rPr lang="en-US" sz="2000" dirty="0">
                <a:solidFill>
                  <a:srgbClr val="262626"/>
                </a:solidFill>
                <a:latin typeface="Aptos" pitchFamily="34" charset="0"/>
                <a:ea typeface="Aptos" pitchFamily="34" charset="-122"/>
                <a:cs typeface="Aptos" pitchFamily="34" charset="-120"/>
              </a:rPr>
              <a:t>​Why might the same quality number look fine on one photo and bad on another?</a:t>
            </a:r>
            <a:endParaRPr lang="en-US" sz="2000" dirty="0"/>
          </a:p>
          <a:p>
            <a:pPr marL="342900" indent="-342900">
              <a:spcBef>
                <a:spcPts val="1600"/>
              </a:spcBef>
              <a:buSzPct val="100000"/>
              <a:buChar char="•"/>
            </a:pPr>
            <a:r>
              <a:rPr lang="en-US" sz="2000" dirty="0">
                <a:solidFill>
                  <a:srgbClr val="262626"/>
                </a:solidFill>
                <a:latin typeface="Aptos" pitchFamily="34" charset="0"/>
                <a:ea typeface="Aptos" pitchFamily="34" charset="-122"/>
                <a:cs typeface="Aptos" pitchFamily="34" charset="-120"/>
              </a:rPr>
              <a:t>​When would you choose PNG over JPG? SVG over PNG?</a:t>
            </a:r>
            <a:endParaRPr lang="en-US" sz="2000" dirty="0"/>
          </a:p>
        </p:txBody>
      </p:sp>
      <p:sp>
        <p:nvSpPr>
          <p:cNvPr id="5" name="Text 3"/>
          <p:cNvSpPr txBox="1"/>
          <p:nvPr/>
        </p:nvSpPr>
        <p:spPr>
          <a:xfrm>
            <a:off x="7680960" y="2651760"/>
            <a:ext cx="3474720" cy="1280160"/>
          </a:xfrm>
          <a:prstGeom prst="rect">
            <a:avLst/>
          </a:prstGeom>
          <a:noFill/>
          <a:ln/>
        </p:spPr>
        <p:txBody>
          <a:bodyPr wrap="square" lIns="0" tIns="0" rIns="0" bIns="0" rtlCol="0" anchor="ctr"/>
          <a:lstStyle/>
          <a:p>
            <a:pPr marL="0" indent="0" algn="ctr">
              <a:buNone/>
            </a:pPr>
            <a:r>
              <a:rPr lang="en-US" sz="2200" b="1" dirty="0">
                <a:solidFill>
                  <a:srgbClr val="1B5E82"/>
                </a:solidFill>
                <a:latin typeface="Aptos" pitchFamily="34" charset="0"/>
                <a:ea typeface="Aptos" pitchFamily="34" charset="-122"/>
                <a:cs typeface="Aptos" pitchFamily="34" charset="-120"/>
              </a:rPr>
              <a:t>Smallest file that still looks good</a:t>
            </a:r>
            <a:endParaRPr lang="en-US" sz="2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2F2F2"/>
        </a:solidFill>
        <a:effectLst/>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txBody>
          <a:bodyPr/>
          <a:lstStyle/>
          <a:p>
            <a:endParaRPr lang="en-US"/>
          </a:p>
        </p:txBody>
      </p:sp>
      <p:sp>
        <p:nvSpPr>
          <p:cNvPr id="3" name="Text 1"/>
          <p:cNvSpPr txBox="1"/>
          <p:nvPr/>
        </p:nvSpPr>
        <p:spPr>
          <a:xfrm>
            <a:off x="868680" y="548640"/>
            <a:ext cx="2560320" cy="1280160"/>
          </a:xfrm>
          <a:prstGeom prst="rect">
            <a:avLst/>
          </a:prstGeom>
          <a:noFill/>
          <a:ln/>
        </p:spPr>
        <p:txBody>
          <a:bodyPr wrap="square" lIns="0" tIns="0" rIns="0" bIns="0" rtlCol="0" anchor="t"/>
          <a:lstStyle/>
          <a:p>
            <a:pPr marL="0" indent="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txBody>
          <a:bodyPr/>
          <a:lstStyle/>
          <a:p>
            <a:endParaRPr lang="en-US"/>
          </a:p>
        </p:txBody>
      </p:sp>
      <p:sp>
        <p:nvSpPr>
          <p:cNvPr id="5" name="Text 3"/>
          <p:cNvSpPr txBox="1"/>
          <p:nvPr/>
        </p:nvSpPr>
        <p:spPr>
          <a:xfrm>
            <a:off x="4754880" y="822960"/>
            <a:ext cx="6903720" cy="868680"/>
          </a:xfrm>
          <a:prstGeom prst="rect">
            <a:avLst/>
          </a:prstGeom>
          <a:noFill/>
          <a:ln/>
        </p:spPr>
        <p:txBody>
          <a:bodyPr wrap="square" lIns="0" tIns="0" rIns="0" bIns="0" rtlCol="0" anchor="t"/>
          <a:lstStyle/>
          <a:p>
            <a:pPr marL="0" indent="0">
              <a:buNone/>
            </a:pPr>
            <a:r>
              <a:rPr lang="en-US" sz="2800" b="1" dirty="0">
                <a:solidFill>
                  <a:srgbClr val="000000"/>
                </a:solidFill>
                <a:latin typeface="Aptos" pitchFamily="34" charset="0"/>
                <a:ea typeface="Aptos" pitchFamily="34" charset="-122"/>
                <a:cs typeface="Aptos" pitchFamily="34" charset="-120"/>
              </a:rPr>
              <a:t>Web Image Checklist</a:t>
            </a:r>
            <a:endParaRPr lang="en-US" sz="2800" dirty="0"/>
          </a:p>
        </p:txBody>
      </p:sp>
      <p:sp>
        <p:nvSpPr>
          <p:cNvPr id="7" name="Shape 4"/>
          <p:cNvSpPr/>
          <p:nvPr/>
        </p:nvSpPr>
        <p:spPr>
          <a:xfrm>
            <a:off x="4754880" y="1828800"/>
            <a:ext cx="292608" cy="292608"/>
          </a:xfrm>
          <a:prstGeom prst="roundRect">
            <a:avLst>
              <a:gd name="adj" fmla="val 15625"/>
            </a:avLst>
          </a:prstGeom>
          <a:solidFill>
            <a:srgbClr val="FFFFFF"/>
          </a:solidFill>
          <a:ln w="19050">
            <a:solidFill>
              <a:srgbClr val="1B5E82"/>
            </a:solidFill>
            <a:prstDash val="solid"/>
          </a:ln>
        </p:spPr>
        <p:txBody>
          <a:bodyPr/>
          <a:lstStyle/>
          <a:p>
            <a:endParaRPr lang="en-US"/>
          </a:p>
        </p:txBody>
      </p:sp>
      <p:sp>
        <p:nvSpPr>
          <p:cNvPr id="8" name="Text 5"/>
          <p:cNvSpPr txBox="1"/>
          <p:nvPr/>
        </p:nvSpPr>
        <p:spPr>
          <a:xfrm>
            <a:off x="4754880" y="1828800"/>
            <a:ext cx="292608" cy="292608"/>
          </a:xfrm>
          <a:prstGeom prst="rect">
            <a:avLst/>
          </a:prstGeom>
          <a:noFill/>
          <a:ln/>
        </p:spPr>
        <p:txBody>
          <a:bodyPr wrap="square" lIns="0" tIns="0" rIns="0" bIns="0" rtlCol="0" anchor="ctr"/>
          <a:lstStyle/>
          <a:p>
            <a:pPr marL="0" indent="0" algn="ctr">
              <a:buNone/>
            </a:pPr>
            <a:r>
              <a:rPr lang="en-US" sz="1400" b="1" dirty="0">
                <a:solidFill>
                  <a:srgbClr val="1B5E82"/>
                </a:solidFill>
                <a:latin typeface="Aptos" pitchFamily="34" charset="0"/>
                <a:ea typeface="Aptos" pitchFamily="34" charset="-122"/>
                <a:cs typeface="Aptos" pitchFamily="34" charset="-120"/>
              </a:rPr>
              <a:t>✓</a:t>
            </a:r>
            <a:endParaRPr lang="en-US" sz="1400" dirty="0"/>
          </a:p>
        </p:txBody>
      </p:sp>
      <p:sp>
        <p:nvSpPr>
          <p:cNvPr id="9" name="Text 6"/>
          <p:cNvSpPr txBox="1"/>
          <p:nvPr/>
        </p:nvSpPr>
        <p:spPr>
          <a:xfrm>
            <a:off x="5212080" y="1783080"/>
            <a:ext cx="6446520" cy="548640"/>
          </a:xfrm>
          <a:prstGeom prst="rect">
            <a:avLst/>
          </a:prstGeom>
          <a:noFill/>
          <a:ln/>
        </p:spPr>
        <p:txBody>
          <a:bodyPr wrap="square" lIns="0" tIns="0" rIns="0" bIns="0" rtlCol="0" anchor="t"/>
          <a:lstStyle/>
          <a:p>
            <a:pPr marL="0" indent="0">
              <a:buNone/>
            </a:pPr>
            <a:r>
              <a:rPr lang="en-US" sz="1500" dirty="0">
                <a:solidFill>
                  <a:srgbClr val="262626"/>
                </a:solidFill>
                <a:latin typeface="Aptos" pitchFamily="34" charset="0"/>
                <a:ea typeface="Aptos" pitchFamily="34" charset="-122"/>
                <a:cs typeface="Aptos" pitchFamily="34" charset="-120"/>
              </a:rPr>
              <a:t>​Keep the original. Always export </a:t>
            </a:r>
            <a:r>
              <a:rPr lang="en-US" sz="1500" b="1" dirty="0">
                <a:solidFill>
                  <a:srgbClr val="262626"/>
                </a:solidFill>
                <a:latin typeface="Aptos" pitchFamily="34" charset="0"/>
                <a:ea typeface="Aptos" pitchFamily="34" charset="-122"/>
                <a:cs typeface="Aptos" pitchFamily="34" charset="-120"/>
              </a:rPr>
              <a:t>copies</a:t>
            </a:r>
            <a:r>
              <a:rPr lang="en-US" sz="1500" dirty="0">
                <a:solidFill>
                  <a:srgbClr val="262626"/>
                </a:solidFill>
                <a:latin typeface="Aptos" pitchFamily="34" charset="0"/>
                <a:ea typeface="Aptos" pitchFamily="34" charset="-122"/>
                <a:cs typeface="Aptos" pitchFamily="34" charset="-120"/>
              </a:rPr>
              <a:t>.</a:t>
            </a:r>
            <a:endParaRPr lang="en-US" sz="1500" dirty="0"/>
          </a:p>
        </p:txBody>
      </p:sp>
      <p:sp>
        <p:nvSpPr>
          <p:cNvPr id="10" name="Shape 7"/>
          <p:cNvSpPr/>
          <p:nvPr/>
        </p:nvSpPr>
        <p:spPr>
          <a:xfrm>
            <a:off x="4754880" y="2468880"/>
            <a:ext cx="292608" cy="292608"/>
          </a:xfrm>
          <a:prstGeom prst="roundRect">
            <a:avLst>
              <a:gd name="adj" fmla="val 15625"/>
            </a:avLst>
          </a:prstGeom>
          <a:solidFill>
            <a:srgbClr val="FFFFFF"/>
          </a:solidFill>
          <a:ln w="19050">
            <a:solidFill>
              <a:srgbClr val="1B5E82"/>
            </a:solidFill>
            <a:prstDash val="solid"/>
          </a:ln>
        </p:spPr>
        <p:txBody>
          <a:bodyPr/>
          <a:lstStyle/>
          <a:p>
            <a:endParaRPr lang="en-US"/>
          </a:p>
        </p:txBody>
      </p:sp>
      <p:sp>
        <p:nvSpPr>
          <p:cNvPr id="11" name="Text 8"/>
          <p:cNvSpPr txBox="1"/>
          <p:nvPr/>
        </p:nvSpPr>
        <p:spPr>
          <a:xfrm>
            <a:off x="4754880" y="2468880"/>
            <a:ext cx="292608" cy="292608"/>
          </a:xfrm>
          <a:prstGeom prst="rect">
            <a:avLst/>
          </a:prstGeom>
          <a:noFill/>
          <a:ln/>
        </p:spPr>
        <p:txBody>
          <a:bodyPr wrap="square" lIns="0" tIns="0" rIns="0" bIns="0" rtlCol="0" anchor="ctr"/>
          <a:lstStyle/>
          <a:p>
            <a:pPr marL="0" indent="0" algn="ctr">
              <a:buNone/>
            </a:pPr>
            <a:r>
              <a:rPr lang="en-US" sz="1400" b="1" dirty="0">
                <a:solidFill>
                  <a:srgbClr val="1B5E82"/>
                </a:solidFill>
                <a:latin typeface="Aptos" pitchFamily="34" charset="0"/>
                <a:ea typeface="Aptos" pitchFamily="34" charset="-122"/>
                <a:cs typeface="Aptos" pitchFamily="34" charset="-120"/>
              </a:rPr>
              <a:t>✓</a:t>
            </a:r>
            <a:endParaRPr lang="en-US" sz="1400" dirty="0"/>
          </a:p>
        </p:txBody>
      </p:sp>
      <p:sp>
        <p:nvSpPr>
          <p:cNvPr id="12" name="Text 9"/>
          <p:cNvSpPr txBox="1"/>
          <p:nvPr/>
        </p:nvSpPr>
        <p:spPr>
          <a:xfrm>
            <a:off x="5212080" y="2423160"/>
            <a:ext cx="6446520" cy="548640"/>
          </a:xfrm>
          <a:prstGeom prst="rect">
            <a:avLst/>
          </a:prstGeom>
          <a:noFill/>
          <a:ln/>
        </p:spPr>
        <p:txBody>
          <a:bodyPr wrap="square" lIns="0" tIns="0" rIns="0" bIns="0" rtlCol="0" anchor="t"/>
          <a:lstStyle/>
          <a:p>
            <a:pPr marL="0" indent="0">
              <a:buNone/>
            </a:pPr>
            <a:r>
              <a:rPr lang="en-US" sz="1500" dirty="0">
                <a:solidFill>
                  <a:srgbClr val="262626"/>
                </a:solidFill>
                <a:latin typeface="Aptos" pitchFamily="34" charset="0"/>
                <a:ea typeface="Aptos" pitchFamily="34" charset="-122"/>
                <a:cs typeface="Aptos" pitchFamily="34" charset="-120"/>
              </a:rPr>
              <a:t>​Right </a:t>
            </a:r>
            <a:r>
              <a:rPr lang="en-US" sz="1500" b="1" dirty="0">
                <a:solidFill>
                  <a:srgbClr val="262626"/>
                </a:solidFill>
                <a:latin typeface="Aptos" pitchFamily="34" charset="0"/>
                <a:ea typeface="Aptos" pitchFamily="34" charset="-122"/>
                <a:cs typeface="Aptos" pitchFamily="34" charset="-120"/>
              </a:rPr>
              <a:t>format</a:t>
            </a:r>
            <a:r>
              <a:rPr lang="en-US" sz="1500" dirty="0">
                <a:solidFill>
                  <a:srgbClr val="262626"/>
                </a:solidFill>
                <a:latin typeface="Aptos" pitchFamily="34" charset="0"/>
                <a:ea typeface="Aptos" pitchFamily="34" charset="-122"/>
                <a:cs typeface="Aptos" pitchFamily="34" charset="-120"/>
              </a:rPr>
              <a:t>: photo → JPG / WebP · transparency → PNG / WebP · logo → SVG.</a:t>
            </a:r>
            <a:endParaRPr lang="en-US" sz="1500" dirty="0"/>
          </a:p>
        </p:txBody>
      </p:sp>
      <p:sp>
        <p:nvSpPr>
          <p:cNvPr id="13" name="Shape 10"/>
          <p:cNvSpPr/>
          <p:nvPr/>
        </p:nvSpPr>
        <p:spPr>
          <a:xfrm>
            <a:off x="4754880" y="3108960"/>
            <a:ext cx="292608" cy="292608"/>
          </a:xfrm>
          <a:prstGeom prst="roundRect">
            <a:avLst>
              <a:gd name="adj" fmla="val 15625"/>
            </a:avLst>
          </a:prstGeom>
          <a:solidFill>
            <a:srgbClr val="FFFFFF"/>
          </a:solidFill>
          <a:ln w="19050">
            <a:solidFill>
              <a:srgbClr val="1B5E82"/>
            </a:solidFill>
            <a:prstDash val="solid"/>
          </a:ln>
        </p:spPr>
        <p:txBody>
          <a:bodyPr/>
          <a:lstStyle/>
          <a:p>
            <a:endParaRPr lang="en-US"/>
          </a:p>
        </p:txBody>
      </p:sp>
      <p:sp>
        <p:nvSpPr>
          <p:cNvPr id="14" name="Text 11"/>
          <p:cNvSpPr txBox="1"/>
          <p:nvPr/>
        </p:nvSpPr>
        <p:spPr>
          <a:xfrm>
            <a:off x="4754880" y="3108960"/>
            <a:ext cx="292608" cy="292608"/>
          </a:xfrm>
          <a:prstGeom prst="rect">
            <a:avLst/>
          </a:prstGeom>
          <a:noFill/>
          <a:ln/>
        </p:spPr>
        <p:txBody>
          <a:bodyPr wrap="square" lIns="0" tIns="0" rIns="0" bIns="0" rtlCol="0" anchor="ctr"/>
          <a:lstStyle/>
          <a:p>
            <a:pPr marL="0" indent="0" algn="ctr">
              <a:buNone/>
            </a:pPr>
            <a:r>
              <a:rPr lang="en-US" sz="1400" b="1" dirty="0">
                <a:solidFill>
                  <a:srgbClr val="1B5E82"/>
                </a:solidFill>
                <a:latin typeface="Aptos" pitchFamily="34" charset="0"/>
                <a:ea typeface="Aptos" pitchFamily="34" charset="-122"/>
                <a:cs typeface="Aptos" pitchFamily="34" charset="-120"/>
              </a:rPr>
              <a:t>✓</a:t>
            </a:r>
            <a:endParaRPr lang="en-US" sz="1400" dirty="0"/>
          </a:p>
        </p:txBody>
      </p:sp>
      <p:sp>
        <p:nvSpPr>
          <p:cNvPr id="15" name="Text 12"/>
          <p:cNvSpPr txBox="1"/>
          <p:nvPr/>
        </p:nvSpPr>
        <p:spPr>
          <a:xfrm>
            <a:off x="5212080" y="3063240"/>
            <a:ext cx="6446520" cy="548640"/>
          </a:xfrm>
          <a:prstGeom prst="rect">
            <a:avLst/>
          </a:prstGeom>
          <a:noFill/>
          <a:ln/>
        </p:spPr>
        <p:txBody>
          <a:bodyPr wrap="square" lIns="0" tIns="0" rIns="0" bIns="0" rtlCol="0" anchor="t"/>
          <a:lstStyle/>
          <a:p>
            <a:pPr marL="0" indent="0">
              <a:buNone/>
            </a:pPr>
            <a:r>
              <a:rPr lang="en-US" sz="1500" dirty="0">
                <a:solidFill>
                  <a:srgbClr val="262626"/>
                </a:solidFill>
                <a:latin typeface="Aptos" pitchFamily="34" charset="0"/>
                <a:ea typeface="Aptos" pitchFamily="34" charset="-122"/>
                <a:cs typeface="Aptos" pitchFamily="34" charset="-120"/>
              </a:rPr>
              <a:t>​Right </a:t>
            </a:r>
            <a:r>
              <a:rPr lang="en-US" sz="1500" b="1" dirty="0">
                <a:solidFill>
                  <a:srgbClr val="262626"/>
                </a:solidFill>
                <a:latin typeface="Aptos" pitchFamily="34" charset="0"/>
                <a:ea typeface="Aptos" pitchFamily="34" charset="-122"/>
                <a:cs typeface="Aptos" pitchFamily="34" charset="-120"/>
              </a:rPr>
              <a:t>size</a:t>
            </a:r>
            <a:r>
              <a:rPr lang="en-US" sz="1500" dirty="0">
                <a:solidFill>
                  <a:srgbClr val="262626"/>
                </a:solidFill>
                <a:latin typeface="Aptos" pitchFamily="34" charset="0"/>
                <a:ea typeface="Aptos" pitchFamily="34" charset="-122"/>
                <a:cs typeface="Aptos" pitchFamily="34" charset="-120"/>
              </a:rPr>
              <a:t>: the width it's shown at × 2, no bigger.</a:t>
            </a:r>
            <a:endParaRPr lang="en-US" sz="1500" dirty="0"/>
          </a:p>
        </p:txBody>
      </p:sp>
      <p:sp>
        <p:nvSpPr>
          <p:cNvPr id="16" name="Shape 13"/>
          <p:cNvSpPr/>
          <p:nvPr/>
        </p:nvSpPr>
        <p:spPr>
          <a:xfrm>
            <a:off x="4754880" y="3749040"/>
            <a:ext cx="292608" cy="292608"/>
          </a:xfrm>
          <a:prstGeom prst="roundRect">
            <a:avLst>
              <a:gd name="adj" fmla="val 15625"/>
            </a:avLst>
          </a:prstGeom>
          <a:solidFill>
            <a:srgbClr val="FFFFFF"/>
          </a:solidFill>
          <a:ln w="19050">
            <a:solidFill>
              <a:srgbClr val="1B5E82"/>
            </a:solidFill>
            <a:prstDash val="solid"/>
          </a:ln>
        </p:spPr>
        <p:txBody>
          <a:bodyPr/>
          <a:lstStyle/>
          <a:p>
            <a:endParaRPr lang="en-US"/>
          </a:p>
        </p:txBody>
      </p:sp>
      <p:sp>
        <p:nvSpPr>
          <p:cNvPr id="17" name="Text 14"/>
          <p:cNvSpPr txBox="1"/>
          <p:nvPr/>
        </p:nvSpPr>
        <p:spPr>
          <a:xfrm>
            <a:off x="4754880" y="3749040"/>
            <a:ext cx="292608" cy="292608"/>
          </a:xfrm>
          <a:prstGeom prst="rect">
            <a:avLst/>
          </a:prstGeom>
          <a:noFill/>
          <a:ln/>
        </p:spPr>
        <p:txBody>
          <a:bodyPr wrap="square" lIns="0" tIns="0" rIns="0" bIns="0" rtlCol="0" anchor="ctr"/>
          <a:lstStyle/>
          <a:p>
            <a:pPr marL="0" indent="0" algn="ctr">
              <a:buNone/>
            </a:pPr>
            <a:r>
              <a:rPr lang="en-US" sz="1400" b="1" dirty="0">
                <a:solidFill>
                  <a:srgbClr val="1B5E82"/>
                </a:solidFill>
                <a:latin typeface="Aptos" pitchFamily="34" charset="0"/>
                <a:ea typeface="Aptos" pitchFamily="34" charset="-122"/>
                <a:cs typeface="Aptos" pitchFamily="34" charset="-120"/>
              </a:rPr>
              <a:t>✓</a:t>
            </a:r>
            <a:endParaRPr lang="en-US" sz="1400" dirty="0"/>
          </a:p>
        </p:txBody>
      </p:sp>
      <p:sp>
        <p:nvSpPr>
          <p:cNvPr id="18" name="Text 15"/>
          <p:cNvSpPr txBox="1"/>
          <p:nvPr/>
        </p:nvSpPr>
        <p:spPr>
          <a:xfrm>
            <a:off x="5212080" y="3703320"/>
            <a:ext cx="6446520" cy="548640"/>
          </a:xfrm>
          <a:prstGeom prst="rect">
            <a:avLst/>
          </a:prstGeom>
          <a:noFill/>
          <a:ln/>
        </p:spPr>
        <p:txBody>
          <a:bodyPr wrap="square" lIns="0" tIns="0" rIns="0" bIns="0" rtlCol="0" anchor="t"/>
          <a:lstStyle/>
          <a:p>
            <a:pPr marL="0" indent="0">
              <a:buNone/>
            </a:pPr>
            <a:r>
              <a:rPr lang="en-US" sz="1500" dirty="0">
                <a:solidFill>
                  <a:srgbClr val="262626"/>
                </a:solidFill>
                <a:latin typeface="Aptos" pitchFamily="34" charset="0"/>
                <a:ea typeface="Aptos" pitchFamily="34" charset="-122"/>
                <a:cs typeface="Aptos" pitchFamily="34" charset="-120"/>
              </a:rPr>
              <a:t>​Right </a:t>
            </a:r>
            <a:r>
              <a:rPr lang="en-US" sz="1500" b="1" dirty="0">
                <a:solidFill>
                  <a:srgbClr val="262626"/>
                </a:solidFill>
                <a:latin typeface="Aptos" pitchFamily="34" charset="0"/>
                <a:ea typeface="Aptos" pitchFamily="34" charset="-122"/>
                <a:cs typeface="Aptos" pitchFamily="34" charset="-120"/>
              </a:rPr>
              <a:t>quality</a:t>
            </a:r>
            <a:r>
              <a:rPr lang="en-US" sz="1500" dirty="0">
                <a:solidFill>
                  <a:srgbClr val="262626"/>
                </a:solidFill>
                <a:latin typeface="Aptos" pitchFamily="34" charset="0"/>
                <a:ea typeface="Aptos" pitchFamily="34" charset="-122"/>
                <a:cs typeface="Aptos" pitchFamily="34" charset="-120"/>
              </a:rPr>
              <a:t>: 60–80 for photos. Zoom in and check.</a:t>
            </a:r>
            <a:endParaRPr lang="en-US" sz="1500" dirty="0"/>
          </a:p>
        </p:txBody>
      </p:sp>
      <p:sp>
        <p:nvSpPr>
          <p:cNvPr id="19" name="Shape 16"/>
          <p:cNvSpPr/>
          <p:nvPr/>
        </p:nvSpPr>
        <p:spPr>
          <a:xfrm>
            <a:off x="4754880" y="4389120"/>
            <a:ext cx="292608" cy="292608"/>
          </a:xfrm>
          <a:prstGeom prst="roundRect">
            <a:avLst>
              <a:gd name="adj" fmla="val 15625"/>
            </a:avLst>
          </a:prstGeom>
          <a:solidFill>
            <a:srgbClr val="FFFFFF"/>
          </a:solidFill>
          <a:ln w="19050">
            <a:solidFill>
              <a:srgbClr val="1B5E82"/>
            </a:solidFill>
            <a:prstDash val="solid"/>
          </a:ln>
        </p:spPr>
        <p:txBody>
          <a:bodyPr/>
          <a:lstStyle/>
          <a:p>
            <a:endParaRPr lang="en-US"/>
          </a:p>
        </p:txBody>
      </p:sp>
      <p:sp>
        <p:nvSpPr>
          <p:cNvPr id="20" name="Text 17"/>
          <p:cNvSpPr txBox="1"/>
          <p:nvPr/>
        </p:nvSpPr>
        <p:spPr>
          <a:xfrm>
            <a:off x="4754880" y="4389120"/>
            <a:ext cx="292608" cy="292608"/>
          </a:xfrm>
          <a:prstGeom prst="rect">
            <a:avLst/>
          </a:prstGeom>
          <a:noFill/>
          <a:ln/>
        </p:spPr>
        <p:txBody>
          <a:bodyPr wrap="square" lIns="0" tIns="0" rIns="0" bIns="0" rtlCol="0" anchor="ctr"/>
          <a:lstStyle/>
          <a:p>
            <a:pPr marL="0" indent="0" algn="ctr">
              <a:buNone/>
            </a:pPr>
            <a:r>
              <a:rPr lang="en-US" sz="1400" b="1" dirty="0">
                <a:solidFill>
                  <a:srgbClr val="1B5E82"/>
                </a:solidFill>
                <a:latin typeface="Aptos" pitchFamily="34" charset="0"/>
                <a:ea typeface="Aptos" pitchFamily="34" charset="-122"/>
                <a:cs typeface="Aptos" pitchFamily="34" charset="-120"/>
              </a:rPr>
              <a:t>✓</a:t>
            </a:r>
            <a:endParaRPr lang="en-US" sz="1400" dirty="0"/>
          </a:p>
        </p:txBody>
      </p:sp>
      <p:sp>
        <p:nvSpPr>
          <p:cNvPr id="21" name="Text 18"/>
          <p:cNvSpPr txBox="1"/>
          <p:nvPr/>
        </p:nvSpPr>
        <p:spPr>
          <a:xfrm>
            <a:off x="5212080" y="4343400"/>
            <a:ext cx="6446520" cy="548640"/>
          </a:xfrm>
          <a:prstGeom prst="rect">
            <a:avLst/>
          </a:prstGeom>
          <a:noFill/>
          <a:ln/>
        </p:spPr>
        <p:txBody>
          <a:bodyPr wrap="square" lIns="0" tIns="0" rIns="0" bIns="0" rtlCol="0" anchor="t"/>
          <a:lstStyle/>
          <a:p>
            <a:pPr marL="0" indent="0">
              <a:buNone/>
            </a:pPr>
            <a:r>
              <a:rPr lang="en-US" sz="1500" dirty="0">
                <a:solidFill>
                  <a:srgbClr val="262626"/>
                </a:solidFill>
                <a:latin typeface="Aptos" pitchFamily="34" charset="0"/>
                <a:ea typeface="Aptos" pitchFamily="34" charset="-122"/>
                <a:cs typeface="Aptos" pitchFamily="34" charset="-120"/>
              </a:rPr>
              <a:t>​Check the </a:t>
            </a:r>
            <a:r>
              <a:rPr lang="en-US" sz="1500" b="1" dirty="0">
                <a:solidFill>
                  <a:srgbClr val="262626"/>
                </a:solidFill>
                <a:latin typeface="Aptos" pitchFamily="34" charset="0"/>
                <a:ea typeface="Aptos" pitchFamily="34" charset="-122"/>
                <a:cs typeface="Aptos" pitchFamily="34" charset="-120"/>
              </a:rPr>
              <a:t>file size</a:t>
            </a:r>
            <a:r>
              <a:rPr lang="en-US" sz="1500" dirty="0">
                <a:solidFill>
                  <a:srgbClr val="262626"/>
                </a:solidFill>
                <a:latin typeface="Aptos" pitchFamily="34" charset="0"/>
                <a:ea typeface="Aptos" pitchFamily="34" charset="-122"/>
                <a:cs typeface="Aptos" pitchFamily="34" charset="-120"/>
              </a:rPr>
              <a:t>: content photos under ~150 KB, banners under ~300 KB.</a:t>
            </a:r>
            <a:endParaRPr lang="en-US" sz="1500" dirty="0"/>
          </a:p>
        </p:txBody>
      </p:sp>
      <p:sp>
        <p:nvSpPr>
          <p:cNvPr id="22" name="Shape 19"/>
          <p:cNvSpPr/>
          <p:nvPr/>
        </p:nvSpPr>
        <p:spPr>
          <a:xfrm>
            <a:off x="4754880" y="5029200"/>
            <a:ext cx="292608" cy="292608"/>
          </a:xfrm>
          <a:prstGeom prst="roundRect">
            <a:avLst>
              <a:gd name="adj" fmla="val 15625"/>
            </a:avLst>
          </a:prstGeom>
          <a:solidFill>
            <a:srgbClr val="FFFFFF"/>
          </a:solidFill>
          <a:ln w="19050">
            <a:solidFill>
              <a:srgbClr val="1B5E82"/>
            </a:solidFill>
            <a:prstDash val="solid"/>
          </a:ln>
        </p:spPr>
        <p:txBody>
          <a:bodyPr/>
          <a:lstStyle/>
          <a:p>
            <a:endParaRPr lang="en-US"/>
          </a:p>
        </p:txBody>
      </p:sp>
      <p:sp>
        <p:nvSpPr>
          <p:cNvPr id="23" name="Text 20"/>
          <p:cNvSpPr txBox="1"/>
          <p:nvPr/>
        </p:nvSpPr>
        <p:spPr>
          <a:xfrm>
            <a:off x="4754880" y="5029200"/>
            <a:ext cx="292608" cy="292608"/>
          </a:xfrm>
          <a:prstGeom prst="rect">
            <a:avLst/>
          </a:prstGeom>
          <a:noFill/>
          <a:ln/>
        </p:spPr>
        <p:txBody>
          <a:bodyPr wrap="square" lIns="0" tIns="0" rIns="0" bIns="0" rtlCol="0" anchor="ctr"/>
          <a:lstStyle/>
          <a:p>
            <a:pPr marL="0" indent="0" algn="ctr">
              <a:buNone/>
            </a:pPr>
            <a:r>
              <a:rPr lang="en-US" sz="1400" b="1" dirty="0">
                <a:solidFill>
                  <a:srgbClr val="1B5E82"/>
                </a:solidFill>
                <a:latin typeface="Aptos" pitchFamily="34" charset="0"/>
                <a:ea typeface="Aptos" pitchFamily="34" charset="-122"/>
                <a:cs typeface="Aptos" pitchFamily="34" charset="-120"/>
              </a:rPr>
              <a:t>✓</a:t>
            </a:r>
            <a:endParaRPr lang="en-US" sz="1400" dirty="0"/>
          </a:p>
        </p:txBody>
      </p:sp>
      <p:sp>
        <p:nvSpPr>
          <p:cNvPr id="24" name="Text 21"/>
          <p:cNvSpPr txBox="1"/>
          <p:nvPr/>
        </p:nvSpPr>
        <p:spPr>
          <a:xfrm>
            <a:off x="5212080" y="4983480"/>
            <a:ext cx="6446520" cy="548640"/>
          </a:xfrm>
          <a:prstGeom prst="rect">
            <a:avLst/>
          </a:prstGeom>
          <a:noFill/>
          <a:ln/>
        </p:spPr>
        <p:txBody>
          <a:bodyPr wrap="square" lIns="0" tIns="0" rIns="0" bIns="0" rtlCol="0" anchor="t"/>
          <a:lstStyle/>
          <a:p>
            <a:pPr marL="0" indent="0">
              <a:buNone/>
            </a:pPr>
            <a:r>
              <a:rPr lang="en-US" sz="1500" dirty="0">
                <a:solidFill>
                  <a:srgbClr val="262626"/>
                </a:solidFill>
                <a:latin typeface="Aptos" pitchFamily="34" charset="0"/>
                <a:ea typeface="Aptos" pitchFamily="34" charset="-122"/>
                <a:cs typeface="Aptos" pitchFamily="34" charset="-120"/>
              </a:rPr>
              <a:t>​In HTML: </a:t>
            </a:r>
            <a:r>
              <a:rPr lang="en-US" sz="1500" dirty="0">
                <a:solidFill>
                  <a:srgbClr val="8A2B0B"/>
                </a:solidFill>
                <a:latin typeface="Consolas" pitchFamily="34" charset="0"/>
                <a:ea typeface="Consolas" pitchFamily="34" charset="-122"/>
                <a:cs typeface="Consolas" pitchFamily="34" charset="-120"/>
              </a:rPr>
              <a:t>alt</a:t>
            </a:r>
            <a:r>
              <a:rPr lang="en-US" sz="1500" dirty="0">
                <a:solidFill>
                  <a:srgbClr val="262626"/>
                </a:solidFill>
                <a:latin typeface="Aptos" pitchFamily="34" charset="0"/>
                <a:ea typeface="Aptos" pitchFamily="34" charset="-122"/>
                <a:cs typeface="Aptos" pitchFamily="34" charset="-120"/>
              </a:rPr>
              <a:t> text, </a:t>
            </a:r>
            <a:r>
              <a:rPr lang="en-US" sz="1500" dirty="0">
                <a:solidFill>
                  <a:srgbClr val="8A2B0B"/>
                </a:solidFill>
                <a:latin typeface="Consolas" pitchFamily="34" charset="0"/>
                <a:ea typeface="Consolas" pitchFamily="34" charset="-122"/>
                <a:cs typeface="Consolas" pitchFamily="34" charset="-120"/>
              </a:rPr>
              <a:t>width</a:t>
            </a:r>
            <a:r>
              <a:rPr lang="en-US" sz="1500" dirty="0">
                <a:solidFill>
                  <a:srgbClr val="262626"/>
                </a:solidFill>
                <a:latin typeface="Aptos" pitchFamily="34" charset="0"/>
                <a:ea typeface="Aptos" pitchFamily="34" charset="-122"/>
                <a:cs typeface="Aptos" pitchFamily="34" charset="-120"/>
              </a:rPr>
              <a:t> and </a:t>
            </a:r>
            <a:r>
              <a:rPr lang="en-US" sz="1500" dirty="0">
                <a:solidFill>
                  <a:srgbClr val="8A2B0B"/>
                </a:solidFill>
                <a:latin typeface="Consolas" pitchFamily="34" charset="0"/>
                <a:ea typeface="Consolas" pitchFamily="34" charset="-122"/>
                <a:cs typeface="Consolas" pitchFamily="34" charset="-120"/>
              </a:rPr>
              <a:t>height</a:t>
            </a:r>
            <a:r>
              <a:rPr lang="en-US" sz="1500" dirty="0">
                <a:solidFill>
                  <a:srgbClr val="262626"/>
                </a:solidFill>
                <a:latin typeface="Aptos" pitchFamily="34" charset="0"/>
                <a:ea typeface="Aptos" pitchFamily="34" charset="-122"/>
                <a:cs typeface="Aptos" pitchFamily="34" charset="-120"/>
              </a:rPr>
              <a:t>, and </a:t>
            </a:r>
            <a:r>
              <a:rPr lang="en-US" sz="1500" dirty="0">
                <a:solidFill>
                  <a:srgbClr val="8A2B0B"/>
                </a:solidFill>
                <a:latin typeface="Consolas" pitchFamily="34" charset="0"/>
                <a:ea typeface="Consolas" pitchFamily="34" charset="-122"/>
                <a:cs typeface="Consolas" pitchFamily="34" charset="-120"/>
              </a:rPr>
              <a:t>loading="lazy"</a:t>
            </a:r>
            <a:r>
              <a:rPr lang="en-US" sz="1500" dirty="0">
                <a:solidFill>
                  <a:srgbClr val="262626"/>
                </a:solidFill>
                <a:latin typeface="Aptos" pitchFamily="34" charset="0"/>
                <a:ea typeface="Aptos" pitchFamily="34" charset="-122"/>
                <a:cs typeface="Aptos" pitchFamily="34" charset="-120"/>
              </a:rPr>
              <a:t> below the fold.</a:t>
            </a:r>
            <a:endParaRPr lang="en-US" sz="1500" dirty="0"/>
          </a:p>
        </p:txBody>
      </p:sp>
      <p:sp>
        <p:nvSpPr>
          <p:cNvPr id="25" name="Shape 22"/>
          <p:cNvSpPr/>
          <p:nvPr/>
        </p:nvSpPr>
        <p:spPr>
          <a:xfrm>
            <a:off x="4754880" y="5669280"/>
            <a:ext cx="292608" cy="292608"/>
          </a:xfrm>
          <a:prstGeom prst="roundRect">
            <a:avLst>
              <a:gd name="adj" fmla="val 15625"/>
            </a:avLst>
          </a:prstGeom>
          <a:solidFill>
            <a:srgbClr val="FFFFFF"/>
          </a:solidFill>
          <a:ln w="19050">
            <a:solidFill>
              <a:srgbClr val="1B5E82"/>
            </a:solidFill>
            <a:prstDash val="solid"/>
          </a:ln>
        </p:spPr>
        <p:txBody>
          <a:bodyPr/>
          <a:lstStyle/>
          <a:p>
            <a:endParaRPr lang="en-US"/>
          </a:p>
        </p:txBody>
      </p:sp>
      <p:sp>
        <p:nvSpPr>
          <p:cNvPr id="26" name="Text 23"/>
          <p:cNvSpPr txBox="1"/>
          <p:nvPr/>
        </p:nvSpPr>
        <p:spPr>
          <a:xfrm>
            <a:off x="4754880" y="5669280"/>
            <a:ext cx="292608" cy="292608"/>
          </a:xfrm>
          <a:prstGeom prst="rect">
            <a:avLst/>
          </a:prstGeom>
          <a:noFill/>
          <a:ln/>
        </p:spPr>
        <p:txBody>
          <a:bodyPr wrap="square" lIns="0" tIns="0" rIns="0" bIns="0" rtlCol="0" anchor="ctr"/>
          <a:lstStyle/>
          <a:p>
            <a:pPr marL="0" indent="0" algn="ctr">
              <a:buNone/>
            </a:pPr>
            <a:r>
              <a:rPr lang="en-US" sz="1400" b="1" dirty="0">
                <a:solidFill>
                  <a:srgbClr val="1B5E82"/>
                </a:solidFill>
                <a:latin typeface="Aptos" pitchFamily="34" charset="0"/>
                <a:ea typeface="Aptos" pitchFamily="34" charset="-122"/>
                <a:cs typeface="Aptos" pitchFamily="34" charset="-120"/>
              </a:rPr>
              <a:t>✓</a:t>
            </a:r>
            <a:endParaRPr lang="en-US" sz="1400" dirty="0"/>
          </a:p>
        </p:txBody>
      </p:sp>
      <p:sp>
        <p:nvSpPr>
          <p:cNvPr id="27" name="Text 24"/>
          <p:cNvSpPr txBox="1"/>
          <p:nvPr/>
        </p:nvSpPr>
        <p:spPr>
          <a:xfrm>
            <a:off x="5212080" y="5623560"/>
            <a:ext cx="6446520" cy="548640"/>
          </a:xfrm>
          <a:prstGeom prst="rect">
            <a:avLst/>
          </a:prstGeom>
          <a:noFill/>
          <a:ln/>
        </p:spPr>
        <p:txBody>
          <a:bodyPr wrap="square" lIns="0" tIns="0" rIns="0" bIns="0" rtlCol="0" anchor="t"/>
          <a:lstStyle/>
          <a:p>
            <a:pPr marL="0" indent="0">
              <a:buNone/>
            </a:pPr>
            <a:r>
              <a:rPr lang="en-US" sz="1500" dirty="0">
                <a:solidFill>
                  <a:srgbClr val="262626"/>
                </a:solidFill>
                <a:latin typeface="Aptos" pitchFamily="34" charset="0"/>
                <a:ea typeface="Aptos" pitchFamily="34" charset="-122"/>
                <a:cs typeface="Aptos" pitchFamily="34" charset="-120"/>
              </a:rPr>
              <a:t>​Use sensible lower-case file names: </a:t>
            </a:r>
            <a:r>
              <a:rPr lang="en-US" sz="1500" dirty="0">
                <a:solidFill>
                  <a:srgbClr val="8A2B0B"/>
                </a:solidFill>
                <a:latin typeface="Consolas" pitchFamily="34" charset="0"/>
                <a:ea typeface="Consolas" pitchFamily="34" charset="-122"/>
                <a:cs typeface="Consolas" pitchFamily="34" charset="-120"/>
              </a:rPr>
              <a:t>harbour-view.jpg</a:t>
            </a:r>
            <a:r>
              <a:rPr lang="en-US" sz="1500" dirty="0">
                <a:solidFill>
                  <a:srgbClr val="262626"/>
                </a:solidFill>
                <a:latin typeface="Aptos" pitchFamily="34" charset="0"/>
                <a:ea typeface="Aptos" pitchFamily="34" charset="-122"/>
                <a:cs typeface="Aptos" pitchFamily="34" charset="-120"/>
              </a:rPr>
              <a:t>, not </a:t>
            </a:r>
            <a:r>
              <a:rPr lang="en-US" sz="1500" dirty="0">
                <a:solidFill>
                  <a:srgbClr val="8A2B0B"/>
                </a:solidFill>
                <a:latin typeface="Consolas" pitchFamily="34" charset="0"/>
                <a:ea typeface="Consolas" pitchFamily="34" charset="-122"/>
                <a:cs typeface="Consolas" pitchFamily="34" charset="-120"/>
              </a:rPr>
              <a:t>IMG_4032.JPG</a:t>
            </a:r>
            <a:r>
              <a:rPr lang="en-US" sz="1500" dirty="0">
                <a:solidFill>
                  <a:srgbClr val="262626"/>
                </a:solidFill>
                <a:latin typeface="Aptos" pitchFamily="34" charset="0"/>
                <a:ea typeface="Aptos" pitchFamily="34" charset="-122"/>
                <a:cs typeface="Aptos" pitchFamily="34" charset="-120"/>
              </a:rPr>
              <a:t>.</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2F2F2"/>
        </a:solidFill>
        <a:effectLst/>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txBody>
          <a:bodyPr/>
          <a:lstStyle/>
          <a:p>
            <a:endParaRPr lang="en-US"/>
          </a:p>
        </p:txBody>
      </p:sp>
      <p:sp>
        <p:nvSpPr>
          <p:cNvPr id="3" name="Text 1"/>
          <p:cNvSpPr txBox="1"/>
          <p:nvPr/>
        </p:nvSpPr>
        <p:spPr>
          <a:xfrm>
            <a:off x="868680" y="548640"/>
            <a:ext cx="2560320" cy="1280160"/>
          </a:xfrm>
          <a:prstGeom prst="rect">
            <a:avLst/>
          </a:prstGeom>
          <a:noFill/>
          <a:ln/>
        </p:spPr>
        <p:txBody>
          <a:bodyPr wrap="square" lIns="0" tIns="0" rIns="0" bIns="0" rtlCol="0" anchor="t"/>
          <a:lstStyle/>
          <a:p>
            <a:pPr marL="0" indent="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txBody>
          <a:bodyPr/>
          <a:lstStyle/>
          <a:p>
            <a:endParaRPr lang="en-US"/>
          </a:p>
        </p:txBody>
      </p:sp>
      <p:sp>
        <p:nvSpPr>
          <p:cNvPr id="5" name="Text 3"/>
          <p:cNvSpPr txBox="1"/>
          <p:nvPr/>
        </p:nvSpPr>
        <p:spPr>
          <a:xfrm>
            <a:off x="4754880" y="822960"/>
            <a:ext cx="6903720" cy="868680"/>
          </a:xfrm>
          <a:prstGeom prst="rect">
            <a:avLst/>
          </a:prstGeom>
          <a:noFill/>
          <a:ln/>
        </p:spPr>
        <p:txBody>
          <a:bodyPr wrap="square" lIns="0" tIns="0" rIns="0" bIns="0" rtlCol="0" anchor="t"/>
          <a:lstStyle/>
          <a:p>
            <a:pPr marL="0" indent="0">
              <a:buNone/>
            </a:pPr>
            <a:r>
              <a:rPr lang="en-US" sz="2800" b="1" dirty="0">
                <a:solidFill>
                  <a:srgbClr val="000000"/>
                </a:solidFill>
                <a:latin typeface="Aptos" pitchFamily="34" charset="0"/>
                <a:ea typeface="Aptos" pitchFamily="34" charset="-122"/>
                <a:cs typeface="Aptos" pitchFamily="34" charset="-120"/>
              </a:rPr>
              <a:t>Class Recap and Next Steps</a:t>
            </a:r>
            <a:endParaRPr lang="en-US" sz="2800" dirty="0"/>
          </a:p>
        </p:txBody>
      </p:sp>
      <p:sp>
        <p:nvSpPr>
          <p:cNvPr id="7" name="Text 4"/>
          <p:cNvSpPr txBox="1"/>
          <p:nvPr/>
        </p:nvSpPr>
        <p:spPr>
          <a:xfrm>
            <a:off x="4754880" y="1783080"/>
            <a:ext cx="6903720" cy="4663440"/>
          </a:xfrm>
          <a:prstGeom prst="rect">
            <a:avLst/>
          </a:prstGeom>
          <a:noFill/>
          <a:ln/>
        </p:spPr>
        <p:txBody>
          <a:bodyPr wrap="square" lIns="0" tIns="0" rIns="0" bIns="0" rtlCol="0" anchor="t"/>
          <a:lstStyle/>
          <a:p>
            <a:pPr marL="342900" indent="-342900">
              <a:buSzPct val="100000"/>
              <a:buChar char="•"/>
            </a:pPr>
            <a:r>
              <a:rPr lang="en-US" sz="2000" b="1" dirty="0">
                <a:solidFill>
                  <a:srgbClr val="000000"/>
                </a:solidFill>
                <a:latin typeface="Aptos" pitchFamily="34" charset="0"/>
                <a:ea typeface="Aptos" pitchFamily="34" charset="-122"/>
                <a:cs typeface="Aptos" pitchFamily="34" charset="-120"/>
              </a:rPr>
              <a:t>Recap:</a:t>
            </a:r>
            <a:endParaRPr lang="en-US" sz="2000" dirty="0"/>
          </a:p>
          <a:p>
            <a:pPr marL="685800" lvl="1" indent="-342900">
              <a:spcBef>
                <a:spcPts val="300"/>
              </a:spcBef>
              <a:buSzPct val="100000"/>
              <a:buChar char="•"/>
            </a:pPr>
            <a:r>
              <a:rPr lang="en-US" sz="1600" dirty="0">
                <a:solidFill>
                  <a:srgbClr val="000000"/>
                </a:solidFill>
                <a:latin typeface="Aptos" pitchFamily="34" charset="0"/>
                <a:ea typeface="Aptos" pitchFamily="34" charset="-122"/>
                <a:cs typeface="Aptos" pitchFamily="34" charset="-120"/>
              </a:rPr>
              <a:t>Raster images are grids of pixels. Dimensions and colour depth set the raw size.</a:t>
            </a:r>
            <a:endParaRPr lang="en-US" sz="2000" dirty="0"/>
          </a:p>
          <a:p>
            <a:pPr marL="685800" lvl="1" indent="-342900">
              <a:spcBef>
                <a:spcPts val="300"/>
              </a:spcBef>
              <a:buSzPct val="100000"/>
              <a:buChar char="•"/>
            </a:pPr>
            <a:r>
              <a:rPr lang="en-US" sz="1600" dirty="0">
                <a:solidFill>
                  <a:srgbClr val="000000"/>
                </a:solidFill>
                <a:latin typeface="Aptos" pitchFamily="34" charset="0"/>
                <a:ea typeface="Aptos" pitchFamily="34" charset="-122"/>
                <a:cs typeface="Aptos" pitchFamily="34" charset="-120"/>
              </a:rPr>
              <a:t>Lossless keeps every pixel (PNG, GIF). Lossy throws away detail you won't miss (JPG, WebP, AVIF).</a:t>
            </a:r>
            <a:endParaRPr lang="en-US" sz="2000" dirty="0"/>
          </a:p>
          <a:p>
            <a:pPr marL="685800" lvl="1" indent="-342900">
              <a:spcBef>
                <a:spcPts val="300"/>
              </a:spcBef>
              <a:buSzPct val="100000"/>
              <a:buChar char="•"/>
            </a:pPr>
            <a:r>
              <a:rPr lang="en-US" sz="1600" dirty="0">
                <a:solidFill>
                  <a:srgbClr val="000000"/>
                </a:solidFill>
                <a:latin typeface="Aptos" pitchFamily="34" charset="0"/>
                <a:ea typeface="Aptos" pitchFamily="34" charset="-122"/>
                <a:cs typeface="Aptos" pitchFamily="34" charset="-120"/>
              </a:rPr>
              <a:t>Photos → JPG/WebP. Transparency → PNG/WebP. Logos → SVG.</a:t>
            </a:r>
            <a:endParaRPr lang="en-US" sz="2000" dirty="0"/>
          </a:p>
          <a:p>
            <a:pPr marL="685800" lvl="1" indent="-342900">
              <a:spcBef>
                <a:spcPts val="300"/>
              </a:spcBef>
              <a:buSzPct val="100000"/>
              <a:buChar char="•"/>
            </a:pPr>
            <a:r>
              <a:rPr lang="en-US" sz="1600" dirty="0">
                <a:solidFill>
                  <a:srgbClr val="000000"/>
                </a:solidFill>
                <a:latin typeface="Aptos" pitchFamily="34" charset="0"/>
                <a:ea typeface="Aptos" pitchFamily="34" charset="-122"/>
                <a:cs typeface="Aptos" pitchFamily="34" charset="-120"/>
              </a:rPr>
              <a:t>The biggest saving is usually resizing to the size the image is shown at.</a:t>
            </a:r>
            <a:endParaRPr lang="en-US" sz="2000" dirty="0"/>
          </a:p>
          <a:p>
            <a:pPr marL="342900" indent="-342900">
              <a:spcBef>
                <a:spcPts val="800"/>
              </a:spcBef>
              <a:buSzPct val="100000"/>
              <a:buChar char="•"/>
            </a:pPr>
            <a:r>
              <a:rPr lang="en-US" sz="2000" b="1" dirty="0">
                <a:solidFill>
                  <a:srgbClr val="000000"/>
                </a:solidFill>
                <a:latin typeface="Aptos" pitchFamily="34" charset="0"/>
                <a:ea typeface="Aptos" pitchFamily="34" charset="-122"/>
                <a:cs typeface="Aptos" pitchFamily="34" charset="-120"/>
              </a:rPr>
              <a:t>Next class: Intro to CSS</a:t>
            </a:r>
            <a:endParaRPr lang="en-US" sz="2000" dirty="0"/>
          </a:p>
          <a:p>
            <a:pPr marL="685800" lvl="1" indent="-342900">
              <a:spcBef>
                <a:spcPts val="300"/>
              </a:spcBef>
              <a:buSzPct val="100000"/>
              <a:buChar char="•"/>
            </a:pPr>
            <a:r>
              <a:rPr lang="en-US" sz="1600" dirty="0">
                <a:solidFill>
                  <a:srgbClr val="000000"/>
                </a:solidFill>
                <a:latin typeface="Aptos" pitchFamily="34" charset="0"/>
                <a:ea typeface="Aptos" pitchFamily="34" charset="-122"/>
                <a:cs typeface="Aptos" pitchFamily="34" charset="-120"/>
              </a:rPr>
              <a:t>Selectors, colour, text, the box model, and styling images.</a:t>
            </a:r>
            <a:endParaRPr lang="en-US" sz="2000" dirty="0"/>
          </a:p>
          <a:p>
            <a:pPr marL="685800" lvl="1" indent="-342900">
              <a:spcBef>
                <a:spcPts val="300"/>
              </a:spcBef>
              <a:buSzPct val="100000"/>
              <a:buChar char="•"/>
            </a:pPr>
            <a:r>
              <a:rPr lang="en-US" sz="1600" dirty="0">
                <a:solidFill>
                  <a:srgbClr val="000000"/>
                </a:solidFill>
                <a:latin typeface="Aptos" pitchFamily="34" charset="0"/>
                <a:ea typeface="Aptos" pitchFamily="34" charset="-122"/>
                <a:cs typeface="Aptos" pitchFamily="34" charset="-120"/>
              </a:rPr>
              <a:t>Bring your my_images folder. We'll style your photo.</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8111</Words>
  <Application>Microsoft Office PowerPoint</Application>
  <PresentationFormat>Widescreen</PresentationFormat>
  <Paragraphs>667</Paragraphs>
  <Slides>32</Slides>
  <Notes>32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Aptos</vt: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 7: Images for the Web</dc:title>
  <dc:subject>PptxGenJS Presentation</dc:subject>
  <dc:creator>Jamie Symonds</dc:creator>
  <cp:lastModifiedBy>Symonds,Jamie</cp:lastModifiedBy>
  <cp:revision>2</cp:revision>
  <dcterms:created xsi:type="dcterms:W3CDTF">2026-10-04T23:08:05Z</dcterms:created>
  <dcterms:modified xsi:type="dcterms:W3CDTF">2026-10-05T16:03:38Z</dcterms:modified>
</cp:coreProperties>
</file>