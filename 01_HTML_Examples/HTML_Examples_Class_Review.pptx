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7" r:id="rId2"/>
    <p:sldId id="256"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1A5890-7D80-4459-B016-0742934705B9}" type="datetimeFigureOut">
              <a:rPr lang="en-US" smtClean="0"/>
              <a:t>9/16/2026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A6F935-DED8-4C27-8C3C-E2BEBEBBC8AA}" type="slidenum">
              <a:rPr lang="en-US" smtClean="0"/>
              <a:t>‹#›</a:t>
            </a:fld>
            <a:endParaRPr lang="en-US"/>
          </a:p>
        </p:txBody>
      </p:sp>
    </p:spTree>
    <p:extLst>
      <p:ext uri="{BB962C8B-B14F-4D97-AF65-F5344CB8AC3E}">
        <p14:creationId xmlns:p14="http://schemas.microsoft.com/office/powerpoint/2010/main" val="35925435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ANSWER KEY (index2.html) — for instructor reference only, not shown on slide:</a:t>
            </a:r>
          </a:p>
          <a:p>
            <a:endParaRPr/>
          </a:p>
          <a:p>
            <a:r>
              <a:t>&lt;!DOCTYPE html&gt; </a:t>
            </a:r>
          </a:p>
          <a:p>
            <a:r>
              <a:t>&lt;html lang="en"&gt; </a:t>
            </a:r>
          </a:p>
          <a:p>
            <a:r>
              <a:t>	&lt;head&gt; </a:t>
            </a:r>
          </a:p>
          <a:p>
            <a:r>
              <a:t>		&lt;meta charset="UTF-8" /&gt;</a:t>
            </a:r>
          </a:p>
          <a:p>
            <a:r>
              <a:t>		&lt;meta name="description" content="My first page" /&gt;</a:t>
            </a:r>
          </a:p>
          <a:p>
            <a:r>
              <a:t>		&lt;meta name="keywords" content="keywords,go,here" /&gt;</a:t>
            </a:r>
          </a:p>
          <a:p>
            <a:r>
              <a:t>		&lt;meta name="author" content="Firstname Lastname" /&gt;</a:t>
            </a:r>
          </a:p>
          <a:p>
            <a:r>
              <a:t>		&lt;meta name="robots" content="index,follow" /&gt;</a:t>
            </a:r>
          </a:p>
          <a:p>
            <a:r>
              <a:t>		&lt;meta name="viewport" content="width=device-width, initial-scale=1.0"&gt;</a:t>
            </a:r>
          </a:p>
          <a:p>
            <a:r>
              <a:t>		&lt;title&gt;My Page&lt;/title&gt; </a:t>
            </a:r>
          </a:p>
          <a:p>
            <a:r>
              <a:t>	&lt;/head&gt; </a:t>
            </a:r>
          </a:p>
          <a:p>
            <a:r>
              <a:t>	&lt;body&gt; </a:t>
            </a:r>
          </a:p>
          <a:p>
            <a:endParaRPr/>
          </a:p>
          <a:p>
            <a:r>
              <a:t>		&lt;h1&gt;Welcome.&lt;/h1&gt;</a:t>
            </a:r>
          </a:p>
          <a:p>
            <a:r>
              <a:t>		</a:t>
            </a:r>
          </a:p>
          <a:p>
            <a:r>
              <a:t>		&lt;!-- Copy and Paste Into index.html the examples for --&gt;</a:t>
            </a:r>
          </a:p>
          <a:p>
            <a:r>
              <a:t>		&lt;!--Headings--&gt;</a:t>
            </a:r>
          </a:p>
          <a:p>
            <a:r>
              <a:t>		&lt;h1&gt;First-Level Heading&lt;/h1&gt;</a:t>
            </a:r>
          </a:p>
          <a:p>
            <a:r>
              <a:t>		&lt;h2&gt;Second-Level Heading&lt;/h2&gt;</a:t>
            </a:r>
          </a:p>
          <a:p>
            <a:r>
              <a:t>		&lt;h3&gt;Third-Level Heading&lt;/h3&gt;</a:t>
            </a:r>
          </a:p>
          <a:p>
            <a:r>
              <a:t>		&lt;h4&gt;Fourth-Level Heading&lt;/h4&gt;</a:t>
            </a:r>
          </a:p>
          <a:p>
            <a:r>
              <a:t>		&lt;h5&gt;Fifth-Level Heading&lt;/h5&gt;</a:t>
            </a:r>
          </a:p>
          <a:p>
            <a:r>
              <a:t>		&lt;h6&gt;Sixth-Level Heading&lt;/h6&gt;</a:t>
            </a:r>
          </a:p>
          <a:p>
            <a:r>
              <a:t>		</a:t>
            </a:r>
          </a:p>
          <a:p>
            <a:r>
              <a:t>		&lt;!--Bold/italic--&gt;</a:t>
            </a:r>
          </a:p>
          <a:p>
            <a:r>
              <a:t>		&lt;p&gt;Welcome to &lt;strong&gt;How Websites Work!&lt;/strong&gt;&lt;/p&gt;</a:t>
            </a:r>
          </a:p>
          <a:p>
            <a:r>
              <a:t>		&lt;p&gt;Welcome to &lt;b&gt;How Websites Work!&lt;/b&gt;&lt;/p&gt;</a:t>
            </a:r>
          </a:p>
          <a:p>
            <a:endParaRPr/>
          </a:p>
          <a:p>
            <a:r>
              <a:t>		&lt;!--Unordered lists--&gt;</a:t>
            </a:r>
          </a:p>
          <a:p>
            <a:r>
              <a:t>		&lt;ul&gt;</a:t>
            </a:r>
          </a:p>
          <a:p>
            <a:r>
              <a:t>			&lt;li&gt;first item&lt;/li&gt;</a:t>
            </a:r>
          </a:p>
          <a:p>
            <a:r>
              <a:t>			&lt;li&gt;second item&lt;/li&gt;</a:t>
            </a:r>
          </a:p>
          <a:p>
            <a:r>
              <a:t>			&lt;li&gt;third item&lt;/li&gt;</a:t>
            </a:r>
          </a:p>
          <a:p>
            <a:r>
              <a:t>		&lt;/ul&gt;</a:t>
            </a:r>
          </a:p>
          <a:p>
            <a:endParaRPr/>
          </a:p>
          <a:p>
            <a:r>
              <a:t>		&lt;!--Ordered lists--&gt;</a:t>
            </a:r>
          </a:p>
          <a:p>
            <a:r>
              <a:t>		&lt;ol&gt;</a:t>
            </a:r>
          </a:p>
          <a:p>
            <a:r>
              <a:t>			&lt;li&gt;first item&lt;/li&gt;</a:t>
            </a:r>
          </a:p>
          <a:p>
            <a:r>
              <a:t>			&lt;li&gt;second item&lt;/li&gt;</a:t>
            </a:r>
          </a:p>
          <a:p>
            <a:r>
              <a:t>			&lt;li&gt;third item&lt;/li&gt;</a:t>
            </a:r>
          </a:p>
          <a:p>
            <a:r>
              <a:t>		&lt;/ol&gt;</a:t>
            </a:r>
          </a:p>
          <a:p>
            <a:endParaRPr/>
          </a:p>
          <a:p>
            <a:r>
              <a:t>		&lt;!--Entities--&gt;</a:t>
            </a:r>
          </a:p>
          <a:p>
            <a:r>
              <a:t>		&lt;p&gt;This site &amp;copy; 2020 Nova Scotia Community College&lt;/p&gt;</a:t>
            </a:r>
          </a:p>
          <a:p>
            <a:r>
              <a:t>		</a:t>
            </a:r>
          </a:p>
          <a:p>
            <a:r>
              <a:t>		&lt;!--Tables--&gt;</a:t>
            </a:r>
          </a:p>
          <a:p>
            <a:r>
              <a:t>		&lt;table border="1"&gt;</a:t>
            </a:r>
          </a:p>
          <a:p>
            <a:r>
              <a:t>			&lt;tr&gt;</a:t>
            </a:r>
          </a:p>
          <a:p>
            <a:r>
              <a:t>				&lt;th&gt;First Name&lt;/th&gt;</a:t>
            </a:r>
          </a:p>
          <a:p>
            <a:r>
              <a:t>				&lt;th&gt;Last Name&lt;/th&gt;</a:t>
            </a:r>
          </a:p>
          <a:p>
            <a:r>
              <a:t>			&lt;/tr&gt;</a:t>
            </a:r>
          </a:p>
          <a:p>
            <a:r>
              <a:t>			&lt;tr&gt;</a:t>
            </a:r>
          </a:p>
          <a:p>
            <a:r>
              <a:t>				&lt;td&gt;Fred&lt;/td&gt;</a:t>
            </a:r>
          </a:p>
          <a:p>
            <a:r>
              <a:t>				&lt;td&gt;Flintstone&lt;/td&gt;</a:t>
            </a:r>
          </a:p>
          <a:p>
            <a:r>
              <a:t>			&lt;/tr&gt;</a:t>
            </a:r>
          </a:p>
          <a:p>
            <a:r>
              <a:t>			&lt;tr&gt;</a:t>
            </a:r>
          </a:p>
          <a:p>
            <a:r>
              <a:t>				&lt;td&gt;Wilma&lt;/td&gt;</a:t>
            </a:r>
          </a:p>
          <a:p>
            <a:r>
              <a:t>				&lt;td&gt;Flintstone&lt;/td&gt;</a:t>
            </a:r>
          </a:p>
          <a:p>
            <a:r>
              <a:t>			&lt;/tr&gt;</a:t>
            </a:r>
          </a:p>
          <a:p>
            <a:r>
              <a:t>		&lt;/table&gt;</a:t>
            </a:r>
          </a:p>
          <a:p>
            <a:r>
              <a:t>		</a:t>
            </a:r>
          </a:p>
          <a:p>
            <a:r>
              <a:t>		&lt;!--Link --&gt;</a:t>
            </a:r>
          </a:p>
          <a:p>
            <a:r>
              <a:t>		&lt;p&gt;</a:t>
            </a:r>
          </a:p>
          <a:p>
            <a:r>
              <a:t>			&lt;a href="page2.html"&gt;Link to page 2&lt;/a&gt;</a:t>
            </a:r>
          </a:p>
          <a:p>
            <a:r>
              <a:t>		&lt;/p&gt;</a:t>
            </a:r>
          </a:p>
          <a:p>
            <a:r>
              <a:t>		</a:t>
            </a:r>
          </a:p>
          <a:p>
            <a:r>
              <a:t>		&lt;!--Image --&gt;</a:t>
            </a:r>
          </a:p>
          <a:p>
            <a:r>
              <a:t>		&lt;img src="beach.JPG" border="1" alt="The Beach"/&gt;</a:t>
            </a:r>
          </a:p>
          <a:p>
            <a:r>
              <a:t>		</a:t>
            </a:r>
          </a:p>
          <a:p>
            <a:r>
              <a:t>		&lt;!--(note: Copy only the html that’s inside the BODY tags of the examples, as a page has only one body section)--&gt;</a:t>
            </a:r>
          </a:p>
          <a:p>
            <a:endParaRPr/>
          </a:p>
          <a:p>
            <a:r>
              <a:t>	&lt;/body&gt; </a:t>
            </a:r>
          </a:p>
          <a:p>
            <a:r>
              <a:t>&lt;/html&gt;</a:t>
            </a: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Rectangle 1"/>
          <p:cNvSpPr/>
          <p:nvPr/>
        </p:nvSpPr>
        <p:spPr>
          <a:xfrm>
            <a:off x="0" y="3246120"/>
            <a:ext cx="12191695" cy="54864"/>
          </a:xfrm>
          <a:prstGeom prst="rect">
            <a:avLst/>
          </a:prstGeom>
          <a:solidFill>
            <a:srgbClr val="2EB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377440"/>
            <a:ext cx="10332720" cy="914400"/>
          </a:xfrm>
          <a:prstGeom prst="rect">
            <a:avLst/>
          </a:prstGeom>
          <a:noFill/>
        </p:spPr>
        <p:txBody>
          <a:bodyPr wrap="none">
            <a:spAutoFit/>
          </a:bodyPr>
          <a:lstStyle/>
          <a:p>
            <a:r>
              <a:rPr sz="4400" b="1">
                <a:solidFill>
                  <a:srgbClr val="FFFFFF"/>
                </a:solidFill>
                <a:latin typeface="Calibri"/>
              </a:rPr>
              <a:t>WEBD 1000 — HTML Examples</a:t>
            </a:r>
          </a:p>
        </p:txBody>
      </p:sp>
      <p:sp>
        <p:nvSpPr>
          <p:cNvPr id="4" name="TextBox 3"/>
          <p:cNvSpPr txBox="1"/>
          <p:nvPr/>
        </p:nvSpPr>
        <p:spPr>
          <a:xfrm>
            <a:off x="914400" y="3429000"/>
            <a:ext cx="10332720" cy="548640"/>
          </a:xfrm>
          <a:prstGeom prst="rect">
            <a:avLst/>
          </a:prstGeom>
          <a:noFill/>
        </p:spPr>
        <p:txBody>
          <a:bodyPr wrap="none">
            <a:spAutoFit/>
          </a:bodyPr>
          <a:lstStyle/>
          <a:p>
            <a:r>
              <a:rPr sz="2000">
                <a:solidFill>
                  <a:srgbClr val="C8D6E5"/>
                </a:solidFill>
                <a:latin typeface="Calibri"/>
              </a:rPr>
              <a:t>Class Walkthrough — Examples 01–08, Hyperlinking, and the Activity Page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EB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1155680" cy="640080"/>
          </a:xfrm>
          <a:prstGeom prst="rect">
            <a:avLst/>
          </a:prstGeom>
          <a:noFill/>
        </p:spPr>
        <p:txBody>
          <a:bodyPr wrap="none">
            <a:spAutoFit/>
          </a:bodyPr>
          <a:lstStyle/>
          <a:p>
            <a:r>
              <a:rPr sz="3000" b="1">
                <a:solidFill>
                  <a:srgbClr val="1B2A4A"/>
                </a:solidFill>
                <a:latin typeface="Calibri"/>
              </a:rPr>
              <a:t>Before We Start: Get the Code</a:t>
            </a:r>
          </a:p>
        </p:txBody>
      </p:sp>
      <p:sp>
        <p:nvSpPr>
          <p:cNvPr id="4" name="TextBox 3"/>
          <p:cNvSpPr txBox="1"/>
          <p:nvPr/>
        </p:nvSpPr>
        <p:spPr>
          <a:xfrm>
            <a:off x="530352" y="896112"/>
            <a:ext cx="11155680" cy="365760"/>
          </a:xfrm>
          <a:prstGeom prst="rect">
            <a:avLst/>
          </a:prstGeom>
          <a:noFill/>
        </p:spPr>
        <p:txBody>
          <a:bodyPr wrap="none">
            <a:spAutoFit/>
          </a:bodyPr>
          <a:lstStyle/>
          <a:p>
            <a:r>
              <a:rPr sz="1600" i="1">
                <a:solidFill>
                  <a:srgbClr val="6B7480"/>
                </a:solidFill>
                <a:latin typeface="Calibri"/>
              </a:rPr>
              <a:t>Clone the class repository once, then open it in VS Code</a:t>
            </a:r>
          </a:p>
        </p:txBody>
      </p:sp>
      <p:sp>
        <p:nvSpPr>
          <p:cNvPr id="5" name="TextBox 4"/>
          <p:cNvSpPr txBox="1"/>
          <p:nvPr/>
        </p:nvSpPr>
        <p:spPr>
          <a:xfrm>
            <a:off x="548640" y="1508760"/>
            <a:ext cx="11064240" cy="1463040"/>
          </a:xfrm>
          <a:prstGeom prst="rect">
            <a:avLst/>
          </a:prstGeom>
          <a:noFill/>
        </p:spPr>
        <p:txBody>
          <a:bodyPr wrap="square">
            <a:spAutoFit/>
          </a:bodyPr>
          <a:lstStyle/>
          <a:p>
            <a:pPr algn="l">
              <a:spcAft>
                <a:spcPts val="1000"/>
              </a:spcAft>
            </a:pPr>
            <a:r>
              <a:rPr sz="1900">
                <a:solidFill>
                  <a:srgbClr val="333D4B"/>
                </a:solidFill>
                <a:latin typeface="Calibri"/>
              </a:rPr>
              <a:t>•  Clone the repository to your computer.</a:t>
            </a:r>
          </a:p>
          <a:p>
            <a:pPr algn="l">
              <a:spcAft>
                <a:spcPts val="1000"/>
              </a:spcAft>
            </a:pPr>
            <a:r>
              <a:rPr sz="1900">
                <a:solidFill>
                  <a:srgbClr val="333D4B"/>
                </a:solidFill>
                <a:latin typeface="Calibri"/>
              </a:rPr>
              <a:t>•  Open the cloned folder in VS Code (File → Open Folder…).</a:t>
            </a:r>
          </a:p>
        </p:txBody>
      </p:sp>
      <p:sp>
        <p:nvSpPr>
          <p:cNvPr id="6" name="Rounded Rectangle 5"/>
          <p:cNvSpPr/>
          <p:nvPr/>
        </p:nvSpPr>
        <p:spPr>
          <a:xfrm>
            <a:off x="548640" y="2514600"/>
            <a:ext cx="11091672" cy="685800"/>
          </a:xfrm>
          <a:prstGeom prst="roundRect">
            <a:avLst>
              <a:gd name="adj" fmla="val 3000"/>
            </a:avLst>
          </a:prstGeom>
          <a:solidFill>
            <a:srgbClr val="1E1E1E"/>
          </a:solidFill>
          <a:ln w="12700">
            <a:solidFill>
              <a:srgbClr val="3C3C3C"/>
            </a:solidFill>
          </a:ln>
          <a:effectLst/>
        </p:spPr>
        <p:style>
          <a:lnRef idx="1">
            <a:schemeClr val="accent1"/>
          </a:lnRef>
          <a:fillRef idx="3">
            <a:schemeClr val="accent1"/>
          </a:fillRef>
          <a:effectRef idx="2">
            <a:schemeClr val="accent1"/>
          </a:effectRef>
          <a:fontRef idx="minor">
            <a:schemeClr val="lt1"/>
          </a:fontRef>
        </p:style>
        <p:txBody>
          <a:bodyPr wrap="square" lIns="201168" tIns="146304" rIns="201168" bIns="146304" rtlCol="0" anchor="t">
            <a:noAutofit/>
          </a:bodyPr>
          <a:lstStyle/>
          <a:p>
            <a:pPr algn="l">
              <a:lnSpc>
                <a:spcPct val="100000"/>
              </a:lnSpc>
              <a:spcBef>
                <a:spcPts val="0"/>
              </a:spcBef>
              <a:spcAft>
                <a:spcPts val="0"/>
              </a:spcAft>
            </a:pPr>
            <a:r>
              <a:rPr sz="1700">
                <a:solidFill>
                  <a:srgbClr val="D4D4D4"/>
                </a:solidFill>
                <a:latin typeface="Consolas"/>
              </a:rPr>
              <a:t>git clone https://github.com/x97gfq/WEBD1000_Fall2026</a:t>
            </a:r>
          </a:p>
        </p:txBody>
      </p:sp>
      <p:sp>
        <p:nvSpPr>
          <p:cNvPr id="7" name="TextBox 6"/>
          <p:cNvSpPr txBox="1"/>
          <p:nvPr/>
        </p:nvSpPr>
        <p:spPr>
          <a:xfrm>
            <a:off x="548640" y="3429000"/>
            <a:ext cx="11064240" cy="365760"/>
          </a:xfrm>
          <a:prstGeom prst="rect">
            <a:avLst/>
          </a:prstGeom>
          <a:noFill/>
        </p:spPr>
        <p:txBody>
          <a:bodyPr wrap="none">
            <a:spAutoFit/>
          </a:bodyPr>
          <a:lstStyle/>
          <a:p>
            <a:r>
              <a:rPr sz="1900" b="1">
                <a:solidFill>
                  <a:srgbClr val="1B2A4A"/>
                </a:solidFill>
                <a:latin typeface="Calibri"/>
              </a:rPr>
              <a:t>For every future class:</a:t>
            </a:r>
          </a:p>
        </p:txBody>
      </p:sp>
      <p:sp>
        <p:nvSpPr>
          <p:cNvPr id="8" name="TextBox 7"/>
          <p:cNvSpPr txBox="1"/>
          <p:nvPr/>
        </p:nvSpPr>
        <p:spPr>
          <a:xfrm>
            <a:off x="548640" y="3840480"/>
            <a:ext cx="11064240" cy="548640"/>
          </a:xfrm>
          <a:prstGeom prst="rect">
            <a:avLst/>
          </a:prstGeom>
          <a:noFill/>
        </p:spPr>
        <p:txBody>
          <a:bodyPr wrap="square">
            <a:spAutoFit/>
          </a:bodyPr>
          <a:lstStyle/>
          <a:p>
            <a:pPr algn="l">
              <a:spcAft>
                <a:spcPts val="1000"/>
              </a:spcAft>
            </a:pPr>
            <a:r>
              <a:rPr sz="1900">
                <a:solidFill>
                  <a:srgbClr val="333D4B"/>
                </a:solidFill>
                <a:latin typeface="Calibri"/>
              </a:rPr>
              <a:t>•  Run a git pull in the folder to fetch that week's updated examples — don't re-clone.</a:t>
            </a:r>
          </a:p>
        </p:txBody>
      </p:sp>
      <p:sp>
        <p:nvSpPr>
          <p:cNvPr id="9" name="Rounded Rectangle 8"/>
          <p:cNvSpPr/>
          <p:nvPr/>
        </p:nvSpPr>
        <p:spPr>
          <a:xfrm>
            <a:off x="548640" y="4526280"/>
            <a:ext cx="11091672" cy="640080"/>
          </a:xfrm>
          <a:prstGeom prst="roundRect">
            <a:avLst>
              <a:gd name="adj" fmla="val 3000"/>
            </a:avLst>
          </a:prstGeom>
          <a:solidFill>
            <a:srgbClr val="1E1E1E"/>
          </a:solidFill>
          <a:ln w="12700">
            <a:solidFill>
              <a:srgbClr val="3C3C3C"/>
            </a:solidFill>
          </a:ln>
          <a:effectLst/>
        </p:spPr>
        <p:style>
          <a:lnRef idx="1">
            <a:schemeClr val="accent1"/>
          </a:lnRef>
          <a:fillRef idx="3">
            <a:schemeClr val="accent1"/>
          </a:fillRef>
          <a:effectRef idx="2">
            <a:schemeClr val="accent1"/>
          </a:effectRef>
          <a:fontRef idx="minor">
            <a:schemeClr val="lt1"/>
          </a:fontRef>
        </p:style>
        <p:txBody>
          <a:bodyPr wrap="square" lIns="201168" tIns="146304" rIns="201168" bIns="146304" rtlCol="0" anchor="t">
            <a:noAutofit/>
          </a:bodyPr>
          <a:lstStyle/>
          <a:p>
            <a:pPr algn="l">
              <a:lnSpc>
                <a:spcPct val="100000"/>
              </a:lnSpc>
              <a:spcBef>
                <a:spcPts val="0"/>
              </a:spcBef>
              <a:spcAft>
                <a:spcPts val="0"/>
              </a:spcAft>
            </a:pPr>
            <a:r>
              <a:rPr sz="1700">
                <a:solidFill>
                  <a:srgbClr val="D4D4D4"/>
                </a:solidFill>
                <a:latin typeface="Consolas"/>
              </a:rPr>
              <a:t>git pull</a:t>
            </a:r>
          </a:p>
        </p:txBody>
      </p:sp>
      <p:sp>
        <p:nvSpPr>
          <p:cNvPr id="10" name="TextBox 9"/>
          <p:cNvSpPr txBox="1"/>
          <p:nvPr/>
        </p:nvSpPr>
        <p:spPr>
          <a:xfrm>
            <a:off x="548640" y="5349240"/>
            <a:ext cx="11064240" cy="822960"/>
          </a:xfrm>
          <a:prstGeom prst="rect">
            <a:avLst/>
          </a:prstGeom>
          <a:noFill/>
        </p:spPr>
        <p:txBody>
          <a:bodyPr wrap="square">
            <a:spAutoFit/>
          </a:bodyPr>
          <a:lstStyle/>
          <a:p>
            <a:r>
              <a:rPr sz="1400" i="1">
                <a:solidFill>
                  <a:srgbClr val="6B7480"/>
                </a:solidFill>
                <a:latin typeface="Calibri"/>
              </a:rPr>
              <a:t>Note: pull before each class — new examples are added weekly and git pull will not overwrite your own uncommitted work without warning you first.</a:t>
            </a:r>
          </a:p>
        </p:txBody>
      </p:sp>
      <p:sp>
        <p:nvSpPr>
          <p:cNvPr id="11" name="TextBox 10"/>
          <p:cNvSpPr txBox="1"/>
          <p:nvPr/>
        </p:nvSpPr>
        <p:spPr>
          <a:xfrm>
            <a:off x="502920" y="6473952"/>
            <a:ext cx="10058400" cy="320040"/>
          </a:xfrm>
          <a:prstGeom prst="rect">
            <a:avLst/>
          </a:prstGeom>
          <a:noFill/>
        </p:spPr>
        <p:txBody>
          <a:bodyPr wrap="none">
            <a:spAutoFit/>
          </a:bodyPr>
          <a:lstStyle/>
          <a:p>
            <a:r>
              <a:rPr sz="1100">
                <a:solidFill>
                  <a:srgbClr val="6B7480"/>
                </a:solidFill>
                <a:latin typeface="Calibri"/>
              </a:rPr>
              <a:t>WEBD 1000 — HTML Examples Review   ·   https://github.com/x97gfq/WEBD1000_Fall2026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EB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19456"/>
            <a:ext cx="11155680" cy="502920"/>
          </a:xfrm>
          <a:prstGeom prst="rect">
            <a:avLst/>
          </a:prstGeom>
          <a:noFill/>
        </p:spPr>
        <p:txBody>
          <a:bodyPr wrap="square">
            <a:spAutoFit/>
          </a:bodyPr>
          <a:lstStyle/>
          <a:p>
            <a:r>
              <a:rPr sz="2800" b="1">
                <a:solidFill>
                  <a:srgbClr val="1B2A4A"/>
                </a:solidFill>
                <a:latin typeface="Calibri"/>
              </a:rPr>
              <a:t>Example 01  Headings</a:t>
            </a:r>
          </a:p>
        </p:txBody>
      </p:sp>
      <p:sp>
        <p:nvSpPr>
          <p:cNvPr id="4" name="TextBox 3"/>
          <p:cNvSpPr txBox="1"/>
          <p:nvPr/>
        </p:nvSpPr>
        <p:spPr>
          <a:xfrm>
            <a:off x="530352" y="713232"/>
            <a:ext cx="11155680" cy="292608"/>
          </a:xfrm>
          <a:prstGeom prst="rect">
            <a:avLst/>
          </a:prstGeom>
          <a:noFill/>
        </p:spPr>
        <p:txBody>
          <a:bodyPr wrap="square">
            <a:spAutoFit/>
          </a:bodyPr>
          <a:lstStyle/>
          <a:p>
            <a:r>
              <a:rPr sz="1400" i="1">
                <a:solidFill>
                  <a:srgbClr val="6B7480"/>
                </a:solidFill>
                <a:latin typeface="Calibri"/>
              </a:rPr>
              <a:t>h1–h6: six levels of section headings</a:t>
            </a:r>
          </a:p>
        </p:txBody>
      </p:sp>
      <p:sp>
        <p:nvSpPr>
          <p:cNvPr id="5" name="TextBox 4"/>
          <p:cNvSpPr txBox="1"/>
          <p:nvPr/>
        </p:nvSpPr>
        <p:spPr>
          <a:xfrm>
            <a:off x="530352" y="1005840"/>
            <a:ext cx="11155680" cy="566928"/>
          </a:xfrm>
          <a:prstGeom prst="rect">
            <a:avLst/>
          </a:prstGeom>
          <a:noFill/>
        </p:spPr>
        <p:txBody>
          <a:bodyPr wrap="square">
            <a:spAutoFit/>
          </a:bodyPr>
          <a:lstStyle/>
          <a:p>
            <a:r>
              <a:rPr sz="1450">
                <a:solidFill>
                  <a:srgbClr val="333D4B"/>
                </a:solidFill>
                <a:latin typeface="Calibri"/>
              </a:rPr>
              <a:t>Headings organize a page into sections, from the most important title (&lt;h1&gt;) down to the least important (&lt;h6&gt;). Browsers add space above and below each heading automatically, and both search engines and screen readers rely on headings to understand a page's structure.</a:t>
            </a:r>
          </a:p>
        </p:txBody>
      </p:sp>
      <p:sp>
        <p:nvSpPr>
          <p:cNvPr id="6" name="Rounded Rectangle 5"/>
          <p:cNvSpPr/>
          <p:nvPr/>
        </p:nvSpPr>
        <p:spPr>
          <a:xfrm>
            <a:off x="502920" y="1645920"/>
            <a:ext cx="11183112" cy="4709160"/>
          </a:xfrm>
          <a:prstGeom prst="roundRect">
            <a:avLst>
              <a:gd name="adj" fmla="val 3000"/>
            </a:avLst>
          </a:prstGeom>
          <a:solidFill>
            <a:srgbClr val="1E1E1E"/>
          </a:solidFill>
          <a:ln w="12700">
            <a:solidFill>
              <a:srgbClr val="3C3C3C"/>
            </a:solidFill>
          </a:ln>
          <a:effectLst/>
        </p:spPr>
        <p:style>
          <a:lnRef idx="1">
            <a:schemeClr val="accent1"/>
          </a:lnRef>
          <a:fillRef idx="3">
            <a:schemeClr val="accent1"/>
          </a:fillRef>
          <a:effectRef idx="2">
            <a:schemeClr val="accent1"/>
          </a:effectRef>
          <a:fontRef idx="minor">
            <a:schemeClr val="lt1"/>
          </a:fontRef>
        </p:style>
        <p:txBody>
          <a:bodyPr wrap="square" lIns="201168" tIns="146304" rIns="201168" bIns="146304" rtlCol="0" anchor="t">
            <a:noAutofit/>
          </a:bodyPr>
          <a:lstStyle/>
          <a:p>
            <a:pPr algn="l">
              <a:lnSpc>
                <a:spcPct val="100000"/>
              </a:lnSpc>
              <a:spcBef>
                <a:spcPts val="0"/>
              </a:spcBef>
              <a:spcAft>
                <a:spcPts val="0"/>
              </a:spcAft>
            </a:pPr>
            <a:r>
              <a:rPr sz="1600">
                <a:solidFill>
                  <a:srgbClr val="808080"/>
                </a:solidFill>
                <a:latin typeface="Consolas"/>
              </a:rPr>
              <a:t>&lt;!DOCTYPE html&gt;</a:t>
            </a:r>
            <a:r>
              <a:rPr sz="1600">
                <a:solidFill>
                  <a:srgbClr val="D4D4D4"/>
                </a:solidFill>
                <a:latin typeface="Consolas"/>
              </a:rPr>
              <a:t> </a:t>
            </a:r>
          </a:p>
          <a:p>
            <a:pPr algn="l">
              <a:lnSpc>
                <a:spcPct val="100000"/>
              </a:lnSpc>
              <a:spcBef>
                <a:spcPts val="0"/>
              </a:spcBef>
              <a:spcAft>
                <a:spcPts val="0"/>
              </a:spcAft>
            </a:pPr>
            <a:r>
              <a:rPr sz="1600">
                <a:solidFill>
                  <a:srgbClr val="808080"/>
                </a:solidFill>
                <a:latin typeface="Consolas"/>
              </a:rPr>
              <a:t>&lt;</a:t>
            </a:r>
            <a:r>
              <a:rPr sz="1600">
                <a:solidFill>
                  <a:srgbClr val="569CD6"/>
                </a:solidFill>
                <a:latin typeface="Consolas"/>
              </a:rPr>
              <a:t>html</a:t>
            </a:r>
            <a:r>
              <a:rPr sz="1600">
                <a:solidFill>
                  <a:srgbClr val="D4D4D4"/>
                </a:solidFill>
                <a:latin typeface="Consolas"/>
              </a:rPr>
              <a:t> </a:t>
            </a:r>
            <a:r>
              <a:rPr sz="1600">
                <a:solidFill>
                  <a:srgbClr val="9CDCFE"/>
                </a:solidFill>
                <a:latin typeface="Consolas"/>
              </a:rPr>
              <a:t>lang</a:t>
            </a:r>
            <a:r>
              <a:rPr sz="1600">
                <a:solidFill>
                  <a:srgbClr val="D4D4D4"/>
                </a:solidFill>
                <a:latin typeface="Consolas"/>
              </a:rPr>
              <a:t>=</a:t>
            </a:r>
            <a:r>
              <a:rPr sz="1600">
                <a:solidFill>
                  <a:srgbClr val="CE9178"/>
                </a:solidFill>
                <a:latin typeface="Consolas"/>
              </a:rPr>
              <a:t>"en"</a:t>
            </a:r>
            <a:r>
              <a:rPr sz="1600">
                <a:solidFill>
                  <a:srgbClr val="808080"/>
                </a:solidFill>
                <a:latin typeface="Consolas"/>
              </a:rPr>
              <a:t>&gt;</a:t>
            </a:r>
            <a:r>
              <a:rPr sz="1600">
                <a:solidFill>
                  <a:srgbClr val="D4D4D4"/>
                </a:solidFill>
                <a:latin typeface="Consolas"/>
              </a:rPr>
              <a:t> </a:t>
            </a:r>
          </a:p>
          <a:p>
            <a:pPr algn="l">
              <a:lnSpc>
                <a:spcPct val="100000"/>
              </a:lnSpc>
              <a:spcBef>
                <a:spcPts val="0"/>
              </a:spcBef>
              <a:spcAft>
                <a:spcPts val="0"/>
              </a:spcAft>
            </a:pPr>
            <a:r>
              <a:rPr sz="1600">
                <a:solidFill>
                  <a:srgbClr val="D4D4D4"/>
                </a:solidFill>
                <a:latin typeface="Consolas"/>
              </a:rPr>
              <a:t>    </a:t>
            </a:r>
            <a:r>
              <a:rPr sz="1600">
                <a:solidFill>
                  <a:srgbClr val="808080"/>
                </a:solidFill>
                <a:latin typeface="Consolas"/>
              </a:rPr>
              <a:t>&lt;</a:t>
            </a:r>
            <a:r>
              <a:rPr sz="1600">
                <a:solidFill>
                  <a:srgbClr val="569CD6"/>
                </a:solidFill>
                <a:latin typeface="Consolas"/>
              </a:rPr>
              <a:t>head</a:t>
            </a:r>
            <a:r>
              <a:rPr sz="1600">
                <a:solidFill>
                  <a:srgbClr val="808080"/>
                </a:solidFill>
                <a:latin typeface="Consolas"/>
              </a:rPr>
              <a:t>&gt;</a:t>
            </a:r>
          </a:p>
          <a:p>
            <a:pPr algn="l">
              <a:lnSpc>
                <a:spcPct val="100000"/>
              </a:lnSpc>
              <a:spcBef>
                <a:spcPts val="0"/>
              </a:spcBef>
              <a:spcAft>
                <a:spcPts val="0"/>
              </a:spcAft>
            </a:pPr>
            <a:r>
              <a:rPr sz="1600">
                <a:solidFill>
                  <a:srgbClr val="D4D4D4"/>
                </a:solidFill>
                <a:latin typeface="Consolas"/>
              </a:rPr>
              <a:t>        </a:t>
            </a:r>
            <a:r>
              <a:rPr sz="1600">
                <a:solidFill>
                  <a:srgbClr val="808080"/>
                </a:solidFill>
                <a:latin typeface="Consolas"/>
              </a:rPr>
              <a:t>&lt;</a:t>
            </a:r>
            <a:r>
              <a:rPr sz="1600">
                <a:solidFill>
                  <a:srgbClr val="569CD6"/>
                </a:solidFill>
                <a:latin typeface="Consolas"/>
              </a:rPr>
              <a:t>meta</a:t>
            </a:r>
            <a:r>
              <a:rPr sz="1600">
                <a:solidFill>
                  <a:srgbClr val="D4D4D4"/>
                </a:solidFill>
                <a:latin typeface="Consolas"/>
              </a:rPr>
              <a:t> </a:t>
            </a:r>
            <a:r>
              <a:rPr sz="1600">
                <a:solidFill>
                  <a:srgbClr val="9CDCFE"/>
                </a:solidFill>
                <a:latin typeface="Consolas"/>
              </a:rPr>
              <a:t>charset</a:t>
            </a:r>
            <a:r>
              <a:rPr sz="1600">
                <a:solidFill>
                  <a:srgbClr val="D4D4D4"/>
                </a:solidFill>
                <a:latin typeface="Consolas"/>
              </a:rPr>
              <a:t>=</a:t>
            </a:r>
            <a:r>
              <a:rPr sz="1600">
                <a:solidFill>
                  <a:srgbClr val="CE9178"/>
                </a:solidFill>
                <a:latin typeface="Consolas"/>
              </a:rPr>
              <a:t>"UTF-8"</a:t>
            </a:r>
            <a:r>
              <a:rPr sz="1600">
                <a:solidFill>
                  <a:srgbClr val="808080"/>
                </a:solidFill>
                <a:latin typeface="Consolas"/>
              </a:rPr>
              <a:t>&gt;</a:t>
            </a:r>
          </a:p>
          <a:p>
            <a:pPr algn="l">
              <a:lnSpc>
                <a:spcPct val="100000"/>
              </a:lnSpc>
              <a:spcBef>
                <a:spcPts val="0"/>
              </a:spcBef>
              <a:spcAft>
                <a:spcPts val="0"/>
              </a:spcAft>
            </a:pPr>
            <a:r>
              <a:rPr sz="1600">
                <a:solidFill>
                  <a:srgbClr val="D4D4D4"/>
                </a:solidFill>
                <a:latin typeface="Consolas"/>
              </a:rPr>
              <a:t>        </a:t>
            </a:r>
            <a:r>
              <a:rPr sz="1600">
                <a:solidFill>
                  <a:srgbClr val="808080"/>
                </a:solidFill>
                <a:latin typeface="Consolas"/>
              </a:rPr>
              <a:t>&lt;</a:t>
            </a:r>
            <a:r>
              <a:rPr sz="1600">
                <a:solidFill>
                  <a:srgbClr val="569CD6"/>
                </a:solidFill>
                <a:latin typeface="Consolas"/>
              </a:rPr>
              <a:t>meta</a:t>
            </a:r>
            <a:r>
              <a:rPr sz="1600">
                <a:solidFill>
                  <a:srgbClr val="D4D4D4"/>
                </a:solidFill>
                <a:latin typeface="Consolas"/>
              </a:rPr>
              <a:t> </a:t>
            </a:r>
            <a:r>
              <a:rPr sz="1600">
                <a:solidFill>
                  <a:srgbClr val="9CDCFE"/>
                </a:solidFill>
                <a:latin typeface="Consolas"/>
              </a:rPr>
              <a:t>name</a:t>
            </a:r>
            <a:r>
              <a:rPr sz="1600">
                <a:solidFill>
                  <a:srgbClr val="D4D4D4"/>
                </a:solidFill>
                <a:latin typeface="Consolas"/>
              </a:rPr>
              <a:t>=</a:t>
            </a:r>
            <a:r>
              <a:rPr sz="1600">
                <a:solidFill>
                  <a:srgbClr val="CE9178"/>
                </a:solidFill>
                <a:latin typeface="Consolas"/>
              </a:rPr>
              <a:t>"viewport"</a:t>
            </a:r>
            <a:r>
              <a:rPr sz="1600">
                <a:solidFill>
                  <a:srgbClr val="D4D4D4"/>
                </a:solidFill>
                <a:latin typeface="Consolas"/>
              </a:rPr>
              <a:t> </a:t>
            </a:r>
            <a:r>
              <a:rPr sz="1600">
                <a:solidFill>
                  <a:srgbClr val="9CDCFE"/>
                </a:solidFill>
                <a:latin typeface="Consolas"/>
              </a:rPr>
              <a:t>content</a:t>
            </a:r>
            <a:r>
              <a:rPr sz="1600">
                <a:solidFill>
                  <a:srgbClr val="D4D4D4"/>
                </a:solidFill>
                <a:latin typeface="Consolas"/>
              </a:rPr>
              <a:t>=</a:t>
            </a:r>
            <a:r>
              <a:rPr sz="1600">
                <a:solidFill>
                  <a:srgbClr val="CE9178"/>
                </a:solidFill>
                <a:latin typeface="Consolas"/>
              </a:rPr>
              <a:t>"width=device-width, initial-scale=1.0"</a:t>
            </a:r>
            <a:r>
              <a:rPr sz="1600">
                <a:solidFill>
                  <a:srgbClr val="808080"/>
                </a:solidFill>
                <a:latin typeface="Consolas"/>
              </a:rPr>
              <a:t>&gt;</a:t>
            </a:r>
          </a:p>
          <a:p>
            <a:pPr algn="l">
              <a:lnSpc>
                <a:spcPct val="100000"/>
              </a:lnSpc>
              <a:spcBef>
                <a:spcPts val="0"/>
              </a:spcBef>
              <a:spcAft>
                <a:spcPts val="0"/>
              </a:spcAft>
            </a:pPr>
            <a:r>
              <a:rPr sz="1600">
                <a:solidFill>
                  <a:srgbClr val="D4D4D4"/>
                </a:solidFill>
                <a:latin typeface="Consolas"/>
              </a:rPr>
              <a:t>        </a:t>
            </a:r>
            <a:r>
              <a:rPr sz="1600">
                <a:solidFill>
                  <a:srgbClr val="808080"/>
                </a:solidFill>
                <a:latin typeface="Consolas"/>
              </a:rPr>
              <a:t>&lt;</a:t>
            </a:r>
            <a:r>
              <a:rPr sz="1600">
                <a:solidFill>
                  <a:srgbClr val="569CD6"/>
                </a:solidFill>
                <a:latin typeface="Consolas"/>
              </a:rPr>
              <a:t>title</a:t>
            </a:r>
            <a:r>
              <a:rPr sz="1600">
                <a:solidFill>
                  <a:srgbClr val="808080"/>
                </a:solidFill>
                <a:latin typeface="Consolas"/>
              </a:rPr>
              <a:t>&gt;</a:t>
            </a:r>
            <a:r>
              <a:rPr sz="1600">
                <a:solidFill>
                  <a:srgbClr val="D4D4D4"/>
                </a:solidFill>
                <a:latin typeface="Consolas"/>
              </a:rPr>
              <a:t>Example</a:t>
            </a:r>
            <a:r>
              <a:rPr sz="1600">
                <a:solidFill>
                  <a:srgbClr val="808080"/>
                </a:solidFill>
                <a:latin typeface="Consolas"/>
              </a:rPr>
              <a:t>&lt;/</a:t>
            </a:r>
            <a:r>
              <a:rPr sz="1600">
                <a:solidFill>
                  <a:srgbClr val="569CD6"/>
                </a:solidFill>
                <a:latin typeface="Consolas"/>
              </a:rPr>
              <a:t>title</a:t>
            </a:r>
            <a:r>
              <a:rPr sz="1600">
                <a:solidFill>
                  <a:srgbClr val="808080"/>
                </a:solidFill>
                <a:latin typeface="Consolas"/>
              </a:rPr>
              <a:t>&gt;</a:t>
            </a:r>
          </a:p>
          <a:p>
            <a:pPr algn="l">
              <a:lnSpc>
                <a:spcPct val="100000"/>
              </a:lnSpc>
              <a:spcBef>
                <a:spcPts val="0"/>
              </a:spcBef>
              <a:spcAft>
                <a:spcPts val="0"/>
              </a:spcAft>
            </a:pPr>
            <a:r>
              <a:rPr sz="1600">
                <a:solidFill>
                  <a:srgbClr val="D4D4D4"/>
                </a:solidFill>
                <a:latin typeface="Consolas"/>
              </a:rPr>
              <a:t>    </a:t>
            </a:r>
            <a:r>
              <a:rPr sz="1600">
                <a:solidFill>
                  <a:srgbClr val="808080"/>
                </a:solidFill>
                <a:latin typeface="Consolas"/>
              </a:rPr>
              <a:t>&lt;/</a:t>
            </a:r>
            <a:r>
              <a:rPr sz="1600">
                <a:solidFill>
                  <a:srgbClr val="569CD6"/>
                </a:solidFill>
                <a:latin typeface="Consolas"/>
              </a:rPr>
              <a:t>head</a:t>
            </a:r>
            <a:r>
              <a:rPr sz="1600">
                <a:solidFill>
                  <a:srgbClr val="808080"/>
                </a:solidFill>
                <a:latin typeface="Consolas"/>
              </a:rPr>
              <a:t>&gt;</a:t>
            </a:r>
          </a:p>
          <a:p>
            <a:pPr algn="l">
              <a:lnSpc>
                <a:spcPct val="100000"/>
              </a:lnSpc>
              <a:spcBef>
                <a:spcPts val="0"/>
              </a:spcBef>
              <a:spcAft>
                <a:spcPts val="0"/>
              </a:spcAft>
            </a:pPr>
            <a:r>
              <a:rPr sz="1600">
                <a:solidFill>
                  <a:srgbClr val="D4D4D4"/>
                </a:solidFill>
                <a:latin typeface="Consolas"/>
              </a:rPr>
              <a:t>    </a:t>
            </a:r>
            <a:r>
              <a:rPr sz="1600">
                <a:solidFill>
                  <a:srgbClr val="808080"/>
                </a:solidFill>
                <a:latin typeface="Consolas"/>
              </a:rPr>
              <a:t>&lt;</a:t>
            </a:r>
            <a:r>
              <a:rPr sz="1600">
                <a:solidFill>
                  <a:srgbClr val="569CD6"/>
                </a:solidFill>
                <a:latin typeface="Consolas"/>
              </a:rPr>
              <a:t>body</a:t>
            </a:r>
            <a:r>
              <a:rPr sz="1600">
                <a:solidFill>
                  <a:srgbClr val="808080"/>
                </a:solidFill>
                <a:latin typeface="Consolas"/>
              </a:rPr>
              <a:t>&gt;</a:t>
            </a:r>
            <a:r>
              <a:rPr sz="1600">
                <a:solidFill>
                  <a:srgbClr val="D4D4D4"/>
                </a:solidFill>
                <a:latin typeface="Consolas"/>
              </a:rPr>
              <a:t> </a:t>
            </a:r>
          </a:p>
          <a:p>
            <a:pPr algn="l">
              <a:lnSpc>
                <a:spcPct val="100000"/>
              </a:lnSpc>
              <a:spcBef>
                <a:spcPts val="0"/>
              </a:spcBef>
              <a:spcAft>
                <a:spcPts val="0"/>
              </a:spcAft>
            </a:pPr>
            <a:r>
              <a:rPr sz="1600">
                <a:solidFill>
                  <a:srgbClr val="D4D4D4"/>
                </a:solidFill>
                <a:latin typeface="Consolas"/>
              </a:rPr>
              <a:t> </a:t>
            </a:r>
          </a:p>
          <a:p>
            <a:pPr algn="l">
              <a:lnSpc>
                <a:spcPct val="100000"/>
              </a:lnSpc>
              <a:spcBef>
                <a:spcPts val="0"/>
              </a:spcBef>
              <a:spcAft>
                <a:spcPts val="0"/>
              </a:spcAft>
            </a:pPr>
            <a:r>
              <a:rPr sz="1600">
                <a:solidFill>
                  <a:srgbClr val="D4D4D4"/>
                </a:solidFill>
                <a:latin typeface="Consolas"/>
              </a:rPr>
              <a:t>        </a:t>
            </a:r>
            <a:r>
              <a:rPr sz="1600">
                <a:solidFill>
                  <a:srgbClr val="808080"/>
                </a:solidFill>
                <a:latin typeface="Consolas"/>
              </a:rPr>
              <a:t>&lt;</a:t>
            </a:r>
            <a:r>
              <a:rPr sz="1600">
                <a:solidFill>
                  <a:srgbClr val="569CD6"/>
                </a:solidFill>
                <a:latin typeface="Consolas"/>
              </a:rPr>
              <a:t>h1</a:t>
            </a:r>
            <a:r>
              <a:rPr sz="1600">
                <a:solidFill>
                  <a:srgbClr val="808080"/>
                </a:solidFill>
                <a:latin typeface="Consolas"/>
              </a:rPr>
              <a:t>&gt;</a:t>
            </a:r>
            <a:r>
              <a:rPr sz="1600">
                <a:solidFill>
                  <a:srgbClr val="D4D4D4"/>
                </a:solidFill>
                <a:latin typeface="Consolas"/>
              </a:rPr>
              <a:t>First-Level Heading</a:t>
            </a:r>
            <a:r>
              <a:rPr sz="1600">
                <a:solidFill>
                  <a:srgbClr val="808080"/>
                </a:solidFill>
                <a:latin typeface="Consolas"/>
              </a:rPr>
              <a:t>&lt;/</a:t>
            </a:r>
            <a:r>
              <a:rPr sz="1600">
                <a:solidFill>
                  <a:srgbClr val="569CD6"/>
                </a:solidFill>
                <a:latin typeface="Consolas"/>
              </a:rPr>
              <a:t>h1</a:t>
            </a:r>
            <a:r>
              <a:rPr sz="1600">
                <a:solidFill>
                  <a:srgbClr val="808080"/>
                </a:solidFill>
                <a:latin typeface="Consolas"/>
              </a:rPr>
              <a:t>&gt;</a:t>
            </a:r>
          </a:p>
          <a:p>
            <a:pPr algn="l">
              <a:lnSpc>
                <a:spcPct val="100000"/>
              </a:lnSpc>
              <a:spcBef>
                <a:spcPts val="0"/>
              </a:spcBef>
              <a:spcAft>
                <a:spcPts val="0"/>
              </a:spcAft>
            </a:pPr>
            <a:r>
              <a:rPr sz="1600">
                <a:solidFill>
                  <a:srgbClr val="D4D4D4"/>
                </a:solidFill>
                <a:latin typeface="Consolas"/>
              </a:rPr>
              <a:t>        </a:t>
            </a:r>
            <a:r>
              <a:rPr sz="1600">
                <a:solidFill>
                  <a:srgbClr val="808080"/>
                </a:solidFill>
                <a:latin typeface="Consolas"/>
              </a:rPr>
              <a:t>&lt;</a:t>
            </a:r>
            <a:r>
              <a:rPr sz="1600">
                <a:solidFill>
                  <a:srgbClr val="569CD6"/>
                </a:solidFill>
                <a:latin typeface="Consolas"/>
              </a:rPr>
              <a:t>h2</a:t>
            </a:r>
            <a:r>
              <a:rPr sz="1600">
                <a:solidFill>
                  <a:srgbClr val="808080"/>
                </a:solidFill>
                <a:latin typeface="Consolas"/>
              </a:rPr>
              <a:t>&gt;</a:t>
            </a:r>
            <a:r>
              <a:rPr sz="1600">
                <a:solidFill>
                  <a:srgbClr val="D4D4D4"/>
                </a:solidFill>
                <a:latin typeface="Consolas"/>
              </a:rPr>
              <a:t>Second-Level Heading</a:t>
            </a:r>
            <a:r>
              <a:rPr sz="1600">
                <a:solidFill>
                  <a:srgbClr val="808080"/>
                </a:solidFill>
                <a:latin typeface="Consolas"/>
              </a:rPr>
              <a:t>&lt;/</a:t>
            </a:r>
            <a:r>
              <a:rPr sz="1600">
                <a:solidFill>
                  <a:srgbClr val="569CD6"/>
                </a:solidFill>
                <a:latin typeface="Consolas"/>
              </a:rPr>
              <a:t>h2</a:t>
            </a:r>
            <a:r>
              <a:rPr sz="1600">
                <a:solidFill>
                  <a:srgbClr val="808080"/>
                </a:solidFill>
                <a:latin typeface="Consolas"/>
              </a:rPr>
              <a:t>&gt;</a:t>
            </a:r>
          </a:p>
          <a:p>
            <a:pPr algn="l">
              <a:lnSpc>
                <a:spcPct val="100000"/>
              </a:lnSpc>
              <a:spcBef>
                <a:spcPts val="0"/>
              </a:spcBef>
              <a:spcAft>
                <a:spcPts val="0"/>
              </a:spcAft>
            </a:pPr>
            <a:r>
              <a:rPr sz="1600">
                <a:solidFill>
                  <a:srgbClr val="D4D4D4"/>
                </a:solidFill>
                <a:latin typeface="Consolas"/>
              </a:rPr>
              <a:t>        </a:t>
            </a:r>
            <a:r>
              <a:rPr sz="1600">
                <a:solidFill>
                  <a:srgbClr val="808080"/>
                </a:solidFill>
                <a:latin typeface="Consolas"/>
              </a:rPr>
              <a:t>&lt;</a:t>
            </a:r>
            <a:r>
              <a:rPr sz="1600">
                <a:solidFill>
                  <a:srgbClr val="569CD6"/>
                </a:solidFill>
                <a:latin typeface="Consolas"/>
              </a:rPr>
              <a:t>h3</a:t>
            </a:r>
            <a:r>
              <a:rPr sz="1600">
                <a:solidFill>
                  <a:srgbClr val="808080"/>
                </a:solidFill>
                <a:latin typeface="Consolas"/>
              </a:rPr>
              <a:t>&gt;</a:t>
            </a:r>
            <a:r>
              <a:rPr sz="1600">
                <a:solidFill>
                  <a:srgbClr val="D4D4D4"/>
                </a:solidFill>
                <a:latin typeface="Consolas"/>
              </a:rPr>
              <a:t>Third-Level Heading</a:t>
            </a:r>
            <a:r>
              <a:rPr sz="1600">
                <a:solidFill>
                  <a:srgbClr val="808080"/>
                </a:solidFill>
                <a:latin typeface="Consolas"/>
              </a:rPr>
              <a:t>&lt;/</a:t>
            </a:r>
            <a:r>
              <a:rPr sz="1600">
                <a:solidFill>
                  <a:srgbClr val="569CD6"/>
                </a:solidFill>
                <a:latin typeface="Consolas"/>
              </a:rPr>
              <a:t>h3</a:t>
            </a:r>
            <a:r>
              <a:rPr sz="1600">
                <a:solidFill>
                  <a:srgbClr val="808080"/>
                </a:solidFill>
                <a:latin typeface="Consolas"/>
              </a:rPr>
              <a:t>&gt;</a:t>
            </a:r>
          </a:p>
          <a:p>
            <a:pPr algn="l">
              <a:lnSpc>
                <a:spcPct val="100000"/>
              </a:lnSpc>
              <a:spcBef>
                <a:spcPts val="0"/>
              </a:spcBef>
              <a:spcAft>
                <a:spcPts val="0"/>
              </a:spcAft>
            </a:pPr>
            <a:r>
              <a:rPr sz="1600">
                <a:solidFill>
                  <a:srgbClr val="D4D4D4"/>
                </a:solidFill>
                <a:latin typeface="Consolas"/>
              </a:rPr>
              <a:t>        </a:t>
            </a:r>
            <a:r>
              <a:rPr sz="1600">
                <a:solidFill>
                  <a:srgbClr val="808080"/>
                </a:solidFill>
                <a:latin typeface="Consolas"/>
              </a:rPr>
              <a:t>&lt;</a:t>
            </a:r>
            <a:r>
              <a:rPr sz="1600">
                <a:solidFill>
                  <a:srgbClr val="569CD6"/>
                </a:solidFill>
                <a:latin typeface="Consolas"/>
              </a:rPr>
              <a:t>h4</a:t>
            </a:r>
            <a:r>
              <a:rPr sz="1600">
                <a:solidFill>
                  <a:srgbClr val="808080"/>
                </a:solidFill>
                <a:latin typeface="Consolas"/>
              </a:rPr>
              <a:t>&gt;</a:t>
            </a:r>
            <a:r>
              <a:rPr sz="1600">
                <a:solidFill>
                  <a:srgbClr val="D4D4D4"/>
                </a:solidFill>
                <a:latin typeface="Consolas"/>
              </a:rPr>
              <a:t>Fourth-Level Heading</a:t>
            </a:r>
            <a:r>
              <a:rPr sz="1600">
                <a:solidFill>
                  <a:srgbClr val="808080"/>
                </a:solidFill>
                <a:latin typeface="Consolas"/>
              </a:rPr>
              <a:t>&lt;/</a:t>
            </a:r>
            <a:r>
              <a:rPr sz="1600">
                <a:solidFill>
                  <a:srgbClr val="569CD6"/>
                </a:solidFill>
                <a:latin typeface="Consolas"/>
              </a:rPr>
              <a:t>h4</a:t>
            </a:r>
            <a:r>
              <a:rPr sz="1600">
                <a:solidFill>
                  <a:srgbClr val="808080"/>
                </a:solidFill>
                <a:latin typeface="Consolas"/>
              </a:rPr>
              <a:t>&gt;</a:t>
            </a:r>
          </a:p>
          <a:p>
            <a:pPr algn="l">
              <a:lnSpc>
                <a:spcPct val="100000"/>
              </a:lnSpc>
              <a:spcBef>
                <a:spcPts val="0"/>
              </a:spcBef>
              <a:spcAft>
                <a:spcPts val="0"/>
              </a:spcAft>
            </a:pPr>
            <a:r>
              <a:rPr sz="1600">
                <a:solidFill>
                  <a:srgbClr val="D4D4D4"/>
                </a:solidFill>
                <a:latin typeface="Consolas"/>
              </a:rPr>
              <a:t>        </a:t>
            </a:r>
            <a:r>
              <a:rPr sz="1600">
                <a:solidFill>
                  <a:srgbClr val="808080"/>
                </a:solidFill>
                <a:latin typeface="Consolas"/>
              </a:rPr>
              <a:t>&lt;</a:t>
            </a:r>
            <a:r>
              <a:rPr sz="1600">
                <a:solidFill>
                  <a:srgbClr val="569CD6"/>
                </a:solidFill>
                <a:latin typeface="Consolas"/>
              </a:rPr>
              <a:t>h5</a:t>
            </a:r>
            <a:r>
              <a:rPr sz="1600">
                <a:solidFill>
                  <a:srgbClr val="808080"/>
                </a:solidFill>
                <a:latin typeface="Consolas"/>
              </a:rPr>
              <a:t>&gt;</a:t>
            </a:r>
            <a:r>
              <a:rPr sz="1600">
                <a:solidFill>
                  <a:srgbClr val="D4D4D4"/>
                </a:solidFill>
                <a:latin typeface="Consolas"/>
              </a:rPr>
              <a:t>Fifth-Level Heading</a:t>
            </a:r>
            <a:r>
              <a:rPr sz="1600">
                <a:solidFill>
                  <a:srgbClr val="808080"/>
                </a:solidFill>
                <a:latin typeface="Consolas"/>
              </a:rPr>
              <a:t>&lt;/</a:t>
            </a:r>
            <a:r>
              <a:rPr sz="1600">
                <a:solidFill>
                  <a:srgbClr val="569CD6"/>
                </a:solidFill>
                <a:latin typeface="Consolas"/>
              </a:rPr>
              <a:t>h5</a:t>
            </a:r>
            <a:r>
              <a:rPr sz="1600">
                <a:solidFill>
                  <a:srgbClr val="808080"/>
                </a:solidFill>
                <a:latin typeface="Consolas"/>
              </a:rPr>
              <a:t>&gt;</a:t>
            </a:r>
          </a:p>
          <a:p>
            <a:pPr algn="l">
              <a:lnSpc>
                <a:spcPct val="100000"/>
              </a:lnSpc>
              <a:spcBef>
                <a:spcPts val="0"/>
              </a:spcBef>
              <a:spcAft>
                <a:spcPts val="0"/>
              </a:spcAft>
            </a:pPr>
            <a:r>
              <a:rPr sz="1600">
                <a:solidFill>
                  <a:srgbClr val="D4D4D4"/>
                </a:solidFill>
                <a:latin typeface="Consolas"/>
              </a:rPr>
              <a:t>        </a:t>
            </a:r>
            <a:r>
              <a:rPr sz="1600">
                <a:solidFill>
                  <a:srgbClr val="808080"/>
                </a:solidFill>
                <a:latin typeface="Consolas"/>
              </a:rPr>
              <a:t>&lt;</a:t>
            </a:r>
            <a:r>
              <a:rPr sz="1600">
                <a:solidFill>
                  <a:srgbClr val="569CD6"/>
                </a:solidFill>
                <a:latin typeface="Consolas"/>
              </a:rPr>
              <a:t>h6</a:t>
            </a:r>
            <a:r>
              <a:rPr sz="1600">
                <a:solidFill>
                  <a:srgbClr val="808080"/>
                </a:solidFill>
                <a:latin typeface="Consolas"/>
              </a:rPr>
              <a:t>&gt;</a:t>
            </a:r>
            <a:r>
              <a:rPr sz="1600">
                <a:solidFill>
                  <a:srgbClr val="D4D4D4"/>
                </a:solidFill>
                <a:latin typeface="Consolas"/>
              </a:rPr>
              <a:t>Sixth-Level Heading</a:t>
            </a:r>
            <a:r>
              <a:rPr sz="1600">
                <a:solidFill>
                  <a:srgbClr val="808080"/>
                </a:solidFill>
                <a:latin typeface="Consolas"/>
              </a:rPr>
              <a:t>&lt;/</a:t>
            </a:r>
            <a:r>
              <a:rPr sz="1600">
                <a:solidFill>
                  <a:srgbClr val="569CD6"/>
                </a:solidFill>
                <a:latin typeface="Consolas"/>
              </a:rPr>
              <a:t>h6</a:t>
            </a:r>
            <a:r>
              <a:rPr sz="1600">
                <a:solidFill>
                  <a:srgbClr val="808080"/>
                </a:solidFill>
                <a:latin typeface="Consolas"/>
              </a:rPr>
              <a:t>&gt;</a:t>
            </a:r>
          </a:p>
          <a:p>
            <a:pPr algn="l">
              <a:lnSpc>
                <a:spcPct val="100000"/>
              </a:lnSpc>
              <a:spcBef>
                <a:spcPts val="0"/>
              </a:spcBef>
              <a:spcAft>
                <a:spcPts val="0"/>
              </a:spcAft>
            </a:pPr>
            <a:r>
              <a:rPr sz="1600">
                <a:solidFill>
                  <a:srgbClr val="D4D4D4"/>
                </a:solidFill>
                <a:latin typeface="Consolas"/>
              </a:rPr>
              <a:t> </a:t>
            </a:r>
          </a:p>
          <a:p>
            <a:pPr algn="l">
              <a:lnSpc>
                <a:spcPct val="100000"/>
              </a:lnSpc>
              <a:spcBef>
                <a:spcPts val="0"/>
              </a:spcBef>
              <a:spcAft>
                <a:spcPts val="0"/>
              </a:spcAft>
            </a:pPr>
            <a:r>
              <a:rPr sz="1600">
                <a:solidFill>
                  <a:srgbClr val="D4D4D4"/>
                </a:solidFill>
                <a:latin typeface="Consolas"/>
              </a:rPr>
              <a:t>    </a:t>
            </a:r>
            <a:r>
              <a:rPr sz="1600">
                <a:solidFill>
                  <a:srgbClr val="808080"/>
                </a:solidFill>
                <a:latin typeface="Consolas"/>
              </a:rPr>
              <a:t>&lt;/</a:t>
            </a:r>
            <a:r>
              <a:rPr sz="1600">
                <a:solidFill>
                  <a:srgbClr val="569CD6"/>
                </a:solidFill>
                <a:latin typeface="Consolas"/>
              </a:rPr>
              <a:t>body</a:t>
            </a:r>
            <a:r>
              <a:rPr sz="1600">
                <a:solidFill>
                  <a:srgbClr val="808080"/>
                </a:solidFill>
                <a:latin typeface="Consolas"/>
              </a:rPr>
              <a:t>&gt;</a:t>
            </a:r>
            <a:r>
              <a:rPr sz="1600">
                <a:solidFill>
                  <a:srgbClr val="D4D4D4"/>
                </a:solidFill>
                <a:latin typeface="Consolas"/>
              </a:rPr>
              <a:t> </a:t>
            </a:r>
          </a:p>
          <a:p>
            <a:pPr algn="l">
              <a:lnSpc>
                <a:spcPct val="100000"/>
              </a:lnSpc>
              <a:spcBef>
                <a:spcPts val="0"/>
              </a:spcBef>
              <a:spcAft>
                <a:spcPts val="0"/>
              </a:spcAft>
            </a:pPr>
            <a:r>
              <a:rPr sz="1600">
                <a:solidFill>
                  <a:srgbClr val="808080"/>
                </a:solidFill>
                <a:latin typeface="Consolas"/>
              </a:rPr>
              <a:t>&lt;/</a:t>
            </a:r>
            <a:r>
              <a:rPr sz="1600">
                <a:solidFill>
                  <a:srgbClr val="569CD6"/>
                </a:solidFill>
                <a:latin typeface="Consolas"/>
              </a:rPr>
              <a:t>html</a:t>
            </a:r>
            <a:r>
              <a:rPr sz="1600">
                <a:solidFill>
                  <a:srgbClr val="808080"/>
                </a:solidFill>
                <a:latin typeface="Consolas"/>
              </a:rPr>
              <a:t>&gt;</a:t>
            </a:r>
          </a:p>
        </p:txBody>
      </p:sp>
      <p:sp>
        <p:nvSpPr>
          <p:cNvPr id="7" name="TextBox 6"/>
          <p:cNvSpPr txBox="1"/>
          <p:nvPr/>
        </p:nvSpPr>
        <p:spPr>
          <a:xfrm>
            <a:off x="502920" y="6473952"/>
            <a:ext cx="10058400" cy="320040"/>
          </a:xfrm>
          <a:prstGeom prst="rect">
            <a:avLst/>
          </a:prstGeom>
          <a:noFill/>
        </p:spPr>
        <p:txBody>
          <a:bodyPr wrap="none">
            <a:spAutoFit/>
          </a:bodyPr>
          <a:lstStyle/>
          <a:p>
            <a:r>
              <a:rPr sz="1100">
                <a:solidFill>
                  <a:srgbClr val="6B7480"/>
                </a:solidFill>
                <a:latin typeface="Calibri"/>
              </a:rPr>
              <a:t>WEBD 1000 — HTML Examples Review   ·   01_headings_example.html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EB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19456"/>
            <a:ext cx="11155680" cy="502920"/>
          </a:xfrm>
          <a:prstGeom prst="rect">
            <a:avLst/>
          </a:prstGeom>
          <a:noFill/>
        </p:spPr>
        <p:txBody>
          <a:bodyPr wrap="square">
            <a:spAutoFit/>
          </a:bodyPr>
          <a:lstStyle/>
          <a:p>
            <a:r>
              <a:rPr sz="2800" b="1">
                <a:solidFill>
                  <a:srgbClr val="1B2A4A"/>
                </a:solidFill>
                <a:latin typeface="Calibri"/>
              </a:rPr>
              <a:t>Example 02  Emphasis &amp; Italic</a:t>
            </a:r>
          </a:p>
        </p:txBody>
      </p:sp>
      <p:sp>
        <p:nvSpPr>
          <p:cNvPr id="4" name="TextBox 3"/>
          <p:cNvSpPr txBox="1"/>
          <p:nvPr/>
        </p:nvSpPr>
        <p:spPr>
          <a:xfrm>
            <a:off x="530352" y="713232"/>
            <a:ext cx="11155680" cy="292608"/>
          </a:xfrm>
          <a:prstGeom prst="rect">
            <a:avLst/>
          </a:prstGeom>
          <a:noFill/>
        </p:spPr>
        <p:txBody>
          <a:bodyPr wrap="square">
            <a:spAutoFit/>
          </a:bodyPr>
          <a:lstStyle/>
          <a:p>
            <a:r>
              <a:rPr sz="1400" i="1">
                <a:solidFill>
                  <a:srgbClr val="6B7480"/>
                </a:solidFill>
                <a:latin typeface="Calibri"/>
              </a:rPr>
              <a:t>&lt;em&gt; (semantic emphasis) vs. &lt;i&gt; (presentational italic)</a:t>
            </a:r>
          </a:p>
        </p:txBody>
      </p:sp>
      <p:sp>
        <p:nvSpPr>
          <p:cNvPr id="5" name="TextBox 4"/>
          <p:cNvSpPr txBox="1"/>
          <p:nvPr/>
        </p:nvSpPr>
        <p:spPr>
          <a:xfrm>
            <a:off x="530352" y="1005840"/>
            <a:ext cx="11155680" cy="566928"/>
          </a:xfrm>
          <a:prstGeom prst="rect">
            <a:avLst/>
          </a:prstGeom>
          <a:noFill/>
        </p:spPr>
        <p:txBody>
          <a:bodyPr wrap="square">
            <a:spAutoFit/>
          </a:bodyPr>
          <a:lstStyle/>
          <a:p>
            <a:r>
              <a:rPr sz="1450">
                <a:solidFill>
                  <a:srgbClr val="333D4B"/>
                </a:solidFill>
                <a:latin typeface="Calibri"/>
              </a:rPr>
              <a:t>The &lt;em&gt; tag marks text with extra emphasis — browsers render it in italics, and screen readers may change their tone of voice to match. The &lt;i&gt; tag also renders as italic, but carries no special meaning; it's typically used for terms, titles, or foreign words.</a:t>
            </a:r>
          </a:p>
        </p:txBody>
      </p:sp>
      <p:sp>
        <p:nvSpPr>
          <p:cNvPr id="6" name="Rounded Rectangle 5"/>
          <p:cNvSpPr/>
          <p:nvPr/>
        </p:nvSpPr>
        <p:spPr>
          <a:xfrm>
            <a:off x="502920" y="1645920"/>
            <a:ext cx="11183112" cy="4709160"/>
          </a:xfrm>
          <a:prstGeom prst="roundRect">
            <a:avLst>
              <a:gd name="adj" fmla="val 3000"/>
            </a:avLst>
          </a:prstGeom>
          <a:solidFill>
            <a:srgbClr val="1E1E1E"/>
          </a:solidFill>
          <a:ln w="12700">
            <a:solidFill>
              <a:srgbClr val="3C3C3C"/>
            </a:solidFill>
          </a:ln>
          <a:effectLst/>
        </p:spPr>
        <p:style>
          <a:lnRef idx="1">
            <a:schemeClr val="accent1"/>
          </a:lnRef>
          <a:fillRef idx="3">
            <a:schemeClr val="accent1"/>
          </a:fillRef>
          <a:effectRef idx="2">
            <a:schemeClr val="accent1"/>
          </a:effectRef>
          <a:fontRef idx="minor">
            <a:schemeClr val="lt1"/>
          </a:fontRef>
        </p:style>
        <p:txBody>
          <a:bodyPr wrap="square" lIns="201168" tIns="146304" rIns="201168" bIns="146304" rtlCol="0" anchor="t">
            <a:noAutofit/>
          </a:bodyPr>
          <a:lstStyle/>
          <a:p>
            <a:pPr algn="l">
              <a:lnSpc>
                <a:spcPct val="100000"/>
              </a:lnSpc>
              <a:spcBef>
                <a:spcPts val="0"/>
              </a:spcBef>
              <a:spcAft>
                <a:spcPts val="0"/>
              </a:spcAft>
            </a:pPr>
            <a:r>
              <a:rPr sz="1900">
                <a:solidFill>
                  <a:srgbClr val="808080"/>
                </a:solidFill>
                <a:latin typeface="Consolas"/>
              </a:rPr>
              <a:t>&lt;!DOCTYPE html&gt;</a:t>
            </a:r>
            <a:r>
              <a:rPr sz="1900">
                <a:solidFill>
                  <a:srgbClr val="D4D4D4"/>
                </a:solidFill>
                <a:latin typeface="Consolas"/>
              </a:rPr>
              <a:t> </a:t>
            </a:r>
          </a:p>
          <a:p>
            <a:pPr algn="l">
              <a:lnSpc>
                <a:spcPct val="100000"/>
              </a:lnSpc>
              <a:spcBef>
                <a:spcPts val="0"/>
              </a:spcBef>
              <a:spcAft>
                <a:spcPts val="0"/>
              </a:spcAft>
            </a:pPr>
            <a:r>
              <a:rPr sz="1900">
                <a:solidFill>
                  <a:srgbClr val="808080"/>
                </a:solidFill>
                <a:latin typeface="Consolas"/>
              </a:rPr>
              <a:t>&lt;</a:t>
            </a:r>
            <a:r>
              <a:rPr sz="1900">
                <a:solidFill>
                  <a:srgbClr val="569CD6"/>
                </a:solidFill>
                <a:latin typeface="Consolas"/>
              </a:rPr>
              <a:t>html</a:t>
            </a:r>
            <a:r>
              <a:rPr sz="1900">
                <a:solidFill>
                  <a:srgbClr val="D4D4D4"/>
                </a:solidFill>
                <a:latin typeface="Consolas"/>
              </a:rPr>
              <a:t> </a:t>
            </a:r>
            <a:r>
              <a:rPr sz="1900">
                <a:solidFill>
                  <a:srgbClr val="9CDCFE"/>
                </a:solidFill>
                <a:latin typeface="Consolas"/>
              </a:rPr>
              <a:t>lang</a:t>
            </a:r>
            <a:r>
              <a:rPr sz="1900">
                <a:solidFill>
                  <a:srgbClr val="D4D4D4"/>
                </a:solidFill>
                <a:latin typeface="Consolas"/>
              </a:rPr>
              <a:t>=</a:t>
            </a:r>
            <a:r>
              <a:rPr sz="1900">
                <a:solidFill>
                  <a:srgbClr val="CE9178"/>
                </a:solidFill>
                <a:latin typeface="Consolas"/>
              </a:rPr>
              <a:t>"en"</a:t>
            </a:r>
            <a:r>
              <a:rPr sz="1900">
                <a:solidFill>
                  <a:srgbClr val="808080"/>
                </a:solidFill>
                <a:latin typeface="Consolas"/>
              </a:rPr>
              <a:t>&gt;</a:t>
            </a:r>
            <a:r>
              <a:rPr sz="1900">
                <a:solidFill>
                  <a:srgbClr val="D4D4D4"/>
                </a:solidFill>
                <a:latin typeface="Consolas"/>
              </a:rPr>
              <a:t> </a:t>
            </a:r>
          </a:p>
          <a:p>
            <a:pPr algn="l">
              <a:lnSpc>
                <a:spcPct val="100000"/>
              </a:lnSpc>
              <a:spcBef>
                <a:spcPts val="0"/>
              </a:spcBef>
              <a:spcAft>
                <a:spcPts val="0"/>
              </a:spcAft>
            </a:pPr>
            <a:r>
              <a:rPr sz="1900">
                <a:solidFill>
                  <a:srgbClr val="D4D4D4"/>
                </a:solidFill>
                <a:latin typeface="Consolas"/>
              </a:rPr>
              <a:t>    </a:t>
            </a:r>
            <a:r>
              <a:rPr sz="1900">
                <a:solidFill>
                  <a:srgbClr val="808080"/>
                </a:solidFill>
                <a:latin typeface="Consolas"/>
              </a:rPr>
              <a:t>&lt;</a:t>
            </a:r>
            <a:r>
              <a:rPr sz="1900">
                <a:solidFill>
                  <a:srgbClr val="569CD6"/>
                </a:solidFill>
                <a:latin typeface="Consolas"/>
              </a:rPr>
              <a:t>head</a:t>
            </a:r>
            <a:r>
              <a:rPr sz="1900">
                <a:solidFill>
                  <a:srgbClr val="808080"/>
                </a:solidFill>
                <a:latin typeface="Consolas"/>
              </a:rPr>
              <a:t>&gt;</a:t>
            </a:r>
            <a:r>
              <a:rPr sz="1900">
                <a:solidFill>
                  <a:srgbClr val="D4D4D4"/>
                </a:solidFill>
                <a:latin typeface="Consolas"/>
              </a:rPr>
              <a:t> </a:t>
            </a:r>
          </a:p>
          <a:p>
            <a:pPr algn="l">
              <a:lnSpc>
                <a:spcPct val="100000"/>
              </a:lnSpc>
              <a:spcBef>
                <a:spcPts val="0"/>
              </a:spcBef>
              <a:spcAft>
                <a:spcPts val="0"/>
              </a:spcAft>
            </a:pPr>
            <a:r>
              <a:rPr sz="1900">
                <a:solidFill>
                  <a:srgbClr val="D4D4D4"/>
                </a:solidFill>
                <a:latin typeface="Consolas"/>
              </a:rPr>
              <a:t>        </a:t>
            </a:r>
            <a:r>
              <a:rPr sz="1900">
                <a:solidFill>
                  <a:srgbClr val="808080"/>
                </a:solidFill>
                <a:latin typeface="Consolas"/>
              </a:rPr>
              <a:t>&lt;</a:t>
            </a:r>
            <a:r>
              <a:rPr sz="1900">
                <a:solidFill>
                  <a:srgbClr val="569CD6"/>
                </a:solidFill>
                <a:latin typeface="Consolas"/>
              </a:rPr>
              <a:t>meta</a:t>
            </a:r>
            <a:r>
              <a:rPr sz="1900">
                <a:solidFill>
                  <a:srgbClr val="D4D4D4"/>
                </a:solidFill>
                <a:latin typeface="Consolas"/>
              </a:rPr>
              <a:t> </a:t>
            </a:r>
            <a:r>
              <a:rPr sz="1900">
                <a:solidFill>
                  <a:srgbClr val="9CDCFE"/>
                </a:solidFill>
                <a:latin typeface="Consolas"/>
              </a:rPr>
              <a:t>charset</a:t>
            </a:r>
            <a:r>
              <a:rPr sz="1900">
                <a:solidFill>
                  <a:srgbClr val="D4D4D4"/>
                </a:solidFill>
                <a:latin typeface="Consolas"/>
              </a:rPr>
              <a:t>=</a:t>
            </a:r>
            <a:r>
              <a:rPr sz="1900">
                <a:solidFill>
                  <a:srgbClr val="CE9178"/>
                </a:solidFill>
                <a:latin typeface="Consolas"/>
              </a:rPr>
              <a:t>"UTF-8"</a:t>
            </a:r>
            <a:r>
              <a:rPr sz="1900">
                <a:solidFill>
                  <a:srgbClr val="808080"/>
                </a:solidFill>
                <a:latin typeface="Consolas"/>
              </a:rPr>
              <a:t>&gt;</a:t>
            </a:r>
          </a:p>
          <a:p>
            <a:pPr algn="l">
              <a:lnSpc>
                <a:spcPct val="100000"/>
              </a:lnSpc>
              <a:spcBef>
                <a:spcPts val="0"/>
              </a:spcBef>
              <a:spcAft>
                <a:spcPts val="0"/>
              </a:spcAft>
            </a:pPr>
            <a:r>
              <a:rPr sz="1900">
                <a:solidFill>
                  <a:srgbClr val="D4D4D4"/>
                </a:solidFill>
                <a:latin typeface="Consolas"/>
              </a:rPr>
              <a:t>        </a:t>
            </a:r>
            <a:r>
              <a:rPr sz="1900">
                <a:solidFill>
                  <a:srgbClr val="808080"/>
                </a:solidFill>
                <a:latin typeface="Consolas"/>
              </a:rPr>
              <a:t>&lt;</a:t>
            </a:r>
            <a:r>
              <a:rPr sz="1900">
                <a:solidFill>
                  <a:srgbClr val="569CD6"/>
                </a:solidFill>
                <a:latin typeface="Consolas"/>
              </a:rPr>
              <a:t>meta</a:t>
            </a:r>
            <a:r>
              <a:rPr sz="1900">
                <a:solidFill>
                  <a:srgbClr val="D4D4D4"/>
                </a:solidFill>
                <a:latin typeface="Consolas"/>
              </a:rPr>
              <a:t> </a:t>
            </a:r>
            <a:r>
              <a:rPr sz="1900">
                <a:solidFill>
                  <a:srgbClr val="9CDCFE"/>
                </a:solidFill>
                <a:latin typeface="Consolas"/>
              </a:rPr>
              <a:t>name</a:t>
            </a:r>
            <a:r>
              <a:rPr sz="1900">
                <a:solidFill>
                  <a:srgbClr val="D4D4D4"/>
                </a:solidFill>
                <a:latin typeface="Consolas"/>
              </a:rPr>
              <a:t>=</a:t>
            </a:r>
            <a:r>
              <a:rPr sz="1900">
                <a:solidFill>
                  <a:srgbClr val="CE9178"/>
                </a:solidFill>
                <a:latin typeface="Consolas"/>
              </a:rPr>
              <a:t>"viewport"</a:t>
            </a:r>
            <a:r>
              <a:rPr sz="1900">
                <a:solidFill>
                  <a:srgbClr val="D4D4D4"/>
                </a:solidFill>
                <a:latin typeface="Consolas"/>
              </a:rPr>
              <a:t> </a:t>
            </a:r>
            <a:r>
              <a:rPr sz="1900">
                <a:solidFill>
                  <a:srgbClr val="9CDCFE"/>
                </a:solidFill>
                <a:latin typeface="Consolas"/>
              </a:rPr>
              <a:t>content</a:t>
            </a:r>
            <a:r>
              <a:rPr sz="1900">
                <a:solidFill>
                  <a:srgbClr val="D4D4D4"/>
                </a:solidFill>
                <a:latin typeface="Consolas"/>
              </a:rPr>
              <a:t>=</a:t>
            </a:r>
            <a:r>
              <a:rPr sz="1900">
                <a:solidFill>
                  <a:srgbClr val="CE9178"/>
                </a:solidFill>
                <a:latin typeface="Consolas"/>
              </a:rPr>
              <a:t>"width=device-width, initial-scale=1.0"</a:t>
            </a:r>
            <a:r>
              <a:rPr sz="1900">
                <a:solidFill>
                  <a:srgbClr val="808080"/>
                </a:solidFill>
                <a:latin typeface="Consolas"/>
              </a:rPr>
              <a:t>&gt;</a:t>
            </a:r>
          </a:p>
          <a:p>
            <a:pPr algn="l">
              <a:lnSpc>
                <a:spcPct val="100000"/>
              </a:lnSpc>
              <a:spcBef>
                <a:spcPts val="0"/>
              </a:spcBef>
              <a:spcAft>
                <a:spcPts val="0"/>
              </a:spcAft>
            </a:pPr>
            <a:r>
              <a:rPr sz="1900">
                <a:solidFill>
                  <a:srgbClr val="D4D4D4"/>
                </a:solidFill>
                <a:latin typeface="Consolas"/>
              </a:rPr>
              <a:t>        </a:t>
            </a:r>
            <a:r>
              <a:rPr sz="1900">
                <a:solidFill>
                  <a:srgbClr val="808080"/>
                </a:solidFill>
                <a:latin typeface="Consolas"/>
              </a:rPr>
              <a:t>&lt;</a:t>
            </a:r>
            <a:r>
              <a:rPr sz="1900">
                <a:solidFill>
                  <a:srgbClr val="569CD6"/>
                </a:solidFill>
                <a:latin typeface="Consolas"/>
              </a:rPr>
              <a:t>title</a:t>
            </a:r>
            <a:r>
              <a:rPr sz="1900">
                <a:solidFill>
                  <a:srgbClr val="808080"/>
                </a:solidFill>
                <a:latin typeface="Consolas"/>
              </a:rPr>
              <a:t>&gt;</a:t>
            </a:r>
            <a:r>
              <a:rPr sz="1900">
                <a:solidFill>
                  <a:srgbClr val="D4D4D4"/>
                </a:solidFill>
                <a:latin typeface="Consolas"/>
              </a:rPr>
              <a:t>Example</a:t>
            </a:r>
            <a:r>
              <a:rPr sz="1900">
                <a:solidFill>
                  <a:srgbClr val="808080"/>
                </a:solidFill>
                <a:latin typeface="Consolas"/>
              </a:rPr>
              <a:t>&lt;/</a:t>
            </a:r>
            <a:r>
              <a:rPr sz="1900">
                <a:solidFill>
                  <a:srgbClr val="569CD6"/>
                </a:solidFill>
                <a:latin typeface="Consolas"/>
              </a:rPr>
              <a:t>title</a:t>
            </a:r>
            <a:r>
              <a:rPr sz="1900">
                <a:solidFill>
                  <a:srgbClr val="808080"/>
                </a:solidFill>
                <a:latin typeface="Consolas"/>
              </a:rPr>
              <a:t>&gt;</a:t>
            </a:r>
            <a:r>
              <a:rPr sz="1900">
                <a:solidFill>
                  <a:srgbClr val="D4D4D4"/>
                </a:solidFill>
                <a:latin typeface="Consolas"/>
              </a:rPr>
              <a:t> </a:t>
            </a:r>
          </a:p>
          <a:p>
            <a:pPr algn="l">
              <a:lnSpc>
                <a:spcPct val="100000"/>
              </a:lnSpc>
              <a:spcBef>
                <a:spcPts val="0"/>
              </a:spcBef>
              <a:spcAft>
                <a:spcPts val="0"/>
              </a:spcAft>
            </a:pPr>
            <a:r>
              <a:rPr sz="1900">
                <a:solidFill>
                  <a:srgbClr val="D4D4D4"/>
                </a:solidFill>
                <a:latin typeface="Consolas"/>
              </a:rPr>
              <a:t>    </a:t>
            </a:r>
            <a:r>
              <a:rPr sz="1900">
                <a:solidFill>
                  <a:srgbClr val="808080"/>
                </a:solidFill>
                <a:latin typeface="Consolas"/>
              </a:rPr>
              <a:t>&lt;/</a:t>
            </a:r>
            <a:r>
              <a:rPr sz="1900">
                <a:solidFill>
                  <a:srgbClr val="569CD6"/>
                </a:solidFill>
                <a:latin typeface="Consolas"/>
              </a:rPr>
              <a:t>head</a:t>
            </a:r>
            <a:r>
              <a:rPr sz="1900">
                <a:solidFill>
                  <a:srgbClr val="808080"/>
                </a:solidFill>
                <a:latin typeface="Consolas"/>
              </a:rPr>
              <a:t>&gt;</a:t>
            </a:r>
            <a:r>
              <a:rPr sz="1900">
                <a:solidFill>
                  <a:srgbClr val="D4D4D4"/>
                </a:solidFill>
                <a:latin typeface="Consolas"/>
              </a:rPr>
              <a:t> </a:t>
            </a:r>
          </a:p>
          <a:p>
            <a:pPr algn="l">
              <a:lnSpc>
                <a:spcPct val="100000"/>
              </a:lnSpc>
              <a:spcBef>
                <a:spcPts val="0"/>
              </a:spcBef>
              <a:spcAft>
                <a:spcPts val="0"/>
              </a:spcAft>
            </a:pPr>
            <a:r>
              <a:rPr sz="1900">
                <a:solidFill>
                  <a:srgbClr val="D4D4D4"/>
                </a:solidFill>
                <a:latin typeface="Consolas"/>
              </a:rPr>
              <a:t>    </a:t>
            </a:r>
            <a:r>
              <a:rPr sz="1900">
                <a:solidFill>
                  <a:srgbClr val="808080"/>
                </a:solidFill>
                <a:latin typeface="Consolas"/>
              </a:rPr>
              <a:t>&lt;</a:t>
            </a:r>
            <a:r>
              <a:rPr sz="1900">
                <a:solidFill>
                  <a:srgbClr val="569CD6"/>
                </a:solidFill>
                <a:latin typeface="Consolas"/>
              </a:rPr>
              <a:t>body</a:t>
            </a:r>
            <a:r>
              <a:rPr sz="1900">
                <a:solidFill>
                  <a:srgbClr val="808080"/>
                </a:solidFill>
                <a:latin typeface="Consolas"/>
              </a:rPr>
              <a:t>&gt;</a:t>
            </a:r>
            <a:r>
              <a:rPr sz="1900">
                <a:solidFill>
                  <a:srgbClr val="D4D4D4"/>
                </a:solidFill>
                <a:latin typeface="Consolas"/>
              </a:rPr>
              <a:t> </a:t>
            </a:r>
          </a:p>
          <a:p>
            <a:pPr algn="l">
              <a:lnSpc>
                <a:spcPct val="100000"/>
              </a:lnSpc>
              <a:spcBef>
                <a:spcPts val="0"/>
              </a:spcBef>
              <a:spcAft>
                <a:spcPts val="0"/>
              </a:spcAft>
            </a:pPr>
            <a:r>
              <a:rPr sz="1900">
                <a:solidFill>
                  <a:srgbClr val="D4D4D4"/>
                </a:solidFill>
                <a:latin typeface="Consolas"/>
              </a:rPr>
              <a:t> </a:t>
            </a:r>
          </a:p>
          <a:p>
            <a:pPr algn="l">
              <a:lnSpc>
                <a:spcPct val="100000"/>
              </a:lnSpc>
              <a:spcBef>
                <a:spcPts val="0"/>
              </a:spcBef>
              <a:spcAft>
                <a:spcPts val="0"/>
              </a:spcAft>
            </a:pPr>
            <a:r>
              <a:rPr sz="1900">
                <a:solidFill>
                  <a:srgbClr val="D4D4D4"/>
                </a:solidFill>
                <a:latin typeface="Consolas"/>
              </a:rPr>
              <a:t>        </a:t>
            </a:r>
            <a:r>
              <a:rPr sz="1900">
                <a:solidFill>
                  <a:srgbClr val="808080"/>
                </a:solidFill>
                <a:latin typeface="Consolas"/>
              </a:rPr>
              <a:t>&lt;</a:t>
            </a:r>
            <a:r>
              <a:rPr sz="1900">
                <a:solidFill>
                  <a:srgbClr val="569CD6"/>
                </a:solidFill>
                <a:latin typeface="Consolas"/>
              </a:rPr>
              <a:t>p</a:t>
            </a:r>
            <a:r>
              <a:rPr sz="1900">
                <a:solidFill>
                  <a:srgbClr val="808080"/>
                </a:solidFill>
                <a:latin typeface="Consolas"/>
              </a:rPr>
              <a:t>&gt;</a:t>
            </a:r>
            <a:r>
              <a:rPr sz="1900">
                <a:solidFill>
                  <a:srgbClr val="D4D4D4"/>
                </a:solidFill>
                <a:latin typeface="Consolas"/>
              </a:rPr>
              <a:t>Welcome to </a:t>
            </a:r>
            <a:r>
              <a:rPr sz="1900">
                <a:solidFill>
                  <a:srgbClr val="808080"/>
                </a:solidFill>
                <a:latin typeface="Consolas"/>
              </a:rPr>
              <a:t>&lt;</a:t>
            </a:r>
            <a:r>
              <a:rPr sz="1900">
                <a:solidFill>
                  <a:srgbClr val="569CD6"/>
                </a:solidFill>
                <a:latin typeface="Consolas"/>
              </a:rPr>
              <a:t>em</a:t>
            </a:r>
            <a:r>
              <a:rPr sz="1900">
                <a:solidFill>
                  <a:srgbClr val="808080"/>
                </a:solidFill>
                <a:latin typeface="Consolas"/>
              </a:rPr>
              <a:t>&gt;</a:t>
            </a:r>
            <a:r>
              <a:rPr sz="1900">
                <a:solidFill>
                  <a:srgbClr val="D4D4D4"/>
                </a:solidFill>
                <a:latin typeface="Consolas"/>
              </a:rPr>
              <a:t>WEBD 1000</a:t>
            </a:r>
            <a:r>
              <a:rPr sz="1900">
                <a:solidFill>
                  <a:srgbClr val="808080"/>
                </a:solidFill>
                <a:latin typeface="Consolas"/>
              </a:rPr>
              <a:t>&lt;/</a:t>
            </a:r>
            <a:r>
              <a:rPr sz="1900">
                <a:solidFill>
                  <a:srgbClr val="569CD6"/>
                </a:solidFill>
                <a:latin typeface="Consolas"/>
              </a:rPr>
              <a:t>em</a:t>
            </a:r>
            <a:r>
              <a:rPr sz="1900">
                <a:solidFill>
                  <a:srgbClr val="808080"/>
                </a:solidFill>
                <a:latin typeface="Consolas"/>
              </a:rPr>
              <a:t>&gt;&lt;/</a:t>
            </a:r>
            <a:r>
              <a:rPr sz="1900">
                <a:solidFill>
                  <a:srgbClr val="569CD6"/>
                </a:solidFill>
                <a:latin typeface="Consolas"/>
              </a:rPr>
              <a:t>p</a:t>
            </a:r>
            <a:r>
              <a:rPr sz="1900">
                <a:solidFill>
                  <a:srgbClr val="808080"/>
                </a:solidFill>
                <a:latin typeface="Consolas"/>
              </a:rPr>
              <a:t>&gt;</a:t>
            </a:r>
          </a:p>
          <a:p>
            <a:pPr algn="l">
              <a:lnSpc>
                <a:spcPct val="100000"/>
              </a:lnSpc>
              <a:spcBef>
                <a:spcPts val="0"/>
              </a:spcBef>
              <a:spcAft>
                <a:spcPts val="0"/>
              </a:spcAft>
            </a:pPr>
            <a:r>
              <a:rPr sz="1900">
                <a:solidFill>
                  <a:srgbClr val="D4D4D4"/>
                </a:solidFill>
                <a:latin typeface="Consolas"/>
              </a:rPr>
              <a:t>        </a:t>
            </a:r>
            <a:r>
              <a:rPr sz="1900">
                <a:solidFill>
                  <a:srgbClr val="808080"/>
                </a:solidFill>
                <a:latin typeface="Consolas"/>
              </a:rPr>
              <a:t>&lt;</a:t>
            </a:r>
            <a:r>
              <a:rPr sz="1900">
                <a:solidFill>
                  <a:srgbClr val="569CD6"/>
                </a:solidFill>
                <a:latin typeface="Consolas"/>
              </a:rPr>
              <a:t>p</a:t>
            </a:r>
            <a:r>
              <a:rPr sz="1900">
                <a:solidFill>
                  <a:srgbClr val="808080"/>
                </a:solidFill>
                <a:latin typeface="Consolas"/>
              </a:rPr>
              <a:t>&gt;</a:t>
            </a:r>
            <a:r>
              <a:rPr sz="1900">
                <a:solidFill>
                  <a:srgbClr val="D4D4D4"/>
                </a:solidFill>
                <a:latin typeface="Consolas"/>
              </a:rPr>
              <a:t>Welcome to </a:t>
            </a:r>
            <a:r>
              <a:rPr sz="1900">
                <a:solidFill>
                  <a:srgbClr val="808080"/>
                </a:solidFill>
                <a:latin typeface="Consolas"/>
              </a:rPr>
              <a:t>&lt;</a:t>
            </a:r>
            <a:r>
              <a:rPr sz="1900">
                <a:solidFill>
                  <a:srgbClr val="569CD6"/>
                </a:solidFill>
                <a:latin typeface="Consolas"/>
              </a:rPr>
              <a:t>i</a:t>
            </a:r>
            <a:r>
              <a:rPr sz="1900">
                <a:solidFill>
                  <a:srgbClr val="808080"/>
                </a:solidFill>
                <a:latin typeface="Consolas"/>
              </a:rPr>
              <a:t>&gt;</a:t>
            </a:r>
            <a:r>
              <a:rPr sz="1900">
                <a:solidFill>
                  <a:srgbClr val="D4D4D4"/>
                </a:solidFill>
                <a:latin typeface="Consolas"/>
              </a:rPr>
              <a:t>WEBD 1000</a:t>
            </a:r>
            <a:r>
              <a:rPr sz="1900">
                <a:solidFill>
                  <a:srgbClr val="808080"/>
                </a:solidFill>
                <a:latin typeface="Consolas"/>
              </a:rPr>
              <a:t>&lt;/</a:t>
            </a:r>
            <a:r>
              <a:rPr sz="1900">
                <a:solidFill>
                  <a:srgbClr val="569CD6"/>
                </a:solidFill>
                <a:latin typeface="Consolas"/>
              </a:rPr>
              <a:t>i</a:t>
            </a:r>
            <a:r>
              <a:rPr sz="1900">
                <a:solidFill>
                  <a:srgbClr val="808080"/>
                </a:solidFill>
                <a:latin typeface="Consolas"/>
              </a:rPr>
              <a:t>&gt;&lt;/</a:t>
            </a:r>
            <a:r>
              <a:rPr sz="1900">
                <a:solidFill>
                  <a:srgbClr val="569CD6"/>
                </a:solidFill>
                <a:latin typeface="Consolas"/>
              </a:rPr>
              <a:t>p</a:t>
            </a:r>
            <a:r>
              <a:rPr sz="1900">
                <a:solidFill>
                  <a:srgbClr val="808080"/>
                </a:solidFill>
                <a:latin typeface="Consolas"/>
              </a:rPr>
              <a:t>&gt;</a:t>
            </a:r>
          </a:p>
          <a:p>
            <a:pPr algn="l">
              <a:lnSpc>
                <a:spcPct val="100000"/>
              </a:lnSpc>
              <a:spcBef>
                <a:spcPts val="0"/>
              </a:spcBef>
              <a:spcAft>
                <a:spcPts val="0"/>
              </a:spcAft>
            </a:pPr>
            <a:r>
              <a:rPr sz="1900">
                <a:solidFill>
                  <a:srgbClr val="D4D4D4"/>
                </a:solidFill>
                <a:latin typeface="Consolas"/>
              </a:rPr>
              <a:t> </a:t>
            </a:r>
          </a:p>
          <a:p>
            <a:pPr algn="l">
              <a:lnSpc>
                <a:spcPct val="100000"/>
              </a:lnSpc>
              <a:spcBef>
                <a:spcPts val="0"/>
              </a:spcBef>
              <a:spcAft>
                <a:spcPts val="0"/>
              </a:spcAft>
            </a:pPr>
            <a:r>
              <a:rPr sz="1900">
                <a:solidFill>
                  <a:srgbClr val="D4D4D4"/>
                </a:solidFill>
                <a:latin typeface="Consolas"/>
              </a:rPr>
              <a:t>    </a:t>
            </a:r>
            <a:r>
              <a:rPr sz="1900">
                <a:solidFill>
                  <a:srgbClr val="808080"/>
                </a:solidFill>
                <a:latin typeface="Consolas"/>
              </a:rPr>
              <a:t>&lt;/</a:t>
            </a:r>
            <a:r>
              <a:rPr sz="1900">
                <a:solidFill>
                  <a:srgbClr val="569CD6"/>
                </a:solidFill>
                <a:latin typeface="Consolas"/>
              </a:rPr>
              <a:t>body</a:t>
            </a:r>
            <a:r>
              <a:rPr sz="1900">
                <a:solidFill>
                  <a:srgbClr val="808080"/>
                </a:solidFill>
                <a:latin typeface="Consolas"/>
              </a:rPr>
              <a:t>&gt;</a:t>
            </a:r>
            <a:r>
              <a:rPr sz="1900">
                <a:solidFill>
                  <a:srgbClr val="D4D4D4"/>
                </a:solidFill>
                <a:latin typeface="Consolas"/>
              </a:rPr>
              <a:t> </a:t>
            </a:r>
          </a:p>
          <a:p>
            <a:pPr algn="l">
              <a:lnSpc>
                <a:spcPct val="100000"/>
              </a:lnSpc>
              <a:spcBef>
                <a:spcPts val="0"/>
              </a:spcBef>
              <a:spcAft>
                <a:spcPts val="0"/>
              </a:spcAft>
            </a:pPr>
            <a:r>
              <a:rPr sz="1900">
                <a:solidFill>
                  <a:srgbClr val="808080"/>
                </a:solidFill>
                <a:latin typeface="Consolas"/>
              </a:rPr>
              <a:t>&lt;/</a:t>
            </a:r>
            <a:r>
              <a:rPr sz="1900">
                <a:solidFill>
                  <a:srgbClr val="569CD6"/>
                </a:solidFill>
                <a:latin typeface="Consolas"/>
              </a:rPr>
              <a:t>html</a:t>
            </a:r>
            <a:r>
              <a:rPr sz="1900">
                <a:solidFill>
                  <a:srgbClr val="808080"/>
                </a:solidFill>
                <a:latin typeface="Consolas"/>
              </a:rPr>
              <a:t>&gt;</a:t>
            </a:r>
          </a:p>
        </p:txBody>
      </p:sp>
      <p:sp>
        <p:nvSpPr>
          <p:cNvPr id="7" name="TextBox 6"/>
          <p:cNvSpPr txBox="1"/>
          <p:nvPr/>
        </p:nvSpPr>
        <p:spPr>
          <a:xfrm>
            <a:off x="502920" y="6473952"/>
            <a:ext cx="10058400" cy="320040"/>
          </a:xfrm>
          <a:prstGeom prst="rect">
            <a:avLst/>
          </a:prstGeom>
          <a:noFill/>
        </p:spPr>
        <p:txBody>
          <a:bodyPr wrap="none">
            <a:spAutoFit/>
          </a:bodyPr>
          <a:lstStyle/>
          <a:p>
            <a:r>
              <a:rPr sz="1100">
                <a:solidFill>
                  <a:srgbClr val="6B7480"/>
                </a:solidFill>
                <a:latin typeface="Calibri"/>
              </a:rPr>
              <a:t>WEBD 1000 — HTML Examples Review   ·   02_emphasis_Italic_example.html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EB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19456"/>
            <a:ext cx="11155680" cy="502920"/>
          </a:xfrm>
          <a:prstGeom prst="rect">
            <a:avLst/>
          </a:prstGeom>
          <a:noFill/>
        </p:spPr>
        <p:txBody>
          <a:bodyPr wrap="square">
            <a:spAutoFit/>
          </a:bodyPr>
          <a:lstStyle/>
          <a:p>
            <a:r>
              <a:rPr sz="2800" b="1">
                <a:solidFill>
                  <a:srgbClr val="1B2A4A"/>
                </a:solidFill>
                <a:latin typeface="Calibri"/>
              </a:rPr>
              <a:t>Example 03  Strong &amp; Bold</a:t>
            </a:r>
          </a:p>
        </p:txBody>
      </p:sp>
      <p:sp>
        <p:nvSpPr>
          <p:cNvPr id="4" name="TextBox 3"/>
          <p:cNvSpPr txBox="1"/>
          <p:nvPr/>
        </p:nvSpPr>
        <p:spPr>
          <a:xfrm>
            <a:off x="530352" y="713232"/>
            <a:ext cx="11155680" cy="292608"/>
          </a:xfrm>
          <a:prstGeom prst="rect">
            <a:avLst/>
          </a:prstGeom>
          <a:noFill/>
        </p:spPr>
        <p:txBody>
          <a:bodyPr wrap="square">
            <a:spAutoFit/>
          </a:bodyPr>
          <a:lstStyle/>
          <a:p>
            <a:r>
              <a:rPr sz="1400" i="1">
                <a:solidFill>
                  <a:srgbClr val="6B7480"/>
                </a:solidFill>
                <a:latin typeface="Calibri"/>
              </a:rPr>
              <a:t>&lt;strong&gt; (semantic importance) vs. &lt;b&gt; (presentational bold)</a:t>
            </a:r>
          </a:p>
        </p:txBody>
      </p:sp>
      <p:sp>
        <p:nvSpPr>
          <p:cNvPr id="5" name="TextBox 4"/>
          <p:cNvSpPr txBox="1"/>
          <p:nvPr/>
        </p:nvSpPr>
        <p:spPr>
          <a:xfrm>
            <a:off x="530352" y="1005840"/>
            <a:ext cx="11155680" cy="566928"/>
          </a:xfrm>
          <a:prstGeom prst="rect">
            <a:avLst/>
          </a:prstGeom>
          <a:noFill/>
        </p:spPr>
        <p:txBody>
          <a:bodyPr wrap="square">
            <a:spAutoFit/>
          </a:bodyPr>
          <a:lstStyle/>
          <a:p>
            <a:r>
              <a:rPr sz="1450">
                <a:solidFill>
                  <a:srgbClr val="333D4B"/>
                </a:solidFill>
                <a:latin typeface="Calibri"/>
              </a:rPr>
              <a:t>The &lt;strong&gt; tag marks text as important, and browsers, search engines, and screen readers all treat it that way. The &lt;b&gt; tag simply makes text bold with no added importance — handy for stylistic emphasis like product names or keywords.</a:t>
            </a:r>
          </a:p>
        </p:txBody>
      </p:sp>
      <p:sp>
        <p:nvSpPr>
          <p:cNvPr id="6" name="Rounded Rectangle 5"/>
          <p:cNvSpPr/>
          <p:nvPr/>
        </p:nvSpPr>
        <p:spPr>
          <a:xfrm>
            <a:off x="502920" y="1645920"/>
            <a:ext cx="11183112" cy="4709160"/>
          </a:xfrm>
          <a:prstGeom prst="roundRect">
            <a:avLst>
              <a:gd name="adj" fmla="val 3000"/>
            </a:avLst>
          </a:prstGeom>
          <a:solidFill>
            <a:srgbClr val="1E1E1E"/>
          </a:solidFill>
          <a:ln w="12700">
            <a:solidFill>
              <a:srgbClr val="3C3C3C"/>
            </a:solidFill>
          </a:ln>
          <a:effectLst/>
        </p:spPr>
        <p:style>
          <a:lnRef idx="1">
            <a:schemeClr val="accent1"/>
          </a:lnRef>
          <a:fillRef idx="3">
            <a:schemeClr val="accent1"/>
          </a:fillRef>
          <a:effectRef idx="2">
            <a:schemeClr val="accent1"/>
          </a:effectRef>
          <a:fontRef idx="minor">
            <a:schemeClr val="lt1"/>
          </a:fontRef>
        </p:style>
        <p:txBody>
          <a:bodyPr wrap="square" lIns="201168" tIns="146304" rIns="201168" bIns="146304" rtlCol="0" anchor="t">
            <a:noAutofit/>
          </a:bodyPr>
          <a:lstStyle/>
          <a:p>
            <a:pPr algn="l">
              <a:lnSpc>
                <a:spcPct val="100000"/>
              </a:lnSpc>
              <a:spcBef>
                <a:spcPts val="0"/>
              </a:spcBef>
              <a:spcAft>
                <a:spcPts val="0"/>
              </a:spcAft>
            </a:pPr>
            <a:r>
              <a:rPr sz="1900">
                <a:solidFill>
                  <a:srgbClr val="808080"/>
                </a:solidFill>
                <a:latin typeface="Consolas"/>
              </a:rPr>
              <a:t>&lt;!DOCTYPE html&gt;</a:t>
            </a:r>
            <a:r>
              <a:rPr sz="1900">
                <a:solidFill>
                  <a:srgbClr val="D4D4D4"/>
                </a:solidFill>
                <a:latin typeface="Consolas"/>
              </a:rPr>
              <a:t> </a:t>
            </a:r>
          </a:p>
          <a:p>
            <a:pPr algn="l">
              <a:lnSpc>
                <a:spcPct val="100000"/>
              </a:lnSpc>
              <a:spcBef>
                <a:spcPts val="0"/>
              </a:spcBef>
              <a:spcAft>
                <a:spcPts val="0"/>
              </a:spcAft>
            </a:pPr>
            <a:r>
              <a:rPr sz="1900">
                <a:solidFill>
                  <a:srgbClr val="808080"/>
                </a:solidFill>
                <a:latin typeface="Consolas"/>
              </a:rPr>
              <a:t>&lt;</a:t>
            </a:r>
            <a:r>
              <a:rPr sz="1900">
                <a:solidFill>
                  <a:srgbClr val="569CD6"/>
                </a:solidFill>
                <a:latin typeface="Consolas"/>
              </a:rPr>
              <a:t>html</a:t>
            </a:r>
            <a:r>
              <a:rPr sz="1900">
                <a:solidFill>
                  <a:srgbClr val="D4D4D4"/>
                </a:solidFill>
                <a:latin typeface="Consolas"/>
              </a:rPr>
              <a:t> </a:t>
            </a:r>
            <a:r>
              <a:rPr sz="1900">
                <a:solidFill>
                  <a:srgbClr val="9CDCFE"/>
                </a:solidFill>
                <a:latin typeface="Consolas"/>
              </a:rPr>
              <a:t>lang</a:t>
            </a:r>
            <a:r>
              <a:rPr sz="1900">
                <a:solidFill>
                  <a:srgbClr val="D4D4D4"/>
                </a:solidFill>
                <a:latin typeface="Consolas"/>
              </a:rPr>
              <a:t>=</a:t>
            </a:r>
            <a:r>
              <a:rPr sz="1900">
                <a:solidFill>
                  <a:srgbClr val="CE9178"/>
                </a:solidFill>
                <a:latin typeface="Consolas"/>
              </a:rPr>
              <a:t>"en"</a:t>
            </a:r>
            <a:r>
              <a:rPr sz="1900">
                <a:solidFill>
                  <a:srgbClr val="808080"/>
                </a:solidFill>
                <a:latin typeface="Consolas"/>
              </a:rPr>
              <a:t>&gt;</a:t>
            </a:r>
            <a:r>
              <a:rPr sz="1900">
                <a:solidFill>
                  <a:srgbClr val="D4D4D4"/>
                </a:solidFill>
                <a:latin typeface="Consolas"/>
              </a:rPr>
              <a:t> </a:t>
            </a:r>
          </a:p>
          <a:p>
            <a:pPr algn="l">
              <a:lnSpc>
                <a:spcPct val="100000"/>
              </a:lnSpc>
              <a:spcBef>
                <a:spcPts val="0"/>
              </a:spcBef>
              <a:spcAft>
                <a:spcPts val="0"/>
              </a:spcAft>
            </a:pPr>
            <a:r>
              <a:rPr sz="1900">
                <a:solidFill>
                  <a:srgbClr val="D4D4D4"/>
                </a:solidFill>
                <a:latin typeface="Consolas"/>
              </a:rPr>
              <a:t>    </a:t>
            </a:r>
            <a:r>
              <a:rPr sz="1900">
                <a:solidFill>
                  <a:srgbClr val="808080"/>
                </a:solidFill>
                <a:latin typeface="Consolas"/>
              </a:rPr>
              <a:t>&lt;</a:t>
            </a:r>
            <a:r>
              <a:rPr sz="1900">
                <a:solidFill>
                  <a:srgbClr val="569CD6"/>
                </a:solidFill>
                <a:latin typeface="Consolas"/>
              </a:rPr>
              <a:t>head</a:t>
            </a:r>
            <a:r>
              <a:rPr sz="1900">
                <a:solidFill>
                  <a:srgbClr val="808080"/>
                </a:solidFill>
                <a:latin typeface="Consolas"/>
              </a:rPr>
              <a:t>&gt;</a:t>
            </a:r>
          </a:p>
          <a:p>
            <a:pPr algn="l">
              <a:lnSpc>
                <a:spcPct val="100000"/>
              </a:lnSpc>
              <a:spcBef>
                <a:spcPts val="0"/>
              </a:spcBef>
              <a:spcAft>
                <a:spcPts val="0"/>
              </a:spcAft>
            </a:pPr>
            <a:r>
              <a:rPr sz="1900">
                <a:solidFill>
                  <a:srgbClr val="D4D4D4"/>
                </a:solidFill>
                <a:latin typeface="Consolas"/>
              </a:rPr>
              <a:t>        </a:t>
            </a:r>
            <a:r>
              <a:rPr sz="1900">
                <a:solidFill>
                  <a:srgbClr val="808080"/>
                </a:solidFill>
                <a:latin typeface="Consolas"/>
              </a:rPr>
              <a:t>&lt;</a:t>
            </a:r>
            <a:r>
              <a:rPr sz="1900">
                <a:solidFill>
                  <a:srgbClr val="569CD6"/>
                </a:solidFill>
                <a:latin typeface="Consolas"/>
              </a:rPr>
              <a:t>meta</a:t>
            </a:r>
            <a:r>
              <a:rPr sz="1900">
                <a:solidFill>
                  <a:srgbClr val="D4D4D4"/>
                </a:solidFill>
                <a:latin typeface="Consolas"/>
              </a:rPr>
              <a:t> </a:t>
            </a:r>
            <a:r>
              <a:rPr sz="1900">
                <a:solidFill>
                  <a:srgbClr val="9CDCFE"/>
                </a:solidFill>
                <a:latin typeface="Consolas"/>
              </a:rPr>
              <a:t>charset</a:t>
            </a:r>
            <a:r>
              <a:rPr sz="1900">
                <a:solidFill>
                  <a:srgbClr val="D4D4D4"/>
                </a:solidFill>
                <a:latin typeface="Consolas"/>
              </a:rPr>
              <a:t>=</a:t>
            </a:r>
            <a:r>
              <a:rPr sz="1900">
                <a:solidFill>
                  <a:srgbClr val="CE9178"/>
                </a:solidFill>
                <a:latin typeface="Consolas"/>
              </a:rPr>
              <a:t>"UTF-8"</a:t>
            </a:r>
            <a:r>
              <a:rPr sz="1900">
                <a:solidFill>
                  <a:srgbClr val="808080"/>
                </a:solidFill>
                <a:latin typeface="Consolas"/>
              </a:rPr>
              <a:t>&gt;</a:t>
            </a:r>
          </a:p>
          <a:p>
            <a:pPr algn="l">
              <a:lnSpc>
                <a:spcPct val="100000"/>
              </a:lnSpc>
              <a:spcBef>
                <a:spcPts val="0"/>
              </a:spcBef>
              <a:spcAft>
                <a:spcPts val="0"/>
              </a:spcAft>
            </a:pPr>
            <a:r>
              <a:rPr sz="1900">
                <a:solidFill>
                  <a:srgbClr val="D4D4D4"/>
                </a:solidFill>
                <a:latin typeface="Consolas"/>
              </a:rPr>
              <a:t>        </a:t>
            </a:r>
            <a:r>
              <a:rPr sz="1900">
                <a:solidFill>
                  <a:srgbClr val="808080"/>
                </a:solidFill>
                <a:latin typeface="Consolas"/>
              </a:rPr>
              <a:t>&lt;</a:t>
            </a:r>
            <a:r>
              <a:rPr sz="1900">
                <a:solidFill>
                  <a:srgbClr val="569CD6"/>
                </a:solidFill>
                <a:latin typeface="Consolas"/>
              </a:rPr>
              <a:t>meta</a:t>
            </a:r>
            <a:r>
              <a:rPr sz="1900">
                <a:solidFill>
                  <a:srgbClr val="D4D4D4"/>
                </a:solidFill>
                <a:latin typeface="Consolas"/>
              </a:rPr>
              <a:t> </a:t>
            </a:r>
            <a:r>
              <a:rPr sz="1900">
                <a:solidFill>
                  <a:srgbClr val="9CDCFE"/>
                </a:solidFill>
                <a:latin typeface="Consolas"/>
              </a:rPr>
              <a:t>name</a:t>
            </a:r>
            <a:r>
              <a:rPr sz="1900">
                <a:solidFill>
                  <a:srgbClr val="D4D4D4"/>
                </a:solidFill>
                <a:latin typeface="Consolas"/>
              </a:rPr>
              <a:t>=</a:t>
            </a:r>
            <a:r>
              <a:rPr sz="1900">
                <a:solidFill>
                  <a:srgbClr val="CE9178"/>
                </a:solidFill>
                <a:latin typeface="Consolas"/>
              </a:rPr>
              <a:t>"viewport"</a:t>
            </a:r>
            <a:r>
              <a:rPr sz="1900">
                <a:solidFill>
                  <a:srgbClr val="D4D4D4"/>
                </a:solidFill>
                <a:latin typeface="Consolas"/>
              </a:rPr>
              <a:t> </a:t>
            </a:r>
            <a:r>
              <a:rPr sz="1900">
                <a:solidFill>
                  <a:srgbClr val="9CDCFE"/>
                </a:solidFill>
                <a:latin typeface="Consolas"/>
              </a:rPr>
              <a:t>content</a:t>
            </a:r>
            <a:r>
              <a:rPr sz="1900">
                <a:solidFill>
                  <a:srgbClr val="D4D4D4"/>
                </a:solidFill>
                <a:latin typeface="Consolas"/>
              </a:rPr>
              <a:t>=</a:t>
            </a:r>
            <a:r>
              <a:rPr sz="1900">
                <a:solidFill>
                  <a:srgbClr val="CE9178"/>
                </a:solidFill>
                <a:latin typeface="Consolas"/>
              </a:rPr>
              <a:t>"width=device-width, initial-scale=1.0"</a:t>
            </a:r>
            <a:r>
              <a:rPr sz="1900">
                <a:solidFill>
                  <a:srgbClr val="808080"/>
                </a:solidFill>
                <a:latin typeface="Consolas"/>
              </a:rPr>
              <a:t>&gt;</a:t>
            </a:r>
          </a:p>
          <a:p>
            <a:pPr algn="l">
              <a:lnSpc>
                <a:spcPct val="100000"/>
              </a:lnSpc>
              <a:spcBef>
                <a:spcPts val="0"/>
              </a:spcBef>
              <a:spcAft>
                <a:spcPts val="0"/>
              </a:spcAft>
            </a:pPr>
            <a:r>
              <a:rPr sz="1900">
                <a:solidFill>
                  <a:srgbClr val="D4D4D4"/>
                </a:solidFill>
                <a:latin typeface="Consolas"/>
              </a:rPr>
              <a:t>        </a:t>
            </a:r>
            <a:r>
              <a:rPr sz="1900">
                <a:solidFill>
                  <a:srgbClr val="808080"/>
                </a:solidFill>
                <a:latin typeface="Consolas"/>
              </a:rPr>
              <a:t>&lt;</a:t>
            </a:r>
            <a:r>
              <a:rPr sz="1900">
                <a:solidFill>
                  <a:srgbClr val="569CD6"/>
                </a:solidFill>
                <a:latin typeface="Consolas"/>
              </a:rPr>
              <a:t>title</a:t>
            </a:r>
            <a:r>
              <a:rPr sz="1900">
                <a:solidFill>
                  <a:srgbClr val="808080"/>
                </a:solidFill>
                <a:latin typeface="Consolas"/>
              </a:rPr>
              <a:t>&gt;</a:t>
            </a:r>
            <a:r>
              <a:rPr sz="1900">
                <a:solidFill>
                  <a:srgbClr val="D4D4D4"/>
                </a:solidFill>
                <a:latin typeface="Consolas"/>
              </a:rPr>
              <a:t>Example</a:t>
            </a:r>
            <a:r>
              <a:rPr sz="1900">
                <a:solidFill>
                  <a:srgbClr val="808080"/>
                </a:solidFill>
                <a:latin typeface="Consolas"/>
              </a:rPr>
              <a:t>&lt;/</a:t>
            </a:r>
            <a:r>
              <a:rPr sz="1900">
                <a:solidFill>
                  <a:srgbClr val="569CD6"/>
                </a:solidFill>
                <a:latin typeface="Consolas"/>
              </a:rPr>
              <a:t>title</a:t>
            </a:r>
            <a:r>
              <a:rPr sz="1900">
                <a:solidFill>
                  <a:srgbClr val="808080"/>
                </a:solidFill>
                <a:latin typeface="Consolas"/>
              </a:rPr>
              <a:t>&gt;</a:t>
            </a:r>
            <a:r>
              <a:rPr sz="1900">
                <a:solidFill>
                  <a:srgbClr val="D4D4D4"/>
                </a:solidFill>
                <a:latin typeface="Consolas"/>
              </a:rPr>
              <a:t> </a:t>
            </a:r>
          </a:p>
          <a:p>
            <a:pPr algn="l">
              <a:lnSpc>
                <a:spcPct val="100000"/>
              </a:lnSpc>
              <a:spcBef>
                <a:spcPts val="0"/>
              </a:spcBef>
              <a:spcAft>
                <a:spcPts val="0"/>
              </a:spcAft>
            </a:pPr>
            <a:r>
              <a:rPr sz="1900">
                <a:solidFill>
                  <a:srgbClr val="D4D4D4"/>
                </a:solidFill>
                <a:latin typeface="Consolas"/>
              </a:rPr>
              <a:t>    </a:t>
            </a:r>
            <a:r>
              <a:rPr sz="1900">
                <a:solidFill>
                  <a:srgbClr val="808080"/>
                </a:solidFill>
                <a:latin typeface="Consolas"/>
              </a:rPr>
              <a:t>&lt;/</a:t>
            </a:r>
            <a:r>
              <a:rPr sz="1900">
                <a:solidFill>
                  <a:srgbClr val="569CD6"/>
                </a:solidFill>
                <a:latin typeface="Consolas"/>
              </a:rPr>
              <a:t>head</a:t>
            </a:r>
            <a:r>
              <a:rPr sz="1900">
                <a:solidFill>
                  <a:srgbClr val="808080"/>
                </a:solidFill>
                <a:latin typeface="Consolas"/>
              </a:rPr>
              <a:t>&gt;</a:t>
            </a:r>
            <a:r>
              <a:rPr sz="1900">
                <a:solidFill>
                  <a:srgbClr val="D4D4D4"/>
                </a:solidFill>
                <a:latin typeface="Consolas"/>
              </a:rPr>
              <a:t> </a:t>
            </a:r>
          </a:p>
          <a:p>
            <a:pPr algn="l">
              <a:lnSpc>
                <a:spcPct val="100000"/>
              </a:lnSpc>
              <a:spcBef>
                <a:spcPts val="0"/>
              </a:spcBef>
              <a:spcAft>
                <a:spcPts val="0"/>
              </a:spcAft>
            </a:pPr>
            <a:r>
              <a:rPr sz="1900">
                <a:solidFill>
                  <a:srgbClr val="D4D4D4"/>
                </a:solidFill>
                <a:latin typeface="Consolas"/>
              </a:rPr>
              <a:t>    </a:t>
            </a:r>
            <a:r>
              <a:rPr sz="1900">
                <a:solidFill>
                  <a:srgbClr val="808080"/>
                </a:solidFill>
                <a:latin typeface="Consolas"/>
              </a:rPr>
              <a:t>&lt;</a:t>
            </a:r>
            <a:r>
              <a:rPr sz="1900">
                <a:solidFill>
                  <a:srgbClr val="569CD6"/>
                </a:solidFill>
                <a:latin typeface="Consolas"/>
              </a:rPr>
              <a:t>body</a:t>
            </a:r>
            <a:r>
              <a:rPr sz="1900">
                <a:solidFill>
                  <a:srgbClr val="808080"/>
                </a:solidFill>
                <a:latin typeface="Consolas"/>
              </a:rPr>
              <a:t>&gt;</a:t>
            </a:r>
            <a:r>
              <a:rPr sz="1900">
                <a:solidFill>
                  <a:srgbClr val="D4D4D4"/>
                </a:solidFill>
                <a:latin typeface="Consolas"/>
              </a:rPr>
              <a:t> </a:t>
            </a:r>
          </a:p>
          <a:p>
            <a:pPr algn="l">
              <a:lnSpc>
                <a:spcPct val="100000"/>
              </a:lnSpc>
              <a:spcBef>
                <a:spcPts val="0"/>
              </a:spcBef>
              <a:spcAft>
                <a:spcPts val="0"/>
              </a:spcAft>
            </a:pPr>
            <a:r>
              <a:rPr sz="1900">
                <a:solidFill>
                  <a:srgbClr val="D4D4D4"/>
                </a:solidFill>
                <a:latin typeface="Consolas"/>
              </a:rPr>
              <a:t> </a:t>
            </a:r>
          </a:p>
          <a:p>
            <a:pPr algn="l">
              <a:lnSpc>
                <a:spcPct val="100000"/>
              </a:lnSpc>
              <a:spcBef>
                <a:spcPts val="0"/>
              </a:spcBef>
              <a:spcAft>
                <a:spcPts val="0"/>
              </a:spcAft>
            </a:pPr>
            <a:r>
              <a:rPr sz="1900">
                <a:solidFill>
                  <a:srgbClr val="D4D4D4"/>
                </a:solidFill>
                <a:latin typeface="Consolas"/>
              </a:rPr>
              <a:t>        </a:t>
            </a:r>
            <a:r>
              <a:rPr sz="1900">
                <a:solidFill>
                  <a:srgbClr val="808080"/>
                </a:solidFill>
                <a:latin typeface="Consolas"/>
              </a:rPr>
              <a:t>&lt;</a:t>
            </a:r>
            <a:r>
              <a:rPr sz="1900">
                <a:solidFill>
                  <a:srgbClr val="569CD6"/>
                </a:solidFill>
                <a:latin typeface="Consolas"/>
              </a:rPr>
              <a:t>p</a:t>
            </a:r>
            <a:r>
              <a:rPr sz="1900">
                <a:solidFill>
                  <a:srgbClr val="808080"/>
                </a:solidFill>
                <a:latin typeface="Consolas"/>
              </a:rPr>
              <a:t>&gt;</a:t>
            </a:r>
            <a:r>
              <a:rPr sz="1900">
                <a:solidFill>
                  <a:srgbClr val="D4D4D4"/>
                </a:solidFill>
                <a:latin typeface="Consolas"/>
              </a:rPr>
              <a:t>Welcome to </a:t>
            </a:r>
            <a:r>
              <a:rPr sz="1900">
                <a:solidFill>
                  <a:srgbClr val="808080"/>
                </a:solidFill>
                <a:latin typeface="Consolas"/>
              </a:rPr>
              <a:t>&lt;</a:t>
            </a:r>
            <a:r>
              <a:rPr sz="1900">
                <a:solidFill>
                  <a:srgbClr val="569CD6"/>
                </a:solidFill>
                <a:latin typeface="Consolas"/>
              </a:rPr>
              <a:t>strong</a:t>
            </a:r>
            <a:r>
              <a:rPr sz="1900">
                <a:solidFill>
                  <a:srgbClr val="808080"/>
                </a:solidFill>
                <a:latin typeface="Consolas"/>
              </a:rPr>
              <a:t>&gt;</a:t>
            </a:r>
            <a:r>
              <a:rPr sz="1900">
                <a:solidFill>
                  <a:srgbClr val="D4D4D4"/>
                </a:solidFill>
                <a:latin typeface="Consolas"/>
              </a:rPr>
              <a:t>WEBD 1000!</a:t>
            </a:r>
            <a:r>
              <a:rPr sz="1900">
                <a:solidFill>
                  <a:srgbClr val="808080"/>
                </a:solidFill>
                <a:latin typeface="Consolas"/>
              </a:rPr>
              <a:t>&lt;/</a:t>
            </a:r>
            <a:r>
              <a:rPr sz="1900">
                <a:solidFill>
                  <a:srgbClr val="569CD6"/>
                </a:solidFill>
                <a:latin typeface="Consolas"/>
              </a:rPr>
              <a:t>strong</a:t>
            </a:r>
            <a:r>
              <a:rPr sz="1900">
                <a:solidFill>
                  <a:srgbClr val="808080"/>
                </a:solidFill>
                <a:latin typeface="Consolas"/>
              </a:rPr>
              <a:t>&gt;&lt;/</a:t>
            </a:r>
            <a:r>
              <a:rPr sz="1900">
                <a:solidFill>
                  <a:srgbClr val="569CD6"/>
                </a:solidFill>
                <a:latin typeface="Consolas"/>
              </a:rPr>
              <a:t>p</a:t>
            </a:r>
            <a:r>
              <a:rPr sz="1900">
                <a:solidFill>
                  <a:srgbClr val="808080"/>
                </a:solidFill>
                <a:latin typeface="Consolas"/>
              </a:rPr>
              <a:t>&gt;</a:t>
            </a:r>
          </a:p>
          <a:p>
            <a:pPr algn="l">
              <a:lnSpc>
                <a:spcPct val="100000"/>
              </a:lnSpc>
              <a:spcBef>
                <a:spcPts val="0"/>
              </a:spcBef>
              <a:spcAft>
                <a:spcPts val="0"/>
              </a:spcAft>
            </a:pPr>
            <a:r>
              <a:rPr sz="1900">
                <a:solidFill>
                  <a:srgbClr val="D4D4D4"/>
                </a:solidFill>
                <a:latin typeface="Consolas"/>
              </a:rPr>
              <a:t>        </a:t>
            </a:r>
            <a:r>
              <a:rPr sz="1900">
                <a:solidFill>
                  <a:srgbClr val="808080"/>
                </a:solidFill>
                <a:latin typeface="Consolas"/>
              </a:rPr>
              <a:t>&lt;</a:t>
            </a:r>
            <a:r>
              <a:rPr sz="1900">
                <a:solidFill>
                  <a:srgbClr val="569CD6"/>
                </a:solidFill>
                <a:latin typeface="Consolas"/>
              </a:rPr>
              <a:t>p</a:t>
            </a:r>
            <a:r>
              <a:rPr sz="1900">
                <a:solidFill>
                  <a:srgbClr val="808080"/>
                </a:solidFill>
                <a:latin typeface="Consolas"/>
              </a:rPr>
              <a:t>&gt;</a:t>
            </a:r>
            <a:r>
              <a:rPr sz="1900">
                <a:solidFill>
                  <a:srgbClr val="D4D4D4"/>
                </a:solidFill>
                <a:latin typeface="Consolas"/>
              </a:rPr>
              <a:t>Welcome to </a:t>
            </a:r>
            <a:r>
              <a:rPr sz="1900">
                <a:solidFill>
                  <a:srgbClr val="808080"/>
                </a:solidFill>
                <a:latin typeface="Consolas"/>
              </a:rPr>
              <a:t>&lt;</a:t>
            </a:r>
            <a:r>
              <a:rPr sz="1900">
                <a:solidFill>
                  <a:srgbClr val="569CD6"/>
                </a:solidFill>
                <a:latin typeface="Consolas"/>
              </a:rPr>
              <a:t>b</a:t>
            </a:r>
            <a:r>
              <a:rPr sz="1900">
                <a:solidFill>
                  <a:srgbClr val="808080"/>
                </a:solidFill>
                <a:latin typeface="Consolas"/>
              </a:rPr>
              <a:t>&gt;</a:t>
            </a:r>
            <a:r>
              <a:rPr sz="1900">
                <a:solidFill>
                  <a:srgbClr val="D4D4D4"/>
                </a:solidFill>
                <a:latin typeface="Consolas"/>
              </a:rPr>
              <a:t>WEBD 1000!</a:t>
            </a:r>
            <a:r>
              <a:rPr sz="1900">
                <a:solidFill>
                  <a:srgbClr val="808080"/>
                </a:solidFill>
                <a:latin typeface="Consolas"/>
              </a:rPr>
              <a:t>&lt;/</a:t>
            </a:r>
            <a:r>
              <a:rPr sz="1900">
                <a:solidFill>
                  <a:srgbClr val="569CD6"/>
                </a:solidFill>
                <a:latin typeface="Consolas"/>
              </a:rPr>
              <a:t>b</a:t>
            </a:r>
            <a:r>
              <a:rPr sz="1900">
                <a:solidFill>
                  <a:srgbClr val="808080"/>
                </a:solidFill>
                <a:latin typeface="Consolas"/>
              </a:rPr>
              <a:t>&gt;&lt;/</a:t>
            </a:r>
            <a:r>
              <a:rPr sz="1900">
                <a:solidFill>
                  <a:srgbClr val="569CD6"/>
                </a:solidFill>
                <a:latin typeface="Consolas"/>
              </a:rPr>
              <a:t>p</a:t>
            </a:r>
            <a:r>
              <a:rPr sz="1900">
                <a:solidFill>
                  <a:srgbClr val="808080"/>
                </a:solidFill>
                <a:latin typeface="Consolas"/>
              </a:rPr>
              <a:t>&gt;</a:t>
            </a:r>
          </a:p>
          <a:p>
            <a:pPr algn="l">
              <a:lnSpc>
                <a:spcPct val="100000"/>
              </a:lnSpc>
              <a:spcBef>
                <a:spcPts val="0"/>
              </a:spcBef>
              <a:spcAft>
                <a:spcPts val="0"/>
              </a:spcAft>
            </a:pPr>
            <a:r>
              <a:rPr sz="1900">
                <a:solidFill>
                  <a:srgbClr val="D4D4D4"/>
                </a:solidFill>
                <a:latin typeface="Consolas"/>
              </a:rPr>
              <a:t> </a:t>
            </a:r>
          </a:p>
          <a:p>
            <a:pPr algn="l">
              <a:lnSpc>
                <a:spcPct val="100000"/>
              </a:lnSpc>
              <a:spcBef>
                <a:spcPts val="0"/>
              </a:spcBef>
              <a:spcAft>
                <a:spcPts val="0"/>
              </a:spcAft>
            </a:pPr>
            <a:r>
              <a:rPr sz="1900">
                <a:solidFill>
                  <a:srgbClr val="D4D4D4"/>
                </a:solidFill>
                <a:latin typeface="Consolas"/>
              </a:rPr>
              <a:t>    </a:t>
            </a:r>
            <a:r>
              <a:rPr sz="1900">
                <a:solidFill>
                  <a:srgbClr val="808080"/>
                </a:solidFill>
                <a:latin typeface="Consolas"/>
              </a:rPr>
              <a:t>&lt;/</a:t>
            </a:r>
            <a:r>
              <a:rPr sz="1900">
                <a:solidFill>
                  <a:srgbClr val="569CD6"/>
                </a:solidFill>
                <a:latin typeface="Consolas"/>
              </a:rPr>
              <a:t>body</a:t>
            </a:r>
            <a:r>
              <a:rPr sz="1900">
                <a:solidFill>
                  <a:srgbClr val="808080"/>
                </a:solidFill>
                <a:latin typeface="Consolas"/>
              </a:rPr>
              <a:t>&gt;</a:t>
            </a:r>
          </a:p>
          <a:p>
            <a:pPr algn="l">
              <a:lnSpc>
                <a:spcPct val="100000"/>
              </a:lnSpc>
              <a:spcBef>
                <a:spcPts val="0"/>
              </a:spcBef>
              <a:spcAft>
                <a:spcPts val="0"/>
              </a:spcAft>
            </a:pPr>
            <a:r>
              <a:rPr sz="1900">
                <a:solidFill>
                  <a:srgbClr val="808080"/>
                </a:solidFill>
                <a:latin typeface="Consolas"/>
              </a:rPr>
              <a:t>&lt;/</a:t>
            </a:r>
            <a:r>
              <a:rPr sz="1900">
                <a:solidFill>
                  <a:srgbClr val="569CD6"/>
                </a:solidFill>
                <a:latin typeface="Consolas"/>
              </a:rPr>
              <a:t>html</a:t>
            </a:r>
            <a:r>
              <a:rPr sz="1900">
                <a:solidFill>
                  <a:srgbClr val="808080"/>
                </a:solidFill>
                <a:latin typeface="Consolas"/>
              </a:rPr>
              <a:t>&gt;</a:t>
            </a:r>
          </a:p>
        </p:txBody>
      </p:sp>
      <p:sp>
        <p:nvSpPr>
          <p:cNvPr id="7" name="TextBox 6"/>
          <p:cNvSpPr txBox="1"/>
          <p:nvPr/>
        </p:nvSpPr>
        <p:spPr>
          <a:xfrm>
            <a:off x="502920" y="6473952"/>
            <a:ext cx="10058400" cy="320040"/>
          </a:xfrm>
          <a:prstGeom prst="rect">
            <a:avLst/>
          </a:prstGeom>
          <a:noFill/>
        </p:spPr>
        <p:txBody>
          <a:bodyPr wrap="none">
            <a:spAutoFit/>
          </a:bodyPr>
          <a:lstStyle/>
          <a:p>
            <a:r>
              <a:rPr sz="1100">
                <a:solidFill>
                  <a:srgbClr val="6B7480"/>
                </a:solidFill>
                <a:latin typeface="Calibri"/>
              </a:rPr>
              <a:t>WEBD 1000 — HTML Examples Review   ·   03_strong_bold_example.html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EB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19456"/>
            <a:ext cx="11155680" cy="502920"/>
          </a:xfrm>
          <a:prstGeom prst="rect">
            <a:avLst/>
          </a:prstGeom>
          <a:noFill/>
        </p:spPr>
        <p:txBody>
          <a:bodyPr wrap="square">
            <a:spAutoFit/>
          </a:bodyPr>
          <a:lstStyle/>
          <a:p>
            <a:r>
              <a:rPr sz="2800" b="1">
                <a:solidFill>
                  <a:srgbClr val="1B2A4A"/>
                </a:solidFill>
                <a:latin typeface="Calibri"/>
              </a:rPr>
              <a:t>Example 04  Unordered Lists</a:t>
            </a:r>
          </a:p>
        </p:txBody>
      </p:sp>
      <p:sp>
        <p:nvSpPr>
          <p:cNvPr id="4" name="TextBox 3"/>
          <p:cNvSpPr txBox="1"/>
          <p:nvPr/>
        </p:nvSpPr>
        <p:spPr>
          <a:xfrm>
            <a:off x="530352" y="713232"/>
            <a:ext cx="11155680" cy="292608"/>
          </a:xfrm>
          <a:prstGeom prst="rect">
            <a:avLst/>
          </a:prstGeom>
          <a:noFill/>
        </p:spPr>
        <p:txBody>
          <a:bodyPr wrap="square">
            <a:spAutoFit/>
          </a:bodyPr>
          <a:lstStyle/>
          <a:p>
            <a:r>
              <a:rPr sz="1400" i="1">
                <a:solidFill>
                  <a:srgbClr val="6B7480"/>
                </a:solidFill>
                <a:latin typeface="Calibri"/>
              </a:rPr>
              <a:t>Bulleted lists using &lt;ul&gt; and &lt;li&gt;</a:t>
            </a:r>
          </a:p>
        </p:txBody>
      </p:sp>
      <p:sp>
        <p:nvSpPr>
          <p:cNvPr id="5" name="TextBox 4"/>
          <p:cNvSpPr txBox="1"/>
          <p:nvPr/>
        </p:nvSpPr>
        <p:spPr>
          <a:xfrm>
            <a:off x="530352" y="1005840"/>
            <a:ext cx="11155680" cy="566928"/>
          </a:xfrm>
          <a:prstGeom prst="rect">
            <a:avLst/>
          </a:prstGeom>
          <a:noFill/>
        </p:spPr>
        <p:txBody>
          <a:bodyPr wrap="square">
            <a:spAutoFit/>
          </a:bodyPr>
          <a:lstStyle/>
          <a:p>
            <a:r>
              <a:rPr sz="1450">
                <a:solidFill>
                  <a:srgbClr val="333D4B"/>
                </a:solidFill>
                <a:latin typeface="Calibri"/>
              </a:rPr>
              <a:t>An unordered list (&lt;ul&gt;) groups related items with bullet points, and each item sits inside its own &lt;li&gt; tag. Use it whenever the order of the items doesn't matter.</a:t>
            </a:r>
          </a:p>
        </p:txBody>
      </p:sp>
      <p:sp>
        <p:nvSpPr>
          <p:cNvPr id="6" name="Rounded Rectangle 5"/>
          <p:cNvSpPr/>
          <p:nvPr/>
        </p:nvSpPr>
        <p:spPr>
          <a:xfrm>
            <a:off x="502920" y="1645920"/>
            <a:ext cx="11183112" cy="4709160"/>
          </a:xfrm>
          <a:prstGeom prst="roundRect">
            <a:avLst>
              <a:gd name="adj" fmla="val 3000"/>
            </a:avLst>
          </a:prstGeom>
          <a:solidFill>
            <a:srgbClr val="1E1E1E"/>
          </a:solidFill>
          <a:ln w="12700">
            <a:solidFill>
              <a:srgbClr val="3C3C3C"/>
            </a:solidFill>
          </a:ln>
          <a:effectLst/>
        </p:spPr>
        <p:style>
          <a:lnRef idx="1">
            <a:schemeClr val="accent1"/>
          </a:lnRef>
          <a:fillRef idx="3">
            <a:schemeClr val="accent1"/>
          </a:fillRef>
          <a:effectRef idx="2">
            <a:schemeClr val="accent1"/>
          </a:effectRef>
          <a:fontRef idx="minor">
            <a:schemeClr val="lt1"/>
          </a:fontRef>
        </p:style>
        <p:txBody>
          <a:bodyPr wrap="square" lIns="201168" tIns="146304" rIns="201168" bIns="146304" rtlCol="0" anchor="t">
            <a:noAutofit/>
          </a:bodyPr>
          <a:lstStyle/>
          <a:p>
            <a:pPr algn="l">
              <a:lnSpc>
                <a:spcPct val="100000"/>
              </a:lnSpc>
              <a:spcBef>
                <a:spcPts val="0"/>
              </a:spcBef>
              <a:spcAft>
                <a:spcPts val="0"/>
              </a:spcAft>
            </a:pPr>
            <a:r>
              <a:rPr sz="1600" dirty="0">
                <a:solidFill>
                  <a:srgbClr val="808080"/>
                </a:solidFill>
                <a:latin typeface="Consolas"/>
              </a:rPr>
              <a:t>&lt;!DOCTYPE html&gt;</a:t>
            </a:r>
            <a:r>
              <a:rPr sz="1600" dirty="0">
                <a:solidFill>
                  <a:srgbClr val="D4D4D4"/>
                </a:solidFill>
                <a:latin typeface="Consolas"/>
              </a:rPr>
              <a:t> </a:t>
            </a:r>
          </a:p>
          <a:p>
            <a:pPr algn="l">
              <a:lnSpc>
                <a:spcPct val="100000"/>
              </a:lnSpc>
              <a:spcBef>
                <a:spcPts val="0"/>
              </a:spcBef>
              <a:spcAft>
                <a:spcPts val="0"/>
              </a:spcAft>
            </a:pPr>
            <a:r>
              <a:rPr sz="1600" dirty="0">
                <a:solidFill>
                  <a:srgbClr val="808080"/>
                </a:solidFill>
                <a:latin typeface="Consolas"/>
              </a:rPr>
              <a:t>&lt;</a:t>
            </a:r>
            <a:r>
              <a:rPr sz="1600" dirty="0">
                <a:solidFill>
                  <a:srgbClr val="569CD6"/>
                </a:solidFill>
                <a:latin typeface="Consolas"/>
              </a:rPr>
              <a:t>html</a:t>
            </a:r>
            <a:r>
              <a:rPr sz="1600" dirty="0">
                <a:solidFill>
                  <a:srgbClr val="D4D4D4"/>
                </a:solidFill>
                <a:latin typeface="Consolas"/>
              </a:rPr>
              <a:t> </a:t>
            </a:r>
            <a:r>
              <a:rPr sz="1600" dirty="0">
                <a:solidFill>
                  <a:srgbClr val="9CDCFE"/>
                </a:solidFill>
                <a:latin typeface="Consolas"/>
              </a:rPr>
              <a:t>lang</a:t>
            </a:r>
            <a:r>
              <a:rPr sz="1600" dirty="0">
                <a:solidFill>
                  <a:srgbClr val="D4D4D4"/>
                </a:solidFill>
                <a:latin typeface="Consolas"/>
              </a:rPr>
              <a:t>=</a:t>
            </a:r>
            <a:r>
              <a:rPr sz="1600" dirty="0">
                <a:solidFill>
                  <a:srgbClr val="CE9178"/>
                </a:solidFill>
                <a:latin typeface="Consolas"/>
              </a:rPr>
              <a:t>"</a:t>
            </a:r>
            <a:r>
              <a:rPr sz="1600" dirty="0" err="1">
                <a:solidFill>
                  <a:srgbClr val="CE9178"/>
                </a:solidFill>
                <a:latin typeface="Consolas"/>
              </a:rPr>
              <a:t>en</a:t>
            </a:r>
            <a:r>
              <a:rPr sz="1600" dirty="0">
                <a:solidFill>
                  <a:srgbClr val="CE9178"/>
                </a:solidFill>
                <a:latin typeface="Consolas"/>
              </a:rPr>
              <a:t>"</a:t>
            </a:r>
            <a:r>
              <a:rPr sz="1600" dirty="0">
                <a:solidFill>
                  <a:srgbClr val="808080"/>
                </a:solidFill>
                <a:latin typeface="Consolas"/>
              </a:rPr>
              <a:t>&gt;</a:t>
            </a:r>
            <a:r>
              <a:rPr sz="1600" dirty="0">
                <a:solidFill>
                  <a:srgbClr val="D4D4D4"/>
                </a:solidFill>
                <a:latin typeface="Consolas"/>
              </a:rPr>
              <a:t> </a:t>
            </a:r>
          </a:p>
          <a:p>
            <a:pPr algn="l">
              <a:lnSpc>
                <a:spcPct val="100000"/>
              </a:lnSpc>
              <a:spcBef>
                <a:spcPts val="0"/>
              </a:spcBef>
              <a:spcAft>
                <a:spcPts val="0"/>
              </a:spcAft>
            </a:pPr>
            <a:r>
              <a:rPr sz="1600" dirty="0">
                <a:solidFill>
                  <a:srgbClr val="D4D4D4"/>
                </a:solidFill>
                <a:latin typeface="Consolas"/>
              </a:rPr>
              <a:t>    </a:t>
            </a:r>
            <a:r>
              <a:rPr sz="1600" dirty="0">
                <a:solidFill>
                  <a:srgbClr val="808080"/>
                </a:solidFill>
                <a:latin typeface="Consolas"/>
              </a:rPr>
              <a:t>&lt;</a:t>
            </a:r>
            <a:r>
              <a:rPr sz="1600" dirty="0">
                <a:solidFill>
                  <a:srgbClr val="569CD6"/>
                </a:solidFill>
                <a:latin typeface="Consolas"/>
              </a:rPr>
              <a:t>head</a:t>
            </a:r>
            <a:r>
              <a:rPr sz="1600" dirty="0">
                <a:solidFill>
                  <a:srgbClr val="808080"/>
                </a:solidFill>
                <a:latin typeface="Consolas"/>
              </a:rPr>
              <a:t>&gt;</a:t>
            </a:r>
          </a:p>
          <a:p>
            <a:pPr algn="l">
              <a:lnSpc>
                <a:spcPct val="100000"/>
              </a:lnSpc>
              <a:spcBef>
                <a:spcPts val="0"/>
              </a:spcBef>
              <a:spcAft>
                <a:spcPts val="0"/>
              </a:spcAft>
            </a:pPr>
            <a:r>
              <a:rPr sz="1600" dirty="0">
                <a:solidFill>
                  <a:srgbClr val="D4D4D4"/>
                </a:solidFill>
                <a:latin typeface="Consolas"/>
              </a:rPr>
              <a:t>        </a:t>
            </a:r>
            <a:r>
              <a:rPr sz="1600" dirty="0">
                <a:solidFill>
                  <a:srgbClr val="808080"/>
                </a:solidFill>
                <a:latin typeface="Consolas"/>
              </a:rPr>
              <a:t>&lt;</a:t>
            </a:r>
            <a:r>
              <a:rPr sz="1600" dirty="0">
                <a:solidFill>
                  <a:srgbClr val="569CD6"/>
                </a:solidFill>
                <a:latin typeface="Consolas"/>
              </a:rPr>
              <a:t>meta</a:t>
            </a:r>
            <a:r>
              <a:rPr sz="1600" dirty="0">
                <a:solidFill>
                  <a:srgbClr val="D4D4D4"/>
                </a:solidFill>
                <a:latin typeface="Consolas"/>
              </a:rPr>
              <a:t> </a:t>
            </a:r>
            <a:r>
              <a:rPr sz="1600" dirty="0">
                <a:solidFill>
                  <a:srgbClr val="9CDCFE"/>
                </a:solidFill>
                <a:latin typeface="Consolas"/>
              </a:rPr>
              <a:t>charset</a:t>
            </a:r>
            <a:r>
              <a:rPr sz="1600" dirty="0">
                <a:solidFill>
                  <a:srgbClr val="D4D4D4"/>
                </a:solidFill>
                <a:latin typeface="Consolas"/>
              </a:rPr>
              <a:t>=</a:t>
            </a:r>
            <a:r>
              <a:rPr sz="1600" dirty="0">
                <a:solidFill>
                  <a:srgbClr val="CE9178"/>
                </a:solidFill>
                <a:latin typeface="Consolas"/>
              </a:rPr>
              <a:t>"UTF-8"</a:t>
            </a:r>
            <a:r>
              <a:rPr sz="1600" dirty="0">
                <a:solidFill>
                  <a:srgbClr val="808080"/>
                </a:solidFill>
                <a:latin typeface="Consolas"/>
              </a:rPr>
              <a:t>&gt;</a:t>
            </a:r>
          </a:p>
          <a:p>
            <a:pPr algn="l">
              <a:lnSpc>
                <a:spcPct val="100000"/>
              </a:lnSpc>
              <a:spcBef>
                <a:spcPts val="0"/>
              </a:spcBef>
              <a:spcAft>
                <a:spcPts val="0"/>
              </a:spcAft>
            </a:pPr>
            <a:r>
              <a:rPr sz="1600" dirty="0">
                <a:solidFill>
                  <a:srgbClr val="D4D4D4"/>
                </a:solidFill>
                <a:latin typeface="Consolas"/>
              </a:rPr>
              <a:t>        </a:t>
            </a:r>
            <a:r>
              <a:rPr sz="1600" dirty="0">
                <a:solidFill>
                  <a:srgbClr val="808080"/>
                </a:solidFill>
                <a:latin typeface="Consolas"/>
              </a:rPr>
              <a:t>&lt;</a:t>
            </a:r>
            <a:r>
              <a:rPr sz="1600" dirty="0">
                <a:solidFill>
                  <a:srgbClr val="569CD6"/>
                </a:solidFill>
                <a:latin typeface="Consolas"/>
              </a:rPr>
              <a:t>meta</a:t>
            </a:r>
            <a:r>
              <a:rPr sz="1600" dirty="0">
                <a:solidFill>
                  <a:srgbClr val="D4D4D4"/>
                </a:solidFill>
                <a:latin typeface="Consolas"/>
              </a:rPr>
              <a:t> </a:t>
            </a:r>
            <a:r>
              <a:rPr sz="1600" dirty="0">
                <a:solidFill>
                  <a:srgbClr val="9CDCFE"/>
                </a:solidFill>
                <a:latin typeface="Consolas"/>
              </a:rPr>
              <a:t>name</a:t>
            </a:r>
            <a:r>
              <a:rPr sz="1600" dirty="0">
                <a:solidFill>
                  <a:srgbClr val="D4D4D4"/>
                </a:solidFill>
                <a:latin typeface="Consolas"/>
              </a:rPr>
              <a:t>=</a:t>
            </a:r>
            <a:r>
              <a:rPr sz="1600" dirty="0">
                <a:solidFill>
                  <a:srgbClr val="CE9178"/>
                </a:solidFill>
                <a:latin typeface="Consolas"/>
              </a:rPr>
              <a:t>"viewport"</a:t>
            </a:r>
            <a:r>
              <a:rPr sz="1600" dirty="0">
                <a:solidFill>
                  <a:srgbClr val="D4D4D4"/>
                </a:solidFill>
                <a:latin typeface="Consolas"/>
              </a:rPr>
              <a:t> </a:t>
            </a:r>
            <a:r>
              <a:rPr sz="1600" dirty="0">
                <a:solidFill>
                  <a:srgbClr val="9CDCFE"/>
                </a:solidFill>
                <a:latin typeface="Consolas"/>
              </a:rPr>
              <a:t>content</a:t>
            </a:r>
            <a:r>
              <a:rPr sz="1600" dirty="0">
                <a:solidFill>
                  <a:srgbClr val="D4D4D4"/>
                </a:solidFill>
                <a:latin typeface="Consolas"/>
              </a:rPr>
              <a:t>=</a:t>
            </a:r>
            <a:r>
              <a:rPr sz="1600" dirty="0">
                <a:solidFill>
                  <a:srgbClr val="CE9178"/>
                </a:solidFill>
                <a:latin typeface="Consolas"/>
              </a:rPr>
              <a:t>"width=device-width, initial-scale=1.0"</a:t>
            </a:r>
            <a:r>
              <a:rPr sz="1600" dirty="0">
                <a:solidFill>
                  <a:srgbClr val="808080"/>
                </a:solidFill>
                <a:latin typeface="Consolas"/>
              </a:rPr>
              <a:t>&gt;</a:t>
            </a:r>
          </a:p>
          <a:p>
            <a:pPr algn="l">
              <a:lnSpc>
                <a:spcPct val="100000"/>
              </a:lnSpc>
              <a:spcBef>
                <a:spcPts val="0"/>
              </a:spcBef>
              <a:spcAft>
                <a:spcPts val="0"/>
              </a:spcAft>
            </a:pPr>
            <a:r>
              <a:rPr sz="1600" dirty="0">
                <a:solidFill>
                  <a:srgbClr val="D4D4D4"/>
                </a:solidFill>
                <a:latin typeface="Consolas"/>
              </a:rPr>
              <a:t>        </a:t>
            </a:r>
            <a:r>
              <a:rPr sz="1600" dirty="0">
                <a:solidFill>
                  <a:srgbClr val="808080"/>
                </a:solidFill>
                <a:latin typeface="Consolas"/>
              </a:rPr>
              <a:t>&lt;</a:t>
            </a:r>
            <a:r>
              <a:rPr sz="1600" dirty="0">
                <a:solidFill>
                  <a:srgbClr val="569CD6"/>
                </a:solidFill>
                <a:latin typeface="Consolas"/>
              </a:rPr>
              <a:t>title</a:t>
            </a:r>
            <a:r>
              <a:rPr sz="1600" dirty="0">
                <a:solidFill>
                  <a:srgbClr val="808080"/>
                </a:solidFill>
                <a:latin typeface="Consolas"/>
              </a:rPr>
              <a:t>&gt;</a:t>
            </a:r>
            <a:r>
              <a:rPr sz="1600" dirty="0">
                <a:solidFill>
                  <a:srgbClr val="D4D4D4"/>
                </a:solidFill>
                <a:latin typeface="Consolas"/>
              </a:rPr>
              <a:t>Example</a:t>
            </a:r>
            <a:r>
              <a:rPr sz="1600" dirty="0">
                <a:solidFill>
                  <a:srgbClr val="808080"/>
                </a:solidFill>
                <a:latin typeface="Consolas"/>
              </a:rPr>
              <a:t>&lt;/</a:t>
            </a:r>
            <a:r>
              <a:rPr sz="1600" dirty="0">
                <a:solidFill>
                  <a:srgbClr val="569CD6"/>
                </a:solidFill>
                <a:latin typeface="Consolas"/>
              </a:rPr>
              <a:t>title</a:t>
            </a:r>
            <a:r>
              <a:rPr sz="1600" dirty="0">
                <a:solidFill>
                  <a:srgbClr val="808080"/>
                </a:solidFill>
                <a:latin typeface="Consolas"/>
              </a:rPr>
              <a:t>&gt;</a:t>
            </a:r>
            <a:r>
              <a:rPr sz="1600" dirty="0">
                <a:solidFill>
                  <a:srgbClr val="D4D4D4"/>
                </a:solidFill>
                <a:latin typeface="Consolas"/>
              </a:rPr>
              <a:t> </a:t>
            </a:r>
          </a:p>
          <a:p>
            <a:pPr algn="l">
              <a:lnSpc>
                <a:spcPct val="100000"/>
              </a:lnSpc>
              <a:spcBef>
                <a:spcPts val="0"/>
              </a:spcBef>
              <a:spcAft>
                <a:spcPts val="0"/>
              </a:spcAft>
            </a:pPr>
            <a:r>
              <a:rPr sz="1600" dirty="0">
                <a:solidFill>
                  <a:srgbClr val="D4D4D4"/>
                </a:solidFill>
                <a:latin typeface="Consolas"/>
              </a:rPr>
              <a:t>    </a:t>
            </a:r>
            <a:r>
              <a:rPr sz="1600" dirty="0">
                <a:solidFill>
                  <a:srgbClr val="808080"/>
                </a:solidFill>
                <a:latin typeface="Consolas"/>
              </a:rPr>
              <a:t>&lt;/</a:t>
            </a:r>
            <a:r>
              <a:rPr sz="1600" dirty="0">
                <a:solidFill>
                  <a:srgbClr val="569CD6"/>
                </a:solidFill>
                <a:latin typeface="Consolas"/>
              </a:rPr>
              <a:t>head</a:t>
            </a:r>
            <a:r>
              <a:rPr sz="1600" dirty="0">
                <a:solidFill>
                  <a:srgbClr val="808080"/>
                </a:solidFill>
                <a:latin typeface="Consolas"/>
              </a:rPr>
              <a:t>&gt;</a:t>
            </a:r>
            <a:r>
              <a:rPr sz="1600" dirty="0">
                <a:solidFill>
                  <a:srgbClr val="D4D4D4"/>
                </a:solidFill>
                <a:latin typeface="Consolas"/>
              </a:rPr>
              <a:t> </a:t>
            </a:r>
          </a:p>
          <a:p>
            <a:pPr algn="l">
              <a:lnSpc>
                <a:spcPct val="100000"/>
              </a:lnSpc>
              <a:spcBef>
                <a:spcPts val="0"/>
              </a:spcBef>
              <a:spcAft>
                <a:spcPts val="0"/>
              </a:spcAft>
            </a:pPr>
            <a:r>
              <a:rPr sz="1600" dirty="0">
                <a:solidFill>
                  <a:srgbClr val="D4D4D4"/>
                </a:solidFill>
                <a:latin typeface="Consolas"/>
              </a:rPr>
              <a:t>    </a:t>
            </a:r>
            <a:r>
              <a:rPr sz="1600" dirty="0">
                <a:solidFill>
                  <a:srgbClr val="808080"/>
                </a:solidFill>
                <a:latin typeface="Consolas"/>
              </a:rPr>
              <a:t>&lt;</a:t>
            </a:r>
            <a:r>
              <a:rPr sz="1600" dirty="0">
                <a:solidFill>
                  <a:srgbClr val="569CD6"/>
                </a:solidFill>
                <a:latin typeface="Consolas"/>
              </a:rPr>
              <a:t>body</a:t>
            </a:r>
            <a:r>
              <a:rPr sz="1600" dirty="0">
                <a:solidFill>
                  <a:srgbClr val="808080"/>
                </a:solidFill>
                <a:latin typeface="Consolas"/>
              </a:rPr>
              <a:t>&gt;</a:t>
            </a:r>
            <a:r>
              <a:rPr sz="1600" dirty="0">
                <a:solidFill>
                  <a:srgbClr val="D4D4D4"/>
                </a:solidFill>
                <a:latin typeface="Consolas"/>
              </a:rPr>
              <a:t> </a:t>
            </a:r>
          </a:p>
          <a:p>
            <a:pPr algn="l">
              <a:lnSpc>
                <a:spcPct val="100000"/>
              </a:lnSpc>
              <a:spcBef>
                <a:spcPts val="0"/>
              </a:spcBef>
              <a:spcAft>
                <a:spcPts val="0"/>
              </a:spcAft>
            </a:pPr>
            <a:r>
              <a:rPr sz="1600" dirty="0">
                <a:solidFill>
                  <a:srgbClr val="D4D4D4"/>
                </a:solidFill>
                <a:latin typeface="Consolas"/>
              </a:rPr>
              <a:t> </a:t>
            </a:r>
          </a:p>
          <a:p>
            <a:pPr algn="l">
              <a:lnSpc>
                <a:spcPct val="100000"/>
              </a:lnSpc>
              <a:spcBef>
                <a:spcPts val="0"/>
              </a:spcBef>
              <a:spcAft>
                <a:spcPts val="0"/>
              </a:spcAft>
            </a:pPr>
            <a:r>
              <a:rPr sz="1600" dirty="0">
                <a:solidFill>
                  <a:srgbClr val="D4D4D4"/>
                </a:solidFill>
                <a:latin typeface="Consolas"/>
              </a:rPr>
              <a:t>        </a:t>
            </a:r>
            <a:r>
              <a:rPr sz="1600" dirty="0">
                <a:solidFill>
                  <a:srgbClr val="808080"/>
                </a:solidFill>
                <a:latin typeface="Consolas"/>
              </a:rPr>
              <a:t>&lt;</a:t>
            </a:r>
            <a:r>
              <a:rPr sz="1600" dirty="0">
                <a:solidFill>
                  <a:srgbClr val="569CD6"/>
                </a:solidFill>
                <a:latin typeface="Consolas"/>
              </a:rPr>
              <a:t>ul</a:t>
            </a:r>
            <a:r>
              <a:rPr sz="1600" dirty="0">
                <a:solidFill>
                  <a:srgbClr val="808080"/>
                </a:solidFill>
                <a:latin typeface="Consolas"/>
              </a:rPr>
              <a:t>&gt;</a:t>
            </a:r>
          </a:p>
          <a:p>
            <a:pPr algn="l">
              <a:lnSpc>
                <a:spcPct val="100000"/>
              </a:lnSpc>
              <a:spcBef>
                <a:spcPts val="0"/>
              </a:spcBef>
              <a:spcAft>
                <a:spcPts val="0"/>
              </a:spcAft>
            </a:pPr>
            <a:r>
              <a:rPr sz="1600" dirty="0">
                <a:solidFill>
                  <a:srgbClr val="D4D4D4"/>
                </a:solidFill>
                <a:latin typeface="Consolas"/>
              </a:rPr>
              <a:t>            </a:t>
            </a:r>
            <a:r>
              <a:rPr sz="1600" dirty="0">
                <a:solidFill>
                  <a:srgbClr val="808080"/>
                </a:solidFill>
                <a:latin typeface="Consolas"/>
              </a:rPr>
              <a:t>&lt;</a:t>
            </a:r>
            <a:r>
              <a:rPr sz="1600" dirty="0">
                <a:solidFill>
                  <a:srgbClr val="569CD6"/>
                </a:solidFill>
                <a:latin typeface="Consolas"/>
              </a:rPr>
              <a:t>li</a:t>
            </a:r>
            <a:r>
              <a:rPr sz="1600" dirty="0">
                <a:solidFill>
                  <a:srgbClr val="808080"/>
                </a:solidFill>
                <a:latin typeface="Consolas"/>
              </a:rPr>
              <a:t>&gt;</a:t>
            </a:r>
            <a:r>
              <a:rPr sz="1600" dirty="0">
                <a:solidFill>
                  <a:srgbClr val="D4D4D4"/>
                </a:solidFill>
                <a:latin typeface="Consolas"/>
              </a:rPr>
              <a:t>first item</a:t>
            </a:r>
            <a:r>
              <a:rPr sz="1600" dirty="0">
                <a:solidFill>
                  <a:srgbClr val="808080"/>
                </a:solidFill>
                <a:latin typeface="Consolas"/>
              </a:rPr>
              <a:t>&lt;/</a:t>
            </a:r>
            <a:r>
              <a:rPr sz="1600" dirty="0">
                <a:solidFill>
                  <a:srgbClr val="569CD6"/>
                </a:solidFill>
                <a:latin typeface="Consolas"/>
              </a:rPr>
              <a:t>li</a:t>
            </a:r>
            <a:r>
              <a:rPr sz="1600" dirty="0">
                <a:solidFill>
                  <a:srgbClr val="808080"/>
                </a:solidFill>
                <a:latin typeface="Consolas"/>
              </a:rPr>
              <a:t>&gt;</a:t>
            </a:r>
          </a:p>
          <a:p>
            <a:pPr algn="l">
              <a:lnSpc>
                <a:spcPct val="100000"/>
              </a:lnSpc>
              <a:spcBef>
                <a:spcPts val="0"/>
              </a:spcBef>
              <a:spcAft>
                <a:spcPts val="0"/>
              </a:spcAft>
            </a:pPr>
            <a:r>
              <a:rPr sz="1600" dirty="0">
                <a:solidFill>
                  <a:srgbClr val="D4D4D4"/>
                </a:solidFill>
                <a:latin typeface="Consolas"/>
              </a:rPr>
              <a:t>            </a:t>
            </a:r>
            <a:r>
              <a:rPr sz="1600" dirty="0">
                <a:solidFill>
                  <a:srgbClr val="808080"/>
                </a:solidFill>
                <a:latin typeface="Consolas"/>
              </a:rPr>
              <a:t>&lt;</a:t>
            </a:r>
            <a:r>
              <a:rPr sz="1600" dirty="0">
                <a:solidFill>
                  <a:srgbClr val="569CD6"/>
                </a:solidFill>
                <a:latin typeface="Consolas"/>
              </a:rPr>
              <a:t>li</a:t>
            </a:r>
            <a:r>
              <a:rPr sz="1600" dirty="0">
                <a:solidFill>
                  <a:srgbClr val="808080"/>
                </a:solidFill>
                <a:latin typeface="Consolas"/>
              </a:rPr>
              <a:t>&gt;</a:t>
            </a:r>
            <a:r>
              <a:rPr sz="1600" dirty="0">
                <a:solidFill>
                  <a:srgbClr val="D4D4D4"/>
                </a:solidFill>
                <a:latin typeface="Consolas"/>
              </a:rPr>
              <a:t>second item</a:t>
            </a:r>
            <a:r>
              <a:rPr sz="1600" dirty="0">
                <a:solidFill>
                  <a:srgbClr val="808080"/>
                </a:solidFill>
                <a:latin typeface="Consolas"/>
              </a:rPr>
              <a:t>&lt;/</a:t>
            </a:r>
            <a:r>
              <a:rPr sz="1600" dirty="0">
                <a:solidFill>
                  <a:srgbClr val="569CD6"/>
                </a:solidFill>
                <a:latin typeface="Consolas"/>
              </a:rPr>
              <a:t>li</a:t>
            </a:r>
            <a:r>
              <a:rPr sz="1600" dirty="0">
                <a:solidFill>
                  <a:srgbClr val="808080"/>
                </a:solidFill>
                <a:latin typeface="Consolas"/>
              </a:rPr>
              <a:t>&gt;</a:t>
            </a:r>
          </a:p>
          <a:p>
            <a:pPr algn="l">
              <a:lnSpc>
                <a:spcPct val="100000"/>
              </a:lnSpc>
              <a:spcBef>
                <a:spcPts val="0"/>
              </a:spcBef>
              <a:spcAft>
                <a:spcPts val="0"/>
              </a:spcAft>
            </a:pPr>
            <a:r>
              <a:rPr sz="1600" dirty="0">
                <a:solidFill>
                  <a:srgbClr val="D4D4D4"/>
                </a:solidFill>
                <a:latin typeface="Consolas"/>
              </a:rPr>
              <a:t>            </a:t>
            </a:r>
            <a:r>
              <a:rPr sz="1600" dirty="0">
                <a:solidFill>
                  <a:srgbClr val="808080"/>
                </a:solidFill>
                <a:latin typeface="Consolas"/>
              </a:rPr>
              <a:t>&lt;</a:t>
            </a:r>
            <a:r>
              <a:rPr sz="1600" dirty="0">
                <a:solidFill>
                  <a:srgbClr val="569CD6"/>
                </a:solidFill>
                <a:latin typeface="Consolas"/>
              </a:rPr>
              <a:t>li</a:t>
            </a:r>
            <a:r>
              <a:rPr sz="1600" dirty="0">
                <a:solidFill>
                  <a:srgbClr val="808080"/>
                </a:solidFill>
                <a:latin typeface="Consolas"/>
              </a:rPr>
              <a:t>&gt;</a:t>
            </a:r>
            <a:r>
              <a:rPr sz="1600" dirty="0">
                <a:solidFill>
                  <a:srgbClr val="D4D4D4"/>
                </a:solidFill>
                <a:latin typeface="Consolas"/>
              </a:rPr>
              <a:t>third item</a:t>
            </a:r>
            <a:r>
              <a:rPr sz="1600" dirty="0">
                <a:solidFill>
                  <a:srgbClr val="808080"/>
                </a:solidFill>
                <a:latin typeface="Consolas"/>
              </a:rPr>
              <a:t>&lt;/</a:t>
            </a:r>
            <a:r>
              <a:rPr sz="1600" dirty="0">
                <a:solidFill>
                  <a:srgbClr val="569CD6"/>
                </a:solidFill>
                <a:latin typeface="Consolas"/>
              </a:rPr>
              <a:t>li</a:t>
            </a:r>
            <a:r>
              <a:rPr sz="1600" dirty="0">
                <a:solidFill>
                  <a:srgbClr val="808080"/>
                </a:solidFill>
                <a:latin typeface="Consolas"/>
              </a:rPr>
              <a:t>&gt;</a:t>
            </a:r>
          </a:p>
          <a:p>
            <a:pPr algn="l">
              <a:lnSpc>
                <a:spcPct val="100000"/>
              </a:lnSpc>
              <a:spcBef>
                <a:spcPts val="0"/>
              </a:spcBef>
              <a:spcAft>
                <a:spcPts val="0"/>
              </a:spcAft>
            </a:pPr>
            <a:r>
              <a:rPr sz="1600" dirty="0">
                <a:solidFill>
                  <a:srgbClr val="D4D4D4"/>
                </a:solidFill>
                <a:latin typeface="Consolas"/>
              </a:rPr>
              <a:t>        </a:t>
            </a:r>
            <a:r>
              <a:rPr sz="1600" dirty="0">
                <a:solidFill>
                  <a:srgbClr val="808080"/>
                </a:solidFill>
                <a:latin typeface="Consolas"/>
              </a:rPr>
              <a:t>&lt;/</a:t>
            </a:r>
            <a:r>
              <a:rPr sz="1600" dirty="0">
                <a:solidFill>
                  <a:srgbClr val="569CD6"/>
                </a:solidFill>
                <a:latin typeface="Consolas"/>
              </a:rPr>
              <a:t>ul</a:t>
            </a:r>
            <a:r>
              <a:rPr sz="1600" dirty="0">
                <a:solidFill>
                  <a:srgbClr val="808080"/>
                </a:solidFill>
                <a:latin typeface="Consolas"/>
              </a:rPr>
              <a:t>&gt;</a:t>
            </a:r>
          </a:p>
          <a:p>
            <a:pPr algn="l">
              <a:lnSpc>
                <a:spcPct val="100000"/>
              </a:lnSpc>
              <a:spcBef>
                <a:spcPts val="0"/>
              </a:spcBef>
              <a:spcAft>
                <a:spcPts val="0"/>
              </a:spcAft>
            </a:pPr>
            <a:r>
              <a:rPr sz="1600" dirty="0">
                <a:solidFill>
                  <a:srgbClr val="D4D4D4"/>
                </a:solidFill>
                <a:latin typeface="Consolas"/>
              </a:rPr>
              <a:t> </a:t>
            </a:r>
          </a:p>
          <a:p>
            <a:pPr algn="l">
              <a:lnSpc>
                <a:spcPct val="100000"/>
              </a:lnSpc>
              <a:spcBef>
                <a:spcPts val="0"/>
              </a:spcBef>
              <a:spcAft>
                <a:spcPts val="0"/>
              </a:spcAft>
            </a:pPr>
            <a:r>
              <a:rPr sz="1600" dirty="0">
                <a:solidFill>
                  <a:srgbClr val="D4D4D4"/>
                </a:solidFill>
                <a:latin typeface="Consolas"/>
              </a:rPr>
              <a:t>    </a:t>
            </a:r>
            <a:r>
              <a:rPr sz="1600" dirty="0">
                <a:solidFill>
                  <a:srgbClr val="808080"/>
                </a:solidFill>
                <a:latin typeface="Consolas"/>
              </a:rPr>
              <a:t>&lt;/</a:t>
            </a:r>
            <a:r>
              <a:rPr sz="1600" dirty="0">
                <a:solidFill>
                  <a:srgbClr val="569CD6"/>
                </a:solidFill>
                <a:latin typeface="Consolas"/>
              </a:rPr>
              <a:t>body</a:t>
            </a:r>
            <a:r>
              <a:rPr sz="1600" dirty="0">
                <a:solidFill>
                  <a:srgbClr val="808080"/>
                </a:solidFill>
                <a:latin typeface="Consolas"/>
              </a:rPr>
              <a:t>&gt;</a:t>
            </a:r>
            <a:r>
              <a:rPr sz="1600" dirty="0">
                <a:solidFill>
                  <a:srgbClr val="D4D4D4"/>
                </a:solidFill>
                <a:latin typeface="Consolas"/>
              </a:rPr>
              <a:t> </a:t>
            </a:r>
          </a:p>
          <a:p>
            <a:pPr algn="l">
              <a:lnSpc>
                <a:spcPct val="100000"/>
              </a:lnSpc>
              <a:spcBef>
                <a:spcPts val="0"/>
              </a:spcBef>
              <a:spcAft>
                <a:spcPts val="0"/>
              </a:spcAft>
            </a:pPr>
            <a:r>
              <a:rPr sz="1600" dirty="0">
                <a:solidFill>
                  <a:srgbClr val="808080"/>
                </a:solidFill>
                <a:latin typeface="Consolas"/>
              </a:rPr>
              <a:t>&lt;/</a:t>
            </a:r>
            <a:r>
              <a:rPr sz="1600" dirty="0">
                <a:solidFill>
                  <a:srgbClr val="569CD6"/>
                </a:solidFill>
                <a:latin typeface="Consolas"/>
              </a:rPr>
              <a:t>html</a:t>
            </a:r>
            <a:r>
              <a:rPr sz="1600" dirty="0">
                <a:solidFill>
                  <a:srgbClr val="808080"/>
                </a:solidFill>
                <a:latin typeface="Consolas"/>
              </a:rPr>
              <a:t>&gt;</a:t>
            </a:r>
          </a:p>
        </p:txBody>
      </p:sp>
      <p:sp>
        <p:nvSpPr>
          <p:cNvPr id="7" name="TextBox 6"/>
          <p:cNvSpPr txBox="1"/>
          <p:nvPr/>
        </p:nvSpPr>
        <p:spPr>
          <a:xfrm>
            <a:off x="502920" y="6473952"/>
            <a:ext cx="10058400" cy="320040"/>
          </a:xfrm>
          <a:prstGeom prst="rect">
            <a:avLst/>
          </a:prstGeom>
          <a:noFill/>
        </p:spPr>
        <p:txBody>
          <a:bodyPr wrap="none">
            <a:spAutoFit/>
          </a:bodyPr>
          <a:lstStyle/>
          <a:p>
            <a:r>
              <a:rPr sz="1100">
                <a:solidFill>
                  <a:srgbClr val="6B7480"/>
                </a:solidFill>
                <a:latin typeface="Calibri"/>
              </a:rPr>
              <a:t>WEBD 1000 — HTML Examples Review   ·   04_unordered_list_example.html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EB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19456"/>
            <a:ext cx="11155680" cy="502920"/>
          </a:xfrm>
          <a:prstGeom prst="rect">
            <a:avLst/>
          </a:prstGeom>
          <a:noFill/>
        </p:spPr>
        <p:txBody>
          <a:bodyPr wrap="square">
            <a:spAutoFit/>
          </a:bodyPr>
          <a:lstStyle/>
          <a:p>
            <a:r>
              <a:rPr sz="2800" b="1">
                <a:solidFill>
                  <a:srgbClr val="1B2A4A"/>
                </a:solidFill>
                <a:latin typeface="Calibri"/>
              </a:rPr>
              <a:t>Example 05  Ordered Lists</a:t>
            </a:r>
          </a:p>
        </p:txBody>
      </p:sp>
      <p:sp>
        <p:nvSpPr>
          <p:cNvPr id="4" name="TextBox 3"/>
          <p:cNvSpPr txBox="1"/>
          <p:nvPr/>
        </p:nvSpPr>
        <p:spPr>
          <a:xfrm>
            <a:off x="530352" y="713232"/>
            <a:ext cx="11155680" cy="292608"/>
          </a:xfrm>
          <a:prstGeom prst="rect">
            <a:avLst/>
          </a:prstGeom>
          <a:noFill/>
        </p:spPr>
        <p:txBody>
          <a:bodyPr wrap="square">
            <a:spAutoFit/>
          </a:bodyPr>
          <a:lstStyle/>
          <a:p>
            <a:r>
              <a:rPr sz="1400" i="1">
                <a:solidFill>
                  <a:srgbClr val="6B7480"/>
                </a:solidFill>
                <a:latin typeface="Calibri"/>
              </a:rPr>
              <a:t>Numbered lists using &lt;ol&gt; and &lt;li&gt;</a:t>
            </a:r>
          </a:p>
        </p:txBody>
      </p:sp>
      <p:sp>
        <p:nvSpPr>
          <p:cNvPr id="5" name="TextBox 4"/>
          <p:cNvSpPr txBox="1"/>
          <p:nvPr/>
        </p:nvSpPr>
        <p:spPr>
          <a:xfrm>
            <a:off x="530352" y="1005840"/>
            <a:ext cx="11155680" cy="566928"/>
          </a:xfrm>
          <a:prstGeom prst="rect">
            <a:avLst/>
          </a:prstGeom>
          <a:noFill/>
        </p:spPr>
        <p:txBody>
          <a:bodyPr wrap="square">
            <a:spAutoFit/>
          </a:bodyPr>
          <a:lstStyle/>
          <a:p>
            <a:r>
              <a:rPr sz="1450">
                <a:solidFill>
                  <a:srgbClr val="333D4B"/>
                </a:solidFill>
                <a:latin typeface="Calibri"/>
              </a:rPr>
              <a:t>An ordered list (&lt;ol&gt;) automatically numbers its items, with each one wrapped in an &lt;li&gt; tag. Use it whenever sequence matters, like step-by-step instructions.</a:t>
            </a:r>
          </a:p>
        </p:txBody>
      </p:sp>
      <p:sp>
        <p:nvSpPr>
          <p:cNvPr id="6" name="Rounded Rectangle 5"/>
          <p:cNvSpPr/>
          <p:nvPr/>
        </p:nvSpPr>
        <p:spPr>
          <a:xfrm>
            <a:off x="502920" y="1645920"/>
            <a:ext cx="11183112" cy="4709160"/>
          </a:xfrm>
          <a:prstGeom prst="roundRect">
            <a:avLst>
              <a:gd name="adj" fmla="val 3000"/>
            </a:avLst>
          </a:prstGeom>
          <a:solidFill>
            <a:srgbClr val="1E1E1E"/>
          </a:solidFill>
          <a:ln w="12700">
            <a:solidFill>
              <a:srgbClr val="3C3C3C"/>
            </a:solidFill>
          </a:ln>
          <a:effectLst/>
        </p:spPr>
        <p:style>
          <a:lnRef idx="1">
            <a:schemeClr val="accent1"/>
          </a:lnRef>
          <a:fillRef idx="3">
            <a:schemeClr val="accent1"/>
          </a:fillRef>
          <a:effectRef idx="2">
            <a:schemeClr val="accent1"/>
          </a:effectRef>
          <a:fontRef idx="minor">
            <a:schemeClr val="lt1"/>
          </a:fontRef>
        </p:style>
        <p:txBody>
          <a:bodyPr wrap="square" lIns="201168" tIns="146304" rIns="201168" bIns="146304" rtlCol="0" anchor="t">
            <a:noAutofit/>
          </a:bodyPr>
          <a:lstStyle/>
          <a:p>
            <a:pPr algn="l">
              <a:lnSpc>
                <a:spcPct val="100000"/>
              </a:lnSpc>
              <a:spcBef>
                <a:spcPts val="0"/>
              </a:spcBef>
              <a:spcAft>
                <a:spcPts val="0"/>
              </a:spcAft>
            </a:pPr>
            <a:r>
              <a:rPr sz="1600" dirty="0">
                <a:solidFill>
                  <a:srgbClr val="808080"/>
                </a:solidFill>
                <a:latin typeface="Consolas"/>
              </a:rPr>
              <a:t>&lt;!DOCTYPE html&gt;</a:t>
            </a:r>
            <a:r>
              <a:rPr sz="1600" dirty="0">
                <a:solidFill>
                  <a:srgbClr val="D4D4D4"/>
                </a:solidFill>
                <a:latin typeface="Consolas"/>
              </a:rPr>
              <a:t> </a:t>
            </a:r>
          </a:p>
          <a:p>
            <a:pPr algn="l">
              <a:lnSpc>
                <a:spcPct val="100000"/>
              </a:lnSpc>
              <a:spcBef>
                <a:spcPts val="0"/>
              </a:spcBef>
              <a:spcAft>
                <a:spcPts val="0"/>
              </a:spcAft>
            </a:pPr>
            <a:r>
              <a:rPr sz="1600" dirty="0">
                <a:solidFill>
                  <a:srgbClr val="808080"/>
                </a:solidFill>
                <a:latin typeface="Consolas"/>
              </a:rPr>
              <a:t>&lt;</a:t>
            </a:r>
            <a:r>
              <a:rPr sz="1600" dirty="0">
                <a:solidFill>
                  <a:srgbClr val="569CD6"/>
                </a:solidFill>
                <a:latin typeface="Consolas"/>
              </a:rPr>
              <a:t>html</a:t>
            </a:r>
            <a:r>
              <a:rPr sz="1600" dirty="0">
                <a:solidFill>
                  <a:srgbClr val="D4D4D4"/>
                </a:solidFill>
                <a:latin typeface="Consolas"/>
              </a:rPr>
              <a:t> </a:t>
            </a:r>
            <a:r>
              <a:rPr sz="1600" dirty="0">
                <a:solidFill>
                  <a:srgbClr val="9CDCFE"/>
                </a:solidFill>
                <a:latin typeface="Consolas"/>
              </a:rPr>
              <a:t>lang</a:t>
            </a:r>
            <a:r>
              <a:rPr sz="1600" dirty="0">
                <a:solidFill>
                  <a:srgbClr val="D4D4D4"/>
                </a:solidFill>
                <a:latin typeface="Consolas"/>
              </a:rPr>
              <a:t>=</a:t>
            </a:r>
            <a:r>
              <a:rPr sz="1600" dirty="0">
                <a:solidFill>
                  <a:srgbClr val="CE9178"/>
                </a:solidFill>
                <a:latin typeface="Consolas"/>
              </a:rPr>
              <a:t>"</a:t>
            </a:r>
            <a:r>
              <a:rPr sz="1600" dirty="0" err="1">
                <a:solidFill>
                  <a:srgbClr val="CE9178"/>
                </a:solidFill>
                <a:latin typeface="Consolas"/>
              </a:rPr>
              <a:t>en</a:t>
            </a:r>
            <a:r>
              <a:rPr sz="1600" dirty="0">
                <a:solidFill>
                  <a:srgbClr val="CE9178"/>
                </a:solidFill>
                <a:latin typeface="Consolas"/>
              </a:rPr>
              <a:t>"</a:t>
            </a:r>
            <a:r>
              <a:rPr sz="1600" dirty="0">
                <a:solidFill>
                  <a:srgbClr val="808080"/>
                </a:solidFill>
                <a:latin typeface="Consolas"/>
              </a:rPr>
              <a:t>&gt;</a:t>
            </a:r>
            <a:r>
              <a:rPr sz="1600" dirty="0">
                <a:solidFill>
                  <a:srgbClr val="D4D4D4"/>
                </a:solidFill>
                <a:latin typeface="Consolas"/>
              </a:rPr>
              <a:t> </a:t>
            </a:r>
          </a:p>
          <a:p>
            <a:pPr algn="l">
              <a:lnSpc>
                <a:spcPct val="100000"/>
              </a:lnSpc>
              <a:spcBef>
                <a:spcPts val="0"/>
              </a:spcBef>
              <a:spcAft>
                <a:spcPts val="0"/>
              </a:spcAft>
            </a:pPr>
            <a:r>
              <a:rPr sz="1600" dirty="0">
                <a:solidFill>
                  <a:srgbClr val="D4D4D4"/>
                </a:solidFill>
                <a:latin typeface="Consolas"/>
              </a:rPr>
              <a:t>    </a:t>
            </a:r>
            <a:r>
              <a:rPr sz="1600" dirty="0">
                <a:solidFill>
                  <a:srgbClr val="808080"/>
                </a:solidFill>
                <a:latin typeface="Consolas"/>
              </a:rPr>
              <a:t>&lt;</a:t>
            </a:r>
            <a:r>
              <a:rPr sz="1600" dirty="0">
                <a:solidFill>
                  <a:srgbClr val="569CD6"/>
                </a:solidFill>
                <a:latin typeface="Consolas"/>
              </a:rPr>
              <a:t>head</a:t>
            </a:r>
            <a:r>
              <a:rPr sz="1600" dirty="0">
                <a:solidFill>
                  <a:srgbClr val="808080"/>
                </a:solidFill>
                <a:latin typeface="Consolas"/>
              </a:rPr>
              <a:t>&gt;</a:t>
            </a:r>
            <a:r>
              <a:rPr sz="1600" dirty="0">
                <a:solidFill>
                  <a:srgbClr val="D4D4D4"/>
                </a:solidFill>
                <a:latin typeface="Consolas"/>
              </a:rPr>
              <a:t> </a:t>
            </a:r>
          </a:p>
          <a:p>
            <a:pPr algn="l">
              <a:lnSpc>
                <a:spcPct val="100000"/>
              </a:lnSpc>
              <a:spcBef>
                <a:spcPts val="0"/>
              </a:spcBef>
              <a:spcAft>
                <a:spcPts val="0"/>
              </a:spcAft>
            </a:pPr>
            <a:r>
              <a:rPr sz="1600" dirty="0">
                <a:solidFill>
                  <a:srgbClr val="D4D4D4"/>
                </a:solidFill>
                <a:latin typeface="Consolas"/>
              </a:rPr>
              <a:t>        </a:t>
            </a:r>
            <a:r>
              <a:rPr sz="1600" dirty="0">
                <a:solidFill>
                  <a:srgbClr val="808080"/>
                </a:solidFill>
                <a:latin typeface="Consolas"/>
              </a:rPr>
              <a:t>&lt;</a:t>
            </a:r>
            <a:r>
              <a:rPr sz="1600" dirty="0">
                <a:solidFill>
                  <a:srgbClr val="569CD6"/>
                </a:solidFill>
                <a:latin typeface="Consolas"/>
              </a:rPr>
              <a:t>meta</a:t>
            </a:r>
            <a:r>
              <a:rPr sz="1600" dirty="0">
                <a:solidFill>
                  <a:srgbClr val="D4D4D4"/>
                </a:solidFill>
                <a:latin typeface="Consolas"/>
              </a:rPr>
              <a:t> </a:t>
            </a:r>
            <a:r>
              <a:rPr sz="1600" dirty="0">
                <a:solidFill>
                  <a:srgbClr val="9CDCFE"/>
                </a:solidFill>
                <a:latin typeface="Consolas"/>
              </a:rPr>
              <a:t>charset</a:t>
            </a:r>
            <a:r>
              <a:rPr sz="1600" dirty="0">
                <a:solidFill>
                  <a:srgbClr val="D4D4D4"/>
                </a:solidFill>
                <a:latin typeface="Consolas"/>
              </a:rPr>
              <a:t>=</a:t>
            </a:r>
            <a:r>
              <a:rPr sz="1600" dirty="0">
                <a:solidFill>
                  <a:srgbClr val="CE9178"/>
                </a:solidFill>
                <a:latin typeface="Consolas"/>
              </a:rPr>
              <a:t>"UTF-8"</a:t>
            </a:r>
            <a:r>
              <a:rPr sz="1600" dirty="0">
                <a:solidFill>
                  <a:srgbClr val="808080"/>
                </a:solidFill>
                <a:latin typeface="Consolas"/>
              </a:rPr>
              <a:t>&gt;</a:t>
            </a:r>
          </a:p>
          <a:p>
            <a:pPr algn="l">
              <a:lnSpc>
                <a:spcPct val="100000"/>
              </a:lnSpc>
              <a:spcBef>
                <a:spcPts val="0"/>
              </a:spcBef>
              <a:spcAft>
                <a:spcPts val="0"/>
              </a:spcAft>
            </a:pPr>
            <a:r>
              <a:rPr sz="1600" dirty="0">
                <a:solidFill>
                  <a:srgbClr val="D4D4D4"/>
                </a:solidFill>
                <a:latin typeface="Consolas"/>
              </a:rPr>
              <a:t>        </a:t>
            </a:r>
            <a:r>
              <a:rPr sz="1600" dirty="0">
                <a:solidFill>
                  <a:srgbClr val="808080"/>
                </a:solidFill>
                <a:latin typeface="Consolas"/>
              </a:rPr>
              <a:t>&lt;</a:t>
            </a:r>
            <a:r>
              <a:rPr sz="1600" dirty="0">
                <a:solidFill>
                  <a:srgbClr val="569CD6"/>
                </a:solidFill>
                <a:latin typeface="Consolas"/>
              </a:rPr>
              <a:t>meta</a:t>
            </a:r>
            <a:r>
              <a:rPr sz="1600" dirty="0">
                <a:solidFill>
                  <a:srgbClr val="D4D4D4"/>
                </a:solidFill>
                <a:latin typeface="Consolas"/>
              </a:rPr>
              <a:t> </a:t>
            </a:r>
            <a:r>
              <a:rPr sz="1600" dirty="0">
                <a:solidFill>
                  <a:srgbClr val="9CDCFE"/>
                </a:solidFill>
                <a:latin typeface="Consolas"/>
              </a:rPr>
              <a:t>name</a:t>
            </a:r>
            <a:r>
              <a:rPr sz="1600" dirty="0">
                <a:solidFill>
                  <a:srgbClr val="D4D4D4"/>
                </a:solidFill>
                <a:latin typeface="Consolas"/>
              </a:rPr>
              <a:t>=</a:t>
            </a:r>
            <a:r>
              <a:rPr sz="1600" dirty="0">
                <a:solidFill>
                  <a:srgbClr val="CE9178"/>
                </a:solidFill>
                <a:latin typeface="Consolas"/>
              </a:rPr>
              <a:t>"viewport"</a:t>
            </a:r>
            <a:r>
              <a:rPr sz="1600" dirty="0">
                <a:solidFill>
                  <a:srgbClr val="D4D4D4"/>
                </a:solidFill>
                <a:latin typeface="Consolas"/>
              </a:rPr>
              <a:t> </a:t>
            </a:r>
            <a:r>
              <a:rPr sz="1600" dirty="0">
                <a:solidFill>
                  <a:srgbClr val="9CDCFE"/>
                </a:solidFill>
                <a:latin typeface="Consolas"/>
              </a:rPr>
              <a:t>content</a:t>
            </a:r>
            <a:r>
              <a:rPr sz="1600" dirty="0">
                <a:solidFill>
                  <a:srgbClr val="D4D4D4"/>
                </a:solidFill>
                <a:latin typeface="Consolas"/>
              </a:rPr>
              <a:t>=</a:t>
            </a:r>
            <a:r>
              <a:rPr sz="1600" dirty="0">
                <a:solidFill>
                  <a:srgbClr val="CE9178"/>
                </a:solidFill>
                <a:latin typeface="Consolas"/>
              </a:rPr>
              <a:t>"width=device-width, initial-scale=1.0"</a:t>
            </a:r>
            <a:r>
              <a:rPr sz="1600" dirty="0">
                <a:solidFill>
                  <a:srgbClr val="808080"/>
                </a:solidFill>
                <a:latin typeface="Consolas"/>
              </a:rPr>
              <a:t>&gt;</a:t>
            </a:r>
          </a:p>
          <a:p>
            <a:pPr algn="l">
              <a:lnSpc>
                <a:spcPct val="100000"/>
              </a:lnSpc>
              <a:spcBef>
                <a:spcPts val="0"/>
              </a:spcBef>
              <a:spcAft>
                <a:spcPts val="0"/>
              </a:spcAft>
            </a:pPr>
            <a:r>
              <a:rPr sz="1600" dirty="0">
                <a:solidFill>
                  <a:srgbClr val="D4D4D4"/>
                </a:solidFill>
                <a:latin typeface="Consolas"/>
              </a:rPr>
              <a:t>        </a:t>
            </a:r>
            <a:r>
              <a:rPr sz="1600" dirty="0">
                <a:solidFill>
                  <a:srgbClr val="808080"/>
                </a:solidFill>
                <a:latin typeface="Consolas"/>
              </a:rPr>
              <a:t>&lt;</a:t>
            </a:r>
            <a:r>
              <a:rPr sz="1600" dirty="0">
                <a:solidFill>
                  <a:srgbClr val="569CD6"/>
                </a:solidFill>
                <a:latin typeface="Consolas"/>
              </a:rPr>
              <a:t>title</a:t>
            </a:r>
            <a:r>
              <a:rPr sz="1600" dirty="0">
                <a:solidFill>
                  <a:srgbClr val="808080"/>
                </a:solidFill>
                <a:latin typeface="Consolas"/>
              </a:rPr>
              <a:t>&gt;</a:t>
            </a:r>
            <a:r>
              <a:rPr sz="1600" dirty="0">
                <a:solidFill>
                  <a:srgbClr val="D4D4D4"/>
                </a:solidFill>
                <a:latin typeface="Consolas"/>
              </a:rPr>
              <a:t>Example</a:t>
            </a:r>
            <a:r>
              <a:rPr sz="1600" dirty="0">
                <a:solidFill>
                  <a:srgbClr val="808080"/>
                </a:solidFill>
                <a:latin typeface="Consolas"/>
              </a:rPr>
              <a:t>&lt;/</a:t>
            </a:r>
            <a:r>
              <a:rPr sz="1600" dirty="0">
                <a:solidFill>
                  <a:srgbClr val="569CD6"/>
                </a:solidFill>
                <a:latin typeface="Consolas"/>
              </a:rPr>
              <a:t>title</a:t>
            </a:r>
            <a:r>
              <a:rPr sz="1600" dirty="0">
                <a:solidFill>
                  <a:srgbClr val="808080"/>
                </a:solidFill>
                <a:latin typeface="Consolas"/>
              </a:rPr>
              <a:t>&gt;</a:t>
            </a:r>
            <a:r>
              <a:rPr sz="1600" dirty="0">
                <a:solidFill>
                  <a:srgbClr val="D4D4D4"/>
                </a:solidFill>
                <a:latin typeface="Consolas"/>
              </a:rPr>
              <a:t> </a:t>
            </a:r>
          </a:p>
          <a:p>
            <a:pPr algn="l">
              <a:lnSpc>
                <a:spcPct val="100000"/>
              </a:lnSpc>
              <a:spcBef>
                <a:spcPts val="0"/>
              </a:spcBef>
              <a:spcAft>
                <a:spcPts val="0"/>
              </a:spcAft>
            </a:pPr>
            <a:r>
              <a:rPr sz="1600" dirty="0">
                <a:solidFill>
                  <a:srgbClr val="D4D4D4"/>
                </a:solidFill>
                <a:latin typeface="Consolas"/>
              </a:rPr>
              <a:t>    </a:t>
            </a:r>
            <a:r>
              <a:rPr sz="1600" dirty="0">
                <a:solidFill>
                  <a:srgbClr val="808080"/>
                </a:solidFill>
                <a:latin typeface="Consolas"/>
              </a:rPr>
              <a:t>&lt;/</a:t>
            </a:r>
            <a:r>
              <a:rPr sz="1600" dirty="0">
                <a:solidFill>
                  <a:srgbClr val="569CD6"/>
                </a:solidFill>
                <a:latin typeface="Consolas"/>
              </a:rPr>
              <a:t>head</a:t>
            </a:r>
            <a:r>
              <a:rPr sz="1600" dirty="0">
                <a:solidFill>
                  <a:srgbClr val="808080"/>
                </a:solidFill>
                <a:latin typeface="Consolas"/>
              </a:rPr>
              <a:t>&gt;</a:t>
            </a:r>
            <a:r>
              <a:rPr sz="1600" dirty="0">
                <a:solidFill>
                  <a:srgbClr val="D4D4D4"/>
                </a:solidFill>
                <a:latin typeface="Consolas"/>
              </a:rPr>
              <a:t> </a:t>
            </a:r>
          </a:p>
          <a:p>
            <a:pPr algn="l">
              <a:lnSpc>
                <a:spcPct val="100000"/>
              </a:lnSpc>
              <a:spcBef>
                <a:spcPts val="0"/>
              </a:spcBef>
              <a:spcAft>
                <a:spcPts val="0"/>
              </a:spcAft>
            </a:pPr>
            <a:r>
              <a:rPr sz="1600" dirty="0">
                <a:solidFill>
                  <a:srgbClr val="D4D4D4"/>
                </a:solidFill>
                <a:latin typeface="Consolas"/>
              </a:rPr>
              <a:t>    </a:t>
            </a:r>
            <a:r>
              <a:rPr sz="1600" dirty="0">
                <a:solidFill>
                  <a:srgbClr val="808080"/>
                </a:solidFill>
                <a:latin typeface="Consolas"/>
              </a:rPr>
              <a:t>&lt;</a:t>
            </a:r>
            <a:r>
              <a:rPr sz="1600" dirty="0">
                <a:solidFill>
                  <a:srgbClr val="569CD6"/>
                </a:solidFill>
                <a:latin typeface="Consolas"/>
              </a:rPr>
              <a:t>body</a:t>
            </a:r>
            <a:r>
              <a:rPr sz="1600" dirty="0">
                <a:solidFill>
                  <a:srgbClr val="808080"/>
                </a:solidFill>
                <a:latin typeface="Consolas"/>
              </a:rPr>
              <a:t>&gt;</a:t>
            </a:r>
            <a:r>
              <a:rPr sz="1600" dirty="0">
                <a:solidFill>
                  <a:srgbClr val="D4D4D4"/>
                </a:solidFill>
                <a:latin typeface="Consolas"/>
              </a:rPr>
              <a:t> </a:t>
            </a:r>
          </a:p>
          <a:p>
            <a:pPr algn="l">
              <a:lnSpc>
                <a:spcPct val="100000"/>
              </a:lnSpc>
              <a:spcBef>
                <a:spcPts val="0"/>
              </a:spcBef>
              <a:spcAft>
                <a:spcPts val="0"/>
              </a:spcAft>
            </a:pPr>
            <a:r>
              <a:rPr sz="1600" dirty="0">
                <a:solidFill>
                  <a:srgbClr val="D4D4D4"/>
                </a:solidFill>
                <a:latin typeface="Consolas"/>
              </a:rPr>
              <a:t> </a:t>
            </a:r>
          </a:p>
          <a:p>
            <a:pPr algn="l">
              <a:lnSpc>
                <a:spcPct val="100000"/>
              </a:lnSpc>
              <a:spcBef>
                <a:spcPts val="0"/>
              </a:spcBef>
              <a:spcAft>
                <a:spcPts val="0"/>
              </a:spcAft>
            </a:pPr>
            <a:r>
              <a:rPr sz="1600" dirty="0">
                <a:solidFill>
                  <a:srgbClr val="D4D4D4"/>
                </a:solidFill>
                <a:latin typeface="Consolas"/>
              </a:rPr>
              <a:t>        </a:t>
            </a:r>
            <a:r>
              <a:rPr sz="1600" dirty="0">
                <a:solidFill>
                  <a:srgbClr val="808080"/>
                </a:solidFill>
                <a:latin typeface="Consolas"/>
              </a:rPr>
              <a:t>&lt;</a:t>
            </a:r>
            <a:r>
              <a:rPr sz="1600" dirty="0" err="1">
                <a:solidFill>
                  <a:srgbClr val="569CD6"/>
                </a:solidFill>
                <a:latin typeface="Consolas"/>
              </a:rPr>
              <a:t>ol</a:t>
            </a:r>
            <a:r>
              <a:rPr sz="1600" dirty="0">
                <a:solidFill>
                  <a:srgbClr val="808080"/>
                </a:solidFill>
                <a:latin typeface="Consolas"/>
              </a:rPr>
              <a:t>&gt;</a:t>
            </a:r>
          </a:p>
          <a:p>
            <a:pPr algn="l">
              <a:lnSpc>
                <a:spcPct val="100000"/>
              </a:lnSpc>
              <a:spcBef>
                <a:spcPts val="0"/>
              </a:spcBef>
              <a:spcAft>
                <a:spcPts val="0"/>
              </a:spcAft>
            </a:pPr>
            <a:r>
              <a:rPr sz="1600" dirty="0">
                <a:solidFill>
                  <a:srgbClr val="D4D4D4"/>
                </a:solidFill>
                <a:latin typeface="Consolas"/>
              </a:rPr>
              <a:t>            </a:t>
            </a:r>
            <a:r>
              <a:rPr sz="1600" dirty="0">
                <a:solidFill>
                  <a:srgbClr val="808080"/>
                </a:solidFill>
                <a:latin typeface="Consolas"/>
              </a:rPr>
              <a:t>&lt;</a:t>
            </a:r>
            <a:r>
              <a:rPr sz="1600" dirty="0">
                <a:solidFill>
                  <a:srgbClr val="569CD6"/>
                </a:solidFill>
                <a:latin typeface="Consolas"/>
              </a:rPr>
              <a:t>li</a:t>
            </a:r>
            <a:r>
              <a:rPr sz="1600" dirty="0">
                <a:solidFill>
                  <a:srgbClr val="808080"/>
                </a:solidFill>
                <a:latin typeface="Consolas"/>
              </a:rPr>
              <a:t>&gt;</a:t>
            </a:r>
            <a:r>
              <a:rPr sz="1600" dirty="0">
                <a:solidFill>
                  <a:srgbClr val="D4D4D4"/>
                </a:solidFill>
                <a:latin typeface="Consolas"/>
              </a:rPr>
              <a:t>first item</a:t>
            </a:r>
            <a:r>
              <a:rPr sz="1600" dirty="0">
                <a:solidFill>
                  <a:srgbClr val="808080"/>
                </a:solidFill>
                <a:latin typeface="Consolas"/>
              </a:rPr>
              <a:t>&lt;/</a:t>
            </a:r>
            <a:r>
              <a:rPr sz="1600" dirty="0">
                <a:solidFill>
                  <a:srgbClr val="569CD6"/>
                </a:solidFill>
                <a:latin typeface="Consolas"/>
              </a:rPr>
              <a:t>li</a:t>
            </a:r>
            <a:r>
              <a:rPr sz="1600" dirty="0">
                <a:solidFill>
                  <a:srgbClr val="808080"/>
                </a:solidFill>
                <a:latin typeface="Consolas"/>
              </a:rPr>
              <a:t>&gt;</a:t>
            </a:r>
          </a:p>
          <a:p>
            <a:pPr algn="l">
              <a:lnSpc>
                <a:spcPct val="100000"/>
              </a:lnSpc>
              <a:spcBef>
                <a:spcPts val="0"/>
              </a:spcBef>
              <a:spcAft>
                <a:spcPts val="0"/>
              </a:spcAft>
            </a:pPr>
            <a:r>
              <a:rPr sz="1600" dirty="0">
                <a:solidFill>
                  <a:srgbClr val="D4D4D4"/>
                </a:solidFill>
                <a:latin typeface="Consolas"/>
              </a:rPr>
              <a:t>            </a:t>
            </a:r>
            <a:r>
              <a:rPr sz="1600" dirty="0">
                <a:solidFill>
                  <a:srgbClr val="808080"/>
                </a:solidFill>
                <a:latin typeface="Consolas"/>
              </a:rPr>
              <a:t>&lt;</a:t>
            </a:r>
            <a:r>
              <a:rPr sz="1600" dirty="0">
                <a:solidFill>
                  <a:srgbClr val="569CD6"/>
                </a:solidFill>
                <a:latin typeface="Consolas"/>
              </a:rPr>
              <a:t>li</a:t>
            </a:r>
            <a:r>
              <a:rPr sz="1600" dirty="0">
                <a:solidFill>
                  <a:srgbClr val="808080"/>
                </a:solidFill>
                <a:latin typeface="Consolas"/>
              </a:rPr>
              <a:t>&gt;</a:t>
            </a:r>
            <a:r>
              <a:rPr sz="1600" dirty="0">
                <a:solidFill>
                  <a:srgbClr val="D4D4D4"/>
                </a:solidFill>
                <a:latin typeface="Consolas"/>
              </a:rPr>
              <a:t>second item</a:t>
            </a:r>
            <a:r>
              <a:rPr sz="1600" dirty="0">
                <a:solidFill>
                  <a:srgbClr val="808080"/>
                </a:solidFill>
                <a:latin typeface="Consolas"/>
              </a:rPr>
              <a:t>&lt;/</a:t>
            </a:r>
            <a:r>
              <a:rPr sz="1600" dirty="0">
                <a:solidFill>
                  <a:srgbClr val="569CD6"/>
                </a:solidFill>
                <a:latin typeface="Consolas"/>
              </a:rPr>
              <a:t>li</a:t>
            </a:r>
            <a:r>
              <a:rPr sz="1600" dirty="0">
                <a:solidFill>
                  <a:srgbClr val="808080"/>
                </a:solidFill>
                <a:latin typeface="Consolas"/>
              </a:rPr>
              <a:t>&gt;</a:t>
            </a:r>
          </a:p>
          <a:p>
            <a:pPr algn="l">
              <a:lnSpc>
                <a:spcPct val="100000"/>
              </a:lnSpc>
              <a:spcBef>
                <a:spcPts val="0"/>
              </a:spcBef>
              <a:spcAft>
                <a:spcPts val="0"/>
              </a:spcAft>
            </a:pPr>
            <a:r>
              <a:rPr sz="1600" dirty="0">
                <a:solidFill>
                  <a:srgbClr val="D4D4D4"/>
                </a:solidFill>
                <a:latin typeface="Consolas"/>
              </a:rPr>
              <a:t>            </a:t>
            </a:r>
            <a:r>
              <a:rPr sz="1600" dirty="0">
                <a:solidFill>
                  <a:srgbClr val="808080"/>
                </a:solidFill>
                <a:latin typeface="Consolas"/>
              </a:rPr>
              <a:t>&lt;</a:t>
            </a:r>
            <a:r>
              <a:rPr sz="1600" dirty="0">
                <a:solidFill>
                  <a:srgbClr val="569CD6"/>
                </a:solidFill>
                <a:latin typeface="Consolas"/>
              </a:rPr>
              <a:t>li</a:t>
            </a:r>
            <a:r>
              <a:rPr sz="1600" dirty="0">
                <a:solidFill>
                  <a:srgbClr val="808080"/>
                </a:solidFill>
                <a:latin typeface="Consolas"/>
              </a:rPr>
              <a:t>&gt;</a:t>
            </a:r>
            <a:r>
              <a:rPr sz="1600" dirty="0">
                <a:solidFill>
                  <a:srgbClr val="D4D4D4"/>
                </a:solidFill>
                <a:latin typeface="Consolas"/>
              </a:rPr>
              <a:t>third item</a:t>
            </a:r>
            <a:r>
              <a:rPr sz="1600" dirty="0">
                <a:solidFill>
                  <a:srgbClr val="808080"/>
                </a:solidFill>
                <a:latin typeface="Consolas"/>
              </a:rPr>
              <a:t>&lt;/</a:t>
            </a:r>
            <a:r>
              <a:rPr sz="1600" dirty="0">
                <a:solidFill>
                  <a:srgbClr val="569CD6"/>
                </a:solidFill>
                <a:latin typeface="Consolas"/>
              </a:rPr>
              <a:t>li</a:t>
            </a:r>
            <a:r>
              <a:rPr sz="1600" dirty="0">
                <a:solidFill>
                  <a:srgbClr val="808080"/>
                </a:solidFill>
                <a:latin typeface="Consolas"/>
              </a:rPr>
              <a:t>&gt;</a:t>
            </a:r>
          </a:p>
          <a:p>
            <a:pPr algn="l">
              <a:lnSpc>
                <a:spcPct val="100000"/>
              </a:lnSpc>
              <a:spcBef>
                <a:spcPts val="0"/>
              </a:spcBef>
              <a:spcAft>
                <a:spcPts val="0"/>
              </a:spcAft>
            </a:pPr>
            <a:r>
              <a:rPr sz="1600" dirty="0">
                <a:solidFill>
                  <a:srgbClr val="D4D4D4"/>
                </a:solidFill>
                <a:latin typeface="Consolas"/>
              </a:rPr>
              <a:t>        </a:t>
            </a:r>
            <a:r>
              <a:rPr sz="1600" dirty="0">
                <a:solidFill>
                  <a:srgbClr val="808080"/>
                </a:solidFill>
                <a:latin typeface="Consolas"/>
              </a:rPr>
              <a:t>&lt;/</a:t>
            </a:r>
            <a:r>
              <a:rPr sz="1600" dirty="0" err="1">
                <a:solidFill>
                  <a:srgbClr val="569CD6"/>
                </a:solidFill>
                <a:latin typeface="Consolas"/>
              </a:rPr>
              <a:t>ol</a:t>
            </a:r>
            <a:r>
              <a:rPr sz="1600" dirty="0">
                <a:solidFill>
                  <a:srgbClr val="808080"/>
                </a:solidFill>
                <a:latin typeface="Consolas"/>
              </a:rPr>
              <a:t>&gt;</a:t>
            </a:r>
          </a:p>
          <a:p>
            <a:pPr algn="l">
              <a:lnSpc>
                <a:spcPct val="100000"/>
              </a:lnSpc>
              <a:spcBef>
                <a:spcPts val="0"/>
              </a:spcBef>
              <a:spcAft>
                <a:spcPts val="0"/>
              </a:spcAft>
            </a:pPr>
            <a:r>
              <a:rPr sz="1600" dirty="0">
                <a:solidFill>
                  <a:srgbClr val="D4D4D4"/>
                </a:solidFill>
                <a:latin typeface="Consolas"/>
              </a:rPr>
              <a:t> </a:t>
            </a:r>
          </a:p>
          <a:p>
            <a:pPr algn="l">
              <a:lnSpc>
                <a:spcPct val="100000"/>
              </a:lnSpc>
              <a:spcBef>
                <a:spcPts val="0"/>
              </a:spcBef>
              <a:spcAft>
                <a:spcPts val="0"/>
              </a:spcAft>
            </a:pPr>
            <a:r>
              <a:rPr sz="1600" dirty="0">
                <a:solidFill>
                  <a:srgbClr val="D4D4D4"/>
                </a:solidFill>
                <a:latin typeface="Consolas"/>
              </a:rPr>
              <a:t>    </a:t>
            </a:r>
            <a:r>
              <a:rPr sz="1600" dirty="0">
                <a:solidFill>
                  <a:srgbClr val="808080"/>
                </a:solidFill>
                <a:latin typeface="Consolas"/>
              </a:rPr>
              <a:t>&lt;/</a:t>
            </a:r>
            <a:r>
              <a:rPr sz="1600" dirty="0">
                <a:solidFill>
                  <a:srgbClr val="569CD6"/>
                </a:solidFill>
                <a:latin typeface="Consolas"/>
              </a:rPr>
              <a:t>body</a:t>
            </a:r>
            <a:r>
              <a:rPr sz="1600" dirty="0">
                <a:solidFill>
                  <a:srgbClr val="808080"/>
                </a:solidFill>
                <a:latin typeface="Consolas"/>
              </a:rPr>
              <a:t>&gt;</a:t>
            </a:r>
            <a:r>
              <a:rPr sz="1600" dirty="0">
                <a:solidFill>
                  <a:srgbClr val="D4D4D4"/>
                </a:solidFill>
                <a:latin typeface="Consolas"/>
              </a:rPr>
              <a:t> </a:t>
            </a:r>
          </a:p>
          <a:p>
            <a:pPr algn="l">
              <a:lnSpc>
                <a:spcPct val="100000"/>
              </a:lnSpc>
              <a:spcBef>
                <a:spcPts val="0"/>
              </a:spcBef>
              <a:spcAft>
                <a:spcPts val="0"/>
              </a:spcAft>
            </a:pPr>
            <a:r>
              <a:rPr sz="1600" dirty="0">
                <a:solidFill>
                  <a:srgbClr val="808080"/>
                </a:solidFill>
                <a:latin typeface="Consolas"/>
              </a:rPr>
              <a:t>&lt;/</a:t>
            </a:r>
            <a:r>
              <a:rPr sz="1600" dirty="0">
                <a:solidFill>
                  <a:srgbClr val="569CD6"/>
                </a:solidFill>
                <a:latin typeface="Consolas"/>
              </a:rPr>
              <a:t>html</a:t>
            </a:r>
            <a:r>
              <a:rPr sz="1600" dirty="0">
                <a:solidFill>
                  <a:srgbClr val="808080"/>
                </a:solidFill>
                <a:latin typeface="Consolas"/>
              </a:rPr>
              <a:t>&gt;</a:t>
            </a:r>
          </a:p>
        </p:txBody>
      </p:sp>
      <p:sp>
        <p:nvSpPr>
          <p:cNvPr id="7" name="TextBox 6"/>
          <p:cNvSpPr txBox="1"/>
          <p:nvPr/>
        </p:nvSpPr>
        <p:spPr>
          <a:xfrm>
            <a:off x="502920" y="6473952"/>
            <a:ext cx="10058400" cy="320040"/>
          </a:xfrm>
          <a:prstGeom prst="rect">
            <a:avLst/>
          </a:prstGeom>
          <a:noFill/>
        </p:spPr>
        <p:txBody>
          <a:bodyPr wrap="none">
            <a:spAutoFit/>
          </a:bodyPr>
          <a:lstStyle/>
          <a:p>
            <a:r>
              <a:rPr sz="1100">
                <a:solidFill>
                  <a:srgbClr val="6B7480"/>
                </a:solidFill>
                <a:latin typeface="Calibri"/>
              </a:rPr>
              <a:t>WEBD 1000 — HTML Examples Review   ·   05_ordered_list_example.html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EB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19456"/>
            <a:ext cx="11155680" cy="502920"/>
          </a:xfrm>
          <a:prstGeom prst="rect">
            <a:avLst/>
          </a:prstGeom>
          <a:noFill/>
        </p:spPr>
        <p:txBody>
          <a:bodyPr wrap="square">
            <a:spAutoFit/>
          </a:bodyPr>
          <a:lstStyle/>
          <a:p>
            <a:r>
              <a:rPr sz="2800" b="1">
                <a:solidFill>
                  <a:srgbClr val="1B2A4A"/>
                </a:solidFill>
                <a:latin typeface="Calibri"/>
              </a:rPr>
              <a:t>Example 06  Tables</a:t>
            </a:r>
          </a:p>
        </p:txBody>
      </p:sp>
      <p:sp>
        <p:nvSpPr>
          <p:cNvPr id="4" name="TextBox 3"/>
          <p:cNvSpPr txBox="1"/>
          <p:nvPr/>
        </p:nvSpPr>
        <p:spPr>
          <a:xfrm>
            <a:off x="530352" y="713232"/>
            <a:ext cx="11155680" cy="292608"/>
          </a:xfrm>
          <a:prstGeom prst="rect">
            <a:avLst/>
          </a:prstGeom>
          <a:noFill/>
        </p:spPr>
        <p:txBody>
          <a:bodyPr wrap="square">
            <a:spAutoFit/>
          </a:bodyPr>
          <a:lstStyle/>
          <a:p>
            <a:r>
              <a:rPr sz="1400" i="1">
                <a:solidFill>
                  <a:srgbClr val="6B7480"/>
                </a:solidFill>
                <a:latin typeface="Calibri"/>
              </a:rPr>
              <a:t>Rows, header cells, and data cells: &lt;table&gt;, &lt;tr&gt;, &lt;th&gt;, &lt;td&gt;</a:t>
            </a:r>
          </a:p>
        </p:txBody>
      </p:sp>
      <p:sp>
        <p:nvSpPr>
          <p:cNvPr id="5" name="TextBox 4"/>
          <p:cNvSpPr txBox="1"/>
          <p:nvPr/>
        </p:nvSpPr>
        <p:spPr>
          <a:xfrm>
            <a:off x="530352" y="1005840"/>
            <a:ext cx="11155680" cy="566928"/>
          </a:xfrm>
          <a:prstGeom prst="rect">
            <a:avLst/>
          </a:prstGeom>
          <a:noFill/>
        </p:spPr>
        <p:txBody>
          <a:bodyPr wrap="square">
            <a:spAutoFit/>
          </a:bodyPr>
          <a:lstStyle/>
          <a:p>
            <a:r>
              <a:rPr sz="1450">
                <a:solidFill>
                  <a:srgbClr val="333D4B"/>
                </a:solidFill>
                <a:latin typeface="Calibri"/>
              </a:rPr>
              <a:t>A &lt;table&gt; is built from rows (&lt;tr&gt;), which contain either header cells (&lt;th&gt;, bold and centered by default) or regular data cells (&lt;td&gt;). Tables are best used for genuinely tabular data, not for page layout.</a:t>
            </a:r>
          </a:p>
        </p:txBody>
      </p:sp>
      <p:sp>
        <p:nvSpPr>
          <p:cNvPr id="6" name="Rounded Rectangle 5"/>
          <p:cNvSpPr/>
          <p:nvPr/>
        </p:nvSpPr>
        <p:spPr>
          <a:xfrm>
            <a:off x="502920" y="1645920"/>
            <a:ext cx="11183112" cy="4709160"/>
          </a:xfrm>
          <a:prstGeom prst="roundRect">
            <a:avLst>
              <a:gd name="adj" fmla="val 3000"/>
            </a:avLst>
          </a:prstGeom>
          <a:solidFill>
            <a:srgbClr val="1E1E1E"/>
          </a:solidFill>
          <a:ln w="12700">
            <a:solidFill>
              <a:srgbClr val="3C3C3C"/>
            </a:solidFill>
          </a:ln>
          <a:effectLst/>
        </p:spPr>
        <p:style>
          <a:lnRef idx="1">
            <a:schemeClr val="accent1"/>
          </a:lnRef>
          <a:fillRef idx="3">
            <a:schemeClr val="accent1"/>
          </a:fillRef>
          <a:effectRef idx="2">
            <a:schemeClr val="accent1"/>
          </a:effectRef>
          <a:fontRef idx="minor">
            <a:schemeClr val="lt1"/>
          </a:fontRef>
        </p:style>
        <p:txBody>
          <a:bodyPr wrap="square" lIns="201168" tIns="146304" rIns="201168" bIns="146304" rtlCol="0" anchor="t">
            <a:noAutofit/>
          </a:bodyPr>
          <a:lstStyle/>
          <a:p>
            <a:pPr algn="l">
              <a:lnSpc>
                <a:spcPct val="100000"/>
              </a:lnSpc>
              <a:spcBef>
                <a:spcPts val="0"/>
              </a:spcBef>
              <a:spcAft>
                <a:spcPts val="0"/>
              </a:spcAft>
            </a:pPr>
            <a:r>
              <a:rPr sz="1100" dirty="0">
                <a:solidFill>
                  <a:srgbClr val="808080"/>
                </a:solidFill>
                <a:latin typeface="Consolas"/>
              </a:rPr>
              <a:t>&lt;!DOCTYPE html&gt;</a:t>
            </a:r>
            <a:r>
              <a:rPr sz="1100" dirty="0">
                <a:solidFill>
                  <a:srgbClr val="D4D4D4"/>
                </a:solidFill>
                <a:latin typeface="Consolas"/>
              </a:rPr>
              <a:t> </a:t>
            </a:r>
          </a:p>
          <a:p>
            <a:pPr algn="l">
              <a:lnSpc>
                <a:spcPct val="100000"/>
              </a:lnSpc>
              <a:spcBef>
                <a:spcPts val="0"/>
              </a:spcBef>
              <a:spcAft>
                <a:spcPts val="0"/>
              </a:spcAft>
            </a:pPr>
            <a:r>
              <a:rPr sz="1100" dirty="0">
                <a:solidFill>
                  <a:srgbClr val="808080"/>
                </a:solidFill>
                <a:latin typeface="Consolas"/>
              </a:rPr>
              <a:t>&lt;</a:t>
            </a:r>
            <a:r>
              <a:rPr sz="1100" dirty="0">
                <a:solidFill>
                  <a:srgbClr val="569CD6"/>
                </a:solidFill>
                <a:latin typeface="Consolas"/>
              </a:rPr>
              <a:t>html</a:t>
            </a:r>
            <a:r>
              <a:rPr sz="1100" dirty="0">
                <a:solidFill>
                  <a:srgbClr val="D4D4D4"/>
                </a:solidFill>
                <a:latin typeface="Consolas"/>
              </a:rPr>
              <a:t> </a:t>
            </a:r>
            <a:r>
              <a:rPr sz="1100" dirty="0">
                <a:solidFill>
                  <a:srgbClr val="9CDCFE"/>
                </a:solidFill>
                <a:latin typeface="Consolas"/>
              </a:rPr>
              <a:t>lang</a:t>
            </a:r>
            <a:r>
              <a:rPr sz="1100" dirty="0">
                <a:solidFill>
                  <a:srgbClr val="D4D4D4"/>
                </a:solidFill>
                <a:latin typeface="Consolas"/>
              </a:rPr>
              <a:t>=</a:t>
            </a:r>
            <a:r>
              <a:rPr sz="1100" dirty="0">
                <a:solidFill>
                  <a:srgbClr val="CE9178"/>
                </a:solidFill>
                <a:latin typeface="Consolas"/>
              </a:rPr>
              <a:t>"</a:t>
            </a:r>
            <a:r>
              <a:rPr sz="1100" dirty="0" err="1">
                <a:solidFill>
                  <a:srgbClr val="CE9178"/>
                </a:solidFill>
                <a:latin typeface="Consolas"/>
              </a:rPr>
              <a:t>en</a:t>
            </a:r>
            <a:r>
              <a:rPr sz="1100" dirty="0">
                <a:solidFill>
                  <a:srgbClr val="CE9178"/>
                </a:solidFill>
                <a:latin typeface="Consolas"/>
              </a:rPr>
              <a:t>"</a:t>
            </a:r>
            <a:r>
              <a:rPr sz="1100" dirty="0">
                <a:solidFill>
                  <a:srgbClr val="808080"/>
                </a:solidFill>
                <a:latin typeface="Consolas"/>
              </a:rPr>
              <a:t>&gt;</a:t>
            </a:r>
            <a:r>
              <a:rPr sz="1100" dirty="0">
                <a:solidFill>
                  <a:srgbClr val="D4D4D4"/>
                </a:solidFill>
                <a:latin typeface="Consolas"/>
              </a:rPr>
              <a:t> </a:t>
            </a:r>
          </a:p>
          <a:p>
            <a:pPr algn="l">
              <a:lnSpc>
                <a:spcPct val="100000"/>
              </a:lnSpc>
              <a:spcBef>
                <a:spcPts val="0"/>
              </a:spcBef>
              <a:spcAft>
                <a:spcPts val="0"/>
              </a:spcAft>
            </a:pPr>
            <a:r>
              <a:rPr sz="1100" dirty="0">
                <a:solidFill>
                  <a:srgbClr val="D4D4D4"/>
                </a:solidFill>
                <a:latin typeface="Consolas"/>
              </a:rPr>
              <a:t>    </a:t>
            </a:r>
            <a:r>
              <a:rPr sz="1100" dirty="0">
                <a:solidFill>
                  <a:srgbClr val="808080"/>
                </a:solidFill>
                <a:latin typeface="Consolas"/>
              </a:rPr>
              <a:t>&lt;</a:t>
            </a:r>
            <a:r>
              <a:rPr sz="1100" dirty="0">
                <a:solidFill>
                  <a:srgbClr val="569CD6"/>
                </a:solidFill>
                <a:latin typeface="Consolas"/>
              </a:rPr>
              <a:t>head</a:t>
            </a:r>
            <a:r>
              <a:rPr sz="1100" dirty="0">
                <a:solidFill>
                  <a:srgbClr val="808080"/>
                </a:solidFill>
                <a:latin typeface="Consolas"/>
              </a:rPr>
              <a:t>&gt;</a:t>
            </a:r>
          </a:p>
          <a:p>
            <a:pPr algn="l">
              <a:lnSpc>
                <a:spcPct val="100000"/>
              </a:lnSpc>
              <a:spcBef>
                <a:spcPts val="0"/>
              </a:spcBef>
              <a:spcAft>
                <a:spcPts val="0"/>
              </a:spcAft>
            </a:pPr>
            <a:r>
              <a:rPr sz="1100" dirty="0">
                <a:solidFill>
                  <a:srgbClr val="D4D4D4"/>
                </a:solidFill>
                <a:latin typeface="Consolas"/>
              </a:rPr>
              <a:t>        </a:t>
            </a:r>
            <a:r>
              <a:rPr sz="1100" dirty="0">
                <a:solidFill>
                  <a:srgbClr val="808080"/>
                </a:solidFill>
                <a:latin typeface="Consolas"/>
              </a:rPr>
              <a:t>&lt;</a:t>
            </a:r>
            <a:r>
              <a:rPr sz="1100" dirty="0">
                <a:solidFill>
                  <a:srgbClr val="569CD6"/>
                </a:solidFill>
                <a:latin typeface="Consolas"/>
              </a:rPr>
              <a:t>meta</a:t>
            </a:r>
            <a:r>
              <a:rPr sz="1100" dirty="0">
                <a:solidFill>
                  <a:srgbClr val="D4D4D4"/>
                </a:solidFill>
                <a:latin typeface="Consolas"/>
              </a:rPr>
              <a:t> </a:t>
            </a:r>
            <a:r>
              <a:rPr sz="1100" dirty="0">
                <a:solidFill>
                  <a:srgbClr val="9CDCFE"/>
                </a:solidFill>
                <a:latin typeface="Consolas"/>
              </a:rPr>
              <a:t>charset</a:t>
            </a:r>
            <a:r>
              <a:rPr sz="1100" dirty="0">
                <a:solidFill>
                  <a:srgbClr val="D4D4D4"/>
                </a:solidFill>
                <a:latin typeface="Consolas"/>
              </a:rPr>
              <a:t>=</a:t>
            </a:r>
            <a:r>
              <a:rPr sz="1100" dirty="0">
                <a:solidFill>
                  <a:srgbClr val="CE9178"/>
                </a:solidFill>
                <a:latin typeface="Consolas"/>
              </a:rPr>
              <a:t>"UTF-8"</a:t>
            </a:r>
            <a:r>
              <a:rPr sz="1100" dirty="0">
                <a:solidFill>
                  <a:srgbClr val="808080"/>
                </a:solidFill>
                <a:latin typeface="Consolas"/>
              </a:rPr>
              <a:t>&gt;</a:t>
            </a:r>
          </a:p>
          <a:p>
            <a:pPr algn="l">
              <a:lnSpc>
                <a:spcPct val="100000"/>
              </a:lnSpc>
              <a:spcBef>
                <a:spcPts val="0"/>
              </a:spcBef>
              <a:spcAft>
                <a:spcPts val="0"/>
              </a:spcAft>
            </a:pPr>
            <a:r>
              <a:rPr sz="1100" dirty="0">
                <a:solidFill>
                  <a:srgbClr val="D4D4D4"/>
                </a:solidFill>
                <a:latin typeface="Consolas"/>
              </a:rPr>
              <a:t>        </a:t>
            </a:r>
            <a:r>
              <a:rPr sz="1100" dirty="0">
                <a:solidFill>
                  <a:srgbClr val="808080"/>
                </a:solidFill>
                <a:latin typeface="Consolas"/>
              </a:rPr>
              <a:t>&lt;</a:t>
            </a:r>
            <a:r>
              <a:rPr sz="1100" dirty="0">
                <a:solidFill>
                  <a:srgbClr val="569CD6"/>
                </a:solidFill>
                <a:latin typeface="Consolas"/>
              </a:rPr>
              <a:t>meta</a:t>
            </a:r>
            <a:r>
              <a:rPr sz="1100" dirty="0">
                <a:solidFill>
                  <a:srgbClr val="D4D4D4"/>
                </a:solidFill>
                <a:latin typeface="Consolas"/>
              </a:rPr>
              <a:t> </a:t>
            </a:r>
            <a:r>
              <a:rPr sz="1100" dirty="0">
                <a:solidFill>
                  <a:srgbClr val="9CDCFE"/>
                </a:solidFill>
                <a:latin typeface="Consolas"/>
              </a:rPr>
              <a:t>name</a:t>
            </a:r>
            <a:r>
              <a:rPr sz="1100" dirty="0">
                <a:solidFill>
                  <a:srgbClr val="D4D4D4"/>
                </a:solidFill>
                <a:latin typeface="Consolas"/>
              </a:rPr>
              <a:t>=</a:t>
            </a:r>
            <a:r>
              <a:rPr sz="1100" dirty="0">
                <a:solidFill>
                  <a:srgbClr val="CE9178"/>
                </a:solidFill>
                <a:latin typeface="Consolas"/>
              </a:rPr>
              <a:t>"viewport"</a:t>
            </a:r>
            <a:r>
              <a:rPr sz="1100" dirty="0">
                <a:solidFill>
                  <a:srgbClr val="D4D4D4"/>
                </a:solidFill>
                <a:latin typeface="Consolas"/>
              </a:rPr>
              <a:t> </a:t>
            </a:r>
            <a:r>
              <a:rPr sz="1100" dirty="0">
                <a:solidFill>
                  <a:srgbClr val="9CDCFE"/>
                </a:solidFill>
                <a:latin typeface="Consolas"/>
              </a:rPr>
              <a:t>content</a:t>
            </a:r>
            <a:r>
              <a:rPr sz="1100" dirty="0">
                <a:solidFill>
                  <a:srgbClr val="D4D4D4"/>
                </a:solidFill>
                <a:latin typeface="Consolas"/>
              </a:rPr>
              <a:t>=</a:t>
            </a:r>
            <a:r>
              <a:rPr sz="1100" dirty="0">
                <a:solidFill>
                  <a:srgbClr val="CE9178"/>
                </a:solidFill>
                <a:latin typeface="Consolas"/>
              </a:rPr>
              <a:t>"width=device-width, initial-scale=1.0"</a:t>
            </a:r>
            <a:r>
              <a:rPr sz="1100" dirty="0">
                <a:solidFill>
                  <a:srgbClr val="808080"/>
                </a:solidFill>
                <a:latin typeface="Consolas"/>
              </a:rPr>
              <a:t>&gt;</a:t>
            </a:r>
          </a:p>
          <a:p>
            <a:pPr algn="l">
              <a:lnSpc>
                <a:spcPct val="100000"/>
              </a:lnSpc>
              <a:spcBef>
                <a:spcPts val="0"/>
              </a:spcBef>
              <a:spcAft>
                <a:spcPts val="0"/>
              </a:spcAft>
            </a:pPr>
            <a:r>
              <a:rPr sz="1100" dirty="0">
                <a:solidFill>
                  <a:srgbClr val="D4D4D4"/>
                </a:solidFill>
                <a:latin typeface="Consolas"/>
              </a:rPr>
              <a:t>        </a:t>
            </a:r>
            <a:r>
              <a:rPr sz="1100" dirty="0">
                <a:solidFill>
                  <a:srgbClr val="808080"/>
                </a:solidFill>
                <a:latin typeface="Consolas"/>
              </a:rPr>
              <a:t>&lt;</a:t>
            </a:r>
            <a:r>
              <a:rPr sz="1100" dirty="0">
                <a:solidFill>
                  <a:srgbClr val="569CD6"/>
                </a:solidFill>
                <a:latin typeface="Consolas"/>
              </a:rPr>
              <a:t>title</a:t>
            </a:r>
            <a:r>
              <a:rPr sz="1100" dirty="0">
                <a:solidFill>
                  <a:srgbClr val="808080"/>
                </a:solidFill>
                <a:latin typeface="Consolas"/>
              </a:rPr>
              <a:t>&gt;</a:t>
            </a:r>
            <a:r>
              <a:rPr sz="1100" dirty="0">
                <a:solidFill>
                  <a:srgbClr val="D4D4D4"/>
                </a:solidFill>
                <a:latin typeface="Consolas"/>
              </a:rPr>
              <a:t>Example</a:t>
            </a:r>
            <a:r>
              <a:rPr sz="1100" dirty="0">
                <a:solidFill>
                  <a:srgbClr val="808080"/>
                </a:solidFill>
                <a:latin typeface="Consolas"/>
              </a:rPr>
              <a:t>&lt;/</a:t>
            </a:r>
            <a:r>
              <a:rPr sz="1100" dirty="0">
                <a:solidFill>
                  <a:srgbClr val="569CD6"/>
                </a:solidFill>
                <a:latin typeface="Consolas"/>
              </a:rPr>
              <a:t>title</a:t>
            </a:r>
            <a:r>
              <a:rPr sz="1100" dirty="0">
                <a:solidFill>
                  <a:srgbClr val="808080"/>
                </a:solidFill>
                <a:latin typeface="Consolas"/>
              </a:rPr>
              <a:t>&gt;</a:t>
            </a:r>
            <a:r>
              <a:rPr sz="1100" dirty="0">
                <a:solidFill>
                  <a:srgbClr val="D4D4D4"/>
                </a:solidFill>
                <a:latin typeface="Consolas"/>
              </a:rPr>
              <a:t> </a:t>
            </a:r>
          </a:p>
          <a:p>
            <a:pPr algn="l">
              <a:lnSpc>
                <a:spcPct val="100000"/>
              </a:lnSpc>
              <a:spcBef>
                <a:spcPts val="0"/>
              </a:spcBef>
              <a:spcAft>
                <a:spcPts val="0"/>
              </a:spcAft>
            </a:pPr>
            <a:r>
              <a:rPr sz="1100" dirty="0">
                <a:solidFill>
                  <a:srgbClr val="D4D4D4"/>
                </a:solidFill>
                <a:latin typeface="Consolas"/>
              </a:rPr>
              <a:t>    </a:t>
            </a:r>
            <a:r>
              <a:rPr sz="1100" dirty="0">
                <a:solidFill>
                  <a:srgbClr val="808080"/>
                </a:solidFill>
                <a:latin typeface="Consolas"/>
              </a:rPr>
              <a:t>&lt;/</a:t>
            </a:r>
            <a:r>
              <a:rPr sz="1100" dirty="0">
                <a:solidFill>
                  <a:srgbClr val="569CD6"/>
                </a:solidFill>
                <a:latin typeface="Consolas"/>
              </a:rPr>
              <a:t>head</a:t>
            </a:r>
            <a:r>
              <a:rPr sz="1100" dirty="0">
                <a:solidFill>
                  <a:srgbClr val="808080"/>
                </a:solidFill>
                <a:latin typeface="Consolas"/>
              </a:rPr>
              <a:t>&gt;</a:t>
            </a:r>
            <a:r>
              <a:rPr sz="1100" dirty="0">
                <a:solidFill>
                  <a:srgbClr val="D4D4D4"/>
                </a:solidFill>
                <a:latin typeface="Consolas"/>
              </a:rPr>
              <a:t> </a:t>
            </a:r>
          </a:p>
          <a:p>
            <a:pPr algn="l">
              <a:lnSpc>
                <a:spcPct val="100000"/>
              </a:lnSpc>
              <a:spcBef>
                <a:spcPts val="0"/>
              </a:spcBef>
              <a:spcAft>
                <a:spcPts val="0"/>
              </a:spcAft>
            </a:pPr>
            <a:r>
              <a:rPr sz="1100" dirty="0">
                <a:solidFill>
                  <a:srgbClr val="D4D4D4"/>
                </a:solidFill>
                <a:latin typeface="Consolas"/>
              </a:rPr>
              <a:t>    </a:t>
            </a:r>
            <a:r>
              <a:rPr sz="1100" dirty="0">
                <a:solidFill>
                  <a:srgbClr val="808080"/>
                </a:solidFill>
                <a:latin typeface="Consolas"/>
              </a:rPr>
              <a:t>&lt;</a:t>
            </a:r>
            <a:r>
              <a:rPr sz="1100" dirty="0">
                <a:solidFill>
                  <a:srgbClr val="569CD6"/>
                </a:solidFill>
                <a:latin typeface="Consolas"/>
              </a:rPr>
              <a:t>body</a:t>
            </a:r>
            <a:r>
              <a:rPr sz="1100" dirty="0">
                <a:solidFill>
                  <a:srgbClr val="808080"/>
                </a:solidFill>
                <a:latin typeface="Consolas"/>
              </a:rPr>
              <a:t>&gt;</a:t>
            </a:r>
            <a:r>
              <a:rPr sz="1100" dirty="0">
                <a:solidFill>
                  <a:srgbClr val="D4D4D4"/>
                </a:solidFill>
                <a:latin typeface="Consolas"/>
              </a:rPr>
              <a:t> </a:t>
            </a:r>
          </a:p>
          <a:p>
            <a:pPr algn="l">
              <a:lnSpc>
                <a:spcPct val="100000"/>
              </a:lnSpc>
              <a:spcBef>
                <a:spcPts val="0"/>
              </a:spcBef>
              <a:spcAft>
                <a:spcPts val="0"/>
              </a:spcAft>
            </a:pPr>
            <a:r>
              <a:rPr sz="1100" dirty="0">
                <a:solidFill>
                  <a:srgbClr val="D4D4D4"/>
                </a:solidFill>
                <a:latin typeface="Consolas"/>
              </a:rPr>
              <a:t> </a:t>
            </a:r>
          </a:p>
          <a:p>
            <a:pPr algn="l">
              <a:lnSpc>
                <a:spcPct val="100000"/>
              </a:lnSpc>
              <a:spcBef>
                <a:spcPts val="0"/>
              </a:spcBef>
              <a:spcAft>
                <a:spcPts val="0"/>
              </a:spcAft>
            </a:pPr>
            <a:r>
              <a:rPr sz="1100" dirty="0">
                <a:solidFill>
                  <a:srgbClr val="D4D4D4"/>
                </a:solidFill>
                <a:latin typeface="Consolas"/>
              </a:rPr>
              <a:t>        </a:t>
            </a:r>
            <a:r>
              <a:rPr sz="1100" dirty="0">
                <a:solidFill>
                  <a:srgbClr val="808080"/>
                </a:solidFill>
                <a:latin typeface="Consolas"/>
              </a:rPr>
              <a:t>&lt;</a:t>
            </a:r>
            <a:r>
              <a:rPr sz="1100" dirty="0">
                <a:solidFill>
                  <a:srgbClr val="569CD6"/>
                </a:solidFill>
                <a:latin typeface="Consolas"/>
              </a:rPr>
              <a:t>table</a:t>
            </a:r>
            <a:r>
              <a:rPr sz="1100" dirty="0">
                <a:solidFill>
                  <a:srgbClr val="D4D4D4"/>
                </a:solidFill>
                <a:latin typeface="Consolas"/>
              </a:rPr>
              <a:t> </a:t>
            </a:r>
            <a:r>
              <a:rPr sz="1100" dirty="0">
                <a:solidFill>
                  <a:srgbClr val="9CDCFE"/>
                </a:solidFill>
                <a:latin typeface="Consolas"/>
              </a:rPr>
              <a:t>border</a:t>
            </a:r>
            <a:r>
              <a:rPr sz="1100" dirty="0">
                <a:solidFill>
                  <a:srgbClr val="D4D4D4"/>
                </a:solidFill>
                <a:latin typeface="Consolas"/>
              </a:rPr>
              <a:t>=</a:t>
            </a:r>
            <a:r>
              <a:rPr sz="1100" dirty="0">
                <a:solidFill>
                  <a:srgbClr val="CE9178"/>
                </a:solidFill>
                <a:latin typeface="Consolas"/>
              </a:rPr>
              <a:t>"1"</a:t>
            </a:r>
            <a:r>
              <a:rPr sz="1100" dirty="0">
                <a:solidFill>
                  <a:srgbClr val="808080"/>
                </a:solidFill>
                <a:latin typeface="Consolas"/>
              </a:rPr>
              <a:t>&gt;</a:t>
            </a:r>
          </a:p>
          <a:p>
            <a:pPr algn="l">
              <a:lnSpc>
                <a:spcPct val="100000"/>
              </a:lnSpc>
              <a:spcBef>
                <a:spcPts val="0"/>
              </a:spcBef>
              <a:spcAft>
                <a:spcPts val="0"/>
              </a:spcAft>
            </a:pPr>
            <a:r>
              <a:rPr sz="1100" dirty="0">
                <a:solidFill>
                  <a:srgbClr val="D4D4D4"/>
                </a:solidFill>
                <a:latin typeface="Consolas"/>
              </a:rPr>
              <a:t>            </a:t>
            </a:r>
            <a:r>
              <a:rPr sz="1100" dirty="0">
                <a:solidFill>
                  <a:srgbClr val="808080"/>
                </a:solidFill>
                <a:latin typeface="Consolas"/>
              </a:rPr>
              <a:t>&lt;</a:t>
            </a:r>
            <a:r>
              <a:rPr sz="1100" dirty="0">
                <a:solidFill>
                  <a:srgbClr val="569CD6"/>
                </a:solidFill>
                <a:latin typeface="Consolas"/>
              </a:rPr>
              <a:t>tr</a:t>
            </a:r>
            <a:r>
              <a:rPr sz="1100" dirty="0">
                <a:solidFill>
                  <a:srgbClr val="808080"/>
                </a:solidFill>
                <a:latin typeface="Consolas"/>
              </a:rPr>
              <a:t>&gt;</a:t>
            </a:r>
          </a:p>
          <a:p>
            <a:pPr algn="l">
              <a:lnSpc>
                <a:spcPct val="100000"/>
              </a:lnSpc>
              <a:spcBef>
                <a:spcPts val="0"/>
              </a:spcBef>
              <a:spcAft>
                <a:spcPts val="0"/>
              </a:spcAft>
            </a:pPr>
            <a:r>
              <a:rPr sz="1100" dirty="0">
                <a:solidFill>
                  <a:srgbClr val="D4D4D4"/>
                </a:solidFill>
                <a:latin typeface="Consolas"/>
              </a:rPr>
              <a:t>                </a:t>
            </a:r>
            <a:r>
              <a:rPr sz="1100" dirty="0">
                <a:solidFill>
                  <a:srgbClr val="808080"/>
                </a:solidFill>
                <a:latin typeface="Consolas"/>
              </a:rPr>
              <a:t>&lt;</a:t>
            </a:r>
            <a:r>
              <a:rPr sz="1100" dirty="0" err="1">
                <a:solidFill>
                  <a:srgbClr val="569CD6"/>
                </a:solidFill>
                <a:latin typeface="Consolas"/>
              </a:rPr>
              <a:t>th</a:t>
            </a:r>
            <a:r>
              <a:rPr sz="1100" dirty="0">
                <a:solidFill>
                  <a:srgbClr val="808080"/>
                </a:solidFill>
                <a:latin typeface="Consolas"/>
              </a:rPr>
              <a:t>&gt;</a:t>
            </a:r>
            <a:r>
              <a:rPr sz="1100" dirty="0">
                <a:solidFill>
                  <a:srgbClr val="D4D4D4"/>
                </a:solidFill>
                <a:latin typeface="Consolas"/>
              </a:rPr>
              <a:t>First Name</a:t>
            </a:r>
            <a:r>
              <a:rPr sz="1100" dirty="0">
                <a:solidFill>
                  <a:srgbClr val="808080"/>
                </a:solidFill>
                <a:latin typeface="Consolas"/>
              </a:rPr>
              <a:t>&lt;/</a:t>
            </a:r>
            <a:r>
              <a:rPr sz="1100" dirty="0" err="1">
                <a:solidFill>
                  <a:srgbClr val="569CD6"/>
                </a:solidFill>
                <a:latin typeface="Consolas"/>
              </a:rPr>
              <a:t>th</a:t>
            </a:r>
            <a:r>
              <a:rPr sz="1100" dirty="0">
                <a:solidFill>
                  <a:srgbClr val="808080"/>
                </a:solidFill>
                <a:latin typeface="Consolas"/>
              </a:rPr>
              <a:t>&gt;</a:t>
            </a:r>
          </a:p>
          <a:p>
            <a:pPr algn="l">
              <a:lnSpc>
                <a:spcPct val="100000"/>
              </a:lnSpc>
              <a:spcBef>
                <a:spcPts val="0"/>
              </a:spcBef>
              <a:spcAft>
                <a:spcPts val="0"/>
              </a:spcAft>
            </a:pPr>
            <a:r>
              <a:rPr sz="1100" dirty="0">
                <a:solidFill>
                  <a:srgbClr val="D4D4D4"/>
                </a:solidFill>
                <a:latin typeface="Consolas"/>
              </a:rPr>
              <a:t>                </a:t>
            </a:r>
            <a:r>
              <a:rPr sz="1100" dirty="0">
                <a:solidFill>
                  <a:srgbClr val="808080"/>
                </a:solidFill>
                <a:latin typeface="Consolas"/>
              </a:rPr>
              <a:t>&lt;</a:t>
            </a:r>
            <a:r>
              <a:rPr sz="1100" dirty="0" err="1">
                <a:solidFill>
                  <a:srgbClr val="569CD6"/>
                </a:solidFill>
                <a:latin typeface="Consolas"/>
              </a:rPr>
              <a:t>th</a:t>
            </a:r>
            <a:r>
              <a:rPr sz="1100" dirty="0">
                <a:solidFill>
                  <a:srgbClr val="808080"/>
                </a:solidFill>
                <a:latin typeface="Consolas"/>
              </a:rPr>
              <a:t>&gt;</a:t>
            </a:r>
            <a:r>
              <a:rPr sz="1100" dirty="0">
                <a:solidFill>
                  <a:srgbClr val="D4D4D4"/>
                </a:solidFill>
                <a:latin typeface="Consolas"/>
              </a:rPr>
              <a:t>Last Name</a:t>
            </a:r>
            <a:r>
              <a:rPr sz="1100" dirty="0">
                <a:solidFill>
                  <a:srgbClr val="808080"/>
                </a:solidFill>
                <a:latin typeface="Consolas"/>
              </a:rPr>
              <a:t>&lt;/</a:t>
            </a:r>
            <a:r>
              <a:rPr sz="1100" dirty="0" err="1">
                <a:solidFill>
                  <a:srgbClr val="569CD6"/>
                </a:solidFill>
                <a:latin typeface="Consolas"/>
              </a:rPr>
              <a:t>th</a:t>
            </a:r>
            <a:r>
              <a:rPr sz="1100" dirty="0">
                <a:solidFill>
                  <a:srgbClr val="808080"/>
                </a:solidFill>
                <a:latin typeface="Consolas"/>
              </a:rPr>
              <a:t>&gt;</a:t>
            </a:r>
          </a:p>
          <a:p>
            <a:pPr algn="l">
              <a:lnSpc>
                <a:spcPct val="100000"/>
              </a:lnSpc>
              <a:spcBef>
                <a:spcPts val="0"/>
              </a:spcBef>
              <a:spcAft>
                <a:spcPts val="0"/>
              </a:spcAft>
            </a:pPr>
            <a:r>
              <a:rPr sz="1100" dirty="0">
                <a:solidFill>
                  <a:srgbClr val="D4D4D4"/>
                </a:solidFill>
                <a:latin typeface="Consolas"/>
              </a:rPr>
              <a:t>            </a:t>
            </a:r>
            <a:r>
              <a:rPr sz="1100" dirty="0">
                <a:solidFill>
                  <a:srgbClr val="808080"/>
                </a:solidFill>
                <a:latin typeface="Consolas"/>
              </a:rPr>
              <a:t>&lt;/</a:t>
            </a:r>
            <a:r>
              <a:rPr sz="1100" dirty="0">
                <a:solidFill>
                  <a:srgbClr val="569CD6"/>
                </a:solidFill>
                <a:latin typeface="Consolas"/>
              </a:rPr>
              <a:t>tr</a:t>
            </a:r>
            <a:r>
              <a:rPr sz="1100" dirty="0">
                <a:solidFill>
                  <a:srgbClr val="808080"/>
                </a:solidFill>
                <a:latin typeface="Consolas"/>
              </a:rPr>
              <a:t>&gt;</a:t>
            </a:r>
          </a:p>
          <a:p>
            <a:pPr algn="l">
              <a:lnSpc>
                <a:spcPct val="100000"/>
              </a:lnSpc>
              <a:spcBef>
                <a:spcPts val="0"/>
              </a:spcBef>
              <a:spcAft>
                <a:spcPts val="0"/>
              </a:spcAft>
            </a:pPr>
            <a:r>
              <a:rPr sz="1100" dirty="0">
                <a:solidFill>
                  <a:srgbClr val="D4D4D4"/>
                </a:solidFill>
                <a:latin typeface="Consolas"/>
              </a:rPr>
              <a:t>            </a:t>
            </a:r>
            <a:r>
              <a:rPr sz="1100" dirty="0">
                <a:solidFill>
                  <a:srgbClr val="808080"/>
                </a:solidFill>
                <a:latin typeface="Consolas"/>
              </a:rPr>
              <a:t>&lt;</a:t>
            </a:r>
            <a:r>
              <a:rPr sz="1100" dirty="0">
                <a:solidFill>
                  <a:srgbClr val="569CD6"/>
                </a:solidFill>
                <a:latin typeface="Consolas"/>
              </a:rPr>
              <a:t>tr</a:t>
            </a:r>
            <a:r>
              <a:rPr sz="1100" dirty="0">
                <a:solidFill>
                  <a:srgbClr val="808080"/>
                </a:solidFill>
                <a:latin typeface="Consolas"/>
              </a:rPr>
              <a:t>&gt;</a:t>
            </a:r>
          </a:p>
          <a:p>
            <a:pPr algn="l">
              <a:lnSpc>
                <a:spcPct val="100000"/>
              </a:lnSpc>
              <a:spcBef>
                <a:spcPts val="0"/>
              </a:spcBef>
              <a:spcAft>
                <a:spcPts val="0"/>
              </a:spcAft>
            </a:pPr>
            <a:r>
              <a:rPr sz="1100" dirty="0">
                <a:solidFill>
                  <a:srgbClr val="D4D4D4"/>
                </a:solidFill>
                <a:latin typeface="Consolas"/>
              </a:rPr>
              <a:t>                </a:t>
            </a:r>
            <a:r>
              <a:rPr sz="1100" dirty="0">
                <a:solidFill>
                  <a:srgbClr val="808080"/>
                </a:solidFill>
                <a:latin typeface="Consolas"/>
              </a:rPr>
              <a:t>&lt;</a:t>
            </a:r>
            <a:r>
              <a:rPr sz="1100" dirty="0">
                <a:solidFill>
                  <a:srgbClr val="569CD6"/>
                </a:solidFill>
                <a:latin typeface="Consolas"/>
              </a:rPr>
              <a:t>td</a:t>
            </a:r>
            <a:r>
              <a:rPr sz="1100" dirty="0">
                <a:solidFill>
                  <a:srgbClr val="808080"/>
                </a:solidFill>
                <a:latin typeface="Consolas"/>
              </a:rPr>
              <a:t>&gt;</a:t>
            </a:r>
            <a:r>
              <a:rPr sz="1100" dirty="0">
                <a:solidFill>
                  <a:srgbClr val="D4D4D4"/>
                </a:solidFill>
                <a:latin typeface="Consolas"/>
              </a:rPr>
              <a:t>Fred</a:t>
            </a:r>
            <a:r>
              <a:rPr sz="1100" dirty="0">
                <a:solidFill>
                  <a:srgbClr val="808080"/>
                </a:solidFill>
                <a:latin typeface="Consolas"/>
              </a:rPr>
              <a:t>&lt;/</a:t>
            </a:r>
            <a:r>
              <a:rPr sz="1100" dirty="0">
                <a:solidFill>
                  <a:srgbClr val="569CD6"/>
                </a:solidFill>
                <a:latin typeface="Consolas"/>
              </a:rPr>
              <a:t>td</a:t>
            </a:r>
            <a:r>
              <a:rPr sz="1100" dirty="0">
                <a:solidFill>
                  <a:srgbClr val="808080"/>
                </a:solidFill>
                <a:latin typeface="Consolas"/>
              </a:rPr>
              <a:t>&gt;</a:t>
            </a:r>
          </a:p>
          <a:p>
            <a:pPr algn="l">
              <a:lnSpc>
                <a:spcPct val="100000"/>
              </a:lnSpc>
              <a:spcBef>
                <a:spcPts val="0"/>
              </a:spcBef>
              <a:spcAft>
                <a:spcPts val="0"/>
              </a:spcAft>
            </a:pPr>
            <a:r>
              <a:rPr sz="1100" dirty="0">
                <a:solidFill>
                  <a:srgbClr val="D4D4D4"/>
                </a:solidFill>
                <a:latin typeface="Consolas"/>
              </a:rPr>
              <a:t>                </a:t>
            </a:r>
            <a:r>
              <a:rPr sz="1100" dirty="0">
                <a:solidFill>
                  <a:srgbClr val="808080"/>
                </a:solidFill>
                <a:latin typeface="Consolas"/>
              </a:rPr>
              <a:t>&lt;</a:t>
            </a:r>
            <a:r>
              <a:rPr sz="1100" dirty="0">
                <a:solidFill>
                  <a:srgbClr val="569CD6"/>
                </a:solidFill>
                <a:latin typeface="Consolas"/>
              </a:rPr>
              <a:t>td</a:t>
            </a:r>
            <a:r>
              <a:rPr sz="1100" dirty="0">
                <a:solidFill>
                  <a:srgbClr val="808080"/>
                </a:solidFill>
                <a:latin typeface="Consolas"/>
              </a:rPr>
              <a:t>&gt;</a:t>
            </a:r>
            <a:r>
              <a:rPr sz="1100" dirty="0">
                <a:solidFill>
                  <a:srgbClr val="D4D4D4"/>
                </a:solidFill>
                <a:latin typeface="Consolas"/>
              </a:rPr>
              <a:t>Flintstone</a:t>
            </a:r>
            <a:r>
              <a:rPr sz="1100" dirty="0">
                <a:solidFill>
                  <a:srgbClr val="808080"/>
                </a:solidFill>
                <a:latin typeface="Consolas"/>
              </a:rPr>
              <a:t>&lt;/</a:t>
            </a:r>
            <a:r>
              <a:rPr sz="1100" dirty="0">
                <a:solidFill>
                  <a:srgbClr val="569CD6"/>
                </a:solidFill>
                <a:latin typeface="Consolas"/>
              </a:rPr>
              <a:t>td</a:t>
            </a:r>
            <a:r>
              <a:rPr sz="1100" dirty="0">
                <a:solidFill>
                  <a:srgbClr val="808080"/>
                </a:solidFill>
                <a:latin typeface="Consolas"/>
              </a:rPr>
              <a:t>&gt;</a:t>
            </a:r>
          </a:p>
          <a:p>
            <a:pPr algn="l">
              <a:lnSpc>
                <a:spcPct val="100000"/>
              </a:lnSpc>
              <a:spcBef>
                <a:spcPts val="0"/>
              </a:spcBef>
              <a:spcAft>
                <a:spcPts val="0"/>
              </a:spcAft>
            </a:pPr>
            <a:r>
              <a:rPr sz="1100" dirty="0">
                <a:solidFill>
                  <a:srgbClr val="D4D4D4"/>
                </a:solidFill>
                <a:latin typeface="Consolas"/>
              </a:rPr>
              <a:t>            </a:t>
            </a:r>
            <a:r>
              <a:rPr sz="1100" dirty="0">
                <a:solidFill>
                  <a:srgbClr val="808080"/>
                </a:solidFill>
                <a:latin typeface="Consolas"/>
              </a:rPr>
              <a:t>&lt;/</a:t>
            </a:r>
            <a:r>
              <a:rPr sz="1100" dirty="0">
                <a:solidFill>
                  <a:srgbClr val="569CD6"/>
                </a:solidFill>
                <a:latin typeface="Consolas"/>
              </a:rPr>
              <a:t>tr</a:t>
            </a:r>
            <a:r>
              <a:rPr sz="1100" dirty="0">
                <a:solidFill>
                  <a:srgbClr val="808080"/>
                </a:solidFill>
                <a:latin typeface="Consolas"/>
              </a:rPr>
              <a:t>&gt;</a:t>
            </a:r>
          </a:p>
          <a:p>
            <a:pPr algn="l">
              <a:lnSpc>
                <a:spcPct val="100000"/>
              </a:lnSpc>
              <a:spcBef>
                <a:spcPts val="0"/>
              </a:spcBef>
              <a:spcAft>
                <a:spcPts val="0"/>
              </a:spcAft>
            </a:pPr>
            <a:r>
              <a:rPr sz="1100" dirty="0">
                <a:solidFill>
                  <a:srgbClr val="D4D4D4"/>
                </a:solidFill>
                <a:latin typeface="Consolas"/>
              </a:rPr>
              <a:t>            </a:t>
            </a:r>
            <a:r>
              <a:rPr sz="1100" dirty="0">
                <a:solidFill>
                  <a:srgbClr val="808080"/>
                </a:solidFill>
                <a:latin typeface="Consolas"/>
              </a:rPr>
              <a:t>&lt;</a:t>
            </a:r>
            <a:r>
              <a:rPr sz="1100" dirty="0">
                <a:solidFill>
                  <a:srgbClr val="569CD6"/>
                </a:solidFill>
                <a:latin typeface="Consolas"/>
              </a:rPr>
              <a:t>tr</a:t>
            </a:r>
            <a:r>
              <a:rPr sz="1100" dirty="0">
                <a:solidFill>
                  <a:srgbClr val="808080"/>
                </a:solidFill>
                <a:latin typeface="Consolas"/>
              </a:rPr>
              <a:t>&gt;</a:t>
            </a:r>
          </a:p>
          <a:p>
            <a:pPr algn="l">
              <a:lnSpc>
                <a:spcPct val="100000"/>
              </a:lnSpc>
              <a:spcBef>
                <a:spcPts val="0"/>
              </a:spcBef>
              <a:spcAft>
                <a:spcPts val="0"/>
              </a:spcAft>
            </a:pPr>
            <a:r>
              <a:rPr sz="1100" dirty="0">
                <a:solidFill>
                  <a:srgbClr val="D4D4D4"/>
                </a:solidFill>
                <a:latin typeface="Consolas"/>
              </a:rPr>
              <a:t>                </a:t>
            </a:r>
            <a:r>
              <a:rPr sz="1100" dirty="0">
                <a:solidFill>
                  <a:srgbClr val="808080"/>
                </a:solidFill>
                <a:latin typeface="Consolas"/>
              </a:rPr>
              <a:t>&lt;</a:t>
            </a:r>
            <a:r>
              <a:rPr sz="1100" dirty="0">
                <a:solidFill>
                  <a:srgbClr val="569CD6"/>
                </a:solidFill>
                <a:latin typeface="Consolas"/>
              </a:rPr>
              <a:t>td</a:t>
            </a:r>
            <a:r>
              <a:rPr sz="1100" dirty="0">
                <a:solidFill>
                  <a:srgbClr val="808080"/>
                </a:solidFill>
                <a:latin typeface="Consolas"/>
              </a:rPr>
              <a:t>&gt;</a:t>
            </a:r>
            <a:r>
              <a:rPr sz="1100" dirty="0">
                <a:solidFill>
                  <a:srgbClr val="D4D4D4"/>
                </a:solidFill>
                <a:latin typeface="Consolas"/>
              </a:rPr>
              <a:t>Wilma</a:t>
            </a:r>
            <a:r>
              <a:rPr sz="1100" dirty="0">
                <a:solidFill>
                  <a:srgbClr val="808080"/>
                </a:solidFill>
                <a:latin typeface="Consolas"/>
              </a:rPr>
              <a:t>&lt;/</a:t>
            </a:r>
            <a:r>
              <a:rPr sz="1100" dirty="0">
                <a:solidFill>
                  <a:srgbClr val="569CD6"/>
                </a:solidFill>
                <a:latin typeface="Consolas"/>
              </a:rPr>
              <a:t>td</a:t>
            </a:r>
            <a:r>
              <a:rPr sz="1100" dirty="0">
                <a:solidFill>
                  <a:srgbClr val="808080"/>
                </a:solidFill>
                <a:latin typeface="Consolas"/>
              </a:rPr>
              <a:t>&gt;</a:t>
            </a:r>
          </a:p>
          <a:p>
            <a:pPr algn="l">
              <a:lnSpc>
                <a:spcPct val="100000"/>
              </a:lnSpc>
              <a:spcBef>
                <a:spcPts val="0"/>
              </a:spcBef>
              <a:spcAft>
                <a:spcPts val="0"/>
              </a:spcAft>
            </a:pPr>
            <a:r>
              <a:rPr sz="1100" dirty="0">
                <a:solidFill>
                  <a:srgbClr val="D4D4D4"/>
                </a:solidFill>
                <a:latin typeface="Consolas"/>
              </a:rPr>
              <a:t>                </a:t>
            </a:r>
            <a:r>
              <a:rPr sz="1100" dirty="0">
                <a:solidFill>
                  <a:srgbClr val="808080"/>
                </a:solidFill>
                <a:latin typeface="Consolas"/>
              </a:rPr>
              <a:t>&lt;</a:t>
            </a:r>
            <a:r>
              <a:rPr sz="1100" dirty="0">
                <a:solidFill>
                  <a:srgbClr val="569CD6"/>
                </a:solidFill>
                <a:latin typeface="Consolas"/>
              </a:rPr>
              <a:t>td</a:t>
            </a:r>
            <a:r>
              <a:rPr sz="1100" dirty="0">
                <a:solidFill>
                  <a:srgbClr val="808080"/>
                </a:solidFill>
                <a:latin typeface="Consolas"/>
              </a:rPr>
              <a:t>&gt;</a:t>
            </a:r>
            <a:r>
              <a:rPr sz="1100" dirty="0">
                <a:solidFill>
                  <a:srgbClr val="D4D4D4"/>
                </a:solidFill>
                <a:latin typeface="Consolas"/>
              </a:rPr>
              <a:t>Flintstone</a:t>
            </a:r>
            <a:r>
              <a:rPr sz="1100" dirty="0">
                <a:solidFill>
                  <a:srgbClr val="808080"/>
                </a:solidFill>
                <a:latin typeface="Consolas"/>
              </a:rPr>
              <a:t>&lt;/</a:t>
            </a:r>
            <a:r>
              <a:rPr sz="1100" dirty="0">
                <a:solidFill>
                  <a:srgbClr val="569CD6"/>
                </a:solidFill>
                <a:latin typeface="Consolas"/>
              </a:rPr>
              <a:t>td</a:t>
            </a:r>
            <a:r>
              <a:rPr sz="1100" dirty="0">
                <a:solidFill>
                  <a:srgbClr val="808080"/>
                </a:solidFill>
                <a:latin typeface="Consolas"/>
              </a:rPr>
              <a:t>&gt;</a:t>
            </a:r>
          </a:p>
          <a:p>
            <a:pPr algn="l">
              <a:lnSpc>
                <a:spcPct val="100000"/>
              </a:lnSpc>
              <a:spcBef>
                <a:spcPts val="0"/>
              </a:spcBef>
              <a:spcAft>
                <a:spcPts val="0"/>
              </a:spcAft>
            </a:pPr>
            <a:r>
              <a:rPr sz="1100" dirty="0">
                <a:solidFill>
                  <a:srgbClr val="D4D4D4"/>
                </a:solidFill>
                <a:latin typeface="Consolas"/>
              </a:rPr>
              <a:t>            </a:t>
            </a:r>
            <a:r>
              <a:rPr sz="1100" dirty="0">
                <a:solidFill>
                  <a:srgbClr val="808080"/>
                </a:solidFill>
                <a:latin typeface="Consolas"/>
              </a:rPr>
              <a:t>&lt;/</a:t>
            </a:r>
            <a:r>
              <a:rPr sz="1100" dirty="0">
                <a:solidFill>
                  <a:srgbClr val="569CD6"/>
                </a:solidFill>
                <a:latin typeface="Consolas"/>
              </a:rPr>
              <a:t>tr</a:t>
            </a:r>
            <a:r>
              <a:rPr sz="1100" dirty="0">
                <a:solidFill>
                  <a:srgbClr val="808080"/>
                </a:solidFill>
                <a:latin typeface="Consolas"/>
              </a:rPr>
              <a:t>&gt;</a:t>
            </a:r>
          </a:p>
          <a:p>
            <a:pPr algn="l">
              <a:lnSpc>
                <a:spcPct val="100000"/>
              </a:lnSpc>
              <a:spcBef>
                <a:spcPts val="0"/>
              </a:spcBef>
              <a:spcAft>
                <a:spcPts val="0"/>
              </a:spcAft>
            </a:pPr>
            <a:r>
              <a:rPr sz="1100" dirty="0">
                <a:solidFill>
                  <a:srgbClr val="D4D4D4"/>
                </a:solidFill>
                <a:latin typeface="Consolas"/>
              </a:rPr>
              <a:t>        </a:t>
            </a:r>
            <a:r>
              <a:rPr sz="1100" dirty="0">
                <a:solidFill>
                  <a:srgbClr val="808080"/>
                </a:solidFill>
                <a:latin typeface="Consolas"/>
              </a:rPr>
              <a:t>&lt;/</a:t>
            </a:r>
            <a:r>
              <a:rPr sz="1100" dirty="0">
                <a:solidFill>
                  <a:srgbClr val="569CD6"/>
                </a:solidFill>
                <a:latin typeface="Consolas"/>
              </a:rPr>
              <a:t>table</a:t>
            </a:r>
            <a:r>
              <a:rPr sz="1100" dirty="0">
                <a:solidFill>
                  <a:srgbClr val="808080"/>
                </a:solidFill>
                <a:latin typeface="Consolas"/>
              </a:rPr>
              <a:t>&gt;</a:t>
            </a:r>
          </a:p>
          <a:p>
            <a:pPr algn="l">
              <a:lnSpc>
                <a:spcPct val="100000"/>
              </a:lnSpc>
              <a:spcBef>
                <a:spcPts val="0"/>
              </a:spcBef>
              <a:spcAft>
                <a:spcPts val="0"/>
              </a:spcAft>
            </a:pPr>
            <a:r>
              <a:rPr sz="1100" dirty="0">
                <a:solidFill>
                  <a:srgbClr val="D4D4D4"/>
                </a:solidFill>
                <a:latin typeface="Consolas"/>
              </a:rPr>
              <a:t> </a:t>
            </a:r>
          </a:p>
          <a:p>
            <a:pPr algn="l">
              <a:lnSpc>
                <a:spcPct val="100000"/>
              </a:lnSpc>
              <a:spcBef>
                <a:spcPts val="0"/>
              </a:spcBef>
              <a:spcAft>
                <a:spcPts val="0"/>
              </a:spcAft>
            </a:pPr>
            <a:r>
              <a:rPr sz="1100" dirty="0">
                <a:solidFill>
                  <a:srgbClr val="D4D4D4"/>
                </a:solidFill>
                <a:latin typeface="Consolas"/>
              </a:rPr>
              <a:t>    </a:t>
            </a:r>
            <a:r>
              <a:rPr sz="1100" dirty="0">
                <a:solidFill>
                  <a:srgbClr val="808080"/>
                </a:solidFill>
                <a:latin typeface="Consolas"/>
              </a:rPr>
              <a:t>&lt;/</a:t>
            </a:r>
            <a:r>
              <a:rPr sz="1100" dirty="0">
                <a:solidFill>
                  <a:srgbClr val="569CD6"/>
                </a:solidFill>
                <a:latin typeface="Consolas"/>
              </a:rPr>
              <a:t>body</a:t>
            </a:r>
            <a:r>
              <a:rPr sz="1100" dirty="0">
                <a:solidFill>
                  <a:srgbClr val="808080"/>
                </a:solidFill>
                <a:latin typeface="Consolas"/>
              </a:rPr>
              <a:t>&gt;</a:t>
            </a:r>
            <a:r>
              <a:rPr sz="1100" dirty="0">
                <a:solidFill>
                  <a:srgbClr val="D4D4D4"/>
                </a:solidFill>
                <a:latin typeface="Consolas"/>
              </a:rPr>
              <a:t> </a:t>
            </a:r>
          </a:p>
          <a:p>
            <a:pPr algn="l">
              <a:lnSpc>
                <a:spcPct val="100000"/>
              </a:lnSpc>
              <a:spcBef>
                <a:spcPts val="0"/>
              </a:spcBef>
              <a:spcAft>
                <a:spcPts val="0"/>
              </a:spcAft>
            </a:pPr>
            <a:r>
              <a:rPr sz="1100" dirty="0">
                <a:solidFill>
                  <a:srgbClr val="808080"/>
                </a:solidFill>
                <a:latin typeface="Consolas"/>
              </a:rPr>
              <a:t>&lt;/</a:t>
            </a:r>
            <a:r>
              <a:rPr sz="1100" dirty="0">
                <a:solidFill>
                  <a:srgbClr val="569CD6"/>
                </a:solidFill>
                <a:latin typeface="Consolas"/>
              </a:rPr>
              <a:t>html</a:t>
            </a:r>
            <a:r>
              <a:rPr sz="1100" dirty="0">
                <a:solidFill>
                  <a:srgbClr val="808080"/>
                </a:solidFill>
                <a:latin typeface="Consolas"/>
              </a:rPr>
              <a:t>&gt;</a:t>
            </a:r>
          </a:p>
        </p:txBody>
      </p:sp>
      <p:sp>
        <p:nvSpPr>
          <p:cNvPr id="7" name="TextBox 6"/>
          <p:cNvSpPr txBox="1"/>
          <p:nvPr/>
        </p:nvSpPr>
        <p:spPr>
          <a:xfrm>
            <a:off x="502920" y="6473952"/>
            <a:ext cx="10058400" cy="320040"/>
          </a:xfrm>
          <a:prstGeom prst="rect">
            <a:avLst/>
          </a:prstGeom>
          <a:noFill/>
        </p:spPr>
        <p:txBody>
          <a:bodyPr wrap="none">
            <a:spAutoFit/>
          </a:bodyPr>
          <a:lstStyle/>
          <a:p>
            <a:r>
              <a:rPr sz="1100">
                <a:solidFill>
                  <a:srgbClr val="6B7480"/>
                </a:solidFill>
                <a:latin typeface="Calibri"/>
              </a:rPr>
              <a:t>WEBD 1000 — HTML Examples Review   ·   06_table_example.html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EB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19456"/>
            <a:ext cx="11155680" cy="502920"/>
          </a:xfrm>
          <a:prstGeom prst="rect">
            <a:avLst/>
          </a:prstGeom>
          <a:noFill/>
        </p:spPr>
        <p:txBody>
          <a:bodyPr wrap="square">
            <a:spAutoFit/>
          </a:bodyPr>
          <a:lstStyle/>
          <a:p>
            <a:r>
              <a:rPr sz="2800" b="1">
                <a:solidFill>
                  <a:srgbClr val="1B2A4A"/>
                </a:solidFill>
                <a:latin typeface="Calibri"/>
              </a:rPr>
              <a:t>Example 07  Images</a:t>
            </a:r>
          </a:p>
        </p:txBody>
      </p:sp>
      <p:sp>
        <p:nvSpPr>
          <p:cNvPr id="4" name="TextBox 3"/>
          <p:cNvSpPr txBox="1"/>
          <p:nvPr/>
        </p:nvSpPr>
        <p:spPr>
          <a:xfrm>
            <a:off x="530352" y="713232"/>
            <a:ext cx="11155680" cy="292608"/>
          </a:xfrm>
          <a:prstGeom prst="rect">
            <a:avLst/>
          </a:prstGeom>
          <a:noFill/>
        </p:spPr>
        <p:txBody>
          <a:bodyPr wrap="square">
            <a:spAutoFit/>
          </a:bodyPr>
          <a:lstStyle/>
          <a:p>
            <a:r>
              <a:rPr sz="1400" i="1">
                <a:solidFill>
                  <a:srgbClr val="6B7480"/>
                </a:solidFill>
                <a:latin typeface="Calibri"/>
              </a:rPr>
              <a:t>Embedding an image with &lt;img&gt;, src, and alt</a:t>
            </a:r>
          </a:p>
        </p:txBody>
      </p:sp>
      <p:sp>
        <p:nvSpPr>
          <p:cNvPr id="5" name="TextBox 4"/>
          <p:cNvSpPr txBox="1"/>
          <p:nvPr/>
        </p:nvSpPr>
        <p:spPr>
          <a:xfrm>
            <a:off x="530352" y="1005840"/>
            <a:ext cx="11155680" cy="566928"/>
          </a:xfrm>
          <a:prstGeom prst="rect">
            <a:avLst/>
          </a:prstGeom>
          <a:noFill/>
        </p:spPr>
        <p:txBody>
          <a:bodyPr wrap="square">
            <a:spAutoFit/>
          </a:bodyPr>
          <a:lstStyle/>
          <a:p>
            <a:r>
              <a:rPr sz="1450">
                <a:solidFill>
                  <a:srgbClr val="333D4B"/>
                </a:solidFill>
                <a:latin typeface="Calibri"/>
              </a:rPr>
              <a:t>The &lt;img&gt; tag embeds a picture in the page. It's a self-closing, empty element — the src attribute points to the image file, and the alt attribute supplies text for screen readers or for when the image fails to load.</a:t>
            </a:r>
          </a:p>
        </p:txBody>
      </p:sp>
      <p:sp>
        <p:nvSpPr>
          <p:cNvPr id="6" name="Rounded Rectangle 5"/>
          <p:cNvSpPr/>
          <p:nvPr/>
        </p:nvSpPr>
        <p:spPr>
          <a:xfrm>
            <a:off x="502920" y="1645920"/>
            <a:ext cx="11183112" cy="4709160"/>
          </a:xfrm>
          <a:prstGeom prst="roundRect">
            <a:avLst>
              <a:gd name="adj" fmla="val 3000"/>
            </a:avLst>
          </a:prstGeom>
          <a:solidFill>
            <a:srgbClr val="1E1E1E"/>
          </a:solidFill>
          <a:ln w="12700">
            <a:solidFill>
              <a:srgbClr val="3C3C3C"/>
            </a:solidFill>
          </a:ln>
          <a:effectLst/>
        </p:spPr>
        <p:style>
          <a:lnRef idx="1">
            <a:schemeClr val="accent1"/>
          </a:lnRef>
          <a:fillRef idx="3">
            <a:schemeClr val="accent1"/>
          </a:fillRef>
          <a:effectRef idx="2">
            <a:schemeClr val="accent1"/>
          </a:effectRef>
          <a:fontRef idx="minor">
            <a:schemeClr val="lt1"/>
          </a:fontRef>
        </p:style>
        <p:txBody>
          <a:bodyPr wrap="square" lIns="201168" tIns="146304" rIns="201168" bIns="146304" rtlCol="0" anchor="t">
            <a:noAutofit/>
          </a:bodyPr>
          <a:lstStyle/>
          <a:p>
            <a:pPr algn="l">
              <a:lnSpc>
                <a:spcPct val="100000"/>
              </a:lnSpc>
              <a:spcBef>
                <a:spcPts val="0"/>
              </a:spcBef>
              <a:spcAft>
                <a:spcPts val="0"/>
              </a:spcAft>
            </a:pPr>
            <a:r>
              <a:rPr sz="1900">
                <a:solidFill>
                  <a:srgbClr val="808080"/>
                </a:solidFill>
                <a:latin typeface="Consolas"/>
              </a:rPr>
              <a:t>&lt;!DOCTYPE html&gt;</a:t>
            </a:r>
            <a:r>
              <a:rPr sz="1900">
                <a:solidFill>
                  <a:srgbClr val="D4D4D4"/>
                </a:solidFill>
                <a:latin typeface="Consolas"/>
              </a:rPr>
              <a:t> </a:t>
            </a:r>
          </a:p>
          <a:p>
            <a:pPr algn="l">
              <a:lnSpc>
                <a:spcPct val="100000"/>
              </a:lnSpc>
              <a:spcBef>
                <a:spcPts val="0"/>
              </a:spcBef>
              <a:spcAft>
                <a:spcPts val="0"/>
              </a:spcAft>
            </a:pPr>
            <a:r>
              <a:rPr sz="1900">
                <a:solidFill>
                  <a:srgbClr val="808080"/>
                </a:solidFill>
                <a:latin typeface="Consolas"/>
              </a:rPr>
              <a:t>&lt;</a:t>
            </a:r>
            <a:r>
              <a:rPr sz="1900">
                <a:solidFill>
                  <a:srgbClr val="569CD6"/>
                </a:solidFill>
                <a:latin typeface="Consolas"/>
              </a:rPr>
              <a:t>html</a:t>
            </a:r>
            <a:r>
              <a:rPr sz="1900">
                <a:solidFill>
                  <a:srgbClr val="D4D4D4"/>
                </a:solidFill>
                <a:latin typeface="Consolas"/>
              </a:rPr>
              <a:t> </a:t>
            </a:r>
            <a:r>
              <a:rPr sz="1900">
                <a:solidFill>
                  <a:srgbClr val="9CDCFE"/>
                </a:solidFill>
                <a:latin typeface="Consolas"/>
              </a:rPr>
              <a:t>lang</a:t>
            </a:r>
            <a:r>
              <a:rPr sz="1900">
                <a:solidFill>
                  <a:srgbClr val="D4D4D4"/>
                </a:solidFill>
                <a:latin typeface="Consolas"/>
              </a:rPr>
              <a:t>=</a:t>
            </a:r>
            <a:r>
              <a:rPr sz="1900">
                <a:solidFill>
                  <a:srgbClr val="CE9178"/>
                </a:solidFill>
                <a:latin typeface="Consolas"/>
              </a:rPr>
              <a:t>"en"</a:t>
            </a:r>
            <a:r>
              <a:rPr sz="1900">
                <a:solidFill>
                  <a:srgbClr val="808080"/>
                </a:solidFill>
                <a:latin typeface="Consolas"/>
              </a:rPr>
              <a:t>&gt;</a:t>
            </a:r>
            <a:r>
              <a:rPr sz="1900">
                <a:solidFill>
                  <a:srgbClr val="D4D4D4"/>
                </a:solidFill>
                <a:latin typeface="Consolas"/>
              </a:rPr>
              <a:t> </a:t>
            </a:r>
          </a:p>
          <a:p>
            <a:pPr algn="l">
              <a:lnSpc>
                <a:spcPct val="100000"/>
              </a:lnSpc>
              <a:spcBef>
                <a:spcPts val="0"/>
              </a:spcBef>
              <a:spcAft>
                <a:spcPts val="0"/>
              </a:spcAft>
            </a:pPr>
            <a:r>
              <a:rPr sz="1900">
                <a:solidFill>
                  <a:srgbClr val="D4D4D4"/>
                </a:solidFill>
                <a:latin typeface="Consolas"/>
              </a:rPr>
              <a:t>    </a:t>
            </a:r>
            <a:r>
              <a:rPr sz="1900">
                <a:solidFill>
                  <a:srgbClr val="808080"/>
                </a:solidFill>
                <a:latin typeface="Consolas"/>
              </a:rPr>
              <a:t>&lt;</a:t>
            </a:r>
            <a:r>
              <a:rPr sz="1900">
                <a:solidFill>
                  <a:srgbClr val="569CD6"/>
                </a:solidFill>
                <a:latin typeface="Consolas"/>
              </a:rPr>
              <a:t>head</a:t>
            </a:r>
            <a:r>
              <a:rPr sz="1900">
                <a:solidFill>
                  <a:srgbClr val="808080"/>
                </a:solidFill>
                <a:latin typeface="Consolas"/>
              </a:rPr>
              <a:t>&gt;</a:t>
            </a:r>
            <a:r>
              <a:rPr sz="1900">
                <a:solidFill>
                  <a:srgbClr val="D4D4D4"/>
                </a:solidFill>
                <a:latin typeface="Consolas"/>
              </a:rPr>
              <a:t> </a:t>
            </a:r>
          </a:p>
          <a:p>
            <a:pPr algn="l">
              <a:lnSpc>
                <a:spcPct val="100000"/>
              </a:lnSpc>
              <a:spcBef>
                <a:spcPts val="0"/>
              </a:spcBef>
              <a:spcAft>
                <a:spcPts val="0"/>
              </a:spcAft>
            </a:pPr>
            <a:r>
              <a:rPr sz="1900">
                <a:solidFill>
                  <a:srgbClr val="D4D4D4"/>
                </a:solidFill>
                <a:latin typeface="Consolas"/>
              </a:rPr>
              <a:t>        </a:t>
            </a:r>
            <a:r>
              <a:rPr sz="1900">
                <a:solidFill>
                  <a:srgbClr val="808080"/>
                </a:solidFill>
                <a:latin typeface="Consolas"/>
              </a:rPr>
              <a:t>&lt;</a:t>
            </a:r>
            <a:r>
              <a:rPr sz="1900">
                <a:solidFill>
                  <a:srgbClr val="569CD6"/>
                </a:solidFill>
                <a:latin typeface="Consolas"/>
              </a:rPr>
              <a:t>meta</a:t>
            </a:r>
            <a:r>
              <a:rPr sz="1900">
                <a:solidFill>
                  <a:srgbClr val="D4D4D4"/>
                </a:solidFill>
                <a:latin typeface="Consolas"/>
              </a:rPr>
              <a:t> </a:t>
            </a:r>
            <a:r>
              <a:rPr sz="1900">
                <a:solidFill>
                  <a:srgbClr val="9CDCFE"/>
                </a:solidFill>
                <a:latin typeface="Consolas"/>
              </a:rPr>
              <a:t>charset</a:t>
            </a:r>
            <a:r>
              <a:rPr sz="1900">
                <a:solidFill>
                  <a:srgbClr val="D4D4D4"/>
                </a:solidFill>
                <a:latin typeface="Consolas"/>
              </a:rPr>
              <a:t>=</a:t>
            </a:r>
            <a:r>
              <a:rPr sz="1900">
                <a:solidFill>
                  <a:srgbClr val="CE9178"/>
                </a:solidFill>
                <a:latin typeface="Consolas"/>
              </a:rPr>
              <a:t>"UTF-8"</a:t>
            </a:r>
            <a:r>
              <a:rPr sz="1900">
                <a:solidFill>
                  <a:srgbClr val="808080"/>
                </a:solidFill>
                <a:latin typeface="Consolas"/>
              </a:rPr>
              <a:t>&gt;</a:t>
            </a:r>
          </a:p>
          <a:p>
            <a:pPr algn="l">
              <a:lnSpc>
                <a:spcPct val="100000"/>
              </a:lnSpc>
              <a:spcBef>
                <a:spcPts val="0"/>
              </a:spcBef>
              <a:spcAft>
                <a:spcPts val="0"/>
              </a:spcAft>
            </a:pPr>
            <a:r>
              <a:rPr sz="1900">
                <a:solidFill>
                  <a:srgbClr val="D4D4D4"/>
                </a:solidFill>
                <a:latin typeface="Consolas"/>
              </a:rPr>
              <a:t>        </a:t>
            </a:r>
            <a:r>
              <a:rPr sz="1900">
                <a:solidFill>
                  <a:srgbClr val="808080"/>
                </a:solidFill>
                <a:latin typeface="Consolas"/>
              </a:rPr>
              <a:t>&lt;</a:t>
            </a:r>
            <a:r>
              <a:rPr sz="1900">
                <a:solidFill>
                  <a:srgbClr val="569CD6"/>
                </a:solidFill>
                <a:latin typeface="Consolas"/>
              </a:rPr>
              <a:t>meta</a:t>
            </a:r>
            <a:r>
              <a:rPr sz="1900">
                <a:solidFill>
                  <a:srgbClr val="D4D4D4"/>
                </a:solidFill>
                <a:latin typeface="Consolas"/>
              </a:rPr>
              <a:t> </a:t>
            </a:r>
            <a:r>
              <a:rPr sz="1900">
                <a:solidFill>
                  <a:srgbClr val="9CDCFE"/>
                </a:solidFill>
                <a:latin typeface="Consolas"/>
              </a:rPr>
              <a:t>name</a:t>
            </a:r>
            <a:r>
              <a:rPr sz="1900">
                <a:solidFill>
                  <a:srgbClr val="D4D4D4"/>
                </a:solidFill>
                <a:latin typeface="Consolas"/>
              </a:rPr>
              <a:t>=</a:t>
            </a:r>
            <a:r>
              <a:rPr sz="1900">
                <a:solidFill>
                  <a:srgbClr val="CE9178"/>
                </a:solidFill>
                <a:latin typeface="Consolas"/>
              </a:rPr>
              <a:t>"viewport"</a:t>
            </a:r>
            <a:r>
              <a:rPr sz="1900">
                <a:solidFill>
                  <a:srgbClr val="D4D4D4"/>
                </a:solidFill>
                <a:latin typeface="Consolas"/>
              </a:rPr>
              <a:t> </a:t>
            </a:r>
            <a:r>
              <a:rPr sz="1900">
                <a:solidFill>
                  <a:srgbClr val="9CDCFE"/>
                </a:solidFill>
                <a:latin typeface="Consolas"/>
              </a:rPr>
              <a:t>content</a:t>
            </a:r>
            <a:r>
              <a:rPr sz="1900">
                <a:solidFill>
                  <a:srgbClr val="D4D4D4"/>
                </a:solidFill>
                <a:latin typeface="Consolas"/>
              </a:rPr>
              <a:t>=</a:t>
            </a:r>
            <a:r>
              <a:rPr sz="1900">
                <a:solidFill>
                  <a:srgbClr val="CE9178"/>
                </a:solidFill>
                <a:latin typeface="Consolas"/>
              </a:rPr>
              <a:t>"width=device-width, initial-scale=1.0"</a:t>
            </a:r>
            <a:r>
              <a:rPr sz="1900">
                <a:solidFill>
                  <a:srgbClr val="808080"/>
                </a:solidFill>
                <a:latin typeface="Consolas"/>
              </a:rPr>
              <a:t>&gt;</a:t>
            </a:r>
          </a:p>
          <a:p>
            <a:pPr algn="l">
              <a:lnSpc>
                <a:spcPct val="100000"/>
              </a:lnSpc>
              <a:spcBef>
                <a:spcPts val="0"/>
              </a:spcBef>
              <a:spcAft>
                <a:spcPts val="0"/>
              </a:spcAft>
            </a:pPr>
            <a:r>
              <a:rPr sz="1900">
                <a:solidFill>
                  <a:srgbClr val="D4D4D4"/>
                </a:solidFill>
                <a:latin typeface="Consolas"/>
              </a:rPr>
              <a:t>        </a:t>
            </a:r>
            <a:r>
              <a:rPr sz="1900">
                <a:solidFill>
                  <a:srgbClr val="808080"/>
                </a:solidFill>
                <a:latin typeface="Consolas"/>
              </a:rPr>
              <a:t>&lt;</a:t>
            </a:r>
            <a:r>
              <a:rPr sz="1900">
                <a:solidFill>
                  <a:srgbClr val="569CD6"/>
                </a:solidFill>
                <a:latin typeface="Consolas"/>
              </a:rPr>
              <a:t>title</a:t>
            </a:r>
            <a:r>
              <a:rPr sz="1900">
                <a:solidFill>
                  <a:srgbClr val="808080"/>
                </a:solidFill>
                <a:latin typeface="Consolas"/>
              </a:rPr>
              <a:t>&gt;</a:t>
            </a:r>
            <a:r>
              <a:rPr sz="1900">
                <a:solidFill>
                  <a:srgbClr val="D4D4D4"/>
                </a:solidFill>
                <a:latin typeface="Consolas"/>
              </a:rPr>
              <a:t>Example</a:t>
            </a:r>
            <a:r>
              <a:rPr sz="1900">
                <a:solidFill>
                  <a:srgbClr val="808080"/>
                </a:solidFill>
                <a:latin typeface="Consolas"/>
              </a:rPr>
              <a:t>&lt;/</a:t>
            </a:r>
            <a:r>
              <a:rPr sz="1900">
                <a:solidFill>
                  <a:srgbClr val="569CD6"/>
                </a:solidFill>
                <a:latin typeface="Consolas"/>
              </a:rPr>
              <a:t>title</a:t>
            </a:r>
            <a:r>
              <a:rPr sz="1900">
                <a:solidFill>
                  <a:srgbClr val="808080"/>
                </a:solidFill>
                <a:latin typeface="Consolas"/>
              </a:rPr>
              <a:t>&gt;</a:t>
            </a:r>
            <a:r>
              <a:rPr sz="1900">
                <a:solidFill>
                  <a:srgbClr val="D4D4D4"/>
                </a:solidFill>
                <a:latin typeface="Consolas"/>
              </a:rPr>
              <a:t> </a:t>
            </a:r>
          </a:p>
          <a:p>
            <a:pPr algn="l">
              <a:lnSpc>
                <a:spcPct val="100000"/>
              </a:lnSpc>
              <a:spcBef>
                <a:spcPts val="0"/>
              </a:spcBef>
              <a:spcAft>
                <a:spcPts val="0"/>
              </a:spcAft>
            </a:pPr>
            <a:r>
              <a:rPr sz="1900">
                <a:solidFill>
                  <a:srgbClr val="D4D4D4"/>
                </a:solidFill>
                <a:latin typeface="Consolas"/>
              </a:rPr>
              <a:t>    </a:t>
            </a:r>
            <a:r>
              <a:rPr sz="1900">
                <a:solidFill>
                  <a:srgbClr val="808080"/>
                </a:solidFill>
                <a:latin typeface="Consolas"/>
              </a:rPr>
              <a:t>&lt;/</a:t>
            </a:r>
            <a:r>
              <a:rPr sz="1900">
                <a:solidFill>
                  <a:srgbClr val="569CD6"/>
                </a:solidFill>
                <a:latin typeface="Consolas"/>
              </a:rPr>
              <a:t>head</a:t>
            </a:r>
            <a:r>
              <a:rPr sz="1900">
                <a:solidFill>
                  <a:srgbClr val="808080"/>
                </a:solidFill>
                <a:latin typeface="Consolas"/>
              </a:rPr>
              <a:t>&gt;</a:t>
            </a:r>
            <a:r>
              <a:rPr sz="1900">
                <a:solidFill>
                  <a:srgbClr val="D4D4D4"/>
                </a:solidFill>
                <a:latin typeface="Consolas"/>
              </a:rPr>
              <a:t> </a:t>
            </a:r>
          </a:p>
          <a:p>
            <a:pPr algn="l">
              <a:lnSpc>
                <a:spcPct val="100000"/>
              </a:lnSpc>
              <a:spcBef>
                <a:spcPts val="0"/>
              </a:spcBef>
              <a:spcAft>
                <a:spcPts val="0"/>
              </a:spcAft>
            </a:pPr>
            <a:r>
              <a:rPr sz="1900">
                <a:solidFill>
                  <a:srgbClr val="D4D4D4"/>
                </a:solidFill>
                <a:latin typeface="Consolas"/>
              </a:rPr>
              <a:t>    </a:t>
            </a:r>
            <a:r>
              <a:rPr sz="1900">
                <a:solidFill>
                  <a:srgbClr val="808080"/>
                </a:solidFill>
                <a:latin typeface="Consolas"/>
              </a:rPr>
              <a:t>&lt;</a:t>
            </a:r>
            <a:r>
              <a:rPr sz="1900">
                <a:solidFill>
                  <a:srgbClr val="569CD6"/>
                </a:solidFill>
                <a:latin typeface="Consolas"/>
              </a:rPr>
              <a:t>body</a:t>
            </a:r>
            <a:r>
              <a:rPr sz="1900">
                <a:solidFill>
                  <a:srgbClr val="808080"/>
                </a:solidFill>
                <a:latin typeface="Consolas"/>
              </a:rPr>
              <a:t>&gt;</a:t>
            </a:r>
            <a:r>
              <a:rPr sz="1900">
                <a:solidFill>
                  <a:srgbClr val="D4D4D4"/>
                </a:solidFill>
                <a:latin typeface="Consolas"/>
              </a:rPr>
              <a:t> </a:t>
            </a:r>
          </a:p>
          <a:p>
            <a:pPr algn="l">
              <a:lnSpc>
                <a:spcPct val="100000"/>
              </a:lnSpc>
              <a:spcBef>
                <a:spcPts val="0"/>
              </a:spcBef>
              <a:spcAft>
                <a:spcPts val="0"/>
              </a:spcAft>
            </a:pPr>
            <a:r>
              <a:rPr sz="1900">
                <a:solidFill>
                  <a:srgbClr val="D4D4D4"/>
                </a:solidFill>
                <a:latin typeface="Consolas"/>
              </a:rPr>
              <a:t> </a:t>
            </a:r>
          </a:p>
          <a:p>
            <a:pPr algn="l">
              <a:lnSpc>
                <a:spcPct val="100000"/>
              </a:lnSpc>
              <a:spcBef>
                <a:spcPts val="0"/>
              </a:spcBef>
              <a:spcAft>
                <a:spcPts val="0"/>
              </a:spcAft>
            </a:pPr>
            <a:r>
              <a:rPr sz="1900">
                <a:solidFill>
                  <a:srgbClr val="D4D4D4"/>
                </a:solidFill>
                <a:latin typeface="Consolas"/>
              </a:rPr>
              <a:t>        </a:t>
            </a:r>
            <a:r>
              <a:rPr sz="1900">
                <a:solidFill>
                  <a:srgbClr val="808080"/>
                </a:solidFill>
                <a:latin typeface="Consolas"/>
              </a:rPr>
              <a:t>&lt;</a:t>
            </a:r>
            <a:r>
              <a:rPr sz="1900">
                <a:solidFill>
                  <a:srgbClr val="569CD6"/>
                </a:solidFill>
                <a:latin typeface="Consolas"/>
              </a:rPr>
              <a:t>h1</a:t>
            </a:r>
            <a:r>
              <a:rPr sz="1900">
                <a:solidFill>
                  <a:srgbClr val="808080"/>
                </a:solidFill>
                <a:latin typeface="Consolas"/>
              </a:rPr>
              <a:t>&gt;</a:t>
            </a:r>
            <a:r>
              <a:rPr sz="1900">
                <a:solidFill>
                  <a:srgbClr val="D4D4D4"/>
                </a:solidFill>
                <a:latin typeface="Consolas"/>
              </a:rPr>
              <a:t>This is page with a picture</a:t>
            </a:r>
            <a:r>
              <a:rPr sz="1900">
                <a:solidFill>
                  <a:srgbClr val="808080"/>
                </a:solidFill>
                <a:latin typeface="Consolas"/>
              </a:rPr>
              <a:t>&lt;/</a:t>
            </a:r>
            <a:r>
              <a:rPr sz="1900">
                <a:solidFill>
                  <a:srgbClr val="569CD6"/>
                </a:solidFill>
                <a:latin typeface="Consolas"/>
              </a:rPr>
              <a:t>h1</a:t>
            </a:r>
            <a:r>
              <a:rPr sz="1900">
                <a:solidFill>
                  <a:srgbClr val="808080"/>
                </a:solidFill>
                <a:latin typeface="Consolas"/>
              </a:rPr>
              <a:t>&gt;</a:t>
            </a:r>
          </a:p>
          <a:p>
            <a:pPr algn="l">
              <a:lnSpc>
                <a:spcPct val="100000"/>
              </a:lnSpc>
              <a:spcBef>
                <a:spcPts val="0"/>
              </a:spcBef>
              <a:spcAft>
                <a:spcPts val="0"/>
              </a:spcAft>
            </a:pPr>
            <a:r>
              <a:rPr sz="1900">
                <a:solidFill>
                  <a:srgbClr val="D4D4D4"/>
                </a:solidFill>
                <a:latin typeface="Consolas"/>
              </a:rPr>
              <a:t> </a:t>
            </a:r>
          </a:p>
          <a:p>
            <a:pPr algn="l">
              <a:lnSpc>
                <a:spcPct val="100000"/>
              </a:lnSpc>
              <a:spcBef>
                <a:spcPts val="0"/>
              </a:spcBef>
              <a:spcAft>
                <a:spcPts val="0"/>
              </a:spcAft>
            </a:pPr>
            <a:r>
              <a:rPr sz="1900">
                <a:solidFill>
                  <a:srgbClr val="D4D4D4"/>
                </a:solidFill>
                <a:latin typeface="Consolas"/>
              </a:rPr>
              <a:t>        </a:t>
            </a:r>
            <a:r>
              <a:rPr sz="1900">
                <a:solidFill>
                  <a:srgbClr val="808080"/>
                </a:solidFill>
                <a:latin typeface="Consolas"/>
              </a:rPr>
              <a:t>&lt;</a:t>
            </a:r>
            <a:r>
              <a:rPr sz="1900">
                <a:solidFill>
                  <a:srgbClr val="569CD6"/>
                </a:solidFill>
                <a:latin typeface="Consolas"/>
              </a:rPr>
              <a:t>img</a:t>
            </a:r>
            <a:r>
              <a:rPr sz="1900">
                <a:solidFill>
                  <a:srgbClr val="D4D4D4"/>
                </a:solidFill>
                <a:latin typeface="Consolas"/>
              </a:rPr>
              <a:t> </a:t>
            </a:r>
            <a:r>
              <a:rPr sz="1900">
                <a:solidFill>
                  <a:srgbClr val="9CDCFE"/>
                </a:solidFill>
                <a:latin typeface="Consolas"/>
              </a:rPr>
              <a:t>src</a:t>
            </a:r>
            <a:r>
              <a:rPr sz="1900">
                <a:solidFill>
                  <a:srgbClr val="D4D4D4"/>
                </a:solidFill>
                <a:latin typeface="Consolas"/>
              </a:rPr>
              <a:t>=</a:t>
            </a:r>
            <a:r>
              <a:rPr sz="1900">
                <a:solidFill>
                  <a:srgbClr val="CE9178"/>
                </a:solidFill>
                <a:latin typeface="Consolas"/>
              </a:rPr>
              <a:t>"beach.JPG"</a:t>
            </a:r>
            <a:r>
              <a:rPr sz="1900">
                <a:solidFill>
                  <a:srgbClr val="D4D4D4"/>
                </a:solidFill>
                <a:latin typeface="Consolas"/>
              </a:rPr>
              <a:t> </a:t>
            </a:r>
            <a:r>
              <a:rPr sz="1900">
                <a:solidFill>
                  <a:srgbClr val="9CDCFE"/>
                </a:solidFill>
                <a:latin typeface="Consolas"/>
              </a:rPr>
              <a:t>border</a:t>
            </a:r>
            <a:r>
              <a:rPr sz="1900">
                <a:solidFill>
                  <a:srgbClr val="D4D4D4"/>
                </a:solidFill>
                <a:latin typeface="Consolas"/>
              </a:rPr>
              <a:t>=</a:t>
            </a:r>
            <a:r>
              <a:rPr sz="1900">
                <a:solidFill>
                  <a:srgbClr val="CE9178"/>
                </a:solidFill>
                <a:latin typeface="Consolas"/>
              </a:rPr>
              <a:t>"1"</a:t>
            </a:r>
            <a:r>
              <a:rPr sz="1900">
                <a:solidFill>
                  <a:srgbClr val="D4D4D4"/>
                </a:solidFill>
                <a:latin typeface="Consolas"/>
              </a:rPr>
              <a:t> </a:t>
            </a:r>
            <a:r>
              <a:rPr sz="1900">
                <a:solidFill>
                  <a:srgbClr val="9CDCFE"/>
                </a:solidFill>
                <a:latin typeface="Consolas"/>
              </a:rPr>
              <a:t>alt</a:t>
            </a:r>
            <a:r>
              <a:rPr sz="1900">
                <a:solidFill>
                  <a:srgbClr val="D4D4D4"/>
                </a:solidFill>
                <a:latin typeface="Consolas"/>
              </a:rPr>
              <a:t>=</a:t>
            </a:r>
            <a:r>
              <a:rPr sz="1900">
                <a:solidFill>
                  <a:srgbClr val="CE9178"/>
                </a:solidFill>
                <a:latin typeface="Consolas"/>
              </a:rPr>
              <a:t>"The Beach"</a:t>
            </a:r>
            <a:r>
              <a:rPr sz="1900">
                <a:solidFill>
                  <a:srgbClr val="808080"/>
                </a:solidFill>
                <a:latin typeface="Consolas"/>
              </a:rPr>
              <a:t>/&gt;</a:t>
            </a:r>
          </a:p>
          <a:p>
            <a:pPr algn="l">
              <a:lnSpc>
                <a:spcPct val="100000"/>
              </a:lnSpc>
              <a:spcBef>
                <a:spcPts val="0"/>
              </a:spcBef>
              <a:spcAft>
                <a:spcPts val="0"/>
              </a:spcAft>
            </a:pPr>
            <a:r>
              <a:rPr sz="1900">
                <a:solidFill>
                  <a:srgbClr val="D4D4D4"/>
                </a:solidFill>
                <a:latin typeface="Consolas"/>
              </a:rPr>
              <a:t> </a:t>
            </a:r>
          </a:p>
          <a:p>
            <a:pPr algn="l">
              <a:lnSpc>
                <a:spcPct val="100000"/>
              </a:lnSpc>
              <a:spcBef>
                <a:spcPts val="0"/>
              </a:spcBef>
              <a:spcAft>
                <a:spcPts val="0"/>
              </a:spcAft>
            </a:pPr>
            <a:r>
              <a:rPr sz="1900">
                <a:solidFill>
                  <a:srgbClr val="D4D4D4"/>
                </a:solidFill>
                <a:latin typeface="Consolas"/>
              </a:rPr>
              <a:t>    </a:t>
            </a:r>
            <a:r>
              <a:rPr sz="1900">
                <a:solidFill>
                  <a:srgbClr val="808080"/>
                </a:solidFill>
                <a:latin typeface="Consolas"/>
              </a:rPr>
              <a:t>&lt;/</a:t>
            </a:r>
            <a:r>
              <a:rPr sz="1900">
                <a:solidFill>
                  <a:srgbClr val="569CD6"/>
                </a:solidFill>
                <a:latin typeface="Consolas"/>
              </a:rPr>
              <a:t>body</a:t>
            </a:r>
            <a:r>
              <a:rPr sz="1900">
                <a:solidFill>
                  <a:srgbClr val="808080"/>
                </a:solidFill>
                <a:latin typeface="Consolas"/>
              </a:rPr>
              <a:t>&gt;</a:t>
            </a:r>
            <a:r>
              <a:rPr sz="1900">
                <a:solidFill>
                  <a:srgbClr val="D4D4D4"/>
                </a:solidFill>
                <a:latin typeface="Consolas"/>
              </a:rPr>
              <a:t> </a:t>
            </a:r>
          </a:p>
          <a:p>
            <a:pPr algn="l">
              <a:lnSpc>
                <a:spcPct val="100000"/>
              </a:lnSpc>
              <a:spcBef>
                <a:spcPts val="0"/>
              </a:spcBef>
              <a:spcAft>
                <a:spcPts val="0"/>
              </a:spcAft>
            </a:pPr>
            <a:r>
              <a:rPr sz="1900">
                <a:solidFill>
                  <a:srgbClr val="808080"/>
                </a:solidFill>
                <a:latin typeface="Consolas"/>
              </a:rPr>
              <a:t>&lt;/</a:t>
            </a:r>
            <a:r>
              <a:rPr sz="1900">
                <a:solidFill>
                  <a:srgbClr val="569CD6"/>
                </a:solidFill>
                <a:latin typeface="Consolas"/>
              </a:rPr>
              <a:t>html</a:t>
            </a:r>
            <a:r>
              <a:rPr sz="1900">
                <a:solidFill>
                  <a:srgbClr val="808080"/>
                </a:solidFill>
                <a:latin typeface="Consolas"/>
              </a:rPr>
              <a:t>&gt;</a:t>
            </a:r>
          </a:p>
        </p:txBody>
      </p:sp>
      <p:sp>
        <p:nvSpPr>
          <p:cNvPr id="7" name="TextBox 6"/>
          <p:cNvSpPr txBox="1"/>
          <p:nvPr/>
        </p:nvSpPr>
        <p:spPr>
          <a:xfrm>
            <a:off x="502920" y="6473952"/>
            <a:ext cx="10058400" cy="320040"/>
          </a:xfrm>
          <a:prstGeom prst="rect">
            <a:avLst/>
          </a:prstGeom>
          <a:noFill/>
        </p:spPr>
        <p:txBody>
          <a:bodyPr wrap="none">
            <a:spAutoFit/>
          </a:bodyPr>
          <a:lstStyle/>
          <a:p>
            <a:r>
              <a:rPr sz="1100">
                <a:solidFill>
                  <a:srgbClr val="6B7480"/>
                </a:solidFill>
                <a:latin typeface="Calibri"/>
              </a:rPr>
              <a:t>WEBD 1000 — HTML Examples Review   ·   07_picture_example.html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EB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19456"/>
            <a:ext cx="11155680" cy="502920"/>
          </a:xfrm>
          <a:prstGeom prst="rect">
            <a:avLst/>
          </a:prstGeom>
          <a:noFill/>
        </p:spPr>
        <p:txBody>
          <a:bodyPr wrap="square">
            <a:spAutoFit/>
          </a:bodyPr>
          <a:lstStyle/>
          <a:p>
            <a:r>
              <a:rPr sz="2800" b="1">
                <a:solidFill>
                  <a:srgbClr val="1B2A4A"/>
                </a:solidFill>
                <a:latin typeface="Calibri"/>
              </a:rPr>
              <a:t>Example 08  HTML Entities</a:t>
            </a:r>
          </a:p>
        </p:txBody>
      </p:sp>
      <p:sp>
        <p:nvSpPr>
          <p:cNvPr id="4" name="TextBox 3"/>
          <p:cNvSpPr txBox="1"/>
          <p:nvPr/>
        </p:nvSpPr>
        <p:spPr>
          <a:xfrm>
            <a:off x="530352" y="713232"/>
            <a:ext cx="11155680" cy="292608"/>
          </a:xfrm>
          <a:prstGeom prst="rect">
            <a:avLst/>
          </a:prstGeom>
          <a:noFill/>
        </p:spPr>
        <p:txBody>
          <a:bodyPr wrap="square">
            <a:spAutoFit/>
          </a:bodyPr>
          <a:lstStyle/>
          <a:p>
            <a:r>
              <a:rPr sz="1400" i="1">
                <a:solidFill>
                  <a:srgbClr val="6B7480"/>
                </a:solidFill>
                <a:latin typeface="Calibri"/>
              </a:rPr>
              <a:t>Special characters, e.g. &amp;amp;copy; for ©</a:t>
            </a:r>
          </a:p>
        </p:txBody>
      </p:sp>
      <p:sp>
        <p:nvSpPr>
          <p:cNvPr id="5" name="TextBox 4"/>
          <p:cNvSpPr txBox="1"/>
          <p:nvPr/>
        </p:nvSpPr>
        <p:spPr>
          <a:xfrm>
            <a:off x="530352" y="1005840"/>
            <a:ext cx="11155680" cy="566928"/>
          </a:xfrm>
          <a:prstGeom prst="rect">
            <a:avLst/>
          </a:prstGeom>
          <a:noFill/>
        </p:spPr>
        <p:txBody>
          <a:bodyPr wrap="square">
            <a:spAutoFit/>
          </a:bodyPr>
          <a:lstStyle/>
          <a:p>
            <a:r>
              <a:rPr sz="1450">
                <a:solidFill>
                  <a:srgbClr val="333D4B"/>
                </a:solidFill>
                <a:latin typeface="Calibri"/>
              </a:rPr>
              <a:t>Some characters are reserved in HTML (like &lt; and &gt;) or missing from the keyboard (like ©). HTML entities represent them safely, starting with an ampersand and ending with a semicolon — for example, &amp;amp;copy; displays as ©.</a:t>
            </a:r>
          </a:p>
        </p:txBody>
      </p:sp>
      <p:sp>
        <p:nvSpPr>
          <p:cNvPr id="6" name="Rounded Rectangle 5"/>
          <p:cNvSpPr/>
          <p:nvPr/>
        </p:nvSpPr>
        <p:spPr>
          <a:xfrm>
            <a:off x="502920" y="1645920"/>
            <a:ext cx="11183112" cy="4709160"/>
          </a:xfrm>
          <a:prstGeom prst="roundRect">
            <a:avLst>
              <a:gd name="adj" fmla="val 3000"/>
            </a:avLst>
          </a:prstGeom>
          <a:solidFill>
            <a:srgbClr val="1E1E1E"/>
          </a:solidFill>
          <a:ln w="12700">
            <a:solidFill>
              <a:srgbClr val="3C3C3C"/>
            </a:solidFill>
          </a:ln>
          <a:effectLst/>
        </p:spPr>
        <p:style>
          <a:lnRef idx="1">
            <a:schemeClr val="accent1"/>
          </a:lnRef>
          <a:fillRef idx="3">
            <a:schemeClr val="accent1"/>
          </a:fillRef>
          <a:effectRef idx="2">
            <a:schemeClr val="accent1"/>
          </a:effectRef>
          <a:fontRef idx="minor">
            <a:schemeClr val="lt1"/>
          </a:fontRef>
        </p:style>
        <p:txBody>
          <a:bodyPr wrap="square" lIns="201168" tIns="146304" rIns="201168" bIns="146304" rtlCol="0" anchor="t">
            <a:noAutofit/>
          </a:bodyPr>
          <a:lstStyle/>
          <a:p>
            <a:pPr algn="l">
              <a:lnSpc>
                <a:spcPct val="100000"/>
              </a:lnSpc>
              <a:spcBef>
                <a:spcPts val="0"/>
              </a:spcBef>
              <a:spcAft>
                <a:spcPts val="0"/>
              </a:spcAft>
            </a:pPr>
            <a:r>
              <a:rPr sz="1900">
                <a:solidFill>
                  <a:srgbClr val="808080"/>
                </a:solidFill>
                <a:latin typeface="Consolas"/>
              </a:rPr>
              <a:t>&lt;!DOCTYPE html&gt;</a:t>
            </a:r>
            <a:r>
              <a:rPr sz="1900">
                <a:solidFill>
                  <a:srgbClr val="D4D4D4"/>
                </a:solidFill>
                <a:latin typeface="Consolas"/>
              </a:rPr>
              <a:t> </a:t>
            </a:r>
          </a:p>
          <a:p>
            <a:pPr algn="l">
              <a:lnSpc>
                <a:spcPct val="100000"/>
              </a:lnSpc>
              <a:spcBef>
                <a:spcPts val="0"/>
              </a:spcBef>
              <a:spcAft>
                <a:spcPts val="0"/>
              </a:spcAft>
            </a:pPr>
            <a:r>
              <a:rPr sz="1900">
                <a:solidFill>
                  <a:srgbClr val="808080"/>
                </a:solidFill>
                <a:latin typeface="Consolas"/>
              </a:rPr>
              <a:t>&lt;</a:t>
            </a:r>
            <a:r>
              <a:rPr sz="1900">
                <a:solidFill>
                  <a:srgbClr val="569CD6"/>
                </a:solidFill>
                <a:latin typeface="Consolas"/>
              </a:rPr>
              <a:t>html</a:t>
            </a:r>
            <a:r>
              <a:rPr sz="1900">
                <a:solidFill>
                  <a:srgbClr val="D4D4D4"/>
                </a:solidFill>
                <a:latin typeface="Consolas"/>
              </a:rPr>
              <a:t> </a:t>
            </a:r>
            <a:r>
              <a:rPr sz="1900">
                <a:solidFill>
                  <a:srgbClr val="9CDCFE"/>
                </a:solidFill>
                <a:latin typeface="Consolas"/>
              </a:rPr>
              <a:t>lang</a:t>
            </a:r>
            <a:r>
              <a:rPr sz="1900">
                <a:solidFill>
                  <a:srgbClr val="D4D4D4"/>
                </a:solidFill>
                <a:latin typeface="Consolas"/>
              </a:rPr>
              <a:t>=</a:t>
            </a:r>
            <a:r>
              <a:rPr sz="1900">
                <a:solidFill>
                  <a:srgbClr val="CE9178"/>
                </a:solidFill>
                <a:latin typeface="Consolas"/>
              </a:rPr>
              <a:t>"en"</a:t>
            </a:r>
            <a:r>
              <a:rPr sz="1900">
                <a:solidFill>
                  <a:srgbClr val="808080"/>
                </a:solidFill>
                <a:latin typeface="Consolas"/>
              </a:rPr>
              <a:t>&gt;</a:t>
            </a:r>
            <a:r>
              <a:rPr sz="1900">
                <a:solidFill>
                  <a:srgbClr val="D4D4D4"/>
                </a:solidFill>
                <a:latin typeface="Consolas"/>
              </a:rPr>
              <a:t> </a:t>
            </a:r>
          </a:p>
          <a:p>
            <a:pPr algn="l">
              <a:lnSpc>
                <a:spcPct val="100000"/>
              </a:lnSpc>
              <a:spcBef>
                <a:spcPts val="0"/>
              </a:spcBef>
              <a:spcAft>
                <a:spcPts val="0"/>
              </a:spcAft>
            </a:pPr>
            <a:r>
              <a:rPr sz="1900">
                <a:solidFill>
                  <a:srgbClr val="D4D4D4"/>
                </a:solidFill>
                <a:latin typeface="Consolas"/>
              </a:rPr>
              <a:t>    </a:t>
            </a:r>
            <a:r>
              <a:rPr sz="1900">
                <a:solidFill>
                  <a:srgbClr val="808080"/>
                </a:solidFill>
                <a:latin typeface="Consolas"/>
              </a:rPr>
              <a:t>&lt;</a:t>
            </a:r>
            <a:r>
              <a:rPr sz="1900">
                <a:solidFill>
                  <a:srgbClr val="569CD6"/>
                </a:solidFill>
                <a:latin typeface="Consolas"/>
              </a:rPr>
              <a:t>head</a:t>
            </a:r>
            <a:r>
              <a:rPr sz="1900">
                <a:solidFill>
                  <a:srgbClr val="808080"/>
                </a:solidFill>
                <a:latin typeface="Consolas"/>
              </a:rPr>
              <a:t>&gt;</a:t>
            </a:r>
            <a:r>
              <a:rPr sz="1900">
                <a:solidFill>
                  <a:srgbClr val="D4D4D4"/>
                </a:solidFill>
                <a:latin typeface="Consolas"/>
              </a:rPr>
              <a:t> </a:t>
            </a:r>
          </a:p>
          <a:p>
            <a:pPr algn="l">
              <a:lnSpc>
                <a:spcPct val="100000"/>
              </a:lnSpc>
              <a:spcBef>
                <a:spcPts val="0"/>
              </a:spcBef>
              <a:spcAft>
                <a:spcPts val="0"/>
              </a:spcAft>
            </a:pPr>
            <a:r>
              <a:rPr sz="1900">
                <a:solidFill>
                  <a:srgbClr val="D4D4D4"/>
                </a:solidFill>
                <a:latin typeface="Consolas"/>
              </a:rPr>
              <a:t>        </a:t>
            </a:r>
            <a:r>
              <a:rPr sz="1900">
                <a:solidFill>
                  <a:srgbClr val="808080"/>
                </a:solidFill>
                <a:latin typeface="Consolas"/>
              </a:rPr>
              <a:t>&lt;</a:t>
            </a:r>
            <a:r>
              <a:rPr sz="1900">
                <a:solidFill>
                  <a:srgbClr val="569CD6"/>
                </a:solidFill>
                <a:latin typeface="Consolas"/>
              </a:rPr>
              <a:t>meta</a:t>
            </a:r>
            <a:r>
              <a:rPr sz="1900">
                <a:solidFill>
                  <a:srgbClr val="D4D4D4"/>
                </a:solidFill>
                <a:latin typeface="Consolas"/>
              </a:rPr>
              <a:t> </a:t>
            </a:r>
            <a:r>
              <a:rPr sz="1900">
                <a:solidFill>
                  <a:srgbClr val="9CDCFE"/>
                </a:solidFill>
                <a:latin typeface="Consolas"/>
              </a:rPr>
              <a:t>charset</a:t>
            </a:r>
            <a:r>
              <a:rPr sz="1900">
                <a:solidFill>
                  <a:srgbClr val="D4D4D4"/>
                </a:solidFill>
                <a:latin typeface="Consolas"/>
              </a:rPr>
              <a:t>=</a:t>
            </a:r>
            <a:r>
              <a:rPr sz="1900">
                <a:solidFill>
                  <a:srgbClr val="CE9178"/>
                </a:solidFill>
                <a:latin typeface="Consolas"/>
              </a:rPr>
              <a:t>"UTF-8"</a:t>
            </a:r>
            <a:r>
              <a:rPr sz="1900">
                <a:solidFill>
                  <a:srgbClr val="808080"/>
                </a:solidFill>
                <a:latin typeface="Consolas"/>
              </a:rPr>
              <a:t>&gt;</a:t>
            </a:r>
          </a:p>
          <a:p>
            <a:pPr algn="l">
              <a:lnSpc>
                <a:spcPct val="100000"/>
              </a:lnSpc>
              <a:spcBef>
                <a:spcPts val="0"/>
              </a:spcBef>
              <a:spcAft>
                <a:spcPts val="0"/>
              </a:spcAft>
            </a:pPr>
            <a:r>
              <a:rPr sz="1900">
                <a:solidFill>
                  <a:srgbClr val="D4D4D4"/>
                </a:solidFill>
                <a:latin typeface="Consolas"/>
              </a:rPr>
              <a:t>        </a:t>
            </a:r>
            <a:r>
              <a:rPr sz="1900">
                <a:solidFill>
                  <a:srgbClr val="808080"/>
                </a:solidFill>
                <a:latin typeface="Consolas"/>
              </a:rPr>
              <a:t>&lt;</a:t>
            </a:r>
            <a:r>
              <a:rPr sz="1900">
                <a:solidFill>
                  <a:srgbClr val="569CD6"/>
                </a:solidFill>
                <a:latin typeface="Consolas"/>
              </a:rPr>
              <a:t>meta</a:t>
            </a:r>
            <a:r>
              <a:rPr sz="1900">
                <a:solidFill>
                  <a:srgbClr val="D4D4D4"/>
                </a:solidFill>
                <a:latin typeface="Consolas"/>
              </a:rPr>
              <a:t> </a:t>
            </a:r>
            <a:r>
              <a:rPr sz="1900">
                <a:solidFill>
                  <a:srgbClr val="9CDCFE"/>
                </a:solidFill>
                <a:latin typeface="Consolas"/>
              </a:rPr>
              <a:t>name</a:t>
            </a:r>
            <a:r>
              <a:rPr sz="1900">
                <a:solidFill>
                  <a:srgbClr val="D4D4D4"/>
                </a:solidFill>
                <a:latin typeface="Consolas"/>
              </a:rPr>
              <a:t>=</a:t>
            </a:r>
            <a:r>
              <a:rPr sz="1900">
                <a:solidFill>
                  <a:srgbClr val="CE9178"/>
                </a:solidFill>
                <a:latin typeface="Consolas"/>
              </a:rPr>
              <a:t>"viewport"</a:t>
            </a:r>
            <a:r>
              <a:rPr sz="1900">
                <a:solidFill>
                  <a:srgbClr val="D4D4D4"/>
                </a:solidFill>
                <a:latin typeface="Consolas"/>
              </a:rPr>
              <a:t> </a:t>
            </a:r>
            <a:r>
              <a:rPr sz="1900">
                <a:solidFill>
                  <a:srgbClr val="9CDCFE"/>
                </a:solidFill>
                <a:latin typeface="Consolas"/>
              </a:rPr>
              <a:t>content</a:t>
            </a:r>
            <a:r>
              <a:rPr sz="1900">
                <a:solidFill>
                  <a:srgbClr val="D4D4D4"/>
                </a:solidFill>
                <a:latin typeface="Consolas"/>
              </a:rPr>
              <a:t>=</a:t>
            </a:r>
            <a:r>
              <a:rPr sz="1900">
                <a:solidFill>
                  <a:srgbClr val="CE9178"/>
                </a:solidFill>
                <a:latin typeface="Consolas"/>
              </a:rPr>
              <a:t>"width=device-width, initial-scale=1.0"</a:t>
            </a:r>
            <a:r>
              <a:rPr sz="1900">
                <a:solidFill>
                  <a:srgbClr val="808080"/>
                </a:solidFill>
                <a:latin typeface="Consolas"/>
              </a:rPr>
              <a:t>&gt;</a:t>
            </a:r>
          </a:p>
          <a:p>
            <a:pPr algn="l">
              <a:lnSpc>
                <a:spcPct val="100000"/>
              </a:lnSpc>
              <a:spcBef>
                <a:spcPts val="0"/>
              </a:spcBef>
              <a:spcAft>
                <a:spcPts val="0"/>
              </a:spcAft>
            </a:pPr>
            <a:r>
              <a:rPr sz="1900">
                <a:solidFill>
                  <a:srgbClr val="D4D4D4"/>
                </a:solidFill>
                <a:latin typeface="Consolas"/>
              </a:rPr>
              <a:t>        </a:t>
            </a:r>
            <a:r>
              <a:rPr sz="1900">
                <a:solidFill>
                  <a:srgbClr val="808080"/>
                </a:solidFill>
                <a:latin typeface="Consolas"/>
              </a:rPr>
              <a:t>&lt;</a:t>
            </a:r>
            <a:r>
              <a:rPr sz="1900">
                <a:solidFill>
                  <a:srgbClr val="569CD6"/>
                </a:solidFill>
                <a:latin typeface="Consolas"/>
              </a:rPr>
              <a:t>title</a:t>
            </a:r>
            <a:r>
              <a:rPr sz="1900">
                <a:solidFill>
                  <a:srgbClr val="808080"/>
                </a:solidFill>
                <a:latin typeface="Consolas"/>
              </a:rPr>
              <a:t>&gt;</a:t>
            </a:r>
            <a:r>
              <a:rPr sz="1900">
                <a:solidFill>
                  <a:srgbClr val="D4D4D4"/>
                </a:solidFill>
                <a:latin typeface="Consolas"/>
              </a:rPr>
              <a:t>Example - HTML Entity</a:t>
            </a:r>
            <a:r>
              <a:rPr sz="1900">
                <a:solidFill>
                  <a:srgbClr val="808080"/>
                </a:solidFill>
                <a:latin typeface="Consolas"/>
              </a:rPr>
              <a:t>&lt;/</a:t>
            </a:r>
            <a:r>
              <a:rPr sz="1900">
                <a:solidFill>
                  <a:srgbClr val="569CD6"/>
                </a:solidFill>
                <a:latin typeface="Consolas"/>
              </a:rPr>
              <a:t>title</a:t>
            </a:r>
            <a:r>
              <a:rPr sz="1900">
                <a:solidFill>
                  <a:srgbClr val="808080"/>
                </a:solidFill>
                <a:latin typeface="Consolas"/>
              </a:rPr>
              <a:t>&gt;</a:t>
            </a:r>
            <a:r>
              <a:rPr sz="1900">
                <a:solidFill>
                  <a:srgbClr val="D4D4D4"/>
                </a:solidFill>
                <a:latin typeface="Consolas"/>
              </a:rPr>
              <a:t> </a:t>
            </a:r>
          </a:p>
          <a:p>
            <a:pPr algn="l">
              <a:lnSpc>
                <a:spcPct val="100000"/>
              </a:lnSpc>
              <a:spcBef>
                <a:spcPts val="0"/>
              </a:spcBef>
              <a:spcAft>
                <a:spcPts val="0"/>
              </a:spcAft>
            </a:pPr>
            <a:r>
              <a:rPr sz="1900">
                <a:solidFill>
                  <a:srgbClr val="D4D4D4"/>
                </a:solidFill>
                <a:latin typeface="Consolas"/>
              </a:rPr>
              <a:t>    </a:t>
            </a:r>
            <a:r>
              <a:rPr sz="1900">
                <a:solidFill>
                  <a:srgbClr val="808080"/>
                </a:solidFill>
                <a:latin typeface="Consolas"/>
              </a:rPr>
              <a:t>&lt;/</a:t>
            </a:r>
            <a:r>
              <a:rPr sz="1900">
                <a:solidFill>
                  <a:srgbClr val="569CD6"/>
                </a:solidFill>
                <a:latin typeface="Consolas"/>
              </a:rPr>
              <a:t>head</a:t>
            </a:r>
            <a:r>
              <a:rPr sz="1900">
                <a:solidFill>
                  <a:srgbClr val="808080"/>
                </a:solidFill>
                <a:latin typeface="Consolas"/>
              </a:rPr>
              <a:t>&gt;</a:t>
            </a:r>
            <a:r>
              <a:rPr sz="1900">
                <a:solidFill>
                  <a:srgbClr val="D4D4D4"/>
                </a:solidFill>
                <a:latin typeface="Consolas"/>
              </a:rPr>
              <a:t> </a:t>
            </a:r>
          </a:p>
          <a:p>
            <a:pPr algn="l">
              <a:lnSpc>
                <a:spcPct val="100000"/>
              </a:lnSpc>
              <a:spcBef>
                <a:spcPts val="0"/>
              </a:spcBef>
              <a:spcAft>
                <a:spcPts val="0"/>
              </a:spcAft>
            </a:pPr>
            <a:r>
              <a:rPr sz="1900">
                <a:solidFill>
                  <a:srgbClr val="D4D4D4"/>
                </a:solidFill>
                <a:latin typeface="Consolas"/>
              </a:rPr>
              <a:t>    </a:t>
            </a:r>
            <a:r>
              <a:rPr sz="1900">
                <a:solidFill>
                  <a:srgbClr val="808080"/>
                </a:solidFill>
                <a:latin typeface="Consolas"/>
              </a:rPr>
              <a:t>&lt;</a:t>
            </a:r>
            <a:r>
              <a:rPr sz="1900">
                <a:solidFill>
                  <a:srgbClr val="569CD6"/>
                </a:solidFill>
                <a:latin typeface="Consolas"/>
              </a:rPr>
              <a:t>body</a:t>
            </a:r>
            <a:r>
              <a:rPr sz="1900">
                <a:solidFill>
                  <a:srgbClr val="808080"/>
                </a:solidFill>
                <a:latin typeface="Consolas"/>
              </a:rPr>
              <a:t>&gt;</a:t>
            </a:r>
            <a:r>
              <a:rPr sz="1900">
                <a:solidFill>
                  <a:srgbClr val="D4D4D4"/>
                </a:solidFill>
                <a:latin typeface="Consolas"/>
              </a:rPr>
              <a:t> </a:t>
            </a:r>
          </a:p>
          <a:p>
            <a:pPr algn="l">
              <a:lnSpc>
                <a:spcPct val="100000"/>
              </a:lnSpc>
              <a:spcBef>
                <a:spcPts val="0"/>
              </a:spcBef>
              <a:spcAft>
                <a:spcPts val="0"/>
              </a:spcAft>
            </a:pPr>
            <a:r>
              <a:rPr sz="1900">
                <a:solidFill>
                  <a:srgbClr val="D4D4D4"/>
                </a:solidFill>
                <a:latin typeface="Consolas"/>
              </a:rPr>
              <a:t> </a:t>
            </a:r>
          </a:p>
          <a:p>
            <a:pPr algn="l">
              <a:lnSpc>
                <a:spcPct val="100000"/>
              </a:lnSpc>
              <a:spcBef>
                <a:spcPts val="0"/>
              </a:spcBef>
              <a:spcAft>
                <a:spcPts val="0"/>
              </a:spcAft>
            </a:pPr>
            <a:r>
              <a:rPr sz="1900">
                <a:solidFill>
                  <a:srgbClr val="D4D4D4"/>
                </a:solidFill>
                <a:latin typeface="Consolas"/>
              </a:rPr>
              <a:t>        </a:t>
            </a:r>
            <a:r>
              <a:rPr sz="1900">
                <a:solidFill>
                  <a:srgbClr val="808080"/>
                </a:solidFill>
                <a:latin typeface="Consolas"/>
              </a:rPr>
              <a:t>&lt;</a:t>
            </a:r>
            <a:r>
              <a:rPr sz="1900">
                <a:solidFill>
                  <a:srgbClr val="569CD6"/>
                </a:solidFill>
                <a:latin typeface="Consolas"/>
              </a:rPr>
              <a:t>p</a:t>
            </a:r>
            <a:r>
              <a:rPr sz="1900">
                <a:solidFill>
                  <a:srgbClr val="808080"/>
                </a:solidFill>
                <a:latin typeface="Consolas"/>
              </a:rPr>
              <a:t>&gt;</a:t>
            </a:r>
            <a:r>
              <a:rPr sz="1900">
                <a:solidFill>
                  <a:srgbClr val="D4D4D4"/>
                </a:solidFill>
                <a:latin typeface="Consolas"/>
              </a:rPr>
              <a:t>This site &amp;copy; 2026 Nova Scotia Community College</a:t>
            </a:r>
            <a:r>
              <a:rPr sz="1900">
                <a:solidFill>
                  <a:srgbClr val="808080"/>
                </a:solidFill>
                <a:latin typeface="Consolas"/>
              </a:rPr>
              <a:t>&lt;/</a:t>
            </a:r>
            <a:r>
              <a:rPr sz="1900">
                <a:solidFill>
                  <a:srgbClr val="569CD6"/>
                </a:solidFill>
                <a:latin typeface="Consolas"/>
              </a:rPr>
              <a:t>p</a:t>
            </a:r>
            <a:r>
              <a:rPr sz="1900">
                <a:solidFill>
                  <a:srgbClr val="808080"/>
                </a:solidFill>
                <a:latin typeface="Consolas"/>
              </a:rPr>
              <a:t>&gt;</a:t>
            </a:r>
          </a:p>
          <a:p>
            <a:pPr algn="l">
              <a:lnSpc>
                <a:spcPct val="100000"/>
              </a:lnSpc>
              <a:spcBef>
                <a:spcPts val="0"/>
              </a:spcBef>
              <a:spcAft>
                <a:spcPts val="0"/>
              </a:spcAft>
            </a:pPr>
            <a:r>
              <a:rPr sz="1900">
                <a:solidFill>
                  <a:srgbClr val="D4D4D4"/>
                </a:solidFill>
                <a:latin typeface="Consolas"/>
              </a:rPr>
              <a:t> </a:t>
            </a:r>
          </a:p>
          <a:p>
            <a:pPr algn="l">
              <a:lnSpc>
                <a:spcPct val="100000"/>
              </a:lnSpc>
              <a:spcBef>
                <a:spcPts val="0"/>
              </a:spcBef>
              <a:spcAft>
                <a:spcPts val="0"/>
              </a:spcAft>
            </a:pPr>
            <a:r>
              <a:rPr sz="1900">
                <a:solidFill>
                  <a:srgbClr val="D4D4D4"/>
                </a:solidFill>
                <a:latin typeface="Consolas"/>
              </a:rPr>
              <a:t>    </a:t>
            </a:r>
            <a:r>
              <a:rPr sz="1900">
                <a:solidFill>
                  <a:srgbClr val="808080"/>
                </a:solidFill>
                <a:latin typeface="Consolas"/>
              </a:rPr>
              <a:t>&lt;/</a:t>
            </a:r>
            <a:r>
              <a:rPr sz="1900">
                <a:solidFill>
                  <a:srgbClr val="569CD6"/>
                </a:solidFill>
                <a:latin typeface="Consolas"/>
              </a:rPr>
              <a:t>body</a:t>
            </a:r>
            <a:r>
              <a:rPr sz="1900">
                <a:solidFill>
                  <a:srgbClr val="808080"/>
                </a:solidFill>
                <a:latin typeface="Consolas"/>
              </a:rPr>
              <a:t>&gt;</a:t>
            </a:r>
            <a:r>
              <a:rPr sz="1900">
                <a:solidFill>
                  <a:srgbClr val="D4D4D4"/>
                </a:solidFill>
                <a:latin typeface="Consolas"/>
              </a:rPr>
              <a:t> </a:t>
            </a:r>
          </a:p>
          <a:p>
            <a:pPr algn="l">
              <a:lnSpc>
                <a:spcPct val="100000"/>
              </a:lnSpc>
              <a:spcBef>
                <a:spcPts val="0"/>
              </a:spcBef>
              <a:spcAft>
                <a:spcPts val="0"/>
              </a:spcAft>
            </a:pPr>
            <a:r>
              <a:rPr sz="1900">
                <a:solidFill>
                  <a:srgbClr val="808080"/>
                </a:solidFill>
                <a:latin typeface="Consolas"/>
              </a:rPr>
              <a:t>&lt;/</a:t>
            </a:r>
            <a:r>
              <a:rPr sz="1900">
                <a:solidFill>
                  <a:srgbClr val="569CD6"/>
                </a:solidFill>
                <a:latin typeface="Consolas"/>
              </a:rPr>
              <a:t>html</a:t>
            </a:r>
            <a:r>
              <a:rPr sz="1900">
                <a:solidFill>
                  <a:srgbClr val="808080"/>
                </a:solidFill>
                <a:latin typeface="Consolas"/>
              </a:rPr>
              <a:t>&gt;</a:t>
            </a:r>
          </a:p>
        </p:txBody>
      </p:sp>
      <p:sp>
        <p:nvSpPr>
          <p:cNvPr id="7" name="TextBox 6"/>
          <p:cNvSpPr txBox="1"/>
          <p:nvPr/>
        </p:nvSpPr>
        <p:spPr>
          <a:xfrm>
            <a:off x="502920" y="6473952"/>
            <a:ext cx="10058400" cy="320040"/>
          </a:xfrm>
          <a:prstGeom prst="rect">
            <a:avLst/>
          </a:prstGeom>
          <a:noFill/>
        </p:spPr>
        <p:txBody>
          <a:bodyPr wrap="none">
            <a:spAutoFit/>
          </a:bodyPr>
          <a:lstStyle/>
          <a:p>
            <a:r>
              <a:rPr sz="1100">
                <a:solidFill>
                  <a:srgbClr val="6B7480"/>
                </a:solidFill>
                <a:latin typeface="Calibri"/>
              </a:rPr>
              <a:t>WEBD 1000 — HTML Examples Review   ·   08_entities_example.html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EB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19456"/>
            <a:ext cx="11155680" cy="502920"/>
          </a:xfrm>
          <a:prstGeom prst="rect">
            <a:avLst/>
          </a:prstGeom>
          <a:noFill/>
        </p:spPr>
        <p:txBody>
          <a:bodyPr wrap="square">
            <a:spAutoFit/>
          </a:bodyPr>
          <a:lstStyle/>
          <a:p>
            <a:r>
              <a:rPr sz="2800" b="1">
                <a:solidFill>
                  <a:srgbClr val="1B2A4A"/>
                </a:solidFill>
                <a:latin typeface="Calibri"/>
              </a:rPr>
              <a:t>Example 09  Hyperlinking Between Pages</a:t>
            </a:r>
          </a:p>
        </p:txBody>
      </p:sp>
      <p:sp>
        <p:nvSpPr>
          <p:cNvPr id="4" name="TextBox 3"/>
          <p:cNvSpPr txBox="1"/>
          <p:nvPr/>
        </p:nvSpPr>
        <p:spPr>
          <a:xfrm>
            <a:off x="530352" y="713232"/>
            <a:ext cx="11155680" cy="292608"/>
          </a:xfrm>
          <a:prstGeom prst="rect">
            <a:avLst/>
          </a:prstGeom>
          <a:noFill/>
        </p:spPr>
        <p:txBody>
          <a:bodyPr wrap="square">
            <a:spAutoFit/>
          </a:bodyPr>
          <a:lstStyle/>
          <a:p>
            <a:r>
              <a:rPr sz="1400" i="1">
                <a:solidFill>
                  <a:srgbClr val="6B7480"/>
                </a:solidFill>
                <a:latin typeface="Calibri"/>
              </a:rPr>
              <a:t>&lt;a href="..."&gt; links two pages to each other: page1.html ⇄ page2.html</a:t>
            </a:r>
          </a:p>
        </p:txBody>
      </p:sp>
      <p:sp>
        <p:nvSpPr>
          <p:cNvPr id="5" name="TextBox 4"/>
          <p:cNvSpPr txBox="1"/>
          <p:nvPr/>
        </p:nvSpPr>
        <p:spPr>
          <a:xfrm>
            <a:off x="530352" y="1005840"/>
            <a:ext cx="11155680" cy="566928"/>
          </a:xfrm>
          <a:prstGeom prst="rect">
            <a:avLst/>
          </a:prstGeom>
          <a:noFill/>
        </p:spPr>
        <p:txBody>
          <a:bodyPr wrap="square">
            <a:spAutoFit/>
          </a:bodyPr>
          <a:lstStyle/>
          <a:p>
            <a:r>
              <a:rPr sz="1450">
                <a:solidFill>
                  <a:srgbClr val="333D4B"/>
                </a:solidFill>
                <a:latin typeface="Calibri"/>
              </a:rPr>
              <a:t>The &lt;a&gt; tag creates a clickable hyperlink, with the href attribute pointing to the destination. Here, page1.html and page2.html link to each other, showing how separate pages connect into a single website.</a:t>
            </a:r>
          </a:p>
        </p:txBody>
      </p:sp>
      <p:sp>
        <p:nvSpPr>
          <p:cNvPr id="6" name="Rounded Rectangle 5"/>
          <p:cNvSpPr/>
          <p:nvPr/>
        </p:nvSpPr>
        <p:spPr>
          <a:xfrm>
            <a:off x="502920" y="1645920"/>
            <a:ext cx="5440680" cy="4617720"/>
          </a:xfrm>
          <a:prstGeom prst="roundRect">
            <a:avLst>
              <a:gd name="adj" fmla="val 3000"/>
            </a:avLst>
          </a:prstGeom>
          <a:solidFill>
            <a:srgbClr val="1E1E1E"/>
          </a:solidFill>
          <a:ln w="12700">
            <a:solidFill>
              <a:srgbClr val="3C3C3C"/>
            </a:solidFill>
          </a:ln>
          <a:effectLst/>
        </p:spPr>
        <p:style>
          <a:lnRef idx="1">
            <a:schemeClr val="accent1"/>
          </a:lnRef>
          <a:fillRef idx="3">
            <a:schemeClr val="accent1"/>
          </a:fillRef>
          <a:effectRef idx="2">
            <a:schemeClr val="accent1"/>
          </a:effectRef>
          <a:fontRef idx="minor">
            <a:schemeClr val="lt1"/>
          </a:fontRef>
        </p:style>
        <p:txBody>
          <a:bodyPr wrap="square" lIns="201168" tIns="146304" rIns="201168" bIns="146304" rtlCol="0" anchor="t">
            <a:noAutofit/>
          </a:bodyPr>
          <a:lstStyle/>
          <a:p>
            <a:pPr algn="l">
              <a:lnSpc>
                <a:spcPct val="100000"/>
              </a:lnSpc>
              <a:spcBef>
                <a:spcPts val="0"/>
              </a:spcBef>
              <a:spcAft>
                <a:spcPts val="0"/>
              </a:spcAft>
            </a:pPr>
            <a:r>
              <a:rPr sz="1000" dirty="0">
                <a:solidFill>
                  <a:srgbClr val="808080"/>
                </a:solidFill>
                <a:latin typeface="Consolas"/>
              </a:rPr>
              <a:t>&lt;!DOCTYPE html&gt;</a:t>
            </a:r>
            <a:r>
              <a:rPr sz="1000" dirty="0">
                <a:solidFill>
                  <a:srgbClr val="D4D4D4"/>
                </a:solidFill>
                <a:latin typeface="Consolas"/>
              </a:rPr>
              <a:t> </a:t>
            </a:r>
          </a:p>
          <a:p>
            <a:pPr algn="l">
              <a:lnSpc>
                <a:spcPct val="100000"/>
              </a:lnSpc>
              <a:spcBef>
                <a:spcPts val="0"/>
              </a:spcBef>
              <a:spcAft>
                <a:spcPts val="0"/>
              </a:spcAft>
            </a:pPr>
            <a:r>
              <a:rPr sz="1000" dirty="0">
                <a:solidFill>
                  <a:srgbClr val="808080"/>
                </a:solidFill>
                <a:latin typeface="Consolas"/>
              </a:rPr>
              <a:t>&lt;</a:t>
            </a:r>
            <a:r>
              <a:rPr sz="1000" dirty="0">
                <a:solidFill>
                  <a:srgbClr val="569CD6"/>
                </a:solidFill>
                <a:latin typeface="Consolas"/>
              </a:rPr>
              <a:t>html</a:t>
            </a:r>
            <a:r>
              <a:rPr sz="1000" dirty="0">
                <a:solidFill>
                  <a:srgbClr val="D4D4D4"/>
                </a:solidFill>
                <a:latin typeface="Consolas"/>
              </a:rPr>
              <a:t> </a:t>
            </a:r>
            <a:r>
              <a:rPr sz="1000" dirty="0">
                <a:solidFill>
                  <a:srgbClr val="9CDCFE"/>
                </a:solidFill>
                <a:latin typeface="Consolas"/>
              </a:rPr>
              <a:t>lang</a:t>
            </a:r>
            <a:r>
              <a:rPr sz="1000" dirty="0">
                <a:solidFill>
                  <a:srgbClr val="D4D4D4"/>
                </a:solidFill>
                <a:latin typeface="Consolas"/>
              </a:rPr>
              <a:t>=</a:t>
            </a:r>
            <a:r>
              <a:rPr sz="1000" dirty="0">
                <a:solidFill>
                  <a:srgbClr val="CE9178"/>
                </a:solidFill>
                <a:latin typeface="Consolas"/>
              </a:rPr>
              <a:t>"</a:t>
            </a:r>
            <a:r>
              <a:rPr sz="1000" dirty="0" err="1">
                <a:solidFill>
                  <a:srgbClr val="CE9178"/>
                </a:solidFill>
                <a:latin typeface="Consolas"/>
              </a:rPr>
              <a:t>en</a:t>
            </a:r>
            <a:r>
              <a:rPr sz="1000" dirty="0">
                <a:solidFill>
                  <a:srgbClr val="CE9178"/>
                </a:solidFill>
                <a:latin typeface="Consolas"/>
              </a:rPr>
              <a:t>"</a:t>
            </a:r>
            <a:r>
              <a:rPr sz="1000" dirty="0">
                <a:solidFill>
                  <a:srgbClr val="808080"/>
                </a:solidFill>
                <a:latin typeface="Consolas"/>
              </a:rPr>
              <a:t>&gt;</a:t>
            </a:r>
            <a:r>
              <a:rPr sz="1000" dirty="0">
                <a:solidFill>
                  <a:srgbClr val="D4D4D4"/>
                </a:solidFill>
                <a:latin typeface="Consolas"/>
              </a:rPr>
              <a:t> </a:t>
            </a:r>
          </a:p>
          <a:p>
            <a:pPr algn="l">
              <a:lnSpc>
                <a:spcPct val="100000"/>
              </a:lnSpc>
              <a:spcBef>
                <a:spcPts val="0"/>
              </a:spcBef>
              <a:spcAft>
                <a:spcPts val="0"/>
              </a:spcAft>
            </a:pPr>
            <a:r>
              <a:rPr sz="1000" dirty="0">
                <a:solidFill>
                  <a:srgbClr val="D4D4D4"/>
                </a:solidFill>
                <a:latin typeface="Consolas"/>
              </a:rPr>
              <a:t>    </a:t>
            </a:r>
            <a:r>
              <a:rPr sz="1000" dirty="0">
                <a:solidFill>
                  <a:srgbClr val="808080"/>
                </a:solidFill>
                <a:latin typeface="Consolas"/>
              </a:rPr>
              <a:t>&lt;</a:t>
            </a:r>
            <a:r>
              <a:rPr sz="1000" dirty="0">
                <a:solidFill>
                  <a:srgbClr val="569CD6"/>
                </a:solidFill>
                <a:latin typeface="Consolas"/>
              </a:rPr>
              <a:t>head</a:t>
            </a:r>
            <a:r>
              <a:rPr sz="1000" dirty="0">
                <a:solidFill>
                  <a:srgbClr val="808080"/>
                </a:solidFill>
                <a:latin typeface="Consolas"/>
              </a:rPr>
              <a:t>&gt;</a:t>
            </a:r>
            <a:r>
              <a:rPr sz="1000" dirty="0">
                <a:solidFill>
                  <a:srgbClr val="D4D4D4"/>
                </a:solidFill>
                <a:latin typeface="Consolas"/>
              </a:rPr>
              <a:t> </a:t>
            </a:r>
          </a:p>
          <a:p>
            <a:pPr algn="l">
              <a:lnSpc>
                <a:spcPct val="100000"/>
              </a:lnSpc>
              <a:spcBef>
                <a:spcPts val="0"/>
              </a:spcBef>
              <a:spcAft>
                <a:spcPts val="0"/>
              </a:spcAft>
            </a:pPr>
            <a:r>
              <a:rPr sz="1000" dirty="0">
                <a:solidFill>
                  <a:srgbClr val="D4D4D4"/>
                </a:solidFill>
                <a:latin typeface="Consolas"/>
              </a:rPr>
              <a:t>        </a:t>
            </a:r>
            <a:r>
              <a:rPr sz="1000" dirty="0">
                <a:solidFill>
                  <a:srgbClr val="808080"/>
                </a:solidFill>
                <a:latin typeface="Consolas"/>
              </a:rPr>
              <a:t>&lt;</a:t>
            </a:r>
            <a:r>
              <a:rPr sz="1000" dirty="0">
                <a:solidFill>
                  <a:srgbClr val="569CD6"/>
                </a:solidFill>
                <a:latin typeface="Consolas"/>
              </a:rPr>
              <a:t>meta</a:t>
            </a:r>
            <a:r>
              <a:rPr sz="1000" dirty="0">
                <a:solidFill>
                  <a:srgbClr val="D4D4D4"/>
                </a:solidFill>
                <a:latin typeface="Consolas"/>
              </a:rPr>
              <a:t> </a:t>
            </a:r>
            <a:r>
              <a:rPr sz="1000" dirty="0">
                <a:solidFill>
                  <a:srgbClr val="9CDCFE"/>
                </a:solidFill>
                <a:latin typeface="Consolas"/>
              </a:rPr>
              <a:t>charset</a:t>
            </a:r>
            <a:r>
              <a:rPr sz="1000" dirty="0">
                <a:solidFill>
                  <a:srgbClr val="D4D4D4"/>
                </a:solidFill>
                <a:latin typeface="Consolas"/>
              </a:rPr>
              <a:t>=</a:t>
            </a:r>
            <a:r>
              <a:rPr sz="1000" dirty="0">
                <a:solidFill>
                  <a:srgbClr val="CE9178"/>
                </a:solidFill>
                <a:latin typeface="Consolas"/>
              </a:rPr>
              <a:t>"UTF-8"</a:t>
            </a:r>
            <a:r>
              <a:rPr sz="1000" dirty="0">
                <a:solidFill>
                  <a:srgbClr val="808080"/>
                </a:solidFill>
                <a:latin typeface="Consolas"/>
              </a:rPr>
              <a:t>&gt;</a:t>
            </a:r>
          </a:p>
          <a:p>
            <a:pPr algn="l">
              <a:lnSpc>
                <a:spcPct val="100000"/>
              </a:lnSpc>
              <a:spcBef>
                <a:spcPts val="0"/>
              </a:spcBef>
              <a:spcAft>
                <a:spcPts val="0"/>
              </a:spcAft>
            </a:pPr>
            <a:r>
              <a:rPr sz="1000" dirty="0">
                <a:solidFill>
                  <a:srgbClr val="D4D4D4"/>
                </a:solidFill>
                <a:latin typeface="Consolas"/>
              </a:rPr>
              <a:t>        </a:t>
            </a:r>
            <a:r>
              <a:rPr sz="1000" dirty="0">
                <a:solidFill>
                  <a:srgbClr val="808080"/>
                </a:solidFill>
                <a:latin typeface="Consolas"/>
              </a:rPr>
              <a:t>&lt;</a:t>
            </a:r>
            <a:r>
              <a:rPr sz="1000" dirty="0">
                <a:solidFill>
                  <a:srgbClr val="569CD6"/>
                </a:solidFill>
                <a:latin typeface="Consolas"/>
              </a:rPr>
              <a:t>meta</a:t>
            </a:r>
            <a:r>
              <a:rPr sz="1000" dirty="0">
                <a:solidFill>
                  <a:srgbClr val="D4D4D4"/>
                </a:solidFill>
                <a:latin typeface="Consolas"/>
              </a:rPr>
              <a:t> </a:t>
            </a:r>
            <a:r>
              <a:rPr sz="1000" dirty="0">
                <a:solidFill>
                  <a:srgbClr val="9CDCFE"/>
                </a:solidFill>
                <a:latin typeface="Consolas"/>
              </a:rPr>
              <a:t>name</a:t>
            </a:r>
            <a:r>
              <a:rPr sz="1000" dirty="0">
                <a:solidFill>
                  <a:srgbClr val="D4D4D4"/>
                </a:solidFill>
                <a:latin typeface="Consolas"/>
              </a:rPr>
              <a:t>=</a:t>
            </a:r>
            <a:r>
              <a:rPr sz="1000" dirty="0">
                <a:solidFill>
                  <a:srgbClr val="CE9178"/>
                </a:solidFill>
                <a:latin typeface="Consolas"/>
              </a:rPr>
              <a:t>"viewport"</a:t>
            </a:r>
            <a:r>
              <a:rPr sz="1000" dirty="0">
                <a:solidFill>
                  <a:srgbClr val="D4D4D4"/>
                </a:solidFill>
                <a:latin typeface="Consolas"/>
              </a:rPr>
              <a:t> </a:t>
            </a:r>
            <a:r>
              <a:rPr sz="1000" dirty="0">
                <a:solidFill>
                  <a:srgbClr val="9CDCFE"/>
                </a:solidFill>
                <a:latin typeface="Consolas"/>
              </a:rPr>
              <a:t>content</a:t>
            </a:r>
            <a:r>
              <a:rPr sz="1000" dirty="0">
                <a:solidFill>
                  <a:srgbClr val="D4D4D4"/>
                </a:solidFill>
                <a:latin typeface="Consolas"/>
              </a:rPr>
              <a:t>=</a:t>
            </a:r>
            <a:r>
              <a:rPr sz="1000" dirty="0">
                <a:solidFill>
                  <a:srgbClr val="CE9178"/>
                </a:solidFill>
                <a:latin typeface="Consolas"/>
              </a:rPr>
              <a:t>"width=device-width, initial-scale=1.0"</a:t>
            </a:r>
            <a:r>
              <a:rPr sz="1000" dirty="0">
                <a:solidFill>
                  <a:srgbClr val="808080"/>
                </a:solidFill>
                <a:latin typeface="Consolas"/>
              </a:rPr>
              <a:t>&gt;</a:t>
            </a:r>
          </a:p>
          <a:p>
            <a:pPr algn="l">
              <a:lnSpc>
                <a:spcPct val="100000"/>
              </a:lnSpc>
              <a:spcBef>
                <a:spcPts val="0"/>
              </a:spcBef>
              <a:spcAft>
                <a:spcPts val="0"/>
              </a:spcAft>
            </a:pPr>
            <a:r>
              <a:rPr sz="1000" dirty="0">
                <a:solidFill>
                  <a:srgbClr val="D4D4D4"/>
                </a:solidFill>
                <a:latin typeface="Consolas"/>
              </a:rPr>
              <a:t>        </a:t>
            </a:r>
            <a:r>
              <a:rPr sz="1000" dirty="0">
                <a:solidFill>
                  <a:srgbClr val="808080"/>
                </a:solidFill>
                <a:latin typeface="Consolas"/>
              </a:rPr>
              <a:t>&lt;</a:t>
            </a:r>
            <a:r>
              <a:rPr sz="1000" dirty="0">
                <a:solidFill>
                  <a:srgbClr val="569CD6"/>
                </a:solidFill>
                <a:latin typeface="Consolas"/>
              </a:rPr>
              <a:t>title</a:t>
            </a:r>
            <a:r>
              <a:rPr sz="1000" dirty="0">
                <a:solidFill>
                  <a:srgbClr val="808080"/>
                </a:solidFill>
                <a:latin typeface="Consolas"/>
              </a:rPr>
              <a:t>&gt;</a:t>
            </a:r>
            <a:r>
              <a:rPr sz="1000" dirty="0">
                <a:solidFill>
                  <a:srgbClr val="D4D4D4"/>
                </a:solidFill>
                <a:latin typeface="Consolas"/>
              </a:rPr>
              <a:t>Example</a:t>
            </a:r>
            <a:r>
              <a:rPr sz="1000" dirty="0">
                <a:solidFill>
                  <a:srgbClr val="808080"/>
                </a:solidFill>
                <a:latin typeface="Consolas"/>
              </a:rPr>
              <a:t>&lt;/</a:t>
            </a:r>
            <a:r>
              <a:rPr sz="1000" dirty="0">
                <a:solidFill>
                  <a:srgbClr val="569CD6"/>
                </a:solidFill>
                <a:latin typeface="Consolas"/>
              </a:rPr>
              <a:t>title</a:t>
            </a:r>
            <a:r>
              <a:rPr sz="1000" dirty="0">
                <a:solidFill>
                  <a:srgbClr val="808080"/>
                </a:solidFill>
                <a:latin typeface="Consolas"/>
              </a:rPr>
              <a:t>&gt;</a:t>
            </a:r>
            <a:r>
              <a:rPr sz="1000" dirty="0">
                <a:solidFill>
                  <a:srgbClr val="D4D4D4"/>
                </a:solidFill>
                <a:latin typeface="Consolas"/>
              </a:rPr>
              <a:t> </a:t>
            </a:r>
          </a:p>
          <a:p>
            <a:pPr algn="l">
              <a:lnSpc>
                <a:spcPct val="100000"/>
              </a:lnSpc>
              <a:spcBef>
                <a:spcPts val="0"/>
              </a:spcBef>
              <a:spcAft>
                <a:spcPts val="0"/>
              </a:spcAft>
            </a:pPr>
            <a:r>
              <a:rPr sz="1000" dirty="0">
                <a:solidFill>
                  <a:srgbClr val="D4D4D4"/>
                </a:solidFill>
                <a:latin typeface="Consolas"/>
              </a:rPr>
              <a:t>    </a:t>
            </a:r>
            <a:r>
              <a:rPr sz="1000" dirty="0">
                <a:solidFill>
                  <a:srgbClr val="808080"/>
                </a:solidFill>
                <a:latin typeface="Consolas"/>
              </a:rPr>
              <a:t>&lt;/</a:t>
            </a:r>
            <a:r>
              <a:rPr sz="1000" dirty="0">
                <a:solidFill>
                  <a:srgbClr val="569CD6"/>
                </a:solidFill>
                <a:latin typeface="Consolas"/>
              </a:rPr>
              <a:t>head</a:t>
            </a:r>
            <a:r>
              <a:rPr sz="1000" dirty="0">
                <a:solidFill>
                  <a:srgbClr val="808080"/>
                </a:solidFill>
                <a:latin typeface="Consolas"/>
              </a:rPr>
              <a:t>&gt;</a:t>
            </a:r>
            <a:r>
              <a:rPr sz="1000" dirty="0">
                <a:solidFill>
                  <a:srgbClr val="D4D4D4"/>
                </a:solidFill>
                <a:latin typeface="Consolas"/>
              </a:rPr>
              <a:t> </a:t>
            </a:r>
          </a:p>
          <a:p>
            <a:pPr algn="l">
              <a:lnSpc>
                <a:spcPct val="100000"/>
              </a:lnSpc>
              <a:spcBef>
                <a:spcPts val="0"/>
              </a:spcBef>
              <a:spcAft>
                <a:spcPts val="0"/>
              </a:spcAft>
            </a:pPr>
            <a:r>
              <a:rPr sz="1000" dirty="0">
                <a:solidFill>
                  <a:srgbClr val="D4D4D4"/>
                </a:solidFill>
                <a:latin typeface="Consolas"/>
              </a:rPr>
              <a:t>    </a:t>
            </a:r>
            <a:r>
              <a:rPr sz="1000" dirty="0">
                <a:solidFill>
                  <a:srgbClr val="808080"/>
                </a:solidFill>
                <a:latin typeface="Consolas"/>
              </a:rPr>
              <a:t>&lt;</a:t>
            </a:r>
            <a:r>
              <a:rPr sz="1000" dirty="0">
                <a:solidFill>
                  <a:srgbClr val="569CD6"/>
                </a:solidFill>
                <a:latin typeface="Consolas"/>
              </a:rPr>
              <a:t>body</a:t>
            </a:r>
            <a:r>
              <a:rPr sz="1000" dirty="0">
                <a:solidFill>
                  <a:srgbClr val="808080"/>
                </a:solidFill>
                <a:latin typeface="Consolas"/>
              </a:rPr>
              <a:t>&gt;</a:t>
            </a:r>
            <a:r>
              <a:rPr sz="1000" dirty="0">
                <a:solidFill>
                  <a:srgbClr val="D4D4D4"/>
                </a:solidFill>
                <a:latin typeface="Consolas"/>
              </a:rPr>
              <a:t> </a:t>
            </a:r>
          </a:p>
          <a:p>
            <a:pPr algn="l">
              <a:lnSpc>
                <a:spcPct val="100000"/>
              </a:lnSpc>
              <a:spcBef>
                <a:spcPts val="0"/>
              </a:spcBef>
              <a:spcAft>
                <a:spcPts val="0"/>
              </a:spcAft>
            </a:pPr>
            <a:r>
              <a:rPr sz="1000" dirty="0">
                <a:solidFill>
                  <a:srgbClr val="D4D4D4"/>
                </a:solidFill>
                <a:latin typeface="Consolas"/>
              </a:rPr>
              <a:t> </a:t>
            </a:r>
          </a:p>
          <a:p>
            <a:pPr algn="l">
              <a:lnSpc>
                <a:spcPct val="100000"/>
              </a:lnSpc>
              <a:spcBef>
                <a:spcPts val="0"/>
              </a:spcBef>
              <a:spcAft>
                <a:spcPts val="0"/>
              </a:spcAft>
            </a:pPr>
            <a:r>
              <a:rPr sz="1000" dirty="0">
                <a:solidFill>
                  <a:srgbClr val="D4D4D4"/>
                </a:solidFill>
                <a:latin typeface="Consolas"/>
              </a:rPr>
              <a:t>        </a:t>
            </a:r>
            <a:r>
              <a:rPr sz="1000" dirty="0">
                <a:solidFill>
                  <a:srgbClr val="808080"/>
                </a:solidFill>
                <a:latin typeface="Consolas"/>
              </a:rPr>
              <a:t>&lt;</a:t>
            </a:r>
            <a:r>
              <a:rPr sz="1000" dirty="0">
                <a:solidFill>
                  <a:srgbClr val="569CD6"/>
                </a:solidFill>
                <a:latin typeface="Consolas"/>
              </a:rPr>
              <a:t>h1</a:t>
            </a:r>
            <a:r>
              <a:rPr sz="1000" dirty="0">
                <a:solidFill>
                  <a:srgbClr val="808080"/>
                </a:solidFill>
                <a:latin typeface="Consolas"/>
              </a:rPr>
              <a:t>&gt;</a:t>
            </a:r>
            <a:r>
              <a:rPr sz="1000" dirty="0">
                <a:solidFill>
                  <a:srgbClr val="D4D4D4"/>
                </a:solidFill>
                <a:latin typeface="Consolas"/>
              </a:rPr>
              <a:t>This is page 1</a:t>
            </a:r>
            <a:r>
              <a:rPr sz="1000" dirty="0">
                <a:solidFill>
                  <a:srgbClr val="808080"/>
                </a:solidFill>
                <a:latin typeface="Consolas"/>
              </a:rPr>
              <a:t>&lt;/</a:t>
            </a:r>
            <a:r>
              <a:rPr sz="1000" dirty="0">
                <a:solidFill>
                  <a:srgbClr val="569CD6"/>
                </a:solidFill>
                <a:latin typeface="Consolas"/>
              </a:rPr>
              <a:t>h1</a:t>
            </a:r>
            <a:r>
              <a:rPr sz="1000" dirty="0">
                <a:solidFill>
                  <a:srgbClr val="808080"/>
                </a:solidFill>
                <a:latin typeface="Consolas"/>
              </a:rPr>
              <a:t>&gt;</a:t>
            </a:r>
          </a:p>
          <a:p>
            <a:pPr algn="l">
              <a:lnSpc>
                <a:spcPct val="100000"/>
              </a:lnSpc>
              <a:spcBef>
                <a:spcPts val="0"/>
              </a:spcBef>
              <a:spcAft>
                <a:spcPts val="0"/>
              </a:spcAft>
            </a:pPr>
            <a:r>
              <a:rPr sz="1000" dirty="0">
                <a:solidFill>
                  <a:srgbClr val="D4D4D4"/>
                </a:solidFill>
                <a:latin typeface="Consolas"/>
              </a:rPr>
              <a:t> </a:t>
            </a:r>
          </a:p>
          <a:p>
            <a:pPr algn="l">
              <a:lnSpc>
                <a:spcPct val="100000"/>
              </a:lnSpc>
              <a:spcBef>
                <a:spcPts val="0"/>
              </a:spcBef>
              <a:spcAft>
                <a:spcPts val="0"/>
              </a:spcAft>
            </a:pPr>
            <a:r>
              <a:rPr sz="1000" dirty="0">
                <a:solidFill>
                  <a:srgbClr val="D4D4D4"/>
                </a:solidFill>
                <a:latin typeface="Consolas"/>
              </a:rPr>
              <a:t>        </a:t>
            </a:r>
            <a:r>
              <a:rPr sz="1000" dirty="0">
                <a:solidFill>
                  <a:srgbClr val="808080"/>
                </a:solidFill>
                <a:latin typeface="Consolas"/>
              </a:rPr>
              <a:t>&lt;</a:t>
            </a:r>
            <a:r>
              <a:rPr sz="1000" dirty="0">
                <a:solidFill>
                  <a:srgbClr val="569CD6"/>
                </a:solidFill>
                <a:latin typeface="Consolas"/>
              </a:rPr>
              <a:t>p</a:t>
            </a:r>
            <a:r>
              <a:rPr sz="1000" dirty="0">
                <a:solidFill>
                  <a:srgbClr val="808080"/>
                </a:solidFill>
                <a:latin typeface="Consolas"/>
              </a:rPr>
              <a:t>&gt;</a:t>
            </a:r>
            <a:r>
              <a:rPr sz="1000" dirty="0">
                <a:solidFill>
                  <a:srgbClr val="D4D4D4"/>
                </a:solidFill>
                <a:latin typeface="Consolas"/>
              </a:rPr>
              <a:t>Welcoming campus with big school spirit, Burridge operates from two locations along one of the province’s most beautiful shores – the main site in Yarmouth and the Digby Learning Centre.</a:t>
            </a:r>
            <a:r>
              <a:rPr sz="1000" dirty="0">
                <a:solidFill>
                  <a:srgbClr val="808080"/>
                </a:solidFill>
                <a:latin typeface="Consolas"/>
              </a:rPr>
              <a:t>&lt;/</a:t>
            </a:r>
            <a:r>
              <a:rPr sz="1000" dirty="0">
                <a:solidFill>
                  <a:srgbClr val="569CD6"/>
                </a:solidFill>
                <a:latin typeface="Consolas"/>
              </a:rPr>
              <a:t>p</a:t>
            </a:r>
            <a:r>
              <a:rPr sz="1000" dirty="0">
                <a:solidFill>
                  <a:srgbClr val="808080"/>
                </a:solidFill>
                <a:latin typeface="Consolas"/>
              </a:rPr>
              <a:t>&gt;</a:t>
            </a:r>
          </a:p>
          <a:p>
            <a:pPr algn="l">
              <a:lnSpc>
                <a:spcPct val="100000"/>
              </a:lnSpc>
              <a:spcBef>
                <a:spcPts val="0"/>
              </a:spcBef>
              <a:spcAft>
                <a:spcPts val="0"/>
              </a:spcAft>
            </a:pPr>
            <a:r>
              <a:rPr sz="1000" dirty="0">
                <a:solidFill>
                  <a:srgbClr val="D4D4D4"/>
                </a:solidFill>
                <a:latin typeface="Consolas"/>
              </a:rPr>
              <a:t> </a:t>
            </a:r>
          </a:p>
          <a:p>
            <a:pPr algn="l">
              <a:lnSpc>
                <a:spcPct val="100000"/>
              </a:lnSpc>
              <a:spcBef>
                <a:spcPts val="0"/>
              </a:spcBef>
              <a:spcAft>
                <a:spcPts val="0"/>
              </a:spcAft>
            </a:pPr>
            <a:r>
              <a:rPr sz="1000" dirty="0">
                <a:solidFill>
                  <a:srgbClr val="D4D4D4"/>
                </a:solidFill>
                <a:latin typeface="Consolas"/>
              </a:rPr>
              <a:t>        </a:t>
            </a:r>
            <a:r>
              <a:rPr sz="1000" dirty="0">
                <a:solidFill>
                  <a:srgbClr val="808080"/>
                </a:solidFill>
                <a:latin typeface="Consolas"/>
              </a:rPr>
              <a:t>&lt;</a:t>
            </a:r>
            <a:r>
              <a:rPr sz="1000" dirty="0">
                <a:solidFill>
                  <a:srgbClr val="569CD6"/>
                </a:solidFill>
                <a:latin typeface="Consolas"/>
              </a:rPr>
              <a:t>p</a:t>
            </a:r>
            <a:r>
              <a:rPr sz="1000" dirty="0">
                <a:solidFill>
                  <a:srgbClr val="808080"/>
                </a:solidFill>
                <a:latin typeface="Consolas"/>
              </a:rPr>
              <a:t>&gt;</a:t>
            </a:r>
            <a:r>
              <a:rPr sz="1000" dirty="0">
                <a:solidFill>
                  <a:srgbClr val="D4D4D4"/>
                </a:solidFill>
                <a:latin typeface="Consolas"/>
              </a:rPr>
              <a:t>Take advantage of the services available through the campus spa, nail and hair salon, where students apply what they’ve learned. On Wednesdays, you’ll want to head to the cafeteria to try the campus’s famous cinnamon buns.</a:t>
            </a:r>
            <a:r>
              <a:rPr sz="1000" dirty="0">
                <a:solidFill>
                  <a:srgbClr val="808080"/>
                </a:solidFill>
                <a:latin typeface="Consolas"/>
              </a:rPr>
              <a:t>&lt;/</a:t>
            </a:r>
            <a:r>
              <a:rPr sz="1000" dirty="0">
                <a:solidFill>
                  <a:srgbClr val="569CD6"/>
                </a:solidFill>
                <a:latin typeface="Consolas"/>
              </a:rPr>
              <a:t>p</a:t>
            </a:r>
            <a:r>
              <a:rPr sz="1000" dirty="0">
                <a:solidFill>
                  <a:srgbClr val="808080"/>
                </a:solidFill>
                <a:latin typeface="Consolas"/>
              </a:rPr>
              <a:t>&gt;</a:t>
            </a:r>
          </a:p>
          <a:p>
            <a:pPr algn="l">
              <a:lnSpc>
                <a:spcPct val="100000"/>
              </a:lnSpc>
              <a:spcBef>
                <a:spcPts val="0"/>
              </a:spcBef>
              <a:spcAft>
                <a:spcPts val="0"/>
              </a:spcAft>
            </a:pPr>
            <a:r>
              <a:rPr sz="1000" dirty="0">
                <a:solidFill>
                  <a:srgbClr val="D4D4D4"/>
                </a:solidFill>
                <a:latin typeface="Consolas"/>
              </a:rPr>
              <a:t> </a:t>
            </a:r>
          </a:p>
          <a:p>
            <a:pPr algn="l">
              <a:lnSpc>
                <a:spcPct val="100000"/>
              </a:lnSpc>
              <a:spcBef>
                <a:spcPts val="0"/>
              </a:spcBef>
              <a:spcAft>
                <a:spcPts val="0"/>
              </a:spcAft>
            </a:pPr>
            <a:r>
              <a:rPr sz="1000" dirty="0">
                <a:solidFill>
                  <a:srgbClr val="D4D4D4"/>
                </a:solidFill>
                <a:latin typeface="Consolas"/>
              </a:rPr>
              <a:t>        </a:t>
            </a:r>
            <a:r>
              <a:rPr sz="1000" dirty="0">
                <a:solidFill>
                  <a:srgbClr val="808080"/>
                </a:solidFill>
                <a:latin typeface="Consolas"/>
              </a:rPr>
              <a:t>&lt;</a:t>
            </a:r>
            <a:r>
              <a:rPr sz="1000" dirty="0">
                <a:solidFill>
                  <a:srgbClr val="569CD6"/>
                </a:solidFill>
                <a:latin typeface="Consolas"/>
              </a:rPr>
              <a:t>p</a:t>
            </a:r>
            <a:r>
              <a:rPr sz="1000" dirty="0">
                <a:solidFill>
                  <a:srgbClr val="808080"/>
                </a:solidFill>
                <a:latin typeface="Consolas"/>
              </a:rPr>
              <a:t>&gt;</a:t>
            </a:r>
          </a:p>
          <a:p>
            <a:pPr algn="l">
              <a:lnSpc>
                <a:spcPct val="100000"/>
              </a:lnSpc>
              <a:spcBef>
                <a:spcPts val="0"/>
              </a:spcBef>
              <a:spcAft>
                <a:spcPts val="0"/>
              </a:spcAft>
            </a:pPr>
            <a:r>
              <a:rPr sz="1000" dirty="0">
                <a:solidFill>
                  <a:srgbClr val="D4D4D4"/>
                </a:solidFill>
                <a:latin typeface="Consolas"/>
              </a:rPr>
              <a:t>            </a:t>
            </a:r>
            <a:r>
              <a:rPr sz="1000" dirty="0">
                <a:solidFill>
                  <a:srgbClr val="808080"/>
                </a:solidFill>
                <a:latin typeface="Consolas"/>
              </a:rPr>
              <a:t>&lt;</a:t>
            </a:r>
            <a:r>
              <a:rPr sz="1000" dirty="0">
                <a:solidFill>
                  <a:srgbClr val="569CD6"/>
                </a:solidFill>
                <a:latin typeface="Consolas"/>
              </a:rPr>
              <a:t>a</a:t>
            </a:r>
            <a:r>
              <a:rPr sz="1000" dirty="0">
                <a:solidFill>
                  <a:srgbClr val="D4D4D4"/>
                </a:solidFill>
                <a:latin typeface="Consolas"/>
              </a:rPr>
              <a:t> </a:t>
            </a:r>
            <a:r>
              <a:rPr sz="1000" dirty="0" err="1">
                <a:solidFill>
                  <a:srgbClr val="9CDCFE"/>
                </a:solidFill>
                <a:latin typeface="Consolas"/>
              </a:rPr>
              <a:t>href</a:t>
            </a:r>
            <a:r>
              <a:rPr sz="1000" dirty="0">
                <a:solidFill>
                  <a:srgbClr val="D4D4D4"/>
                </a:solidFill>
                <a:latin typeface="Consolas"/>
              </a:rPr>
              <a:t>=</a:t>
            </a:r>
            <a:r>
              <a:rPr sz="1000" dirty="0">
                <a:solidFill>
                  <a:srgbClr val="CE9178"/>
                </a:solidFill>
                <a:latin typeface="Consolas"/>
              </a:rPr>
              <a:t>"page2.html"</a:t>
            </a:r>
            <a:r>
              <a:rPr sz="1000" dirty="0">
                <a:solidFill>
                  <a:srgbClr val="808080"/>
                </a:solidFill>
                <a:latin typeface="Consolas"/>
              </a:rPr>
              <a:t>&gt;</a:t>
            </a:r>
            <a:r>
              <a:rPr sz="1000" dirty="0">
                <a:solidFill>
                  <a:srgbClr val="D4D4D4"/>
                </a:solidFill>
                <a:latin typeface="Consolas"/>
              </a:rPr>
              <a:t>Link to page 2</a:t>
            </a:r>
            <a:r>
              <a:rPr sz="1000" dirty="0">
                <a:solidFill>
                  <a:srgbClr val="808080"/>
                </a:solidFill>
                <a:latin typeface="Consolas"/>
              </a:rPr>
              <a:t>&lt;/</a:t>
            </a:r>
            <a:r>
              <a:rPr sz="1000" dirty="0">
                <a:solidFill>
                  <a:srgbClr val="569CD6"/>
                </a:solidFill>
                <a:latin typeface="Consolas"/>
              </a:rPr>
              <a:t>a</a:t>
            </a:r>
            <a:r>
              <a:rPr sz="1000" dirty="0">
                <a:solidFill>
                  <a:srgbClr val="808080"/>
                </a:solidFill>
                <a:latin typeface="Consolas"/>
              </a:rPr>
              <a:t>&gt;</a:t>
            </a:r>
          </a:p>
          <a:p>
            <a:pPr algn="l">
              <a:lnSpc>
                <a:spcPct val="100000"/>
              </a:lnSpc>
              <a:spcBef>
                <a:spcPts val="0"/>
              </a:spcBef>
              <a:spcAft>
                <a:spcPts val="0"/>
              </a:spcAft>
            </a:pPr>
            <a:r>
              <a:rPr sz="1000" dirty="0">
                <a:solidFill>
                  <a:srgbClr val="D4D4D4"/>
                </a:solidFill>
                <a:latin typeface="Consolas"/>
              </a:rPr>
              <a:t>        </a:t>
            </a:r>
            <a:r>
              <a:rPr sz="1000" dirty="0">
                <a:solidFill>
                  <a:srgbClr val="808080"/>
                </a:solidFill>
                <a:latin typeface="Consolas"/>
              </a:rPr>
              <a:t>&lt;/</a:t>
            </a:r>
            <a:r>
              <a:rPr sz="1000" dirty="0">
                <a:solidFill>
                  <a:srgbClr val="569CD6"/>
                </a:solidFill>
                <a:latin typeface="Consolas"/>
              </a:rPr>
              <a:t>p</a:t>
            </a:r>
            <a:r>
              <a:rPr sz="1000" dirty="0">
                <a:solidFill>
                  <a:srgbClr val="808080"/>
                </a:solidFill>
                <a:latin typeface="Consolas"/>
              </a:rPr>
              <a:t>&gt;</a:t>
            </a:r>
          </a:p>
          <a:p>
            <a:pPr algn="l">
              <a:lnSpc>
                <a:spcPct val="100000"/>
              </a:lnSpc>
              <a:spcBef>
                <a:spcPts val="0"/>
              </a:spcBef>
              <a:spcAft>
                <a:spcPts val="0"/>
              </a:spcAft>
            </a:pPr>
            <a:r>
              <a:rPr sz="1000" dirty="0">
                <a:solidFill>
                  <a:srgbClr val="D4D4D4"/>
                </a:solidFill>
                <a:latin typeface="Consolas"/>
              </a:rPr>
              <a:t> </a:t>
            </a:r>
          </a:p>
          <a:p>
            <a:pPr algn="l">
              <a:lnSpc>
                <a:spcPct val="100000"/>
              </a:lnSpc>
              <a:spcBef>
                <a:spcPts val="0"/>
              </a:spcBef>
              <a:spcAft>
                <a:spcPts val="0"/>
              </a:spcAft>
            </a:pPr>
            <a:r>
              <a:rPr sz="1000" dirty="0">
                <a:solidFill>
                  <a:srgbClr val="D4D4D4"/>
                </a:solidFill>
                <a:latin typeface="Consolas"/>
              </a:rPr>
              <a:t>    </a:t>
            </a:r>
            <a:r>
              <a:rPr sz="1000" dirty="0">
                <a:solidFill>
                  <a:srgbClr val="808080"/>
                </a:solidFill>
                <a:latin typeface="Consolas"/>
              </a:rPr>
              <a:t>&lt;/</a:t>
            </a:r>
            <a:r>
              <a:rPr sz="1000" dirty="0">
                <a:solidFill>
                  <a:srgbClr val="569CD6"/>
                </a:solidFill>
                <a:latin typeface="Consolas"/>
              </a:rPr>
              <a:t>body</a:t>
            </a:r>
            <a:r>
              <a:rPr sz="1000" dirty="0">
                <a:solidFill>
                  <a:srgbClr val="808080"/>
                </a:solidFill>
                <a:latin typeface="Consolas"/>
              </a:rPr>
              <a:t>&gt;</a:t>
            </a:r>
            <a:r>
              <a:rPr sz="1000" dirty="0">
                <a:solidFill>
                  <a:srgbClr val="D4D4D4"/>
                </a:solidFill>
                <a:latin typeface="Consolas"/>
              </a:rPr>
              <a:t> </a:t>
            </a:r>
          </a:p>
          <a:p>
            <a:pPr algn="l">
              <a:lnSpc>
                <a:spcPct val="100000"/>
              </a:lnSpc>
              <a:spcBef>
                <a:spcPts val="0"/>
              </a:spcBef>
              <a:spcAft>
                <a:spcPts val="0"/>
              </a:spcAft>
            </a:pPr>
            <a:r>
              <a:rPr sz="1000" dirty="0">
                <a:solidFill>
                  <a:srgbClr val="808080"/>
                </a:solidFill>
                <a:latin typeface="Consolas"/>
              </a:rPr>
              <a:t>&lt;/</a:t>
            </a:r>
            <a:r>
              <a:rPr sz="1000" dirty="0">
                <a:solidFill>
                  <a:srgbClr val="569CD6"/>
                </a:solidFill>
                <a:latin typeface="Consolas"/>
              </a:rPr>
              <a:t>html</a:t>
            </a:r>
            <a:r>
              <a:rPr sz="1000" dirty="0">
                <a:solidFill>
                  <a:srgbClr val="808080"/>
                </a:solidFill>
                <a:latin typeface="Consolas"/>
              </a:rPr>
              <a:t>&gt;</a:t>
            </a:r>
          </a:p>
        </p:txBody>
      </p:sp>
      <p:sp>
        <p:nvSpPr>
          <p:cNvPr id="7" name="Rounded Rectangle 6"/>
          <p:cNvSpPr/>
          <p:nvPr/>
        </p:nvSpPr>
        <p:spPr>
          <a:xfrm>
            <a:off x="6199632" y="1645920"/>
            <a:ext cx="5440680" cy="4617720"/>
          </a:xfrm>
          <a:prstGeom prst="roundRect">
            <a:avLst>
              <a:gd name="adj" fmla="val 3000"/>
            </a:avLst>
          </a:prstGeom>
          <a:solidFill>
            <a:srgbClr val="1E1E1E"/>
          </a:solidFill>
          <a:ln w="12700">
            <a:solidFill>
              <a:srgbClr val="3C3C3C"/>
            </a:solidFill>
          </a:ln>
          <a:effectLst/>
        </p:spPr>
        <p:style>
          <a:lnRef idx="1">
            <a:schemeClr val="accent1"/>
          </a:lnRef>
          <a:fillRef idx="3">
            <a:schemeClr val="accent1"/>
          </a:fillRef>
          <a:effectRef idx="2">
            <a:schemeClr val="accent1"/>
          </a:effectRef>
          <a:fontRef idx="minor">
            <a:schemeClr val="lt1"/>
          </a:fontRef>
        </p:style>
        <p:txBody>
          <a:bodyPr wrap="square" lIns="201168" tIns="146304" rIns="201168" bIns="146304" rtlCol="0" anchor="t">
            <a:noAutofit/>
          </a:bodyPr>
          <a:lstStyle/>
          <a:p>
            <a:pPr algn="l">
              <a:lnSpc>
                <a:spcPct val="100000"/>
              </a:lnSpc>
              <a:spcBef>
                <a:spcPts val="0"/>
              </a:spcBef>
              <a:spcAft>
                <a:spcPts val="0"/>
              </a:spcAft>
            </a:pPr>
            <a:r>
              <a:rPr sz="1050" dirty="0">
                <a:solidFill>
                  <a:srgbClr val="808080"/>
                </a:solidFill>
                <a:latin typeface="Consolas"/>
              </a:rPr>
              <a:t>&lt;!DOCTYPE html&gt;</a:t>
            </a:r>
            <a:r>
              <a:rPr sz="1050" dirty="0">
                <a:solidFill>
                  <a:srgbClr val="D4D4D4"/>
                </a:solidFill>
                <a:latin typeface="Consolas"/>
              </a:rPr>
              <a:t> </a:t>
            </a:r>
          </a:p>
          <a:p>
            <a:pPr algn="l">
              <a:lnSpc>
                <a:spcPct val="100000"/>
              </a:lnSpc>
              <a:spcBef>
                <a:spcPts val="0"/>
              </a:spcBef>
              <a:spcAft>
                <a:spcPts val="0"/>
              </a:spcAft>
            </a:pPr>
            <a:r>
              <a:rPr sz="1050" dirty="0">
                <a:solidFill>
                  <a:srgbClr val="808080"/>
                </a:solidFill>
                <a:latin typeface="Consolas"/>
              </a:rPr>
              <a:t>&lt;</a:t>
            </a:r>
            <a:r>
              <a:rPr sz="1050" dirty="0">
                <a:solidFill>
                  <a:srgbClr val="569CD6"/>
                </a:solidFill>
                <a:latin typeface="Consolas"/>
              </a:rPr>
              <a:t>html</a:t>
            </a:r>
            <a:r>
              <a:rPr sz="1050" dirty="0">
                <a:solidFill>
                  <a:srgbClr val="D4D4D4"/>
                </a:solidFill>
                <a:latin typeface="Consolas"/>
              </a:rPr>
              <a:t> </a:t>
            </a:r>
            <a:r>
              <a:rPr sz="1050" dirty="0">
                <a:solidFill>
                  <a:srgbClr val="9CDCFE"/>
                </a:solidFill>
                <a:latin typeface="Consolas"/>
              </a:rPr>
              <a:t>lang</a:t>
            </a:r>
            <a:r>
              <a:rPr sz="1050" dirty="0">
                <a:solidFill>
                  <a:srgbClr val="D4D4D4"/>
                </a:solidFill>
                <a:latin typeface="Consolas"/>
              </a:rPr>
              <a:t>=</a:t>
            </a:r>
            <a:r>
              <a:rPr sz="1050" dirty="0">
                <a:solidFill>
                  <a:srgbClr val="CE9178"/>
                </a:solidFill>
                <a:latin typeface="Consolas"/>
              </a:rPr>
              <a:t>"</a:t>
            </a:r>
            <a:r>
              <a:rPr sz="1050" dirty="0" err="1">
                <a:solidFill>
                  <a:srgbClr val="CE9178"/>
                </a:solidFill>
                <a:latin typeface="Consolas"/>
              </a:rPr>
              <a:t>en</a:t>
            </a:r>
            <a:r>
              <a:rPr sz="1050" dirty="0">
                <a:solidFill>
                  <a:srgbClr val="CE9178"/>
                </a:solidFill>
                <a:latin typeface="Consolas"/>
              </a:rPr>
              <a:t>"</a:t>
            </a:r>
            <a:r>
              <a:rPr sz="1050" dirty="0">
                <a:solidFill>
                  <a:srgbClr val="808080"/>
                </a:solidFill>
                <a:latin typeface="Consolas"/>
              </a:rPr>
              <a:t>&gt;</a:t>
            </a:r>
            <a:r>
              <a:rPr sz="1050" dirty="0">
                <a:solidFill>
                  <a:srgbClr val="D4D4D4"/>
                </a:solidFill>
                <a:latin typeface="Consolas"/>
              </a:rPr>
              <a:t> </a:t>
            </a:r>
          </a:p>
          <a:p>
            <a:pPr algn="l">
              <a:lnSpc>
                <a:spcPct val="100000"/>
              </a:lnSpc>
              <a:spcBef>
                <a:spcPts val="0"/>
              </a:spcBef>
              <a:spcAft>
                <a:spcPts val="0"/>
              </a:spcAft>
            </a:pPr>
            <a:r>
              <a:rPr sz="1050" dirty="0">
                <a:solidFill>
                  <a:srgbClr val="D4D4D4"/>
                </a:solidFill>
                <a:latin typeface="Consolas"/>
              </a:rPr>
              <a:t>    </a:t>
            </a:r>
            <a:r>
              <a:rPr sz="1050" dirty="0">
                <a:solidFill>
                  <a:srgbClr val="808080"/>
                </a:solidFill>
                <a:latin typeface="Consolas"/>
              </a:rPr>
              <a:t>&lt;</a:t>
            </a:r>
            <a:r>
              <a:rPr sz="1050" dirty="0">
                <a:solidFill>
                  <a:srgbClr val="569CD6"/>
                </a:solidFill>
                <a:latin typeface="Consolas"/>
              </a:rPr>
              <a:t>head</a:t>
            </a:r>
            <a:r>
              <a:rPr sz="1050" dirty="0">
                <a:solidFill>
                  <a:srgbClr val="808080"/>
                </a:solidFill>
                <a:latin typeface="Consolas"/>
              </a:rPr>
              <a:t>&gt;</a:t>
            </a:r>
          </a:p>
          <a:p>
            <a:pPr algn="l">
              <a:lnSpc>
                <a:spcPct val="100000"/>
              </a:lnSpc>
              <a:spcBef>
                <a:spcPts val="0"/>
              </a:spcBef>
              <a:spcAft>
                <a:spcPts val="0"/>
              </a:spcAft>
            </a:pPr>
            <a:r>
              <a:rPr sz="1050" dirty="0">
                <a:solidFill>
                  <a:srgbClr val="D4D4D4"/>
                </a:solidFill>
                <a:latin typeface="Consolas"/>
              </a:rPr>
              <a:t>        </a:t>
            </a:r>
            <a:r>
              <a:rPr sz="1050" dirty="0">
                <a:solidFill>
                  <a:srgbClr val="808080"/>
                </a:solidFill>
                <a:latin typeface="Consolas"/>
              </a:rPr>
              <a:t>&lt;</a:t>
            </a:r>
            <a:r>
              <a:rPr sz="1050" dirty="0">
                <a:solidFill>
                  <a:srgbClr val="569CD6"/>
                </a:solidFill>
                <a:latin typeface="Consolas"/>
              </a:rPr>
              <a:t>meta</a:t>
            </a:r>
            <a:r>
              <a:rPr sz="1050" dirty="0">
                <a:solidFill>
                  <a:srgbClr val="D4D4D4"/>
                </a:solidFill>
                <a:latin typeface="Consolas"/>
              </a:rPr>
              <a:t> </a:t>
            </a:r>
            <a:r>
              <a:rPr sz="1050" dirty="0">
                <a:solidFill>
                  <a:srgbClr val="9CDCFE"/>
                </a:solidFill>
                <a:latin typeface="Consolas"/>
              </a:rPr>
              <a:t>charset</a:t>
            </a:r>
            <a:r>
              <a:rPr sz="1050" dirty="0">
                <a:solidFill>
                  <a:srgbClr val="D4D4D4"/>
                </a:solidFill>
                <a:latin typeface="Consolas"/>
              </a:rPr>
              <a:t>=</a:t>
            </a:r>
            <a:r>
              <a:rPr sz="1050" dirty="0">
                <a:solidFill>
                  <a:srgbClr val="CE9178"/>
                </a:solidFill>
                <a:latin typeface="Consolas"/>
              </a:rPr>
              <a:t>"UTF-8"</a:t>
            </a:r>
            <a:r>
              <a:rPr sz="1050" dirty="0">
                <a:solidFill>
                  <a:srgbClr val="808080"/>
                </a:solidFill>
                <a:latin typeface="Consolas"/>
              </a:rPr>
              <a:t>&gt;</a:t>
            </a:r>
          </a:p>
          <a:p>
            <a:pPr algn="l">
              <a:lnSpc>
                <a:spcPct val="100000"/>
              </a:lnSpc>
              <a:spcBef>
                <a:spcPts val="0"/>
              </a:spcBef>
              <a:spcAft>
                <a:spcPts val="0"/>
              </a:spcAft>
            </a:pPr>
            <a:r>
              <a:rPr sz="1050" dirty="0">
                <a:solidFill>
                  <a:srgbClr val="D4D4D4"/>
                </a:solidFill>
                <a:latin typeface="Consolas"/>
              </a:rPr>
              <a:t>        </a:t>
            </a:r>
            <a:r>
              <a:rPr sz="1050" dirty="0">
                <a:solidFill>
                  <a:srgbClr val="808080"/>
                </a:solidFill>
                <a:latin typeface="Consolas"/>
              </a:rPr>
              <a:t>&lt;</a:t>
            </a:r>
            <a:r>
              <a:rPr sz="1050" dirty="0">
                <a:solidFill>
                  <a:srgbClr val="569CD6"/>
                </a:solidFill>
                <a:latin typeface="Consolas"/>
              </a:rPr>
              <a:t>meta</a:t>
            </a:r>
            <a:r>
              <a:rPr sz="1050" dirty="0">
                <a:solidFill>
                  <a:srgbClr val="D4D4D4"/>
                </a:solidFill>
                <a:latin typeface="Consolas"/>
              </a:rPr>
              <a:t> </a:t>
            </a:r>
            <a:r>
              <a:rPr sz="1050" dirty="0">
                <a:solidFill>
                  <a:srgbClr val="9CDCFE"/>
                </a:solidFill>
                <a:latin typeface="Consolas"/>
              </a:rPr>
              <a:t>name</a:t>
            </a:r>
            <a:r>
              <a:rPr sz="1050" dirty="0">
                <a:solidFill>
                  <a:srgbClr val="D4D4D4"/>
                </a:solidFill>
                <a:latin typeface="Consolas"/>
              </a:rPr>
              <a:t>=</a:t>
            </a:r>
            <a:r>
              <a:rPr sz="1050" dirty="0">
                <a:solidFill>
                  <a:srgbClr val="CE9178"/>
                </a:solidFill>
                <a:latin typeface="Consolas"/>
              </a:rPr>
              <a:t>"viewport"</a:t>
            </a:r>
            <a:r>
              <a:rPr sz="1050" dirty="0">
                <a:solidFill>
                  <a:srgbClr val="D4D4D4"/>
                </a:solidFill>
                <a:latin typeface="Consolas"/>
              </a:rPr>
              <a:t> </a:t>
            </a:r>
            <a:r>
              <a:rPr sz="1050" dirty="0">
                <a:solidFill>
                  <a:srgbClr val="9CDCFE"/>
                </a:solidFill>
                <a:latin typeface="Consolas"/>
              </a:rPr>
              <a:t>content</a:t>
            </a:r>
            <a:r>
              <a:rPr sz="1050" dirty="0">
                <a:solidFill>
                  <a:srgbClr val="D4D4D4"/>
                </a:solidFill>
                <a:latin typeface="Consolas"/>
              </a:rPr>
              <a:t>=</a:t>
            </a:r>
            <a:r>
              <a:rPr sz="1050" dirty="0">
                <a:solidFill>
                  <a:srgbClr val="CE9178"/>
                </a:solidFill>
                <a:latin typeface="Consolas"/>
              </a:rPr>
              <a:t>"width=device-width, initial-scale=1.0"</a:t>
            </a:r>
            <a:r>
              <a:rPr sz="1050" dirty="0">
                <a:solidFill>
                  <a:srgbClr val="808080"/>
                </a:solidFill>
                <a:latin typeface="Consolas"/>
              </a:rPr>
              <a:t>&gt;</a:t>
            </a:r>
          </a:p>
          <a:p>
            <a:pPr algn="l">
              <a:lnSpc>
                <a:spcPct val="100000"/>
              </a:lnSpc>
              <a:spcBef>
                <a:spcPts val="0"/>
              </a:spcBef>
              <a:spcAft>
                <a:spcPts val="0"/>
              </a:spcAft>
            </a:pPr>
            <a:r>
              <a:rPr sz="1050" dirty="0">
                <a:solidFill>
                  <a:srgbClr val="D4D4D4"/>
                </a:solidFill>
                <a:latin typeface="Consolas"/>
              </a:rPr>
              <a:t>        </a:t>
            </a:r>
            <a:r>
              <a:rPr sz="1050" dirty="0">
                <a:solidFill>
                  <a:srgbClr val="808080"/>
                </a:solidFill>
                <a:latin typeface="Consolas"/>
              </a:rPr>
              <a:t>&lt;</a:t>
            </a:r>
            <a:r>
              <a:rPr sz="1050" dirty="0">
                <a:solidFill>
                  <a:srgbClr val="569CD6"/>
                </a:solidFill>
                <a:latin typeface="Consolas"/>
              </a:rPr>
              <a:t>title</a:t>
            </a:r>
            <a:r>
              <a:rPr sz="1050" dirty="0">
                <a:solidFill>
                  <a:srgbClr val="808080"/>
                </a:solidFill>
                <a:latin typeface="Consolas"/>
              </a:rPr>
              <a:t>&gt;</a:t>
            </a:r>
            <a:r>
              <a:rPr sz="1050" dirty="0">
                <a:solidFill>
                  <a:srgbClr val="D4D4D4"/>
                </a:solidFill>
                <a:latin typeface="Consolas"/>
              </a:rPr>
              <a:t>Example</a:t>
            </a:r>
            <a:r>
              <a:rPr sz="1050" dirty="0">
                <a:solidFill>
                  <a:srgbClr val="808080"/>
                </a:solidFill>
                <a:latin typeface="Consolas"/>
              </a:rPr>
              <a:t>&lt;/</a:t>
            </a:r>
            <a:r>
              <a:rPr sz="1050" dirty="0">
                <a:solidFill>
                  <a:srgbClr val="569CD6"/>
                </a:solidFill>
                <a:latin typeface="Consolas"/>
              </a:rPr>
              <a:t>title</a:t>
            </a:r>
            <a:r>
              <a:rPr sz="1050" dirty="0">
                <a:solidFill>
                  <a:srgbClr val="808080"/>
                </a:solidFill>
                <a:latin typeface="Consolas"/>
              </a:rPr>
              <a:t>&gt;</a:t>
            </a:r>
            <a:r>
              <a:rPr sz="1050" dirty="0">
                <a:solidFill>
                  <a:srgbClr val="D4D4D4"/>
                </a:solidFill>
                <a:latin typeface="Consolas"/>
              </a:rPr>
              <a:t> </a:t>
            </a:r>
          </a:p>
          <a:p>
            <a:pPr algn="l">
              <a:lnSpc>
                <a:spcPct val="100000"/>
              </a:lnSpc>
              <a:spcBef>
                <a:spcPts val="0"/>
              </a:spcBef>
              <a:spcAft>
                <a:spcPts val="0"/>
              </a:spcAft>
            </a:pPr>
            <a:r>
              <a:rPr sz="1050" dirty="0">
                <a:solidFill>
                  <a:srgbClr val="D4D4D4"/>
                </a:solidFill>
                <a:latin typeface="Consolas"/>
              </a:rPr>
              <a:t>    </a:t>
            </a:r>
            <a:r>
              <a:rPr sz="1050" dirty="0">
                <a:solidFill>
                  <a:srgbClr val="808080"/>
                </a:solidFill>
                <a:latin typeface="Consolas"/>
              </a:rPr>
              <a:t>&lt;/</a:t>
            </a:r>
            <a:r>
              <a:rPr sz="1050" dirty="0">
                <a:solidFill>
                  <a:srgbClr val="569CD6"/>
                </a:solidFill>
                <a:latin typeface="Consolas"/>
              </a:rPr>
              <a:t>head</a:t>
            </a:r>
            <a:r>
              <a:rPr sz="1050" dirty="0">
                <a:solidFill>
                  <a:srgbClr val="808080"/>
                </a:solidFill>
                <a:latin typeface="Consolas"/>
              </a:rPr>
              <a:t>&gt;</a:t>
            </a:r>
            <a:r>
              <a:rPr sz="1050" dirty="0">
                <a:solidFill>
                  <a:srgbClr val="D4D4D4"/>
                </a:solidFill>
                <a:latin typeface="Consolas"/>
              </a:rPr>
              <a:t> </a:t>
            </a:r>
          </a:p>
          <a:p>
            <a:pPr algn="l">
              <a:lnSpc>
                <a:spcPct val="100000"/>
              </a:lnSpc>
              <a:spcBef>
                <a:spcPts val="0"/>
              </a:spcBef>
              <a:spcAft>
                <a:spcPts val="0"/>
              </a:spcAft>
            </a:pPr>
            <a:r>
              <a:rPr sz="1050" dirty="0">
                <a:solidFill>
                  <a:srgbClr val="D4D4D4"/>
                </a:solidFill>
                <a:latin typeface="Consolas"/>
              </a:rPr>
              <a:t>    </a:t>
            </a:r>
            <a:r>
              <a:rPr sz="1050" dirty="0">
                <a:solidFill>
                  <a:srgbClr val="808080"/>
                </a:solidFill>
                <a:latin typeface="Consolas"/>
              </a:rPr>
              <a:t>&lt;</a:t>
            </a:r>
            <a:r>
              <a:rPr sz="1050" dirty="0">
                <a:solidFill>
                  <a:srgbClr val="569CD6"/>
                </a:solidFill>
                <a:latin typeface="Consolas"/>
              </a:rPr>
              <a:t>body</a:t>
            </a:r>
            <a:r>
              <a:rPr sz="1050" dirty="0">
                <a:solidFill>
                  <a:srgbClr val="808080"/>
                </a:solidFill>
                <a:latin typeface="Consolas"/>
              </a:rPr>
              <a:t>&gt;</a:t>
            </a:r>
            <a:r>
              <a:rPr sz="1050" dirty="0">
                <a:solidFill>
                  <a:srgbClr val="D4D4D4"/>
                </a:solidFill>
                <a:latin typeface="Consolas"/>
              </a:rPr>
              <a:t> </a:t>
            </a:r>
          </a:p>
          <a:p>
            <a:pPr algn="l">
              <a:lnSpc>
                <a:spcPct val="100000"/>
              </a:lnSpc>
              <a:spcBef>
                <a:spcPts val="0"/>
              </a:spcBef>
              <a:spcAft>
                <a:spcPts val="0"/>
              </a:spcAft>
            </a:pPr>
            <a:r>
              <a:rPr sz="1050" dirty="0">
                <a:solidFill>
                  <a:srgbClr val="D4D4D4"/>
                </a:solidFill>
                <a:latin typeface="Consolas"/>
              </a:rPr>
              <a:t> </a:t>
            </a:r>
          </a:p>
          <a:p>
            <a:pPr algn="l">
              <a:lnSpc>
                <a:spcPct val="100000"/>
              </a:lnSpc>
              <a:spcBef>
                <a:spcPts val="0"/>
              </a:spcBef>
              <a:spcAft>
                <a:spcPts val="0"/>
              </a:spcAft>
            </a:pPr>
            <a:r>
              <a:rPr sz="1050" dirty="0">
                <a:solidFill>
                  <a:srgbClr val="D4D4D4"/>
                </a:solidFill>
                <a:latin typeface="Consolas"/>
              </a:rPr>
              <a:t>        </a:t>
            </a:r>
            <a:r>
              <a:rPr sz="1050" dirty="0">
                <a:solidFill>
                  <a:srgbClr val="808080"/>
                </a:solidFill>
                <a:latin typeface="Consolas"/>
              </a:rPr>
              <a:t>&lt;</a:t>
            </a:r>
            <a:r>
              <a:rPr sz="1050" dirty="0">
                <a:solidFill>
                  <a:srgbClr val="569CD6"/>
                </a:solidFill>
                <a:latin typeface="Consolas"/>
              </a:rPr>
              <a:t>h1</a:t>
            </a:r>
            <a:r>
              <a:rPr sz="1050" dirty="0">
                <a:solidFill>
                  <a:srgbClr val="808080"/>
                </a:solidFill>
                <a:latin typeface="Consolas"/>
              </a:rPr>
              <a:t>&gt;</a:t>
            </a:r>
            <a:r>
              <a:rPr sz="1050" dirty="0">
                <a:solidFill>
                  <a:srgbClr val="D4D4D4"/>
                </a:solidFill>
                <a:latin typeface="Consolas"/>
              </a:rPr>
              <a:t>This is page 2</a:t>
            </a:r>
            <a:r>
              <a:rPr sz="1050" dirty="0">
                <a:solidFill>
                  <a:srgbClr val="808080"/>
                </a:solidFill>
                <a:latin typeface="Consolas"/>
              </a:rPr>
              <a:t>&lt;/</a:t>
            </a:r>
            <a:r>
              <a:rPr sz="1050" dirty="0">
                <a:solidFill>
                  <a:srgbClr val="569CD6"/>
                </a:solidFill>
                <a:latin typeface="Consolas"/>
              </a:rPr>
              <a:t>h1</a:t>
            </a:r>
            <a:r>
              <a:rPr sz="1050" dirty="0">
                <a:solidFill>
                  <a:srgbClr val="808080"/>
                </a:solidFill>
                <a:latin typeface="Consolas"/>
              </a:rPr>
              <a:t>&gt;</a:t>
            </a:r>
          </a:p>
          <a:p>
            <a:pPr algn="l">
              <a:lnSpc>
                <a:spcPct val="100000"/>
              </a:lnSpc>
              <a:spcBef>
                <a:spcPts val="0"/>
              </a:spcBef>
              <a:spcAft>
                <a:spcPts val="0"/>
              </a:spcAft>
            </a:pPr>
            <a:r>
              <a:rPr sz="1050" dirty="0">
                <a:solidFill>
                  <a:srgbClr val="D4D4D4"/>
                </a:solidFill>
                <a:latin typeface="Consolas"/>
              </a:rPr>
              <a:t> </a:t>
            </a:r>
          </a:p>
          <a:p>
            <a:pPr algn="l">
              <a:lnSpc>
                <a:spcPct val="100000"/>
              </a:lnSpc>
              <a:spcBef>
                <a:spcPts val="0"/>
              </a:spcBef>
              <a:spcAft>
                <a:spcPts val="0"/>
              </a:spcAft>
            </a:pPr>
            <a:r>
              <a:rPr sz="1050" dirty="0">
                <a:solidFill>
                  <a:srgbClr val="D4D4D4"/>
                </a:solidFill>
                <a:latin typeface="Consolas"/>
              </a:rPr>
              <a:t>        </a:t>
            </a:r>
            <a:r>
              <a:rPr sz="1050" dirty="0">
                <a:solidFill>
                  <a:srgbClr val="808080"/>
                </a:solidFill>
                <a:latin typeface="Consolas"/>
              </a:rPr>
              <a:t>&lt;</a:t>
            </a:r>
            <a:r>
              <a:rPr sz="1050" dirty="0">
                <a:solidFill>
                  <a:srgbClr val="569CD6"/>
                </a:solidFill>
                <a:latin typeface="Consolas"/>
              </a:rPr>
              <a:t>p</a:t>
            </a:r>
            <a:r>
              <a:rPr sz="1050" dirty="0">
                <a:solidFill>
                  <a:srgbClr val="808080"/>
                </a:solidFill>
                <a:latin typeface="Consolas"/>
              </a:rPr>
              <a:t>&gt;</a:t>
            </a:r>
            <a:r>
              <a:rPr sz="1050" dirty="0">
                <a:solidFill>
                  <a:srgbClr val="D4D4D4"/>
                </a:solidFill>
                <a:latin typeface="Consolas"/>
              </a:rPr>
              <a:t>Burridge has a strong entrepreneurial spirit and is a host to one of the Cube locations, a place to try out and develop new ideas.</a:t>
            </a:r>
            <a:r>
              <a:rPr sz="1050" dirty="0">
                <a:solidFill>
                  <a:srgbClr val="808080"/>
                </a:solidFill>
                <a:latin typeface="Consolas"/>
              </a:rPr>
              <a:t>&lt;/</a:t>
            </a:r>
            <a:r>
              <a:rPr sz="1050" dirty="0">
                <a:solidFill>
                  <a:srgbClr val="569CD6"/>
                </a:solidFill>
                <a:latin typeface="Consolas"/>
              </a:rPr>
              <a:t>p</a:t>
            </a:r>
            <a:r>
              <a:rPr sz="1050" dirty="0">
                <a:solidFill>
                  <a:srgbClr val="808080"/>
                </a:solidFill>
                <a:latin typeface="Consolas"/>
              </a:rPr>
              <a:t>&gt;</a:t>
            </a:r>
          </a:p>
          <a:p>
            <a:pPr algn="l">
              <a:lnSpc>
                <a:spcPct val="100000"/>
              </a:lnSpc>
              <a:spcBef>
                <a:spcPts val="0"/>
              </a:spcBef>
              <a:spcAft>
                <a:spcPts val="0"/>
              </a:spcAft>
            </a:pPr>
            <a:r>
              <a:rPr sz="1050" dirty="0">
                <a:solidFill>
                  <a:srgbClr val="D4D4D4"/>
                </a:solidFill>
                <a:latin typeface="Consolas"/>
              </a:rPr>
              <a:t> </a:t>
            </a:r>
          </a:p>
          <a:p>
            <a:pPr algn="l">
              <a:lnSpc>
                <a:spcPct val="100000"/>
              </a:lnSpc>
              <a:spcBef>
                <a:spcPts val="0"/>
              </a:spcBef>
              <a:spcAft>
                <a:spcPts val="0"/>
              </a:spcAft>
            </a:pPr>
            <a:r>
              <a:rPr sz="1050" dirty="0">
                <a:solidFill>
                  <a:srgbClr val="D4D4D4"/>
                </a:solidFill>
                <a:latin typeface="Consolas"/>
              </a:rPr>
              <a:t>        </a:t>
            </a:r>
            <a:r>
              <a:rPr sz="1050" dirty="0">
                <a:solidFill>
                  <a:srgbClr val="808080"/>
                </a:solidFill>
                <a:latin typeface="Consolas"/>
              </a:rPr>
              <a:t>&lt;</a:t>
            </a:r>
            <a:r>
              <a:rPr sz="1050" dirty="0">
                <a:solidFill>
                  <a:srgbClr val="569CD6"/>
                </a:solidFill>
                <a:latin typeface="Consolas"/>
              </a:rPr>
              <a:t>p</a:t>
            </a:r>
            <a:r>
              <a:rPr sz="1050" dirty="0">
                <a:solidFill>
                  <a:srgbClr val="808080"/>
                </a:solidFill>
                <a:latin typeface="Consolas"/>
              </a:rPr>
              <a:t>&gt;</a:t>
            </a:r>
            <a:r>
              <a:rPr sz="1050" dirty="0">
                <a:solidFill>
                  <a:srgbClr val="D4D4D4"/>
                </a:solidFill>
                <a:latin typeface="Consolas"/>
              </a:rPr>
              <a:t>A leader in environmental practice, the campus has been recognized for its efforts in managing waste and reducing its carbon footprint.</a:t>
            </a:r>
            <a:r>
              <a:rPr sz="1050" dirty="0">
                <a:solidFill>
                  <a:srgbClr val="808080"/>
                </a:solidFill>
                <a:latin typeface="Consolas"/>
              </a:rPr>
              <a:t>&lt;/</a:t>
            </a:r>
            <a:r>
              <a:rPr sz="1050" dirty="0">
                <a:solidFill>
                  <a:srgbClr val="569CD6"/>
                </a:solidFill>
                <a:latin typeface="Consolas"/>
              </a:rPr>
              <a:t>p</a:t>
            </a:r>
            <a:r>
              <a:rPr sz="1050" dirty="0">
                <a:solidFill>
                  <a:srgbClr val="808080"/>
                </a:solidFill>
                <a:latin typeface="Consolas"/>
              </a:rPr>
              <a:t>&gt;</a:t>
            </a:r>
          </a:p>
          <a:p>
            <a:pPr algn="l">
              <a:lnSpc>
                <a:spcPct val="100000"/>
              </a:lnSpc>
              <a:spcBef>
                <a:spcPts val="0"/>
              </a:spcBef>
              <a:spcAft>
                <a:spcPts val="0"/>
              </a:spcAft>
            </a:pPr>
            <a:r>
              <a:rPr sz="1050" dirty="0">
                <a:solidFill>
                  <a:srgbClr val="D4D4D4"/>
                </a:solidFill>
                <a:latin typeface="Consolas"/>
              </a:rPr>
              <a:t> </a:t>
            </a:r>
          </a:p>
          <a:p>
            <a:pPr algn="l">
              <a:lnSpc>
                <a:spcPct val="100000"/>
              </a:lnSpc>
              <a:spcBef>
                <a:spcPts val="0"/>
              </a:spcBef>
              <a:spcAft>
                <a:spcPts val="0"/>
              </a:spcAft>
            </a:pPr>
            <a:r>
              <a:rPr sz="1050" dirty="0">
                <a:solidFill>
                  <a:srgbClr val="D4D4D4"/>
                </a:solidFill>
                <a:latin typeface="Consolas"/>
              </a:rPr>
              <a:t>        </a:t>
            </a:r>
            <a:r>
              <a:rPr sz="1050" dirty="0">
                <a:solidFill>
                  <a:srgbClr val="808080"/>
                </a:solidFill>
                <a:latin typeface="Consolas"/>
              </a:rPr>
              <a:t>&lt;</a:t>
            </a:r>
            <a:r>
              <a:rPr sz="1050" dirty="0">
                <a:solidFill>
                  <a:srgbClr val="569CD6"/>
                </a:solidFill>
                <a:latin typeface="Consolas"/>
              </a:rPr>
              <a:t>p</a:t>
            </a:r>
            <a:r>
              <a:rPr sz="1050" dirty="0">
                <a:solidFill>
                  <a:srgbClr val="808080"/>
                </a:solidFill>
                <a:latin typeface="Consolas"/>
              </a:rPr>
              <a:t>&gt;</a:t>
            </a:r>
          </a:p>
          <a:p>
            <a:pPr algn="l">
              <a:lnSpc>
                <a:spcPct val="100000"/>
              </a:lnSpc>
              <a:spcBef>
                <a:spcPts val="0"/>
              </a:spcBef>
              <a:spcAft>
                <a:spcPts val="0"/>
              </a:spcAft>
            </a:pPr>
            <a:r>
              <a:rPr sz="1050" dirty="0">
                <a:solidFill>
                  <a:srgbClr val="D4D4D4"/>
                </a:solidFill>
                <a:latin typeface="Consolas"/>
              </a:rPr>
              <a:t>            </a:t>
            </a:r>
            <a:r>
              <a:rPr sz="1050" dirty="0">
                <a:solidFill>
                  <a:srgbClr val="808080"/>
                </a:solidFill>
                <a:latin typeface="Consolas"/>
              </a:rPr>
              <a:t>&lt;</a:t>
            </a:r>
            <a:r>
              <a:rPr sz="1050" dirty="0">
                <a:solidFill>
                  <a:srgbClr val="569CD6"/>
                </a:solidFill>
                <a:latin typeface="Consolas"/>
              </a:rPr>
              <a:t>a</a:t>
            </a:r>
            <a:r>
              <a:rPr sz="1050" dirty="0">
                <a:solidFill>
                  <a:srgbClr val="D4D4D4"/>
                </a:solidFill>
                <a:latin typeface="Consolas"/>
              </a:rPr>
              <a:t> </a:t>
            </a:r>
            <a:r>
              <a:rPr sz="1050" dirty="0" err="1">
                <a:solidFill>
                  <a:srgbClr val="9CDCFE"/>
                </a:solidFill>
                <a:latin typeface="Consolas"/>
              </a:rPr>
              <a:t>href</a:t>
            </a:r>
            <a:r>
              <a:rPr sz="1050" dirty="0">
                <a:solidFill>
                  <a:srgbClr val="D4D4D4"/>
                </a:solidFill>
                <a:latin typeface="Consolas"/>
              </a:rPr>
              <a:t>=</a:t>
            </a:r>
            <a:r>
              <a:rPr sz="1050" dirty="0">
                <a:solidFill>
                  <a:srgbClr val="CE9178"/>
                </a:solidFill>
                <a:latin typeface="Consolas"/>
              </a:rPr>
              <a:t>"page1.html"</a:t>
            </a:r>
            <a:r>
              <a:rPr sz="1050" dirty="0">
                <a:solidFill>
                  <a:srgbClr val="808080"/>
                </a:solidFill>
                <a:latin typeface="Consolas"/>
              </a:rPr>
              <a:t>&gt;</a:t>
            </a:r>
            <a:r>
              <a:rPr sz="1050" dirty="0">
                <a:solidFill>
                  <a:srgbClr val="D4D4D4"/>
                </a:solidFill>
                <a:latin typeface="Consolas"/>
              </a:rPr>
              <a:t>Link to page 1</a:t>
            </a:r>
            <a:r>
              <a:rPr sz="1050" dirty="0">
                <a:solidFill>
                  <a:srgbClr val="808080"/>
                </a:solidFill>
                <a:latin typeface="Consolas"/>
              </a:rPr>
              <a:t>&lt;/</a:t>
            </a:r>
            <a:r>
              <a:rPr sz="1050" dirty="0">
                <a:solidFill>
                  <a:srgbClr val="569CD6"/>
                </a:solidFill>
                <a:latin typeface="Consolas"/>
              </a:rPr>
              <a:t>a</a:t>
            </a:r>
            <a:r>
              <a:rPr sz="1050" dirty="0">
                <a:solidFill>
                  <a:srgbClr val="808080"/>
                </a:solidFill>
                <a:latin typeface="Consolas"/>
              </a:rPr>
              <a:t>&gt;</a:t>
            </a:r>
          </a:p>
          <a:p>
            <a:pPr algn="l">
              <a:lnSpc>
                <a:spcPct val="100000"/>
              </a:lnSpc>
              <a:spcBef>
                <a:spcPts val="0"/>
              </a:spcBef>
              <a:spcAft>
                <a:spcPts val="0"/>
              </a:spcAft>
            </a:pPr>
            <a:r>
              <a:rPr sz="1050" dirty="0">
                <a:solidFill>
                  <a:srgbClr val="D4D4D4"/>
                </a:solidFill>
                <a:latin typeface="Consolas"/>
              </a:rPr>
              <a:t>        </a:t>
            </a:r>
            <a:r>
              <a:rPr sz="1050" dirty="0">
                <a:solidFill>
                  <a:srgbClr val="808080"/>
                </a:solidFill>
                <a:latin typeface="Consolas"/>
              </a:rPr>
              <a:t>&lt;/</a:t>
            </a:r>
            <a:r>
              <a:rPr sz="1050" dirty="0">
                <a:solidFill>
                  <a:srgbClr val="569CD6"/>
                </a:solidFill>
                <a:latin typeface="Consolas"/>
              </a:rPr>
              <a:t>p</a:t>
            </a:r>
            <a:r>
              <a:rPr sz="1050" dirty="0">
                <a:solidFill>
                  <a:srgbClr val="808080"/>
                </a:solidFill>
                <a:latin typeface="Consolas"/>
              </a:rPr>
              <a:t>&gt;</a:t>
            </a:r>
          </a:p>
          <a:p>
            <a:pPr algn="l">
              <a:lnSpc>
                <a:spcPct val="100000"/>
              </a:lnSpc>
              <a:spcBef>
                <a:spcPts val="0"/>
              </a:spcBef>
              <a:spcAft>
                <a:spcPts val="0"/>
              </a:spcAft>
            </a:pPr>
            <a:r>
              <a:rPr sz="1050" dirty="0">
                <a:solidFill>
                  <a:srgbClr val="D4D4D4"/>
                </a:solidFill>
                <a:latin typeface="Consolas"/>
              </a:rPr>
              <a:t> </a:t>
            </a:r>
          </a:p>
          <a:p>
            <a:pPr algn="l">
              <a:lnSpc>
                <a:spcPct val="100000"/>
              </a:lnSpc>
              <a:spcBef>
                <a:spcPts val="0"/>
              </a:spcBef>
              <a:spcAft>
                <a:spcPts val="0"/>
              </a:spcAft>
            </a:pPr>
            <a:r>
              <a:rPr sz="1050" dirty="0">
                <a:solidFill>
                  <a:srgbClr val="D4D4D4"/>
                </a:solidFill>
                <a:latin typeface="Consolas"/>
              </a:rPr>
              <a:t>    </a:t>
            </a:r>
            <a:r>
              <a:rPr sz="1050" dirty="0">
                <a:solidFill>
                  <a:srgbClr val="808080"/>
                </a:solidFill>
                <a:latin typeface="Consolas"/>
              </a:rPr>
              <a:t>&lt;/</a:t>
            </a:r>
            <a:r>
              <a:rPr sz="1050" dirty="0">
                <a:solidFill>
                  <a:srgbClr val="569CD6"/>
                </a:solidFill>
                <a:latin typeface="Consolas"/>
              </a:rPr>
              <a:t>body</a:t>
            </a:r>
            <a:r>
              <a:rPr sz="1050" dirty="0">
                <a:solidFill>
                  <a:srgbClr val="808080"/>
                </a:solidFill>
                <a:latin typeface="Consolas"/>
              </a:rPr>
              <a:t>&gt;</a:t>
            </a:r>
            <a:r>
              <a:rPr sz="1050" dirty="0">
                <a:solidFill>
                  <a:srgbClr val="D4D4D4"/>
                </a:solidFill>
                <a:latin typeface="Consolas"/>
              </a:rPr>
              <a:t> </a:t>
            </a:r>
          </a:p>
          <a:p>
            <a:pPr algn="l">
              <a:lnSpc>
                <a:spcPct val="100000"/>
              </a:lnSpc>
              <a:spcBef>
                <a:spcPts val="0"/>
              </a:spcBef>
              <a:spcAft>
                <a:spcPts val="0"/>
              </a:spcAft>
            </a:pPr>
            <a:r>
              <a:rPr sz="1050" dirty="0">
                <a:solidFill>
                  <a:srgbClr val="808080"/>
                </a:solidFill>
                <a:latin typeface="Consolas"/>
              </a:rPr>
              <a:t>&lt;/</a:t>
            </a:r>
            <a:r>
              <a:rPr sz="1050" dirty="0">
                <a:solidFill>
                  <a:srgbClr val="569CD6"/>
                </a:solidFill>
                <a:latin typeface="Consolas"/>
              </a:rPr>
              <a:t>html</a:t>
            </a:r>
            <a:r>
              <a:rPr sz="1050" dirty="0">
                <a:solidFill>
                  <a:srgbClr val="808080"/>
                </a:solidFill>
                <a:latin typeface="Consolas"/>
              </a:rPr>
              <a:t>&gt;</a:t>
            </a:r>
          </a:p>
        </p:txBody>
      </p:sp>
      <p:sp>
        <p:nvSpPr>
          <p:cNvPr id="8" name="TextBox 7"/>
          <p:cNvSpPr txBox="1"/>
          <p:nvPr/>
        </p:nvSpPr>
        <p:spPr>
          <a:xfrm>
            <a:off x="502920" y="6291072"/>
            <a:ext cx="5440680" cy="274320"/>
          </a:xfrm>
          <a:prstGeom prst="rect">
            <a:avLst/>
          </a:prstGeom>
          <a:noFill/>
        </p:spPr>
        <p:txBody>
          <a:bodyPr wrap="none">
            <a:spAutoFit/>
          </a:bodyPr>
          <a:lstStyle/>
          <a:p>
            <a:r>
              <a:rPr sz="1200" b="1">
                <a:solidFill>
                  <a:srgbClr val="6B7480"/>
                </a:solidFill>
              </a:rPr>
              <a:t>page1.html</a:t>
            </a:r>
          </a:p>
        </p:txBody>
      </p:sp>
      <p:sp>
        <p:nvSpPr>
          <p:cNvPr id="9" name="TextBox 8"/>
          <p:cNvSpPr txBox="1"/>
          <p:nvPr/>
        </p:nvSpPr>
        <p:spPr>
          <a:xfrm>
            <a:off x="6199632" y="6291072"/>
            <a:ext cx="5440680" cy="274320"/>
          </a:xfrm>
          <a:prstGeom prst="rect">
            <a:avLst/>
          </a:prstGeom>
          <a:noFill/>
        </p:spPr>
        <p:txBody>
          <a:bodyPr wrap="none">
            <a:spAutoFit/>
          </a:bodyPr>
          <a:lstStyle/>
          <a:p>
            <a:r>
              <a:rPr sz="1200" b="1">
                <a:solidFill>
                  <a:srgbClr val="6B7480"/>
                </a:solidFill>
              </a:rPr>
              <a:t>page2.html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EB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19456"/>
            <a:ext cx="11155680" cy="502920"/>
          </a:xfrm>
          <a:prstGeom prst="rect">
            <a:avLst/>
          </a:prstGeom>
          <a:noFill/>
        </p:spPr>
        <p:txBody>
          <a:bodyPr wrap="square">
            <a:spAutoFit/>
          </a:bodyPr>
          <a:lstStyle/>
          <a:p>
            <a:r>
              <a:rPr sz="2800" b="1">
                <a:solidFill>
                  <a:srgbClr val="1B2A4A"/>
                </a:solidFill>
                <a:latin typeface="Calibri"/>
              </a:rPr>
              <a:t>Class Activity  Build index.html Together</a:t>
            </a:r>
          </a:p>
        </p:txBody>
      </p:sp>
      <p:sp>
        <p:nvSpPr>
          <p:cNvPr id="4" name="TextBox 3"/>
          <p:cNvSpPr txBox="1"/>
          <p:nvPr/>
        </p:nvSpPr>
        <p:spPr>
          <a:xfrm>
            <a:off x="530352" y="713232"/>
            <a:ext cx="11155680" cy="292608"/>
          </a:xfrm>
          <a:prstGeom prst="rect">
            <a:avLst/>
          </a:prstGeom>
          <a:noFill/>
        </p:spPr>
        <p:txBody>
          <a:bodyPr wrap="square">
            <a:spAutoFit/>
          </a:bodyPr>
          <a:lstStyle/>
          <a:p>
            <a:r>
              <a:rPr sz="1400" i="1">
                <a:solidFill>
                  <a:srgbClr val="6B7480"/>
                </a:solidFill>
                <a:latin typeface="Calibri"/>
              </a:rPr>
              <a:t>Copy the body-only HTML from each example above into the matching comment below</a:t>
            </a:r>
          </a:p>
        </p:txBody>
      </p:sp>
      <p:sp>
        <p:nvSpPr>
          <p:cNvPr id="5" name="TextBox 4"/>
          <p:cNvSpPr txBox="1"/>
          <p:nvPr/>
        </p:nvSpPr>
        <p:spPr>
          <a:xfrm>
            <a:off x="530352" y="1005840"/>
            <a:ext cx="11155680" cy="566928"/>
          </a:xfrm>
          <a:prstGeom prst="rect">
            <a:avLst/>
          </a:prstGeom>
          <a:noFill/>
        </p:spPr>
        <p:txBody>
          <a:bodyPr wrap="square">
            <a:spAutoFit/>
          </a:bodyPr>
          <a:lstStyle/>
          <a:p>
            <a:r>
              <a:rPr sz="1450">
                <a:solidFill>
                  <a:srgbClr val="333D4B"/>
                </a:solidFill>
                <a:latin typeface="Calibri"/>
              </a:rPr>
              <a:t>Now it's your turn: copy the relevant body HTML from each example above into the matching comment in index.html to build a complete page from scratch.</a:t>
            </a:r>
          </a:p>
        </p:txBody>
      </p:sp>
      <p:sp>
        <p:nvSpPr>
          <p:cNvPr id="6" name="Rounded Rectangle 5"/>
          <p:cNvSpPr/>
          <p:nvPr/>
        </p:nvSpPr>
        <p:spPr>
          <a:xfrm>
            <a:off x="502920" y="1645920"/>
            <a:ext cx="11183112" cy="4709160"/>
          </a:xfrm>
          <a:prstGeom prst="roundRect">
            <a:avLst>
              <a:gd name="adj" fmla="val 3000"/>
            </a:avLst>
          </a:prstGeom>
          <a:solidFill>
            <a:srgbClr val="1E1E1E"/>
          </a:solidFill>
          <a:ln w="12700">
            <a:solidFill>
              <a:srgbClr val="3C3C3C"/>
            </a:solidFill>
          </a:ln>
          <a:effectLst/>
        </p:spPr>
        <p:style>
          <a:lnRef idx="1">
            <a:schemeClr val="accent1"/>
          </a:lnRef>
          <a:fillRef idx="3">
            <a:schemeClr val="accent1"/>
          </a:fillRef>
          <a:effectRef idx="2">
            <a:schemeClr val="accent1"/>
          </a:effectRef>
          <a:fontRef idx="minor">
            <a:schemeClr val="lt1"/>
          </a:fontRef>
        </p:style>
        <p:txBody>
          <a:bodyPr wrap="square" lIns="201168" tIns="146304" rIns="201168" bIns="146304" rtlCol="0" anchor="t">
            <a:noAutofit/>
          </a:bodyPr>
          <a:lstStyle/>
          <a:p>
            <a:pPr algn="l">
              <a:lnSpc>
                <a:spcPct val="100000"/>
              </a:lnSpc>
              <a:spcBef>
                <a:spcPts val="0"/>
              </a:spcBef>
              <a:spcAft>
                <a:spcPts val="0"/>
              </a:spcAft>
            </a:pPr>
            <a:r>
              <a:rPr sz="800" dirty="0">
                <a:solidFill>
                  <a:srgbClr val="808080"/>
                </a:solidFill>
                <a:latin typeface="Consolas"/>
              </a:rPr>
              <a:t>&lt;!DOCTYPE html&gt;</a:t>
            </a:r>
            <a:r>
              <a:rPr sz="800" dirty="0">
                <a:solidFill>
                  <a:srgbClr val="D4D4D4"/>
                </a:solidFill>
                <a:latin typeface="Consolas"/>
              </a:rPr>
              <a:t> </a:t>
            </a:r>
          </a:p>
          <a:p>
            <a:pPr algn="l">
              <a:lnSpc>
                <a:spcPct val="100000"/>
              </a:lnSpc>
              <a:spcBef>
                <a:spcPts val="0"/>
              </a:spcBef>
              <a:spcAft>
                <a:spcPts val="0"/>
              </a:spcAft>
            </a:pPr>
            <a:r>
              <a:rPr sz="800" dirty="0">
                <a:solidFill>
                  <a:srgbClr val="808080"/>
                </a:solidFill>
                <a:latin typeface="Consolas"/>
              </a:rPr>
              <a:t>&lt;</a:t>
            </a:r>
            <a:r>
              <a:rPr sz="800" dirty="0">
                <a:solidFill>
                  <a:srgbClr val="569CD6"/>
                </a:solidFill>
                <a:latin typeface="Consolas"/>
              </a:rPr>
              <a:t>html</a:t>
            </a:r>
            <a:r>
              <a:rPr sz="800" dirty="0">
                <a:solidFill>
                  <a:srgbClr val="D4D4D4"/>
                </a:solidFill>
                <a:latin typeface="Consolas"/>
              </a:rPr>
              <a:t> </a:t>
            </a:r>
            <a:r>
              <a:rPr sz="800" dirty="0">
                <a:solidFill>
                  <a:srgbClr val="9CDCFE"/>
                </a:solidFill>
                <a:latin typeface="Consolas"/>
              </a:rPr>
              <a:t>lang</a:t>
            </a:r>
            <a:r>
              <a:rPr sz="800" dirty="0">
                <a:solidFill>
                  <a:srgbClr val="D4D4D4"/>
                </a:solidFill>
                <a:latin typeface="Consolas"/>
              </a:rPr>
              <a:t>=</a:t>
            </a:r>
            <a:r>
              <a:rPr sz="800" dirty="0">
                <a:solidFill>
                  <a:srgbClr val="CE9178"/>
                </a:solidFill>
                <a:latin typeface="Consolas"/>
              </a:rPr>
              <a:t>"</a:t>
            </a:r>
            <a:r>
              <a:rPr sz="800" dirty="0" err="1">
                <a:solidFill>
                  <a:srgbClr val="CE9178"/>
                </a:solidFill>
                <a:latin typeface="Consolas"/>
              </a:rPr>
              <a:t>en</a:t>
            </a:r>
            <a:r>
              <a:rPr sz="800" dirty="0">
                <a:solidFill>
                  <a:srgbClr val="CE9178"/>
                </a:solidFill>
                <a:latin typeface="Consolas"/>
              </a:rPr>
              <a:t>"</a:t>
            </a:r>
            <a:r>
              <a:rPr sz="800" dirty="0">
                <a:solidFill>
                  <a:srgbClr val="808080"/>
                </a:solidFill>
                <a:latin typeface="Consolas"/>
              </a:rPr>
              <a:t>&gt;</a:t>
            </a:r>
            <a:r>
              <a:rPr sz="800" dirty="0">
                <a:solidFill>
                  <a:srgbClr val="D4D4D4"/>
                </a:solidFill>
                <a:latin typeface="Consolas"/>
              </a:rPr>
              <a:t> </a:t>
            </a:r>
          </a:p>
          <a:p>
            <a:pPr algn="l">
              <a:lnSpc>
                <a:spcPct val="100000"/>
              </a:lnSpc>
              <a:spcBef>
                <a:spcPts val="0"/>
              </a:spcBef>
              <a:spcAft>
                <a:spcPts val="0"/>
              </a:spcAft>
            </a:pPr>
            <a:r>
              <a:rPr sz="800" dirty="0">
                <a:solidFill>
                  <a:srgbClr val="D4D4D4"/>
                </a:solidFill>
                <a:latin typeface="Consolas"/>
              </a:rPr>
              <a:t>    </a:t>
            </a:r>
            <a:r>
              <a:rPr sz="800" dirty="0">
                <a:solidFill>
                  <a:srgbClr val="808080"/>
                </a:solidFill>
                <a:latin typeface="Consolas"/>
              </a:rPr>
              <a:t>&lt;</a:t>
            </a:r>
            <a:r>
              <a:rPr sz="800" dirty="0">
                <a:solidFill>
                  <a:srgbClr val="569CD6"/>
                </a:solidFill>
                <a:latin typeface="Consolas"/>
              </a:rPr>
              <a:t>head</a:t>
            </a:r>
            <a:r>
              <a:rPr sz="800" dirty="0">
                <a:solidFill>
                  <a:srgbClr val="808080"/>
                </a:solidFill>
                <a:latin typeface="Consolas"/>
              </a:rPr>
              <a:t>&gt;</a:t>
            </a:r>
            <a:r>
              <a:rPr sz="800" dirty="0">
                <a:solidFill>
                  <a:srgbClr val="D4D4D4"/>
                </a:solidFill>
                <a:latin typeface="Consolas"/>
              </a:rPr>
              <a:t> </a:t>
            </a:r>
          </a:p>
          <a:p>
            <a:pPr algn="l">
              <a:lnSpc>
                <a:spcPct val="100000"/>
              </a:lnSpc>
              <a:spcBef>
                <a:spcPts val="0"/>
              </a:spcBef>
              <a:spcAft>
                <a:spcPts val="0"/>
              </a:spcAft>
            </a:pPr>
            <a:r>
              <a:rPr sz="800" dirty="0">
                <a:solidFill>
                  <a:srgbClr val="D4D4D4"/>
                </a:solidFill>
                <a:latin typeface="Consolas"/>
              </a:rPr>
              <a:t>        </a:t>
            </a:r>
            <a:r>
              <a:rPr sz="800" dirty="0">
                <a:solidFill>
                  <a:srgbClr val="808080"/>
                </a:solidFill>
                <a:latin typeface="Consolas"/>
              </a:rPr>
              <a:t>&lt;</a:t>
            </a:r>
            <a:r>
              <a:rPr sz="800" dirty="0">
                <a:solidFill>
                  <a:srgbClr val="569CD6"/>
                </a:solidFill>
                <a:latin typeface="Consolas"/>
              </a:rPr>
              <a:t>meta</a:t>
            </a:r>
            <a:r>
              <a:rPr sz="800" dirty="0">
                <a:solidFill>
                  <a:srgbClr val="D4D4D4"/>
                </a:solidFill>
                <a:latin typeface="Consolas"/>
              </a:rPr>
              <a:t> </a:t>
            </a:r>
            <a:r>
              <a:rPr sz="800" dirty="0">
                <a:solidFill>
                  <a:srgbClr val="9CDCFE"/>
                </a:solidFill>
                <a:latin typeface="Consolas"/>
              </a:rPr>
              <a:t>charset</a:t>
            </a:r>
            <a:r>
              <a:rPr sz="800" dirty="0">
                <a:solidFill>
                  <a:srgbClr val="D4D4D4"/>
                </a:solidFill>
                <a:latin typeface="Consolas"/>
              </a:rPr>
              <a:t>=</a:t>
            </a:r>
            <a:r>
              <a:rPr sz="800" dirty="0">
                <a:solidFill>
                  <a:srgbClr val="CE9178"/>
                </a:solidFill>
                <a:latin typeface="Consolas"/>
              </a:rPr>
              <a:t>"UTF-8"</a:t>
            </a:r>
            <a:r>
              <a:rPr sz="800" dirty="0">
                <a:solidFill>
                  <a:srgbClr val="D4D4D4"/>
                </a:solidFill>
                <a:latin typeface="Consolas"/>
              </a:rPr>
              <a:t> </a:t>
            </a:r>
            <a:r>
              <a:rPr sz="800" dirty="0">
                <a:solidFill>
                  <a:srgbClr val="808080"/>
                </a:solidFill>
                <a:latin typeface="Consolas"/>
              </a:rPr>
              <a:t>/&gt;</a:t>
            </a:r>
          </a:p>
          <a:p>
            <a:pPr algn="l">
              <a:lnSpc>
                <a:spcPct val="100000"/>
              </a:lnSpc>
              <a:spcBef>
                <a:spcPts val="0"/>
              </a:spcBef>
              <a:spcAft>
                <a:spcPts val="0"/>
              </a:spcAft>
            </a:pPr>
            <a:r>
              <a:rPr sz="800" dirty="0">
                <a:solidFill>
                  <a:srgbClr val="D4D4D4"/>
                </a:solidFill>
                <a:latin typeface="Consolas"/>
              </a:rPr>
              <a:t>        </a:t>
            </a:r>
            <a:r>
              <a:rPr sz="800" dirty="0">
                <a:solidFill>
                  <a:srgbClr val="808080"/>
                </a:solidFill>
                <a:latin typeface="Consolas"/>
              </a:rPr>
              <a:t>&lt;</a:t>
            </a:r>
            <a:r>
              <a:rPr sz="800" dirty="0">
                <a:solidFill>
                  <a:srgbClr val="569CD6"/>
                </a:solidFill>
                <a:latin typeface="Consolas"/>
              </a:rPr>
              <a:t>meta</a:t>
            </a:r>
            <a:r>
              <a:rPr sz="800" dirty="0">
                <a:solidFill>
                  <a:srgbClr val="D4D4D4"/>
                </a:solidFill>
                <a:latin typeface="Consolas"/>
              </a:rPr>
              <a:t> </a:t>
            </a:r>
            <a:r>
              <a:rPr sz="800" dirty="0">
                <a:solidFill>
                  <a:srgbClr val="9CDCFE"/>
                </a:solidFill>
                <a:latin typeface="Consolas"/>
              </a:rPr>
              <a:t>name</a:t>
            </a:r>
            <a:r>
              <a:rPr sz="800" dirty="0">
                <a:solidFill>
                  <a:srgbClr val="D4D4D4"/>
                </a:solidFill>
                <a:latin typeface="Consolas"/>
              </a:rPr>
              <a:t>=</a:t>
            </a:r>
            <a:r>
              <a:rPr sz="800" dirty="0">
                <a:solidFill>
                  <a:srgbClr val="CE9178"/>
                </a:solidFill>
                <a:latin typeface="Consolas"/>
              </a:rPr>
              <a:t>"description"</a:t>
            </a:r>
            <a:r>
              <a:rPr sz="800" dirty="0">
                <a:solidFill>
                  <a:srgbClr val="D4D4D4"/>
                </a:solidFill>
                <a:latin typeface="Consolas"/>
              </a:rPr>
              <a:t> </a:t>
            </a:r>
            <a:r>
              <a:rPr sz="800" dirty="0">
                <a:solidFill>
                  <a:srgbClr val="9CDCFE"/>
                </a:solidFill>
                <a:latin typeface="Consolas"/>
              </a:rPr>
              <a:t>content</a:t>
            </a:r>
            <a:r>
              <a:rPr sz="800" dirty="0">
                <a:solidFill>
                  <a:srgbClr val="D4D4D4"/>
                </a:solidFill>
                <a:latin typeface="Consolas"/>
              </a:rPr>
              <a:t>=</a:t>
            </a:r>
            <a:r>
              <a:rPr sz="800" dirty="0">
                <a:solidFill>
                  <a:srgbClr val="CE9178"/>
                </a:solidFill>
                <a:latin typeface="Consolas"/>
              </a:rPr>
              <a:t>"My first page"</a:t>
            </a:r>
            <a:r>
              <a:rPr sz="800" dirty="0">
                <a:solidFill>
                  <a:srgbClr val="D4D4D4"/>
                </a:solidFill>
                <a:latin typeface="Consolas"/>
              </a:rPr>
              <a:t> </a:t>
            </a:r>
            <a:r>
              <a:rPr sz="800" dirty="0">
                <a:solidFill>
                  <a:srgbClr val="808080"/>
                </a:solidFill>
                <a:latin typeface="Consolas"/>
              </a:rPr>
              <a:t>/&gt;</a:t>
            </a:r>
          </a:p>
          <a:p>
            <a:pPr algn="l">
              <a:lnSpc>
                <a:spcPct val="100000"/>
              </a:lnSpc>
              <a:spcBef>
                <a:spcPts val="0"/>
              </a:spcBef>
              <a:spcAft>
                <a:spcPts val="0"/>
              </a:spcAft>
            </a:pPr>
            <a:r>
              <a:rPr sz="800" dirty="0">
                <a:solidFill>
                  <a:srgbClr val="D4D4D4"/>
                </a:solidFill>
                <a:latin typeface="Consolas"/>
              </a:rPr>
              <a:t>        </a:t>
            </a:r>
            <a:r>
              <a:rPr sz="800" dirty="0">
                <a:solidFill>
                  <a:srgbClr val="808080"/>
                </a:solidFill>
                <a:latin typeface="Consolas"/>
              </a:rPr>
              <a:t>&lt;</a:t>
            </a:r>
            <a:r>
              <a:rPr sz="800" dirty="0">
                <a:solidFill>
                  <a:srgbClr val="569CD6"/>
                </a:solidFill>
                <a:latin typeface="Consolas"/>
              </a:rPr>
              <a:t>meta</a:t>
            </a:r>
            <a:r>
              <a:rPr sz="800" dirty="0">
                <a:solidFill>
                  <a:srgbClr val="D4D4D4"/>
                </a:solidFill>
                <a:latin typeface="Consolas"/>
              </a:rPr>
              <a:t> </a:t>
            </a:r>
            <a:r>
              <a:rPr sz="800" dirty="0">
                <a:solidFill>
                  <a:srgbClr val="9CDCFE"/>
                </a:solidFill>
                <a:latin typeface="Consolas"/>
              </a:rPr>
              <a:t>name</a:t>
            </a:r>
            <a:r>
              <a:rPr sz="800" dirty="0">
                <a:solidFill>
                  <a:srgbClr val="D4D4D4"/>
                </a:solidFill>
                <a:latin typeface="Consolas"/>
              </a:rPr>
              <a:t>=</a:t>
            </a:r>
            <a:r>
              <a:rPr sz="800" dirty="0">
                <a:solidFill>
                  <a:srgbClr val="CE9178"/>
                </a:solidFill>
                <a:latin typeface="Consolas"/>
              </a:rPr>
              <a:t>"keywords"</a:t>
            </a:r>
            <a:r>
              <a:rPr sz="800" dirty="0">
                <a:solidFill>
                  <a:srgbClr val="D4D4D4"/>
                </a:solidFill>
                <a:latin typeface="Consolas"/>
              </a:rPr>
              <a:t> </a:t>
            </a:r>
            <a:r>
              <a:rPr sz="800" dirty="0">
                <a:solidFill>
                  <a:srgbClr val="9CDCFE"/>
                </a:solidFill>
                <a:latin typeface="Consolas"/>
              </a:rPr>
              <a:t>content</a:t>
            </a:r>
            <a:r>
              <a:rPr sz="800" dirty="0">
                <a:solidFill>
                  <a:srgbClr val="D4D4D4"/>
                </a:solidFill>
                <a:latin typeface="Consolas"/>
              </a:rPr>
              <a:t>=</a:t>
            </a:r>
            <a:r>
              <a:rPr sz="800" dirty="0">
                <a:solidFill>
                  <a:srgbClr val="CE9178"/>
                </a:solidFill>
                <a:latin typeface="Consolas"/>
              </a:rPr>
              <a:t>"</a:t>
            </a:r>
            <a:r>
              <a:rPr sz="800" dirty="0" err="1">
                <a:solidFill>
                  <a:srgbClr val="CE9178"/>
                </a:solidFill>
                <a:latin typeface="Consolas"/>
              </a:rPr>
              <a:t>keywords,go,here</a:t>
            </a:r>
            <a:r>
              <a:rPr sz="800" dirty="0">
                <a:solidFill>
                  <a:srgbClr val="CE9178"/>
                </a:solidFill>
                <a:latin typeface="Consolas"/>
              </a:rPr>
              <a:t>"</a:t>
            </a:r>
            <a:r>
              <a:rPr sz="800" dirty="0">
                <a:solidFill>
                  <a:srgbClr val="D4D4D4"/>
                </a:solidFill>
                <a:latin typeface="Consolas"/>
              </a:rPr>
              <a:t> </a:t>
            </a:r>
            <a:r>
              <a:rPr sz="800" dirty="0">
                <a:solidFill>
                  <a:srgbClr val="808080"/>
                </a:solidFill>
                <a:latin typeface="Consolas"/>
              </a:rPr>
              <a:t>/&gt;</a:t>
            </a:r>
          </a:p>
          <a:p>
            <a:pPr algn="l">
              <a:lnSpc>
                <a:spcPct val="100000"/>
              </a:lnSpc>
              <a:spcBef>
                <a:spcPts val="0"/>
              </a:spcBef>
              <a:spcAft>
                <a:spcPts val="0"/>
              </a:spcAft>
            </a:pPr>
            <a:r>
              <a:rPr sz="800" dirty="0">
                <a:solidFill>
                  <a:srgbClr val="D4D4D4"/>
                </a:solidFill>
                <a:latin typeface="Consolas"/>
              </a:rPr>
              <a:t>        </a:t>
            </a:r>
            <a:r>
              <a:rPr sz="800" dirty="0">
                <a:solidFill>
                  <a:srgbClr val="808080"/>
                </a:solidFill>
                <a:latin typeface="Consolas"/>
              </a:rPr>
              <a:t>&lt;</a:t>
            </a:r>
            <a:r>
              <a:rPr sz="800" dirty="0">
                <a:solidFill>
                  <a:srgbClr val="569CD6"/>
                </a:solidFill>
                <a:latin typeface="Consolas"/>
              </a:rPr>
              <a:t>meta</a:t>
            </a:r>
            <a:r>
              <a:rPr sz="800" dirty="0">
                <a:solidFill>
                  <a:srgbClr val="D4D4D4"/>
                </a:solidFill>
                <a:latin typeface="Consolas"/>
              </a:rPr>
              <a:t> </a:t>
            </a:r>
            <a:r>
              <a:rPr sz="800" dirty="0">
                <a:solidFill>
                  <a:srgbClr val="9CDCFE"/>
                </a:solidFill>
                <a:latin typeface="Consolas"/>
              </a:rPr>
              <a:t>name</a:t>
            </a:r>
            <a:r>
              <a:rPr sz="800" dirty="0">
                <a:solidFill>
                  <a:srgbClr val="D4D4D4"/>
                </a:solidFill>
                <a:latin typeface="Consolas"/>
              </a:rPr>
              <a:t>=</a:t>
            </a:r>
            <a:r>
              <a:rPr sz="800" dirty="0">
                <a:solidFill>
                  <a:srgbClr val="CE9178"/>
                </a:solidFill>
                <a:latin typeface="Consolas"/>
              </a:rPr>
              <a:t>"author"</a:t>
            </a:r>
            <a:r>
              <a:rPr sz="800" dirty="0">
                <a:solidFill>
                  <a:srgbClr val="D4D4D4"/>
                </a:solidFill>
                <a:latin typeface="Consolas"/>
              </a:rPr>
              <a:t> </a:t>
            </a:r>
            <a:r>
              <a:rPr sz="800" dirty="0">
                <a:solidFill>
                  <a:srgbClr val="9CDCFE"/>
                </a:solidFill>
                <a:latin typeface="Consolas"/>
              </a:rPr>
              <a:t>content</a:t>
            </a:r>
            <a:r>
              <a:rPr sz="800" dirty="0">
                <a:solidFill>
                  <a:srgbClr val="D4D4D4"/>
                </a:solidFill>
                <a:latin typeface="Consolas"/>
              </a:rPr>
              <a:t>=</a:t>
            </a:r>
            <a:r>
              <a:rPr sz="800" dirty="0">
                <a:solidFill>
                  <a:srgbClr val="CE9178"/>
                </a:solidFill>
                <a:latin typeface="Consolas"/>
              </a:rPr>
              <a:t>"</a:t>
            </a:r>
            <a:r>
              <a:rPr sz="800" dirty="0" err="1">
                <a:solidFill>
                  <a:srgbClr val="CE9178"/>
                </a:solidFill>
                <a:latin typeface="Consolas"/>
              </a:rPr>
              <a:t>Firstname</a:t>
            </a:r>
            <a:r>
              <a:rPr sz="800" dirty="0">
                <a:solidFill>
                  <a:srgbClr val="CE9178"/>
                </a:solidFill>
                <a:latin typeface="Consolas"/>
              </a:rPr>
              <a:t> Lastname"</a:t>
            </a:r>
            <a:r>
              <a:rPr sz="800" dirty="0">
                <a:solidFill>
                  <a:srgbClr val="D4D4D4"/>
                </a:solidFill>
                <a:latin typeface="Consolas"/>
              </a:rPr>
              <a:t> </a:t>
            </a:r>
            <a:r>
              <a:rPr sz="800" dirty="0">
                <a:solidFill>
                  <a:srgbClr val="808080"/>
                </a:solidFill>
                <a:latin typeface="Consolas"/>
              </a:rPr>
              <a:t>/&gt;</a:t>
            </a:r>
          </a:p>
          <a:p>
            <a:pPr algn="l">
              <a:lnSpc>
                <a:spcPct val="100000"/>
              </a:lnSpc>
              <a:spcBef>
                <a:spcPts val="0"/>
              </a:spcBef>
              <a:spcAft>
                <a:spcPts val="0"/>
              </a:spcAft>
            </a:pPr>
            <a:r>
              <a:rPr sz="800" dirty="0">
                <a:solidFill>
                  <a:srgbClr val="D4D4D4"/>
                </a:solidFill>
                <a:latin typeface="Consolas"/>
              </a:rPr>
              <a:t>        </a:t>
            </a:r>
            <a:r>
              <a:rPr sz="800" dirty="0">
                <a:solidFill>
                  <a:srgbClr val="808080"/>
                </a:solidFill>
                <a:latin typeface="Consolas"/>
              </a:rPr>
              <a:t>&lt;</a:t>
            </a:r>
            <a:r>
              <a:rPr sz="800" dirty="0">
                <a:solidFill>
                  <a:srgbClr val="569CD6"/>
                </a:solidFill>
                <a:latin typeface="Consolas"/>
              </a:rPr>
              <a:t>meta</a:t>
            </a:r>
            <a:r>
              <a:rPr sz="800" dirty="0">
                <a:solidFill>
                  <a:srgbClr val="D4D4D4"/>
                </a:solidFill>
                <a:latin typeface="Consolas"/>
              </a:rPr>
              <a:t> </a:t>
            </a:r>
            <a:r>
              <a:rPr sz="800" dirty="0">
                <a:solidFill>
                  <a:srgbClr val="9CDCFE"/>
                </a:solidFill>
                <a:latin typeface="Consolas"/>
              </a:rPr>
              <a:t>name</a:t>
            </a:r>
            <a:r>
              <a:rPr sz="800" dirty="0">
                <a:solidFill>
                  <a:srgbClr val="D4D4D4"/>
                </a:solidFill>
                <a:latin typeface="Consolas"/>
              </a:rPr>
              <a:t>=</a:t>
            </a:r>
            <a:r>
              <a:rPr sz="800" dirty="0">
                <a:solidFill>
                  <a:srgbClr val="CE9178"/>
                </a:solidFill>
                <a:latin typeface="Consolas"/>
              </a:rPr>
              <a:t>"robots"</a:t>
            </a:r>
            <a:r>
              <a:rPr sz="800" dirty="0">
                <a:solidFill>
                  <a:srgbClr val="D4D4D4"/>
                </a:solidFill>
                <a:latin typeface="Consolas"/>
              </a:rPr>
              <a:t> </a:t>
            </a:r>
            <a:r>
              <a:rPr sz="800" dirty="0">
                <a:solidFill>
                  <a:srgbClr val="9CDCFE"/>
                </a:solidFill>
                <a:latin typeface="Consolas"/>
              </a:rPr>
              <a:t>content</a:t>
            </a:r>
            <a:r>
              <a:rPr sz="800" dirty="0">
                <a:solidFill>
                  <a:srgbClr val="D4D4D4"/>
                </a:solidFill>
                <a:latin typeface="Consolas"/>
              </a:rPr>
              <a:t>=</a:t>
            </a:r>
            <a:r>
              <a:rPr sz="800" dirty="0">
                <a:solidFill>
                  <a:srgbClr val="CE9178"/>
                </a:solidFill>
                <a:latin typeface="Consolas"/>
              </a:rPr>
              <a:t>"</a:t>
            </a:r>
            <a:r>
              <a:rPr sz="800" dirty="0" err="1">
                <a:solidFill>
                  <a:srgbClr val="CE9178"/>
                </a:solidFill>
                <a:latin typeface="Consolas"/>
              </a:rPr>
              <a:t>index,follow</a:t>
            </a:r>
            <a:r>
              <a:rPr sz="800" dirty="0">
                <a:solidFill>
                  <a:srgbClr val="CE9178"/>
                </a:solidFill>
                <a:latin typeface="Consolas"/>
              </a:rPr>
              <a:t>"</a:t>
            </a:r>
            <a:r>
              <a:rPr sz="800" dirty="0">
                <a:solidFill>
                  <a:srgbClr val="D4D4D4"/>
                </a:solidFill>
                <a:latin typeface="Consolas"/>
              </a:rPr>
              <a:t> </a:t>
            </a:r>
            <a:r>
              <a:rPr sz="800" dirty="0">
                <a:solidFill>
                  <a:srgbClr val="808080"/>
                </a:solidFill>
                <a:latin typeface="Consolas"/>
              </a:rPr>
              <a:t>/&gt;</a:t>
            </a:r>
          </a:p>
          <a:p>
            <a:pPr algn="l">
              <a:lnSpc>
                <a:spcPct val="100000"/>
              </a:lnSpc>
              <a:spcBef>
                <a:spcPts val="0"/>
              </a:spcBef>
              <a:spcAft>
                <a:spcPts val="0"/>
              </a:spcAft>
            </a:pPr>
            <a:r>
              <a:rPr sz="800" dirty="0">
                <a:solidFill>
                  <a:srgbClr val="D4D4D4"/>
                </a:solidFill>
                <a:latin typeface="Consolas"/>
              </a:rPr>
              <a:t>        </a:t>
            </a:r>
            <a:r>
              <a:rPr sz="800" dirty="0">
                <a:solidFill>
                  <a:srgbClr val="808080"/>
                </a:solidFill>
                <a:latin typeface="Consolas"/>
              </a:rPr>
              <a:t>&lt;</a:t>
            </a:r>
            <a:r>
              <a:rPr sz="800" dirty="0">
                <a:solidFill>
                  <a:srgbClr val="569CD6"/>
                </a:solidFill>
                <a:latin typeface="Consolas"/>
              </a:rPr>
              <a:t>meta</a:t>
            </a:r>
            <a:r>
              <a:rPr sz="800" dirty="0">
                <a:solidFill>
                  <a:srgbClr val="D4D4D4"/>
                </a:solidFill>
                <a:latin typeface="Consolas"/>
              </a:rPr>
              <a:t> </a:t>
            </a:r>
            <a:r>
              <a:rPr sz="800" dirty="0">
                <a:solidFill>
                  <a:srgbClr val="9CDCFE"/>
                </a:solidFill>
                <a:latin typeface="Consolas"/>
              </a:rPr>
              <a:t>name</a:t>
            </a:r>
            <a:r>
              <a:rPr sz="800" dirty="0">
                <a:solidFill>
                  <a:srgbClr val="D4D4D4"/>
                </a:solidFill>
                <a:latin typeface="Consolas"/>
              </a:rPr>
              <a:t>=</a:t>
            </a:r>
            <a:r>
              <a:rPr sz="800" dirty="0">
                <a:solidFill>
                  <a:srgbClr val="CE9178"/>
                </a:solidFill>
                <a:latin typeface="Consolas"/>
              </a:rPr>
              <a:t>"viewport"</a:t>
            </a:r>
            <a:r>
              <a:rPr sz="800" dirty="0">
                <a:solidFill>
                  <a:srgbClr val="D4D4D4"/>
                </a:solidFill>
                <a:latin typeface="Consolas"/>
              </a:rPr>
              <a:t> </a:t>
            </a:r>
            <a:r>
              <a:rPr sz="800" dirty="0">
                <a:solidFill>
                  <a:srgbClr val="9CDCFE"/>
                </a:solidFill>
                <a:latin typeface="Consolas"/>
              </a:rPr>
              <a:t>content</a:t>
            </a:r>
            <a:r>
              <a:rPr sz="800" dirty="0">
                <a:solidFill>
                  <a:srgbClr val="D4D4D4"/>
                </a:solidFill>
                <a:latin typeface="Consolas"/>
              </a:rPr>
              <a:t>=</a:t>
            </a:r>
            <a:r>
              <a:rPr sz="800" dirty="0">
                <a:solidFill>
                  <a:srgbClr val="CE9178"/>
                </a:solidFill>
                <a:latin typeface="Consolas"/>
              </a:rPr>
              <a:t>"width=device-width, initial-scale=1.0"</a:t>
            </a:r>
            <a:r>
              <a:rPr sz="800" dirty="0">
                <a:solidFill>
                  <a:srgbClr val="808080"/>
                </a:solidFill>
                <a:latin typeface="Consolas"/>
              </a:rPr>
              <a:t>&gt;</a:t>
            </a:r>
          </a:p>
          <a:p>
            <a:pPr algn="l">
              <a:lnSpc>
                <a:spcPct val="100000"/>
              </a:lnSpc>
              <a:spcBef>
                <a:spcPts val="0"/>
              </a:spcBef>
              <a:spcAft>
                <a:spcPts val="0"/>
              </a:spcAft>
            </a:pPr>
            <a:r>
              <a:rPr sz="800" dirty="0">
                <a:solidFill>
                  <a:srgbClr val="D4D4D4"/>
                </a:solidFill>
                <a:latin typeface="Consolas"/>
              </a:rPr>
              <a:t>        </a:t>
            </a:r>
            <a:r>
              <a:rPr sz="800" dirty="0">
                <a:solidFill>
                  <a:srgbClr val="808080"/>
                </a:solidFill>
                <a:latin typeface="Consolas"/>
              </a:rPr>
              <a:t>&lt;</a:t>
            </a:r>
            <a:r>
              <a:rPr sz="800" dirty="0">
                <a:solidFill>
                  <a:srgbClr val="569CD6"/>
                </a:solidFill>
                <a:latin typeface="Consolas"/>
              </a:rPr>
              <a:t>title</a:t>
            </a:r>
            <a:r>
              <a:rPr sz="800" dirty="0">
                <a:solidFill>
                  <a:srgbClr val="808080"/>
                </a:solidFill>
                <a:latin typeface="Consolas"/>
              </a:rPr>
              <a:t>&gt;</a:t>
            </a:r>
            <a:r>
              <a:rPr sz="800" dirty="0">
                <a:solidFill>
                  <a:srgbClr val="D4D4D4"/>
                </a:solidFill>
                <a:latin typeface="Consolas"/>
              </a:rPr>
              <a:t>My Page</a:t>
            </a:r>
            <a:r>
              <a:rPr sz="800" dirty="0">
                <a:solidFill>
                  <a:srgbClr val="808080"/>
                </a:solidFill>
                <a:latin typeface="Consolas"/>
              </a:rPr>
              <a:t>&lt;/</a:t>
            </a:r>
            <a:r>
              <a:rPr sz="800" dirty="0">
                <a:solidFill>
                  <a:srgbClr val="569CD6"/>
                </a:solidFill>
                <a:latin typeface="Consolas"/>
              </a:rPr>
              <a:t>title</a:t>
            </a:r>
            <a:r>
              <a:rPr sz="800" dirty="0">
                <a:solidFill>
                  <a:srgbClr val="808080"/>
                </a:solidFill>
                <a:latin typeface="Consolas"/>
              </a:rPr>
              <a:t>&gt;</a:t>
            </a:r>
            <a:r>
              <a:rPr sz="800" dirty="0">
                <a:solidFill>
                  <a:srgbClr val="D4D4D4"/>
                </a:solidFill>
                <a:latin typeface="Consolas"/>
              </a:rPr>
              <a:t> </a:t>
            </a:r>
          </a:p>
          <a:p>
            <a:pPr algn="l">
              <a:lnSpc>
                <a:spcPct val="100000"/>
              </a:lnSpc>
              <a:spcBef>
                <a:spcPts val="0"/>
              </a:spcBef>
              <a:spcAft>
                <a:spcPts val="0"/>
              </a:spcAft>
            </a:pPr>
            <a:r>
              <a:rPr sz="800" dirty="0">
                <a:solidFill>
                  <a:srgbClr val="D4D4D4"/>
                </a:solidFill>
                <a:latin typeface="Consolas"/>
              </a:rPr>
              <a:t>    </a:t>
            </a:r>
            <a:r>
              <a:rPr sz="800" dirty="0">
                <a:solidFill>
                  <a:srgbClr val="808080"/>
                </a:solidFill>
                <a:latin typeface="Consolas"/>
              </a:rPr>
              <a:t>&lt;/</a:t>
            </a:r>
            <a:r>
              <a:rPr sz="800" dirty="0">
                <a:solidFill>
                  <a:srgbClr val="569CD6"/>
                </a:solidFill>
                <a:latin typeface="Consolas"/>
              </a:rPr>
              <a:t>head</a:t>
            </a:r>
            <a:r>
              <a:rPr sz="800" dirty="0">
                <a:solidFill>
                  <a:srgbClr val="808080"/>
                </a:solidFill>
                <a:latin typeface="Consolas"/>
              </a:rPr>
              <a:t>&gt;</a:t>
            </a:r>
            <a:r>
              <a:rPr sz="800" dirty="0">
                <a:solidFill>
                  <a:srgbClr val="D4D4D4"/>
                </a:solidFill>
                <a:latin typeface="Consolas"/>
              </a:rPr>
              <a:t> </a:t>
            </a:r>
          </a:p>
          <a:p>
            <a:pPr algn="l">
              <a:lnSpc>
                <a:spcPct val="100000"/>
              </a:lnSpc>
              <a:spcBef>
                <a:spcPts val="0"/>
              </a:spcBef>
              <a:spcAft>
                <a:spcPts val="0"/>
              </a:spcAft>
            </a:pPr>
            <a:r>
              <a:rPr sz="800" dirty="0">
                <a:solidFill>
                  <a:srgbClr val="D4D4D4"/>
                </a:solidFill>
                <a:latin typeface="Consolas"/>
              </a:rPr>
              <a:t>    </a:t>
            </a:r>
            <a:r>
              <a:rPr sz="800" dirty="0">
                <a:solidFill>
                  <a:srgbClr val="808080"/>
                </a:solidFill>
                <a:latin typeface="Consolas"/>
              </a:rPr>
              <a:t>&lt;</a:t>
            </a:r>
            <a:r>
              <a:rPr sz="800" dirty="0">
                <a:solidFill>
                  <a:srgbClr val="569CD6"/>
                </a:solidFill>
                <a:latin typeface="Consolas"/>
              </a:rPr>
              <a:t>body</a:t>
            </a:r>
            <a:r>
              <a:rPr sz="800" dirty="0">
                <a:solidFill>
                  <a:srgbClr val="808080"/>
                </a:solidFill>
                <a:latin typeface="Consolas"/>
              </a:rPr>
              <a:t>&gt;</a:t>
            </a:r>
            <a:r>
              <a:rPr sz="800" dirty="0">
                <a:solidFill>
                  <a:srgbClr val="D4D4D4"/>
                </a:solidFill>
                <a:latin typeface="Consolas"/>
              </a:rPr>
              <a:t> </a:t>
            </a:r>
          </a:p>
          <a:p>
            <a:pPr algn="l">
              <a:lnSpc>
                <a:spcPct val="100000"/>
              </a:lnSpc>
              <a:spcBef>
                <a:spcPts val="0"/>
              </a:spcBef>
              <a:spcAft>
                <a:spcPts val="0"/>
              </a:spcAft>
            </a:pPr>
            <a:r>
              <a:rPr sz="800" dirty="0">
                <a:solidFill>
                  <a:srgbClr val="D4D4D4"/>
                </a:solidFill>
                <a:latin typeface="Consolas"/>
              </a:rPr>
              <a:t> </a:t>
            </a:r>
          </a:p>
          <a:p>
            <a:pPr algn="l">
              <a:lnSpc>
                <a:spcPct val="100000"/>
              </a:lnSpc>
              <a:spcBef>
                <a:spcPts val="0"/>
              </a:spcBef>
              <a:spcAft>
                <a:spcPts val="0"/>
              </a:spcAft>
            </a:pPr>
            <a:r>
              <a:rPr sz="800" dirty="0">
                <a:solidFill>
                  <a:srgbClr val="D4D4D4"/>
                </a:solidFill>
                <a:latin typeface="Consolas"/>
              </a:rPr>
              <a:t>        </a:t>
            </a:r>
            <a:r>
              <a:rPr sz="800" dirty="0">
                <a:solidFill>
                  <a:srgbClr val="808080"/>
                </a:solidFill>
                <a:latin typeface="Consolas"/>
              </a:rPr>
              <a:t>&lt;</a:t>
            </a:r>
            <a:r>
              <a:rPr sz="800" dirty="0">
                <a:solidFill>
                  <a:srgbClr val="569CD6"/>
                </a:solidFill>
                <a:latin typeface="Consolas"/>
              </a:rPr>
              <a:t>h1</a:t>
            </a:r>
            <a:r>
              <a:rPr sz="800" dirty="0">
                <a:solidFill>
                  <a:srgbClr val="808080"/>
                </a:solidFill>
                <a:latin typeface="Consolas"/>
              </a:rPr>
              <a:t>&gt;</a:t>
            </a:r>
            <a:r>
              <a:rPr sz="800" dirty="0">
                <a:solidFill>
                  <a:srgbClr val="D4D4D4"/>
                </a:solidFill>
                <a:latin typeface="Consolas"/>
              </a:rPr>
              <a:t>Welcome.</a:t>
            </a:r>
            <a:r>
              <a:rPr sz="800" dirty="0">
                <a:solidFill>
                  <a:srgbClr val="808080"/>
                </a:solidFill>
                <a:latin typeface="Consolas"/>
              </a:rPr>
              <a:t>&lt;/</a:t>
            </a:r>
            <a:r>
              <a:rPr sz="800" dirty="0">
                <a:solidFill>
                  <a:srgbClr val="569CD6"/>
                </a:solidFill>
                <a:latin typeface="Consolas"/>
              </a:rPr>
              <a:t>h1</a:t>
            </a:r>
            <a:r>
              <a:rPr sz="800" dirty="0">
                <a:solidFill>
                  <a:srgbClr val="808080"/>
                </a:solidFill>
                <a:latin typeface="Consolas"/>
              </a:rPr>
              <a:t>&gt;</a:t>
            </a:r>
          </a:p>
          <a:p>
            <a:pPr algn="l">
              <a:lnSpc>
                <a:spcPct val="100000"/>
              </a:lnSpc>
              <a:spcBef>
                <a:spcPts val="0"/>
              </a:spcBef>
              <a:spcAft>
                <a:spcPts val="0"/>
              </a:spcAft>
            </a:pPr>
            <a:r>
              <a:rPr sz="800" dirty="0">
                <a:solidFill>
                  <a:srgbClr val="D4D4D4"/>
                </a:solidFill>
                <a:latin typeface="Consolas"/>
              </a:rPr>
              <a:t> </a:t>
            </a:r>
          </a:p>
          <a:p>
            <a:pPr algn="l">
              <a:lnSpc>
                <a:spcPct val="100000"/>
              </a:lnSpc>
              <a:spcBef>
                <a:spcPts val="0"/>
              </a:spcBef>
              <a:spcAft>
                <a:spcPts val="0"/>
              </a:spcAft>
            </a:pPr>
            <a:r>
              <a:rPr sz="800" dirty="0">
                <a:solidFill>
                  <a:srgbClr val="D4D4D4"/>
                </a:solidFill>
                <a:latin typeface="Consolas"/>
              </a:rPr>
              <a:t>        </a:t>
            </a:r>
            <a:r>
              <a:rPr sz="800" dirty="0">
                <a:solidFill>
                  <a:srgbClr val="6A9955"/>
                </a:solidFill>
                <a:latin typeface="Consolas"/>
              </a:rPr>
              <a:t>&lt;!-- Copy and Paste Into index.html the examples for --&gt;</a:t>
            </a:r>
          </a:p>
          <a:p>
            <a:pPr algn="l">
              <a:lnSpc>
                <a:spcPct val="100000"/>
              </a:lnSpc>
              <a:spcBef>
                <a:spcPts val="0"/>
              </a:spcBef>
              <a:spcAft>
                <a:spcPts val="0"/>
              </a:spcAft>
            </a:pPr>
            <a:r>
              <a:rPr sz="800" dirty="0">
                <a:solidFill>
                  <a:srgbClr val="D4D4D4"/>
                </a:solidFill>
                <a:latin typeface="Consolas"/>
              </a:rPr>
              <a:t>        </a:t>
            </a:r>
            <a:r>
              <a:rPr sz="800" dirty="0">
                <a:solidFill>
                  <a:srgbClr val="6A9955"/>
                </a:solidFill>
                <a:latin typeface="Consolas"/>
              </a:rPr>
              <a:t>&lt;!--Headings--&gt;</a:t>
            </a:r>
          </a:p>
          <a:p>
            <a:pPr algn="l">
              <a:lnSpc>
                <a:spcPct val="100000"/>
              </a:lnSpc>
              <a:spcBef>
                <a:spcPts val="0"/>
              </a:spcBef>
              <a:spcAft>
                <a:spcPts val="0"/>
              </a:spcAft>
            </a:pPr>
            <a:r>
              <a:rPr sz="800" dirty="0">
                <a:solidFill>
                  <a:srgbClr val="D4D4D4"/>
                </a:solidFill>
                <a:latin typeface="Consolas"/>
              </a:rPr>
              <a:t> </a:t>
            </a:r>
          </a:p>
          <a:p>
            <a:pPr algn="l">
              <a:lnSpc>
                <a:spcPct val="100000"/>
              </a:lnSpc>
              <a:spcBef>
                <a:spcPts val="0"/>
              </a:spcBef>
              <a:spcAft>
                <a:spcPts val="0"/>
              </a:spcAft>
            </a:pPr>
            <a:r>
              <a:rPr sz="800" dirty="0">
                <a:solidFill>
                  <a:srgbClr val="D4D4D4"/>
                </a:solidFill>
                <a:latin typeface="Consolas"/>
              </a:rPr>
              <a:t>        </a:t>
            </a:r>
            <a:r>
              <a:rPr sz="800" dirty="0">
                <a:solidFill>
                  <a:srgbClr val="6A9955"/>
                </a:solidFill>
                <a:latin typeface="Consolas"/>
              </a:rPr>
              <a:t>&lt;!--Bold/italic--&gt;</a:t>
            </a:r>
          </a:p>
          <a:p>
            <a:pPr algn="l">
              <a:lnSpc>
                <a:spcPct val="100000"/>
              </a:lnSpc>
              <a:spcBef>
                <a:spcPts val="0"/>
              </a:spcBef>
              <a:spcAft>
                <a:spcPts val="0"/>
              </a:spcAft>
            </a:pPr>
            <a:r>
              <a:rPr sz="800" dirty="0">
                <a:solidFill>
                  <a:srgbClr val="D4D4D4"/>
                </a:solidFill>
                <a:latin typeface="Consolas"/>
              </a:rPr>
              <a:t> </a:t>
            </a:r>
          </a:p>
          <a:p>
            <a:pPr algn="l">
              <a:lnSpc>
                <a:spcPct val="100000"/>
              </a:lnSpc>
              <a:spcBef>
                <a:spcPts val="0"/>
              </a:spcBef>
              <a:spcAft>
                <a:spcPts val="0"/>
              </a:spcAft>
            </a:pPr>
            <a:r>
              <a:rPr sz="800" dirty="0">
                <a:solidFill>
                  <a:srgbClr val="D4D4D4"/>
                </a:solidFill>
                <a:latin typeface="Consolas"/>
              </a:rPr>
              <a:t>        </a:t>
            </a:r>
            <a:r>
              <a:rPr sz="800" dirty="0">
                <a:solidFill>
                  <a:srgbClr val="6A9955"/>
                </a:solidFill>
                <a:latin typeface="Consolas"/>
              </a:rPr>
              <a:t>&lt;!--Unordered lists--&gt;</a:t>
            </a:r>
          </a:p>
          <a:p>
            <a:pPr algn="l">
              <a:lnSpc>
                <a:spcPct val="100000"/>
              </a:lnSpc>
              <a:spcBef>
                <a:spcPts val="0"/>
              </a:spcBef>
              <a:spcAft>
                <a:spcPts val="0"/>
              </a:spcAft>
            </a:pPr>
            <a:r>
              <a:rPr sz="800" dirty="0">
                <a:solidFill>
                  <a:srgbClr val="D4D4D4"/>
                </a:solidFill>
                <a:latin typeface="Consolas"/>
              </a:rPr>
              <a:t> </a:t>
            </a:r>
          </a:p>
          <a:p>
            <a:pPr algn="l">
              <a:lnSpc>
                <a:spcPct val="100000"/>
              </a:lnSpc>
              <a:spcBef>
                <a:spcPts val="0"/>
              </a:spcBef>
              <a:spcAft>
                <a:spcPts val="0"/>
              </a:spcAft>
            </a:pPr>
            <a:r>
              <a:rPr sz="800" dirty="0">
                <a:solidFill>
                  <a:srgbClr val="D4D4D4"/>
                </a:solidFill>
                <a:latin typeface="Consolas"/>
              </a:rPr>
              <a:t>        </a:t>
            </a:r>
            <a:r>
              <a:rPr sz="800" dirty="0">
                <a:solidFill>
                  <a:srgbClr val="6A9955"/>
                </a:solidFill>
                <a:latin typeface="Consolas"/>
              </a:rPr>
              <a:t>&lt;!--Ordered lists--&gt;</a:t>
            </a:r>
          </a:p>
          <a:p>
            <a:pPr algn="l">
              <a:lnSpc>
                <a:spcPct val="100000"/>
              </a:lnSpc>
              <a:spcBef>
                <a:spcPts val="0"/>
              </a:spcBef>
              <a:spcAft>
                <a:spcPts val="0"/>
              </a:spcAft>
            </a:pPr>
            <a:r>
              <a:rPr sz="800" dirty="0">
                <a:solidFill>
                  <a:srgbClr val="D4D4D4"/>
                </a:solidFill>
                <a:latin typeface="Consolas"/>
              </a:rPr>
              <a:t> </a:t>
            </a:r>
          </a:p>
          <a:p>
            <a:pPr algn="l">
              <a:lnSpc>
                <a:spcPct val="100000"/>
              </a:lnSpc>
              <a:spcBef>
                <a:spcPts val="0"/>
              </a:spcBef>
              <a:spcAft>
                <a:spcPts val="0"/>
              </a:spcAft>
            </a:pPr>
            <a:r>
              <a:rPr sz="800" dirty="0">
                <a:solidFill>
                  <a:srgbClr val="D4D4D4"/>
                </a:solidFill>
                <a:latin typeface="Consolas"/>
              </a:rPr>
              <a:t>        </a:t>
            </a:r>
            <a:r>
              <a:rPr sz="800" dirty="0">
                <a:solidFill>
                  <a:srgbClr val="6A9955"/>
                </a:solidFill>
                <a:latin typeface="Consolas"/>
              </a:rPr>
              <a:t>&lt;!--Entities--&gt;</a:t>
            </a:r>
          </a:p>
          <a:p>
            <a:pPr algn="l">
              <a:lnSpc>
                <a:spcPct val="100000"/>
              </a:lnSpc>
              <a:spcBef>
                <a:spcPts val="0"/>
              </a:spcBef>
              <a:spcAft>
                <a:spcPts val="0"/>
              </a:spcAft>
            </a:pPr>
            <a:r>
              <a:rPr sz="800" dirty="0">
                <a:solidFill>
                  <a:srgbClr val="D4D4D4"/>
                </a:solidFill>
                <a:latin typeface="Consolas"/>
              </a:rPr>
              <a:t> </a:t>
            </a:r>
          </a:p>
          <a:p>
            <a:pPr algn="l">
              <a:lnSpc>
                <a:spcPct val="100000"/>
              </a:lnSpc>
              <a:spcBef>
                <a:spcPts val="0"/>
              </a:spcBef>
              <a:spcAft>
                <a:spcPts val="0"/>
              </a:spcAft>
            </a:pPr>
            <a:r>
              <a:rPr sz="800" dirty="0">
                <a:solidFill>
                  <a:srgbClr val="D4D4D4"/>
                </a:solidFill>
                <a:latin typeface="Consolas"/>
              </a:rPr>
              <a:t>        </a:t>
            </a:r>
            <a:r>
              <a:rPr sz="800" dirty="0">
                <a:solidFill>
                  <a:srgbClr val="6A9955"/>
                </a:solidFill>
                <a:latin typeface="Consolas"/>
              </a:rPr>
              <a:t>&lt;!--Tables--&gt;</a:t>
            </a:r>
          </a:p>
          <a:p>
            <a:pPr algn="l">
              <a:lnSpc>
                <a:spcPct val="100000"/>
              </a:lnSpc>
              <a:spcBef>
                <a:spcPts val="0"/>
              </a:spcBef>
              <a:spcAft>
                <a:spcPts val="0"/>
              </a:spcAft>
            </a:pPr>
            <a:r>
              <a:rPr sz="800" dirty="0">
                <a:solidFill>
                  <a:srgbClr val="D4D4D4"/>
                </a:solidFill>
                <a:latin typeface="Consolas"/>
              </a:rPr>
              <a:t> </a:t>
            </a:r>
          </a:p>
          <a:p>
            <a:pPr algn="l">
              <a:lnSpc>
                <a:spcPct val="100000"/>
              </a:lnSpc>
              <a:spcBef>
                <a:spcPts val="0"/>
              </a:spcBef>
              <a:spcAft>
                <a:spcPts val="0"/>
              </a:spcAft>
            </a:pPr>
            <a:r>
              <a:rPr sz="800" dirty="0">
                <a:solidFill>
                  <a:srgbClr val="D4D4D4"/>
                </a:solidFill>
                <a:latin typeface="Consolas"/>
              </a:rPr>
              <a:t>        </a:t>
            </a:r>
            <a:r>
              <a:rPr sz="800" dirty="0">
                <a:solidFill>
                  <a:srgbClr val="6A9955"/>
                </a:solidFill>
                <a:latin typeface="Consolas"/>
              </a:rPr>
              <a:t>&lt;!--Link --&gt;</a:t>
            </a:r>
          </a:p>
          <a:p>
            <a:pPr algn="l">
              <a:lnSpc>
                <a:spcPct val="100000"/>
              </a:lnSpc>
              <a:spcBef>
                <a:spcPts val="0"/>
              </a:spcBef>
              <a:spcAft>
                <a:spcPts val="0"/>
              </a:spcAft>
            </a:pPr>
            <a:r>
              <a:rPr sz="800" dirty="0">
                <a:solidFill>
                  <a:srgbClr val="D4D4D4"/>
                </a:solidFill>
                <a:latin typeface="Consolas"/>
              </a:rPr>
              <a:t> </a:t>
            </a:r>
          </a:p>
          <a:p>
            <a:pPr algn="l">
              <a:lnSpc>
                <a:spcPct val="100000"/>
              </a:lnSpc>
              <a:spcBef>
                <a:spcPts val="0"/>
              </a:spcBef>
              <a:spcAft>
                <a:spcPts val="0"/>
              </a:spcAft>
            </a:pPr>
            <a:r>
              <a:rPr sz="800" dirty="0">
                <a:solidFill>
                  <a:srgbClr val="D4D4D4"/>
                </a:solidFill>
                <a:latin typeface="Consolas"/>
              </a:rPr>
              <a:t>        </a:t>
            </a:r>
            <a:r>
              <a:rPr sz="800" dirty="0">
                <a:solidFill>
                  <a:srgbClr val="6A9955"/>
                </a:solidFill>
                <a:latin typeface="Consolas"/>
              </a:rPr>
              <a:t>&lt;!--Image --&gt;</a:t>
            </a:r>
          </a:p>
          <a:p>
            <a:pPr algn="l">
              <a:lnSpc>
                <a:spcPct val="100000"/>
              </a:lnSpc>
              <a:spcBef>
                <a:spcPts val="0"/>
              </a:spcBef>
              <a:spcAft>
                <a:spcPts val="0"/>
              </a:spcAft>
            </a:pPr>
            <a:r>
              <a:rPr sz="800" dirty="0">
                <a:solidFill>
                  <a:srgbClr val="D4D4D4"/>
                </a:solidFill>
                <a:latin typeface="Consolas"/>
              </a:rPr>
              <a:t> </a:t>
            </a:r>
          </a:p>
          <a:p>
            <a:pPr algn="l">
              <a:lnSpc>
                <a:spcPct val="100000"/>
              </a:lnSpc>
              <a:spcBef>
                <a:spcPts val="0"/>
              </a:spcBef>
              <a:spcAft>
                <a:spcPts val="0"/>
              </a:spcAft>
            </a:pPr>
            <a:r>
              <a:rPr sz="800" dirty="0">
                <a:solidFill>
                  <a:srgbClr val="D4D4D4"/>
                </a:solidFill>
                <a:latin typeface="Consolas"/>
              </a:rPr>
              <a:t>        </a:t>
            </a:r>
            <a:r>
              <a:rPr sz="800" dirty="0">
                <a:solidFill>
                  <a:srgbClr val="6A9955"/>
                </a:solidFill>
                <a:latin typeface="Consolas"/>
              </a:rPr>
              <a:t>&lt;!--(note: Copy only the html that’s inside the BODY tags of the examples, as a page has only one body section)--&gt;</a:t>
            </a:r>
          </a:p>
          <a:p>
            <a:pPr algn="l">
              <a:lnSpc>
                <a:spcPct val="100000"/>
              </a:lnSpc>
              <a:spcBef>
                <a:spcPts val="0"/>
              </a:spcBef>
              <a:spcAft>
                <a:spcPts val="0"/>
              </a:spcAft>
            </a:pPr>
            <a:r>
              <a:rPr sz="800" dirty="0">
                <a:solidFill>
                  <a:srgbClr val="D4D4D4"/>
                </a:solidFill>
                <a:latin typeface="Consolas"/>
              </a:rPr>
              <a:t> </a:t>
            </a:r>
          </a:p>
          <a:p>
            <a:pPr algn="l">
              <a:lnSpc>
                <a:spcPct val="100000"/>
              </a:lnSpc>
              <a:spcBef>
                <a:spcPts val="0"/>
              </a:spcBef>
              <a:spcAft>
                <a:spcPts val="0"/>
              </a:spcAft>
            </a:pPr>
            <a:r>
              <a:rPr sz="800" dirty="0">
                <a:solidFill>
                  <a:srgbClr val="D4D4D4"/>
                </a:solidFill>
                <a:latin typeface="Consolas"/>
              </a:rPr>
              <a:t>    </a:t>
            </a:r>
            <a:r>
              <a:rPr sz="800" dirty="0">
                <a:solidFill>
                  <a:srgbClr val="808080"/>
                </a:solidFill>
                <a:latin typeface="Consolas"/>
              </a:rPr>
              <a:t>&lt;/</a:t>
            </a:r>
            <a:r>
              <a:rPr sz="800" dirty="0">
                <a:solidFill>
                  <a:srgbClr val="569CD6"/>
                </a:solidFill>
                <a:latin typeface="Consolas"/>
              </a:rPr>
              <a:t>body</a:t>
            </a:r>
            <a:r>
              <a:rPr sz="800" dirty="0">
                <a:solidFill>
                  <a:srgbClr val="808080"/>
                </a:solidFill>
                <a:latin typeface="Consolas"/>
              </a:rPr>
              <a:t>&gt;</a:t>
            </a:r>
            <a:r>
              <a:rPr sz="800" dirty="0">
                <a:solidFill>
                  <a:srgbClr val="D4D4D4"/>
                </a:solidFill>
                <a:latin typeface="Consolas"/>
              </a:rPr>
              <a:t> </a:t>
            </a:r>
          </a:p>
          <a:p>
            <a:pPr algn="l">
              <a:lnSpc>
                <a:spcPct val="100000"/>
              </a:lnSpc>
              <a:spcBef>
                <a:spcPts val="0"/>
              </a:spcBef>
              <a:spcAft>
                <a:spcPts val="0"/>
              </a:spcAft>
            </a:pPr>
            <a:r>
              <a:rPr sz="800" dirty="0">
                <a:solidFill>
                  <a:srgbClr val="808080"/>
                </a:solidFill>
                <a:latin typeface="Consolas"/>
              </a:rPr>
              <a:t>&lt;/</a:t>
            </a:r>
            <a:r>
              <a:rPr sz="800" dirty="0">
                <a:solidFill>
                  <a:srgbClr val="569CD6"/>
                </a:solidFill>
                <a:latin typeface="Consolas"/>
              </a:rPr>
              <a:t>html</a:t>
            </a:r>
            <a:r>
              <a:rPr sz="800" dirty="0">
                <a:solidFill>
                  <a:srgbClr val="808080"/>
                </a:solidFill>
                <a:latin typeface="Consolas"/>
              </a:rPr>
              <a:t>&gt;</a:t>
            </a:r>
          </a:p>
        </p:txBody>
      </p:sp>
      <p:sp>
        <p:nvSpPr>
          <p:cNvPr id="7" name="TextBox 6"/>
          <p:cNvSpPr txBox="1"/>
          <p:nvPr/>
        </p:nvSpPr>
        <p:spPr>
          <a:xfrm>
            <a:off x="502920" y="6473952"/>
            <a:ext cx="10058400" cy="320040"/>
          </a:xfrm>
          <a:prstGeom prst="rect">
            <a:avLst/>
          </a:prstGeom>
          <a:noFill/>
        </p:spPr>
        <p:txBody>
          <a:bodyPr wrap="none">
            <a:spAutoFit/>
          </a:bodyPr>
          <a:lstStyle/>
          <a:p>
            <a:r>
              <a:rPr sz="1100">
                <a:solidFill>
                  <a:srgbClr val="6B7480"/>
                </a:solidFill>
                <a:latin typeface="Calibri"/>
              </a:rPr>
              <a:t>WEBD 1000 — HTML Examples Review   ·   index.html   ·   answer key in speaker notes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2905</Words>
  <Application>Microsoft Office PowerPoint</Application>
  <PresentationFormat>Widescreen</PresentationFormat>
  <Paragraphs>340</Paragraphs>
  <Slides>12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Symonds,Jamie</cp:lastModifiedBy>
  <cp:revision>3</cp:revision>
  <dcterms:created xsi:type="dcterms:W3CDTF">2013-01-27T09:14:16Z</dcterms:created>
  <dcterms:modified xsi:type="dcterms:W3CDTF">2026-09-17T00:41:19Z</dcterms:modified>
  <cp:category/>
</cp:coreProperties>
</file>